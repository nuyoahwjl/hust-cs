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 id="2147483713" r:id="rId7"/>
    <p:sldMasterId id="2147483726" r:id="rId8"/>
    <p:sldMasterId id="2147483739" r:id="rId9"/>
  </p:sldMasterIdLst>
  <p:notesMasterIdLst>
    <p:notesMasterId r:id="rId71"/>
  </p:notesMasterIdLst>
  <p:sldIdLst>
    <p:sldId id="615" r:id="rId10"/>
    <p:sldId id="616" r:id="rId11"/>
    <p:sldId id="634" r:id="rId12"/>
    <p:sldId id="719" r:id="rId13"/>
    <p:sldId id="617" r:id="rId14"/>
    <p:sldId id="1032" r:id="rId15"/>
    <p:sldId id="618" r:id="rId16"/>
    <p:sldId id="635" r:id="rId17"/>
    <p:sldId id="721" r:id="rId18"/>
    <p:sldId id="722" r:id="rId19"/>
    <p:sldId id="724" r:id="rId20"/>
    <p:sldId id="861" r:id="rId21"/>
    <p:sldId id="663" r:id="rId22"/>
    <p:sldId id="862" r:id="rId23"/>
    <p:sldId id="725" r:id="rId24"/>
    <p:sldId id="989" r:id="rId25"/>
    <p:sldId id="990" r:id="rId26"/>
    <p:sldId id="991" r:id="rId27"/>
    <p:sldId id="631" r:id="rId28"/>
    <p:sldId id="664" r:id="rId29"/>
    <p:sldId id="665" r:id="rId30"/>
    <p:sldId id="941" r:id="rId31"/>
    <p:sldId id="726" r:id="rId32"/>
    <p:sldId id="621" r:id="rId33"/>
    <p:sldId id="942" r:id="rId34"/>
    <p:sldId id="623" r:id="rId35"/>
    <p:sldId id="710" r:id="rId36"/>
    <p:sldId id="711" r:id="rId37"/>
    <p:sldId id="712" r:id="rId38"/>
    <p:sldId id="713" r:id="rId39"/>
    <p:sldId id="714" r:id="rId40"/>
    <p:sldId id="715" r:id="rId41"/>
    <p:sldId id="716" r:id="rId42"/>
    <p:sldId id="1033" r:id="rId43"/>
    <p:sldId id="1087" r:id="rId44"/>
    <p:sldId id="1086" r:id="rId45"/>
    <p:sldId id="781" r:id="rId46"/>
    <p:sldId id="636" r:id="rId47"/>
    <p:sldId id="601" r:id="rId48"/>
    <p:sldId id="602" r:id="rId49"/>
    <p:sldId id="603" r:id="rId50"/>
    <p:sldId id="696" r:id="rId51"/>
    <p:sldId id="914" r:id="rId52"/>
    <p:sldId id="697" r:id="rId53"/>
    <p:sldId id="637" r:id="rId54"/>
    <p:sldId id="605" r:id="rId55"/>
    <p:sldId id="606" r:id="rId56"/>
    <p:sldId id="633" r:id="rId57"/>
    <p:sldId id="624" r:id="rId58"/>
    <p:sldId id="625" r:id="rId59"/>
    <p:sldId id="813" r:id="rId60"/>
    <p:sldId id="626" r:id="rId61"/>
    <p:sldId id="816" r:id="rId62"/>
    <p:sldId id="817" r:id="rId63"/>
    <p:sldId id="833" r:id="rId64"/>
    <p:sldId id="610" r:id="rId65"/>
    <p:sldId id="611" r:id="rId66"/>
    <p:sldId id="814" r:id="rId67"/>
    <p:sldId id="849" r:id="rId68"/>
    <p:sldId id="702" r:id="rId69"/>
    <p:sldId id="612" r:id="rId70"/>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1pPr>
    <a:lvl2pPr marL="457200" lvl="1"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2pPr>
    <a:lvl3pPr marL="914400" lvl="2"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3pPr>
    <a:lvl4pPr marL="1371600" lvl="3"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4pPr>
    <a:lvl5pPr marL="1828800" lvl="4"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5pPr>
    <a:lvl6pPr marL="2286000" lvl="5"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6pPr>
    <a:lvl7pPr marL="2743200" lvl="6"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7pPr>
    <a:lvl8pPr marL="3200400" lvl="7"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8pPr>
    <a:lvl9pPr marL="3657600" lvl="8"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B0604020202020204" pitchFamily="34" charset="0"/>
        <a:ea typeface="宋体"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38FA"/>
    <a:srgbClr val="3399FF"/>
    <a:srgbClr val="6699FF"/>
    <a:srgbClr val="FF0000"/>
    <a:srgbClr val="FF3300"/>
    <a:srgbClr val="A50021"/>
    <a:srgbClr val="99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117" d="100"/>
          <a:sy n="117" d="100"/>
        </p:scale>
        <p:origin x="-1464" y="-96"/>
      </p:cViewPr>
      <p:guideLst>
        <p:guide orient="horz" pos="2068"/>
        <p:guide pos="284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页眉占位符 7169"/>
          <p:cNvSpPr>
            <a:spLocks noGrp="1"/>
          </p:cNvSpPr>
          <p:nvPr>
            <p:ph type="hdr" sz="quarter"/>
          </p:nvPr>
        </p:nvSpPr>
        <p:spPr>
          <a:xfrm>
            <a:off x="0" y="0"/>
            <a:ext cx="2952750" cy="498475"/>
          </a:xfrm>
          <a:prstGeom prst="rect">
            <a:avLst/>
          </a:prstGeom>
          <a:noFill/>
          <a:ln w="9525">
            <a:noFill/>
          </a:ln>
        </p:spPr>
        <p:txBody>
          <a:bodyPr lIns="91613" tIns="45807" rIns="91613" bIns="45807"/>
          <a:p>
            <a:pPr lvl="0" defTabSz="916305" fontAlgn="base"/>
            <a:endParaRPr lang="zh-CN" altLang="en-US" sz="1200" b="0" strike="noStrike" noProof="1" dirty="0"/>
          </a:p>
        </p:txBody>
      </p:sp>
      <p:sp>
        <p:nvSpPr>
          <p:cNvPr id="7171" name="日期占位符 7170"/>
          <p:cNvSpPr>
            <a:spLocks noGrp="1"/>
          </p:cNvSpPr>
          <p:nvPr>
            <p:ph type="dt" idx="1"/>
          </p:nvPr>
        </p:nvSpPr>
        <p:spPr>
          <a:xfrm>
            <a:off x="3859213" y="0"/>
            <a:ext cx="2954338" cy="498475"/>
          </a:xfrm>
          <a:prstGeom prst="rect">
            <a:avLst/>
          </a:prstGeom>
          <a:noFill/>
          <a:ln w="9525">
            <a:noFill/>
          </a:ln>
        </p:spPr>
        <p:txBody>
          <a:bodyPr lIns="91613" tIns="45807" rIns="91613" bIns="45807"/>
          <a:p>
            <a:pPr lvl="0" algn="r" defTabSz="916305" fontAlgn="base"/>
            <a:endParaRPr lang="zh-CN" altLang="en-US" sz="1200" b="0" strike="noStrike" noProof="1" dirty="0"/>
          </a:p>
        </p:txBody>
      </p:sp>
      <p:sp>
        <p:nvSpPr>
          <p:cNvPr id="5124" name="幻灯片图像占位符 7171"/>
          <p:cNvSpPr>
            <a:spLocks noGrp="1" noRot="1"/>
          </p:cNvSpPr>
          <p:nvPr>
            <p:ph type="sldImg"/>
          </p:nvPr>
        </p:nvSpPr>
        <p:spPr>
          <a:xfrm>
            <a:off x="922338" y="746125"/>
            <a:ext cx="4970462" cy="3727450"/>
          </a:xfrm>
          <a:prstGeom prst="rect">
            <a:avLst/>
          </a:prstGeom>
          <a:noFill/>
          <a:ln w="9525">
            <a:noFill/>
            <a:miter/>
          </a:ln>
        </p:spPr>
        <p:txBody>
          <a:bodyPr/>
          <a:p>
            <a:endParaRPr lang="zh-CN" altLang="en-US"/>
          </a:p>
        </p:txBody>
      </p:sp>
      <p:sp>
        <p:nvSpPr>
          <p:cNvPr id="5125" name="文本占位符 7172"/>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7174" name="页脚占位符 7173"/>
          <p:cNvSpPr>
            <a:spLocks noGrp="1"/>
          </p:cNvSpPr>
          <p:nvPr>
            <p:ph type="ftr" sz="quarter" idx="4"/>
          </p:nvPr>
        </p:nvSpPr>
        <p:spPr>
          <a:xfrm>
            <a:off x="0" y="9442450"/>
            <a:ext cx="2952750" cy="498475"/>
          </a:xfrm>
          <a:prstGeom prst="rect">
            <a:avLst/>
          </a:prstGeom>
          <a:noFill/>
          <a:ln w="9525">
            <a:noFill/>
          </a:ln>
        </p:spPr>
        <p:txBody>
          <a:bodyPr lIns="91613" tIns="45807" rIns="91613" bIns="45807" anchor="b"/>
          <a:p>
            <a:pPr lvl="0" defTabSz="916305" fontAlgn="base"/>
            <a:endParaRPr lang="zh-CN" altLang="en-US" sz="1200" b="0" strike="noStrike" noProof="1" dirty="0"/>
          </a:p>
        </p:txBody>
      </p:sp>
      <p:sp>
        <p:nvSpPr>
          <p:cNvPr id="7175" name="灯片编号占位符 7174"/>
          <p:cNvSpPr>
            <a:spLocks noGrp="1"/>
          </p:cNvSpPr>
          <p:nvPr>
            <p:ph type="sldNum" sz="quarter" idx="5"/>
          </p:nvPr>
        </p:nvSpPr>
        <p:spPr>
          <a:xfrm>
            <a:off x="3859213" y="9442450"/>
            <a:ext cx="2954338" cy="498475"/>
          </a:xfrm>
          <a:prstGeom prst="rect">
            <a:avLst/>
          </a:prstGeom>
          <a:noFill/>
          <a:ln w="9525">
            <a:noFill/>
          </a:ln>
        </p:spPr>
        <p:txBody>
          <a:bodyPr lIns="91613" tIns="45807" rIns="91613" bIns="45807" anchor="b"/>
          <a:p>
            <a:pPr lvl="0" algn="r" defTabSz="916305" fontAlgn="base"/>
            <a:fld id="{9A0DB2DC-4C9A-4742-B13C-FB6460FD3503}" type="slidenum">
              <a:rPr lang="zh-CN" altLang="en-US" sz="1200" b="0" strike="noStrike" noProof="1" dirty="0">
                <a:latin typeface="Arial" panose="020B0604020202020204" pitchFamily="34" charset="0"/>
                <a:ea typeface="宋体" pitchFamily="2" charset="-122"/>
                <a:cs typeface="+mn-ea"/>
              </a:rPr>
            </a:fld>
            <a:endParaRPr lang="zh-CN" altLang="en-US"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6146" name="标题 6145"/>
          <p:cNvSpPr>
            <a:spLocks noGrp="1"/>
          </p:cNvSpPr>
          <p:nvPr>
            <p:ph type="ctrTitle"/>
          </p:nvPr>
        </p:nvSpPr>
        <p:spPr>
          <a:xfrm>
            <a:off x="627063" y="1654175"/>
            <a:ext cx="7772400" cy="1409700"/>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6147" name="副标题 6146"/>
          <p:cNvSpPr>
            <a:spLocks noGrp="1"/>
          </p:cNvSpPr>
          <p:nvPr>
            <p:ph type="subTitle" idx="1"/>
          </p:nvPr>
        </p:nvSpPr>
        <p:spPr>
          <a:xfrm>
            <a:off x="641350" y="4646613"/>
            <a:ext cx="7861300" cy="585787"/>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145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22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22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22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1.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1.bin"/><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8" Type="http://schemas.openxmlformats.org/officeDocument/2006/relationships/theme" Target="../theme/theme2.xml"/><Relationship Id="rId17" Type="http://schemas.openxmlformats.org/officeDocument/2006/relationships/vmlDrawing" Target="../drawings/vmlDrawing2.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2.bin"/><Relationship Id="rId13" Type="http://schemas.openxmlformats.org/officeDocument/2006/relationships/image" Target="../media/image2.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8" Type="http://schemas.openxmlformats.org/officeDocument/2006/relationships/theme" Target="../theme/theme3.xml"/><Relationship Id="rId17" Type="http://schemas.openxmlformats.org/officeDocument/2006/relationships/vmlDrawing" Target="../drawings/vmlDrawing3.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3.bin"/><Relationship Id="rId13" Type="http://schemas.openxmlformats.org/officeDocument/2006/relationships/image" Target="../media/image2.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8" Type="http://schemas.openxmlformats.org/officeDocument/2006/relationships/theme" Target="../theme/theme4.xml"/><Relationship Id="rId17" Type="http://schemas.openxmlformats.org/officeDocument/2006/relationships/vmlDrawing" Target="../drawings/vmlDrawing4.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4.bin"/><Relationship Id="rId13" Type="http://schemas.openxmlformats.org/officeDocument/2006/relationships/image" Target="../media/image2.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8" Type="http://schemas.openxmlformats.org/officeDocument/2006/relationships/theme" Target="../theme/theme5.xml"/><Relationship Id="rId17" Type="http://schemas.openxmlformats.org/officeDocument/2006/relationships/vmlDrawing" Target="../drawings/vmlDrawing5.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5.bin"/><Relationship Id="rId13" Type="http://schemas.openxmlformats.org/officeDocument/2006/relationships/image" Target="../media/image2.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8" Type="http://schemas.openxmlformats.org/officeDocument/2006/relationships/theme" Target="../theme/theme6.xml"/><Relationship Id="rId17" Type="http://schemas.openxmlformats.org/officeDocument/2006/relationships/vmlDrawing" Target="../drawings/vmlDrawing6.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6.bin"/><Relationship Id="rId13" Type="http://schemas.openxmlformats.org/officeDocument/2006/relationships/image" Target="../media/image2.jpeg"/><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8" Type="http://schemas.openxmlformats.org/officeDocument/2006/relationships/theme" Target="../theme/theme7.xml"/><Relationship Id="rId17" Type="http://schemas.openxmlformats.org/officeDocument/2006/relationships/vmlDrawing" Target="../drawings/vmlDrawing7.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7.bin"/><Relationship Id="rId13" Type="http://schemas.openxmlformats.org/officeDocument/2006/relationships/image" Target="../media/image2.jpeg"/><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8" Type="http://schemas.openxmlformats.org/officeDocument/2006/relationships/theme" Target="../theme/theme8.xml"/><Relationship Id="rId17" Type="http://schemas.openxmlformats.org/officeDocument/2006/relationships/vmlDrawing" Target="../drawings/vmlDrawing8.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8.bin"/><Relationship Id="rId13" Type="http://schemas.openxmlformats.org/officeDocument/2006/relationships/image" Target="../media/image2.jpeg"/><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122" name="标题 5121"/>
          <p:cNvSpPr>
            <a:spLocks noGrp="1"/>
          </p:cNvSpPr>
          <p:nvPr>
            <p:ph type="title"/>
          </p:nvPr>
        </p:nvSpPr>
        <p:spPr>
          <a:xfrm>
            <a:off x="363538" y="595313"/>
            <a:ext cx="8393113" cy="750888"/>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5123" name="文本占位符 5122"/>
          <p:cNvSpPr>
            <a:spLocks noGrp="1"/>
          </p:cNvSpPr>
          <p:nvPr>
            <p:ph type="body" idx="1"/>
          </p:nvPr>
        </p:nvSpPr>
        <p:spPr>
          <a:xfrm>
            <a:off x="381000" y="1803400"/>
            <a:ext cx="8388350" cy="2214563"/>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5123"/>
          <p:cNvSpPr txBox="1"/>
          <p:nvPr userDrawn="1"/>
        </p:nvSpPr>
        <p:spPr>
          <a:xfrm>
            <a:off x="2312988" y="4505325"/>
            <a:ext cx="1752600" cy="422275"/>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B0604020202020204" pitchFamily="34" charset="0"/>
              <a:ea typeface="宋体" pitchFamily="2" charset="-122"/>
            </a:endParaRPr>
          </a:p>
        </p:txBody>
      </p:sp>
      <p:graphicFrame>
        <p:nvGraphicFramePr>
          <p:cNvPr id="2053" name="对象 5124"/>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4" imgW="838200" imgH="647700" progId="Paint.Picture">
                  <p:embed/>
                </p:oleObj>
              </mc:Choice>
              <mc:Fallback>
                <p:oleObj name="" r:id="rId14" imgW="838200" imgH="647700" progId="Paint.Picture">
                  <p:embed/>
                  <p:pic>
                    <p:nvPicPr>
                      <p:cNvPr id="0" name="图片 3076"/>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9.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0.bin"/><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1.bin"/><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3.bin"/><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baike.baidu.com/view/1413074.htm" TargetMode="External"/><Relationship Id="rId1" Type="http://schemas.openxmlformats.org/officeDocument/2006/relationships/hyperlink" Target="http://baike.baidu.com/view/1020193.htm" TargetMode="External"/></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oleObject" Target="../embeddings/oleObject17.bin"/><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hemeOverride" Target="../theme/themeOverride1.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86.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8.bin"/><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9.bin"/><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矩形 8193"/>
          <p:cNvSpPr/>
          <p:nvPr/>
        </p:nvSpPr>
        <p:spPr>
          <a:xfrm>
            <a:off x="992188" y="1562100"/>
            <a:ext cx="7129463" cy="2943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itchFamily="2" charset="-122"/>
                <a:cs typeface="+mn-ea"/>
              </a:rPr>
              <a:t>第</a:t>
            </a:r>
            <a:r>
              <a:rPr lang="en-US" altLang="zh-CN" sz="4400" b="1" strike="noStrike" noProof="1">
                <a:solidFill>
                  <a:srgbClr val="990000"/>
                </a:solidFill>
                <a:latin typeface="Times New Roman" panose="02020603050405020304" charset="0"/>
                <a:ea typeface="宋体" pitchFamily="2" charset="-122"/>
                <a:cs typeface="+mn-ea"/>
              </a:rPr>
              <a:t>2</a:t>
            </a:r>
            <a:r>
              <a:rPr lang="zh-CN" altLang="en-US" sz="4400" b="1" strike="noStrike" noProof="1">
                <a:solidFill>
                  <a:srgbClr val="990000"/>
                </a:solidFill>
                <a:latin typeface="Times New Roman" panose="02020603050405020304" charset="0"/>
                <a:ea typeface="宋体" pitchFamily="2" charset="-122"/>
                <a:cs typeface="+mn-ea"/>
              </a:rPr>
              <a:t>章</a:t>
            </a:r>
            <a:endParaRPr lang="zh-CN" altLang="en-US" sz="4400" b="1" strike="noStrike" noProof="1">
              <a:solidFill>
                <a:srgbClr val="990000"/>
              </a:solidFill>
              <a:latin typeface="Times New Roman" panose="02020603050405020304" charset="0"/>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itchFamily="2" charset="-122"/>
                <a:cs typeface="+mn-ea"/>
              </a:rPr>
              <a:t>操作系统的结构和硬件支持</a:t>
            </a:r>
            <a:endParaRPr lang="zh-CN" altLang="en-US" sz="4400" b="1" strike="noStrike" noProof="1">
              <a:solidFill>
                <a:srgbClr val="990000"/>
              </a:solidFill>
              <a:latin typeface="Times New Roman" panose="02020603050405020304" charset="0"/>
              <a:ea typeface="宋体"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CC0000"/>
              </a:solidFill>
              <a:latin typeface="Times New Roman" panose="02020603050405020304" charset="0"/>
              <a:ea typeface="宋体" pitchFamily="2" charset="-122"/>
            </a:endParaRPr>
          </a:p>
        </p:txBody>
      </p:sp>
      <p:graphicFrame>
        <p:nvGraphicFramePr>
          <p:cNvPr id="6146" name="内容占位符 819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8196" name="矩形 819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矩形 9217"/>
          <p:cNvSpPr/>
          <p:nvPr/>
        </p:nvSpPr>
        <p:spPr>
          <a:xfrm>
            <a:off x="820738" y="1062038"/>
            <a:ext cx="7129463" cy="340550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800" b="1" strike="noStrike" noProof="1">
                <a:solidFill>
                  <a:schemeClr val="tx1"/>
                </a:solidFill>
                <a:effectLst/>
                <a:latin typeface="Arial" panose="020B0604020202020204" pitchFamily="34" charset="0"/>
                <a:ea typeface="宋体" pitchFamily="2" charset="-122"/>
                <a:cs typeface="+mn-ea"/>
              </a:rPr>
              <a:t>操作系统虚拟机</a:t>
            </a:r>
            <a:endParaRPr lang="zh-CN" altLang="en-US" sz="2800" b="1" strike="noStrike" noProof="1">
              <a:solidFill>
                <a:schemeClr val="tx1"/>
              </a:solidFill>
              <a:effectLst/>
              <a:ea typeface="宋体" pitchFamily="2" charset="-122"/>
            </a:endParaRPr>
          </a:p>
          <a:p>
            <a:pPr marL="533400" lvl="0" indent="-533400" fontAlgn="base">
              <a:lnSpc>
                <a:spcPct val="130000"/>
              </a:lnSpc>
            </a:pPr>
            <a:r>
              <a:rPr lang="zh-CN" altLang="en-US" sz="2800" b="1" strike="noStrike" noProof="1">
                <a:solidFill>
                  <a:schemeClr val="tx1"/>
                </a:solidFill>
                <a:effectLst/>
                <a:latin typeface="Arial" panose="020B0604020202020204" pitchFamily="34" charset="0"/>
                <a:ea typeface="宋体" pitchFamily="2" charset="-122"/>
                <a:cs typeface="+mn-ea"/>
              </a:rPr>
              <a:t>操作系统的组织结构</a:t>
            </a:r>
            <a:endParaRPr lang="zh-CN" altLang="en-US" sz="2800" b="1" strike="noStrike" noProof="1">
              <a:solidFill>
                <a:schemeClr val="tx1"/>
              </a:solidFill>
              <a:effectLst/>
              <a:ea typeface="宋体" pitchFamily="2" charset="-122"/>
            </a:endParaRPr>
          </a:p>
          <a:p>
            <a:pPr marL="533400" lvl="0" indent="-533400" fontAlgn="base">
              <a:lnSpc>
                <a:spcPct val="130000"/>
              </a:lnSpc>
            </a:pPr>
            <a:r>
              <a:rPr lang="zh-CN" altLang="en-US" sz="2800" b="1" strike="noStrike" noProof="1">
                <a:solidFill>
                  <a:schemeClr val="tx1"/>
                </a:solidFill>
                <a:effectLst/>
                <a:latin typeface="Arial" panose="020B0604020202020204" pitchFamily="34" charset="0"/>
                <a:ea typeface="宋体" pitchFamily="2" charset="-122"/>
                <a:cs typeface="+mn-ea"/>
              </a:rPr>
              <a:t>处理机的特权级</a:t>
            </a:r>
            <a:endParaRPr lang="zh-CN" altLang="en-US" sz="2800" b="1" strike="noStrike" noProof="1">
              <a:solidFill>
                <a:schemeClr val="tx1"/>
              </a:solidFill>
              <a:effectLst/>
              <a:ea typeface="宋体" pitchFamily="2" charset="-122"/>
            </a:endParaRPr>
          </a:p>
          <a:p>
            <a:pPr marL="533400" lvl="0" indent="-533400" fontAlgn="base">
              <a:lnSpc>
                <a:spcPct val="130000"/>
              </a:lnSpc>
            </a:pPr>
            <a:r>
              <a:rPr lang="zh-CN" altLang="en-US" sz="2800" b="1" strike="noStrike" noProof="1">
                <a:solidFill>
                  <a:schemeClr val="tx1"/>
                </a:solidFill>
                <a:effectLst/>
                <a:latin typeface="Arial" panose="020B0604020202020204" pitchFamily="34" charset="0"/>
                <a:ea typeface="宋体" pitchFamily="2" charset="-122"/>
                <a:cs typeface="+mn-ea"/>
              </a:rPr>
              <a:t>中断技术</a:t>
            </a:r>
            <a:endParaRPr lang="zh-CN" altLang="en-US" sz="2800" b="1" strike="noStrike" noProof="1">
              <a:solidFill>
                <a:schemeClr val="tx1"/>
              </a:solidFill>
              <a:effectLst/>
              <a:latin typeface="Arial" panose="020B0604020202020204" pitchFamily="34" charset="0"/>
              <a:ea typeface="宋体" pitchFamily="2" charset="-122"/>
              <a:cs typeface="+mn-ea"/>
            </a:endParaRPr>
          </a:p>
          <a:p>
            <a:pPr marL="533400" lvl="0" indent="-533400" fontAlgn="base">
              <a:lnSpc>
                <a:spcPct val="130000"/>
              </a:lnSpc>
            </a:pPr>
            <a:r>
              <a:rPr lang="en-US" altLang="zh-CN" sz="2800" b="1" strike="noStrike" noProof="1">
                <a:solidFill>
                  <a:schemeClr val="tx1"/>
                </a:solidFill>
                <a:effectLst/>
                <a:ea typeface="宋体" pitchFamily="2" charset="-122"/>
              </a:rPr>
              <a:t>RISC-V</a:t>
            </a:r>
            <a:r>
              <a:rPr lang="zh-CN" altLang="en-US" sz="2800" b="1" strike="noStrike" noProof="1">
                <a:solidFill>
                  <a:schemeClr val="tx1"/>
                </a:solidFill>
                <a:effectLst/>
                <a:ea typeface="宋体" pitchFamily="2" charset="-122"/>
              </a:rPr>
              <a:t>体系结构和中断</a:t>
            </a:r>
            <a:endParaRPr lang="zh-CN" altLang="en-US" sz="2800" b="1" strike="noStrike" noProof="1">
              <a:solidFill>
                <a:schemeClr val="tx1"/>
              </a:solidFill>
              <a:effectLst/>
              <a:ea typeface="宋体" pitchFamily="2" charset="-122"/>
            </a:endParaRPr>
          </a:p>
        </p:txBody>
      </p:sp>
      <p:graphicFrame>
        <p:nvGraphicFramePr>
          <p:cNvPr id="7170" name="内容占位符 921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2" imgW="838200" imgH="647700" progId="Paint.Picture">
                  <p:embed/>
                </p:oleObj>
              </mc:Choice>
              <mc:Fallback>
                <p:oleObj name="" r:id="rId2" imgW="838200" imgH="647700" progId="Paint.Picture">
                  <p:embed/>
                  <p:pic>
                    <p:nvPicPr>
                      <p:cNvPr id="0" name="图片 3080"/>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7171" name="文本框 9219"/>
          <p:cNvSpPr txBox="1"/>
          <p:nvPr/>
        </p:nvSpPr>
        <p:spPr>
          <a:xfrm>
            <a:off x="855027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1</a:t>
            </a:r>
            <a:endParaRPr lang="en-US" altLang="zh-CN" sz="1400" b="0">
              <a:solidFill>
                <a:schemeClr val="tx2"/>
              </a:solidFill>
              <a:latin typeface="Times New Roman" panose="02020603050405020304" charset="0"/>
              <a:ea typeface="宋体" pitchFamily="2" charset="-122"/>
            </a:endParaRPr>
          </a:p>
        </p:txBody>
      </p:sp>
      <p:sp>
        <p:nvSpPr>
          <p:cNvPr id="9221" name="矩形 922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主要内容</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矩形 10241"/>
          <p:cNvSpPr/>
          <p:nvPr/>
        </p:nvSpPr>
        <p:spPr>
          <a:xfrm>
            <a:off x="1006475" y="1562100"/>
            <a:ext cx="7129463"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itchFamily="2" charset="-122"/>
                <a:cs typeface="+mn-ea"/>
              </a:rPr>
              <a:t>操作系统虚拟机</a:t>
            </a:r>
            <a:endParaRPr lang="zh-CN" altLang="en-US" sz="4000" b="1" strike="noStrike" noProof="1">
              <a:solidFill>
                <a:srgbClr val="663300"/>
              </a:solidFill>
              <a:ea typeface="宋体"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itchFamily="2" charset="-122"/>
            </a:endParaRPr>
          </a:p>
        </p:txBody>
      </p:sp>
      <p:graphicFrame>
        <p:nvGraphicFramePr>
          <p:cNvPr id="8194" name="内容占位符 1024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10244" name="矩形 1024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操作系统虚拟机</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7" name="内容占位符 7065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1" imgW="838200" imgH="647700" progId="Paint.Picture">
                  <p:embed/>
                </p:oleObj>
              </mc:Choice>
              <mc:Fallback>
                <p:oleObj name="" r:id="rId1" imgW="838200" imgH="647700" progId="Paint.Picture">
                  <p:embed/>
                  <p:pic>
                    <p:nvPicPr>
                      <p:cNvPr id="0" name="图片 3079"/>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70660" name="矩形 7065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操作系统虚拟机</a:t>
            </a:r>
            <a:endParaRPr lang="zh-CN" altLang="en-US" sz="2400" strike="noStrike" noProof="1">
              <a:ea typeface="宋体" pitchFamily="2" charset="-122"/>
            </a:endParaRPr>
          </a:p>
        </p:txBody>
      </p:sp>
      <p:sp>
        <p:nvSpPr>
          <p:cNvPr id="70661" name="矩形 70660"/>
          <p:cNvSpPr/>
          <p:nvPr/>
        </p:nvSpPr>
        <p:spPr>
          <a:xfrm>
            <a:off x="347980" y="718503"/>
            <a:ext cx="8399463" cy="5384800"/>
          </a:xfrm>
          <a:prstGeom prst="rect">
            <a:avLst/>
          </a:prstGeom>
          <a:noFill/>
          <a:ln w="9525">
            <a:noFill/>
          </a:ln>
        </p:spPr>
        <p:txBody>
          <a:bodyPr>
            <a:spAutoFit/>
          </a:bodyPr>
          <a:p>
            <a:pPr lvl="0" algn="l" fontAlgn="base"/>
            <a:r>
              <a:rPr lang="en-US" altLang="zh-CN" sz="3200" b="1" strike="noStrike" noProof="1">
                <a:solidFill>
                  <a:srgbClr val="990000"/>
                </a:solidFill>
                <a:effectLst>
                  <a:outerShdw blurRad="38100" dist="38100" dir="2700000">
                    <a:srgbClr val="000000"/>
                  </a:outerShdw>
                </a:effectLst>
                <a:latin typeface="Arial" panose="020B0604020202020204" pitchFamily="34" charset="0"/>
                <a:ea typeface="宋体" pitchFamily="2" charset="-122"/>
                <a:cs typeface="+mn-ea"/>
              </a:rPr>
              <a:t>1.  </a:t>
            </a:r>
            <a:r>
              <a:rPr lang="zh-CN" altLang="en-US" sz="3200" b="1" strike="noStrike" noProof="1" dirty="0">
                <a:solidFill>
                  <a:srgbClr val="990000"/>
                </a:solidFill>
                <a:effectLst>
                  <a:outerShdw blurRad="38100" dist="38100" dir="2700000">
                    <a:srgbClr val="000000"/>
                  </a:outerShdw>
                </a:effectLst>
                <a:latin typeface="Arial" panose="020B0604020202020204" pitchFamily="34" charset="0"/>
                <a:ea typeface="宋体" pitchFamily="2" charset="-122"/>
                <a:cs typeface="+mn-ea"/>
              </a:rPr>
              <a:t>为什么引入虚拟机的概念</a:t>
            </a:r>
            <a:endParaRPr lang="zh-CN" altLang="en-US" sz="3200" b="1" strike="noStrike" noProof="1" dirty="0">
              <a:solidFill>
                <a:srgbClr val="990000"/>
              </a:solidFill>
              <a:effectLst>
                <a:outerShdw blurRad="38100" dist="38100" dir="2700000">
                  <a:srgbClr val="000000"/>
                </a:outerShdw>
              </a:effectLst>
              <a:latin typeface="Arial" panose="020B0604020202020204" pitchFamily="34" charset="0"/>
              <a:ea typeface="宋体" pitchFamily="2" charset="-122"/>
              <a:cs typeface="+mn-ea"/>
            </a:endParaRPr>
          </a:p>
          <a:p>
            <a:pPr lvl="0" algn="l" fontAlgn="base"/>
            <a:endParaRPr lang="zh-CN" altLang="en-US" sz="3200" b="1" strike="noStrike" noProof="1" dirty="0">
              <a:solidFill>
                <a:srgbClr val="990000"/>
              </a:solidFill>
              <a:effectLst>
                <a:outerShdw blurRad="38100" dist="38100" dir="2700000">
                  <a:srgbClr val="000000"/>
                </a:outerShdw>
              </a:effectLst>
              <a:latin typeface="Arial" panose="020B0604020202020204" pitchFamily="34" charset="0"/>
              <a:ea typeface="宋体" pitchFamily="2" charset="-122"/>
            </a:endParaRPr>
          </a:p>
          <a:p>
            <a:pPr lvl="1" algn="l" fontAlgn="base">
              <a:buChar char="•"/>
            </a:pPr>
            <a:r>
              <a:rPr lang="zh-CN" altLang="en-US" sz="2800" b="1" strike="noStrike" noProof="1" dirty="0">
                <a:solidFill>
                  <a:schemeClr val="tx1"/>
                </a:solidFill>
                <a:latin typeface="Arial" panose="020B0604020202020204" pitchFamily="34" charset="0"/>
                <a:ea typeface="宋体" pitchFamily="2" charset="-122"/>
                <a:cs typeface="+mn-ea"/>
              </a:rPr>
              <a:t>多个用户程序对计算机软、硬资源的共享和竞争，每个用户程序都希望自己是独自使用整个计算机系统，不会考虑其他用户进程的并行。虚拟的概念可以有效的实现资源共享。</a:t>
            </a:r>
            <a:endParaRPr lang="zh-CN" altLang="en-US" sz="2800" b="1" strike="noStrike" noProof="1" dirty="0">
              <a:solidFill>
                <a:schemeClr val="tx1"/>
              </a:solidFill>
              <a:latin typeface="Arial" panose="020B0604020202020204" pitchFamily="34" charset="0"/>
              <a:ea typeface="宋体" pitchFamily="2" charset="-122"/>
            </a:endParaRPr>
          </a:p>
          <a:p>
            <a:pPr lvl="1" algn="l" fontAlgn="base">
              <a:buChar char="•"/>
            </a:pPr>
            <a:endParaRPr lang="zh-CN" altLang="en-US" sz="2800" b="1" strike="noStrike" noProof="1" dirty="0">
              <a:solidFill>
                <a:schemeClr val="tx1"/>
              </a:solidFill>
              <a:latin typeface="Arial" panose="020B0604020202020204" pitchFamily="34" charset="0"/>
              <a:ea typeface="宋体" pitchFamily="2" charset="-122"/>
            </a:endParaRPr>
          </a:p>
          <a:p>
            <a:pPr lvl="1" algn="l" fontAlgn="base">
              <a:buChar char="•"/>
            </a:pPr>
            <a:r>
              <a:rPr lang="zh-CN" altLang="en-US" sz="2800" b="1" strike="noStrike" noProof="1" dirty="0">
                <a:solidFill>
                  <a:schemeClr val="tx1"/>
                </a:solidFill>
                <a:latin typeface="Arial" panose="020B0604020202020204" pitchFamily="34" charset="0"/>
                <a:ea typeface="宋体" pitchFamily="2" charset="-122"/>
                <a:cs typeface="+mn-ea"/>
              </a:rPr>
              <a:t>屏蔽不同硬件的差别，提供一致的用户操作接口。</a:t>
            </a:r>
            <a:endParaRPr lang="zh-CN" altLang="en-US" sz="2800" b="1" strike="noStrike" noProof="1" dirty="0">
              <a:solidFill>
                <a:schemeClr val="tx1"/>
              </a:solidFill>
              <a:latin typeface="Arial" panose="020B0604020202020204" pitchFamily="34" charset="0"/>
              <a:ea typeface="宋体" pitchFamily="2" charset="-122"/>
            </a:endParaRPr>
          </a:p>
          <a:p>
            <a:pPr lvl="1" algn="l" fontAlgn="base">
              <a:buChar char="•"/>
            </a:pPr>
            <a:endParaRPr lang="zh-CN" altLang="en-US" sz="2800" b="1" strike="noStrike" noProof="1" dirty="0">
              <a:solidFill>
                <a:schemeClr val="tx1"/>
              </a:solidFill>
              <a:latin typeface="Arial" panose="020B0604020202020204" pitchFamily="34" charset="0"/>
              <a:ea typeface="宋体" pitchFamily="2" charset="-122"/>
            </a:endParaRPr>
          </a:p>
          <a:p>
            <a:pPr lvl="1" algn="l" fontAlgn="base">
              <a:buChar char="•"/>
            </a:pPr>
            <a:r>
              <a:rPr lang="zh-CN" altLang="en-US" sz="2800" b="1" strike="noStrike" noProof="1" dirty="0">
                <a:solidFill>
                  <a:schemeClr val="tx1"/>
                </a:solidFill>
                <a:latin typeface="Arial" panose="020B0604020202020204" pitchFamily="34" charset="0"/>
                <a:ea typeface="宋体" pitchFamily="2" charset="-122"/>
                <a:cs typeface="+mn-ea"/>
              </a:rPr>
              <a:t>用户提出的要求是多方面的，需要的功能是丰富的，很多复杂的功能可用软件来完成，扩充硬件的基本功能。</a:t>
            </a:r>
            <a:endParaRPr lang="zh-CN" altLang="en-US" sz="2800" b="1" strike="noStrike" noProof="1" dirty="0">
              <a:solidFill>
                <a:schemeClr val="tx1"/>
              </a:solidFill>
              <a:latin typeface="Arial" panose="020B0604020202020204" pitchFamily="3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112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a:t>
            </a:r>
            <a:endParaRPr lang="en-US" altLang="zh-CN" sz="1400" b="0">
              <a:solidFill>
                <a:schemeClr val="tx2"/>
              </a:solidFill>
              <a:latin typeface="Times New Roman" panose="02020603050405020304" charset="0"/>
              <a:ea typeface="宋体" pitchFamily="2" charset="-122"/>
            </a:endParaRPr>
          </a:p>
        </p:txBody>
      </p:sp>
      <p:sp>
        <p:nvSpPr>
          <p:cNvPr id="11267" name="矩形 11266"/>
          <p:cNvSpPr/>
          <p:nvPr/>
        </p:nvSpPr>
        <p:spPr>
          <a:xfrm>
            <a:off x="448945" y="1273175"/>
            <a:ext cx="4747260" cy="41490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chemeClr val="tx1"/>
                </a:solidFill>
                <a:effectLst/>
                <a:latin typeface="Arial" panose="020B0604020202020204" pitchFamily="34" charset="0"/>
                <a:ea typeface="宋体" pitchFamily="2" charset="-122"/>
                <a:cs typeface="+mn-ea"/>
              </a:rPr>
              <a:t>硬件层</a:t>
            </a:r>
            <a:r>
              <a:rPr lang="en-US" altLang="zh-CN" sz="2400" strike="noStrike" noProof="1">
                <a:solidFill>
                  <a:schemeClr val="tx1"/>
                </a:solidFill>
                <a:effectLst/>
                <a:latin typeface="Arial" panose="020B0604020202020204" pitchFamily="34" charset="0"/>
                <a:ea typeface="宋体" pitchFamily="2" charset="-122"/>
                <a:cs typeface="+mn-ea"/>
              </a:rPr>
              <a:t>(</a:t>
            </a:r>
            <a:r>
              <a:rPr lang="zh-CN" altLang="en-US" sz="2400" strike="noStrike" noProof="1">
                <a:solidFill>
                  <a:schemeClr val="tx1"/>
                </a:solidFill>
                <a:effectLst/>
                <a:latin typeface="Arial" panose="020B0604020202020204" pitchFamily="34" charset="0"/>
                <a:ea typeface="宋体" pitchFamily="2" charset="-122"/>
                <a:cs typeface="+mn-ea"/>
              </a:rPr>
              <a:t>裸机</a:t>
            </a:r>
            <a:r>
              <a:rPr lang="en-US" altLang="zh-CN" sz="2400" strike="noStrike" noProof="1">
                <a:solidFill>
                  <a:schemeClr val="tx1"/>
                </a:solidFill>
                <a:effectLst/>
                <a:latin typeface="Arial" panose="020B0604020202020204" pitchFamily="34" charset="0"/>
                <a:ea typeface="宋体" pitchFamily="2" charset="-122"/>
                <a:cs typeface="+mn-ea"/>
              </a:rPr>
              <a:t>)</a:t>
            </a:r>
            <a:r>
              <a:rPr lang="zh-CN" altLang="en-US" sz="2400" strike="noStrike" noProof="1">
                <a:solidFill>
                  <a:schemeClr val="tx1"/>
                </a:solidFill>
                <a:effectLst/>
                <a:latin typeface="Arial" panose="020B0604020202020204" pitchFamily="34" charset="0"/>
                <a:ea typeface="宋体" pitchFamily="2" charset="-122"/>
                <a:cs typeface="+mn-ea"/>
              </a:rPr>
              <a:t>是由</a:t>
            </a:r>
            <a:r>
              <a:rPr lang="en-US" altLang="zh-CN" sz="2400" strike="noStrike" noProof="1">
                <a:solidFill>
                  <a:schemeClr val="tx1"/>
                </a:solidFill>
                <a:effectLst/>
                <a:latin typeface="Arial" panose="020B0604020202020204" pitchFamily="34" charset="0"/>
                <a:ea typeface="宋体" pitchFamily="2" charset="-122"/>
                <a:cs typeface="+mn-ea"/>
              </a:rPr>
              <a:t>CPU</a:t>
            </a:r>
            <a:r>
              <a:rPr lang="zh-CN" altLang="en-US" sz="2400" strike="noStrike" noProof="1">
                <a:solidFill>
                  <a:schemeClr val="tx1"/>
                </a:solidFill>
                <a:effectLst/>
                <a:latin typeface="Arial" panose="020B0604020202020204" pitchFamily="34" charset="0"/>
                <a:ea typeface="宋体" pitchFamily="2" charset="-122"/>
                <a:cs typeface="+mn-ea"/>
              </a:rPr>
              <a:t>、存储器和外部设备等组成，它们构成了所有软件运行的基本物质基础和环境。</a:t>
            </a:r>
            <a:endParaRPr lang="zh-CN" altLang="en-US" sz="2400" strike="noStrike" noProof="1">
              <a:solidFill>
                <a:schemeClr val="tx1"/>
              </a:solidFill>
              <a:effectLst/>
              <a:latin typeface="Arial" panose="020B0604020202020204" pitchFamily="34" charset="0"/>
              <a:ea typeface="宋体" pitchFamily="2" charset="-122"/>
              <a:cs typeface="+mn-ea"/>
            </a:endParaRPr>
          </a:p>
          <a:p>
            <a:pPr marL="533400" lvl="0" indent="-533400" fontAlgn="base">
              <a:lnSpc>
                <a:spcPct val="130000"/>
              </a:lnSpc>
              <a:buNone/>
            </a:pPr>
            <a:r>
              <a:rPr lang="zh-CN" altLang="en-US" sz="2400" strike="noStrike" noProof="1" dirty="0">
                <a:solidFill>
                  <a:schemeClr val="tx1"/>
                </a:solidFill>
                <a:effectLst/>
                <a:latin typeface="Arial" panose="020B0604020202020204" pitchFamily="34" charset="0"/>
                <a:ea typeface="宋体" pitchFamily="2" charset="-122"/>
                <a:cs typeface="+mn-ea"/>
              </a:rPr>
              <a:t>配置在</a:t>
            </a:r>
            <a:r>
              <a:rPr lang="zh-CN" altLang="en-US" sz="2400" strike="noStrike" noProof="1">
                <a:solidFill>
                  <a:schemeClr val="tx1"/>
                </a:solidFill>
                <a:effectLst/>
                <a:latin typeface="Arial" panose="020B0604020202020204" pitchFamily="34" charset="0"/>
                <a:ea typeface="宋体" pitchFamily="2" charset="-122"/>
                <a:cs typeface="+mn-ea"/>
              </a:rPr>
              <a:t>裸机上的第一层软件是操作系统。</a:t>
            </a:r>
            <a:endParaRPr lang="zh-CN" altLang="en-US" sz="2400" strike="noStrike" noProof="1">
              <a:solidFill>
                <a:schemeClr val="tx1"/>
              </a:solidFill>
              <a:effectLst/>
              <a:latin typeface="Arial" panose="020B0604020202020204" pitchFamily="34" charset="0"/>
              <a:ea typeface="宋体" pitchFamily="2" charset="-122"/>
              <a:cs typeface="+mn-ea"/>
            </a:endParaRPr>
          </a:p>
          <a:p>
            <a:pPr marL="533400" lvl="0" indent="-533400" fontAlgn="base">
              <a:lnSpc>
                <a:spcPct val="130000"/>
              </a:lnSpc>
              <a:buNone/>
            </a:pPr>
            <a:r>
              <a:rPr lang="zh-CN" altLang="en-US" sz="2400" dirty="0">
                <a:solidFill>
                  <a:schemeClr val="tx1"/>
                </a:solidFill>
                <a:effectLst/>
                <a:cs typeface="+mn-ea"/>
                <a:sym typeface="+mn-ea"/>
              </a:rPr>
              <a:t>在裸机上配置了操作系统之后就构成了</a:t>
            </a:r>
            <a:r>
              <a:rPr lang="zh-CN" altLang="en-US" sz="2400">
                <a:solidFill>
                  <a:schemeClr val="tx1"/>
                </a:solidFill>
                <a:effectLst/>
                <a:cs typeface="+mn-ea"/>
                <a:sym typeface="+mn-ea"/>
              </a:rPr>
              <a:t>操作系统虚拟机。</a:t>
            </a:r>
            <a:endParaRPr lang="zh-CN" altLang="en-US" sz="2400" strike="noStrike" noProof="1">
              <a:solidFill>
                <a:schemeClr val="tx1"/>
              </a:solidFill>
              <a:ea typeface="宋体" pitchFamily="2" charset="-122"/>
            </a:endParaRPr>
          </a:p>
        </p:txBody>
      </p:sp>
      <p:sp>
        <p:nvSpPr>
          <p:cNvPr id="11268" name="矩形 1126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操作系统虚拟机</a:t>
            </a:r>
            <a:endParaRPr lang="zh-CN" altLang="en-US" sz="2400" strike="noStrike" noProof="1">
              <a:ea typeface="宋体" pitchFamily="2" charset="-122"/>
            </a:endParaRPr>
          </a:p>
        </p:txBody>
      </p:sp>
      <p:grpSp>
        <p:nvGrpSpPr>
          <p:cNvPr id="11269" name="组合 11268"/>
          <p:cNvGrpSpPr/>
          <p:nvPr/>
        </p:nvGrpSpPr>
        <p:grpSpPr>
          <a:xfrm>
            <a:off x="5357813" y="1022350"/>
            <a:ext cx="3598862" cy="4052888"/>
            <a:chOff x="0" y="0"/>
            <a:chExt cx="2267" cy="2553"/>
          </a:xfrm>
        </p:grpSpPr>
        <p:grpSp>
          <p:nvGrpSpPr>
            <p:cNvPr id="10245" name="组合 11269"/>
            <p:cNvGrpSpPr/>
            <p:nvPr/>
          </p:nvGrpSpPr>
          <p:grpSpPr>
            <a:xfrm>
              <a:off x="0" y="0"/>
              <a:ext cx="2267" cy="2267"/>
              <a:chOff x="0" y="0"/>
              <a:chExt cx="2267" cy="2267"/>
            </a:xfrm>
          </p:grpSpPr>
          <p:sp>
            <p:nvSpPr>
              <p:cNvPr id="10246" name="椭圆 11270"/>
              <p:cNvSpPr/>
              <p:nvPr/>
            </p:nvSpPr>
            <p:spPr>
              <a:xfrm>
                <a:off x="0" y="0"/>
                <a:ext cx="2267" cy="2267"/>
              </a:xfrm>
              <a:prstGeom prst="ellipse">
                <a:avLst/>
              </a:prstGeom>
              <a:solidFill>
                <a:srgbClr val="99CCFF"/>
              </a:solidFill>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0247" name="椭圆 11271"/>
              <p:cNvSpPr/>
              <p:nvPr/>
            </p:nvSpPr>
            <p:spPr>
              <a:xfrm>
                <a:off x="473" y="521"/>
                <a:ext cx="1328" cy="1200"/>
              </a:xfrm>
              <a:prstGeom prst="ellipse">
                <a:avLst/>
              </a:prstGeom>
              <a:solidFill>
                <a:srgbClr val="CCFFCC"/>
              </a:solidFill>
              <a:ln w="38100"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0248" name="椭圆 11272"/>
              <p:cNvSpPr/>
              <p:nvPr/>
            </p:nvSpPr>
            <p:spPr>
              <a:xfrm>
                <a:off x="874" y="842"/>
                <a:ext cx="567" cy="567"/>
              </a:xfrm>
              <a:prstGeom prst="ellipse">
                <a:avLst/>
              </a:prstGeom>
              <a:solidFill>
                <a:srgbClr val="CCFFCC"/>
              </a:solidFill>
              <a:ln w="38100"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0249" name="文本框 11273"/>
              <p:cNvSpPr txBox="1"/>
              <p:nvPr/>
            </p:nvSpPr>
            <p:spPr>
              <a:xfrm>
                <a:off x="993" y="1006"/>
                <a:ext cx="403" cy="25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裸机</a:t>
                </a:r>
                <a:endParaRPr lang="zh-CN" altLang="en-US" sz="1400">
                  <a:solidFill>
                    <a:srgbClr val="000000"/>
                  </a:solidFill>
                  <a:latin typeface="Times New Roman" panose="02020603050405020304" charset="0"/>
                  <a:ea typeface="宋体" pitchFamily="2" charset="-122"/>
                </a:endParaRPr>
              </a:p>
            </p:txBody>
          </p:sp>
          <p:sp>
            <p:nvSpPr>
              <p:cNvPr id="10250" name="文本框 11274"/>
              <p:cNvSpPr txBox="1"/>
              <p:nvPr/>
            </p:nvSpPr>
            <p:spPr>
              <a:xfrm>
                <a:off x="944" y="1426"/>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作</a:t>
                </a:r>
                <a:endParaRPr lang="zh-CN" altLang="en-US" sz="1400">
                  <a:solidFill>
                    <a:srgbClr val="000000"/>
                  </a:solidFill>
                  <a:latin typeface="Times New Roman" panose="02020603050405020304" charset="0"/>
                  <a:ea typeface="宋体" pitchFamily="2" charset="-122"/>
                </a:endParaRPr>
              </a:p>
            </p:txBody>
          </p:sp>
          <p:sp>
            <p:nvSpPr>
              <p:cNvPr id="10251" name="文本框 11275"/>
              <p:cNvSpPr txBox="1"/>
              <p:nvPr/>
            </p:nvSpPr>
            <p:spPr>
              <a:xfrm>
                <a:off x="1179" y="1429"/>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系</a:t>
                </a:r>
                <a:endParaRPr lang="zh-CN" altLang="en-US" sz="1400">
                  <a:solidFill>
                    <a:srgbClr val="000000"/>
                  </a:solidFill>
                  <a:latin typeface="Times New Roman" panose="02020603050405020304" charset="0"/>
                  <a:ea typeface="宋体" pitchFamily="2" charset="-122"/>
                </a:endParaRPr>
              </a:p>
            </p:txBody>
          </p:sp>
          <p:sp>
            <p:nvSpPr>
              <p:cNvPr id="10252" name="文本框 11276"/>
              <p:cNvSpPr txBox="1"/>
              <p:nvPr/>
            </p:nvSpPr>
            <p:spPr>
              <a:xfrm>
                <a:off x="1378" y="1329"/>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统</a:t>
                </a:r>
                <a:endParaRPr lang="zh-CN" altLang="en-US" sz="1400">
                  <a:solidFill>
                    <a:srgbClr val="000000"/>
                  </a:solidFill>
                  <a:latin typeface="Times New Roman" panose="02020603050405020304" charset="0"/>
                  <a:ea typeface="宋体" pitchFamily="2" charset="-122"/>
                </a:endParaRPr>
              </a:p>
            </p:txBody>
          </p:sp>
          <p:sp>
            <p:nvSpPr>
              <p:cNvPr id="10253" name="文本框 11277"/>
              <p:cNvSpPr txBox="1"/>
              <p:nvPr/>
            </p:nvSpPr>
            <p:spPr>
              <a:xfrm>
                <a:off x="351" y="399"/>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应</a:t>
                </a:r>
                <a:endParaRPr lang="zh-CN" altLang="en-US" sz="1400">
                  <a:solidFill>
                    <a:srgbClr val="000000"/>
                  </a:solidFill>
                  <a:latin typeface="Times New Roman" panose="02020603050405020304" charset="0"/>
                  <a:ea typeface="宋体" pitchFamily="2" charset="-122"/>
                </a:endParaRPr>
              </a:p>
            </p:txBody>
          </p:sp>
          <p:sp>
            <p:nvSpPr>
              <p:cNvPr id="10254" name="文本框 11278"/>
              <p:cNvSpPr txBox="1"/>
              <p:nvPr/>
            </p:nvSpPr>
            <p:spPr>
              <a:xfrm>
                <a:off x="1256" y="163"/>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程</a:t>
                </a:r>
                <a:endParaRPr lang="zh-CN" altLang="en-US" sz="1400">
                  <a:solidFill>
                    <a:srgbClr val="000000"/>
                  </a:solidFill>
                  <a:latin typeface="Times New Roman" panose="02020603050405020304" charset="0"/>
                  <a:ea typeface="宋体" pitchFamily="2" charset="-122"/>
                </a:endParaRPr>
              </a:p>
            </p:txBody>
          </p:sp>
          <p:sp>
            <p:nvSpPr>
              <p:cNvPr id="10255" name="文本框 11279"/>
              <p:cNvSpPr txBox="1"/>
              <p:nvPr/>
            </p:nvSpPr>
            <p:spPr>
              <a:xfrm>
                <a:off x="1675" y="455"/>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序</a:t>
                </a:r>
                <a:endParaRPr lang="zh-CN" altLang="en-US" sz="1400">
                  <a:solidFill>
                    <a:srgbClr val="000000"/>
                  </a:solidFill>
                  <a:latin typeface="Times New Roman" panose="02020603050405020304" charset="0"/>
                  <a:ea typeface="宋体" pitchFamily="2" charset="-122"/>
                </a:endParaRPr>
              </a:p>
            </p:txBody>
          </p:sp>
          <p:sp>
            <p:nvSpPr>
              <p:cNvPr id="10256" name="文本框 11280"/>
              <p:cNvSpPr txBox="1"/>
              <p:nvPr/>
            </p:nvSpPr>
            <p:spPr>
              <a:xfrm>
                <a:off x="791" y="163"/>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用</a:t>
                </a:r>
                <a:endParaRPr lang="zh-CN" altLang="en-US" sz="1400">
                  <a:solidFill>
                    <a:srgbClr val="000000"/>
                  </a:solidFill>
                  <a:latin typeface="Times New Roman" panose="02020603050405020304" charset="0"/>
                  <a:ea typeface="宋体" pitchFamily="2" charset="-122"/>
                </a:endParaRPr>
              </a:p>
            </p:txBody>
          </p:sp>
          <p:sp>
            <p:nvSpPr>
              <p:cNvPr id="10257" name="文本框 11281"/>
              <p:cNvSpPr txBox="1"/>
              <p:nvPr/>
            </p:nvSpPr>
            <p:spPr>
              <a:xfrm>
                <a:off x="1712" y="1552"/>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序</a:t>
                </a:r>
                <a:endParaRPr lang="zh-CN" altLang="en-US" sz="1400">
                  <a:solidFill>
                    <a:srgbClr val="000000"/>
                  </a:solidFill>
                  <a:latin typeface="Times New Roman" panose="02020603050405020304" charset="0"/>
                  <a:ea typeface="宋体" pitchFamily="2" charset="-122"/>
                </a:endParaRPr>
              </a:p>
            </p:txBody>
          </p:sp>
          <p:sp>
            <p:nvSpPr>
              <p:cNvPr id="10258" name="文本框 11282"/>
              <p:cNvSpPr txBox="1"/>
              <p:nvPr/>
            </p:nvSpPr>
            <p:spPr>
              <a:xfrm>
                <a:off x="1302" y="1844"/>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程</a:t>
                </a:r>
                <a:endParaRPr lang="zh-CN" altLang="en-US" sz="1400">
                  <a:solidFill>
                    <a:srgbClr val="000000"/>
                  </a:solidFill>
                  <a:latin typeface="Times New Roman" panose="02020603050405020304" charset="0"/>
                  <a:ea typeface="宋体" pitchFamily="2" charset="-122"/>
                </a:endParaRPr>
              </a:p>
            </p:txBody>
          </p:sp>
          <p:sp>
            <p:nvSpPr>
              <p:cNvPr id="10259" name="文本框 11283"/>
              <p:cNvSpPr txBox="1"/>
              <p:nvPr/>
            </p:nvSpPr>
            <p:spPr>
              <a:xfrm>
                <a:off x="398" y="1654"/>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用</a:t>
                </a:r>
                <a:endParaRPr lang="zh-CN" altLang="en-US" sz="1400">
                  <a:solidFill>
                    <a:srgbClr val="000000"/>
                  </a:solidFill>
                  <a:latin typeface="Times New Roman" panose="02020603050405020304" charset="0"/>
                  <a:ea typeface="宋体" pitchFamily="2" charset="-122"/>
                </a:endParaRPr>
              </a:p>
            </p:txBody>
          </p:sp>
          <p:sp>
            <p:nvSpPr>
              <p:cNvPr id="10260" name="文本框 11284"/>
              <p:cNvSpPr txBox="1"/>
              <p:nvPr/>
            </p:nvSpPr>
            <p:spPr>
              <a:xfrm>
                <a:off x="810" y="1837"/>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户</a:t>
                </a:r>
                <a:endParaRPr lang="zh-CN" altLang="en-US" sz="1400">
                  <a:solidFill>
                    <a:srgbClr val="000000"/>
                  </a:solidFill>
                  <a:latin typeface="Times New Roman" panose="02020603050405020304" charset="0"/>
                  <a:ea typeface="宋体" pitchFamily="2" charset="-122"/>
                </a:endParaRPr>
              </a:p>
            </p:txBody>
          </p:sp>
          <p:sp>
            <p:nvSpPr>
              <p:cNvPr id="10261" name="文本框 11285"/>
              <p:cNvSpPr txBox="1"/>
              <p:nvPr/>
            </p:nvSpPr>
            <p:spPr>
              <a:xfrm>
                <a:off x="736" y="1334"/>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操</a:t>
                </a:r>
                <a:endParaRPr lang="zh-CN" altLang="en-US" sz="1400">
                  <a:solidFill>
                    <a:srgbClr val="000000"/>
                  </a:solidFill>
                  <a:latin typeface="Times New Roman" panose="02020603050405020304" charset="0"/>
                  <a:ea typeface="宋体" pitchFamily="2" charset="-122"/>
                </a:endParaRPr>
              </a:p>
            </p:txBody>
          </p:sp>
          <p:sp>
            <p:nvSpPr>
              <p:cNvPr id="10262" name="文本框 11286"/>
              <p:cNvSpPr txBox="1"/>
              <p:nvPr/>
            </p:nvSpPr>
            <p:spPr>
              <a:xfrm>
                <a:off x="626" y="764"/>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扩</a:t>
                </a:r>
                <a:endParaRPr lang="zh-CN" altLang="en-US" sz="1400">
                  <a:solidFill>
                    <a:srgbClr val="000000"/>
                  </a:solidFill>
                  <a:latin typeface="Times New Roman" panose="02020603050405020304" charset="0"/>
                  <a:ea typeface="宋体" pitchFamily="2" charset="-122"/>
                </a:endParaRPr>
              </a:p>
            </p:txBody>
          </p:sp>
          <p:sp>
            <p:nvSpPr>
              <p:cNvPr id="10263" name="文本框 11287"/>
              <p:cNvSpPr txBox="1"/>
              <p:nvPr/>
            </p:nvSpPr>
            <p:spPr>
              <a:xfrm>
                <a:off x="755" y="628"/>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充</a:t>
                </a:r>
                <a:endParaRPr lang="zh-CN" altLang="en-US" sz="1400">
                  <a:solidFill>
                    <a:srgbClr val="000000"/>
                  </a:solidFill>
                  <a:latin typeface="Times New Roman" panose="02020603050405020304" charset="0"/>
                  <a:ea typeface="宋体" pitchFamily="2" charset="-122"/>
                </a:endParaRPr>
              </a:p>
            </p:txBody>
          </p:sp>
          <p:sp>
            <p:nvSpPr>
              <p:cNvPr id="10264" name="文本框 11288"/>
              <p:cNvSpPr txBox="1"/>
              <p:nvPr/>
            </p:nvSpPr>
            <p:spPr>
              <a:xfrm>
                <a:off x="946" y="564"/>
                <a:ext cx="231"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后</a:t>
                </a:r>
                <a:endParaRPr lang="zh-CN" altLang="en-US" sz="1400">
                  <a:solidFill>
                    <a:srgbClr val="000000"/>
                  </a:solidFill>
                  <a:latin typeface="Times New Roman" panose="02020603050405020304" charset="0"/>
                  <a:ea typeface="宋体" pitchFamily="2" charset="-122"/>
                </a:endParaRPr>
              </a:p>
            </p:txBody>
          </p:sp>
          <p:sp>
            <p:nvSpPr>
              <p:cNvPr id="10265" name="文本框 11289"/>
              <p:cNvSpPr txBox="1"/>
              <p:nvPr/>
            </p:nvSpPr>
            <p:spPr>
              <a:xfrm>
                <a:off x="1292" y="618"/>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机</a:t>
                </a:r>
                <a:endParaRPr lang="zh-CN" altLang="en-US" sz="1400">
                  <a:solidFill>
                    <a:srgbClr val="000000"/>
                  </a:solidFill>
                  <a:latin typeface="Times New Roman" panose="02020603050405020304" charset="0"/>
                  <a:ea typeface="宋体" pitchFamily="2" charset="-122"/>
                </a:endParaRPr>
              </a:p>
            </p:txBody>
          </p:sp>
          <p:sp>
            <p:nvSpPr>
              <p:cNvPr id="10266" name="文本框 11290"/>
              <p:cNvSpPr txBox="1"/>
              <p:nvPr/>
            </p:nvSpPr>
            <p:spPr>
              <a:xfrm>
                <a:off x="1429" y="755"/>
                <a:ext cx="204"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器</a:t>
                </a:r>
                <a:endParaRPr lang="zh-CN" altLang="en-US" sz="1400">
                  <a:solidFill>
                    <a:srgbClr val="000000"/>
                  </a:solidFill>
                  <a:latin typeface="Times New Roman" panose="02020603050405020304" charset="0"/>
                  <a:ea typeface="宋体" pitchFamily="2" charset="-122"/>
                </a:endParaRPr>
              </a:p>
            </p:txBody>
          </p:sp>
          <p:sp>
            <p:nvSpPr>
              <p:cNvPr id="10267" name="文本框 11291"/>
              <p:cNvSpPr txBox="1"/>
              <p:nvPr/>
            </p:nvSpPr>
            <p:spPr>
              <a:xfrm>
                <a:off x="1119" y="564"/>
                <a:ext cx="231" cy="204"/>
              </a:xfrm>
              <a:prstGeom prst="rect">
                <a:avLst/>
              </a:prstGeom>
              <a:noFill/>
              <a:ln w="9525">
                <a:noFill/>
                <a:miter/>
              </a:ln>
            </p:spPr>
            <p:txBody>
              <a:bodyPr anchor="t"/>
              <a:p>
                <a:pPr lvl="0" algn="just"/>
                <a:r>
                  <a:rPr lang="zh-CN" altLang="en-US" sz="1400">
                    <a:solidFill>
                      <a:srgbClr val="000000"/>
                    </a:solidFill>
                    <a:latin typeface="Times New Roman" panose="02020603050405020304" charset="0"/>
                    <a:ea typeface="宋体" pitchFamily="2" charset="-122"/>
                  </a:rPr>
                  <a:t>的</a:t>
                </a:r>
                <a:endParaRPr lang="zh-CN" altLang="en-US" sz="1400">
                  <a:solidFill>
                    <a:srgbClr val="000000"/>
                  </a:solidFill>
                  <a:latin typeface="Times New Roman" panose="02020603050405020304" charset="0"/>
                  <a:ea typeface="宋体" pitchFamily="2" charset="-122"/>
                </a:endParaRPr>
              </a:p>
            </p:txBody>
          </p:sp>
        </p:grpSp>
        <p:sp>
          <p:nvSpPr>
            <p:cNvPr id="10268" name="文本框 11292"/>
            <p:cNvSpPr txBox="1"/>
            <p:nvPr/>
          </p:nvSpPr>
          <p:spPr>
            <a:xfrm>
              <a:off x="593" y="2341"/>
              <a:ext cx="1191"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itchFamily="2" charset="-122"/>
                </a:rPr>
                <a:t>操作系统虚拟机</a:t>
              </a:r>
              <a:endParaRPr lang="zh-CN" altLang="en-US" sz="1600" b="0">
                <a:solidFill>
                  <a:schemeClr val="tx1"/>
                </a:solidFill>
                <a:latin typeface="Times New Roman" panose="02020603050405020304" charset="0"/>
                <a:ea typeface="宋体" pitchFamily="2" charset="-122"/>
              </a:endParaRPr>
            </a:p>
          </p:txBody>
        </p:sp>
      </p:grpSp>
      <p:sp>
        <p:nvSpPr>
          <p:cNvPr id="11294" name="矩形 11293"/>
          <p:cNvSpPr/>
          <p:nvPr/>
        </p:nvSpPr>
        <p:spPr>
          <a:xfrm>
            <a:off x="187325" y="584200"/>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1.  </a:t>
            </a:r>
            <a:r>
              <a:rPr lang="zh-CN" altLang="en-US" b="1" strike="noStrike" noProof="1">
                <a:solidFill>
                  <a:srgbClr val="990000"/>
                </a:solidFill>
                <a:latin typeface="Times New Roman" panose="02020603050405020304" charset="0"/>
                <a:ea typeface="宋体" pitchFamily="2" charset="-122"/>
                <a:cs typeface="+mn-ea"/>
              </a:rPr>
              <a:t>什么是</a:t>
            </a:r>
            <a:r>
              <a:rPr lang="zh-CN" altLang="en-US" b="1" strike="noStrike" noProof="1">
                <a:solidFill>
                  <a:srgbClr val="990000"/>
                </a:solidFill>
                <a:latin typeface="Arial" panose="020B0604020202020204" pitchFamily="34" charset="0"/>
                <a:ea typeface="宋体" pitchFamily="2" charset="-122"/>
                <a:cs typeface="+mn-ea"/>
              </a:rPr>
              <a:t>操作系统虚拟机</a:t>
            </a:r>
            <a:endParaRPr lang="zh-CN" altLang="en-US" b="1" strike="noStrike" noProof="1">
              <a:solidFill>
                <a:srgbClr val="990000"/>
              </a:solidFill>
              <a:ea typeface="宋体" pitchFamily="2" charset="-122"/>
            </a:endParaRPr>
          </a:p>
        </p:txBody>
      </p:sp>
      <p:sp>
        <p:nvSpPr>
          <p:cNvPr id="2" name="文本框 1"/>
          <p:cNvSpPr txBox="1"/>
          <p:nvPr/>
        </p:nvSpPr>
        <p:spPr>
          <a:xfrm>
            <a:off x="448945" y="5655310"/>
            <a:ext cx="8218170" cy="829945"/>
          </a:xfrm>
          <a:prstGeom prst="rect">
            <a:avLst/>
          </a:prstGeom>
          <a:noFill/>
        </p:spPr>
        <p:txBody>
          <a:bodyPr wrap="square" rtlCol="0" anchor="t">
            <a:spAutoFit/>
          </a:bodyPr>
          <a:p>
            <a:r>
              <a:rPr lang="en-US" altLang="zh-CN" sz="2400">
                <a:solidFill>
                  <a:schemeClr val="tx1"/>
                </a:solidFill>
                <a:sym typeface="+mn-ea"/>
              </a:rPr>
              <a:t>       </a:t>
            </a:r>
            <a:r>
              <a:rPr lang="zh-CN" altLang="en-US" sz="2400">
                <a:solidFill>
                  <a:schemeClr val="tx1"/>
                </a:solidFill>
                <a:sym typeface="+mn-ea"/>
              </a:rPr>
              <a:t>操作系统虚拟机用数据结构和函数的形式用软件扩展硬件资源，更好的实现资源的并发和共享，方便用户使用。</a:t>
            </a:r>
            <a:endParaRPr lang="zh-CN" altLang="en-US" sz="2400">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267" grpId="0"/>
      <p:bldP spid="1129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716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a:t>
            </a:r>
            <a:endParaRPr lang="en-US" altLang="zh-CN" sz="1400" b="0">
              <a:solidFill>
                <a:schemeClr val="tx2"/>
              </a:solidFill>
              <a:latin typeface="Times New Roman" panose="02020603050405020304" charset="0"/>
              <a:ea typeface="宋体" pitchFamily="2" charset="-122"/>
            </a:endParaRPr>
          </a:p>
        </p:txBody>
      </p:sp>
      <p:sp>
        <p:nvSpPr>
          <p:cNvPr id="71684" name="矩形 7168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操作系统虚拟机</a:t>
            </a:r>
            <a:endParaRPr lang="zh-CN" altLang="en-US" sz="2400" strike="noStrike" noProof="1">
              <a:ea typeface="宋体" pitchFamily="2" charset="-122"/>
            </a:endParaRPr>
          </a:p>
        </p:txBody>
      </p:sp>
      <p:grpSp>
        <p:nvGrpSpPr>
          <p:cNvPr id="12291" name="组合 71723"/>
          <p:cNvGrpSpPr/>
          <p:nvPr/>
        </p:nvGrpSpPr>
        <p:grpSpPr>
          <a:xfrm>
            <a:off x="928688" y="1268413"/>
            <a:ext cx="7353300" cy="4824412"/>
            <a:chOff x="585" y="799"/>
            <a:chExt cx="4632" cy="3039"/>
          </a:xfrm>
        </p:grpSpPr>
        <p:sp>
          <p:nvSpPr>
            <p:cNvPr id="12292" name="矩形 71710"/>
            <p:cNvSpPr/>
            <p:nvPr/>
          </p:nvSpPr>
          <p:spPr>
            <a:xfrm>
              <a:off x="2087" y="3385"/>
              <a:ext cx="3130" cy="453"/>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硬      </a:t>
              </a:r>
              <a:r>
                <a:rPr lang="zh-CN" altLang="en-US" sz="2000" dirty="0">
                  <a:solidFill>
                    <a:schemeClr val="tx1"/>
                  </a:solidFill>
                  <a:latin typeface="Times New Roman" panose="02020603050405020304" charset="0"/>
                  <a:ea typeface="宋体" pitchFamily="2" charset="-122"/>
                </a:rPr>
                <a:t>件</a:t>
              </a:r>
              <a:endParaRPr lang="zh-CN" altLang="en-US" sz="2000" dirty="0">
                <a:solidFill>
                  <a:schemeClr val="tx1"/>
                </a:solidFill>
                <a:latin typeface="Times New Roman" panose="02020603050405020304" charset="0"/>
                <a:ea typeface="宋体" pitchFamily="2" charset="-122"/>
              </a:endParaRPr>
            </a:p>
          </p:txBody>
        </p:sp>
        <p:sp>
          <p:nvSpPr>
            <p:cNvPr id="12293" name="矩形 71711"/>
            <p:cNvSpPr/>
            <p:nvPr/>
          </p:nvSpPr>
          <p:spPr>
            <a:xfrm>
              <a:off x="3266" y="2523"/>
              <a:ext cx="1860" cy="45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操作系统内核</a:t>
              </a:r>
              <a:endParaRPr lang="zh-CN" altLang="en-US" sz="2000">
                <a:solidFill>
                  <a:schemeClr val="tx1"/>
                </a:solidFill>
                <a:latin typeface="Times New Roman" panose="02020603050405020304" charset="0"/>
                <a:ea typeface="宋体" pitchFamily="2" charset="-122"/>
              </a:endParaRPr>
            </a:p>
          </p:txBody>
        </p:sp>
        <p:sp>
          <p:nvSpPr>
            <p:cNvPr id="12294" name="矩形 71712"/>
            <p:cNvSpPr/>
            <p:nvPr/>
          </p:nvSpPr>
          <p:spPr>
            <a:xfrm>
              <a:off x="2814" y="1662"/>
              <a:ext cx="1723" cy="454"/>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系 统 库</a:t>
              </a:r>
              <a:endParaRPr lang="zh-CN" altLang="en-US" sz="2000">
                <a:solidFill>
                  <a:schemeClr val="tx1"/>
                </a:solidFill>
                <a:latin typeface="Times New Roman" panose="02020603050405020304" charset="0"/>
                <a:ea typeface="宋体" pitchFamily="2" charset="-122"/>
              </a:endParaRPr>
            </a:p>
          </p:txBody>
        </p:sp>
        <p:sp>
          <p:nvSpPr>
            <p:cNvPr id="12295" name="矩形 71713"/>
            <p:cNvSpPr/>
            <p:nvPr/>
          </p:nvSpPr>
          <p:spPr>
            <a:xfrm>
              <a:off x="2178" y="799"/>
              <a:ext cx="2994" cy="453"/>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应用程序</a:t>
              </a:r>
              <a:endParaRPr lang="zh-CN" altLang="en-US" sz="2000">
                <a:solidFill>
                  <a:schemeClr val="tx1"/>
                </a:solidFill>
                <a:latin typeface="Times New Roman" panose="02020603050405020304" charset="0"/>
                <a:ea typeface="宋体" pitchFamily="2" charset="-122"/>
              </a:endParaRPr>
            </a:p>
          </p:txBody>
        </p:sp>
        <p:sp>
          <p:nvSpPr>
            <p:cNvPr id="12296" name="下箭头 71714"/>
            <p:cNvSpPr/>
            <p:nvPr/>
          </p:nvSpPr>
          <p:spPr>
            <a:xfrm flipH="1">
              <a:off x="2269" y="1254"/>
              <a:ext cx="226" cy="2131"/>
            </a:xfrm>
            <a:prstGeom prst="downArrow">
              <a:avLst>
                <a:gd name="adj1" fmla="val 44518"/>
                <a:gd name="adj2" fmla="val 135064"/>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2297" name="下箭头 71715"/>
            <p:cNvSpPr/>
            <p:nvPr/>
          </p:nvSpPr>
          <p:spPr>
            <a:xfrm flipH="1">
              <a:off x="2904" y="2115"/>
              <a:ext cx="226" cy="1270"/>
            </a:xfrm>
            <a:prstGeom prst="downArrow">
              <a:avLst>
                <a:gd name="adj1" fmla="val 44518"/>
                <a:gd name="adj2" fmla="val 80493"/>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2298" name="下箭头 71716"/>
            <p:cNvSpPr/>
            <p:nvPr/>
          </p:nvSpPr>
          <p:spPr>
            <a:xfrm flipH="1">
              <a:off x="4129" y="2977"/>
              <a:ext cx="226" cy="409"/>
            </a:xfrm>
            <a:prstGeom prst="downArrow">
              <a:avLst>
                <a:gd name="adj1" fmla="val 44518"/>
                <a:gd name="adj2" fmla="val 25922"/>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2299" name="下箭头 71717"/>
            <p:cNvSpPr/>
            <p:nvPr/>
          </p:nvSpPr>
          <p:spPr>
            <a:xfrm flipH="1">
              <a:off x="3856" y="2115"/>
              <a:ext cx="227" cy="408"/>
            </a:xfrm>
            <a:prstGeom prst="downArrow">
              <a:avLst>
                <a:gd name="adj1" fmla="val 44518"/>
                <a:gd name="adj2" fmla="val 25745"/>
              </a:avLst>
            </a:prstGeom>
            <a:solidFill>
              <a:srgbClr val="FF0000"/>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2300" name="下箭头 71718"/>
            <p:cNvSpPr/>
            <p:nvPr/>
          </p:nvSpPr>
          <p:spPr>
            <a:xfrm flipH="1">
              <a:off x="3630" y="1253"/>
              <a:ext cx="226" cy="409"/>
            </a:xfrm>
            <a:prstGeom prst="downArrow">
              <a:avLst>
                <a:gd name="adj1" fmla="val 44518"/>
                <a:gd name="adj2" fmla="val 25922"/>
              </a:avLst>
            </a:prstGeom>
            <a:solidFill>
              <a:srgbClr val="0000FF"/>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2301" name="文本框 71719"/>
            <p:cNvSpPr txBox="1"/>
            <p:nvPr/>
          </p:nvSpPr>
          <p:spPr>
            <a:xfrm>
              <a:off x="612" y="2849"/>
              <a:ext cx="1178" cy="249"/>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机器指令</a:t>
              </a:r>
              <a:endParaRPr lang="zh-CN" altLang="en-US" sz="2000" b="0">
                <a:solidFill>
                  <a:schemeClr val="tx1"/>
                </a:solidFill>
                <a:latin typeface="Times New Roman" panose="02020603050405020304" charset="0"/>
                <a:ea typeface="宋体" pitchFamily="2" charset="-122"/>
              </a:endParaRPr>
            </a:p>
          </p:txBody>
        </p:sp>
        <p:sp>
          <p:nvSpPr>
            <p:cNvPr id="12302" name="文本框 71720"/>
            <p:cNvSpPr txBox="1"/>
            <p:nvPr/>
          </p:nvSpPr>
          <p:spPr>
            <a:xfrm>
              <a:off x="585" y="2201"/>
              <a:ext cx="1178" cy="251"/>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系统调用</a:t>
              </a:r>
              <a:endParaRPr lang="zh-CN" altLang="en-US" sz="2000" b="0">
                <a:solidFill>
                  <a:schemeClr val="tx1"/>
                </a:solidFill>
                <a:latin typeface="Times New Roman" panose="02020603050405020304" charset="0"/>
                <a:ea typeface="宋体" pitchFamily="2" charset="-122"/>
              </a:endParaRPr>
            </a:p>
          </p:txBody>
        </p:sp>
        <p:sp>
          <p:nvSpPr>
            <p:cNvPr id="12303" name="文本框 71721"/>
            <p:cNvSpPr txBox="1"/>
            <p:nvPr/>
          </p:nvSpPr>
          <p:spPr>
            <a:xfrm>
              <a:off x="621" y="1360"/>
              <a:ext cx="1178" cy="250"/>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函数调用</a:t>
              </a:r>
              <a:endParaRPr lang="zh-CN" altLang="en-US" sz="2000" b="0">
                <a:solidFill>
                  <a:schemeClr val="tx1"/>
                </a:solidFill>
                <a:latin typeface="Times New Roman" panose="02020603050405020304" charset="0"/>
                <a:ea typeface="宋体" pitchFamily="2" charset="-122"/>
              </a:endParaRPr>
            </a:p>
          </p:txBody>
        </p:sp>
        <p:sp>
          <p:nvSpPr>
            <p:cNvPr id="12304" name="下箭头 71722"/>
            <p:cNvSpPr/>
            <p:nvPr/>
          </p:nvSpPr>
          <p:spPr>
            <a:xfrm flipH="1">
              <a:off x="4764" y="1254"/>
              <a:ext cx="227" cy="1270"/>
            </a:xfrm>
            <a:prstGeom prst="downArrow">
              <a:avLst>
                <a:gd name="adj1" fmla="val 44518"/>
                <a:gd name="adj2" fmla="val 80139"/>
              </a:avLst>
            </a:prstGeom>
            <a:solidFill>
              <a:srgbClr val="FF0000"/>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cxnSp>
        <p:nvCxnSpPr>
          <p:cNvPr id="2" name="直接箭头连接符 1"/>
          <p:cNvCxnSpPr>
            <a:stCxn id="12303" idx="3"/>
          </p:cNvCxnSpPr>
          <p:nvPr/>
        </p:nvCxnSpPr>
        <p:spPr>
          <a:xfrm flipV="1">
            <a:off x="2856230" y="2355215"/>
            <a:ext cx="2715260" cy="2540"/>
          </a:xfrm>
          <a:prstGeom prst="straightConnector1">
            <a:avLst/>
          </a:prstGeom>
          <a:ln w="3810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V="1">
            <a:off x="2854960" y="3676015"/>
            <a:ext cx="3058795" cy="20320"/>
          </a:xfrm>
          <a:prstGeom prst="straightConnector1">
            <a:avLst/>
          </a:prstGeom>
          <a:ln w="38100">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V="1">
            <a:off x="2886710" y="4701540"/>
            <a:ext cx="564515" cy="3810"/>
          </a:xfrm>
          <a:prstGeom prst="straightConnector1">
            <a:avLst/>
          </a:prstGeom>
          <a:ln w="38100">
            <a:solidFill>
              <a:schemeClr val="accent4"/>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矩形 12291"/>
          <p:cNvSpPr/>
          <p:nvPr/>
        </p:nvSpPr>
        <p:spPr>
          <a:xfrm>
            <a:off x="258763" y="555625"/>
            <a:ext cx="6594475"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2. </a:t>
            </a:r>
            <a:r>
              <a:rPr lang="zh-CN" altLang="en-US" b="1" strike="noStrike" noProof="1">
                <a:solidFill>
                  <a:srgbClr val="990000"/>
                </a:solidFill>
                <a:latin typeface="Arial" panose="020B0604020202020204" pitchFamily="34" charset="0"/>
                <a:ea typeface="宋体" pitchFamily="2" charset="-122"/>
                <a:cs typeface="+mn-ea"/>
              </a:rPr>
              <a:t>操作系统虚拟机的指令系统</a:t>
            </a:r>
            <a:endParaRPr lang="zh-CN" altLang="en-US" b="1" strike="noStrike" noProof="1">
              <a:solidFill>
                <a:srgbClr val="990000"/>
              </a:solidFill>
              <a:ea typeface="宋体" pitchFamily="2" charset="-122"/>
            </a:endParaRPr>
          </a:p>
        </p:txBody>
      </p:sp>
      <p:sp>
        <p:nvSpPr>
          <p:cNvPr id="12293" name="矩形 12292"/>
          <p:cNvSpPr/>
          <p:nvPr/>
        </p:nvSpPr>
        <p:spPr>
          <a:xfrm>
            <a:off x="663575" y="1296988"/>
            <a:ext cx="5418138" cy="6508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chemeClr val="tx1"/>
                </a:solidFill>
                <a:effectLst/>
                <a:latin typeface="Times New Roman" panose="02020603050405020304" charset="0"/>
                <a:ea typeface="宋体" pitchFamily="2" charset="-122"/>
                <a:cs typeface="+mn-ea"/>
              </a:rPr>
              <a:t>(1) </a:t>
            </a:r>
            <a:r>
              <a:rPr lang="zh-CN" altLang="en-US" sz="2800" b="1" strike="noStrike" noProof="1">
                <a:solidFill>
                  <a:schemeClr val="tx1"/>
                </a:solidFill>
                <a:effectLst/>
                <a:latin typeface="Arial" panose="020B0604020202020204" pitchFamily="34" charset="0"/>
                <a:ea typeface="宋体" pitchFamily="2" charset="-122"/>
                <a:cs typeface="+mn-ea"/>
              </a:rPr>
              <a:t>裸机</a:t>
            </a:r>
            <a:r>
              <a:rPr lang="x-none" altLang="zh-CN" sz="2800" b="1" strike="noStrike" noProof="1">
                <a:solidFill>
                  <a:schemeClr val="tx1"/>
                </a:solidFill>
                <a:effectLst/>
                <a:latin typeface="Arial" panose="020B0604020202020204" pitchFamily="34" charset="0"/>
                <a:ea typeface="宋体" pitchFamily="2" charset="-122"/>
                <a:cs typeface="+mn-ea"/>
              </a:rPr>
              <a:t>原有的硬件</a:t>
            </a:r>
            <a:r>
              <a:rPr lang="zh-CN" altLang="en-US" sz="2800" b="1" strike="noStrike" noProof="1">
                <a:solidFill>
                  <a:schemeClr val="tx1"/>
                </a:solidFill>
                <a:effectLst/>
                <a:latin typeface="Arial" panose="020B0604020202020204" pitchFamily="34" charset="0"/>
                <a:ea typeface="宋体" pitchFamily="2" charset="-122"/>
                <a:cs typeface="+mn-ea"/>
              </a:rPr>
              <a:t>指令</a:t>
            </a:r>
            <a:r>
              <a:rPr lang="x-none" altLang="zh-CN" sz="2800" b="1" strike="noStrike" noProof="1">
                <a:solidFill>
                  <a:schemeClr val="tx1"/>
                </a:solidFill>
                <a:effectLst/>
                <a:latin typeface="Arial" panose="020B0604020202020204" pitchFamily="34" charset="0"/>
                <a:ea typeface="宋体" pitchFamily="2" charset="-122"/>
                <a:cs typeface="+mn-ea"/>
              </a:rPr>
              <a:t>系统</a:t>
            </a:r>
            <a:endParaRPr lang="x-none" altLang="zh-CN" sz="2800" b="1" strike="noStrike" noProof="1">
              <a:solidFill>
                <a:schemeClr val="tx1"/>
              </a:solidFill>
              <a:effectLst/>
              <a:latin typeface="Arial" panose="020B0604020202020204" pitchFamily="34" charset="0"/>
              <a:ea typeface="宋体" pitchFamily="2" charset="-122"/>
              <a:cs typeface="+mn-ea"/>
            </a:endParaRPr>
          </a:p>
        </p:txBody>
      </p:sp>
      <p:sp>
        <p:nvSpPr>
          <p:cNvPr id="12294" name="矩形 12293"/>
          <p:cNvSpPr/>
          <p:nvPr/>
        </p:nvSpPr>
        <p:spPr>
          <a:xfrm>
            <a:off x="679450" y="2043113"/>
            <a:ext cx="7907338" cy="6508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4138FA"/>
                </a:solidFill>
                <a:effectLst/>
                <a:latin typeface="Times New Roman" panose="02020603050405020304" charset="0"/>
                <a:ea typeface="宋体" pitchFamily="2" charset="-122"/>
                <a:cs typeface="+mn-ea"/>
              </a:rPr>
              <a:t>(2) </a:t>
            </a:r>
            <a:r>
              <a:rPr lang="zh-CN" altLang="en-US" sz="2800" b="1" strike="noStrike" noProof="1">
                <a:solidFill>
                  <a:srgbClr val="4138FA"/>
                </a:solidFill>
                <a:effectLst/>
                <a:latin typeface="Times New Roman" panose="02020603050405020304" charset="0"/>
                <a:ea typeface="宋体" pitchFamily="2" charset="-122"/>
                <a:cs typeface="+mn-ea"/>
              </a:rPr>
              <a:t>操作系统虚拟机</a:t>
            </a:r>
            <a:r>
              <a:rPr lang="x-none" altLang="zh-CN" sz="2800" b="1" strike="noStrike" noProof="1">
                <a:solidFill>
                  <a:srgbClr val="4138FA"/>
                </a:solidFill>
                <a:effectLst/>
                <a:latin typeface="Times New Roman" panose="02020603050405020304" charset="0"/>
                <a:ea typeface="宋体" pitchFamily="2" charset="-122"/>
                <a:cs typeface="+mn-ea"/>
              </a:rPr>
              <a:t>扩充的</a:t>
            </a:r>
            <a:r>
              <a:rPr lang="zh-CN" altLang="en-US" sz="2800" b="1" strike="noStrike" noProof="1">
                <a:solidFill>
                  <a:srgbClr val="4138FA"/>
                </a:solidFill>
                <a:effectLst/>
                <a:latin typeface="Times New Roman" panose="02020603050405020304" charset="0"/>
                <a:ea typeface="宋体" pitchFamily="2" charset="-122"/>
                <a:cs typeface="+mn-ea"/>
              </a:rPr>
              <a:t>指令</a:t>
            </a:r>
            <a:r>
              <a:rPr lang="x-none" altLang="zh-CN" sz="2800" b="1" strike="noStrike" noProof="1">
                <a:solidFill>
                  <a:srgbClr val="4138FA"/>
                </a:solidFill>
                <a:effectLst/>
                <a:latin typeface="Times New Roman" panose="02020603050405020304" charset="0"/>
                <a:ea typeface="宋体" pitchFamily="2" charset="-122"/>
                <a:cs typeface="+mn-ea"/>
              </a:rPr>
              <a:t>系统</a:t>
            </a:r>
            <a:endParaRPr lang="x-none" altLang="zh-CN" sz="2800" b="1" strike="noStrike" noProof="1">
              <a:solidFill>
                <a:srgbClr val="4138FA"/>
              </a:solidFill>
              <a:effectLst/>
              <a:latin typeface="Times New Roman" panose="02020603050405020304" charset="0"/>
              <a:ea typeface="宋体" pitchFamily="2" charset="-122"/>
              <a:cs typeface="+mn-ea"/>
            </a:endParaRPr>
          </a:p>
        </p:txBody>
      </p:sp>
      <p:sp>
        <p:nvSpPr>
          <p:cNvPr id="12295" name="矩形 1229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操作系统虚拟机</a:t>
            </a:r>
            <a:endParaRPr lang="zh-CN" altLang="en-US" sz="2400" strike="noStrike" noProof="1">
              <a:ea typeface="宋体" pitchFamily="2" charset="-122"/>
            </a:endParaRPr>
          </a:p>
        </p:txBody>
      </p:sp>
      <p:sp>
        <p:nvSpPr>
          <p:cNvPr id="12296" name="矩形 12295"/>
          <p:cNvSpPr/>
          <p:nvPr/>
        </p:nvSpPr>
        <p:spPr>
          <a:xfrm>
            <a:off x="98425" y="2660650"/>
            <a:ext cx="8461375" cy="352044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strike="noStrike" noProof="1">
                <a:solidFill>
                  <a:srgbClr val="000099"/>
                </a:solidFill>
                <a:latin typeface="宋体" pitchFamily="2" charset="-122"/>
                <a:ea typeface="宋体" pitchFamily="2" charset="-122"/>
                <a:cs typeface="+mn-cs"/>
              </a:rPr>
              <a:t>① </a:t>
            </a:r>
            <a:r>
              <a:rPr lang="zh-CN" altLang="en-US" sz="2400" strike="noStrike" noProof="1">
                <a:solidFill>
                  <a:srgbClr val="000099"/>
                </a:solidFill>
                <a:latin typeface="Times New Roman" panose="02020603050405020304" charset="0"/>
                <a:ea typeface="宋体" pitchFamily="2" charset="-122"/>
                <a:cs typeface="+mn-cs"/>
              </a:rPr>
              <a:t>操作命令 </a:t>
            </a:r>
            <a:r>
              <a:rPr lang="en-US" altLang="zh-CN" sz="2400" strike="noStrike" noProof="1">
                <a:solidFill>
                  <a:srgbClr val="000099"/>
                </a:solidFill>
                <a:latin typeface="Times New Roman" panose="02020603050405020304" charset="0"/>
                <a:ea typeface="宋体" pitchFamily="2" charset="-122"/>
                <a:cs typeface="+mn-cs"/>
              </a:rPr>
              <a:t>(</a:t>
            </a:r>
            <a:r>
              <a:rPr lang="zh-CN" altLang="en-US" sz="2400" strike="noStrike" noProof="1">
                <a:solidFill>
                  <a:srgbClr val="000099"/>
                </a:solidFill>
                <a:latin typeface="Times New Roman" panose="02020603050405020304" charset="0"/>
                <a:ea typeface="宋体" pitchFamily="2" charset="-122"/>
                <a:cs typeface="+mn-cs"/>
              </a:rPr>
              <a:t>又称命令接口</a:t>
            </a:r>
            <a:r>
              <a:rPr lang="en-US" altLang="zh-CN" sz="2400" strike="noStrike" noProof="1">
                <a:solidFill>
                  <a:srgbClr val="000099"/>
                </a:solidFill>
                <a:latin typeface="Times New Roman" panose="02020603050405020304" charset="0"/>
                <a:ea typeface="宋体" pitchFamily="2" charset="-122"/>
                <a:cs typeface="+mn-cs"/>
              </a:rPr>
              <a:t>) </a:t>
            </a:r>
            <a:endParaRPr lang="en-US" altLang="zh-CN" sz="2400" strike="noStrike" noProof="1">
              <a:solidFill>
                <a:srgbClr val="000099"/>
              </a:solidFill>
              <a:latin typeface="Times New Roman" panose="02020603050405020304" charset="0"/>
              <a:ea typeface="宋体" pitchFamily="2" charset="-122"/>
            </a:endParaRPr>
          </a:p>
          <a:p>
            <a:pPr marL="1295400" lvl="2" indent="-381000" fontAlgn="base">
              <a:lnSpc>
                <a:spcPct val="130000"/>
              </a:lnSpc>
            </a:pPr>
            <a:r>
              <a:rPr lang="zh-CN" altLang="en-US">
                <a:solidFill>
                  <a:schemeClr val="tx1"/>
                </a:solidFill>
                <a:effectLst/>
                <a:latin typeface="Times New Roman" panose="02020603050405020304" charset="0"/>
                <a:ea typeface="宋体" pitchFamily="2" charset="-122"/>
                <a:sym typeface="+mn-ea"/>
              </a:rPr>
              <a:t>键盘</a:t>
            </a:r>
            <a:r>
              <a:rPr lang="zh-CN" altLang="en-US" dirty="0">
                <a:solidFill>
                  <a:schemeClr val="tx1"/>
                </a:solidFill>
                <a:effectLst/>
                <a:latin typeface="Times New Roman" panose="02020603050405020304" charset="0"/>
                <a:ea typeface="宋体" pitchFamily="2" charset="-122"/>
                <a:sym typeface="+mn-ea"/>
              </a:rPr>
              <a:t>命令</a:t>
            </a:r>
            <a:endParaRPr lang="zh-CN" altLang="en-US" strike="noStrike" noProof="1" dirty="0">
              <a:solidFill>
                <a:schemeClr val="tx1"/>
              </a:solidFill>
              <a:effectLst/>
              <a:latin typeface="Times New Roman" panose="02020603050405020304" charset="0"/>
              <a:ea typeface="宋体" pitchFamily="2" charset="-122"/>
            </a:endParaRPr>
          </a:p>
          <a:p>
            <a:pPr marL="1295400" lvl="2" indent="-381000" fontAlgn="base">
              <a:lnSpc>
                <a:spcPct val="130000"/>
              </a:lnSpc>
            </a:pPr>
            <a:r>
              <a:rPr lang="zh-CN" altLang="en-US">
                <a:solidFill>
                  <a:schemeClr val="tx1"/>
                </a:solidFill>
                <a:effectLst/>
                <a:latin typeface="Times New Roman" panose="02020603050405020304" charset="0"/>
                <a:ea typeface="宋体" pitchFamily="2" charset="-122"/>
                <a:sym typeface="+mn-ea"/>
              </a:rPr>
              <a:t>作业控制</a:t>
            </a:r>
            <a:r>
              <a:rPr lang="zh-CN" altLang="en-US" dirty="0">
                <a:solidFill>
                  <a:schemeClr val="tx1"/>
                </a:solidFill>
                <a:effectLst/>
                <a:latin typeface="Times New Roman" panose="02020603050405020304" charset="0"/>
                <a:ea typeface="宋体" pitchFamily="2" charset="-122"/>
                <a:sym typeface="+mn-ea"/>
              </a:rPr>
              <a:t>语言</a:t>
            </a:r>
            <a:r>
              <a:rPr lang="zh-CN" altLang="en-US" strike="noStrike" noProof="1" dirty="0">
                <a:solidFill>
                  <a:schemeClr val="tx1"/>
                </a:solidFill>
                <a:effectLst/>
                <a:latin typeface="Times New Roman" panose="02020603050405020304" charset="0"/>
                <a:ea typeface="宋体" pitchFamily="2" charset="-122"/>
                <a:cs typeface="+mn-cs"/>
              </a:rPr>
              <a:t>（</a:t>
            </a:r>
            <a:r>
              <a:rPr lang="en-US" altLang="zh-CN" strike="noStrike" noProof="1">
                <a:solidFill>
                  <a:schemeClr val="tx1"/>
                </a:solidFill>
                <a:effectLst/>
                <a:latin typeface="Times New Roman" panose="02020603050405020304" charset="0"/>
                <a:ea typeface="宋体" pitchFamily="2" charset="-122"/>
                <a:cs typeface="+mn-cs"/>
              </a:rPr>
              <a:t>shell</a:t>
            </a:r>
            <a:r>
              <a:rPr lang="zh-CN" altLang="en-US" strike="noStrike" noProof="1" dirty="0">
                <a:solidFill>
                  <a:schemeClr val="tx1"/>
                </a:solidFill>
                <a:effectLst/>
                <a:latin typeface="Times New Roman" panose="02020603050405020304" charset="0"/>
                <a:ea typeface="宋体" pitchFamily="2" charset="-122"/>
                <a:cs typeface="+mn-cs"/>
              </a:rPr>
              <a:t>）</a:t>
            </a:r>
            <a:endParaRPr lang="zh-CN" altLang="en-US" strike="noStrike" noProof="1" dirty="0">
              <a:solidFill>
                <a:schemeClr val="tx1"/>
              </a:solidFill>
              <a:effectLst/>
              <a:latin typeface="Times New Roman" panose="02020603050405020304" charset="0"/>
              <a:ea typeface="宋体" pitchFamily="2" charset="-122"/>
            </a:endParaRPr>
          </a:p>
          <a:p>
            <a:pPr marL="1295400" lvl="2" indent="-381000" fontAlgn="base">
              <a:lnSpc>
                <a:spcPct val="130000"/>
              </a:lnSpc>
            </a:pPr>
            <a:r>
              <a:rPr lang="zh-CN" altLang="en-US" strike="noStrike" noProof="1">
                <a:solidFill>
                  <a:schemeClr val="tx1"/>
                </a:solidFill>
                <a:effectLst/>
                <a:latin typeface="Times New Roman" panose="02020603050405020304" charset="0"/>
                <a:ea typeface="宋体" pitchFamily="2" charset="-122"/>
                <a:cs typeface="+mn-cs"/>
              </a:rPr>
              <a:t>图形化用户</a:t>
            </a:r>
            <a:r>
              <a:rPr lang="zh-CN" altLang="en-US" strike="noStrike" noProof="1" dirty="0">
                <a:solidFill>
                  <a:schemeClr val="tx1"/>
                </a:solidFill>
                <a:effectLst/>
                <a:latin typeface="Times New Roman" panose="02020603050405020304" charset="0"/>
                <a:ea typeface="宋体" pitchFamily="2" charset="-122"/>
                <a:cs typeface="+mn-cs"/>
              </a:rPr>
              <a:t>界面（</a:t>
            </a:r>
            <a:r>
              <a:rPr lang="en-US" altLang="zh-CN" strike="noStrike" noProof="1">
                <a:solidFill>
                  <a:schemeClr val="tx1"/>
                </a:solidFill>
                <a:effectLst/>
                <a:latin typeface="Times New Roman" panose="02020603050405020304" charset="0"/>
                <a:ea typeface="宋体" pitchFamily="2" charset="-122"/>
                <a:cs typeface="+mn-cs"/>
              </a:rPr>
              <a:t>GUI</a:t>
            </a:r>
            <a:r>
              <a:rPr lang="zh-CN" altLang="en-US" strike="noStrike" noProof="1" dirty="0">
                <a:solidFill>
                  <a:schemeClr val="tx1"/>
                </a:solidFill>
                <a:effectLst/>
                <a:latin typeface="Times New Roman" panose="02020603050405020304" charset="0"/>
                <a:ea typeface="宋体" pitchFamily="2" charset="-122"/>
                <a:cs typeface="+mn-cs"/>
              </a:rPr>
              <a:t>）</a:t>
            </a:r>
            <a:endParaRPr lang="zh-CN" altLang="en-US" strike="noStrike" noProof="1" dirty="0">
              <a:solidFill>
                <a:schemeClr val="tx1"/>
              </a:solidFill>
              <a:latin typeface="Times New Roman" panose="02020603050405020304" charset="0"/>
              <a:ea typeface="宋体" pitchFamily="2" charset="-122"/>
            </a:endParaRPr>
          </a:p>
          <a:p>
            <a:pPr marL="914400" lvl="1" indent="-457200" fontAlgn="base">
              <a:lnSpc>
                <a:spcPct val="130000"/>
              </a:lnSpc>
              <a:buNone/>
            </a:pPr>
            <a:r>
              <a:rPr lang="zh-CN" altLang="en-US" sz="2400" strike="noStrike" noProof="1">
                <a:solidFill>
                  <a:srgbClr val="000099"/>
                </a:solidFill>
                <a:latin typeface="宋体" pitchFamily="2" charset="-122"/>
                <a:ea typeface="宋体" pitchFamily="2" charset="-122"/>
                <a:cs typeface="+mn-cs"/>
              </a:rPr>
              <a:t>② </a:t>
            </a:r>
            <a:r>
              <a:rPr lang="zh-CN" altLang="en-US" sz="2400" strike="noStrike" noProof="1">
                <a:solidFill>
                  <a:srgbClr val="000099"/>
                </a:solidFill>
                <a:latin typeface="Times New Roman" panose="02020603050405020304" charset="0"/>
                <a:ea typeface="宋体" pitchFamily="2" charset="-122"/>
                <a:cs typeface="+mn-cs"/>
              </a:rPr>
              <a:t>系统功能调用 </a:t>
            </a:r>
            <a:r>
              <a:rPr lang="en-US" altLang="zh-CN" sz="2400" strike="noStrike" noProof="1">
                <a:solidFill>
                  <a:srgbClr val="000099"/>
                </a:solidFill>
                <a:latin typeface="Times New Roman" panose="02020603050405020304" charset="0"/>
                <a:ea typeface="宋体" pitchFamily="2" charset="-122"/>
                <a:cs typeface="+mn-cs"/>
              </a:rPr>
              <a:t>(</a:t>
            </a:r>
            <a:r>
              <a:rPr lang="zh-CN" altLang="en-US" sz="2400" strike="noStrike" noProof="1">
                <a:solidFill>
                  <a:srgbClr val="000099"/>
                </a:solidFill>
                <a:latin typeface="Times New Roman" panose="02020603050405020304" charset="0"/>
                <a:ea typeface="宋体" pitchFamily="2" charset="-122"/>
                <a:cs typeface="+mn-cs"/>
              </a:rPr>
              <a:t>又称程序接口</a:t>
            </a:r>
            <a:r>
              <a:rPr lang="en-US" altLang="zh-CN" sz="2400" strike="noStrike" noProof="1">
                <a:solidFill>
                  <a:srgbClr val="000099"/>
                </a:solidFill>
                <a:latin typeface="Times New Roman" panose="02020603050405020304" charset="0"/>
                <a:ea typeface="宋体" pitchFamily="2" charset="-122"/>
                <a:cs typeface="+mn-cs"/>
              </a:rPr>
              <a:t>)</a:t>
            </a:r>
            <a:r>
              <a:rPr lang="en-US" altLang="zh-CN" sz="2400" b="1" strike="noStrike" noProof="1">
                <a:solidFill>
                  <a:srgbClr val="000099"/>
                </a:solidFill>
                <a:latin typeface="Times New Roman" panose="02020603050405020304" charset="0"/>
                <a:ea typeface="宋体" pitchFamily="2" charset="-122"/>
                <a:cs typeface="+mn-cs"/>
              </a:rPr>
              <a:t> </a:t>
            </a:r>
            <a:endParaRPr lang="en-US" altLang="zh-CN" sz="2400" b="1" strike="noStrike" noProof="1">
              <a:solidFill>
                <a:srgbClr val="000099"/>
              </a:solidFill>
              <a:latin typeface="Times New Roman" panose="02020603050405020304" charset="0"/>
              <a:ea typeface="宋体" pitchFamily="2" charset="-122"/>
            </a:endParaRPr>
          </a:p>
          <a:p>
            <a:pPr marL="1295400" lvl="2" indent="-381000" fontAlgn="base">
              <a:lnSpc>
                <a:spcPct val="130000"/>
              </a:lnSpc>
            </a:pPr>
            <a:r>
              <a:rPr lang="zh-CN" altLang="en-US" strike="noStrike" noProof="1" dirty="0">
                <a:solidFill>
                  <a:schemeClr val="tx1"/>
                </a:solidFill>
                <a:effectLst/>
                <a:latin typeface="Times New Roman" panose="02020603050405020304" charset="0"/>
                <a:ea typeface="宋体" pitchFamily="2" charset="-122"/>
                <a:cs typeface="+mn-cs"/>
              </a:rPr>
              <a:t>系统函数和系统调用</a:t>
            </a:r>
            <a:endParaRPr lang="zh-CN" altLang="en-US" strike="noStrike" noProof="1" dirty="0">
              <a:solidFill>
                <a:schemeClr val="tx1"/>
              </a:solidFill>
              <a:effectLst/>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2" grpId="0" build="p"/>
      <p:bldP spid="12293" grpId="0" build="p"/>
      <p:bldP spid="1229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矩形 13313"/>
          <p:cNvSpPr/>
          <p:nvPr/>
        </p:nvSpPr>
        <p:spPr>
          <a:xfrm>
            <a:off x="1092200" y="711200"/>
            <a:ext cx="7131050" cy="8223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chemeClr val="tx2"/>
                </a:solidFill>
                <a:latin typeface="Arial" panose="020B0604020202020204" pitchFamily="34" charset="0"/>
                <a:ea typeface="宋体" pitchFamily="2" charset="-122"/>
                <a:cs typeface="+mn-ea"/>
              </a:rPr>
              <a:t>操作系统</a:t>
            </a:r>
            <a:r>
              <a:rPr lang="zh-CN" altLang="en-US" sz="4000" b="1" strike="noStrike" noProof="1" dirty="0">
                <a:solidFill>
                  <a:schemeClr val="tx2"/>
                </a:solidFill>
                <a:latin typeface="Arial" panose="020B0604020202020204" pitchFamily="34" charset="0"/>
                <a:ea typeface="宋体" pitchFamily="2" charset="-122"/>
                <a:cs typeface="+mn-ea"/>
              </a:rPr>
              <a:t>的组织结</a:t>
            </a:r>
            <a:r>
              <a:rPr lang="zh-CN" altLang="en-US" sz="4000" b="1" strike="noStrike" noProof="1">
                <a:solidFill>
                  <a:schemeClr val="tx2"/>
                </a:solidFill>
                <a:latin typeface="Arial" panose="020B0604020202020204" pitchFamily="34" charset="0"/>
                <a:ea typeface="宋体" pitchFamily="2" charset="-122"/>
                <a:cs typeface="+mn-ea"/>
              </a:rPr>
              <a:t>构</a:t>
            </a:r>
            <a:endParaRPr lang="zh-CN" altLang="en-US" sz="4000" b="1" strike="noStrike" noProof="1">
              <a:solidFill>
                <a:schemeClr val="tx2"/>
              </a:solidFill>
              <a:ea typeface="宋体" pitchFamily="2" charset="-122"/>
            </a:endParaRPr>
          </a:p>
        </p:txBody>
      </p:sp>
      <p:graphicFrame>
        <p:nvGraphicFramePr>
          <p:cNvPr id="14338" name="内容占位符 1331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2" imgW="838200" imgH="647700" progId="Paint.Picture">
                  <p:embed/>
                </p:oleObj>
              </mc:Choice>
              <mc:Fallback>
                <p:oleObj name="" r:id="rId2" imgW="838200" imgH="647700" progId="Paint.Picture">
                  <p:embed/>
                  <p:pic>
                    <p:nvPicPr>
                      <p:cNvPr id="0" name="图片 3081"/>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13316" name="矩形 13315"/>
          <p:cNvSpPr/>
          <p:nvPr/>
        </p:nvSpPr>
        <p:spPr>
          <a:xfrm>
            <a:off x="381000" y="42863"/>
            <a:ext cx="86217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a:t>
            </a:r>
            <a:r>
              <a:rPr lang="zh-CN" altLang="en-US" sz="2400" strike="noStrike" noProof="1" dirty="0">
                <a:latin typeface="Arial" panose="020B0604020202020204" pitchFamily="34" charset="0"/>
                <a:ea typeface="宋体" pitchFamily="2" charset="-122"/>
                <a:cs typeface="+mn-ea"/>
              </a:rPr>
              <a:t>的组织结</a:t>
            </a:r>
            <a:r>
              <a:rPr lang="zh-CN" altLang="en-US" sz="2400" strike="noStrike" noProof="1">
                <a:latin typeface="Arial" panose="020B0604020202020204" pitchFamily="34" charset="0"/>
                <a:ea typeface="宋体" pitchFamily="2" charset="-122"/>
                <a:cs typeface="+mn-ea"/>
              </a:rPr>
              <a:t>构</a:t>
            </a:r>
            <a:endParaRPr lang="zh-CN" altLang="en-US" sz="2400" strike="noStrike" noProof="1">
              <a:ea typeface="宋体" pitchFamily="2" charset="-122"/>
            </a:endParaRPr>
          </a:p>
        </p:txBody>
      </p:sp>
      <p:sp>
        <p:nvSpPr>
          <p:cNvPr id="14340" name="矩形 13316"/>
          <p:cNvSpPr/>
          <p:nvPr/>
        </p:nvSpPr>
        <p:spPr>
          <a:xfrm>
            <a:off x="768350" y="1643063"/>
            <a:ext cx="8162925" cy="4659312"/>
          </a:xfrm>
          <a:prstGeom prst="rect">
            <a:avLst/>
          </a:prstGeom>
          <a:noFill/>
          <a:ln w="9525">
            <a:noFill/>
            <a:miter/>
          </a:ln>
        </p:spPr>
        <p:txBody>
          <a:bodyPr anchor="t"/>
          <a:p>
            <a:pPr marL="342900" lvl="0" indent="-342900" algn="just">
              <a:spcBef>
                <a:spcPct val="20000"/>
              </a:spcBef>
              <a:buClr>
                <a:schemeClr val="tx2"/>
              </a:buClr>
              <a:buSzPct val="90000"/>
              <a:buFont typeface="Symbol" panose="05050102010706020507" pitchFamily="18" charset="2"/>
              <a:buNone/>
            </a:pPr>
            <a:r>
              <a:rPr lang="zh-CN" altLang="en-US" dirty="0">
                <a:solidFill>
                  <a:schemeClr val="tx1"/>
                </a:solidFill>
                <a:latin typeface="Arial" panose="020B0604020202020204" pitchFamily="34" charset="0"/>
                <a:ea typeface="宋体" pitchFamily="2" charset="-122"/>
              </a:rPr>
              <a:t>   </a:t>
            </a:r>
            <a:r>
              <a:rPr lang="zh-CN" altLang="en-US" sz="3600" dirty="0">
                <a:solidFill>
                  <a:schemeClr val="tx1"/>
                </a:solidFill>
                <a:latin typeface="Arial" panose="020B0604020202020204" pitchFamily="34" charset="0"/>
                <a:ea typeface="宋体" pitchFamily="2" charset="-122"/>
              </a:rPr>
              <a:t>操作系统设计呈现出以下特征：</a:t>
            </a:r>
            <a:endParaRPr lang="zh-CN" altLang="en-US" sz="36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dirty="0">
                <a:solidFill>
                  <a:schemeClr val="tx1"/>
                </a:solidFill>
                <a:latin typeface="Arial" panose="020B0604020202020204" pitchFamily="34" charset="0"/>
                <a:ea typeface="宋体" pitchFamily="2" charset="-122"/>
              </a:rPr>
              <a:t>   一是复杂程度高，</a:t>
            </a:r>
            <a:endParaRPr lang="zh-CN" altLang="en-US" sz="36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dirty="0">
                <a:solidFill>
                  <a:schemeClr val="tx1"/>
                </a:solidFill>
                <a:latin typeface="Arial" panose="020B0604020202020204" pitchFamily="34" charset="0"/>
                <a:ea typeface="宋体" pitchFamily="2" charset="-122"/>
              </a:rPr>
              <a:t>   二是生成周期长，</a:t>
            </a:r>
            <a:endParaRPr lang="zh-CN" altLang="en-US" sz="36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dirty="0">
                <a:solidFill>
                  <a:schemeClr val="tx1"/>
                </a:solidFill>
                <a:latin typeface="Arial" panose="020B0604020202020204" pitchFamily="34" charset="0"/>
                <a:ea typeface="宋体" pitchFamily="2" charset="-122"/>
              </a:rPr>
              <a:t>   三是正确性难保证 。</a:t>
            </a:r>
            <a:endParaRPr lang="zh-CN" altLang="en-US" sz="36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1800" dirty="0">
                <a:solidFill>
                  <a:schemeClr val="tx1"/>
                </a:solidFill>
                <a:latin typeface="Arial" panose="020B0604020202020204" pitchFamily="34" charset="0"/>
                <a:ea typeface="宋体" pitchFamily="2" charset="-122"/>
              </a:rPr>
              <a:t>  </a:t>
            </a:r>
            <a:r>
              <a:rPr lang="en-US" altLang="x-none" sz="2800">
                <a:solidFill>
                  <a:schemeClr val="tx1"/>
                </a:solidFill>
                <a:latin typeface="Arial" panose="020B0604020202020204" pitchFamily="34" charset="0"/>
                <a:ea typeface="宋体" pitchFamily="2" charset="-122"/>
              </a:rPr>
              <a:t>CTSS</a:t>
            </a:r>
            <a:r>
              <a:rPr lang="zh-CN" altLang="en-US" sz="2800" dirty="0">
                <a:solidFill>
                  <a:schemeClr val="tx1"/>
                </a:solidFill>
                <a:latin typeface="Arial" panose="020B0604020202020204" pitchFamily="34" charset="0"/>
                <a:ea typeface="宋体" pitchFamily="2" charset="-122"/>
              </a:rPr>
              <a:t>：</a:t>
            </a:r>
            <a:r>
              <a:rPr lang="en-US" altLang="x-none" sz="2800">
                <a:solidFill>
                  <a:schemeClr val="tx1"/>
                </a:solidFill>
                <a:latin typeface="Arial" panose="020B0604020202020204" pitchFamily="34" charset="0"/>
                <a:ea typeface="宋体" pitchFamily="2" charset="-122"/>
              </a:rPr>
              <a:t>32000</a:t>
            </a:r>
            <a:r>
              <a:rPr lang="zh-CN" altLang="en-US" sz="2800" dirty="0">
                <a:solidFill>
                  <a:schemeClr val="tx1"/>
                </a:solidFill>
                <a:latin typeface="Arial" panose="020B0604020202020204" pitchFamily="34" charset="0"/>
                <a:ea typeface="宋体" pitchFamily="2" charset="-122"/>
              </a:rPr>
              <a:t>行</a:t>
            </a:r>
            <a:endParaRPr lang="zh-CN" altLang="en-US" sz="28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2800" dirty="0">
                <a:solidFill>
                  <a:schemeClr val="tx1"/>
                </a:solidFill>
                <a:latin typeface="Arial" panose="020B0604020202020204" pitchFamily="34" charset="0"/>
                <a:ea typeface="宋体" pitchFamily="2" charset="-122"/>
              </a:rPr>
              <a:t>  </a:t>
            </a:r>
            <a:r>
              <a:rPr lang="en-US" altLang="x-none" sz="2800">
                <a:solidFill>
                  <a:schemeClr val="tx1"/>
                </a:solidFill>
                <a:latin typeface="Arial" panose="020B0604020202020204" pitchFamily="34" charset="0"/>
                <a:ea typeface="宋体" pitchFamily="2" charset="-122"/>
              </a:rPr>
              <a:t>OS/360</a:t>
            </a:r>
            <a:r>
              <a:rPr lang="zh-CN" altLang="en-US" sz="2800" dirty="0">
                <a:solidFill>
                  <a:schemeClr val="tx1"/>
                </a:solidFill>
                <a:latin typeface="Arial" panose="020B0604020202020204" pitchFamily="34" charset="0"/>
                <a:ea typeface="宋体" pitchFamily="2" charset="-122"/>
              </a:rPr>
              <a:t>：百万条指令，</a:t>
            </a:r>
            <a:r>
              <a:rPr lang="en-US" altLang="x-none" sz="2800">
                <a:solidFill>
                  <a:schemeClr val="tx1"/>
                </a:solidFill>
                <a:latin typeface="Arial" panose="020B0604020202020204" pitchFamily="34" charset="0"/>
                <a:ea typeface="宋体" pitchFamily="2" charset="-122"/>
              </a:rPr>
              <a:t>4000</a:t>
            </a:r>
            <a:r>
              <a:rPr lang="zh-CN" altLang="en-US" sz="2800" dirty="0">
                <a:solidFill>
                  <a:schemeClr val="tx1"/>
                </a:solidFill>
                <a:latin typeface="Arial" panose="020B0604020202020204" pitchFamily="34" charset="0"/>
                <a:ea typeface="宋体" pitchFamily="2" charset="-122"/>
              </a:rPr>
              <a:t>模块，</a:t>
            </a:r>
            <a:r>
              <a:rPr lang="en-US" altLang="x-none" sz="2800">
                <a:solidFill>
                  <a:schemeClr val="tx1"/>
                </a:solidFill>
                <a:latin typeface="Arial" panose="020B0604020202020204" pitchFamily="34" charset="0"/>
                <a:ea typeface="宋体" pitchFamily="2" charset="-122"/>
              </a:rPr>
              <a:t>5000</a:t>
            </a:r>
            <a:r>
              <a:rPr lang="zh-CN" altLang="en-US" sz="2800" dirty="0">
                <a:solidFill>
                  <a:schemeClr val="tx1"/>
                </a:solidFill>
                <a:latin typeface="Arial" panose="020B0604020202020204" pitchFamily="34" charset="0"/>
                <a:ea typeface="宋体" pitchFamily="2" charset="-122"/>
              </a:rPr>
              <a:t>人年</a:t>
            </a:r>
            <a:endParaRPr lang="zh-CN" altLang="en-US" sz="28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2800" dirty="0">
                <a:solidFill>
                  <a:schemeClr val="tx1"/>
                </a:solidFill>
                <a:latin typeface="Arial" panose="020B0604020202020204" pitchFamily="34" charset="0"/>
                <a:ea typeface="宋体" pitchFamily="2" charset="-122"/>
              </a:rPr>
              <a:t>  </a:t>
            </a:r>
            <a:r>
              <a:rPr lang="en-US" altLang="x-none" sz="2800" err="1">
                <a:solidFill>
                  <a:schemeClr val="tx1"/>
                </a:solidFill>
                <a:latin typeface="Arial" panose="020B0604020202020204" pitchFamily="34" charset="0"/>
                <a:ea typeface="宋体" pitchFamily="2" charset="-122"/>
              </a:rPr>
              <a:t>Multics</a:t>
            </a:r>
            <a:r>
              <a:rPr lang="en-US" altLang="x-none" sz="2800">
                <a:solidFill>
                  <a:schemeClr val="tx1"/>
                </a:solidFill>
                <a:latin typeface="Arial" panose="020B0604020202020204" pitchFamily="34" charset="0"/>
                <a:ea typeface="宋体" pitchFamily="2" charset="-122"/>
              </a:rPr>
              <a:t> </a:t>
            </a:r>
            <a:r>
              <a:rPr lang="zh-CN" altLang="en-US" sz="2800" dirty="0">
                <a:solidFill>
                  <a:schemeClr val="tx1"/>
                </a:solidFill>
                <a:latin typeface="Arial" panose="020B0604020202020204" pitchFamily="34" charset="0"/>
                <a:ea typeface="宋体" pitchFamily="2" charset="-122"/>
              </a:rPr>
              <a:t>：千万条指令</a:t>
            </a:r>
            <a:endParaRPr lang="zh-CN" altLang="en-US" sz="2800" dirty="0">
              <a:solidFill>
                <a:schemeClr val="tx1"/>
              </a:solidFill>
              <a:latin typeface="Arial" panose="020B0604020202020204" pitchFamily="3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2800" dirty="0">
                <a:solidFill>
                  <a:schemeClr val="tx1"/>
                </a:solidFill>
                <a:latin typeface="Arial" panose="020B0604020202020204" pitchFamily="34" charset="0"/>
                <a:ea typeface="宋体" pitchFamily="2" charset="-122"/>
              </a:rPr>
              <a:t>  </a:t>
            </a:r>
            <a:r>
              <a:rPr lang="en-US" altLang="x-none" sz="2800">
                <a:solidFill>
                  <a:schemeClr val="tx1"/>
                </a:solidFill>
                <a:latin typeface="Arial" panose="020B0604020202020204" pitchFamily="34" charset="0"/>
                <a:ea typeface="宋体" pitchFamily="2" charset="-122"/>
              </a:rPr>
              <a:t>Windows 2000 </a:t>
            </a:r>
            <a:r>
              <a:rPr lang="zh-CN" altLang="en-US" sz="2800" dirty="0">
                <a:solidFill>
                  <a:schemeClr val="tx1"/>
                </a:solidFill>
                <a:latin typeface="Arial" panose="020B0604020202020204" pitchFamily="34" charset="0"/>
                <a:ea typeface="宋体" pitchFamily="2" charset="-122"/>
              </a:rPr>
              <a:t>：</a:t>
            </a:r>
            <a:r>
              <a:rPr lang="en-US" altLang="x-none" sz="2800">
                <a:solidFill>
                  <a:schemeClr val="tx1"/>
                </a:solidFill>
                <a:latin typeface="Arial" panose="020B0604020202020204" pitchFamily="34" charset="0"/>
                <a:ea typeface="宋体" pitchFamily="2" charset="-122"/>
              </a:rPr>
              <a:t>3200</a:t>
            </a:r>
            <a:r>
              <a:rPr lang="zh-CN" altLang="en-US" sz="2800" dirty="0">
                <a:solidFill>
                  <a:schemeClr val="tx1"/>
                </a:solidFill>
                <a:latin typeface="Arial" panose="020B0604020202020204" pitchFamily="34" charset="0"/>
                <a:ea typeface="宋体" pitchFamily="2" charset="-122"/>
              </a:rPr>
              <a:t>万行，</a:t>
            </a:r>
            <a:r>
              <a:rPr lang="en-US" altLang="x-none" sz="2800">
                <a:solidFill>
                  <a:schemeClr val="tx1"/>
                </a:solidFill>
                <a:latin typeface="Arial" panose="020B0604020202020204" pitchFamily="34" charset="0"/>
                <a:ea typeface="宋体" pitchFamily="2" charset="-122"/>
              </a:rPr>
              <a:t>2500</a:t>
            </a:r>
            <a:r>
              <a:rPr lang="zh-CN" altLang="en-US" sz="2800" dirty="0">
                <a:solidFill>
                  <a:schemeClr val="tx1"/>
                </a:solidFill>
                <a:latin typeface="Arial" panose="020B0604020202020204" pitchFamily="34" charset="0"/>
                <a:ea typeface="宋体" pitchFamily="2" charset="-122"/>
              </a:rPr>
              <a:t>人参与</a:t>
            </a:r>
            <a:endParaRPr lang="zh-CN" altLang="en-US" sz="2800" dirty="0">
              <a:solidFill>
                <a:schemeClr val="tx1"/>
              </a:solidFill>
              <a:latin typeface="Arial" panose="020B0604020202020204" pitchFamily="34" charset="0"/>
              <a:ea typeface="宋体" pitchFamily="2" charset="-122"/>
            </a:endParaRPr>
          </a:p>
        </p:txBody>
      </p:sp>
      <p:sp>
        <p:nvSpPr>
          <p:cNvPr id="14341" name="文本框 133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4</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1" name="内容占位符 7270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1" imgW="838200" imgH="647700" progId="Paint.Picture">
                  <p:embed/>
                </p:oleObj>
              </mc:Choice>
              <mc:Fallback>
                <p:oleObj name="" r:id="rId1" imgW="838200" imgH="647700" progId="Paint.Picture">
                  <p:embed/>
                  <p:pic>
                    <p:nvPicPr>
                      <p:cNvPr id="0" name="图片 3082"/>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72708" name="矩形 72707"/>
          <p:cNvSpPr/>
          <p:nvPr/>
        </p:nvSpPr>
        <p:spPr>
          <a:xfrm>
            <a:off x="381000" y="42863"/>
            <a:ext cx="86217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a:t>
            </a:r>
            <a:r>
              <a:rPr lang="zh-CN" altLang="en-US" sz="2400" strike="noStrike" noProof="1" dirty="0">
                <a:latin typeface="Arial" panose="020B0604020202020204" pitchFamily="34" charset="0"/>
                <a:ea typeface="宋体" pitchFamily="2" charset="-122"/>
                <a:cs typeface="+mn-ea"/>
              </a:rPr>
              <a:t>的组织结</a:t>
            </a:r>
            <a:r>
              <a:rPr lang="zh-CN" altLang="en-US" sz="2400" strike="noStrike" noProof="1">
                <a:latin typeface="Arial" panose="020B0604020202020204" pitchFamily="34" charset="0"/>
                <a:ea typeface="宋体" pitchFamily="2" charset="-122"/>
                <a:cs typeface="+mn-ea"/>
              </a:rPr>
              <a:t>构</a:t>
            </a:r>
            <a:endParaRPr lang="zh-CN" altLang="en-US" sz="2400" strike="noStrike" noProof="1">
              <a:ea typeface="宋体" pitchFamily="2" charset="-122"/>
            </a:endParaRPr>
          </a:p>
        </p:txBody>
      </p:sp>
      <p:sp>
        <p:nvSpPr>
          <p:cNvPr id="15363" name="文本框 727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4</a:t>
            </a:r>
            <a:endParaRPr lang="zh-CN" altLang="en-US" sz="1400" b="0" dirty="0">
              <a:solidFill>
                <a:schemeClr val="tx2"/>
              </a:solidFill>
              <a:latin typeface="Times New Roman" panose="02020603050405020304" charset="0"/>
              <a:ea typeface="宋体" pitchFamily="2" charset="-122"/>
            </a:endParaRPr>
          </a:p>
        </p:txBody>
      </p:sp>
      <p:sp>
        <p:nvSpPr>
          <p:cNvPr id="15364" name="矩形 72710"/>
          <p:cNvSpPr/>
          <p:nvPr/>
        </p:nvSpPr>
        <p:spPr>
          <a:xfrm>
            <a:off x="380683" y="1002030"/>
            <a:ext cx="7239000" cy="935038"/>
          </a:xfrm>
          <a:prstGeom prst="rect">
            <a:avLst/>
          </a:prstGeom>
          <a:noFill/>
          <a:ln w="9525">
            <a:noFill/>
            <a:miter/>
          </a:ln>
        </p:spPr>
        <p:txBody>
          <a:bodyPr anchor="t"/>
          <a:p>
            <a:pPr marL="342900" lvl="0" indent="-342900" algn="just">
              <a:spcBef>
                <a:spcPct val="20000"/>
              </a:spcBef>
              <a:buClr>
                <a:schemeClr val="tx2"/>
              </a:buClr>
              <a:buSzPct val="90000"/>
              <a:buFont typeface="Symbol" panose="05050102010706020507" pitchFamily="18" charset="2"/>
              <a:buNone/>
            </a:pPr>
            <a:r>
              <a:rPr lang="en-US" altLang="zh-CN" sz="3600" b="0">
                <a:solidFill>
                  <a:schemeClr val="tx1"/>
                </a:solidFill>
                <a:latin typeface="Times New Roman" panose="02020603050405020304" charset="0"/>
                <a:ea typeface="宋体" pitchFamily="2" charset="-122"/>
              </a:rPr>
              <a:t>Linux</a:t>
            </a:r>
            <a:r>
              <a:rPr lang="zh-CN" altLang="en-US" sz="3600" b="0">
                <a:solidFill>
                  <a:schemeClr val="tx1"/>
                </a:solidFill>
                <a:latin typeface="Times New Roman" panose="02020603050405020304" charset="0"/>
                <a:ea typeface="宋体" pitchFamily="2" charset="-122"/>
              </a:rPr>
              <a:t>代码量成指数增长</a:t>
            </a:r>
            <a:endParaRPr lang="zh-CN" altLang="en-US" sz="3600" b="0">
              <a:solidFill>
                <a:schemeClr val="tx1"/>
              </a:solidFill>
              <a:latin typeface="Times New Roman" panose="02020603050405020304" charset="0"/>
              <a:ea typeface="宋体" pitchFamily="2" charset="-122"/>
            </a:endParaRPr>
          </a:p>
        </p:txBody>
      </p:sp>
      <p:pic>
        <p:nvPicPr>
          <p:cNvPr id="15365" name="图片 72711"/>
          <p:cNvPicPr>
            <a:picLocks noChangeAspect="1"/>
          </p:cNvPicPr>
          <p:nvPr/>
        </p:nvPicPr>
        <p:blipFill>
          <a:blip r:embed="rId3"/>
          <a:stretch>
            <a:fillRect/>
          </a:stretch>
        </p:blipFill>
        <p:spPr>
          <a:xfrm>
            <a:off x="1038543" y="2044700"/>
            <a:ext cx="6778625" cy="3816350"/>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385" name="内容占位符 73729"/>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 imgW="838200" imgH="647700" progId="Paint.Picture">
                  <p:embed/>
                </p:oleObj>
              </mc:Choice>
              <mc:Fallback>
                <p:oleObj name="" r:id="rId1" imgW="838200" imgH="647700" progId="Paint.Picture">
                  <p:embed/>
                  <p:pic>
                    <p:nvPicPr>
                      <p:cNvPr id="0" name="图片 3075"/>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73731" name="矩形 73730"/>
          <p:cNvSpPr/>
          <p:nvPr/>
        </p:nvSpPr>
        <p:spPr>
          <a:xfrm>
            <a:off x="381000" y="42863"/>
            <a:ext cx="86217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a:t>
            </a:r>
            <a:r>
              <a:rPr lang="zh-CN" altLang="en-US" sz="2400" strike="noStrike" noProof="1" dirty="0">
                <a:latin typeface="Arial" panose="020B0604020202020204" pitchFamily="34" charset="0"/>
                <a:ea typeface="宋体" pitchFamily="2" charset="-122"/>
                <a:cs typeface="+mn-ea"/>
              </a:rPr>
              <a:t>的组织结</a:t>
            </a:r>
            <a:r>
              <a:rPr lang="zh-CN" altLang="en-US" sz="2400" strike="noStrike" noProof="1">
                <a:latin typeface="Arial" panose="020B0604020202020204" pitchFamily="34" charset="0"/>
                <a:ea typeface="宋体" pitchFamily="2" charset="-122"/>
                <a:cs typeface="+mn-ea"/>
              </a:rPr>
              <a:t>构</a:t>
            </a:r>
            <a:endParaRPr lang="zh-CN" altLang="en-US" sz="2400" strike="noStrike" noProof="1">
              <a:ea typeface="宋体" pitchFamily="2" charset="-122"/>
            </a:endParaRPr>
          </a:p>
        </p:txBody>
      </p:sp>
      <p:sp>
        <p:nvSpPr>
          <p:cNvPr id="16387" name="文本框 7373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4</a:t>
            </a:r>
            <a:endParaRPr lang="zh-CN" altLang="en-US" sz="1400" b="0" dirty="0">
              <a:solidFill>
                <a:schemeClr val="tx2"/>
              </a:solidFill>
              <a:latin typeface="Times New Roman" panose="02020603050405020304" charset="0"/>
              <a:ea typeface="宋体" pitchFamily="2" charset="-122"/>
            </a:endParaRPr>
          </a:p>
        </p:txBody>
      </p:sp>
      <p:sp>
        <p:nvSpPr>
          <p:cNvPr id="16388" name="矩形 73734"/>
          <p:cNvSpPr/>
          <p:nvPr/>
        </p:nvSpPr>
        <p:spPr>
          <a:xfrm>
            <a:off x="657225" y="788988"/>
            <a:ext cx="7453313" cy="5181600"/>
          </a:xfrm>
          <a:prstGeom prst="rect">
            <a:avLst/>
          </a:prstGeom>
          <a:noFill/>
          <a:ln w="9525">
            <a:noFill/>
            <a:miter/>
          </a:ln>
        </p:spPr>
        <p:txBody>
          <a:bodyPr anchor="t"/>
          <a:p>
            <a:pPr marL="342900" lvl="0" indent="-342900" algn="just">
              <a:spcBef>
                <a:spcPct val="20000"/>
              </a:spcBef>
              <a:buClr>
                <a:schemeClr val="tx2"/>
              </a:buClr>
              <a:buSzPct val="90000"/>
              <a:buFont typeface="Symbol" panose="05050102010706020507" pitchFamily="18" charset="2"/>
              <a:buNone/>
            </a:pPr>
            <a:r>
              <a:rPr lang="zh-CN" altLang="en-US" sz="3600" b="0" dirty="0">
                <a:solidFill>
                  <a:schemeClr val="tx1"/>
                </a:solidFill>
                <a:latin typeface="Times New Roman" panose="02020603050405020304" charset="0"/>
                <a:ea typeface="宋体" pitchFamily="2" charset="-122"/>
              </a:rPr>
              <a:t>研究</a:t>
            </a:r>
            <a:r>
              <a:rPr lang="zh-CN" altLang="en-US" sz="3600" b="0">
                <a:solidFill>
                  <a:schemeClr val="tx1"/>
                </a:solidFill>
                <a:latin typeface="Times New Roman" panose="02020603050405020304" charset="0"/>
                <a:ea typeface="宋体" pitchFamily="2" charset="-122"/>
              </a:rPr>
              <a:t>操作系统的组织结构有助于我们了解如何设计一个好的</a:t>
            </a:r>
            <a:r>
              <a:rPr lang="zh-CN" altLang="en-US" sz="3600" b="0" dirty="0">
                <a:solidFill>
                  <a:schemeClr val="tx1"/>
                </a:solidFill>
                <a:latin typeface="Times New Roman" panose="02020603050405020304" charset="0"/>
                <a:ea typeface="宋体" pitchFamily="2" charset="-122"/>
              </a:rPr>
              <a:t>系统。</a:t>
            </a:r>
            <a:endParaRPr lang="zh-CN" altLang="en-US" sz="3600" b="0" dirty="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endParaRPr lang="zh-CN" altLang="en-US" sz="3600" b="0" dirty="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b="0" dirty="0">
                <a:solidFill>
                  <a:schemeClr val="tx1"/>
                </a:solidFill>
                <a:latin typeface="Times New Roman" panose="02020603050405020304" charset="0"/>
                <a:ea typeface="宋体" pitchFamily="2" charset="-122"/>
              </a:rPr>
              <a:t>		操作系统各个功能模块（</a:t>
            </a:r>
            <a:r>
              <a:rPr lang="zh-CN" altLang="zh-CN" sz="3600" b="0" dirty="0">
                <a:solidFill>
                  <a:schemeClr val="tx1"/>
                </a:solidFill>
                <a:latin typeface="Times New Roman" panose="02020603050405020304" charset="0"/>
                <a:ea typeface="宋体" pitchFamily="2" charset="-122"/>
              </a:rPr>
              <a:t>进程管理，</a:t>
            </a:r>
            <a:r>
              <a:rPr lang="zh-CN" altLang="en-US" sz="3600" b="0" dirty="0">
                <a:solidFill>
                  <a:schemeClr val="tx1"/>
                </a:solidFill>
                <a:latin typeface="Times New Roman" panose="02020603050405020304" charset="0"/>
                <a:ea typeface="宋体" pitchFamily="2" charset="-122"/>
              </a:rPr>
              <a:t>处理机管理，存储管理，设备管理，文件系统等）如何组织，各个模块之间如何调用。</a:t>
            </a:r>
            <a:endParaRPr lang="zh-CN" altLang="en-US" sz="3600" b="0" dirty="0">
              <a:solidFill>
                <a:schemeClr val="tx1"/>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409" name="内容占位符 76801"/>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 imgW="838200" imgH="647700" progId="Paint.Picture">
                  <p:embed/>
                </p:oleObj>
              </mc:Choice>
              <mc:Fallback>
                <p:oleObj name="" r:id="rId1" imgW="838200" imgH="647700" progId="Paint.Picture">
                  <p:embed/>
                  <p:pic>
                    <p:nvPicPr>
                      <p:cNvPr id="0" name="图片 3076"/>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76803" name="矩形 76802"/>
          <p:cNvSpPr/>
          <p:nvPr/>
        </p:nvSpPr>
        <p:spPr>
          <a:xfrm>
            <a:off x="381000" y="42863"/>
            <a:ext cx="86217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a:t>
            </a:r>
            <a:r>
              <a:rPr lang="zh-CN" altLang="en-US" sz="2400" strike="noStrike" noProof="1" dirty="0">
                <a:latin typeface="Arial" panose="020B0604020202020204" pitchFamily="34" charset="0"/>
                <a:ea typeface="宋体" pitchFamily="2" charset="-122"/>
                <a:cs typeface="+mn-ea"/>
              </a:rPr>
              <a:t>的组织结</a:t>
            </a:r>
            <a:r>
              <a:rPr lang="zh-CN" altLang="en-US" sz="2400" strike="noStrike" noProof="1">
                <a:latin typeface="Arial" panose="020B0604020202020204" pitchFamily="34" charset="0"/>
                <a:ea typeface="宋体" pitchFamily="2" charset="-122"/>
                <a:cs typeface="+mn-ea"/>
              </a:rPr>
              <a:t>构</a:t>
            </a:r>
            <a:endParaRPr lang="zh-CN" altLang="en-US" sz="2400" strike="noStrike" noProof="1">
              <a:ea typeface="宋体" pitchFamily="2" charset="-122"/>
            </a:endParaRPr>
          </a:p>
        </p:txBody>
      </p:sp>
      <p:sp>
        <p:nvSpPr>
          <p:cNvPr id="17411" name="文本框 7680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4</a:t>
            </a:r>
            <a:endParaRPr lang="zh-CN" altLang="en-US" sz="1400" b="0" dirty="0">
              <a:solidFill>
                <a:schemeClr val="tx2"/>
              </a:solidFill>
              <a:latin typeface="Times New Roman" panose="02020603050405020304" charset="0"/>
              <a:ea typeface="宋体" pitchFamily="2" charset="-122"/>
            </a:endParaRPr>
          </a:p>
        </p:txBody>
      </p:sp>
      <p:sp>
        <p:nvSpPr>
          <p:cNvPr id="76806" name="矩形 76805"/>
          <p:cNvSpPr/>
          <p:nvPr/>
        </p:nvSpPr>
        <p:spPr>
          <a:xfrm>
            <a:off x="698500" y="706438"/>
            <a:ext cx="7402513" cy="792163"/>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3"/>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3"/>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3"/>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3"/>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3"/>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609600" lvl="0" indent="-609600" defTabSz="0" fontAlgn="base">
              <a:lnSpc>
                <a:spcPct val="105000"/>
              </a:lnSpc>
              <a:buNone/>
              <a:tabLst>
                <a:tab pos="387350" algn="l"/>
                <a:tab pos="471805" algn="l"/>
              </a:tabLst>
            </a:pPr>
            <a:r>
              <a:rPr lang="zh-CN" altLang="en-US" b="1" strike="noStrike" noProof="1">
                <a:solidFill>
                  <a:srgbClr val="990000"/>
                </a:solidFill>
                <a:latin typeface="Arial" panose="020B0604020202020204" pitchFamily="34" charset="0"/>
                <a:ea typeface="宋体" pitchFamily="2" charset="-122"/>
                <a:cs typeface="+mn-ea"/>
              </a:rPr>
              <a:t>操作系统组织结构的发展</a:t>
            </a:r>
            <a:endParaRPr lang="zh-CN" altLang="en-US" b="1" strike="noStrike" noProof="1">
              <a:solidFill>
                <a:srgbClr val="990000"/>
              </a:solidFill>
              <a:ea typeface="宋体" pitchFamily="2" charset="-122"/>
            </a:endParaRPr>
          </a:p>
        </p:txBody>
      </p:sp>
      <p:sp>
        <p:nvSpPr>
          <p:cNvPr id="17413" name="矩形 76806"/>
          <p:cNvSpPr/>
          <p:nvPr/>
        </p:nvSpPr>
        <p:spPr>
          <a:xfrm>
            <a:off x="1154113" y="3011488"/>
            <a:ext cx="1079500" cy="719137"/>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a:solidFill>
                  <a:schemeClr val="bg2"/>
                </a:solidFill>
                <a:latin typeface="Times New Roman" panose="02020603050405020304" charset="0"/>
                <a:ea typeface="宋体" pitchFamily="2" charset="-122"/>
              </a:rPr>
              <a:t>无序</a:t>
            </a:r>
            <a:endParaRPr lang="zh-CN" altLang="en-US" sz="2000">
              <a:solidFill>
                <a:schemeClr val="bg2"/>
              </a:solidFill>
              <a:latin typeface="Times New Roman" panose="02020603050405020304" charset="0"/>
              <a:ea typeface="宋体" pitchFamily="2" charset="-122"/>
            </a:endParaRPr>
          </a:p>
        </p:txBody>
      </p:sp>
      <p:sp>
        <p:nvSpPr>
          <p:cNvPr id="17414" name="直接连接符 76807"/>
          <p:cNvSpPr/>
          <p:nvPr/>
        </p:nvSpPr>
        <p:spPr>
          <a:xfrm>
            <a:off x="2233613" y="3370263"/>
            <a:ext cx="1081087" cy="0"/>
          </a:xfrm>
          <a:prstGeom prst="line">
            <a:avLst/>
          </a:prstGeom>
          <a:ln w="9525" cap="flat" cmpd="sng">
            <a:solidFill>
              <a:schemeClr val="tx1"/>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17415" name="矩形 76808"/>
          <p:cNvSpPr/>
          <p:nvPr/>
        </p:nvSpPr>
        <p:spPr>
          <a:xfrm>
            <a:off x="3314700" y="3011488"/>
            <a:ext cx="1079500" cy="719137"/>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a:solidFill>
                  <a:schemeClr val="bg2"/>
                </a:solidFill>
                <a:latin typeface="Times New Roman" panose="02020603050405020304" charset="0"/>
                <a:ea typeface="宋体" pitchFamily="2" charset="-122"/>
              </a:rPr>
              <a:t>有序</a:t>
            </a:r>
            <a:endParaRPr lang="zh-CN" altLang="en-US" sz="2000">
              <a:solidFill>
                <a:schemeClr val="bg2"/>
              </a:solidFill>
              <a:latin typeface="Times New Roman" panose="02020603050405020304" charset="0"/>
              <a:ea typeface="宋体" pitchFamily="2" charset="-122"/>
            </a:endParaRPr>
          </a:p>
        </p:txBody>
      </p:sp>
      <p:sp>
        <p:nvSpPr>
          <p:cNvPr id="17416" name="矩形 76809"/>
          <p:cNvSpPr/>
          <p:nvPr/>
        </p:nvSpPr>
        <p:spPr>
          <a:xfrm>
            <a:off x="5916613" y="4938713"/>
            <a:ext cx="1800225" cy="719137"/>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a:solidFill>
                  <a:schemeClr val="bg2"/>
                </a:solidFill>
                <a:latin typeface="Times New Roman" panose="02020603050405020304" charset="0"/>
                <a:ea typeface="宋体" pitchFamily="2" charset="-122"/>
              </a:rPr>
              <a:t>层次结构</a:t>
            </a:r>
            <a:endParaRPr lang="zh-CN" altLang="en-US" sz="2000">
              <a:solidFill>
                <a:schemeClr val="bg2"/>
              </a:solidFill>
              <a:latin typeface="Times New Roman" panose="02020603050405020304" charset="0"/>
              <a:ea typeface="宋体" pitchFamily="2" charset="-122"/>
            </a:endParaRPr>
          </a:p>
        </p:txBody>
      </p:sp>
      <p:sp>
        <p:nvSpPr>
          <p:cNvPr id="17417" name="矩形 76810"/>
          <p:cNvSpPr/>
          <p:nvPr/>
        </p:nvSpPr>
        <p:spPr>
          <a:xfrm>
            <a:off x="5507038" y="3946525"/>
            <a:ext cx="2657475" cy="720725"/>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dirty="0">
                <a:solidFill>
                  <a:schemeClr val="bg2"/>
                </a:solidFill>
                <a:latin typeface="Times New Roman" panose="02020603050405020304" charset="0"/>
                <a:ea typeface="宋体" pitchFamily="2" charset="-122"/>
              </a:rPr>
              <a:t>可扩展结构（微内核）</a:t>
            </a:r>
            <a:endParaRPr lang="zh-CN" altLang="en-US" sz="2000" dirty="0">
              <a:solidFill>
                <a:schemeClr val="bg2"/>
              </a:solidFill>
              <a:latin typeface="Times New Roman" panose="02020603050405020304" charset="0"/>
              <a:ea typeface="宋体" pitchFamily="2" charset="-122"/>
            </a:endParaRPr>
          </a:p>
        </p:txBody>
      </p:sp>
      <p:sp>
        <p:nvSpPr>
          <p:cNvPr id="17418" name="文本框 76811"/>
          <p:cNvSpPr txBox="1"/>
          <p:nvPr/>
        </p:nvSpPr>
        <p:spPr>
          <a:xfrm>
            <a:off x="426085" y="4091940"/>
            <a:ext cx="4410710" cy="701040"/>
          </a:xfrm>
          <a:prstGeom prst="rect">
            <a:avLst/>
          </a:prstGeom>
          <a:noFill/>
          <a:ln w="9525">
            <a:noFill/>
            <a:miter/>
          </a:ln>
        </p:spPr>
        <p:txBody>
          <a:bodyPr wrap="square" anchor="t">
            <a:spAutoFit/>
          </a:bodyPr>
          <a:p>
            <a:pPr lvl="0" algn="just"/>
            <a:r>
              <a:rPr lang="zh-CN" altLang="en-US" sz="2000" b="0">
                <a:solidFill>
                  <a:schemeClr val="tx1"/>
                </a:solidFill>
                <a:latin typeface="Times New Roman" panose="02020603050405020304" charset="0"/>
                <a:ea typeface="宋体" pitchFamily="2" charset="-122"/>
              </a:rPr>
              <a:t>模块化</a:t>
            </a:r>
            <a:r>
              <a:rPr lang="x-none" altLang="zh-CN" sz="2000" b="0">
                <a:solidFill>
                  <a:schemeClr val="tx1"/>
                </a:solidFill>
                <a:latin typeface="Times New Roman" panose="02020603050405020304" charset="0"/>
                <a:ea typeface="宋体" pitchFamily="2" charset="-122"/>
              </a:rPr>
              <a:t>:</a:t>
            </a:r>
            <a:endParaRPr lang="x-none" altLang="zh-CN" sz="2000" b="0">
              <a:solidFill>
                <a:schemeClr val="tx1"/>
              </a:solidFill>
              <a:latin typeface="Times New Roman" panose="02020603050405020304" charset="0"/>
              <a:ea typeface="宋体" pitchFamily="2" charset="-122"/>
            </a:endParaRPr>
          </a:p>
          <a:p>
            <a:pPr lvl="0" algn="just"/>
            <a:r>
              <a:rPr lang="zh-CN" altLang="en-US" sz="2000" b="0">
                <a:solidFill>
                  <a:schemeClr val="tx1"/>
                </a:solidFill>
                <a:latin typeface="Times New Roman" panose="02020603050405020304" charset="0"/>
                <a:ea typeface="宋体" pitchFamily="2" charset="-122"/>
              </a:rPr>
              <a:t>   模块内部高聚合，模块之间低耦合</a:t>
            </a:r>
            <a:r>
              <a:rPr lang="x-none" altLang="zh-CN" sz="2000" b="0">
                <a:solidFill>
                  <a:schemeClr val="tx1"/>
                </a:solidFill>
                <a:latin typeface="Times New Roman" panose="02020603050405020304" charset="0"/>
                <a:ea typeface="宋体" pitchFamily="2" charset="-122"/>
              </a:rPr>
              <a:t>.</a:t>
            </a:r>
            <a:endParaRPr lang="x-none" altLang="zh-CN" sz="2000" b="0">
              <a:solidFill>
                <a:schemeClr val="tx1"/>
              </a:solidFill>
              <a:latin typeface="Times New Roman" panose="02020603050405020304" charset="0"/>
              <a:ea typeface="宋体" pitchFamily="2" charset="-122"/>
            </a:endParaRPr>
          </a:p>
        </p:txBody>
      </p:sp>
      <p:sp>
        <p:nvSpPr>
          <p:cNvPr id="17419" name="矩形 76812"/>
          <p:cNvSpPr/>
          <p:nvPr/>
        </p:nvSpPr>
        <p:spPr>
          <a:xfrm>
            <a:off x="5899150" y="1620838"/>
            <a:ext cx="1800225" cy="720725"/>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dirty="0">
                <a:solidFill>
                  <a:schemeClr val="bg2"/>
                </a:solidFill>
                <a:latin typeface="Times New Roman" panose="02020603050405020304" charset="0"/>
                <a:ea typeface="宋体" pitchFamily="2" charset="-122"/>
              </a:rPr>
              <a:t>单体结构</a:t>
            </a:r>
            <a:endParaRPr lang="zh-CN" altLang="en-US" sz="2000" dirty="0">
              <a:solidFill>
                <a:schemeClr val="bg2"/>
              </a:solidFill>
              <a:latin typeface="Times New Roman" panose="02020603050405020304" charset="0"/>
              <a:ea typeface="宋体" pitchFamily="2" charset="-122"/>
            </a:endParaRPr>
          </a:p>
        </p:txBody>
      </p:sp>
      <p:sp>
        <p:nvSpPr>
          <p:cNvPr id="17420" name="矩形 76813"/>
          <p:cNvSpPr/>
          <p:nvPr/>
        </p:nvSpPr>
        <p:spPr>
          <a:xfrm>
            <a:off x="5903913" y="2860675"/>
            <a:ext cx="1800225" cy="719138"/>
          </a:xfrm>
          <a:prstGeom prst="rect">
            <a:avLst/>
          </a:prstGeom>
          <a:solidFill>
            <a:schemeClr val="bg1"/>
          </a:solidFill>
          <a:ln w="12700" cap="flat" cmpd="sng">
            <a:solidFill>
              <a:schemeClr val="bg2"/>
            </a:solidFill>
            <a:prstDash val="solid"/>
            <a:miter/>
            <a:headEnd type="none" w="med" len="med"/>
            <a:tailEnd type="none" w="med" len="med"/>
          </a:ln>
        </p:spPr>
        <p:txBody>
          <a:bodyPr wrap="none" anchor="ctr"/>
          <a:p>
            <a:pPr lvl="0" algn="ctr"/>
            <a:r>
              <a:rPr lang="zh-CN" altLang="en-US" sz="2000" dirty="0">
                <a:solidFill>
                  <a:schemeClr val="bg2"/>
                </a:solidFill>
                <a:latin typeface="Times New Roman" panose="02020603050405020304" charset="0"/>
                <a:ea typeface="宋体" pitchFamily="2" charset="-122"/>
              </a:rPr>
              <a:t>模块结构</a:t>
            </a:r>
            <a:endParaRPr lang="zh-CN" altLang="en-US" sz="2000" dirty="0">
              <a:solidFill>
                <a:schemeClr val="bg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680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43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5</a:t>
            </a:r>
            <a:endParaRPr lang="zh-CN" altLang="en-US" sz="1400" b="0" dirty="0">
              <a:solidFill>
                <a:schemeClr val="tx2"/>
              </a:solidFill>
              <a:latin typeface="Times New Roman" panose="02020603050405020304" charset="0"/>
              <a:ea typeface="宋体" pitchFamily="2" charset="-122"/>
            </a:endParaRPr>
          </a:p>
        </p:txBody>
      </p:sp>
      <p:sp>
        <p:nvSpPr>
          <p:cNvPr id="14340" name="矩形 143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
        <p:nvSpPr>
          <p:cNvPr id="14353" name="矩形 14352"/>
          <p:cNvSpPr/>
          <p:nvPr/>
        </p:nvSpPr>
        <p:spPr>
          <a:xfrm>
            <a:off x="1008063" y="1901825"/>
            <a:ext cx="2641600"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宋体" pitchFamily="2" charset="-122"/>
                <a:ea typeface="宋体" pitchFamily="2" charset="-122"/>
                <a:cs typeface="+mn-cs"/>
              </a:rPr>
              <a:t>ⅰ </a:t>
            </a:r>
            <a:r>
              <a:rPr lang="zh-CN" altLang="en-US" sz="2400" b="1" strike="noStrike" noProof="1">
                <a:solidFill>
                  <a:srgbClr val="000099"/>
                </a:solidFill>
                <a:latin typeface="Times New Roman" panose="02020603050405020304" charset="0"/>
                <a:ea typeface="宋体" pitchFamily="2" charset="-122"/>
                <a:cs typeface="+mn-cs"/>
              </a:rPr>
              <a:t>单体结构</a:t>
            </a:r>
            <a:endParaRPr lang="zh-CN" altLang="en-US" sz="2400" b="1" strike="noStrike" noProof="1">
              <a:solidFill>
                <a:srgbClr val="000099"/>
              </a:solidFill>
              <a:latin typeface="Times New Roman" panose="02020603050405020304" charset="0"/>
              <a:ea typeface="宋体" pitchFamily="2" charset="-122"/>
            </a:endParaRPr>
          </a:p>
        </p:txBody>
      </p:sp>
      <p:sp>
        <p:nvSpPr>
          <p:cNvPr id="14370" name="矩形 14369"/>
          <p:cNvSpPr/>
          <p:nvPr/>
        </p:nvSpPr>
        <p:spPr>
          <a:xfrm>
            <a:off x="187325" y="584200"/>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1.  </a:t>
            </a:r>
            <a:r>
              <a:rPr lang="zh-CN" altLang="en-US" b="1" strike="noStrike" noProof="1">
                <a:solidFill>
                  <a:srgbClr val="990000"/>
                </a:solidFill>
                <a:latin typeface="Arial" panose="020B0604020202020204" pitchFamily="34" charset="0"/>
                <a:ea typeface="宋体" pitchFamily="2" charset="-122"/>
                <a:cs typeface="+mn-ea"/>
              </a:rPr>
              <a:t>操作系统的结构类型</a:t>
            </a:r>
            <a:endParaRPr lang="zh-CN" altLang="en-US" b="1" strike="noStrike" noProof="1">
              <a:solidFill>
                <a:srgbClr val="990000"/>
              </a:solidFill>
              <a:ea typeface="宋体" pitchFamily="2" charset="-122"/>
            </a:endParaRPr>
          </a:p>
        </p:txBody>
      </p:sp>
      <p:grpSp>
        <p:nvGrpSpPr>
          <p:cNvPr id="4" name="组合 3"/>
          <p:cNvGrpSpPr/>
          <p:nvPr/>
        </p:nvGrpSpPr>
        <p:grpSpPr>
          <a:xfrm>
            <a:off x="646430" y="2809875"/>
            <a:ext cx="4359910" cy="2995930"/>
            <a:chOff x="1018" y="4425"/>
            <a:chExt cx="6866" cy="4718"/>
          </a:xfrm>
        </p:grpSpPr>
        <p:sp>
          <p:nvSpPr>
            <p:cNvPr id="14342" name="文本框 14341"/>
            <p:cNvSpPr txBox="1"/>
            <p:nvPr/>
          </p:nvSpPr>
          <p:spPr>
            <a:xfrm>
              <a:off x="2785" y="4425"/>
              <a:ext cx="3083" cy="4650"/>
            </a:xfrm>
            <a:prstGeom prst="rect">
              <a:avLst/>
            </a:prstGeom>
            <a:solidFill>
              <a:srgbClr val="FFFFFF"/>
            </a:solidFill>
            <a:ln w="1905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None/>
              </a:pPr>
              <a:endParaRPr lang="zh-CN" altLang="en-US" sz="1400" b="0"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18455" name="文本框 14342"/>
            <p:cNvSpPr txBox="1"/>
            <p:nvPr/>
          </p:nvSpPr>
          <p:spPr>
            <a:xfrm>
              <a:off x="2828" y="4725"/>
              <a:ext cx="2388" cy="68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应用软件</a:t>
              </a:r>
              <a:endParaRPr lang="zh-CN" altLang="en-US" sz="1400">
                <a:solidFill>
                  <a:schemeClr val="tx1"/>
                </a:solidFill>
                <a:latin typeface="Times New Roman" panose="02020603050405020304" charset="0"/>
                <a:ea typeface="宋体" pitchFamily="2" charset="-122"/>
              </a:endParaRPr>
            </a:p>
          </p:txBody>
        </p:sp>
        <p:sp>
          <p:nvSpPr>
            <p:cNvPr id="18456" name="文本框 14343"/>
            <p:cNvSpPr txBox="1"/>
            <p:nvPr/>
          </p:nvSpPr>
          <p:spPr>
            <a:xfrm>
              <a:off x="2580" y="6103"/>
              <a:ext cx="2913" cy="68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其他系统软件</a:t>
              </a:r>
              <a:endParaRPr lang="zh-CN" altLang="en-US" sz="1400">
                <a:solidFill>
                  <a:schemeClr val="tx1"/>
                </a:solidFill>
                <a:latin typeface="Times New Roman" panose="02020603050405020304" charset="0"/>
                <a:ea typeface="宋体" pitchFamily="2" charset="-122"/>
              </a:endParaRPr>
            </a:p>
          </p:txBody>
        </p:sp>
        <p:sp>
          <p:nvSpPr>
            <p:cNvPr id="18457" name="矩形 14344"/>
            <p:cNvSpPr/>
            <p:nvPr/>
          </p:nvSpPr>
          <p:spPr>
            <a:xfrm>
              <a:off x="2785" y="7263"/>
              <a:ext cx="3083" cy="89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endParaRPr lang="zh-CN" altLang="en-US" sz="1400" b="0" dirty="0">
                <a:solidFill>
                  <a:schemeClr val="tx1"/>
                </a:solidFill>
                <a:latin typeface="Arial" panose="020B0604020202020204" pitchFamily="34" charset="0"/>
                <a:ea typeface="宋体" pitchFamily="2" charset="-122"/>
              </a:endParaRPr>
            </a:p>
          </p:txBody>
        </p:sp>
        <p:sp>
          <p:nvSpPr>
            <p:cNvPr id="18458" name="矩形 14345"/>
            <p:cNvSpPr/>
            <p:nvPr/>
          </p:nvSpPr>
          <p:spPr>
            <a:xfrm>
              <a:off x="2785" y="8168"/>
              <a:ext cx="3083" cy="918"/>
            </a:xfrm>
            <a:prstGeom prst="rect">
              <a:avLst/>
            </a:prstGeom>
            <a:solidFill>
              <a:srgbClr val="5F5F5F"/>
            </a:solidFill>
            <a:ln w="9525" cap="flat" cmpd="sng">
              <a:solidFill>
                <a:srgbClr val="000000"/>
              </a:solidFill>
              <a:prstDash val="solid"/>
              <a:miter/>
              <a:headEnd type="none" w="med" len="med"/>
              <a:tailEnd type="none" w="med" len="med"/>
            </a:ln>
          </p:spPr>
          <p:txBody>
            <a:bodyPr anchor="t"/>
            <a:p>
              <a:pPr lvl="0"/>
              <a:endParaRPr lang="zh-CN" altLang="en-US" sz="1400" b="0" dirty="0">
                <a:solidFill>
                  <a:schemeClr val="tx1"/>
                </a:solidFill>
                <a:latin typeface="Arial" panose="020B0604020202020204" pitchFamily="34" charset="0"/>
                <a:ea typeface="宋体" pitchFamily="2" charset="-122"/>
              </a:endParaRPr>
            </a:p>
          </p:txBody>
        </p:sp>
        <p:sp>
          <p:nvSpPr>
            <p:cNvPr id="18459" name="文本框 14346"/>
            <p:cNvSpPr txBox="1"/>
            <p:nvPr/>
          </p:nvSpPr>
          <p:spPr>
            <a:xfrm>
              <a:off x="2288" y="7305"/>
              <a:ext cx="3548" cy="68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rgbClr val="FF0000"/>
                  </a:solidFill>
                  <a:latin typeface="Times New Roman" panose="02020603050405020304" charset="0"/>
                  <a:ea typeface="宋体" pitchFamily="2" charset="-122"/>
                </a:rPr>
                <a:t>操作系统其他功能</a:t>
              </a:r>
              <a:endParaRPr lang="zh-CN" altLang="en-US" sz="1400">
                <a:solidFill>
                  <a:srgbClr val="FF0000"/>
                </a:solidFill>
                <a:latin typeface="Times New Roman" panose="02020603050405020304" charset="0"/>
                <a:ea typeface="宋体" pitchFamily="2" charset="-122"/>
              </a:endParaRPr>
            </a:p>
          </p:txBody>
        </p:sp>
        <p:sp>
          <p:nvSpPr>
            <p:cNvPr id="18460" name="文本框 14347"/>
            <p:cNvSpPr txBox="1"/>
            <p:nvPr/>
          </p:nvSpPr>
          <p:spPr>
            <a:xfrm>
              <a:off x="1018" y="7215"/>
              <a:ext cx="1518" cy="1928"/>
            </a:xfrm>
            <a:prstGeom prst="rect">
              <a:avLst/>
            </a:prstGeom>
            <a:solidFill>
              <a:srgbClr val="FFFFFF"/>
            </a:solid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操</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作</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系</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统</a:t>
              </a:r>
              <a:endParaRPr lang="zh-CN" altLang="en-US" sz="1400" b="0">
                <a:solidFill>
                  <a:schemeClr val="tx1"/>
                </a:solidFill>
                <a:latin typeface="Times New Roman" panose="02020603050405020304" charset="0"/>
                <a:ea typeface="宋体" pitchFamily="2" charset="-122"/>
              </a:endParaRPr>
            </a:p>
          </p:txBody>
        </p:sp>
        <p:sp>
          <p:nvSpPr>
            <p:cNvPr id="18461" name="左大括号 14348"/>
            <p:cNvSpPr/>
            <p:nvPr/>
          </p:nvSpPr>
          <p:spPr>
            <a:xfrm>
              <a:off x="2443" y="7305"/>
              <a:ext cx="208" cy="1703"/>
            </a:xfrm>
            <a:prstGeom prst="leftBrace">
              <a:avLst>
                <a:gd name="adj1" fmla="val 68069"/>
                <a:gd name="adj2" fmla="val 50000"/>
              </a:avLst>
            </a:prstGeom>
            <a:noFill/>
            <a:ln w="9525" cap="flat" cmpd="sng">
              <a:solidFill>
                <a:srgbClr val="000000"/>
              </a:solidFill>
              <a:prstDash val="solid"/>
              <a:round/>
              <a:headEnd type="none" w="med" len="med"/>
              <a:tailEnd type="none" w="med" len="med"/>
            </a:ln>
          </p:spPr>
          <p:txBody>
            <a:bodyPr anchor="t"/>
            <a:p>
              <a:pPr lvl="0"/>
              <a:endParaRPr lang="zh-CN" altLang="en-US" sz="1400" b="0" dirty="0">
                <a:solidFill>
                  <a:schemeClr val="tx1"/>
                </a:solidFill>
                <a:latin typeface="Arial" panose="020B0604020202020204" pitchFamily="34" charset="0"/>
                <a:ea typeface="宋体" pitchFamily="2" charset="-122"/>
              </a:endParaRPr>
            </a:p>
          </p:txBody>
        </p:sp>
        <p:sp>
          <p:nvSpPr>
            <p:cNvPr id="18462" name="直接连接符 14350"/>
            <p:cNvSpPr/>
            <p:nvPr/>
          </p:nvSpPr>
          <p:spPr>
            <a:xfrm>
              <a:off x="2760" y="5900"/>
              <a:ext cx="311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63" name="直接连接符 14351"/>
            <p:cNvSpPr/>
            <p:nvPr/>
          </p:nvSpPr>
          <p:spPr>
            <a:xfrm>
              <a:off x="2785" y="7253"/>
              <a:ext cx="311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64" name="文本框 14349"/>
            <p:cNvSpPr txBox="1"/>
            <p:nvPr/>
          </p:nvSpPr>
          <p:spPr>
            <a:xfrm>
              <a:off x="3000" y="8275"/>
              <a:ext cx="1845" cy="680"/>
            </a:xfrm>
            <a:prstGeom prst="rect">
              <a:avLst/>
            </a:prstGeom>
            <a:noFill/>
            <a:ln w="9525">
              <a:noFill/>
              <a:miter/>
            </a:ln>
          </p:spPr>
          <p:txBody>
            <a:bodyPr anchor="t"/>
            <a:p>
              <a:pPr marL="916305" lvl="0" indent="-342900" algn="just">
                <a:lnSpc>
                  <a:spcPct val="120000"/>
                </a:lnSpc>
                <a:buClr>
                  <a:schemeClr val="tx2"/>
                </a:buClr>
                <a:buSzPct val="95000"/>
                <a:buFont typeface="Wingdings" panose="05000000000000000000" pitchFamily="2" charset="2"/>
                <a:buNone/>
              </a:pPr>
              <a:r>
                <a:rPr lang="zh-CN" altLang="en-US" sz="1400" b="0">
                  <a:solidFill>
                    <a:schemeClr val="bg1"/>
                  </a:solidFill>
                  <a:latin typeface="Times New Roman" panose="02020603050405020304" charset="0"/>
                  <a:ea typeface="宋体" pitchFamily="2" charset="-122"/>
                </a:rPr>
                <a:t>内核</a:t>
              </a:r>
              <a:endParaRPr lang="zh-CN" altLang="en-US" sz="1400" b="0">
                <a:solidFill>
                  <a:schemeClr val="bg1"/>
                </a:solidFill>
                <a:latin typeface="Times New Roman" panose="02020603050405020304" charset="0"/>
                <a:ea typeface="宋体" pitchFamily="2" charset="-122"/>
              </a:endParaRPr>
            </a:p>
          </p:txBody>
        </p:sp>
        <p:sp>
          <p:nvSpPr>
            <p:cNvPr id="2" name="右大括号 1"/>
            <p:cNvSpPr/>
            <p:nvPr/>
          </p:nvSpPr>
          <p:spPr>
            <a:xfrm>
              <a:off x="6119" y="8153"/>
              <a:ext cx="403" cy="92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 name="文本框 14347"/>
            <p:cNvSpPr txBox="1"/>
            <p:nvPr/>
          </p:nvSpPr>
          <p:spPr>
            <a:xfrm>
              <a:off x="6522" y="8356"/>
              <a:ext cx="1362" cy="518"/>
            </a:xfrm>
            <a:prstGeom prst="rect">
              <a:avLst/>
            </a:prstGeom>
            <a:solidFill>
              <a:srgbClr val="FFFFFF"/>
            </a:solidFill>
            <a:ln w="9525">
              <a:noFill/>
              <a:miter/>
            </a:ln>
          </p:spPr>
          <p:txBody>
            <a:bodyPr anchor="t"/>
            <a:p>
              <a:pPr lvl="0" indent="-340995" algn="l">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内核态</a:t>
              </a:r>
              <a:endParaRPr lang="zh-CN" altLang="en-US" sz="1400" b="0">
                <a:solidFill>
                  <a:schemeClr val="tx1"/>
                </a:solidFill>
                <a:latin typeface="Times New Roman" panose="02020603050405020304" charset="0"/>
                <a:ea typeface="宋体"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53" grpId="0"/>
      <p:bldP spid="1437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5361"/>
          <p:cNvSpPr>
            <a:spLocks noGrp="1"/>
          </p:cNvSpPr>
          <p:nvPr>
            <p:ph type="title"/>
          </p:nvPr>
        </p:nvSpPr>
        <p:spPr>
          <a:xfrm>
            <a:off x="365125" y="596900"/>
            <a:ext cx="5459413" cy="593725"/>
          </a:xfrm>
        </p:spPr>
        <p:txBody>
          <a:bodyPr wrap="square">
            <a:spAutoFit/>
          </a:bodyPr>
          <a:p>
            <a:pPr lvl="0"/>
            <a:r>
              <a:rPr lang="zh-CN" altLang="en-US" sz="3200" dirty="0">
                <a:solidFill>
                  <a:srgbClr val="990000"/>
                </a:solidFill>
                <a:ea typeface="宋体" pitchFamily="2" charset="-122"/>
              </a:rPr>
              <a:t>单体结构特点</a:t>
            </a:r>
            <a:r>
              <a:rPr lang="zh-CN" altLang="en-US" sz="3600" b="0" dirty="0">
                <a:latin typeface="Times New Roman" panose="02020603050405020304" charset="0"/>
                <a:ea typeface="宋体" pitchFamily="2" charset="-122"/>
              </a:rPr>
              <a:t>：</a:t>
            </a:r>
            <a:endParaRPr lang="zh-CN" altLang="en-US" sz="3600" b="0" dirty="0">
              <a:latin typeface="Times New Roman" panose="02020603050405020304" charset="0"/>
              <a:ea typeface="宋体" pitchFamily="2" charset="-122"/>
            </a:endParaRPr>
          </a:p>
        </p:txBody>
      </p:sp>
      <p:sp>
        <p:nvSpPr>
          <p:cNvPr id="19458" name="文本占位符 15362"/>
          <p:cNvSpPr>
            <a:spLocks noGrp="1"/>
          </p:cNvSpPr>
          <p:nvPr>
            <p:ph idx="1"/>
          </p:nvPr>
        </p:nvSpPr>
        <p:spPr>
          <a:xfrm>
            <a:off x="381000" y="1803400"/>
            <a:ext cx="8455025" cy="3352800"/>
          </a:xfrm>
          <a:ln>
            <a:miter/>
          </a:ln>
        </p:spPr>
        <p:txBody>
          <a:bodyPr wrap="square" anchor="t">
            <a:spAutoFit/>
          </a:bodyPr>
          <a:p>
            <a:pPr lvl="0"/>
            <a:r>
              <a:rPr lang="zh-CN" altLang="en-US" b="1" dirty="0">
                <a:solidFill>
                  <a:schemeClr val="tx1"/>
                </a:solidFill>
                <a:effectLst/>
                <a:ea typeface="宋体" pitchFamily="2" charset="-122"/>
              </a:rPr>
              <a:t>操作系统是一组函数或过程的集合，这些过程间可以相互调用而不受约束。</a:t>
            </a:r>
            <a:endParaRPr lang="zh-CN" altLang="en-US" b="1" dirty="0">
              <a:solidFill>
                <a:schemeClr val="tx1"/>
              </a:solidFill>
              <a:effectLst/>
              <a:ea typeface="宋体" pitchFamily="2" charset="-122"/>
            </a:endParaRPr>
          </a:p>
          <a:p>
            <a:pPr lvl="0"/>
            <a:r>
              <a:rPr lang="zh-CN" altLang="en-US" b="1" dirty="0">
                <a:solidFill>
                  <a:schemeClr val="tx1"/>
                </a:solidFill>
                <a:effectLst/>
                <a:ea typeface="宋体" pitchFamily="2" charset="-122"/>
              </a:rPr>
              <a:t>优点是：操作系统运行效率高。</a:t>
            </a:r>
            <a:endParaRPr lang="zh-CN" altLang="en-US" b="1" dirty="0">
              <a:solidFill>
                <a:schemeClr val="tx1"/>
              </a:solidFill>
              <a:effectLst/>
              <a:ea typeface="宋体" pitchFamily="2" charset="-122"/>
            </a:endParaRPr>
          </a:p>
          <a:p>
            <a:pPr lvl="0"/>
            <a:r>
              <a:rPr lang="zh-CN" altLang="en-US" b="1" dirty="0">
                <a:solidFill>
                  <a:schemeClr val="tx1"/>
                </a:solidFill>
                <a:effectLst/>
                <a:ea typeface="宋体" pitchFamily="2" charset="-122"/>
              </a:rPr>
              <a:t>缺点是：难以理解，难以维护，难以验证。</a:t>
            </a:r>
            <a:endParaRPr lang="zh-CN" altLang="en-US" b="1" dirty="0">
              <a:solidFill>
                <a:schemeClr val="tx1"/>
              </a:solidFill>
              <a:effectLst/>
              <a:ea typeface="宋体" pitchFamily="2" charset="-122"/>
            </a:endParaRPr>
          </a:p>
          <a:p>
            <a:pPr lvl="0"/>
            <a:r>
              <a:rPr lang="zh-CN" altLang="en-US" b="1" dirty="0">
                <a:solidFill>
                  <a:schemeClr val="tx1"/>
                </a:solidFill>
                <a:effectLst/>
                <a:ea typeface="宋体" pitchFamily="2" charset="-122"/>
              </a:rPr>
              <a:t>单体结构即无结构的操作系统。</a:t>
            </a:r>
            <a:endParaRPr lang="zh-CN" altLang="en-US" b="1" dirty="0">
              <a:solidFill>
                <a:schemeClr val="tx1"/>
              </a:solidFill>
              <a:effectLst/>
              <a:ea typeface="宋体" pitchFamily="2" charset="-122"/>
            </a:endParaRPr>
          </a:p>
          <a:p>
            <a:pPr lvl="0"/>
            <a:r>
              <a:rPr lang="en-US" altLang="zh-CN" b="1">
                <a:solidFill>
                  <a:schemeClr val="tx1"/>
                </a:solidFill>
                <a:effectLst/>
                <a:ea typeface="宋体" pitchFamily="2" charset="-122"/>
              </a:rPr>
              <a:t>AT&amp;T System V</a:t>
            </a:r>
            <a:r>
              <a:rPr lang="zh-CN" altLang="en-US" b="1" dirty="0">
                <a:solidFill>
                  <a:schemeClr val="tx1"/>
                </a:solidFill>
                <a:effectLst/>
                <a:ea typeface="宋体" pitchFamily="2" charset="-122"/>
              </a:rPr>
              <a:t>和</a:t>
            </a:r>
            <a:r>
              <a:rPr lang="en-US" altLang="zh-CN" b="1">
                <a:solidFill>
                  <a:schemeClr val="tx1"/>
                </a:solidFill>
                <a:effectLst/>
                <a:ea typeface="宋体" pitchFamily="2" charset="-122"/>
              </a:rPr>
              <a:t>BSD UNIX</a:t>
            </a:r>
            <a:endParaRPr lang="en-US" altLang="zh-CN" b="1">
              <a:solidFill>
                <a:schemeClr val="tx1"/>
              </a:solidFill>
              <a:effectLst/>
              <a:ea typeface="宋体" pitchFamily="2" charset="-122"/>
            </a:endParaRPr>
          </a:p>
        </p:txBody>
      </p:sp>
      <p:sp>
        <p:nvSpPr>
          <p:cNvPr id="19459" name="文本框 153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6</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43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5</a:t>
            </a:r>
            <a:endParaRPr lang="zh-CN" altLang="en-US" sz="1400" b="0" dirty="0">
              <a:solidFill>
                <a:schemeClr val="tx2"/>
              </a:solidFill>
              <a:latin typeface="Times New Roman" panose="02020603050405020304" charset="0"/>
              <a:ea typeface="宋体" pitchFamily="2" charset="-122"/>
            </a:endParaRPr>
          </a:p>
        </p:txBody>
      </p:sp>
      <p:sp>
        <p:nvSpPr>
          <p:cNvPr id="14340" name="矩形 143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
        <p:nvSpPr>
          <p:cNvPr id="14354" name="矩形 14353"/>
          <p:cNvSpPr/>
          <p:nvPr/>
        </p:nvSpPr>
        <p:spPr>
          <a:xfrm>
            <a:off x="3242310" y="1895475"/>
            <a:ext cx="2701925" cy="566738"/>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宋体" pitchFamily="2" charset="-122"/>
                <a:ea typeface="宋体" pitchFamily="2" charset="-122"/>
                <a:cs typeface="+mn-cs"/>
              </a:rPr>
              <a:t>ⅱ </a:t>
            </a:r>
            <a:r>
              <a:rPr lang="zh-CN" altLang="en-US" sz="2400" b="1" strike="noStrike" noProof="1">
                <a:solidFill>
                  <a:srgbClr val="000099"/>
                </a:solidFill>
                <a:latin typeface="Times New Roman" panose="02020603050405020304" charset="0"/>
                <a:ea typeface="宋体" pitchFamily="2" charset="-122"/>
                <a:cs typeface="+mn-cs"/>
              </a:rPr>
              <a:t>模块结构</a:t>
            </a:r>
            <a:endParaRPr lang="zh-CN" altLang="en-US" sz="2400" b="1" strike="noStrike" noProof="1">
              <a:solidFill>
                <a:srgbClr val="000099"/>
              </a:solidFill>
              <a:latin typeface="Times New Roman" panose="02020603050405020304" charset="0"/>
              <a:ea typeface="宋体" pitchFamily="2" charset="-122"/>
            </a:endParaRPr>
          </a:p>
        </p:txBody>
      </p:sp>
      <p:sp>
        <p:nvSpPr>
          <p:cNvPr id="18437" name="文本框 14361"/>
          <p:cNvSpPr txBox="1"/>
          <p:nvPr/>
        </p:nvSpPr>
        <p:spPr>
          <a:xfrm>
            <a:off x="2586673" y="4583113"/>
            <a:ext cx="963612" cy="1223962"/>
          </a:xfrm>
          <a:prstGeom prst="rect">
            <a:avLst/>
          </a:prstGeom>
          <a:solidFill>
            <a:srgbClr val="FFFFFF"/>
          </a:solid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操</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作</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系</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统</a:t>
            </a:r>
            <a:endParaRPr lang="zh-CN" altLang="en-US" sz="1400" b="0">
              <a:solidFill>
                <a:schemeClr val="tx1"/>
              </a:solidFill>
              <a:latin typeface="Times New Roman" panose="02020603050405020304" charset="0"/>
              <a:ea typeface="宋体" pitchFamily="2" charset="-122"/>
            </a:endParaRPr>
          </a:p>
        </p:txBody>
      </p:sp>
      <p:grpSp>
        <p:nvGrpSpPr>
          <p:cNvPr id="18439" name="组合 14372"/>
          <p:cNvGrpSpPr/>
          <p:nvPr/>
        </p:nvGrpSpPr>
        <p:grpSpPr>
          <a:xfrm>
            <a:off x="3393123" y="2811463"/>
            <a:ext cx="2295525" cy="2959100"/>
            <a:chOff x="3155" y="1771"/>
            <a:chExt cx="1446" cy="1864"/>
          </a:xfrm>
        </p:grpSpPr>
        <p:sp>
          <p:nvSpPr>
            <p:cNvPr id="14356" name="文本框 14355"/>
            <p:cNvSpPr txBox="1"/>
            <p:nvPr/>
          </p:nvSpPr>
          <p:spPr>
            <a:xfrm>
              <a:off x="3354" y="1771"/>
              <a:ext cx="1233" cy="1860"/>
            </a:xfrm>
            <a:prstGeom prst="rect">
              <a:avLst/>
            </a:prstGeom>
            <a:solidFill>
              <a:srgbClr val="FFFFFF"/>
            </a:solidFill>
            <a:ln w="1905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None/>
              </a:pPr>
              <a:endParaRPr lang="zh-CN" altLang="en-US" sz="1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18441" name="文本框 14356"/>
            <p:cNvSpPr txBox="1"/>
            <p:nvPr/>
          </p:nvSpPr>
          <p:spPr>
            <a:xfrm>
              <a:off x="3371" y="1891"/>
              <a:ext cx="955"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应用软件</a:t>
              </a:r>
              <a:endParaRPr lang="zh-CN" altLang="en-US" sz="1400">
                <a:solidFill>
                  <a:schemeClr val="tx1"/>
                </a:solidFill>
                <a:latin typeface="Times New Roman" panose="02020603050405020304" charset="0"/>
                <a:ea typeface="宋体" pitchFamily="2" charset="-122"/>
              </a:endParaRPr>
            </a:p>
          </p:txBody>
        </p:sp>
        <p:sp>
          <p:nvSpPr>
            <p:cNvPr id="18442" name="文本框 14357"/>
            <p:cNvSpPr txBox="1"/>
            <p:nvPr/>
          </p:nvSpPr>
          <p:spPr>
            <a:xfrm>
              <a:off x="3272" y="2442"/>
              <a:ext cx="1165"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其他系统软件</a:t>
              </a:r>
              <a:endParaRPr lang="zh-CN" altLang="en-US" sz="1400">
                <a:solidFill>
                  <a:schemeClr val="tx1"/>
                </a:solidFill>
                <a:latin typeface="Times New Roman" panose="02020603050405020304" charset="0"/>
                <a:ea typeface="宋体" pitchFamily="2" charset="-122"/>
              </a:endParaRPr>
            </a:p>
          </p:txBody>
        </p:sp>
        <p:sp>
          <p:nvSpPr>
            <p:cNvPr id="18443" name="矩形 14358"/>
            <p:cNvSpPr/>
            <p:nvPr/>
          </p:nvSpPr>
          <p:spPr>
            <a:xfrm>
              <a:off x="3354" y="2906"/>
              <a:ext cx="1233" cy="356"/>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18444" name="矩形 14359"/>
            <p:cNvSpPr/>
            <p:nvPr/>
          </p:nvSpPr>
          <p:spPr>
            <a:xfrm>
              <a:off x="3354" y="3268"/>
              <a:ext cx="1233" cy="367"/>
            </a:xfrm>
            <a:prstGeom prst="rect">
              <a:avLst/>
            </a:prstGeom>
            <a:solidFill>
              <a:srgbClr val="5F5F5F"/>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18445" name="文本框 14360"/>
            <p:cNvSpPr txBox="1"/>
            <p:nvPr/>
          </p:nvSpPr>
          <p:spPr>
            <a:xfrm>
              <a:off x="3155" y="2923"/>
              <a:ext cx="1419"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rgbClr val="FF0000"/>
                  </a:solidFill>
                  <a:latin typeface="Times New Roman" panose="02020603050405020304" charset="0"/>
                  <a:ea typeface="宋体" pitchFamily="2" charset="-122"/>
                </a:rPr>
                <a:t>操作系统其他功能</a:t>
              </a:r>
              <a:endParaRPr lang="zh-CN" altLang="en-US" sz="1400">
                <a:solidFill>
                  <a:srgbClr val="FF0000"/>
                </a:solidFill>
                <a:latin typeface="Times New Roman" panose="02020603050405020304" charset="0"/>
                <a:ea typeface="宋体" pitchFamily="2" charset="-122"/>
              </a:endParaRPr>
            </a:p>
          </p:txBody>
        </p:sp>
        <p:sp>
          <p:nvSpPr>
            <p:cNvPr id="18446" name="左大括号 14362"/>
            <p:cNvSpPr/>
            <p:nvPr/>
          </p:nvSpPr>
          <p:spPr>
            <a:xfrm>
              <a:off x="3217" y="2923"/>
              <a:ext cx="83" cy="681"/>
            </a:xfrm>
            <a:prstGeom prst="leftBrace">
              <a:avLst>
                <a:gd name="adj1" fmla="val 68069"/>
                <a:gd name="adj2" fmla="val 50000"/>
              </a:avLst>
            </a:prstGeom>
            <a:noFill/>
            <a:ln w="9525" cap="flat" cmpd="sng">
              <a:solidFill>
                <a:srgbClr val="000000"/>
              </a:solidFill>
              <a:prstDash val="solid"/>
              <a:round/>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18447" name="直接连接符 14363"/>
            <p:cNvSpPr/>
            <p:nvPr/>
          </p:nvSpPr>
          <p:spPr>
            <a:xfrm>
              <a:off x="3344" y="2361"/>
              <a:ext cx="124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48" name="直接连接符 14364"/>
            <p:cNvSpPr/>
            <p:nvPr/>
          </p:nvSpPr>
          <p:spPr>
            <a:xfrm>
              <a:off x="3354" y="2902"/>
              <a:ext cx="124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49" name="直接连接符 14365"/>
            <p:cNvSpPr/>
            <p:nvPr/>
          </p:nvSpPr>
          <p:spPr>
            <a:xfrm>
              <a:off x="3347" y="3448"/>
              <a:ext cx="602" cy="0"/>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50" name="直接连接符 14366"/>
            <p:cNvSpPr/>
            <p:nvPr/>
          </p:nvSpPr>
          <p:spPr>
            <a:xfrm>
              <a:off x="4236" y="3259"/>
              <a:ext cx="0" cy="373"/>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51" name="直接连接符 14367"/>
            <p:cNvSpPr/>
            <p:nvPr/>
          </p:nvSpPr>
          <p:spPr>
            <a:xfrm>
              <a:off x="3951" y="3448"/>
              <a:ext cx="0" cy="186"/>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18452" name="直接连接符 14370"/>
            <p:cNvSpPr/>
            <p:nvPr/>
          </p:nvSpPr>
          <p:spPr>
            <a:xfrm>
              <a:off x="3668" y="3271"/>
              <a:ext cx="0" cy="178"/>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5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77825"/>
          <p:cNvSpPr>
            <a:spLocks noGrp="1"/>
          </p:cNvSpPr>
          <p:nvPr>
            <p:ph type="title"/>
          </p:nvPr>
        </p:nvSpPr>
        <p:spPr>
          <a:xfrm>
            <a:off x="347980" y="779145"/>
            <a:ext cx="4298950" cy="536575"/>
          </a:xfrm>
        </p:spPr>
        <p:txBody>
          <a:bodyPr wrap="square">
            <a:spAutoFit/>
          </a:bodyPr>
          <a:p>
            <a:pPr lvl="0"/>
            <a:r>
              <a:rPr lang="zh-CN" altLang="en-US" sz="3200" dirty="0">
                <a:solidFill>
                  <a:srgbClr val="990000"/>
                </a:solidFill>
                <a:effectLst/>
                <a:ea typeface="宋体" pitchFamily="2" charset="-122"/>
              </a:rPr>
              <a:t>模块化结构特点：</a:t>
            </a:r>
            <a:endParaRPr lang="zh-CN" altLang="en-US" sz="3200" dirty="0">
              <a:solidFill>
                <a:srgbClr val="990000"/>
              </a:solidFill>
              <a:effectLst/>
              <a:ea typeface="宋体" pitchFamily="2" charset="-122"/>
            </a:endParaRPr>
          </a:p>
        </p:txBody>
      </p:sp>
      <p:sp>
        <p:nvSpPr>
          <p:cNvPr id="20482" name="文本占位符 77826"/>
          <p:cNvSpPr>
            <a:spLocks noGrp="1"/>
          </p:cNvSpPr>
          <p:nvPr>
            <p:ph idx="1"/>
          </p:nvPr>
        </p:nvSpPr>
        <p:spPr>
          <a:xfrm>
            <a:off x="523240" y="1549400"/>
            <a:ext cx="7635240" cy="3339465"/>
          </a:xfrm>
        </p:spPr>
        <p:txBody>
          <a:bodyPr wrap="square" anchor="t">
            <a:spAutoFit/>
          </a:bodyPr>
          <a:p>
            <a:pPr lvl="0"/>
            <a:r>
              <a:rPr lang="zh-CN" altLang="en-US" dirty="0">
                <a:solidFill>
                  <a:schemeClr val="tx1"/>
                </a:solidFill>
                <a:effectLst/>
                <a:ea typeface="宋体" pitchFamily="2" charset="-122"/>
              </a:rPr>
              <a:t>操作系统由多个逻辑上独立的功能模块构成</a:t>
            </a:r>
            <a:r>
              <a:rPr lang="zh-CN" altLang="en-US" dirty="0">
                <a:solidFill>
                  <a:schemeClr val="tx1"/>
                </a:solidFill>
                <a:effectLst/>
                <a:ea typeface="宋体" pitchFamily="2" charset="-122"/>
                <a:sym typeface="Arial" panose="020B0604020202020204" pitchFamily="34" charset="0"/>
              </a:rPr>
              <a:t>。</a:t>
            </a:r>
            <a:endParaRPr lang="zh-CN" altLang="en-US" dirty="0">
              <a:solidFill>
                <a:schemeClr val="tx1"/>
              </a:solidFill>
              <a:effectLst/>
              <a:ea typeface="宋体" pitchFamily="2" charset="-122"/>
            </a:endParaRPr>
          </a:p>
          <a:p>
            <a:pPr lvl="0"/>
            <a:r>
              <a:rPr lang="zh-CN" altLang="en-US" dirty="0">
                <a:solidFill>
                  <a:schemeClr val="tx1"/>
                </a:solidFill>
                <a:effectLst/>
                <a:ea typeface="宋体" pitchFamily="2" charset="-122"/>
              </a:rPr>
              <a:t>各模块之间有良好定义的接口。</a:t>
            </a:r>
            <a:endParaRPr lang="en-US" altLang="zh-CN" dirty="0">
              <a:solidFill>
                <a:schemeClr val="tx1"/>
              </a:solidFill>
              <a:effectLst/>
              <a:ea typeface="宋体" pitchFamily="2" charset="-122"/>
            </a:endParaRPr>
          </a:p>
          <a:p>
            <a:pPr lvl="0"/>
            <a:r>
              <a:rPr lang="zh-CN" altLang="en-US" dirty="0">
                <a:solidFill>
                  <a:schemeClr val="tx1"/>
                </a:solidFill>
                <a:effectLst/>
                <a:ea typeface="宋体" pitchFamily="2" charset="-122"/>
              </a:rPr>
              <a:t>模块内部隐藏了实现细节。</a:t>
            </a:r>
            <a:endParaRPr lang="zh-CN" altLang="en-US" dirty="0">
              <a:solidFill>
                <a:schemeClr val="tx1"/>
              </a:solidFill>
              <a:effectLst/>
              <a:ea typeface="宋体" pitchFamily="2" charset="-122"/>
            </a:endParaRPr>
          </a:p>
          <a:p>
            <a:pPr lvl="0"/>
            <a:r>
              <a:rPr lang="zh-CN" altLang="en-US" dirty="0">
                <a:solidFill>
                  <a:srgbClr val="C00000"/>
                </a:solidFill>
                <a:effectLst/>
                <a:ea typeface="宋体" pitchFamily="2" charset="-122"/>
              </a:rPr>
              <a:t>各个模块之间可以相互调用。</a:t>
            </a:r>
            <a:endParaRPr lang="zh-CN" altLang="en-US" dirty="0">
              <a:solidFill>
                <a:srgbClr val="C00000"/>
              </a:solidFill>
              <a:effectLst/>
              <a:ea typeface="宋体" pitchFamily="2" charset="-122"/>
            </a:endParaRPr>
          </a:p>
          <a:p>
            <a:pPr lvl="0"/>
            <a:r>
              <a:rPr lang="zh-CN" altLang="en-US" dirty="0">
                <a:solidFill>
                  <a:schemeClr val="tx1"/>
                </a:solidFill>
                <a:effectLst/>
                <a:ea typeface="宋体" pitchFamily="2" charset="-122"/>
              </a:rPr>
              <a:t>有利于操作系统的理解和维护。</a:t>
            </a:r>
            <a:endParaRPr lang="zh-CN" altLang="en-US" dirty="0">
              <a:solidFill>
                <a:schemeClr val="tx1"/>
              </a:solidFill>
              <a:effectLst/>
              <a:ea typeface="宋体" pitchFamily="2" charset="-122"/>
            </a:endParaRPr>
          </a:p>
        </p:txBody>
      </p:sp>
      <p:sp>
        <p:nvSpPr>
          <p:cNvPr id="20483" name="文本框 7782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6</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174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8</a:t>
            </a:r>
            <a:endParaRPr lang="zh-CN" altLang="en-US" sz="1400" b="0" dirty="0">
              <a:solidFill>
                <a:schemeClr val="tx2"/>
              </a:solidFill>
              <a:latin typeface="Times New Roman" panose="02020603050405020304" charset="0"/>
              <a:ea typeface="宋体" pitchFamily="2" charset="-122"/>
            </a:endParaRPr>
          </a:p>
        </p:txBody>
      </p:sp>
      <p:sp>
        <p:nvSpPr>
          <p:cNvPr id="17428" name="矩形 17427"/>
          <p:cNvSpPr/>
          <p:nvPr/>
        </p:nvSpPr>
        <p:spPr>
          <a:xfrm>
            <a:off x="2620328" y="1299528"/>
            <a:ext cx="2641600" cy="57086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a:solidFill>
                  <a:srgbClr val="000099"/>
                </a:solidFill>
                <a:effectLst/>
                <a:latin typeface="宋体" pitchFamily="2" charset="-122"/>
                <a:ea typeface="宋体" pitchFamily="2" charset="-122"/>
                <a:sym typeface="+mn-ea"/>
              </a:rPr>
              <a:t>ⅲ</a:t>
            </a:r>
            <a:r>
              <a:rPr lang="en-US" altLang="zh-CN" sz="2400" b="1" strike="noStrike" noProof="1">
                <a:solidFill>
                  <a:srgbClr val="000099"/>
                </a:solidFill>
                <a:latin typeface="宋体" pitchFamily="2" charset="-122"/>
                <a:ea typeface="宋体" pitchFamily="2" charset="-122"/>
                <a:cs typeface="+mn-cs"/>
              </a:rPr>
              <a:t> </a:t>
            </a:r>
            <a:r>
              <a:rPr lang="zh-CN" altLang="en-US" sz="2400" b="1" strike="noStrike" noProof="1">
                <a:solidFill>
                  <a:srgbClr val="000099"/>
                </a:solidFill>
                <a:latin typeface="Times New Roman" panose="02020603050405020304" charset="0"/>
                <a:ea typeface="宋体" pitchFamily="2" charset="-122"/>
                <a:cs typeface="+mn-cs"/>
              </a:rPr>
              <a:t>层次结构</a:t>
            </a:r>
            <a:endParaRPr lang="zh-CN" altLang="en-US" sz="2400" b="1" strike="noStrike" noProof="1">
              <a:solidFill>
                <a:srgbClr val="000099"/>
              </a:solidFill>
              <a:latin typeface="Times New Roman" panose="02020603050405020304" charset="0"/>
              <a:ea typeface="宋体" pitchFamily="2" charset="-122"/>
            </a:endParaRPr>
          </a:p>
        </p:txBody>
      </p:sp>
      <p:grpSp>
        <p:nvGrpSpPr>
          <p:cNvPr id="17429" name="组合 17428"/>
          <p:cNvGrpSpPr/>
          <p:nvPr/>
        </p:nvGrpSpPr>
        <p:grpSpPr>
          <a:xfrm>
            <a:off x="2204403" y="2112328"/>
            <a:ext cx="3101975" cy="2995612"/>
            <a:chOff x="0" y="0"/>
            <a:chExt cx="1954" cy="1887"/>
          </a:xfrm>
        </p:grpSpPr>
        <p:sp>
          <p:nvSpPr>
            <p:cNvPr id="21525" name="文本框 17429"/>
            <p:cNvSpPr txBox="1"/>
            <p:nvPr/>
          </p:nvSpPr>
          <p:spPr>
            <a:xfrm>
              <a:off x="0" y="1116"/>
              <a:ext cx="607" cy="771"/>
            </a:xfrm>
            <a:prstGeom prst="rect">
              <a:avLst/>
            </a:prstGeom>
            <a:solidFill>
              <a:srgbClr val="FFFFFF"/>
            </a:solid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操</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作</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系</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统</a:t>
              </a:r>
              <a:endParaRPr lang="zh-CN" altLang="en-US" sz="1400" b="0">
                <a:solidFill>
                  <a:schemeClr val="tx1"/>
                </a:solidFill>
                <a:latin typeface="Times New Roman" panose="02020603050405020304" charset="0"/>
                <a:ea typeface="宋体" pitchFamily="2" charset="-122"/>
              </a:endParaRPr>
            </a:p>
          </p:txBody>
        </p:sp>
        <p:sp>
          <p:nvSpPr>
            <p:cNvPr id="17431" name="文本框 17430"/>
            <p:cNvSpPr txBox="1"/>
            <p:nvPr/>
          </p:nvSpPr>
          <p:spPr>
            <a:xfrm>
              <a:off x="707" y="0"/>
              <a:ext cx="1233" cy="1860"/>
            </a:xfrm>
            <a:prstGeom prst="rect">
              <a:avLst/>
            </a:prstGeom>
            <a:solidFill>
              <a:srgbClr val="FFFFFF"/>
            </a:solidFill>
            <a:ln w="1905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None/>
              </a:pPr>
              <a:endParaRPr lang="zh-CN" altLang="en-US" sz="1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21527" name="文本框 17431"/>
            <p:cNvSpPr txBox="1"/>
            <p:nvPr/>
          </p:nvSpPr>
          <p:spPr>
            <a:xfrm>
              <a:off x="724" y="120"/>
              <a:ext cx="955"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应用软件</a:t>
              </a:r>
              <a:endParaRPr lang="zh-CN" altLang="en-US" sz="1400">
                <a:solidFill>
                  <a:schemeClr val="tx1"/>
                </a:solidFill>
                <a:latin typeface="Times New Roman" panose="02020603050405020304" charset="0"/>
                <a:ea typeface="宋体" pitchFamily="2" charset="-122"/>
              </a:endParaRPr>
            </a:p>
          </p:txBody>
        </p:sp>
        <p:sp>
          <p:nvSpPr>
            <p:cNvPr id="21528" name="文本框 17432"/>
            <p:cNvSpPr txBox="1"/>
            <p:nvPr/>
          </p:nvSpPr>
          <p:spPr>
            <a:xfrm>
              <a:off x="625" y="671"/>
              <a:ext cx="1165"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其他系统软件</a:t>
              </a:r>
              <a:endParaRPr lang="zh-CN" altLang="en-US" sz="1400">
                <a:solidFill>
                  <a:schemeClr val="tx1"/>
                </a:solidFill>
                <a:latin typeface="Times New Roman" panose="02020603050405020304" charset="0"/>
                <a:ea typeface="宋体" pitchFamily="2" charset="-122"/>
              </a:endParaRPr>
            </a:p>
          </p:txBody>
        </p:sp>
        <p:sp>
          <p:nvSpPr>
            <p:cNvPr id="21529" name="矩形 17433"/>
            <p:cNvSpPr/>
            <p:nvPr/>
          </p:nvSpPr>
          <p:spPr>
            <a:xfrm>
              <a:off x="707" y="1135"/>
              <a:ext cx="1233" cy="356"/>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30" name="矩形 17434"/>
            <p:cNvSpPr/>
            <p:nvPr/>
          </p:nvSpPr>
          <p:spPr>
            <a:xfrm>
              <a:off x="707" y="1497"/>
              <a:ext cx="1233" cy="367"/>
            </a:xfrm>
            <a:prstGeom prst="rect">
              <a:avLst/>
            </a:prstGeom>
            <a:solidFill>
              <a:srgbClr val="5F5F5F"/>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31" name="文本框 17435"/>
            <p:cNvSpPr txBox="1"/>
            <p:nvPr/>
          </p:nvSpPr>
          <p:spPr>
            <a:xfrm>
              <a:off x="508" y="1152"/>
              <a:ext cx="1419"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rgbClr val="FF0000"/>
                  </a:solidFill>
                  <a:latin typeface="Times New Roman" panose="02020603050405020304" charset="0"/>
                  <a:ea typeface="宋体" pitchFamily="2" charset="-122"/>
                </a:rPr>
                <a:t>操作系统其他功能</a:t>
              </a:r>
              <a:endParaRPr lang="zh-CN" altLang="en-US" sz="1400">
                <a:solidFill>
                  <a:srgbClr val="FF0000"/>
                </a:solidFill>
                <a:latin typeface="Times New Roman" panose="02020603050405020304" charset="0"/>
                <a:ea typeface="宋体" pitchFamily="2" charset="-122"/>
              </a:endParaRPr>
            </a:p>
          </p:txBody>
        </p:sp>
        <p:sp>
          <p:nvSpPr>
            <p:cNvPr id="21532" name="左大括号 17436"/>
            <p:cNvSpPr/>
            <p:nvPr/>
          </p:nvSpPr>
          <p:spPr>
            <a:xfrm>
              <a:off x="570" y="1152"/>
              <a:ext cx="83" cy="681"/>
            </a:xfrm>
            <a:prstGeom prst="leftBrace">
              <a:avLst>
                <a:gd name="adj1" fmla="val 68069"/>
                <a:gd name="adj2" fmla="val 50000"/>
              </a:avLst>
            </a:prstGeom>
            <a:noFill/>
            <a:ln w="9525" cap="flat" cmpd="sng">
              <a:solidFill>
                <a:srgbClr val="000000"/>
              </a:solidFill>
              <a:prstDash val="solid"/>
              <a:round/>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33" name="直接连接符 17437"/>
            <p:cNvSpPr/>
            <p:nvPr/>
          </p:nvSpPr>
          <p:spPr>
            <a:xfrm>
              <a:off x="697" y="590"/>
              <a:ext cx="124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1534" name="直接连接符 17438"/>
            <p:cNvSpPr/>
            <p:nvPr/>
          </p:nvSpPr>
          <p:spPr>
            <a:xfrm>
              <a:off x="707" y="1131"/>
              <a:ext cx="124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1535" name="直接连接符 17439"/>
            <p:cNvSpPr/>
            <p:nvPr/>
          </p:nvSpPr>
          <p:spPr>
            <a:xfrm>
              <a:off x="700" y="1587"/>
              <a:ext cx="1233" cy="0"/>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1536" name="文本框 17440"/>
            <p:cNvSpPr txBox="1"/>
            <p:nvPr/>
          </p:nvSpPr>
          <p:spPr>
            <a:xfrm>
              <a:off x="798" y="1479"/>
              <a:ext cx="989" cy="27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800">
                  <a:solidFill>
                    <a:srgbClr val="FFFFFF"/>
                  </a:solidFill>
                  <a:latin typeface="Times New Roman" panose="02020603050405020304" charset="0"/>
                  <a:ea typeface="宋体" pitchFamily="2" charset="-122"/>
                </a:rPr>
                <a:t>内核</a:t>
              </a:r>
              <a:endParaRPr lang="zh-CN" altLang="en-US" sz="1800">
                <a:solidFill>
                  <a:srgbClr val="FFFFFF"/>
                </a:solidFill>
                <a:latin typeface="Times New Roman" panose="02020603050405020304" charset="0"/>
                <a:ea typeface="宋体" pitchFamily="2" charset="-122"/>
              </a:endParaRPr>
            </a:p>
          </p:txBody>
        </p:sp>
        <p:sp>
          <p:nvSpPr>
            <p:cNvPr id="21537" name="直接连接符 17441"/>
            <p:cNvSpPr/>
            <p:nvPr/>
          </p:nvSpPr>
          <p:spPr>
            <a:xfrm>
              <a:off x="691" y="1706"/>
              <a:ext cx="1233" cy="0"/>
            </a:xfrm>
            <a:prstGeom prst="line">
              <a:avLst/>
            </a:prstGeom>
            <a:ln w="19050" cap="flat" cmpd="sng">
              <a:solidFill>
                <a:srgbClr val="FFFFFF"/>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17444" name="矩形 1744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215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12</a:t>
            </a:r>
            <a:endParaRPr lang="zh-CN" altLang="en-US" sz="1400" b="0" dirty="0">
              <a:solidFill>
                <a:schemeClr val="tx2"/>
              </a:solidFill>
              <a:latin typeface="Times New Roman" panose="02020603050405020304" charset="0"/>
              <a:ea typeface="宋体" pitchFamily="2" charset="-122"/>
            </a:endParaRPr>
          </a:p>
        </p:txBody>
      </p:sp>
      <p:sp>
        <p:nvSpPr>
          <p:cNvPr id="21507" name="矩形 21506"/>
          <p:cNvSpPr/>
          <p:nvPr/>
        </p:nvSpPr>
        <p:spPr>
          <a:xfrm>
            <a:off x="171450" y="646113"/>
            <a:ext cx="7839075" cy="68199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b="1" strike="noStrike" noProof="1">
                <a:solidFill>
                  <a:srgbClr val="990000"/>
                </a:solidFill>
                <a:latin typeface="Arial" panose="020B0604020202020204" pitchFamily="34" charset="0"/>
                <a:ea typeface="宋体" pitchFamily="2" charset="-122"/>
                <a:cs typeface="+mn-ea"/>
              </a:rPr>
              <a:t>操作系统的层次结构</a:t>
            </a:r>
            <a:r>
              <a:rPr lang="zh-CN" altLang="en-US" sz="2000" strike="noStrike" noProof="1">
                <a:solidFill>
                  <a:schemeClr val="tx1"/>
                </a:solidFill>
                <a:latin typeface="Arial" panose="020B0604020202020204" pitchFamily="34" charset="0"/>
                <a:ea typeface="宋体" pitchFamily="2" charset="-122"/>
                <a:cs typeface="+mn-ea"/>
              </a:rPr>
              <a:t>        </a:t>
            </a:r>
            <a:endParaRPr lang="zh-CN" altLang="en-US" sz="2000" strike="noStrike" noProof="1">
              <a:solidFill>
                <a:schemeClr val="tx1"/>
              </a:solidFill>
              <a:ea typeface="宋体" pitchFamily="2" charset="-122"/>
            </a:endParaRPr>
          </a:p>
        </p:txBody>
      </p:sp>
      <p:sp>
        <p:nvSpPr>
          <p:cNvPr id="21509" name="文本框 21508"/>
          <p:cNvSpPr txBox="1"/>
          <p:nvPr/>
        </p:nvSpPr>
        <p:spPr>
          <a:xfrm>
            <a:off x="5676900" y="5529263"/>
            <a:ext cx="3008313"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itchFamily="2" charset="-122"/>
              </a:rPr>
              <a:t>操作系统层次结构示意图</a:t>
            </a:r>
            <a:endParaRPr lang="zh-CN" altLang="en-US" sz="1600" b="0">
              <a:solidFill>
                <a:schemeClr val="tx1"/>
              </a:solidFill>
              <a:latin typeface="Times New Roman" panose="02020603050405020304" charset="0"/>
              <a:ea typeface="宋体" pitchFamily="2" charset="-122"/>
            </a:endParaRPr>
          </a:p>
        </p:txBody>
      </p:sp>
      <p:sp>
        <p:nvSpPr>
          <p:cNvPr id="21510" name="矩形 2150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grpSp>
        <p:nvGrpSpPr>
          <p:cNvPr id="18435" name="组合 18434"/>
          <p:cNvGrpSpPr/>
          <p:nvPr/>
        </p:nvGrpSpPr>
        <p:grpSpPr>
          <a:xfrm>
            <a:off x="3746500" y="1338263"/>
            <a:ext cx="5334000" cy="3810000"/>
            <a:chOff x="0" y="0"/>
            <a:chExt cx="3360" cy="2400"/>
          </a:xfrm>
        </p:grpSpPr>
        <p:sp>
          <p:nvSpPr>
            <p:cNvPr id="25606" name="文本框 18435"/>
            <p:cNvSpPr txBox="1"/>
            <p:nvPr/>
          </p:nvSpPr>
          <p:spPr>
            <a:xfrm>
              <a:off x="1104" y="2112"/>
              <a:ext cx="2256" cy="288"/>
            </a:xfrm>
            <a:prstGeom prst="rect">
              <a:avLst/>
            </a:prstGeom>
            <a:solidFill>
              <a:srgbClr val="F9DC89"/>
            </a:solidFill>
            <a:ln w="19050"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裸         机</a:t>
              </a:r>
              <a:endParaRPr lang="zh-CN" altLang="en-US" sz="2000">
                <a:solidFill>
                  <a:schemeClr val="bg2"/>
                </a:solidFill>
                <a:latin typeface="Times New Roman" panose="02020603050405020304" charset="0"/>
                <a:ea typeface="宋体" pitchFamily="2" charset="-122"/>
              </a:endParaRPr>
            </a:p>
          </p:txBody>
        </p:sp>
        <p:sp>
          <p:nvSpPr>
            <p:cNvPr id="25607" name="文本框 18436"/>
            <p:cNvSpPr txBox="1"/>
            <p:nvPr/>
          </p:nvSpPr>
          <p:spPr>
            <a:xfrm>
              <a:off x="1104" y="1344"/>
              <a:ext cx="672" cy="720"/>
            </a:xfrm>
            <a:prstGeom prst="rect">
              <a:avLst/>
            </a:prstGeom>
            <a:solidFill>
              <a:srgbClr val="F9DC89"/>
            </a:solidFill>
            <a:ln w="28575"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初级中断处理</a:t>
              </a:r>
              <a:endParaRPr lang="zh-CN" altLang="en-US" sz="2000">
                <a:solidFill>
                  <a:schemeClr val="bg2"/>
                </a:solidFill>
                <a:latin typeface="Times New Roman" panose="02020603050405020304" charset="0"/>
                <a:ea typeface="宋体" pitchFamily="2" charset="-122"/>
              </a:endParaRPr>
            </a:p>
          </p:txBody>
        </p:sp>
        <p:sp>
          <p:nvSpPr>
            <p:cNvPr id="25608" name="文本框 18437"/>
            <p:cNvSpPr txBox="1"/>
            <p:nvPr/>
          </p:nvSpPr>
          <p:spPr>
            <a:xfrm>
              <a:off x="1824" y="1344"/>
              <a:ext cx="816" cy="720"/>
            </a:xfrm>
            <a:prstGeom prst="rect">
              <a:avLst/>
            </a:prstGeom>
            <a:solidFill>
              <a:srgbClr val="F9DC89"/>
            </a:solidFill>
            <a:ln w="28575"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进程控制</a:t>
              </a:r>
              <a:endParaRPr lang="zh-CN" altLang="en-US" sz="2000">
                <a:solidFill>
                  <a:schemeClr val="bg2"/>
                </a:solidFill>
                <a:latin typeface="Times New Roman" panose="02020603050405020304" charset="0"/>
                <a:ea typeface="宋体" pitchFamily="2" charset="-122"/>
              </a:endParaRPr>
            </a:p>
            <a:p>
              <a:pPr lvl="0" algn="ctr">
                <a:spcBef>
                  <a:spcPct val="50000"/>
                </a:spcBef>
              </a:pPr>
              <a:r>
                <a:rPr lang="zh-CN" altLang="en-US" sz="2000">
                  <a:solidFill>
                    <a:schemeClr val="bg2"/>
                  </a:solidFill>
                  <a:latin typeface="Times New Roman" panose="02020603050405020304" charset="0"/>
                  <a:ea typeface="宋体" pitchFamily="2" charset="-122"/>
                </a:rPr>
                <a:t>进程通信</a:t>
              </a:r>
              <a:endParaRPr lang="zh-CN" altLang="en-US" sz="2000">
                <a:solidFill>
                  <a:schemeClr val="bg2"/>
                </a:solidFill>
                <a:latin typeface="Times New Roman" panose="02020603050405020304" charset="0"/>
                <a:ea typeface="宋体" pitchFamily="2" charset="-122"/>
              </a:endParaRPr>
            </a:p>
          </p:txBody>
        </p:sp>
        <p:sp>
          <p:nvSpPr>
            <p:cNvPr id="25609" name="文本框 18438"/>
            <p:cNvSpPr txBox="1"/>
            <p:nvPr/>
          </p:nvSpPr>
          <p:spPr>
            <a:xfrm>
              <a:off x="2688" y="1344"/>
              <a:ext cx="672" cy="720"/>
            </a:xfrm>
            <a:prstGeom prst="rect">
              <a:avLst/>
            </a:prstGeom>
            <a:solidFill>
              <a:srgbClr val="F9DC89"/>
            </a:solidFill>
            <a:ln w="28575"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处理机分派</a:t>
              </a:r>
              <a:endParaRPr lang="zh-CN" altLang="en-US" sz="2000">
                <a:solidFill>
                  <a:schemeClr val="bg2"/>
                </a:solidFill>
                <a:latin typeface="Times New Roman" panose="02020603050405020304" charset="0"/>
                <a:ea typeface="宋体" pitchFamily="2" charset="-122"/>
              </a:endParaRPr>
            </a:p>
          </p:txBody>
        </p:sp>
        <p:sp>
          <p:nvSpPr>
            <p:cNvPr id="25610" name="文本框 18439"/>
            <p:cNvSpPr txBox="1"/>
            <p:nvPr/>
          </p:nvSpPr>
          <p:spPr>
            <a:xfrm>
              <a:off x="1104" y="1008"/>
              <a:ext cx="2256" cy="288"/>
            </a:xfrm>
            <a:prstGeom prst="rect">
              <a:avLst/>
            </a:prstGeom>
            <a:solidFill>
              <a:srgbClr val="F9DC89"/>
            </a:solidFill>
            <a:ln w="19050"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存 储 管 理</a:t>
              </a:r>
              <a:endParaRPr lang="zh-CN" altLang="en-US" sz="2000">
                <a:solidFill>
                  <a:schemeClr val="bg2"/>
                </a:solidFill>
                <a:latin typeface="Times New Roman" panose="02020603050405020304" charset="0"/>
                <a:ea typeface="宋体" pitchFamily="2" charset="-122"/>
              </a:endParaRPr>
            </a:p>
          </p:txBody>
        </p:sp>
        <p:sp>
          <p:nvSpPr>
            <p:cNvPr id="25611" name="文本框 18440"/>
            <p:cNvSpPr txBox="1"/>
            <p:nvPr/>
          </p:nvSpPr>
          <p:spPr>
            <a:xfrm>
              <a:off x="1104" y="672"/>
              <a:ext cx="2256" cy="288"/>
            </a:xfrm>
            <a:prstGeom prst="rect">
              <a:avLst/>
            </a:prstGeom>
            <a:solidFill>
              <a:srgbClr val="F9DC89"/>
            </a:solidFill>
            <a:ln w="19050" cap="sq" cmpd="sng">
              <a:solidFill>
                <a:schemeClr val="tx1"/>
              </a:solidFill>
              <a:prstDash val="solid"/>
              <a:miter/>
              <a:headEnd type="none" w="med" len="med"/>
              <a:tailEnd type="none" w="med" len="med"/>
            </a:ln>
          </p:spPr>
          <p:txBody>
            <a:bodyPr anchor="ctr" anchorCtr="1"/>
            <a:p>
              <a:pPr lvl="0" algn="ctr">
                <a:spcBef>
                  <a:spcPct val="50000"/>
                </a:spcBef>
              </a:pPr>
              <a:r>
                <a:rPr lang="en-US" altLang="zh-CN" sz="2000">
                  <a:solidFill>
                    <a:schemeClr val="bg2"/>
                  </a:solidFill>
                  <a:latin typeface="Times New Roman" panose="02020603050405020304" charset="0"/>
                  <a:ea typeface="宋体" pitchFamily="2" charset="-122"/>
                </a:rPr>
                <a:t>I/O </a:t>
              </a:r>
              <a:r>
                <a:rPr lang="zh-CN" altLang="en-US" sz="2000">
                  <a:solidFill>
                    <a:schemeClr val="bg2"/>
                  </a:solidFill>
                  <a:latin typeface="Times New Roman" panose="02020603050405020304" charset="0"/>
                  <a:ea typeface="宋体" pitchFamily="2" charset="-122"/>
                </a:rPr>
                <a:t>处 理</a:t>
              </a:r>
              <a:endParaRPr lang="zh-CN" altLang="en-US" sz="2000">
                <a:solidFill>
                  <a:schemeClr val="bg2"/>
                </a:solidFill>
                <a:latin typeface="Times New Roman" panose="02020603050405020304" charset="0"/>
                <a:ea typeface="宋体" pitchFamily="2" charset="-122"/>
              </a:endParaRPr>
            </a:p>
          </p:txBody>
        </p:sp>
        <p:sp>
          <p:nvSpPr>
            <p:cNvPr id="25612" name="文本框 18441"/>
            <p:cNvSpPr txBox="1"/>
            <p:nvPr/>
          </p:nvSpPr>
          <p:spPr>
            <a:xfrm>
              <a:off x="1104" y="336"/>
              <a:ext cx="2256" cy="288"/>
            </a:xfrm>
            <a:prstGeom prst="rect">
              <a:avLst/>
            </a:prstGeom>
            <a:solidFill>
              <a:srgbClr val="F9DC89"/>
            </a:solidFill>
            <a:ln w="19050"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文 件 存 取</a:t>
              </a:r>
              <a:endParaRPr lang="zh-CN" altLang="en-US" sz="2000">
                <a:solidFill>
                  <a:schemeClr val="bg2"/>
                </a:solidFill>
                <a:latin typeface="Times New Roman" panose="02020603050405020304" charset="0"/>
                <a:ea typeface="宋体" pitchFamily="2" charset="-122"/>
              </a:endParaRPr>
            </a:p>
          </p:txBody>
        </p:sp>
        <p:sp>
          <p:nvSpPr>
            <p:cNvPr id="25613" name="文本框 18442"/>
            <p:cNvSpPr txBox="1"/>
            <p:nvPr/>
          </p:nvSpPr>
          <p:spPr>
            <a:xfrm>
              <a:off x="1104" y="0"/>
              <a:ext cx="2256" cy="288"/>
            </a:xfrm>
            <a:prstGeom prst="rect">
              <a:avLst/>
            </a:prstGeom>
            <a:solidFill>
              <a:srgbClr val="F9DC89"/>
            </a:solidFill>
            <a:ln w="19050" cap="sq" cmpd="sng">
              <a:solidFill>
                <a:schemeClr val="tx1"/>
              </a:solidFill>
              <a:prstDash val="solid"/>
              <a:miter/>
              <a:headEnd type="none" w="med" len="med"/>
              <a:tailEnd type="none" w="med" len="med"/>
            </a:ln>
          </p:spPr>
          <p:txBody>
            <a:bodyPr anchor="ctr" anchorCtr="1"/>
            <a:p>
              <a:pPr lvl="0" algn="ctr">
                <a:spcBef>
                  <a:spcPct val="50000"/>
                </a:spcBef>
              </a:pPr>
              <a:r>
                <a:rPr lang="zh-CN" altLang="en-US" sz="2000">
                  <a:solidFill>
                    <a:schemeClr val="bg2"/>
                  </a:solidFill>
                  <a:latin typeface="Times New Roman" panose="02020603050405020304" charset="0"/>
                  <a:ea typeface="宋体" pitchFamily="2" charset="-122"/>
                </a:rPr>
                <a:t>资源分配与调度</a:t>
              </a:r>
              <a:endParaRPr lang="zh-CN" altLang="en-US" sz="2000">
                <a:solidFill>
                  <a:schemeClr val="bg2"/>
                </a:solidFill>
                <a:latin typeface="Times New Roman" panose="02020603050405020304" charset="0"/>
                <a:ea typeface="宋体" pitchFamily="2" charset="-122"/>
              </a:endParaRPr>
            </a:p>
          </p:txBody>
        </p:sp>
        <p:sp>
          <p:nvSpPr>
            <p:cNvPr id="25614" name="左大括号 18443"/>
            <p:cNvSpPr/>
            <p:nvPr/>
          </p:nvSpPr>
          <p:spPr>
            <a:xfrm>
              <a:off x="912" y="0"/>
              <a:ext cx="144" cy="1296"/>
            </a:xfrm>
            <a:prstGeom prst="leftBrace">
              <a:avLst>
                <a:gd name="adj1" fmla="val 75000"/>
                <a:gd name="adj2" fmla="val 48764"/>
              </a:avLst>
            </a:prstGeom>
            <a:noFill/>
            <a:ln w="28575" cap="sq"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5615" name="左大括号 18444"/>
            <p:cNvSpPr/>
            <p:nvPr/>
          </p:nvSpPr>
          <p:spPr>
            <a:xfrm>
              <a:off x="912" y="1344"/>
              <a:ext cx="144" cy="720"/>
            </a:xfrm>
            <a:prstGeom prst="leftBrace">
              <a:avLst>
                <a:gd name="adj1" fmla="val 41481"/>
                <a:gd name="adj2" fmla="val 48764"/>
              </a:avLst>
            </a:prstGeom>
            <a:noFill/>
            <a:ln w="28575" cap="sq"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5616" name="左大括号 18445"/>
            <p:cNvSpPr/>
            <p:nvPr/>
          </p:nvSpPr>
          <p:spPr>
            <a:xfrm>
              <a:off x="912" y="2112"/>
              <a:ext cx="144" cy="288"/>
            </a:xfrm>
            <a:prstGeom prst="leftBrace">
              <a:avLst>
                <a:gd name="adj1" fmla="val 16592"/>
                <a:gd name="adj2" fmla="val 48764"/>
              </a:avLst>
            </a:prstGeom>
            <a:noFill/>
            <a:ln w="28575" cap="sq"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5617" name="文本框 18446"/>
            <p:cNvSpPr txBox="1"/>
            <p:nvPr/>
          </p:nvSpPr>
          <p:spPr>
            <a:xfrm>
              <a:off x="48" y="2112"/>
              <a:ext cx="720" cy="288"/>
            </a:xfrm>
            <a:prstGeom prst="rect">
              <a:avLst/>
            </a:prstGeom>
            <a:noFill/>
            <a:ln w="9525">
              <a:noFill/>
              <a:miter/>
            </a:ln>
          </p:spPr>
          <p:txBody>
            <a:bodyPr anchor="t">
              <a:spAutoFit/>
            </a:bodyPr>
            <a:p>
              <a:pPr lvl="0">
                <a:spcBef>
                  <a:spcPct val="50000"/>
                </a:spcBef>
              </a:pPr>
              <a:r>
                <a:rPr lang="zh-CN" altLang="en-US" sz="2400">
                  <a:latin typeface="Times New Roman" panose="02020603050405020304" charset="0"/>
                  <a:ea typeface="宋体" pitchFamily="2" charset="-122"/>
                </a:rPr>
                <a:t>硬件层</a:t>
              </a:r>
              <a:endParaRPr lang="zh-CN" altLang="en-US" sz="2400">
                <a:latin typeface="Times New Roman" panose="02020603050405020304" charset="0"/>
                <a:ea typeface="宋体" pitchFamily="2" charset="-122"/>
              </a:endParaRPr>
            </a:p>
          </p:txBody>
        </p:sp>
        <p:sp>
          <p:nvSpPr>
            <p:cNvPr id="25618" name="文本框 18447"/>
            <p:cNvSpPr txBox="1"/>
            <p:nvPr/>
          </p:nvSpPr>
          <p:spPr>
            <a:xfrm>
              <a:off x="48" y="1536"/>
              <a:ext cx="720" cy="288"/>
            </a:xfrm>
            <a:prstGeom prst="rect">
              <a:avLst/>
            </a:prstGeom>
            <a:noFill/>
            <a:ln w="9525">
              <a:noFill/>
              <a:miter/>
            </a:ln>
          </p:spPr>
          <p:txBody>
            <a:bodyPr anchor="t">
              <a:spAutoFit/>
            </a:bodyPr>
            <a:p>
              <a:pPr lvl="0">
                <a:spcBef>
                  <a:spcPct val="50000"/>
                </a:spcBef>
              </a:pPr>
              <a:r>
                <a:rPr lang="zh-CN" altLang="en-US" sz="2400">
                  <a:latin typeface="Times New Roman" panose="02020603050405020304" charset="0"/>
                  <a:ea typeface="宋体" pitchFamily="2" charset="-122"/>
                </a:rPr>
                <a:t>系统核</a:t>
              </a:r>
              <a:endParaRPr lang="zh-CN" altLang="en-US" sz="2400">
                <a:latin typeface="Times New Roman" panose="02020603050405020304" charset="0"/>
                <a:ea typeface="宋体" pitchFamily="2" charset="-122"/>
              </a:endParaRPr>
            </a:p>
          </p:txBody>
        </p:sp>
        <p:sp>
          <p:nvSpPr>
            <p:cNvPr id="25619" name="文本框 18448"/>
            <p:cNvSpPr txBox="1"/>
            <p:nvPr/>
          </p:nvSpPr>
          <p:spPr>
            <a:xfrm>
              <a:off x="0" y="480"/>
              <a:ext cx="912" cy="288"/>
            </a:xfrm>
            <a:prstGeom prst="rect">
              <a:avLst/>
            </a:prstGeom>
            <a:noFill/>
            <a:ln w="9525">
              <a:noFill/>
              <a:miter/>
            </a:ln>
          </p:spPr>
          <p:txBody>
            <a:bodyPr anchor="t">
              <a:spAutoFit/>
            </a:bodyPr>
            <a:p>
              <a:pPr lvl="0">
                <a:spcBef>
                  <a:spcPct val="50000"/>
                </a:spcBef>
              </a:pPr>
              <a:r>
                <a:rPr lang="zh-CN" altLang="en-US" sz="2400">
                  <a:latin typeface="Times New Roman" panose="02020603050405020304" charset="0"/>
                  <a:ea typeface="宋体" pitchFamily="2" charset="-122"/>
                </a:rPr>
                <a:t>其他功能</a:t>
              </a:r>
              <a:endParaRPr lang="en-US" altLang="zh-CN" sz="2400">
                <a:latin typeface="Times New Roman" panose="02020603050405020304" charset="0"/>
                <a:ea typeface="宋体" pitchFamily="2" charset="-122"/>
              </a:endParaRPr>
            </a:p>
          </p:txBody>
        </p:sp>
      </p:grpSp>
      <p:sp>
        <p:nvSpPr>
          <p:cNvPr id="17411" name="文本占位符 17410"/>
          <p:cNvSpPr>
            <a:spLocks noGrp="1"/>
          </p:cNvSpPr>
          <p:nvPr>
            <p:ph type="body"/>
          </p:nvPr>
        </p:nvSpPr>
        <p:spPr>
          <a:xfrm>
            <a:off x="174625" y="1803400"/>
            <a:ext cx="3619500" cy="3413125"/>
          </a:xfrm>
          <a:ln>
            <a:miter/>
          </a:ln>
        </p:spPr>
        <p:txBody>
          <a:bodyPr wrap="square" anchor="t">
            <a:spAutoFit/>
          </a:bodyPr>
          <a:p>
            <a:pPr marL="342900" lvl="0" indent="-342900" fontAlgn="base">
              <a:buFont typeface="Arial" panose="020B0604020202020204" pitchFamily="34" charset="0"/>
              <a:buChar char="•"/>
            </a:pPr>
            <a:r>
              <a:rPr lang="zh-CN" altLang="en-US" sz="2400" b="1" strike="noStrike" noProof="1">
                <a:solidFill>
                  <a:schemeClr val="tx1"/>
                </a:solidFill>
                <a:effectLst/>
              </a:rPr>
              <a:t>层次式结构是把操作系统划分为内核和若干功能模块；</a:t>
            </a:r>
            <a:endParaRPr lang="zh-CN" altLang="en-US" sz="2400" b="1" strike="noStrike" noProof="1">
              <a:solidFill>
                <a:schemeClr val="tx1"/>
              </a:solidFill>
              <a:effectLst/>
            </a:endParaRPr>
          </a:p>
          <a:p>
            <a:pPr marL="342900" lvl="0" indent="-342900" fontAlgn="base">
              <a:buFont typeface="Arial" panose="020B0604020202020204" pitchFamily="34" charset="0"/>
              <a:buChar char="•"/>
            </a:pPr>
            <a:r>
              <a:rPr lang="zh-CN" altLang="en-US" sz="2400" b="1" strike="noStrike" noProof="1">
                <a:solidFill>
                  <a:schemeClr val="tx1"/>
                </a:solidFill>
                <a:effectLst/>
              </a:rPr>
              <a:t>核心层是硬件提供的基础功能；</a:t>
            </a:r>
            <a:endParaRPr lang="zh-CN" altLang="en-US" sz="2400" b="1" strike="noStrike" noProof="1">
              <a:solidFill>
                <a:schemeClr val="tx1"/>
              </a:solidFill>
              <a:effectLst/>
            </a:endParaRPr>
          </a:p>
          <a:p>
            <a:pPr marL="342900" lvl="0" indent="-342900" fontAlgn="base">
              <a:buFont typeface="Arial" panose="020B0604020202020204" pitchFamily="34" charset="0"/>
              <a:buChar char="•"/>
            </a:pPr>
            <a:r>
              <a:rPr lang="zh-CN" altLang="en-US" sz="2400" b="1" strike="noStrike" noProof="1">
                <a:solidFill>
                  <a:schemeClr val="tx1"/>
                </a:solidFill>
                <a:effectLst/>
              </a:rPr>
              <a:t>其他功能模块按调用次序排列成若干层次；</a:t>
            </a:r>
            <a:endParaRPr lang="zh-CN" altLang="en-US" sz="2400" b="1" strike="noStrike" noProof="1">
              <a:solidFill>
                <a:schemeClr val="tx1"/>
              </a:solidFill>
              <a:effectLst/>
            </a:endParaRPr>
          </a:p>
          <a:p>
            <a:pPr marL="342900" lvl="0" indent="-342900" fontAlgn="base">
              <a:buFont typeface="Arial" panose="020B0604020202020204" pitchFamily="34" charset="0"/>
              <a:buChar char="•"/>
            </a:pPr>
            <a:r>
              <a:rPr lang="zh-CN" altLang="en-US" sz="2400" b="1" strike="noStrike" noProof="1">
                <a:solidFill>
                  <a:srgbClr val="C00000"/>
                </a:solidFill>
                <a:effectLst/>
              </a:rPr>
              <a:t>各层之间只能是单向依赖或单向调用关系；</a:t>
            </a:r>
            <a:endParaRPr lang="zh-CN" altLang="en-US" sz="2400" b="1" strike="noStrike" noProof="1">
              <a:solidFill>
                <a:srgbClr val="C00000"/>
              </a:solidFill>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1507" grpId="0" build="p"/>
      <p:bldP spid="21509" grpId="0"/>
      <p:bldP spid="17411" grpId="0" animBg="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22529"/>
          <p:cNvSpPr>
            <a:spLocks noGrp="1"/>
          </p:cNvSpPr>
          <p:nvPr>
            <p:ph type="title"/>
          </p:nvPr>
        </p:nvSpPr>
        <p:spPr>
          <a:xfrm>
            <a:off x="363855" y="702310"/>
            <a:ext cx="5128260" cy="534035"/>
          </a:xfrm>
        </p:spPr>
        <p:txBody>
          <a:bodyPr wrap="square">
            <a:spAutoFit/>
          </a:bodyPr>
          <a:p>
            <a:pPr lvl="0"/>
            <a:r>
              <a:rPr lang="zh-CN" altLang="en-US" sz="3200">
                <a:solidFill>
                  <a:srgbClr val="990000"/>
                </a:solidFill>
                <a:latin typeface="Arial" panose="020B0604020202020204" pitchFamily="34" charset="0"/>
                <a:ea typeface="宋体" pitchFamily="2" charset="-122"/>
                <a:cs typeface="+mn-ea"/>
              </a:rPr>
              <a:t>层次结构的特点：</a:t>
            </a:r>
            <a:endParaRPr lang="zh-CN" altLang="en-US" dirty="0"/>
          </a:p>
        </p:txBody>
      </p:sp>
      <p:sp>
        <p:nvSpPr>
          <p:cNvPr id="22531" name="矩形 22530"/>
          <p:cNvSpPr>
            <a:spLocks noGrp="1"/>
          </p:cNvSpPr>
          <p:nvPr/>
        </p:nvSpPr>
        <p:spPr>
          <a:xfrm>
            <a:off x="473075" y="1423988"/>
            <a:ext cx="8083550" cy="5099050"/>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algn="just" fontAlgn="base"/>
            <a:r>
              <a:rPr lang="zh-CN" altLang="en-US" sz="2800" strike="noStrike" noProof="1">
                <a:solidFill>
                  <a:schemeClr val="tx1"/>
                </a:solidFill>
                <a:effectLst/>
                <a:latin typeface="Arial" panose="020B0604020202020204" pitchFamily="34" charset="0"/>
                <a:ea typeface="宋体" pitchFamily="2" charset="-122"/>
                <a:cs typeface="+mn-ea"/>
              </a:rPr>
              <a:t>优点：</a:t>
            </a:r>
            <a:endParaRPr lang="zh-CN" altLang="en-US" sz="2800" strike="noStrike" noProof="1">
              <a:solidFill>
                <a:schemeClr val="tx1"/>
              </a:solidFill>
              <a:effectLst/>
              <a:ea typeface="宋体" pitchFamily="2" charset="-122"/>
            </a:endParaRPr>
          </a:p>
          <a:p>
            <a:pPr lvl="1" algn="just" fontAlgn="base"/>
            <a:r>
              <a:rPr lang="zh-CN" altLang="en-US" sz="2400" strike="noStrike" noProof="1">
                <a:solidFill>
                  <a:schemeClr val="tx1"/>
                </a:solidFill>
                <a:effectLst/>
                <a:latin typeface="+mn-lt"/>
                <a:ea typeface="+mn-ea"/>
                <a:cs typeface="+mn-cs"/>
                <a:sym typeface="+mn-ea"/>
              </a:rPr>
              <a:t>系统结构清晰，不构成循环。</a:t>
            </a:r>
            <a:endParaRPr lang="zh-CN" altLang="en-US" sz="2400" strike="noStrike" noProof="1">
              <a:solidFill>
                <a:schemeClr val="tx1"/>
              </a:solidFill>
              <a:effectLst/>
              <a:sym typeface="+mn-ea"/>
            </a:endParaRPr>
          </a:p>
          <a:p>
            <a:pPr lvl="1" algn="just" fontAlgn="base"/>
            <a:r>
              <a:rPr lang="zh-CN" altLang="en-US" sz="2400" strike="noStrike" noProof="1">
                <a:solidFill>
                  <a:schemeClr val="tx1"/>
                </a:solidFill>
                <a:effectLst/>
                <a:latin typeface="+mn-lt"/>
                <a:ea typeface="宋体" pitchFamily="2" charset="-122"/>
                <a:cs typeface="+mn-cs"/>
              </a:rPr>
              <a:t>整体问题局部化，系统的正确性可通过各层正确性来保证。</a:t>
            </a:r>
            <a:endParaRPr lang="zh-CN" altLang="en-US" sz="2400" strike="noStrike" noProof="1">
              <a:solidFill>
                <a:schemeClr val="tx1"/>
              </a:solidFill>
              <a:effectLst/>
              <a:ea typeface="宋体" pitchFamily="2" charset="-122"/>
            </a:endParaRPr>
          </a:p>
          <a:p>
            <a:pPr lvl="1" algn="just" fontAlgn="base"/>
            <a:r>
              <a:rPr lang="zh-CN" altLang="en-US" sz="2400" strike="noStrike" noProof="1">
                <a:solidFill>
                  <a:schemeClr val="tx1"/>
                </a:solidFill>
                <a:effectLst/>
                <a:latin typeface="+mn-lt"/>
                <a:ea typeface="宋体" pitchFamily="2" charset="-122"/>
                <a:cs typeface="+mn-cs"/>
              </a:rPr>
              <a:t>增加、修改或替换层次不影响其他层次，有利于系统的维护和扩充。</a:t>
            </a:r>
            <a:endParaRPr lang="zh-CN" altLang="en-US" sz="2400" strike="noStrike" noProof="1">
              <a:solidFill>
                <a:schemeClr val="tx1"/>
              </a:solidFill>
              <a:effectLst/>
              <a:ea typeface="宋体" pitchFamily="2" charset="-122"/>
            </a:endParaRPr>
          </a:p>
          <a:p>
            <a:pPr lvl="0" algn="just" fontAlgn="base"/>
            <a:r>
              <a:rPr lang="zh-CN" altLang="en-US" sz="2800" strike="noStrike" noProof="1">
                <a:solidFill>
                  <a:schemeClr val="tx1"/>
                </a:solidFill>
                <a:effectLst/>
                <a:latin typeface="Arial" panose="020B0604020202020204" pitchFamily="34" charset="0"/>
                <a:ea typeface="宋体" pitchFamily="2" charset="-122"/>
                <a:cs typeface="+mn-ea"/>
              </a:rPr>
              <a:t>缺点：</a:t>
            </a:r>
            <a:endParaRPr lang="zh-CN" altLang="en-US" sz="2800" strike="noStrike" noProof="1">
              <a:solidFill>
                <a:schemeClr val="tx1"/>
              </a:solidFill>
              <a:effectLst/>
              <a:ea typeface="宋体" pitchFamily="2" charset="-122"/>
            </a:endParaRPr>
          </a:p>
          <a:p>
            <a:pPr lvl="1" algn="just" fontAlgn="base"/>
            <a:r>
              <a:rPr lang="zh-CN" altLang="en-US" sz="2400" strike="noStrike" noProof="1">
                <a:solidFill>
                  <a:schemeClr val="tx1"/>
                </a:solidFill>
                <a:effectLst/>
                <a:latin typeface="+mn-lt"/>
                <a:ea typeface="宋体" pitchFamily="2" charset="-122"/>
                <a:cs typeface="+mn-cs"/>
              </a:rPr>
              <a:t>限制过于严格：各层单向依赖，</a:t>
            </a:r>
            <a:endParaRPr lang="zh-CN" altLang="en-US" sz="2400" strike="noStrike" noProof="1">
              <a:solidFill>
                <a:schemeClr val="tx1"/>
              </a:solidFill>
              <a:effectLst/>
              <a:ea typeface="宋体" pitchFamily="2" charset="-122"/>
            </a:endParaRPr>
          </a:p>
          <a:p>
            <a:pPr lvl="1" algn="just" fontAlgn="base"/>
            <a:r>
              <a:rPr lang="zh-CN" altLang="en-US" sz="2400" strike="noStrike" noProof="1">
                <a:solidFill>
                  <a:schemeClr val="tx1"/>
                </a:solidFill>
                <a:effectLst/>
                <a:latin typeface="+mn-lt"/>
                <a:ea typeface="宋体" pitchFamily="2" charset="-122"/>
                <a:cs typeface="+mn-cs"/>
              </a:rPr>
              <a:t>过于最求形式，反而会更复杂，效率低。</a:t>
            </a:r>
            <a:endParaRPr lang="zh-CN" altLang="en-US" sz="2400" strike="noStrike" noProof="1">
              <a:solidFill>
                <a:schemeClr val="tx1"/>
              </a:solidFill>
              <a:effectLst/>
              <a:ea typeface="宋体" pitchFamily="2" charset="-122"/>
            </a:endParaRPr>
          </a:p>
          <a:p>
            <a:pPr lvl="1" algn="just" fontAlgn="base"/>
            <a:r>
              <a:rPr lang="zh-CN" altLang="en-US" sz="2400" strike="noStrike" noProof="1">
                <a:solidFill>
                  <a:schemeClr val="tx1"/>
                </a:solidFill>
                <a:effectLst/>
                <a:latin typeface="+mn-lt"/>
                <a:ea typeface="宋体" pitchFamily="2" charset="-122"/>
                <a:cs typeface="+mn-cs"/>
                <a:sym typeface="+mn-ea"/>
              </a:rPr>
              <a:t>不现实，只是一种指导原则</a:t>
            </a:r>
            <a:endParaRPr lang="zh-CN" altLang="en-US" sz="2400" strike="noStrike" noProof="1">
              <a:solidFill>
                <a:schemeClr val="tx1"/>
              </a:solidFill>
              <a:effectLst/>
              <a:latin typeface="+mn-lt"/>
              <a:ea typeface="宋体" pitchFamily="2" charset="-122"/>
              <a:cs typeface="+mn-cs"/>
              <a:sym typeface="+mn-ea"/>
            </a:endParaRPr>
          </a:p>
        </p:txBody>
      </p:sp>
      <p:sp>
        <p:nvSpPr>
          <p:cNvPr id="26627" name="文本框 2253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13</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174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8</a:t>
            </a:r>
            <a:endParaRPr lang="zh-CN" altLang="en-US" sz="1400" b="0" dirty="0">
              <a:solidFill>
                <a:schemeClr val="tx2"/>
              </a:solidFill>
              <a:latin typeface="Times New Roman" panose="02020603050405020304" charset="0"/>
              <a:ea typeface="宋体" pitchFamily="2" charset="-122"/>
            </a:endParaRPr>
          </a:p>
        </p:txBody>
      </p:sp>
      <p:sp>
        <p:nvSpPr>
          <p:cNvPr id="17411" name="矩形 17410"/>
          <p:cNvSpPr/>
          <p:nvPr/>
        </p:nvSpPr>
        <p:spPr>
          <a:xfrm>
            <a:off x="606425" y="909320"/>
            <a:ext cx="4912995" cy="57086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effectLst/>
                <a:latin typeface="宋体" pitchFamily="2" charset="-122"/>
                <a:ea typeface="宋体" pitchFamily="2" charset="-122"/>
                <a:cs typeface="+mn-cs"/>
              </a:rPr>
              <a:t> </a:t>
            </a:r>
            <a:r>
              <a:rPr lang="en-US" altLang="zh-CN" sz="2400" b="1">
                <a:solidFill>
                  <a:srgbClr val="000099"/>
                </a:solidFill>
                <a:latin typeface="宋体" pitchFamily="2" charset="-122"/>
                <a:ea typeface="宋体" pitchFamily="2" charset="-122"/>
                <a:sym typeface="+mn-ea"/>
              </a:rPr>
              <a:t>ⅳ</a:t>
            </a:r>
            <a:r>
              <a:rPr lang="zh-CN" altLang="en-US" sz="2400" b="1" strike="noStrike" noProof="1">
                <a:solidFill>
                  <a:srgbClr val="000099"/>
                </a:solidFill>
                <a:effectLst/>
                <a:latin typeface="Times New Roman" panose="02020603050405020304" charset="0"/>
                <a:ea typeface="宋体" pitchFamily="2" charset="-122"/>
                <a:cs typeface="+mn-cs"/>
              </a:rPr>
              <a:t>可扩展内核结构</a:t>
            </a:r>
            <a:r>
              <a:rPr lang="x-none" altLang="zh-CN" sz="2400" b="1" strike="noStrike" noProof="1">
                <a:solidFill>
                  <a:srgbClr val="000099"/>
                </a:solidFill>
                <a:effectLst/>
                <a:latin typeface="Times New Roman" panose="02020603050405020304" charset="0"/>
                <a:ea typeface="宋体" pitchFamily="2" charset="-122"/>
                <a:cs typeface="+mn-cs"/>
              </a:rPr>
              <a:t>（微内核）</a:t>
            </a:r>
            <a:endParaRPr lang="x-none" altLang="zh-CN" sz="2400" b="1" strike="noStrike" noProof="1">
              <a:solidFill>
                <a:srgbClr val="000099"/>
              </a:solidFill>
              <a:effectLst/>
              <a:latin typeface="Times New Roman" panose="02020603050405020304" charset="0"/>
              <a:ea typeface="宋体" pitchFamily="2" charset="-122"/>
              <a:cs typeface="+mn-cs"/>
            </a:endParaRPr>
          </a:p>
        </p:txBody>
      </p:sp>
      <p:sp>
        <p:nvSpPr>
          <p:cNvPr id="21507" name="文本框 17411"/>
          <p:cNvSpPr txBox="1"/>
          <p:nvPr/>
        </p:nvSpPr>
        <p:spPr>
          <a:xfrm>
            <a:off x="7551738" y="4467225"/>
            <a:ext cx="1295400" cy="43180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rgbClr val="FFFFFF"/>
                </a:solidFill>
                <a:latin typeface="Times New Roman" panose="02020603050405020304" charset="0"/>
                <a:ea typeface="宋体" pitchFamily="2" charset="-122"/>
              </a:rPr>
              <a:t>内核</a:t>
            </a:r>
            <a:endParaRPr lang="zh-CN" altLang="en-US" sz="1400">
              <a:solidFill>
                <a:srgbClr val="FFFFFF"/>
              </a:solidFill>
              <a:latin typeface="Times New Roman" panose="02020603050405020304" charset="0"/>
              <a:ea typeface="宋体" pitchFamily="2" charset="-122"/>
            </a:endParaRPr>
          </a:p>
        </p:txBody>
      </p:sp>
      <p:grpSp>
        <p:nvGrpSpPr>
          <p:cNvPr id="2" name="组合 1"/>
          <p:cNvGrpSpPr/>
          <p:nvPr/>
        </p:nvGrpSpPr>
        <p:grpSpPr>
          <a:xfrm>
            <a:off x="636905" y="1837055"/>
            <a:ext cx="3230880" cy="2995930"/>
            <a:chOff x="1003" y="2893"/>
            <a:chExt cx="5088" cy="4718"/>
          </a:xfrm>
        </p:grpSpPr>
        <p:sp>
          <p:nvSpPr>
            <p:cNvPr id="21509" name="文本框 17413"/>
            <p:cNvSpPr txBox="1"/>
            <p:nvPr/>
          </p:nvSpPr>
          <p:spPr>
            <a:xfrm>
              <a:off x="1003" y="5683"/>
              <a:ext cx="1517" cy="1928"/>
            </a:xfrm>
            <a:prstGeom prst="rect">
              <a:avLst/>
            </a:prstGeom>
            <a:solidFill>
              <a:srgbClr val="FFFFFF"/>
            </a:solid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操</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作</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系</a:t>
              </a:r>
              <a:endParaRPr lang="zh-CN" altLang="en-US" sz="1400" b="0">
                <a:solidFill>
                  <a:schemeClr val="tx1"/>
                </a:solidFill>
                <a:latin typeface="Times New Roman" panose="02020603050405020304" charset="0"/>
                <a:ea typeface="宋体"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itchFamily="2" charset="-122"/>
                </a:rPr>
                <a:t>统</a:t>
              </a:r>
              <a:endParaRPr lang="zh-CN" altLang="en-US" sz="1400" b="0">
                <a:solidFill>
                  <a:schemeClr val="tx1"/>
                </a:solidFill>
                <a:latin typeface="Times New Roman" panose="02020603050405020304" charset="0"/>
                <a:ea typeface="宋体" pitchFamily="2" charset="-122"/>
              </a:endParaRPr>
            </a:p>
          </p:txBody>
        </p:sp>
        <p:sp>
          <p:nvSpPr>
            <p:cNvPr id="17415" name="文本框 17414"/>
            <p:cNvSpPr txBox="1"/>
            <p:nvPr/>
          </p:nvSpPr>
          <p:spPr>
            <a:xfrm>
              <a:off x="2770" y="2893"/>
              <a:ext cx="3082" cy="4650"/>
            </a:xfrm>
            <a:prstGeom prst="rect">
              <a:avLst/>
            </a:prstGeom>
            <a:solidFill>
              <a:srgbClr val="FFFFFF"/>
            </a:solidFill>
            <a:ln w="1905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None/>
              </a:pPr>
              <a:endParaRPr lang="zh-CN" altLang="en-US" sz="1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21511" name="文本框 17415"/>
            <p:cNvSpPr txBox="1"/>
            <p:nvPr/>
          </p:nvSpPr>
          <p:spPr>
            <a:xfrm>
              <a:off x="2813" y="3193"/>
              <a:ext cx="2387" cy="68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latin typeface="Times New Roman" panose="02020603050405020304" charset="0"/>
                  <a:ea typeface="宋体" pitchFamily="2" charset="-122"/>
                </a:rPr>
                <a:t>应用软件</a:t>
              </a:r>
              <a:endParaRPr lang="zh-CN" altLang="en-US" sz="1400">
                <a:latin typeface="Times New Roman" panose="02020603050405020304" charset="0"/>
                <a:ea typeface="宋体" pitchFamily="2" charset="-122"/>
              </a:endParaRPr>
            </a:p>
          </p:txBody>
        </p:sp>
        <p:sp>
          <p:nvSpPr>
            <p:cNvPr id="21512" name="文本框 17416"/>
            <p:cNvSpPr txBox="1"/>
            <p:nvPr/>
          </p:nvSpPr>
          <p:spPr>
            <a:xfrm>
              <a:off x="2565" y="4570"/>
              <a:ext cx="2912" cy="68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a:solidFill>
                    <a:schemeClr val="tx1"/>
                  </a:solidFill>
                  <a:latin typeface="Times New Roman" panose="02020603050405020304" charset="0"/>
                  <a:ea typeface="宋体" pitchFamily="2" charset="-122"/>
                </a:rPr>
                <a:t>其他系统软件</a:t>
              </a:r>
              <a:endParaRPr lang="zh-CN" altLang="en-US" sz="1400">
                <a:solidFill>
                  <a:schemeClr val="tx1"/>
                </a:solidFill>
                <a:latin typeface="Times New Roman" panose="02020603050405020304" charset="0"/>
                <a:ea typeface="宋体" pitchFamily="2" charset="-122"/>
              </a:endParaRPr>
            </a:p>
          </p:txBody>
        </p:sp>
        <p:sp>
          <p:nvSpPr>
            <p:cNvPr id="21514" name="矩形 17418"/>
            <p:cNvSpPr/>
            <p:nvPr/>
          </p:nvSpPr>
          <p:spPr>
            <a:xfrm>
              <a:off x="2770" y="6635"/>
              <a:ext cx="3082" cy="918"/>
            </a:xfrm>
            <a:prstGeom prst="rect">
              <a:avLst/>
            </a:prstGeom>
            <a:solidFill>
              <a:srgbClr val="5F5F5F"/>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16" name="左大括号 17420"/>
            <p:cNvSpPr/>
            <p:nvPr/>
          </p:nvSpPr>
          <p:spPr>
            <a:xfrm>
              <a:off x="2428" y="5773"/>
              <a:ext cx="207" cy="1703"/>
            </a:xfrm>
            <a:prstGeom prst="leftBrace">
              <a:avLst>
                <a:gd name="adj1" fmla="val 68069"/>
                <a:gd name="adj2" fmla="val 50000"/>
              </a:avLst>
            </a:prstGeom>
            <a:noFill/>
            <a:ln w="9525" cap="flat" cmpd="sng">
              <a:solidFill>
                <a:srgbClr val="000000"/>
              </a:solidFill>
              <a:prstDash val="solid"/>
              <a:round/>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18" name="直接连接符 17422"/>
            <p:cNvSpPr/>
            <p:nvPr/>
          </p:nvSpPr>
          <p:spPr>
            <a:xfrm>
              <a:off x="2745" y="4368"/>
              <a:ext cx="31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1519" name="直接连接符 17423"/>
            <p:cNvSpPr/>
            <p:nvPr/>
          </p:nvSpPr>
          <p:spPr>
            <a:xfrm>
              <a:off x="2770" y="5720"/>
              <a:ext cx="31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21521" name="文本框 17425"/>
            <p:cNvSpPr txBox="1"/>
            <p:nvPr/>
          </p:nvSpPr>
          <p:spPr>
            <a:xfrm>
              <a:off x="2880" y="6975"/>
              <a:ext cx="2770" cy="568"/>
            </a:xfrm>
            <a:prstGeom prst="rect">
              <a:avLst/>
            </a:prstGeom>
            <a:noFill/>
            <a:ln w="9525">
              <a:noFill/>
              <a:miter/>
            </a:ln>
          </p:spPr>
          <p:txBody>
            <a:bodyPr anchor="t"/>
            <a:p>
              <a:pPr lvl="0" indent="-340995" algn="ctr">
                <a:lnSpc>
                  <a:spcPct val="120000"/>
                </a:lnSpc>
                <a:buClr>
                  <a:schemeClr val="tx2"/>
                </a:buClr>
                <a:buSzPct val="95000"/>
                <a:buFont typeface="Wingdings" panose="05000000000000000000" pitchFamily="2" charset="2"/>
                <a:buNone/>
              </a:pPr>
              <a:r>
                <a:rPr lang="zh-CN" altLang="en-US" sz="1800">
                  <a:solidFill>
                    <a:srgbClr val="FF0000"/>
                  </a:solidFill>
                  <a:latin typeface="Times New Roman" panose="02020603050405020304" charset="0"/>
                  <a:ea typeface="宋体" pitchFamily="2" charset="-122"/>
                </a:rPr>
                <a:t>基础核心</a:t>
              </a:r>
              <a:endParaRPr lang="zh-CN" altLang="en-US" sz="1800">
                <a:solidFill>
                  <a:srgbClr val="FF0000"/>
                </a:solidFill>
                <a:latin typeface="Times New Roman" panose="02020603050405020304" charset="0"/>
                <a:ea typeface="宋体" pitchFamily="2" charset="-122"/>
              </a:endParaRPr>
            </a:p>
          </p:txBody>
        </p:sp>
        <p:sp>
          <p:nvSpPr>
            <p:cNvPr id="21513" name="矩形 17417"/>
            <p:cNvSpPr/>
            <p:nvPr/>
          </p:nvSpPr>
          <p:spPr>
            <a:xfrm>
              <a:off x="2770" y="5733"/>
              <a:ext cx="3082" cy="1288"/>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endParaRPr lang="zh-CN" altLang="en-US" sz="1800" b="0" dirty="0">
                <a:solidFill>
                  <a:schemeClr val="tx1"/>
                </a:solidFill>
                <a:latin typeface="Arial" panose="020B0604020202020204" pitchFamily="34" charset="0"/>
                <a:ea typeface="宋体" pitchFamily="2" charset="-122"/>
              </a:endParaRPr>
            </a:p>
          </p:txBody>
        </p:sp>
        <p:sp>
          <p:nvSpPr>
            <p:cNvPr id="21515" name="文本框 17419"/>
            <p:cNvSpPr txBox="1"/>
            <p:nvPr/>
          </p:nvSpPr>
          <p:spPr>
            <a:xfrm>
              <a:off x="2545" y="6033"/>
              <a:ext cx="3547" cy="755"/>
            </a:xfrm>
            <a:prstGeom prst="rect">
              <a:avLst/>
            </a:prstGeom>
            <a:noFill/>
            <a:ln w="9525">
              <a:noFill/>
              <a:miter/>
            </a:ln>
          </p:spPr>
          <p:txBody>
            <a:bodyPr anchor="t"/>
            <a:p>
              <a:pPr lvl="0" indent="-340995" algn="ctr">
                <a:lnSpc>
                  <a:spcPct val="120000"/>
                </a:lnSpc>
                <a:buClr>
                  <a:schemeClr val="tx2"/>
                </a:buClr>
                <a:buSzPct val="95000"/>
                <a:buFont typeface="Wingdings" panose="05000000000000000000" pitchFamily="2" charset="2"/>
                <a:buNone/>
              </a:pPr>
              <a:r>
                <a:rPr lang="zh-CN" altLang="en-US" sz="1800">
                  <a:solidFill>
                    <a:schemeClr val="tx1"/>
                  </a:solidFill>
                  <a:latin typeface="Times New Roman" panose="02020603050405020304" charset="0"/>
                  <a:ea typeface="宋体" pitchFamily="2" charset="-122"/>
                </a:rPr>
                <a:t>操作系统其他功能</a:t>
              </a:r>
              <a:endParaRPr lang="zh-CN" altLang="en-US" sz="1800">
                <a:solidFill>
                  <a:schemeClr val="tx1"/>
                </a:solidFill>
                <a:latin typeface="Times New Roman" panose="02020603050405020304" charset="0"/>
                <a:ea typeface="宋体" pitchFamily="2" charset="-122"/>
              </a:endParaRPr>
            </a:p>
          </p:txBody>
        </p:sp>
      </p:grpSp>
      <p:sp>
        <p:nvSpPr>
          <p:cNvPr id="17444" name="矩形 1744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p:cNvSpPr>
          <p:nvPr>
            <p:ph type="title"/>
          </p:nvPr>
        </p:nvSpPr>
        <p:spPr>
          <a:xfrm>
            <a:off x="363538" y="595313"/>
            <a:ext cx="8393113" cy="530225"/>
          </a:xfrm>
        </p:spPr>
        <p:txBody>
          <a:bodyPr>
            <a:spAutoFit/>
          </a:bodyPr>
          <a:p>
            <a:pPr lvl="0"/>
            <a:r>
              <a:rPr lang="zh-CN" altLang="en-US" sz="3200" b="0" dirty="0">
                <a:solidFill>
                  <a:srgbClr val="000099"/>
                </a:solidFill>
                <a:effectLst/>
                <a:latin typeface="Times New Roman" panose="02020603050405020304" charset="0"/>
                <a:ea typeface="宋体" pitchFamily="2" charset="-122"/>
              </a:rPr>
              <a:t>可扩展内核结构/微内核结构特点：</a:t>
            </a:r>
            <a:endParaRPr lang="zh-CN" altLang="en-US" sz="3200" b="0" dirty="0">
              <a:solidFill>
                <a:srgbClr val="000099"/>
              </a:solidFill>
              <a:effectLst/>
              <a:latin typeface="Times New Roman" panose="02020603050405020304" charset="0"/>
              <a:ea typeface="宋体" pitchFamily="2" charset="-122"/>
            </a:endParaRPr>
          </a:p>
        </p:txBody>
      </p:sp>
      <p:sp>
        <p:nvSpPr>
          <p:cNvPr id="18435" name="内容占位符 18434"/>
          <p:cNvSpPr>
            <a:spLocks noGrp="1"/>
          </p:cNvSpPr>
          <p:nvPr>
            <p:ph idx="1"/>
          </p:nvPr>
        </p:nvSpPr>
        <p:spPr>
          <a:xfrm>
            <a:off x="400050" y="1229360"/>
            <a:ext cx="8276590" cy="4866640"/>
          </a:xfrm>
          <a:ln>
            <a:miter/>
          </a:ln>
        </p:spPr>
        <p:txBody>
          <a:bodyPr wrap="square" anchor="t">
            <a:spAutoFit/>
          </a:bodyPr>
          <a:p>
            <a:pPr lvl="0"/>
            <a:r>
              <a:rPr lang="zh-CN" altLang="en-US" sz="2800" dirty="0">
                <a:solidFill>
                  <a:schemeClr val="tx1"/>
                </a:solidFill>
                <a:effectLst/>
                <a:latin typeface="宋体" pitchFamily="2" charset="-122"/>
                <a:ea typeface="宋体" pitchFamily="2" charset="-122"/>
              </a:rPr>
              <a:t>把操作系统内核分为基础核心和其他核心功能两部分。</a:t>
            </a:r>
            <a:endParaRPr lang="zh-CN" altLang="en-US" sz="2800" dirty="0">
              <a:solidFill>
                <a:schemeClr val="tx1"/>
              </a:solidFill>
              <a:effectLst/>
              <a:latin typeface="宋体" pitchFamily="2" charset="-122"/>
              <a:ea typeface="宋体" pitchFamily="2" charset="-122"/>
            </a:endParaRPr>
          </a:p>
          <a:p>
            <a:pPr lvl="0" algn="just"/>
            <a:r>
              <a:rPr lang="zh-CN" altLang="en-US" sz="2800" dirty="0">
                <a:solidFill>
                  <a:schemeClr val="tx1"/>
                </a:solidFill>
                <a:effectLst/>
                <a:latin typeface="宋体" pitchFamily="2" charset="-122"/>
                <a:ea typeface="宋体" pitchFamily="2" charset="-122"/>
              </a:rPr>
              <a:t>基础核心只包括必需的</a:t>
            </a:r>
            <a:r>
              <a:rPr lang="zh-CN" altLang="en-US" sz="2800" dirty="0">
                <a:solidFill>
                  <a:schemeClr val="tx1"/>
                </a:solidFill>
                <a:effectLst/>
              </a:rPr>
              <a:t>最基本的</a:t>
            </a:r>
            <a:r>
              <a:rPr lang="zh-CN" altLang="en-US" sz="2800" dirty="0">
                <a:solidFill>
                  <a:schemeClr val="tx1"/>
                </a:solidFill>
                <a:effectLst/>
                <a:latin typeface="宋体" pitchFamily="2" charset="-122"/>
                <a:ea typeface="宋体" pitchFamily="2" charset="-122"/>
              </a:rPr>
              <a:t>功能集合（处理器管理，</a:t>
            </a:r>
            <a:r>
              <a:rPr lang="zh-CN" altLang="en-US" sz="2800" dirty="0">
                <a:solidFill>
                  <a:schemeClr val="tx1"/>
                </a:solidFill>
                <a:effectLst/>
              </a:rPr>
              <a:t>低级存储器管理</a:t>
            </a:r>
            <a:r>
              <a:rPr lang="zh-CN" altLang="en-US" sz="2800" dirty="0">
                <a:solidFill>
                  <a:schemeClr val="tx1"/>
                </a:solidFill>
                <a:effectLst/>
                <a:latin typeface="宋体" pitchFamily="2" charset="-122"/>
                <a:ea typeface="宋体" pitchFamily="2" charset="-122"/>
              </a:rPr>
              <a:t>，中断处理，进程间通信）</a:t>
            </a:r>
            <a:endParaRPr lang="zh-CN" altLang="en-US" sz="2800" dirty="0">
              <a:solidFill>
                <a:schemeClr val="tx1"/>
              </a:solidFill>
              <a:effectLst/>
              <a:latin typeface="宋体" pitchFamily="2" charset="-122"/>
              <a:ea typeface="宋体" pitchFamily="2" charset="-122"/>
            </a:endParaRPr>
          </a:p>
          <a:p>
            <a:pPr lvl="0"/>
            <a:r>
              <a:rPr lang="zh-CN" altLang="en-US" sz="2800" dirty="0">
                <a:solidFill>
                  <a:schemeClr val="tx1"/>
                </a:solidFill>
                <a:effectLst/>
                <a:latin typeface="宋体" pitchFamily="2" charset="-122"/>
              </a:rPr>
              <a:t>操作系统</a:t>
            </a:r>
            <a:r>
              <a:rPr lang="en-US" altLang="zh-CN" sz="2800">
                <a:solidFill>
                  <a:schemeClr val="tx1"/>
                </a:solidFill>
                <a:effectLst/>
                <a:latin typeface="宋体" pitchFamily="2" charset="-122"/>
              </a:rPr>
              <a:t>的</a:t>
            </a:r>
            <a:r>
              <a:rPr lang="zh-CN" altLang="en-US" sz="2800" dirty="0">
                <a:solidFill>
                  <a:schemeClr val="tx1"/>
                </a:solidFill>
                <a:effectLst/>
                <a:latin typeface="宋体" pitchFamily="2" charset="-122"/>
              </a:rPr>
              <a:t>其他功能通过运行在核外的服务进程来实现（</a:t>
            </a:r>
            <a:r>
              <a:rPr lang="en-US" altLang="zh-CN" sz="2800">
                <a:solidFill>
                  <a:schemeClr val="tx1"/>
                </a:solidFill>
                <a:effectLst/>
                <a:latin typeface="宋体" pitchFamily="2" charset="-122"/>
              </a:rPr>
              <a:t>Client/Server</a:t>
            </a:r>
            <a:r>
              <a:rPr lang="zh-CN" altLang="en-US" sz="2800" dirty="0">
                <a:solidFill>
                  <a:schemeClr val="tx1"/>
                </a:solidFill>
                <a:effectLst/>
                <a:latin typeface="宋体" pitchFamily="2" charset="-122"/>
              </a:rPr>
              <a:t>方式）</a:t>
            </a:r>
            <a:endParaRPr lang="zh-CN" altLang="en-US" sz="2800" dirty="0">
              <a:solidFill>
                <a:schemeClr val="tx1"/>
              </a:solidFill>
              <a:effectLst/>
              <a:latin typeface="宋体" pitchFamily="2" charset="-122"/>
            </a:endParaRPr>
          </a:p>
          <a:p>
            <a:pPr lvl="0"/>
            <a:r>
              <a:rPr lang="zh-CN" altLang="en-US" sz="2800" dirty="0">
                <a:solidFill>
                  <a:schemeClr val="tx1"/>
                </a:solidFill>
                <a:effectLst/>
                <a:ea typeface="宋体" pitchFamily="2" charset="-122"/>
                <a:sym typeface="Arial" panose="020B0604020202020204" pitchFamily="34" charset="0"/>
              </a:rPr>
              <a:t>服务</a:t>
            </a:r>
            <a:r>
              <a:rPr lang="zh-CN" altLang="en-US" sz="2800" dirty="0">
                <a:solidFill>
                  <a:schemeClr val="tx1"/>
                </a:solidFill>
                <a:effectLst/>
                <a:sym typeface="Arial" panose="020B0604020202020204" pitchFamily="34" charset="0"/>
              </a:rPr>
              <a:t>进程</a:t>
            </a:r>
            <a:r>
              <a:rPr lang="zh-CN" altLang="en-US" sz="2800" dirty="0">
                <a:solidFill>
                  <a:schemeClr val="tx1"/>
                </a:solidFill>
                <a:effectLst/>
                <a:ea typeface="宋体" pitchFamily="2" charset="-122"/>
              </a:rPr>
              <a:t>：</a:t>
            </a:r>
            <a:r>
              <a:rPr lang="zh-CN" altLang="en-US" sz="2800" dirty="0">
                <a:solidFill>
                  <a:schemeClr val="tx1"/>
                </a:solidFill>
                <a:effectLst/>
              </a:rPr>
              <a:t>文件</a:t>
            </a:r>
            <a:r>
              <a:rPr lang="x-none" altLang="zh-CN" sz="2800" dirty="0">
                <a:solidFill>
                  <a:schemeClr val="tx1"/>
                </a:solidFill>
                <a:effectLst/>
              </a:rPr>
              <a:t>系统</a:t>
            </a:r>
            <a:r>
              <a:rPr lang="zh-CN" altLang="en-US" sz="2800" dirty="0">
                <a:solidFill>
                  <a:schemeClr val="tx1"/>
                </a:solidFill>
                <a:effectLst/>
                <a:ea typeface="宋体" pitchFamily="2" charset="-122"/>
              </a:rPr>
              <a:t>、设备驱动</a:t>
            </a:r>
            <a:r>
              <a:rPr lang="x-none" altLang="zh-CN" sz="2800" dirty="0">
                <a:solidFill>
                  <a:schemeClr val="tx1"/>
                </a:solidFill>
                <a:effectLst/>
                <a:ea typeface="宋体" pitchFamily="2" charset="-122"/>
              </a:rPr>
              <a:t>、网络协议栈、图形系统、各种虚拟资源管理、</a:t>
            </a:r>
            <a:r>
              <a:rPr lang="zh-CN" altLang="en-US" sz="2800" dirty="0">
                <a:solidFill>
                  <a:schemeClr val="tx1"/>
                </a:solidFill>
                <a:effectLst/>
                <a:ea typeface="宋体" pitchFamily="2" charset="-122"/>
              </a:rPr>
              <a:t>...</a:t>
            </a:r>
            <a:endParaRPr lang="zh-CN" altLang="en-US" sz="2800" dirty="0">
              <a:solidFill>
                <a:schemeClr val="tx1"/>
              </a:solidFill>
              <a:effectLst/>
              <a:ea typeface="宋体" pitchFamily="2" charset="-122"/>
            </a:endParaRPr>
          </a:p>
          <a:p>
            <a:pPr lvl="0"/>
            <a:r>
              <a:rPr lang="zh-CN" altLang="en-US" sz="2800" dirty="0">
                <a:solidFill>
                  <a:schemeClr val="tx1"/>
                </a:solidFill>
                <a:effectLst/>
                <a:latin typeface="宋体" pitchFamily="2" charset="-122"/>
                <a:ea typeface="宋体" pitchFamily="2" charset="-122"/>
              </a:rPr>
              <a:t>优点：</a:t>
            </a:r>
            <a:r>
              <a:rPr lang="zh-CN" altLang="en-US" sz="2800" dirty="0">
                <a:solidFill>
                  <a:schemeClr val="tx1"/>
                </a:solidFill>
                <a:effectLst/>
              </a:rPr>
              <a:t> “灵活性”、“易维护性”和</a:t>
            </a:r>
            <a:r>
              <a:rPr lang="zh-CN" altLang="en-US" sz="2800" dirty="0">
                <a:solidFill>
                  <a:schemeClr val="tx1"/>
                </a:solidFill>
                <a:effectLst/>
                <a:ea typeface="宋体" pitchFamily="2" charset="-122"/>
              </a:rPr>
              <a:t>“</a:t>
            </a:r>
            <a:r>
              <a:rPr lang="zh-CN" altLang="en-US" sz="2800" dirty="0">
                <a:solidFill>
                  <a:schemeClr val="tx1"/>
                </a:solidFill>
                <a:effectLst/>
              </a:rPr>
              <a:t>可扩充性</a:t>
            </a:r>
            <a:r>
              <a:rPr lang="zh-CN" altLang="en-US" sz="2800" dirty="0">
                <a:solidFill>
                  <a:schemeClr val="tx1"/>
                </a:solidFill>
                <a:effectLst/>
                <a:ea typeface="宋体" pitchFamily="2" charset="-122"/>
              </a:rPr>
              <a:t>”（</a:t>
            </a:r>
            <a:r>
              <a:rPr lang="zh-CN" altLang="en-US" sz="2800" dirty="0">
                <a:solidFill>
                  <a:schemeClr val="tx1"/>
                </a:solidFill>
                <a:effectLst/>
                <a:latin typeface="宋体" pitchFamily="2" charset="-122"/>
                <a:ea typeface="宋体" pitchFamily="2" charset="-122"/>
              </a:rPr>
              <a:t>稳定，易于维护，服务进程便于定制）。</a:t>
            </a:r>
            <a:endParaRPr lang="zh-CN" altLang="en-US" sz="2800" dirty="0">
              <a:solidFill>
                <a:schemeClr val="tx1"/>
              </a:solidFill>
              <a:effectLst/>
              <a:latin typeface="宋体" pitchFamily="2" charset="-122"/>
              <a:ea typeface="宋体" pitchFamily="2" charset="-122"/>
            </a:endParaRPr>
          </a:p>
        </p:txBody>
      </p:sp>
      <p:sp>
        <p:nvSpPr>
          <p:cNvPr id="22531" name="文本框 1843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9</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p:cNvSpPr>
          <p:nvPr>
            <p:ph type="title"/>
          </p:nvPr>
        </p:nvSpPr>
        <p:spPr>
          <a:xfrm>
            <a:off x="469900" y="733425"/>
            <a:ext cx="7593013" cy="530225"/>
          </a:xfrm>
        </p:spPr>
        <p:txBody>
          <a:bodyPr wrap="square">
            <a:spAutoFit/>
          </a:bodyPr>
          <a:p>
            <a:pPr lvl="0"/>
            <a:r>
              <a:rPr lang="zh-CN" altLang="en-US" sz="3200" b="0" dirty="0">
                <a:solidFill>
                  <a:srgbClr val="000099"/>
                </a:solidFill>
                <a:latin typeface="Times New Roman" panose="02020603050405020304" charset="0"/>
                <a:ea typeface="宋体" pitchFamily="2" charset="-122"/>
              </a:rPr>
              <a:t>缺点：效率非常低</a:t>
            </a:r>
            <a:endParaRPr lang="zh-CN" altLang="en-US" sz="3200" b="0" dirty="0">
              <a:solidFill>
                <a:srgbClr val="000099"/>
              </a:solidFill>
              <a:latin typeface="Times New Roman" panose="02020603050405020304" charset="0"/>
              <a:ea typeface="宋体" pitchFamily="2" charset="-122"/>
            </a:endParaRPr>
          </a:p>
        </p:txBody>
      </p:sp>
      <p:sp>
        <p:nvSpPr>
          <p:cNvPr id="19459" name="内容占位符 19458"/>
          <p:cNvSpPr>
            <a:spLocks noGrp="1"/>
          </p:cNvSpPr>
          <p:nvPr>
            <p:ph idx="1"/>
          </p:nvPr>
        </p:nvSpPr>
        <p:spPr>
          <a:xfrm>
            <a:off x="381000" y="1592263"/>
            <a:ext cx="8572500" cy="4166235"/>
          </a:xfrm>
        </p:spPr>
        <p:txBody>
          <a:bodyPr wrap="square" anchor="t">
            <a:spAutoFit/>
          </a:bodyPr>
          <a:p>
            <a:pPr lvl="0"/>
            <a:r>
              <a:rPr lang="zh-CN" altLang="en-US" sz="2800" dirty="0">
                <a:solidFill>
                  <a:schemeClr val="tx1"/>
                </a:solidFill>
                <a:effectLst/>
                <a:latin typeface="宋体" pitchFamily="2" charset="-122"/>
                <a:ea typeface="宋体" pitchFamily="2" charset="-122"/>
              </a:rPr>
              <a:t>操作系统以</a:t>
            </a:r>
            <a:r>
              <a:rPr lang="zh-CN" altLang="en-US" sz="2800" dirty="0">
                <a:solidFill>
                  <a:schemeClr val="tx1"/>
                </a:solidFill>
                <a:effectLst/>
                <a:latin typeface="宋体" pitchFamily="2" charset="-122"/>
              </a:rPr>
              <a:t>客户</a:t>
            </a:r>
            <a:r>
              <a:rPr lang="en-US" altLang="x-none" sz="2800">
                <a:solidFill>
                  <a:schemeClr val="tx1"/>
                </a:solidFill>
                <a:effectLst/>
              </a:rPr>
              <a:t>/</a:t>
            </a:r>
            <a:r>
              <a:rPr lang="zh-CN" altLang="en-US" sz="2800" dirty="0">
                <a:solidFill>
                  <a:schemeClr val="tx1"/>
                </a:solidFill>
                <a:effectLst/>
                <a:latin typeface="宋体" pitchFamily="2" charset="-122"/>
              </a:rPr>
              <a:t>服务器</a:t>
            </a:r>
            <a:r>
              <a:rPr lang="zh-CN" altLang="en-US" sz="2800" dirty="0">
                <a:solidFill>
                  <a:schemeClr val="tx1"/>
                </a:solidFill>
                <a:effectLst/>
                <a:latin typeface="宋体" pitchFamily="2" charset="-122"/>
                <a:ea typeface="宋体" pitchFamily="2" charset="-122"/>
              </a:rPr>
              <a:t>形式为用户程序服务：</a:t>
            </a:r>
            <a:endParaRPr lang="zh-CN" altLang="en-US" sz="2800" dirty="0">
              <a:solidFill>
                <a:schemeClr val="tx1"/>
              </a:solidFill>
              <a:effectLst/>
              <a:latin typeface="宋体" pitchFamily="2" charset="-122"/>
              <a:ea typeface="宋体" pitchFamily="2" charset="-122"/>
            </a:endParaRPr>
          </a:p>
          <a:p>
            <a:pPr lvl="1" indent="-455295">
              <a:buChar char="•"/>
            </a:pPr>
            <a:r>
              <a:rPr lang="zh-CN" altLang="en-US" dirty="0">
                <a:solidFill>
                  <a:schemeClr val="tx1"/>
                </a:solidFill>
                <a:effectLst/>
              </a:rPr>
              <a:t>内核把</a:t>
            </a:r>
            <a:r>
              <a:rPr lang="zh-CN" altLang="en-US" dirty="0">
                <a:solidFill>
                  <a:schemeClr val="tx1"/>
                </a:solidFill>
                <a:effectLst/>
                <a:ea typeface="宋体" pitchFamily="2" charset="-122"/>
                <a:sym typeface="+mn-ea"/>
              </a:rPr>
              <a:t>用户</a:t>
            </a:r>
            <a:r>
              <a:rPr lang="zh-CN" altLang="en-US" dirty="0">
                <a:solidFill>
                  <a:schemeClr val="tx1"/>
                </a:solidFill>
                <a:effectLst/>
                <a:sym typeface="+mn-ea"/>
              </a:rPr>
              <a:t>请求</a:t>
            </a:r>
            <a:r>
              <a:rPr lang="zh-CN" altLang="en-US" dirty="0">
                <a:solidFill>
                  <a:schemeClr val="tx1"/>
                </a:solidFill>
                <a:effectLst/>
              </a:rPr>
              <a:t>传给服务器</a:t>
            </a:r>
            <a:endParaRPr lang="zh-CN" altLang="en-US" dirty="0">
              <a:solidFill>
                <a:schemeClr val="tx1"/>
              </a:solidFill>
              <a:effectLst/>
            </a:endParaRPr>
          </a:p>
          <a:p>
            <a:pPr lvl="1" indent="-455295">
              <a:buChar char="•"/>
            </a:pPr>
            <a:r>
              <a:rPr lang="zh-CN" altLang="en-US" dirty="0">
                <a:solidFill>
                  <a:schemeClr val="tx1"/>
                </a:solidFill>
                <a:effectLst/>
              </a:rPr>
              <a:t>服务器进程</a:t>
            </a:r>
            <a:r>
              <a:rPr lang="x-none" altLang="zh-CN" dirty="0">
                <a:solidFill>
                  <a:schemeClr val="tx1"/>
                </a:solidFill>
                <a:effectLst/>
              </a:rPr>
              <a:t>执行</a:t>
            </a:r>
            <a:r>
              <a:rPr lang="zh-CN" altLang="en-US" dirty="0">
                <a:solidFill>
                  <a:schemeClr val="tx1"/>
                </a:solidFill>
                <a:effectLst/>
                <a:ea typeface="宋体" pitchFamily="2" charset="-122"/>
              </a:rPr>
              <a:t>用户</a:t>
            </a:r>
            <a:r>
              <a:rPr lang="zh-CN" altLang="en-US" dirty="0">
                <a:solidFill>
                  <a:schemeClr val="tx1"/>
                </a:solidFill>
                <a:effectLst/>
              </a:rPr>
              <a:t>请求</a:t>
            </a:r>
            <a:endParaRPr lang="zh-CN" altLang="en-US" dirty="0">
              <a:solidFill>
                <a:schemeClr val="tx1"/>
              </a:solidFill>
              <a:effectLst/>
            </a:endParaRPr>
          </a:p>
          <a:p>
            <a:pPr lvl="1" indent="-455295">
              <a:buChar char="•"/>
            </a:pPr>
            <a:r>
              <a:rPr lang="zh-CN" altLang="en-US" dirty="0">
                <a:solidFill>
                  <a:schemeClr val="tx1"/>
                </a:solidFill>
                <a:effectLst/>
              </a:rPr>
              <a:t>内核</a:t>
            </a:r>
            <a:r>
              <a:rPr lang="x-none" altLang="zh-CN" dirty="0">
                <a:solidFill>
                  <a:schemeClr val="tx1"/>
                </a:solidFill>
                <a:effectLst/>
              </a:rPr>
              <a:t>把请求</a:t>
            </a:r>
            <a:r>
              <a:rPr lang="zh-CN" altLang="en-US" dirty="0">
                <a:solidFill>
                  <a:schemeClr val="tx1"/>
                </a:solidFill>
                <a:effectLst/>
              </a:rPr>
              <a:t>结果返回给用户</a:t>
            </a:r>
            <a:r>
              <a:rPr lang="x-none" altLang="zh-CN" dirty="0">
                <a:solidFill>
                  <a:schemeClr val="tx1"/>
                </a:solidFill>
                <a:effectLst/>
              </a:rPr>
              <a:t>程序</a:t>
            </a:r>
            <a:endParaRPr lang="zh-CN" altLang="en-US" dirty="0">
              <a:solidFill>
                <a:schemeClr val="tx1"/>
              </a:solidFill>
              <a:effectLst/>
            </a:endParaRPr>
          </a:p>
          <a:p>
            <a:pPr lvl="0"/>
            <a:r>
              <a:rPr lang="zh-CN" altLang="en-US" dirty="0">
                <a:solidFill>
                  <a:schemeClr val="tx1"/>
                </a:solidFill>
                <a:effectLst/>
                <a:ea typeface="宋体" pitchFamily="2" charset="-122"/>
              </a:rPr>
              <a:t>系统效率受到影响</a:t>
            </a:r>
            <a:endParaRPr lang="zh-CN" altLang="en-US" dirty="0">
              <a:solidFill>
                <a:schemeClr val="tx1"/>
              </a:solidFill>
              <a:effectLst/>
              <a:ea typeface="宋体" pitchFamily="2" charset="-122"/>
            </a:endParaRPr>
          </a:p>
          <a:p>
            <a:pPr lvl="1" indent="-455295">
              <a:buChar char="•"/>
            </a:pPr>
            <a:r>
              <a:rPr lang="zh-CN" altLang="en-US" dirty="0">
                <a:solidFill>
                  <a:schemeClr val="tx1"/>
                </a:solidFill>
                <a:effectLst/>
                <a:latin typeface="宋体" pitchFamily="2" charset="-122"/>
                <a:ea typeface="宋体" pitchFamily="2" charset="-122"/>
              </a:rPr>
              <a:t>消息发送</a:t>
            </a:r>
            <a:r>
              <a:rPr lang="zh-CN" altLang="zh-CN" dirty="0">
                <a:solidFill>
                  <a:schemeClr val="tx1"/>
                </a:solidFill>
                <a:effectLst/>
                <a:latin typeface="宋体" pitchFamily="2" charset="-122"/>
                <a:ea typeface="宋体" pitchFamily="2" charset="-122"/>
                <a:sym typeface="Arial" panose="020B0604020202020204" pitchFamily="34" charset="0"/>
              </a:rPr>
              <a:t>拷贝</a:t>
            </a:r>
            <a:endParaRPr lang="zh-CN" altLang="en-US" dirty="0">
              <a:solidFill>
                <a:schemeClr val="tx1"/>
              </a:solidFill>
              <a:effectLst/>
              <a:latin typeface="宋体" pitchFamily="2" charset="-122"/>
              <a:ea typeface="宋体" pitchFamily="2" charset="-122"/>
            </a:endParaRPr>
          </a:p>
          <a:p>
            <a:pPr lvl="1" indent="-455295">
              <a:buChar char="•"/>
            </a:pPr>
            <a:r>
              <a:rPr lang="zh-CN" altLang="zh-CN" dirty="0">
                <a:solidFill>
                  <a:schemeClr val="tx1"/>
                </a:solidFill>
                <a:effectLst/>
                <a:latin typeface="宋体" pitchFamily="2" charset="-122"/>
                <a:ea typeface="宋体" pitchFamily="2" charset="-122"/>
              </a:rPr>
              <a:t>处理器</a:t>
            </a:r>
            <a:r>
              <a:rPr lang="zh-CN" altLang="en-US" dirty="0">
                <a:solidFill>
                  <a:schemeClr val="tx1"/>
                </a:solidFill>
                <a:effectLst/>
                <a:latin typeface="宋体" pitchFamily="2" charset="-122"/>
                <a:ea typeface="宋体" pitchFamily="2" charset="-122"/>
              </a:rPr>
              <a:t>状态切换</a:t>
            </a:r>
            <a:endParaRPr lang="zh-CN" altLang="zh-CN" dirty="0">
              <a:solidFill>
                <a:schemeClr val="tx1"/>
              </a:solidFill>
              <a:effectLst/>
              <a:latin typeface="宋体" pitchFamily="2" charset="-122"/>
              <a:ea typeface="宋体" pitchFamily="2" charset="-122"/>
            </a:endParaRPr>
          </a:p>
          <a:p>
            <a:pPr lvl="1" indent="-455295">
              <a:buChar char="•"/>
            </a:pPr>
            <a:r>
              <a:rPr lang="zh-CN" altLang="zh-CN" dirty="0">
                <a:solidFill>
                  <a:schemeClr val="tx1"/>
                </a:solidFill>
                <a:effectLst/>
                <a:latin typeface="宋体" pitchFamily="2" charset="-122"/>
                <a:ea typeface="宋体" pitchFamily="2" charset="-122"/>
              </a:rPr>
              <a:t>虚拟内存切换</a:t>
            </a:r>
            <a:endParaRPr lang="x-none" altLang="zh-CN" dirty="0">
              <a:solidFill>
                <a:schemeClr val="tx1"/>
              </a:solidFill>
              <a:effectLst/>
              <a:latin typeface="宋体" pitchFamily="2" charset="-122"/>
              <a:ea typeface="宋体" pitchFamily="2" charset="-122"/>
            </a:endParaRPr>
          </a:p>
        </p:txBody>
      </p:sp>
      <p:sp>
        <p:nvSpPr>
          <p:cNvPr id="23555" name="文本框 1945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10</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p:cNvSpPr>
          <p:nvPr>
            <p:ph type="title"/>
          </p:nvPr>
        </p:nvSpPr>
        <p:spPr>
          <a:xfrm>
            <a:off x="469900" y="733425"/>
            <a:ext cx="7593013" cy="530225"/>
          </a:xfrm>
        </p:spPr>
        <p:txBody>
          <a:bodyPr wrap="square">
            <a:spAutoFit/>
          </a:bodyPr>
          <a:p>
            <a:pPr lvl="0"/>
            <a:r>
              <a:rPr lang="zh-CN" altLang="en-US" sz="3200" b="0" dirty="0">
                <a:solidFill>
                  <a:srgbClr val="000099"/>
                </a:solidFill>
                <a:latin typeface="Times New Roman" panose="02020603050405020304" charset="0"/>
                <a:ea typeface="宋体" pitchFamily="2" charset="-122"/>
              </a:rPr>
              <a:t>缺点：效率非常低</a:t>
            </a:r>
            <a:endParaRPr lang="zh-CN" altLang="en-US" sz="3200" b="0" dirty="0">
              <a:solidFill>
                <a:srgbClr val="000099"/>
              </a:solidFill>
              <a:latin typeface="Times New Roman" panose="02020603050405020304" charset="0"/>
              <a:ea typeface="宋体" pitchFamily="2" charset="-122"/>
            </a:endParaRPr>
          </a:p>
        </p:txBody>
      </p:sp>
      <p:sp>
        <p:nvSpPr>
          <p:cNvPr id="23555" name="文本框 1945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10</a:t>
            </a:r>
            <a:endParaRPr lang="zh-CN" altLang="en-US" sz="1400" b="0" dirty="0">
              <a:solidFill>
                <a:schemeClr val="tx2"/>
              </a:solidFill>
              <a:latin typeface="Times New Roman" panose="02020603050405020304" charset="0"/>
              <a:ea typeface="宋体" pitchFamily="2" charset="-122"/>
            </a:endParaRPr>
          </a:p>
        </p:txBody>
      </p:sp>
      <p:sp>
        <p:nvSpPr>
          <p:cNvPr id="3" name="文本框 2"/>
          <p:cNvSpPr txBox="1"/>
          <p:nvPr/>
        </p:nvSpPr>
        <p:spPr>
          <a:xfrm>
            <a:off x="393065" y="1990090"/>
            <a:ext cx="605790" cy="1568450"/>
          </a:xfrm>
          <a:prstGeom prst="rect">
            <a:avLst/>
          </a:prstGeom>
          <a:noFill/>
          <a:ln>
            <a:solidFill>
              <a:schemeClr val="tx1"/>
            </a:solidFill>
          </a:ln>
        </p:spPr>
        <p:txBody>
          <a:bodyPr wrap="square" rtlCol="0">
            <a:spAutoFit/>
          </a:bodyPr>
          <a:p>
            <a:r>
              <a:rPr lang="zh-CN" altLang="en-US" sz="2400"/>
              <a:t>应</a:t>
            </a:r>
            <a:endParaRPr lang="zh-CN" altLang="en-US" sz="2400"/>
          </a:p>
          <a:p>
            <a:r>
              <a:rPr lang="zh-CN" altLang="en-US" sz="2400"/>
              <a:t>用</a:t>
            </a:r>
            <a:endParaRPr lang="zh-CN" altLang="en-US" sz="2400"/>
          </a:p>
          <a:p>
            <a:r>
              <a:rPr lang="zh-CN" altLang="en-US" sz="2400"/>
              <a:t>程</a:t>
            </a:r>
            <a:endParaRPr lang="zh-CN" altLang="en-US" sz="2400"/>
          </a:p>
          <a:p>
            <a:r>
              <a:rPr lang="zh-CN" altLang="en-US" sz="2400"/>
              <a:t>序</a:t>
            </a:r>
            <a:endParaRPr lang="zh-CN" altLang="en-US" sz="2400"/>
          </a:p>
        </p:txBody>
      </p:sp>
      <p:sp>
        <p:nvSpPr>
          <p:cNvPr id="4" name="文本框 3"/>
          <p:cNvSpPr txBox="1"/>
          <p:nvPr/>
        </p:nvSpPr>
        <p:spPr>
          <a:xfrm>
            <a:off x="2198370" y="1990090"/>
            <a:ext cx="908050" cy="1198880"/>
          </a:xfrm>
          <a:prstGeom prst="rect">
            <a:avLst/>
          </a:prstGeom>
          <a:noFill/>
          <a:ln>
            <a:solidFill>
              <a:schemeClr val="tx1"/>
            </a:solidFill>
          </a:ln>
        </p:spPr>
        <p:txBody>
          <a:bodyPr wrap="square" rtlCol="0">
            <a:spAutoFit/>
          </a:bodyPr>
          <a:p>
            <a:r>
              <a:rPr lang="zh-CN" altLang="en-US" sz="2400"/>
              <a:t>文件</a:t>
            </a:r>
            <a:endParaRPr lang="zh-CN" altLang="en-US" sz="2400"/>
          </a:p>
          <a:p>
            <a:r>
              <a:rPr lang="zh-CN" altLang="en-US" sz="2400"/>
              <a:t>系统</a:t>
            </a:r>
            <a:endParaRPr lang="zh-CN" altLang="en-US" sz="2400"/>
          </a:p>
          <a:p>
            <a:r>
              <a:rPr lang="zh-CN" altLang="en-US" sz="2400"/>
              <a:t>服务</a:t>
            </a:r>
            <a:endParaRPr lang="zh-CN" altLang="en-US" sz="2400"/>
          </a:p>
        </p:txBody>
      </p:sp>
      <p:sp>
        <p:nvSpPr>
          <p:cNvPr id="5" name="文本框 4"/>
          <p:cNvSpPr txBox="1"/>
          <p:nvPr/>
        </p:nvSpPr>
        <p:spPr>
          <a:xfrm>
            <a:off x="3862070" y="1990090"/>
            <a:ext cx="1440815" cy="1198880"/>
          </a:xfrm>
          <a:prstGeom prst="rect">
            <a:avLst/>
          </a:prstGeom>
          <a:noFill/>
          <a:ln>
            <a:solidFill>
              <a:schemeClr val="tx1"/>
            </a:solidFill>
          </a:ln>
        </p:spPr>
        <p:txBody>
          <a:bodyPr wrap="square" rtlCol="0">
            <a:spAutoFit/>
          </a:bodyPr>
          <a:p>
            <a:r>
              <a:rPr lang="zh-CN" altLang="en-US" sz="2400"/>
              <a:t>块设备和</a:t>
            </a:r>
            <a:endParaRPr lang="zh-CN" altLang="en-US" sz="2400"/>
          </a:p>
          <a:p>
            <a:r>
              <a:rPr lang="zh-CN" altLang="en-US" sz="2400"/>
              <a:t>磁盘设备</a:t>
            </a:r>
            <a:endParaRPr lang="zh-CN" altLang="en-US" sz="2400"/>
          </a:p>
          <a:p>
            <a:r>
              <a:rPr lang="zh-CN" altLang="en-US" sz="2400"/>
              <a:t>驱动</a:t>
            </a:r>
            <a:endParaRPr lang="zh-CN" altLang="en-US" sz="2400"/>
          </a:p>
        </p:txBody>
      </p:sp>
      <p:sp>
        <p:nvSpPr>
          <p:cNvPr id="6" name="文本框 5"/>
          <p:cNvSpPr txBox="1"/>
          <p:nvPr/>
        </p:nvSpPr>
        <p:spPr>
          <a:xfrm>
            <a:off x="6066155" y="1993265"/>
            <a:ext cx="909955" cy="829945"/>
          </a:xfrm>
          <a:prstGeom prst="rect">
            <a:avLst/>
          </a:prstGeom>
          <a:noFill/>
          <a:ln>
            <a:solidFill>
              <a:schemeClr val="tx1"/>
            </a:solidFill>
          </a:ln>
        </p:spPr>
        <p:txBody>
          <a:bodyPr wrap="square" rtlCol="0">
            <a:spAutoFit/>
          </a:bodyPr>
          <a:p>
            <a:r>
              <a:rPr lang="en-US" altLang="zh-CN" sz="2400"/>
              <a:t>USB</a:t>
            </a:r>
            <a:r>
              <a:rPr lang="zh-CN" altLang="en-US" sz="2400"/>
              <a:t>驱动</a:t>
            </a:r>
            <a:endParaRPr lang="zh-CN" altLang="en-US" sz="2400"/>
          </a:p>
        </p:txBody>
      </p:sp>
      <p:sp>
        <p:nvSpPr>
          <p:cNvPr id="8" name="右箭头 7"/>
          <p:cNvSpPr/>
          <p:nvPr/>
        </p:nvSpPr>
        <p:spPr>
          <a:xfrm>
            <a:off x="1012825" y="2130425"/>
            <a:ext cx="1178560" cy="173355"/>
          </a:xfrm>
          <a:prstGeom prst="rightArrow">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右箭头 8"/>
          <p:cNvSpPr/>
          <p:nvPr/>
        </p:nvSpPr>
        <p:spPr>
          <a:xfrm>
            <a:off x="3122930" y="2135505"/>
            <a:ext cx="739775" cy="173355"/>
          </a:xfrm>
          <a:prstGeom prst="rightArrow">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右箭头 9"/>
          <p:cNvSpPr/>
          <p:nvPr/>
        </p:nvSpPr>
        <p:spPr>
          <a:xfrm>
            <a:off x="5318125" y="2122170"/>
            <a:ext cx="740410" cy="173355"/>
          </a:xfrm>
          <a:prstGeom prst="rightArrow">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文本框 10"/>
          <p:cNvSpPr txBox="1"/>
          <p:nvPr/>
        </p:nvSpPr>
        <p:spPr>
          <a:xfrm>
            <a:off x="7738745" y="1990090"/>
            <a:ext cx="909955" cy="829945"/>
          </a:xfrm>
          <a:prstGeom prst="rect">
            <a:avLst/>
          </a:prstGeom>
          <a:noFill/>
          <a:ln>
            <a:solidFill>
              <a:schemeClr val="tx1"/>
            </a:solidFill>
          </a:ln>
        </p:spPr>
        <p:txBody>
          <a:bodyPr wrap="square" rtlCol="0">
            <a:spAutoFit/>
          </a:bodyPr>
          <a:p>
            <a:r>
              <a:rPr lang="en-US" altLang="zh-CN" sz="2400"/>
              <a:t>PCI</a:t>
            </a:r>
            <a:r>
              <a:rPr lang="zh-CN" altLang="en-US" sz="2400"/>
              <a:t>驱动</a:t>
            </a:r>
            <a:endParaRPr lang="zh-CN" altLang="en-US" sz="2400"/>
          </a:p>
        </p:txBody>
      </p:sp>
      <p:sp>
        <p:nvSpPr>
          <p:cNvPr id="12" name="右箭头 11"/>
          <p:cNvSpPr/>
          <p:nvPr/>
        </p:nvSpPr>
        <p:spPr>
          <a:xfrm>
            <a:off x="6998335" y="2135505"/>
            <a:ext cx="740410" cy="173355"/>
          </a:xfrm>
          <a:prstGeom prst="rightArrow">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左箭头 12"/>
          <p:cNvSpPr/>
          <p:nvPr/>
        </p:nvSpPr>
        <p:spPr>
          <a:xfrm>
            <a:off x="6985635" y="2524760"/>
            <a:ext cx="736600" cy="155575"/>
          </a:xfrm>
          <a:prstGeom prst="leftArrow">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左箭头 13"/>
          <p:cNvSpPr/>
          <p:nvPr/>
        </p:nvSpPr>
        <p:spPr>
          <a:xfrm>
            <a:off x="5306695" y="2511425"/>
            <a:ext cx="736600" cy="155575"/>
          </a:xfrm>
          <a:prstGeom prst="leftArrow">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左箭头 14"/>
          <p:cNvSpPr/>
          <p:nvPr/>
        </p:nvSpPr>
        <p:spPr>
          <a:xfrm>
            <a:off x="3106420" y="2524760"/>
            <a:ext cx="736600" cy="155575"/>
          </a:xfrm>
          <a:prstGeom prst="leftArrow">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左箭头 15"/>
          <p:cNvSpPr/>
          <p:nvPr/>
        </p:nvSpPr>
        <p:spPr>
          <a:xfrm>
            <a:off x="998855" y="2524760"/>
            <a:ext cx="1191895" cy="155575"/>
          </a:xfrm>
          <a:prstGeom prst="leftArrow">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文本框 16"/>
          <p:cNvSpPr txBox="1"/>
          <p:nvPr/>
        </p:nvSpPr>
        <p:spPr>
          <a:xfrm>
            <a:off x="944245" y="1689735"/>
            <a:ext cx="727710" cy="521970"/>
          </a:xfrm>
          <a:prstGeom prst="rect">
            <a:avLst/>
          </a:prstGeom>
          <a:noFill/>
        </p:spPr>
        <p:txBody>
          <a:bodyPr wrap="none" rtlCol="0" anchor="t">
            <a:spAutoFit/>
          </a:bodyPr>
          <a:p>
            <a:r>
              <a:rPr lang="en-US" altLang="zh-CN" sz="1400" dirty="0">
                <a:solidFill>
                  <a:schemeClr val="tx1"/>
                </a:solidFill>
                <a:effectLst/>
                <a:latin typeface="宋体" pitchFamily="2" charset="-122"/>
                <a:sym typeface="+mn-ea"/>
              </a:rPr>
              <a:t>write ( )</a:t>
            </a:r>
            <a:endParaRPr lang="en-US" altLang="zh-CN" sz="1400" dirty="0">
              <a:solidFill>
                <a:schemeClr val="tx1"/>
              </a:solidFill>
              <a:effectLst/>
              <a:latin typeface="宋体" pitchFamily="2" charset="-122"/>
              <a:sym typeface="+mn-ea"/>
            </a:endParaRPr>
          </a:p>
          <a:p>
            <a:r>
              <a:rPr lang="en-US" altLang="zh-CN" sz="1400" dirty="0">
                <a:solidFill>
                  <a:schemeClr val="tx1"/>
                </a:solidFill>
                <a:effectLst/>
                <a:latin typeface="宋体" pitchFamily="2" charset="-122"/>
                <a:sym typeface="+mn-ea"/>
              </a:rPr>
              <a:t>read ( )</a:t>
            </a:r>
            <a:endParaRPr lang="en-US" altLang="zh-CN" sz="1400" dirty="0">
              <a:solidFill>
                <a:schemeClr val="tx1"/>
              </a:solidFill>
              <a:effectLst/>
              <a:latin typeface="宋体" pitchFamily="2" charset="-122"/>
              <a:sym typeface="+mn-ea"/>
            </a:endParaRPr>
          </a:p>
        </p:txBody>
      </p:sp>
      <p:sp>
        <p:nvSpPr>
          <p:cNvPr id="18" name="文本框 17"/>
          <p:cNvSpPr txBox="1"/>
          <p:nvPr/>
        </p:nvSpPr>
        <p:spPr>
          <a:xfrm>
            <a:off x="2304415" y="4785995"/>
            <a:ext cx="4083050" cy="460375"/>
          </a:xfrm>
          <a:prstGeom prst="rect">
            <a:avLst/>
          </a:prstGeom>
          <a:noFill/>
          <a:ln>
            <a:solidFill>
              <a:schemeClr val="tx1"/>
            </a:solidFill>
          </a:ln>
        </p:spPr>
        <p:txBody>
          <a:bodyPr wrap="square" rtlCol="0">
            <a:spAutoFit/>
          </a:bodyPr>
          <a:p>
            <a:pPr algn="ctr"/>
            <a:r>
              <a:rPr lang="zh-CN" altLang="en-US" sz="2400"/>
              <a:t>操作系统微内核</a:t>
            </a:r>
            <a:endParaRPr lang="zh-CN" altLang="en-US" sz="2400"/>
          </a:p>
        </p:txBody>
      </p:sp>
      <p:cxnSp>
        <p:nvCxnSpPr>
          <p:cNvPr id="19" name="直接箭头连接符 18"/>
          <p:cNvCxnSpPr/>
          <p:nvPr/>
        </p:nvCxnSpPr>
        <p:spPr>
          <a:xfrm>
            <a:off x="1633220" y="2708275"/>
            <a:ext cx="990600" cy="2045970"/>
          </a:xfrm>
          <a:prstGeom prst="straightConnector1">
            <a:avLst/>
          </a:prstGeom>
          <a:ln>
            <a:solidFill>
              <a:schemeClr val="tx1"/>
            </a:solidFill>
            <a:prstDash val="dashDot"/>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3458210" y="2708275"/>
            <a:ext cx="4445" cy="1988185"/>
          </a:xfrm>
          <a:prstGeom prst="straightConnector1">
            <a:avLst/>
          </a:prstGeom>
          <a:ln>
            <a:solidFill>
              <a:schemeClr val="tx1"/>
            </a:solidFill>
            <a:prstDash val="dashDot"/>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5685790" y="2737485"/>
            <a:ext cx="4445" cy="1988185"/>
          </a:xfrm>
          <a:prstGeom prst="straightConnector1">
            <a:avLst/>
          </a:prstGeom>
          <a:ln>
            <a:solidFill>
              <a:schemeClr val="tx1"/>
            </a:solidFill>
            <a:prstDash val="dashDot"/>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6183630" y="2708275"/>
            <a:ext cx="1187450" cy="1996440"/>
          </a:xfrm>
          <a:prstGeom prst="straightConnector1">
            <a:avLst/>
          </a:prstGeom>
          <a:ln>
            <a:solidFill>
              <a:schemeClr val="tx1"/>
            </a:solidFill>
            <a:prstDash val="dashDot"/>
            <a:headEnd type="arrow"/>
            <a:tailEnd type="arrow"/>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64210" y="3945255"/>
            <a:ext cx="1541145" cy="306705"/>
          </a:xfrm>
          <a:prstGeom prst="rect">
            <a:avLst/>
          </a:prstGeom>
          <a:noFill/>
          <a:ln>
            <a:solidFill>
              <a:schemeClr val="tx1"/>
            </a:solidFill>
          </a:ln>
        </p:spPr>
        <p:txBody>
          <a:bodyPr wrap="none" rtlCol="0" anchor="t">
            <a:spAutoFit/>
          </a:bodyPr>
          <a:p>
            <a:pPr algn="l"/>
            <a:r>
              <a:rPr lang="zh-CN" altLang="en-US" sz="1400" dirty="0">
                <a:solidFill>
                  <a:schemeClr val="tx1"/>
                </a:solidFill>
                <a:effectLst/>
                <a:latin typeface="宋体" pitchFamily="2" charset="-122"/>
                <a:sym typeface="+mn-ea"/>
              </a:rPr>
              <a:t>进程间通讯</a:t>
            </a:r>
            <a:r>
              <a:rPr lang="en-US" altLang="zh-CN" sz="1400" dirty="0">
                <a:solidFill>
                  <a:schemeClr val="tx1"/>
                </a:solidFill>
                <a:effectLst/>
                <a:latin typeface="宋体" pitchFamily="2" charset="-122"/>
                <a:sym typeface="+mn-ea"/>
              </a:rPr>
              <a:t>( IPC )</a:t>
            </a:r>
            <a:endParaRPr lang="zh-CN" altLang="en-US" sz="1400" dirty="0">
              <a:solidFill>
                <a:schemeClr val="tx1"/>
              </a:solidFill>
              <a:effectLst/>
              <a:latin typeface="宋体" pitchFamily="2" charset="-122"/>
              <a:sym typeface="+mn-ea"/>
            </a:endParaRPr>
          </a:p>
        </p:txBody>
      </p:sp>
      <p:sp>
        <p:nvSpPr>
          <p:cNvPr id="24" name="文本框 23"/>
          <p:cNvSpPr txBox="1"/>
          <p:nvPr/>
        </p:nvSpPr>
        <p:spPr>
          <a:xfrm>
            <a:off x="6493510" y="5414645"/>
            <a:ext cx="2153920" cy="953135"/>
          </a:xfrm>
          <a:prstGeom prst="rect">
            <a:avLst/>
          </a:prstGeom>
          <a:noFill/>
          <a:ln>
            <a:solidFill>
              <a:schemeClr val="tx1"/>
            </a:solidFill>
          </a:ln>
        </p:spPr>
        <p:txBody>
          <a:bodyPr wrap="none" rtlCol="0" anchor="t">
            <a:spAutoFit/>
          </a:bodyPr>
          <a:p>
            <a:r>
              <a:rPr lang="en-US" altLang="zh-CN" sz="1400" dirty="0">
                <a:solidFill>
                  <a:schemeClr val="tx1"/>
                </a:solidFill>
                <a:effectLst/>
                <a:latin typeface="宋体" pitchFamily="2" charset="-122"/>
                <a:sym typeface="+mn-ea"/>
              </a:rPr>
              <a:t>1</a:t>
            </a:r>
            <a:r>
              <a:rPr lang="zh-CN" altLang="en-US" sz="1400" dirty="0">
                <a:solidFill>
                  <a:schemeClr val="tx1"/>
                </a:solidFill>
                <a:effectLst/>
                <a:latin typeface="宋体" pitchFamily="2" charset="-122"/>
                <a:sym typeface="+mn-ea"/>
              </a:rPr>
              <a:t>、处理器状态的切换</a:t>
            </a:r>
            <a:endParaRPr lang="zh-CN" altLang="en-US" sz="1400" dirty="0">
              <a:solidFill>
                <a:schemeClr val="tx1"/>
              </a:solidFill>
              <a:effectLst/>
              <a:latin typeface="宋体" pitchFamily="2" charset="-122"/>
              <a:sym typeface="+mn-ea"/>
            </a:endParaRPr>
          </a:p>
          <a:p>
            <a:r>
              <a:rPr lang="en-US" altLang="zh-CN" sz="1400" dirty="0">
                <a:solidFill>
                  <a:schemeClr val="tx1"/>
                </a:solidFill>
                <a:effectLst/>
                <a:latin typeface="宋体" pitchFamily="2" charset="-122"/>
                <a:sym typeface="+mn-ea"/>
              </a:rPr>
              <a:t>2</a:t>
            </a:r>
            <a:r>
              <a:rPr lang="zh-CN" altLang="en-US" sz="1400" dirty="0">
                <a:solidFill>
                  <a:schemeClr val="tx1"/>
                </a:solidFill>
                <a:effectLst/>
                <a:latin typeface="宋体" pitchFamily="2" charset="-122"/>
                <a:sym typeface="+mn-ea"/>
              </a:rPr>
              <a:t>、进程上下文环境切换</a:t>
            </a:r>
            <a:endParaRPr lang="zh-CN" altLang="en-US" sz="1400" dirty="0">
              <a:solidFill>
                <a:schemeClr val="tx1"/>
              </a:solidFill>
              <a:effectLst/>
              <a:latin typeface="宋体" pitchFamily="2" charset="-122"/>
              <a:sym typeface="+mn-ea"/>
            </a:endParaRPr>
          </a:p>
          <a:p>
            <a:r>
              <a:rPr lang="en-US" altLang="zh-CN" sz="1400" dirty="0">
                <a:solidFill>
                  <a:schemeClr val="tx1"/>
                </a:solidFill>
                <a:effectLst/>
                <a:latin typeface="宋体" pitchFamily="2" charset="-122"/>
                <a:sym typeface="+mn-ea"/>
              </a:rPr>
              <a:t>  </a:t>
            </a:r>
            <a:r>
              <a:rPr lang="zh-CN" altLang="en-US" sz="1400" dirty="0">
                <a:solidFill>
                  <a:schemeClr val="tx1"/>
                </a:solidFill>
                <a:effectLst/>
                <a:latin typeface="宋体" pitchFamily="2" charset="-122"/>
                <a:sym typeface="+mn-ea"/>
              </a:rPr>
              <a:t>（寄存器，内存空间）</a:t>
            </a:r>
            <a:endParaRPr lang="zh-CN" altLang="en-US" sz="1400" dirty="0">
              <a:solidFill>
                <a:schemeClr val="tx1"/>
              </a:solidFill>
              <a:effectLst/>
              <a:latin typeface="宋体" pitchFamily="2" charset="-122"/>
              <a:sym typeface="+mn-ea"/>
            </a:endParaRPr>
          </a:p>
          <a:p>
            <a:r>
              <a:rPr lang="en-US" altLang="zh-CN" sz="1400" dirty="0">
                <a:solidFill>
                  <a:schemeClr val="tx1"/>
                </a:solidFill>
                <a:effectLst/>
                <a:latin typeface="宋体" pitchFamily="2" charset="-122"/>
                <a:sym typeface="+mn-ea"/>
              </a:rPr>
              <a:t>3</a:t>
            </a:r>
            <a:r>
              <a:rPr lang="zh-CN" altLang="en-US" sz="1400" dirty="0">
                <a:solidFill>
                  <a:schemeClr val="tx1"/>
                </a:solidFill>
                <a:effectLst/>
                <a:latin typeface="宋体" pitchFamily="2" charset="-122"/>
                <a:sym typeface="+mn-ea"/>
              </a:rPr>
              <a:t>、</a:t>
            </a:r>
            <a:r>
              <a:rPr lang="en-US" altLang="zh-CN" sz="1400" dirty="0">
                <a:solidFill>
                  <a:schemeClr val="tx1"/>
                </a:solidFill>
                <a:effectLst/>
                <a:latin typeface="宋体" pitchFamily="2" charset="-122"/>
                <a:sym typeface="+mn-ea"/>
              </a:rPr>
              <a:t>cache</a:t>
            </a:r>
            <a:endParaRPr lang="en-US" altLang="zh-CN" sz="1400" dirty="0">
              <a:solidFill>
                <a:schemeClr val="tx1"/>
              </a:solidFill>
              <a:effectLst/>
              <a:latin typeface="宋体"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78849"/>
          <p:cNvSpPr>
            <a:spLocks noGrp="1"/>
          </p:cNvSpPr>
          <p:nvPr>
            <p:ph type="title"/>
          </p:nvPr>
        </p:nvSpPr>
        <p:spPr>
          <a:xfrm>
            <a:off x="363538" y="595313"/>
            <a:ext cx="8393113" cy="530225"/>
          </a:xfrm>
        </p:spPr>
        <p:txBody>
          <a:bodyPr>
            <a:spAutoFit/>
          </a:bodyPr>
          <a:p>
            <a:pPr lvl="0"/>
            <a:r>
              <a:rPr lang="zh-CN" altLang="en-US" sz="3200" b="0" dirty="0">
                <a:solidFill>
                  <a:srgbClr val="000099"/>
                </a:solidFill>
                <a:latin typeface="Times New Roman" panose="02020603050405020304" charset="0"/>
                <a:ea typeface="宋体" pitchFamily="2" charset="-122"/>
              </a:rPr>
              <a:t>可扩展内核结构/微内核结构</a:t>
            </a:r>
            <a:endParaRPr lang="zh-CN" altLang="en-US" sz="3200" b="0" dirty="0">
              <a:solidFill>
                <a:srgbClr val="000099"/>
              </a:solidFill>
              <a:latin typeface="Times New Roman" panose="02020603050405020304" charset="0"/>
              <a:ea typeface="宋体" pitchFamily="2" charset="-122"/>
            </a:endParaRPr>
          </a:p>
        </p:txBody>
      </p:sp>
      <p:sp>
        <p:nvSpPr>
          <p:cNvPr id="78851" name="文本占位符 78850"/>
          <p:cNvSpPr>
            <a:spLocks noGrp="1"/>
          </p:cNvSpPr>
          <p:nvPr>
            <p:ph idx="1"/>
          </p:nvPr>
        </p:nvSpPr>
        <p:spPr>
          <a:xfrm>
            <a:off x="231775" y="1330325"/>
            <a:ext cx="8591550" cy="5701665"/>
          </a:xfrm>
        </p:spPr>
        <p:txBody>
          <a:bodyPr wrap="square">
            <a:spAutoFit/>
          </a:bodyPr>
          <a:p>
            <a:pPr lvl="0"/>
            <a:r>
              <a:rPr lang="zh-CN" altLang="en-US" dirty="0">
                <a:hlinkClick r:id="rId1"/>
              </a:rPr>
              <a:t>卡耐基梅隆大学</a:t>
            </a:r>
            <a:r>
              <a:rPr lang="zh-CN" altLang="en-US" dirty="0"/>
              <a:t>研制的</a:t>
            </a:r>
            <a:r>
              <a:rPr lang="en-US" altLang="x-none">
                <a:hlinkClick r:id="rId2"/>
              </a:rPr>
              <a:t>Mach</a:t>
            </a:r>
            <a:r>
              <a:rPr lang="en-US" altLang="x-none"/>
              <a:t> OS </a:t>
            </a:r>
            <a:r>
              <a:rPr lang="zh-CN" altLang="en-US">
                <a:ea typeface="宋体" pitchFamily="2" charset="-122"/>
              </a:rPr>
              <a:t>（最有代表性，</a:t>
            </a:r>
            <a:r>
              <a:rPr lang="en-US" altLang="zh-CN">
                <a:ea typeface="宋体" pitchFamily="2" charset="-122"/>
              </a:rPr>
              <a:t>1985</a:t>
            </a:r>
            <a:r>
              <a:rPr lang="zh-CN" altLang="en-US">
                <a:ea typeface="宋体" pitchFamily="2" charset="-122"/>
              </a:rPr>
              <a:t>年启动，</a:t>
            </a:r>
            <a:r>
              <a:rPr lang="en-US" altLang="zh-CN">
                <a:ea typeface="宋体" pitchFamily="2" charset="-122"/>
              </a:rPr>
              <a:t>1994</a:t>
            </a:r>
            <a:r>
              <a:rPr lang="zh-CN" altLang="en-US">
                <a:ea typeface="宋体" pitchFamily="2" charset="-122"/>
              </a:rPr>
              <a:t>年</a:t>
            </a:r>
            <a:r>
              <a:rPr lang="en-US" altLang="zh-CN">
                <a:ea typeface="宋体" pitchFamily="2" charset="-122"/>
              </a:rPr>
              <a:t>Mach 3.0</a:t>
            </a:r>
            <a:r>
              <a:rPr lang="zh-CN" altLang="en-US">
                <a:ea typeface="宋体" pitchFamily="2" charset="-122"/>
              </a:rPr>
              <a:t>）</a:t>
            </a:r>
            <a:endParaRPr lang="zh-CN" altLang="en-US">
              <a:ea typeface="宋体" pitchFamily="2" charset="-122"/>
            </a:endParaRPr>
          </a:p>
          <a:p>
            <a:pPr lvl="0"/>
            <a:r>
              <a:rPr lang="x-none" altLang="zh-CN">
                <a:ea typeface="宋体" pitchFamily="2" charset="-122"/>
              </a:rPr>
              <a:t>iOS</a:t>
            </a:r>
            <a:endParaRPr lang="x-none" altLang="zh-CN">
              <a:ea typeface="宋体" pitchFamily="2" charset="-122"/>
            </a:endParaRPr>
          </a:p>
          <a:p>
            <a:pPr lvl="0"/>
            <a:r>
              <a:rPr lang="en-US" altLang="zh-CN" dirty="0">
                <a:latin typeface="宋体" pitchFamily="2" charset="-122"/>
                <a:ea typeface="宋体" pitchFamily="2" charset="-122"/>
                <a:sym typeface="+mn-ea"/>
              </a:rPr>
              <a:t>L4</a:t>
            </a:r>
            <a:r>
              <a:rPr lang="zh-CN" altLang="en-US" dirty="0">
                <a:latin typeface="宋体" pitchFamily="2" charset="-122"/>
                <a:ea typeface="宋体" pitchFamily="2" charset="-122"/>
                <a:sym typeface="+mn-ea"/>
              </a:rPr>
              <a:t>，</a:t>
            </a:r>
            <a:r>
              <a:rPr lang="en-US" altLang="zh-CN" dirty="0">
                <a:latin typeface="宋体" pitchFamily="2" charset="-122"/>
                <a:ea typeface="宋体" pitchFamily="2" charset="-122"/>
                <a:sym typeface="+mn-ea"/>
              </a:rPr>
              <a:t>seL4</a:t>
            </a:r>
            <a:endParaRPr lang="en-US" altLang="zh-CN" dirty="0">
              <a:latin typeface="宋体" pitchFamily="2" charset="-122"/>
              <a:ea typeface="宋体" pitchFamily="2" charset="-122"/>
              <a:sym typeface="+mn-ea"/>
            </a:endParaRPr>
          </a:p>
          <a:p>
            <a:pPr marL="0" lvl="0" indent="0">
              <a:buNone/>
            </a:pPr>
            <a:endParaRPr lang="x-none" altLang="zh-CN">
              <a:ea typeface="宋体" pitchFamily="2" charset="-122"/>
            </a:endParaRPr>
          </a:p>
          <a:p>
            <a:pPr lvl="0"/>
            <a:r>
              <a:rPr lang="zh-CN" altLang="en-US" dirty="0">
                <a:latin typeface="宋体" pitchFamily="2" charset="-122"/>
                <a:ea typeface="宋体" pitchFamily="2" charset="-122"/>
                <a:sym typeface="+mn-ea"/>
              </a:rPr>
              <a:t>Quantum Software Systems公司的QNX</a:t>
            </a:r>
            <a:endParaRPr lang="zh-CN" altLang="en-US" dirty="0">
              <a:latin typeface="宋体" pitchFamily="2" charset="-122"/>
              <a:ea typeface="宋体" pitchFamily="2" charset="-122"/>
              <a:sym typeface="+mn-ea"/>
            </a:endParaRPr>
          </a:p>
          <a:p>
            <a:pPr lvl="0"/>
            <a:r>
              <a:rPr lang="zh-CN" altLang="en-US" dirty="0">
                <a:latin typeface="宋体" pitchFamily="2" charset="-122"/>
                <a:ea typeface="宋体" pitchFamily="2" charset="-122"/>
                <a:sym typeface="+mn-ea"/>
              </a:rPr>
              <a:t>HarmonyOS</a:t>
            </a:r>
            <a:r>
              <a:rPr lang="en-US" altLang="zh-CN" dirty="0">
                <a:latin typeface="宋体" pitchFamily="2" charset="-122"/>
                <a:ea typeface="宋体" pitchFamily="2" charset="-122"/>
                <a:sym typeface="+mn-ea"/>
              </a:rPr>
              <a:t> Next </a:t>
            </a:r>
            <a:r>
              <a:rPr lang="zh-CN" altLang="en-US" dirty="0">
                <a:latin typeface="宋体" pitchFamily="2" charset="-122"/>
                <a:ea typeface="宋体" pitchFamily="2" charset="-122"/>
                <a:sym typeface="+mn-ea"/>
              </a:rPr>
              <a:t>鸿蒙微内核</a:t>
            </a:r>
            <a:endParaRPr lang="zh-CN" altLang="en-US" dirty="0">
              <a:latin typeface="宋体" pitchFamily="2" charset="-122"/>
              <a:ea typeface="宋体" pitchFamily="2" charset="-122"/>
              <a:sym typeface="+mn-ea"/>
            </a:endParaRPr>
          </a:p>
          <a:p>
            <a:pPr marL="0" lvl="0" indent="0">
              <a:buNone/>
            </a:pPr>
            <a:endParaRPr lang="zh-CN" altLang="en-US" dirty="0">
              <a:latin typeface="宋体" pitchFamily="2" charset="-122"/>
              <a:ea typeface="宋体" pitchFamily="2" charset="-122"/>
            </a:endParaRPr>
          </a:p>
          <a:p>
            <a:pPr lvl="0"/>
            <a:endParaRPr lang="en-US" altLang="zh-CN" dirty="0">
              <a:latin typeface="宋体" pitchFamily="2" charset="-122"/>
              <a:ea typeface="宋体" pitchFamily="2" charset="-122"/>
            </a:endParaRPr>
          </a:p>
          <a:p>
            <a:pPr lvl="0"/>
            <a:endParaRPr lang="zh-CN" altLang="en-US" dirty="0">
              <a:latin typeface="宋体" pitchFamily="2" charset="-122"/>
              <a:ea typeface="宋体" pitchFamily="2" charset="-122"/>
            </a:endParaRPr>
          </a:p>
        </p:txBody>
      </p:sp>
      <p:sp>
        <p:nvSpPr>
          <p:cNvPr id="24579" name="文本框 7885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9</a:t>
            </a:r>
            <a:endParaRPr lang="zh-CN" altLang="en-US" sz="1400" b="0" dirty="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2355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14</a:t>
            </a:r>
            <a:endParaRPr lang="zh-CN" altLang="en-US" sz="1400" b="0" dirty="0">
              <a:solidFill>
                <a:schemeClr val="tx2"/>
              </a:solidFill>
              <a:latin typeface="Times New Roman" panose="02020603050405020304" charset="0"/>
              <a:ea typeface="宋体" pitchFamily="2" charset="-122"/>
            </a:endParaRPr>
          </a:p>
        </p:txBody>
      </p:sp>
      <p:sp>
        <p:nvSpPr>
          <p:cNvPr id="23555" name="矩形 23554"/>
          <p:cNvSpPr/>
          <p:nvPr/>
        </p:nvSpPr>
        <p:spPr>
          <a:xfrm>
            <a:off x="142875" y="431800"/>
            <a:ext cx="5253038" cy="127952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itchFamily="2" charset="-122"/>
                <a:cs typeface="+mn-ea"/>
              </a:rPr>
              <a:t>3.  </a:t>
            </a:r>
            <a:r>
              <a:rPr lang="zh-CN" altLang="en-US" b="1" strike="noStrike" noProof="1">
                <a:solidFill>
                  <a:srgbClr val="990000"/>
                </a:solidFill>
                <a:latin typeface="Times New Roman" panose="02020603050405020304" charset="0"/>
                <a:ea typeface="宋体" pitchFamily="2" charset="-122"/>
                <a:cs typeface="+mn-ea"/>
              </a:rPr>
              <a:t>实例</a:t>
            </a:r>
            <a:r>
              <a:rPr lang="zh-CN" altLang="en-US" b="1" strike="noStrike" noProof="1">
                <a:solidFill>
                  <a:srgbClr val="990000"/>
                </a:solidFill>
                <a:latin typeface="Arial" panose="020B0604020202020204" pitchFamily="34" charset="0"/>
                <a:ea typeface="宋体" pitchFamily="2" charset="-122"/>
                <a:cs typeface="+mn-ea"/>
              </a:rPr>
              <a:t>操作系统的结构</a:t>
            </a:r>
            <a:endParaRPr lang="zh-CN" altLang="en-US" b="1" strike="noStrike" noProof="1">
              <a:solidFill>
                <a:srgbClr val="990000"/>
              </a:solidFill>
              <a:ea typeface="宋体" pitchFamily="2" charset="-122"/>
            </a:endParaRPr>
          </a:p>
          <a:p>
            <a:pPr marL="533400" lvl="0" indent="-533400" fontAlgn="base">
              <a:lnSpc>
                <a:spcPct val="120000"/>
              </a:lnSpc>
              <a:spcBef>
                <a:spcPct val="10000"/>
              </a:spcBef>
              <a:buNone/>
            </a:pPr>
            <a:r>
              <a:rPr lang="zh-CN" altLang="en-US" sz="2800" b="1" strike="noStrike" noProof="1">
                <a:solidFill>
                  <a:srgbClr val="A50021"/>
                </a:solidFill>
                <a:latin typeface="Times New Roman" panose="02020603050405020304" charset="0"/>
                <a:ea typeface="宋体" pitchFamily="2" charset="-122"/>
                <a:cs typeface="+mn-ea"/>
              </a:rPr>
              <a:t>   </a:t>
            </a:r>
            <a:r>
              <a:rPr lang="en-US" altLang="zh-CN" sz="2800" b="1" strike="noStrike" noProof="1">
                <a:solidFill>
                  <a:srgbClr val="A50021"/>
                </a:solidFill>
                <a:latin typeface="Times New Roman" panose="02020603050405020304" charset="0"/>
                <a:ea typeface="宋体" pitchFamily="2" charset="-122"/>
                <a:cs typeface="+mn-ea"/>
              </a:rPr>
              <a:t>(1) UNIX</a:t>
            </a:r>
            <a:r>
              <a:rPr lang="zh-CN" altLang="en-US" sz="2800" b="1" strike="noStrike" noProof="1">
                <a:solidFill>
                  <a:srgbClr val="A50021"/>
                </a:solidFill>
                <a:latin typeface="Times New Roman" panose="02020603050405020304" charset="0"/>
                <a:ea typeface="宋体" pitchFamily="2" charset="-122"/>
                <a:cs typeface="+mn-ea"/>
              </a:rPr>
              <a:t>操作系统的结</a:t>
            </a:r>
            <a:r>
              <a:rPr lang="x-none" altLang="zh-CN" sz="2800" b="1" strike="noStrike" noProof="1">
                <a:solidFill>
                  <a:srgbClr val="A50021"/>
                </a:solidFill>
                <a:latin typeface="Times New Roman" panose="02020603050405020304" charset="0"/>
                <a:ea typeface="宋体" pitchFamily="2" charset="-122"/>
                <a:cs typeface="+mn-ea"/>
              </a:rPr>
              <a:t>构</a:t>
            </a:r>
            <a:endParaRPr lang="x-none" altLang="zh-CN" sz="2800" b="1" strike="noStrike" noProof="1">
              <a:solidFill>
                <a:srgbClr val="A50021"/>
              </a:solidFill>
              <a:latin typeface="Times New Roman" panose="02020603050405020304" charset="0"/>
              <a:ea typeface="宋体" pitchFamily="2" charset="-122"/>
              <a:cs typeface="+mn-ea"/>
            </a:endParaRPr>
          </a:p>
        </p:txBody>
      </p:sp>
      <p:grpSp>
        <p:nvGrpSpPr>
          <p:cNvPr id="23556" name="组合 23555"/>
          <p:cNvGrpSpPr/>
          <p:nvPr/>
        </p:nvGrpSpPr>
        <p:grpSpPr>
          <a:xfrm>
            <a:off x="4895850" y="1190625"/>
            <a:ext cx="3814763" cy="2605088"/>
            <a:chOff x="0" y="0"/>
            <a:chExt cx="2403" cy="1641"/>
          </a:xfrm>
        </p:grpSpPr>
        <p:graphicFrame>
          <p:nvGraphicFramePr>
            <p:cNvPr id="27652" name="内容占位符 23556"/>
            <p:cNvGraphicFramePr>
              <a:graphicFrameLocks noChangeAspect="1"/>
            </p:cNvGraphicFramePr>
            <p:nvPr>
              <p:ph idx="4294967295"/>
            </p:nvPr>
          </p:nvGraphicFramePr>
          <p:xfrm>
            <a:off x="0" y="0"/>
            <a:ext cx="2403" cy="1258"/>
          </p:xfrm>
          <a:graphic>
            <a:graphicData uri="http://schemas.openxmlformats.org/presentationml/2006/ole">
              <mc:AlternateContent xmlns:mc="http://schemas.openxmlformats.org/markup-compatibility/2006">
                <mc:Choice xmlns:v="urn:schemas-microsoft-com:vml" Requires="v">
                  <p:oleObj spid="_x0000_s3078" name="" r:id="rId2" imgW="2305050" imgH="1200150" progId="MSPhotoEd.3">
                    <p:embed/>
                  </p:oleObj>
                </mc:Choice>
                <mc:Fallback>
                  <p:oleObj name="" r:id="rId2" imgW="2305050" imgH="1200150" progId="MSPhotoEd.3">
                    <p:embed/>
                    <p:pic>
                      <p:nvPicPr>
                        <p:cNvPr id="0" name="图片 3077"/>
                        <p:cNvPicPr/>
                        <p:nvPr/>
                      </p:nvPicPr>
                      <p:blipFill>
                        <a:blip r:embed="rId3"/>
                        <a:stretch>
                          <a:fillRect/>
                        </a:stretch>
                      </p:blipFill>
                      <p:spPr>
                        <a:xfrm>
                          <a:off x="0" y="0"/>
                          <a:ext cx="2403" cy="1258"/>
                        </a:xfrm>
                        <a:prstGeom prst="rect">
                          <a:avLst/>
                        </a:prstGeom>
                        <a:noFill/>
                        <a:ln w="38100">
                          <a:miter/>
                        </a:ln>
                      </p:spPr>
                    </p:pic>
                  </p:oleObj>
                </mc:Fallback>
              </mc:AlternateContent>
            </a:graphicData>
          </a:graphic>
        </p:graphicFrame>
        <p:sp>
          <p:nvSpPr>
            <p:cNvPr id="27653" name="文本框 23557"/>
            <p:cNvSpPr txBox="1"/>
            <p:nvPr/>
          </p:nvSpPr>
          <p:spPr>
            <a:xfrm>
              <a:off x="359" y="1429"/>
              <a:ext cx="1895"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itchFamily="2" charset="-122"/>
                </a:rPr>
                <a:t>UNIX</a:t>
              </a:r>
              <a:r>
                <a:rPr lang="zh-CN" altLang="en-US" sz="1600" b="0">
                  <a:solidFill>
                    <a:schemeClr val="tx1"/>
                  </a:solidFill>
                  <a:latin typeface="Times New Roman" panose="02020603050405020304" charset="0"/>
                  <a:ea typeface="宋体" pitchFamily="2" charset="-122"/>
                </a:rPr>
                <a:t>操作系统结构示意图</a:t>
              </a:r>
              <a:endParaRPr lang="zh-CN" altLang="en-US" sz="1600" b="0">
                <a:solidFill>
                  <a:schemeClr val="tx1"/>
                </a:solidFill>
                <a:latin typeface="Times New Roman" panose="02020603050405020304" charset="0"/>
                <a:ea typeface="宋体" pitchFamily="2" charset="-122"/>
              </a:endParaRPr>
            </a:p>
          </p:txBody>
        </p:sp>
      </p:grpSp>
      <p:sp>
        <p:nvSpPr>
          <p:cNvPr id="23559" name="矩形 2355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
        <p:nvSpPr>
          <p:cNvPr id="23560" name="矩形 23559"/>
          <p:cNvSpPr/>
          <p:nvPr/>
        </p:nvSpPr>
        <p:spPr>
          <a:xfrm>
            <a:off x="98425" y="1612900"/>
            <a:ext cx="4573588" cy="26114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a:t>
            </a:r>
            <a:r>
              <a:rPr lang="en-US" altLang="zh-CN" sz="2400" b="1" strike="noStrike" noProof="1">
                <a:solidFill>
                  <a:srgbClr val="000099"/>
                </a:solidFill>
                <a:latin typeface="Times New Roman" panose="02020603050405020304" charset="0"/>
                <a:ea typeface="宋体" pitchFamily="2" charset="-122"/>
                <a:cs typeface="+mn-cs"/>
              </a:rPr>
              <a:t>UNIX</a:t>
            </a:r>
            <a:r>
              <a:rPr lang="zh-CN" altLang="en-US" sz="2400" b="1" strike="noStrike" noProof="1">
                <a:solidFill>
                  <a:srgbClr val="000099"/>
                </a:solidFill>
                <a:latin typeface="Times New Roman" panose="02020603050405020304" charset="0"/>
                <a:ea typeface="宋体" pitchFamily="2" charset="-122"/>
                <a:cs typeface="+mn-cs"/>
              </a:rPr>
              <a:t>核心层 </a:t>
            </a:r>
            <a:endParaRPr lang="zh-CN" altLang="en-US" sz="2400" b="1" strike="noStrike" noProof="1">
              <a:solidFill>
                <a:srgbClr val="000099"/>
              </a:solidFill>
              <a:latin typeface="Times New Roman" panose="02020603050405020304" charset="0"/>
              <a:ea typeface="宋体" pitchFamily="2" charset="-12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处理机管理</a:t>
            </a:r>
            <a:endParaRPr lang="zh-CN" altLang="en-US" strike="noStrike" noProof="1">
              <a:solidFill>
                <a:schemeClr val="tx1"/>
              </a:solidFill>
              <a:latin typeface="Times New Roman" panose="02020603050405020304" charset="0"/>
              <a:ea typeface="宋体" pitchFamily="2" charset="-12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存储管理</a:t>
            </a:r>
            <a:endParaRPr lang="zh-CN" altLang="en-US" strike="noStrike" noProof="1">
              <a:solidFill>
                <a:schemeClr val="tx1"/>
              </a:solidFill>
              <a:latin typeface="Times New Roman" panose="02020603050405020304" charset="0"/>
              <a:ea typeface="宋体" pitchFamily="2" charset="-12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设备管理</a:t>
            </a:r>
            <a:endParaRPr lang="zh-CN" altLang="en-US" strike="noStrike" noProof="1">
              <a:solidFill>
                <a:schemeClr val="tx1"/>
              </a:solidFill>
              <a:latin typeface="Times New Roman" panose="02020603050405020304" charset="0"/>
              <a:ea typeface="宋体" pitchFamily="2" charset="-12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文件系统</a:t>
            </a:r>
            <a:endParaRPr lang="zh-CN" altLang="en-US" strike="noStrike" noProof="1">
              <a:solidFill>
                <a:schemeClr val="tx1"/>
              </a:solidFill>
              <a:latin typeface="Times New Roman" panose="02020603050405020304" charset="0"/>
              <a:ea typeface="宋体" pitchFamily="2" charset="-122"/>
            </a:endParaRPr>
          </a:p>
        </p:txBody>
      </p:sp>
      <p:sp>
        <p:nvSpPr>
          <p:cNvPr id="23561" name="矩形 23560"/>
          <p:cNvSpPr/>
          <p:nvPr/>
        </p:nvSpPr>
        <p:spPr>
          <a:xfrm>
            <a:off x="90488" y="4127500"/>
            <a:ext cx="8840788" cy="24653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② </a:t>
            </a:r>
            <a:r>
              <a:rPr lang="en-US" altLang="zh-CN" sz="2400" b="1" strike="noStrike" noProof="1">
                <a:solidFill>
                  <a:srgbClr val="000099"/>
                </a:solidFill>
                <a:latin typeface="Times New Roman" panose="02020603050405020304" charset="0"/>
                <a:ea typeface="宋体" pitchFamily="2" charset="-122"/>
                <a:cs typeface="+mn-cs"/>
              </a:rPr>
              <a:t>UNIX</a:t>
            </a:r>
            <a:r>
              <a:rPr lang="zh-CN" altLang="en-US" sz="2400" b="1" strike="noStrike" noProof="1">
                <a:solidFill>
                  <a:srgbClr val="000099"/>
                </a:solidFill>
                <a:latin typeface="Times New Roman" panose="02020603050405020304" charset="0"/>
                <a:ea typeface="宋体" pitchFamily="2" charset="-122"/>
                <a:cs typeface="+mn-cs"/>
              </a:rPr>
              <a:t>实用层 </a:t>
            </a:r>
            <a:endParaRPr lang="zh-CN" altLang="en-US" sz="2400" b="1" strike="noStrike" noProof="1">
              <a:solidFill>
                <a:srgbClr val="000099"/>
              </a:solidFill>
              <a:latin typeface="Times New Roman" panose="02020603050405020304" charset="0"/>
              <a:ea typeface="宋体" pitchFamily="2" charset="-12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实用程序 </a:t>
            </a:r>
            <a:r>
              <a:rPr lang="en-US" altLang="zh-CN" strike="noStrike" noProof="1">
                <a:solidFill>
                  <a:schemeClr val="tx1"/>
                </a:solidFill>
                <a:latin typeface="Times New Roman" panose="02020603050405020304" charset="0"/>
                <a:ea typeface="宋体" pitchFamily="2" charset="-122"/>
                <a:cs typeface="+mn-cs"/>
              </a:rPr>
              <a:t>—— </a:t>
            </a:r>
            <a:r>
              <a:rPr lang="zh-CN" altLang="en-US" strike="noStrike" noProof="1">
                <a:solidFill>
                  <a:schemeClr val="tx1"/>
                </a:solidFill>
                <a:latin typeface="Times New Roman" panose="02020603050405020304" charset="0"/>
                <a:ea typeface="宋体" pitchFamily="2" charset="-122"/>
                <a:cs typeface="+mn-cs"/>
                <a:sym typeface="Symbol" panose="05050102010706020507" pitchFamily="18" charset="2"/>
              </a:rPr>
              <a:t>编辑程序、调试程序、系统状态监控、文件管理等实用程序</a:t>
            </a:r>
            <a:endParaRPr lang="zh-CN" altLang="en-US" strike="noStrike" noProof="1">
              <a:solidFill>
                <a:schemeClr val="tx1"/>
              </a:solidFill>
              <a:latin typeface="Times New Roman" panose="02020603050405020304" charset="0"/>
              <a:ea typeface="宋体" pitchFamily="2" charset="-122"/>
              <a:sym typeface="Symbol" panose="05050102010706020507" pitchFamily="18" charset="2"/>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存储管理软件工具 </a:t>
            </a:r>
            <a:r>
              <a:rPr lang="en-US" altLang="zh-CN" strike="noStrike" noProof="1">
                <a:solidFill>
                  <a:schemeClr val="tx1"/>
                </a:solidFill>
                <a:latin typeface="Times New Roman" panose="02020603050405020304" charset="0"/>
                <a:ea typeface="宋体" pitchFamily="2" charset="-122"/>
                <a:cs typeface="+mn-cs"/>
              </a:rPr>
              <a:t>——</a:t>
            </a:r>
            <a:r>
              <a:rPr lang="zh-CN" altLang="en-US" strike="noStrike" noProof="1">
                <a:solidFill>
                  <a:schemeClr val="tx1"/>
                </a:solidFill>
                <a:latin typeface="Times New Roman" panose="02020603050405020304" charset="0"/>
                <a:ea typeface="宋体" pitchFamily="2" charset="-122"/>
                <a:cs typeface="+mn-cs"/>
                <a:sym typeface="Symbol" panose="05050102010706020507" pitchFamily="18" charset="2"/>
              </a:rPr>
              <a:t>源代码控制程序</a:t>
            </a:r>
            <a:r>
              <a:rPr lang="en-US" altLang="zh-CN" strike="noStrike" noProof="1">
                <a:solidFill>
                  <a:schemeClr val="tx1"/>
                </a:solidFill>
                <a:latin typeface="Times New Roman" panose="02020603050405020304" charset="0"/>
                <a:ea typeface="宋体" pitchFamily="2" charset="-122"/>
                <a:cs typeface="+mn-cs"/>
                <a:sym typeface="Symbol" panose="05050102010706020507" pitchFamily="18" charset="2"/>
              </a:rPr>
              <a:t>SCCS</a:t>
            </a:r>
            <a:r>
              <a:rPr lang="zh-CN" altLang="en-US" strike="noStrike" noProof="1">
                <a:solidFill>
                  <a:schemeClr val="tx1"/>
                </a:solidFill>
                <a:latin typeface="Times New Roman" panose="02020603050405020304" charset="0"/>
                <a:ea typeface="宋体" pitchFamily="2" charset="-122"/>
                <a:cs typeface="+mn-cs"/>
                <a:sym typeface="Symbol" panose="05050102010706020507" pitchFamily="18" charset="2"/>
              </a:rPr>
              <a:t>、文档准备程序包等</a:t>
            </a:r>
            <a:endParaRPr lang="zh-CN" altLang="en-US" strike="noStrike" noProof="1">
              <a:solidFill>
                <a:schemeClr val="tx1"/>
              </a:solidFill>
              <a:latin typeface="Times New Roman" panose="02020603050405020304" charset="0"/>
              <a:ea typeface="宋体"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3555"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16" name="矩形 24615"/>
          <p:cNvSpPr/>
          <p:nvPr/>
        </p:nvSpPr>
        <p:spPr>
          <a:xfrm>
            <a:off x="547370" y="837248"/>
            <a:ext cx="5418138" cy="4781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90000"/>
              </a:lnSpc>
              <a:buNone/>
            </a:pPr>
            <a:r>
              <a:rPr lang="en-US" altLang="zh-CN" sz="2800" b="1" strike="noStrike" noProof="1">
                <a:solidFill>
                  <a:srgbClr val="A50021"/>
                </a:solidFill>
                <a:latin typeface="Times New Roman" panose="02020603050405020304" charset="0"/>
                <a:ea typeface="宋体" pitchFamily="2" charset="-122"/>
                <a:cs typeface="+mn-ea"/>
              </a:rPr>
              <a:t>(2) Linux</a:t>
            </a:r>
            <a:r>
              <a:rPr lang="zh-CN" altLang="en-US" sz="2800" b="1" strike="noStrike" noProof="1">
                <a:solidFill>
                  <a:srgbClr val="A50021"/>
                </a:solidFill>
                <a:latin typeface="Times New Roman" panose="02020603050405020304" charset="0"/>
                <a:ea typeface="宋体" pitchFamily="2" charset="-122"/>
                <a:cs typeface="+mn-ea"/>
              </a:rPr>
              <a:t>系统的核心结构</a:t>
            </a:r>
            <a:endParaRPr lang="zh-CN" altLang="en-US" sz="2800" b="1" strike="noStrike" noProof="1">
              <a:solidFill>
                <a:srgbClr val="A50021"/>
              </a:solidFill>
              <a:latin typeface="Times New Roman" panose="02020603050405020304" charset="0"/>
              <a:ea typeface="宋体" pitchFamily="2" charset="-122"/>
            </a:endParaRPr>
          </a:p>
        </p:txBody>
      </p:sp>
      <p:sp>
        <p:nvSpPr>
          <p:cNvPr id="23559" name="矩形 2355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操作系统的结构</a:t>
            </a:r>
            <a:endParaRPr lang="zh-CN" altLang="en-US" sz="2400" strike="noStrike" noProof="1">
              <a:ea typeface="宋体" pitchFamily="2" charset="-122"/>
            </a:endParaRPr>
          </a:p>
        </p:txBody>
      </p:sp>
      <p:sp>
        <p:nvSpPr>
          <p:cNvPr id="23561" name="矩形 23560"/>
          <p:cNvSpPr/>
          <p:nvPr/>
        </p:nvSpPr>
        <p:spPr>
          <a:xfrm>
            <a:off x="476250" y="1942465"/>
            <a:ext cx="5723255" cy="156781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模块化：大模块、小模块；</a:t>
            </a:r>
            <a:endParaRPr lang="zh-CN" altLang="en-US" strike="noStrike" noProof="1">
              <a:solidFill>
                <a:schemeClr val="tx1"/>
              </a:solidFill>
              <a:latin typeface="Times New Roman" panose="02020603050405020304" charset="0"/>
              <a:ea typeface="宋体" pitchFamily="2" charset="-122"/>
              <a:cs typeface="+mn-cs"/>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cs typeface="+mn-cs"/>
              </a:rPr>
              <a:t>局部的层次化；</a:t>
            </a:r>
            <a:endParaRPr lang="zh-CN" altLang="en-US" strike="noStrike" noProof="1">
              <a:solidFill>
                <a:schemeClr val="tx1"/>
              </a:solidFill>
              <a:latin typeface="Times New Roman" panose="02020603050405020304" charset="0"/>
              <a:ea typeface="宋体" pitchFamily="2" charset="-122"/>
              <a:cs typeface="+mn-cs"/>
            </a:endParaRPr>
          </a:p>
          <a:p>
            <a:pPr marL="1295400" lvl="2" indent="-381000" fontAlgn="base">
              <a:lnSpc>
                <a:spcPct val="120000"/>
              </a:lnSpc>
              <a:spcBef>
                <a:spcPct val="20000"/>
              </a:spcBef>
            </a:pPr>
            <a:r>
              <a:rPr lang="zh-CN" altLang="en-US" strike="noStrike" noProof="1">
                <a:solidFill>
                  <a:schemeClr val="tx1"/>
                </a:solidFill>
                <a:latin typeface="Times New Roman" panose="02020603050405020304" charset="0"/>
                <a:ea typeface="宋体" pitchFamily="2" charset="-122"/>
                <a:sym typeface="Symbol" panose="05050102010706020507" pitchFamily="18" charset="2"/>
              </a:rPr>
              <a:t>微内核的趋势；</a:t>
            </a:r>
            <a:endParaRPr lang="zh-CN" altLang="en-US" strike="noStrike" noProof="1">
              <a:solidFill>
                <a:schemeClr val="tx1"/>
              </a:solidFill>
              <a:latin typeface="Times New Roman" panose="02020603050405020304" charset="0"/>
              <a:ea typeface="宋体"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461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timg"/>
          <p:cNvPicPr>
            <a:picLocks noChangeAspect="1"/>
          </p:cNvPicPr>
          <p:nvPr/>
        </p:nvPicPr>
        <p:blipFill>
          <a:blip r:embed="rId1"/>
          <a:stretch>
            <a:fillRect/>
          </a:stretch>
        </p:blipFill>
        <p:spPr>
          <a:xfrm>
            <a:off x="19050" y="7620"/>
            <a:ext cx="9088120" cy="68160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矩形 60417"/>
          <p:cNvSpPr/>
          <p:nvPr/>
        </p:nvSpPr>
        <p:spPr>
          <a:xfrm>
            <a:off x="768350" y="1752600"/>
            <a:ext cx="7421880" cy="4114800"/>
          </a:xfrm>
          <a:prstGeom prst="rect">
            <a:avLst/>
          </a:prstGeom>
          <a:noFill/>
          <a:ln w="9525">
            <a:noFill/>
            <a:miter/>
          </a:ln>
        </p:spPr>
        <p:txBody>
          <a:bodyPr anchor="t"/>
          <a:p>
            <a:pPr marL="342900" lvl="0" indent="-342900" algn="just">
              <a:spcBef>
                <a:spcPct val="20000"/>
              </a:spcBef>
              <a:buClr>
                <a:schemeClr val="tx2"/>
              </a:buClr>
              <a:buSzPct val="90000"/>
              <a:buFont typeface="Symbol" panose="05050102010706020507" pitchFamily="18" charset="2"/>
              <a:buNone/>
            </a:pPr>
            <a:r>
              <a:rPr lang="zh-CN" altLang="en-US">
                <a:solidFill>
                  <a:schemeClr val="tx1"/>
                </a:solidFill>
                <a:latin typeface="Times New Roman" panose="02020603050405020304" charset="0"/>
                <a:ea typeface="宋体" pitchFamily="2" charset="-122"/>
              </a:rPr>
              <a:t> </a:t>
            </a:r>
            <a:r>
              <a:rPr lang="en-US" altLang="zh-CN">
                <a:solidFill>
                  <a:schemeClr val="tx1"/>
                </a:solidFill>
                <a:latin typeface="Times New Roman" panose="02020603050405020304" charset="0"/>
                <a:ea typeface="宋体" pitchFamily="2" charset="-122"/>
              </a:rPr>
              <a:t>Windows </a:t>
            </a:r>
            <a:r>
              <a:rPr lang="x-none" altLang="en-US">
                <a:solidFill>
                  <a:schemeClr val="tx1"/>
                </a:solidFill>
                <a:latin typeface="Times New Roman" panose="02020603050405020304" charset="0"/>
                <a:ea typeface="宋体" pitchFamily="2" charset="-122"/>
              </a:rPr>
              <a:t>NT/</a:t>
            </a:r>
            <a:r>
              <a:rPr lang="en-US" altLang="zh-CN">
                <a:solidFill>
                  <a:schemeClr val="tx1"/>
                </a:solidFill>
                <a:latin typeface="Times New Roman" panose="02020603050405020304" charset="0"/>
                <a:ea typeface="宋体" pitchFamily="2" charset="-122"/>
              </a:rPr>
              <a:t>2000/XP</a:t>
            </a:r>
            <a:r>
              <a:rPr lang="zh-CN" altLang="en-US">
                <a:solidFill>
                  <a:schemeClr val="tx1"/>
                </a:solidFill>
                <a:latin typeface="Times New Roman" panose="02020603050405020304" charset="0"/>
                <a:ea typeface="宋体" pitchFamily="2" charset="-122"/>
              </a:rPr>
              <a:t>系统结构的设计目标：</a:t>
            </a:r>
            <a:endParaRPr lang="zh-CN" altLang="en-US">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a:solidFill>
                  <a:schemeClr val="tx1"/>
                </a:solidFill>
                <a:latin typeface="Times New Roman" panose="02020603050405020304" charset="0"/>
                <a:ea typeface="宋体" pitchFamily="2" charset="-122"/>
              </a:rPr>
              <a:t>     </a:t>
            </a:r>
            <a:r>
              <a:rPr lang="en-US" altLang="zh-CN" sz="3600">
                <a:solidFill>
                  <a:schemeClr val="tx1"/>
                </a:solidFill>
                <a:latin typeface="Times New Roman" panose="02020603050405020304" charset="0"/>
                <a:ea typeface="宋体" pitchFamily="2" charset="-122"/>
              </a:rPr>
              <a:t>1</a:t>
            </a:r>
            <a:r>
              <a:rPr lang="zh-CN" altLang="en-US" sz="3600">
                <a:solidFill>
                  <a:schemeClr val="tx1"/>
                </a:solidFill>
                <a:latin typeface="Times New Roman" panose="02020603050405020304" charset="0"/>
                <a:ea typeface="宋体" pitchFamily="2" charset="-122"/>
              </a:rPr>
              <a:t>）可扩充性：</a:t>
            </a:r>
            <a:endParaRPr lang="zh-CN" altLang="en-US" sz="360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a:solidFill>
                  <a:schemeClr val="tx1"/>
                </a:solidFill>
                <a:latin typeface="Times New Roman" panose="02020603050405020304" charset="0"/>
                <a:ea typeface="宋体" pitchFamily="2" charset="-122"/>
              </a:rPr>
              <a:t>     </a:t>
            </a:r>
            <a:r>
              <a:rPr lang="en-US" altLang="zh-CN" sz="3600">
                <a:solidFill>
                  <a:schemeClr val="tx1"/>
                </a:solidFill>
                <a:latin typeface="Times New Roman" panose="02020603050405020304" charset="0"/>
                <a:ea typeface="宋体" pitchFamily="2" charset="-122"/>
              </a:rPr>
              <a:t>2</a:t>
            </a:r>
            <a:r>
              <a:rPr lang="zh-CN" altLang="en-US" sz="3600">
                <a:solidFill>
                  <a:schemeClr val="tx1"/>
                </a:solidFill>
                <a:latin typeface="Times New Roman" panose="02020603050405020304" charset="0"/>
                <a:ea typeface="宋体" pitchFamily="2" charset="-122"/>
              </a:rPr>
              <a:t>）可移植性：</a:t>
            </a:r>
            <a:endParaRPr lang="zh-CN" altLang="en-US" sz="360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a:solidFill>
                  <a:schemeClr val="tx1"/>
                </a:solidFill>
                <a:latin typeface="Times New Roman" panose="02020603050405020304" charset="0"/>
                <a:ea typeface="宋体" pitchFamily="2" charset="-122"/>
              </a:rPr>
              <a:t>     </a:t>
            </a:r>
            <a:r>
              <a:rPr lang="en-US" altLang="zh-CN" sz="3600">
                <a:solidFill>
                  <a:schemeClr val="tx1"/>
                </a:solidFill>
                <a:latin typeface="Times New Roman" panose="02020603050405020304" charset="0"/>
                <a:ea typeface="宋体" pitchFamily="2" charset="-122"/>
              </a:rPr>
              <a:t>3</a:t>
            </a:r>
            <a:r>
              <a:rPr lang="zh-CN" altLang="en-US" sz="3600">
                <a:solidFill>
                  <a:schemeClr val="tx1"/>
                </a:solidFill>
                <a:latin typeface="Times New Roman" panose="02020603050405020304" charset="0"/>
                <a:ea typeface="宋体" pitchFamily="2" charset="-122"/>
              </a:rPr>
              <a:t>）可靠性与坚固性：</a:t>
            </a:r>
            <a:endParaRPr lang="zh-CN" altLang="en-US" sz="360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a:solidFill>
                  <a:schemeClr val="tx1"/>
                </a:solidFill>
                <a:latin typeface="Times New Roman" panose="02020603050405020304" charset="0"/>
                <a:ea typeface="宋体" pitchFamily="2" charset="-122"/>
              </a:rPr>
              <a:t>     </a:t>
            </a:r>
            <a:r>
              <a:rPr lang="en-US" altLang="zh-CN" sz="3600">
                <a:solidFill>
                  <a:schemeClr val="tx1"/>
                </a:solidFill>
                <a:latin typeface="Times New Roman" panose="02020603050405020304" charset="0"/>
                <a:ea typeface="宋体" pitchFamily="2" charset="-122"/>
              </a:rPr>
              <a:t>4</a:t>
            </a:r>
            <a:r>
              <a:rPr lang="zh-CN" altLang="en-US" sz="3600">
                <a:solidFill>
                  <a:schemeClr val="tx1"/>
                </a:solidFill>
                <a:latin typeface="Times New Roman" panose="02020603050405020304" charset="0"/>
                <a:ea typeface="宋体" pitchFamily="2" charset="-122"/>
              </a:rPr>
              <a:t>）兼容性：</a:t>
            </a:r>
            <a:endParaRPr lang="zh-CN" altLang="en-US" sz="360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r>
              <a:rPr lang="zh-CN" altLang="en-US" sz="3600">
                <a:solidFill>
                  <a:schemeClr val="tx1"/>
                </a:solidFill>
                <a:latin typeface="Times New Roman" panose="02020603050405020304" charset="0"/>
                <a:ea typeface="宋体" pitchFamily="2" charset="-122"/>
              </a:rPr>
              <a:t>     </a:t>
            </a:r>
            <a:r>
              <a:rPr lang="en-US" altLang="zh-CN" sz="3600">
                <a:solidFill>
                  <a:schemeClr val="tx1"/>
                </a:solidFill>
                <a:latin typeface="Times New Roman" panose="02020603050405020304" charset="0"/>
                <a:ea typeface="宋体" pitchFamily="2" charset="-122"/>
              </a:rPr>
              <a:t>5</a:t>
            </a:r>
            <a:r>
              <a:rPr lang="zh-CN" altLang="en-US" sz="3600">
                <a:solidFill>
                  <a:schemeClr val="tx1"/>
                </a:solidFill>
                <a:latin typeface="Times New Roman" panose="02020603050405020304" charset="0"/>
                <a:ea typeface="宋体" pitchFamily="2" charset="-122"/>
              </a:rPr>
              <a:t>）高性能：</a:t>
            </a:r>
            <a:endParaRPr lang="zh-CN" altLang="en-US" sz="3600">
              <a:solidFill>
                <a:schemeClr val="tx1"/>
              </a:solidFill>
              <a:latin typeface="Times New Roman" panose="02020603050405020304" charset="0"/>
              <a:ea typeface="宋体" pitchFamily="2" charset="-122"/>
            </a:endParaRPr>
          </a:p>
          <a:p>
            <a:pPr marL="342900" lvl="0" indent="-342900" algn="just">
              <a:spcBef>
                <a:spcPct val="20000"/>
              </a:spcBef>
              <a:buClr>
                <a:schemeClr val="tx2"/>
              </a:buClr>
              <a:buSzPct val="90000"/>
              <a:buFont typeface="Symbol" panose="05050102010706020507" pitchFamily="18" charset="2"/>
              <a:buNone/>
            </a:pPr>
            <a:endParaRPr lang="zh-CN" altLang="en-US" sz="3600">
              <a:solidFill>
                <a:schemeClr val="tx1"/>
              </a:solidFill>
              <a:latin typeface="Times New Roman" panose="02020603050405020304" charset="0"/>
              <a:ea typeface="宋体" pitchFamily="2" charset="-122"/>
            </a:endParaRPr>
          </a:p>
        </p:txBody>
      </p:sp>
      <p:sp>
        <p:nvSpPr>
          <p:cNvPr id="60419" name="矩形 60418"/>
          <p:cNvSpPr/>
          <p:nvPr/>
        </p:nvSpPr>
        <p:spPr>
          <a:xfrm>
            <a:off x="925513" y="709613"/>
            <a:ext cx="6858000" cy="725488"/>
          </a:xfrm>
          <a:prstGeom prst="rect">
            <a:avLst/>
          </a:prstGeom>
          <a:noFill/>
          <a:ln w="9525">
            <a:noFill/>
          </a:ln>
        </p:spPr>
        <p:txBody>
          <a:bodyPr>
            <a:spAutoFit/>
          </a:bodyPr>
          <a:p>
            <a:pPr lvl="0" algn="l" fontAlgn="base">
              <a:lnSpc>
                <a:spcPct val="130000"/>
              </a:lnSpc>
              <a:spcBef>
                <a:spcPct val="30000"/>
              </a:spcBef>
              <a:buClr>
                <a:schemeClr val="tx2"/>
              </a:buClr>
              <a:buSzPct val="95000"/>
              <a:buFont typeface="Wingdings" panose="05000000000000000000" pitchFamily="2" charset="2"/>
              <a:buNone/>
            </a:pPr>
            <a:r>
              <a:rPr lang="en-US" altLang="zh-CN" sz="3200" b="1" strike="noStrike" noProof="1">
                <a:solidFill>
                  <a:srgbClr val="A50021"/>
                </a:solidFill>
                <a:effectLst>
                  <a:outerShdw blurRad="38100" dist="38100" dir="2700000">
                    <a:srgbClr val="000000"/>
                  </a:outerShdw>
                </a:effectLst>
                <a:latin typeface="Arial" panose="020B0604020202020204" pitchFamily="34" charset="0"/>
                <a:ea typeface="宋体" pitchFamily="2" charset="-122"/>
                <a:cs typeface="+mn-ea"/>
              </a:rPr>
              <a:t>(3) Windows</a:t>
            </a:r>
            <a:r>
              <a:rPr lang="zh-CN" altLang="en-US" sz="3200" b="1" strike="noStrike" noProof="1" dirty="0">
                <a:solidFill>
                  <a:srgbClr val="A50021"/>
                </a:solidFill>
                <a:effectLst>
                  <a:outerShdw blurRad="38100" dist="38100" dir="2700000">
                    <a:srgbClr val="000000"/>
                  </a:outerShdw>
                </a:effectLst>
                <a:latin typeface="Arial" panose="020B0604020202020204" pitchFamily="34" charset="0"/>
                <a:ea typeface="宋体" pitchFamily="2" charset="-122"/>
                <a:cs typeface="+mn-ea"/>
              </a:rPr>
              <a:t>操作系统的结构</a:t>
            </a:r>
            <a:endParaRPr lang="zh-CN" altLang="en-US" sz="3200" b="1" strike="noStrike" noProof="1" dirty="0">
              <a:solidFill>
                <a:srgbClr val="A50021"/>
              </a:solidFill>
              <a:effectLst>
                <a:outerShdw blurRad="38100" dist="38100" dir="2700000">
                  <a:srgbClr val="000000"/>
                </a:outerShdw>
              </a:effectLst>
              <a:latin typeface="Arial" panose="020B0604020202020204" pitchFamily="34" charset="0"/>
              <a:ea typeface="宋体" pitchFamily="2" charset="-122"/>
            </a:endParaRPr>
          </a:p>
        </p:txBody>
      </p:sp>
      <p:sp>
        <p:nvSpPr>
          <p:cNvPr id="29699" name="文本框 6041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a:t>
            </a:r>
            <a:r>
              <a:rPr lang="en-US" altLang="zh-CN" sz="1400" b="0">
                <a:solidFill>
                  <a:schemeClr val="tx2"/>
                </a:solidFill>
                <a:latin typeface="Times New Roman" panose="02020603050405020304" charset="0"/>
                <a:ea typeface="宋体" pitchFamily="2" charset="-122"/>
              </a:rPr>
              <a:t>6</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矩形 61441"/>
          <p:cNvSpPr/>
          <p:nvPr/>
        </p:nvSpPr>
        <p:spPr>
          <a:xfrm>
            <a:off x="1143000" y="1143000"/>
            <a:ext cx="7620000" cy="4800600"/>
          </a:xfrm>
          <a:prstGeom prst="rect">
            <a:avLst/>
          </a:prstGeom>
          <a:noFill/>
          <a:ln w="9525">
            <a:noFill/>
            <a:miter/>
          </a:ln>
        </p:spPr>
        <p:txBody>
          <a:bodyPr anchor="t"/>
          <a:p>
            <a:pPr marL="342900" lvl="0" indent="-342900">
              <a:spcBef>
                <a:spcPct val="20000"/>
              </a:spcBef>
              <a:buClr>
                <a:schemeClr val="tx2"/>
              </a:buClr>
              <a:buSzPct val="90000"/>
              <a:buFont typeface="Symbol" panose="05050102010706020507" pitchFamily="18" charset="2"/>
              <a:buChar char="¨"/>
            </a:pPr>
            <a:r>
              <a:rPr lang="zh-CN" altLang="en-US">
                <a:solidFill>
                  <a:schemeClr val="tx1"/>
                </a:solidFill>
                <a:latin typeface="宋体" pitchFamily="2" charset="-122"/>
                <a:ea typeface="宋体" pitchFamily="2" charset="-122"/>
              </a:rPr>
              <a:t>采用基于对象技术，提出了一种</a:t>
            </a:r>
            <a:r>
              <a:rPr lang="en-US" altLang="zh-CN">
                <a:solidFill>
                  <a:schemeClr val="tx1"/>
                </a:solidFill>
                <a:latin typeface="宋体" pitchFamily="2" charset="-122"/>
                <a:ea typeface="宋体" pitchFamily="2" charset="-122"/>
              </a:rPr>
              <a:t>C/S</a:t>
            </a:r>
            <a:r>
              <a:rPr lang="zh-CN" altLang="en-US">
                <a:solidFill>
                  <a:schemeClr val="tx1"/>
                </a:solidFill>
                <a:latin typeface="宋体" pitchFamily="2" charset="-122"/>
                <a:ea typeface="宋体" pitchFamily="2" charset="-122"/>
              </a:rPr>
              <a:t>系统结构，该结构在纯微内核结构的基础上做了扩展，融合了层次式结构和纯微内核结构的特点。</a:t>
            </a:r>
            <a:endParaRPr lang="zh-CN" altLang="en-US">
              <a:solidFill>
                <a:schemeClr val="tx1"/>
              </a:solidFill>
              <a:latin typeface="宋体" pitchFamily="2" charset="-122"/>
              <a:ea typeface="宋体" pitchFamily="2" charset="-122"/>
            </a:endParaRPr>
          </a:p>
          <a:p>
            <a:pPr marL="342900" lvl="0" indent="-342900">
              <a:spcBef>
                <a:spcPct val="20000"/>
              </a:spcBef>
              <a:buClr>
                <a:schemeClr val="tx2"/>
              </a:buClr>
              <a:buSzPct val="90000"/>
              <a:buFont typeface="Symbol" panose="05050102010706020507" pitchFamily="18" charset="2"/>
              <a:buChar char="¨"/>
            </a:pPr>
            <a:r>
              <a:rPr lang="zh-CN" altLang="en-US">
                <a:solidFill>
                  <a:schemeClr val="tx1"/>
                </a:solidFill>
                <a:latin typeface="宋体" pitchFamily="2" charset="-122"/>
                <a:ea typeface="宋体" pitchFamily="2" charset="-122"/>
              </a:rPr>
              <a:t>对操作系统性能影响很大的组件放在内核下运行，其他功能则在内核外实现。</a:t>
            </a:r>
            <a:endParaRPr lang="zh-CN" altLang="en-US">
              <a:solidFill>
                <a:schemeClr val="tx1"/>
              </a:solidFill>
              <a:latin typeface="宋体" pitchFamily="2" charset="-122"/>
              <a:ea typeface="宋体" pitchFamily="2" charset="-122"/>
            </a:endParaRPr>
          </a:p>
          <a:p>
            <a:pPr marL="342900" lvl="0" indent="-342900">
              <a:spcBef>
                <a:spcPct val="20000"/>
              </a:spcBef>
              <a:buClr>
                <a:schemeClr val="tx2"/>
              </a:buClr>
              <a:buSzPct val="90000"/>
              <a:buFont typeface="Symbol" panose="05050102010706020507" pitchFamily="18" charset="2"/>
              <a:buChar char="¨"/>
            </a:pPr>
            <a:r>
              <a:rPr lang="zh-CN" altLang="en-US">
                <a:solidFill>
                  <a:schemeClr val="tx1"/>
                </a:solidFill>
                <a:latin typeface="宋体" pitchFamily="2" charset="-122"/>
                <a:ea typeface="宋体" pitchFamily="2" charset="-122"/>
              </a:rPr>
              <a:t>主要优点是模块化程度高、灵活性大、便于维护、系统性能好。</a:t>
            </a:r>
            <a:r>
              <a:rPr lang="zh-CN" altLang="en-US">
                <a:solidFill>
                  <a:schemeClr val="tx1"/>
                </a:solidFill>
                <a:latin typeface="Times New Roman" panose="02020603050405020304" charset="0"/>
                <a:ea typeface="宋体" pitchFamily="2" charset="-122"/>
              </a:rPr>
              <a:t> </a:t>
            </a:r>
            <a:endParaRPr lang="zh-CN" altLang="en-US">
              <a:solidFill>
                <a:schemeClr val="tx1"/>
              </a:solidFill>
              <a:latin typeface="Times New Roman" panose="02020603050405020304" charset="0"/>
              <a:ea typeface="宋体" pitchFamily="2" charset="-122"/>
            </a:endParaRPr>
          </a:p>
          <a:p>
            <a:pPr marL="342900" lvl="0" indent="-342900">
              <a:spcBef>
                <a:spcPct val="20000"/>
              </a:spcBef>
              <a:buClr>
                <a:schemeClr val="tx2"/>
              </a:buClr>
              <a:buSzPct val="90000"/>
              <a:buFont typeface="Symbol" panose="05050102010706020507" pitchFamily="18" charset="2"/>
              <a:buChar char="¨"/>
            </a:pPr>
            <a:endParaRPr lang="zh-CN" altLang="en-US">
              <a:solidFill>
                <a:schemeClr val="tx1"/>
              </a:solidFill>
              <a:latin typeface="Times New Roman" panose="02020603050405020304" charset="0"/>
              <a:ea typeface="宋体" pitchFamily="2" charset="-122"/>
            </a:endParaRPr>
          </a:p>
          <a:p>
            <a:pPr marL="342900" lvl="0" indent="-342900">
              <a:spcBef>
                <a:spcPct val="20000"/>
              </a:spcBef>
              <a:buClr>
                <a:schemeClr val="tx2"/>
              </a:buClr>
              <a:buSzPct val="90000"/>
              <a:buFont typeface="Symbol" panose="05050102010706020507" pitchFamily="18" charset="2"/>
              <a:buChar char="¨"/>
            </a:pPr>
            <a:endParaRPr lang="zh-CN" altLang="en-US">
              <a:solidFill>
                <a:schemeClr val="tx1"/>
              </a:solidFill>
              <a:latin typeface="Times New Roman" panose="02020603050405020304" charset="0"/>
              <a:ea typeface="宋体" pitchFamily="2" charset="-122"/>
            </a:endParaRPr>
          </a:p>
        </p:txBody>
      </p:sp>
      <p:sp>
        <p:nvSpPr>
          <p:cNvPr id="30722" name="文本框 61442"/>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a:t>
            </a:r>
            <a:r>
              <a:rPr lang="en-US" altLang="zh-CN" sz="1400" b="0">
                <a:solidFill>
                  <a:schemeClr val="tx2"/>
                </a:solidFill>
                <a:latin typeface="Times New Roman" panose="02020603050405020304" charset="0"/>
                <a:ea typeface="宋体" pitchFamily="2" charset="-122"/>
              </a:rPr>
              <a:t>7</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grpSp>
        <p:nvGrpSpPr>
          <p:cNvPr id="31745" name="组合 62465"/>
          <p:cNvGrpSpPr/>
          <p:nvPr/>
        </p:nvGrpSpPr>
        <p:grpSpPr>
          <a:xfrm>
            <a:off x="1367790" y="1623060"/>
            <a:ext cx="6206490" cy="4267200"/>
            <a:chOff x="0" y="0"/>
            <a:chExt cx="3552" cy="2688"/>
          </a:xfrm>
        </p:grpSpPr>
        <p:sp>
          <p:nvSpPr>
            <p:cNvPr id="31746" name="文本框 62466"/>
            <p:cNvSpPr txBox="1"/>
            <p:nvPr/>
          </p:nvSpPr>
          <p:spPr>
            <a:xfrm>
              <a:off x="34" y="0"/>
              <a:ext cx="609" cy="551"/>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800" b="0">
                  <a:solidFill>
                    <a:srgbClr val="CC00FF"/>
                  </a:solidFill>
                  <a:latin typeface="Times New Roman" panose="02020603050405020304" charset="0"/>
                  <a:ea typeface="宋体" pitchFamily="2" charset="-122"/>
                </a:rPr>
                <a:t>系统进程</a:t>
              </a:r>
              <a:endParaRPr lang="zh-CN" altLang="en-US" sz="1800" b="0">
                <a:solidFill>
                  <a:srgbClr val="CC00FF"/>
                </a:solidFill>
                <a:latin typeface="Times New Roman" panose="02020603050405020304" charset="0"/>
                <a:ea typeface="宋体" pitchFamily="2" charset="-122"/>
              </a:endParaRPr>
            </a:p>
          </p:txBody>
        </p:sp>
        <p:sp>
          <p:nvSpPr>
            <p:cNvPr id="31747" name="文本框 62467"/>
            <p:cNvSpPr txBox="1"/>
            <p:nvPr/>
          </p:nvSpPr>
          <p:spPr>
            <a:xfrm>
              <a:off x="812" y="0"/>
              <a:ext cx="609" cy="54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800" b="0">
                  <a:solidFill>
                    <a:srgbClr val="CC00FF"/>
                  </a:solidFill>
                  <a:latin typeface="Times New Roman" panose="02020603050405020304" charset="0"/>
                  <a:ea typeface="宋体" pitchFamily="2" charset="-122"/>
                </a:rPr>
                <a:t>服务进程</a:t>
              </a:r>
              <a:endParaRPr lang="zh-CN" altLang="en-US" sz="1800" b="0">
                <a:solidFill>
                  <a:srgbClr val="CC00FF"/>
                </a:solidFill>
                <a:latin typeface="Times New Roman" panose="02020603050405020304" charset="0"/>
                <a:ea typeface="宋体" pitchFamily="2" charset="-122"/>
              </a:endParaRPr>
            </a:p>
          </p:txBody>
        </p:sp>
        <p:sp>
          <p:nvSpPr>
            <p:cNvPr id="31748" name="文本框 62468"/>
            <p:cNvSpPr txBox="1"/>
            <p:nvPr/>
          </p:nvSpPr>
          <p:spPr>
            <a:xfrm>
              <a:off x="1522" y="0"/>
              <a:ext cx="609" cy="54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800" b="0">
                  <a:solidFill>
                    <a:srgbClr val="CC00FF"/>
                  </a:solidFill>
                  <a:latin typeface="Times New Roman" panose="02020603050405020304" charset="0"/>
                  <a:ea typeface="宋体" pitchFamily="2" charset="-122"/>
                </a:rPr>
                <a:t>应用程序</a:t>
              </a:r>
              <a:endParaRPr lang="zh-CN" altLang="en-US" sz="1800" b="0">
                <a:solidFill>
                  <a:srgbClr val="CC00FF"/>
                </a:solidFill>
                <a:latin typeface="Times New Roman" panose="02020603050405020304" charset="0"/>
                <a:ea typeface="宋体" pitchFamily="2" charset="-122"/>
              </a:endParaRPr>
            </a:p>
          </p:txBody>
        </p:sp>
        <p:sp>
          <p:nvSpPr>
            <p:cNvPr id="31749" name="文本框 62469"/>
            <p:cNvSpPr txBox="1"/>
            <p:nvPr/>
          </p:nvSpPr>
          <p:spPr>
            <a:xfrm>
              <a:off x="2233" y="0"/>
              <a:ext cx="710" cy="551"/>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800" b="0">
                  <a:solidFill>
                    <a:srgbClr val="CC00FF"/>
                  </a:solidFill>
                  <a:latin typeface="Times New Roman" panose="02020603050405020304" charset="0"/>
                  <a:ea typeface="宋体" pitchFamily="2" charset="-122"/>
                </a:rPr>
                <a:t>环境子系统</a:t>
              </a:r>
              <a:endParaRPr lang="zh-CN" altLang="en-US" sz="1800" b="0">
                <a:solidFill>
                  <a:srgbClr val="CC00FF"/>
                </a:solidFill>
                <a:latin typeface="Times New Roman" panose="02020603050405020304" charset="0"/>
                <a:ea typeface="宋体" pitchFamily="2" charset="-122"/>
              </a:endParaRPr>
            </a:p>
          </p:txBody>
        </p:sp>
        <p:sp>
          <p:nvSpPr>
            <p:cNvPr id="31750" name="文本框 62470"/>
            <p:cNvSpPr txBox="1"/>
            <p:nvPr/>
          </p:nvSpPr>
          <p:spPr>
            <a:xfrm>
              <a:off x="575" y="758"/>
              <a:ext cx="1759" cy="345"/>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400" b="0">
                  <a:solidFill>
                    <a:srgbClr val="CC00FF"/>
                  </a:solidFill>
                  <a:latin typeface="Times New Roman" panose="02020603050405020304" charset="0"/>
                  <a:ea typeface="宋体" pitchFamily="2" charset="-122"/>
                </a:rPr>
                <a:t>          </a:t>
              </a:r>
              <a:r>
                <a:rPr lang="zh-CN" altLang="en-US" sz="1800" b="0">
                  <a:solidFill>
                    <a:srgbClr val="CC00FF"/>
                  </a:solidFill>
                  <a:latin typeface="Times New Roman" panose="02020603050405020304" charset="0"/>
                  <a:ea typeface="宋体" pitchFamily="2" charset="-122"/>
                </a:rPr>
                <a:t>子系统动态链接库</a:t>
              </a:r>
              <a:endParaRPr lang="zh-CN" altLang="en-US" sz="1800" b="0">
                <a:solidFill>
                  <a:srgbClr val="CC00FF"/>
                </a:solidFill>
                <a:latin typeface="Times New Roman" panose="02020603050405020304" charset="0"/>
                <a:ea typeface="宋体" pitchFamily="2" charset="-122"/>
              </a:endParaRPr>
            </a:p>
          </p:txBody>
        </p:sp>
        <p:sp>
          <p:nvSpPr>
            <p:cNvPr id="31751" name="直接连接符 62471"/>
            <p:cNvSpPr/>
            <p:nvPr/>
          </p:nvSpPr>
          <p:spPr>
            <a:xfrm>
              <a:off x="1725" y="551"/>
              <a:ext cx="0" cy="207"/>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1752" name="直接连接符 62472"/>
            <p:cNvSpPr/>
            <p:nvPr/>
          </p:nvSpPr>
          <p:spPr>
            <a:xfrm>
              <a:off x="1049" y="1130"/>
              <a:ext cx="0" cy="180"/>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1753" name="直接连接符 62473"/>
            <p:cNvSpPr/>
            <p:nvPr/>
          </p:nvSpPr>
          <p:spPr>
            <a:xfrm>
              <a:off x="1793" y="1130"/>
              <a:ext cx="0" cy="180"/>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1754" name="直接连接符 62474"/>
            <p:cNvSpPr/>
            <p:nvPr/>
          </p:nvSpPr>
          <p:spPr>
            <a:xfrm>
              <a:off x="0" y="1310"/>
              <a:ext cx="3552" cy="0"/>
            </a:xfrm>
            <a:prstGeom prst="line">
              <a:avLst/>
            </a:prstGeom>
            <a:ln w="2857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1755" name="直接连接符 62475"/>
            <p:cNvSpPr/>
            <p:nvPr/>
          </p:nvSpPr>
          <p:spPr>
            <a:xfrm>
              <a:off x="304" y="551"/>
              <a:ext cx="0" cy="759"/>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1756" name="直接连接符 62476"/>
            <p:cNvSpPr/>
            <p:nvPr/>
          </p:nvSpPr>
          <p:spPr>
            <a:xfrm>
              <a:off x="2537" y="551"/>
              <a:ext cx="0" cy="759"/>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1757" name="文本框 62477"/>
            <p:cNvSpPr txBox="1"/>
            <p:nvPr/>
          </p:nvSpPr>
          <p:spPr>
            <a:xfrm>
              <a:off x="2842" y="965"/>
              <a:ext cx="710" cy="268"/>
            </a:xfrm>
            <a:prstGeom prst="rect">
              <a:avLst/>
            </a:prstGeom>
            <a:solidFill>
              <a:srgbClr val="FFFFFF"/>
            </a:solidFill>
            <a:ln w="9525" cap="flat" cmpd="sng">
              <a:solidFill>
                <a:srgbClr val="FFFFFF"/>
              </a:solidFill>
              <a:prstDash val="solid"/>
              <a:miter/>
              <a:headEnd type="none" w="med" len="med"/>
              <a:tailEnd type="none" w="med" len="med"/>
            </a:ln>
          </p:spPr>
          <p:txBody>
            <a:bodyPr anchor="t"/>
            <a:p>
              <a:pPr lvl="0" eaLnBrk="0" hangingPunct="0"/>
              <a:r>
                <a:rPr lang="zh-CN" altLang="en-US" sz="1800" b="0">
                  <a:solidFill>
                    <a:srgbClr val="CC00FF"/>
                  </a:solidFill>
                  <a:latin typeface="Times New Roman" panose="02020603050405020304" charset="0"/>
                  <a:ea typeface="宋体" pitchFamily="2" charset="-122"/>
                </a:rPr>
                <a:t>用户态</a:t>
              </a:r>
              <a:endParaRPr lang="zh-CN" altLang="en-US" sz="1800" b="0">
                <a:solidFill>
                  <a:srgbClr val="CC00FF"/>
                </a:solidFill>
                <a:latin typeface="Times New Roman" panose="02020603050405020304" charset="0"/>
                <a:ea typeface="宋体" pitchFamily="2" charset="-122"/>
              </a:endParaRPr>
            </a:p>
          </p:txBody>
        </p:sp>
        <p:sp>
          <p:nvSpPr>
            <p:cNvPr id="31758" name="文本框 62478"/>
            <p:cNvSpPr txBox="1"/>
            <p:nvPr/>
          </p:nvSpPr>
          <p:spPr>
            <a:xfrm>
              <a:off x="2808" y="1378"/>
              <a:ext cx="676" cy="345"/>
            </a:xfrm>
            <a:prstGeom prst="rect">
              <a:avLst/>
            </a:prstGeom>
            <a:solidFill>
              <a:srgbClr val="FFFFFF"/>
            </a:solidFill>
            <a:ln w="9525" cap="flat" cmpd="sng">
              <a:solidFill>
                <a:srgbClr val="FFFFFF"/>
              </a:solidFill>
              <a:prstDash val="solid"/>
              <a:miter/>
              <a:headEnd type="none" w="med" len="med"/>
              <a:tailEnd type="none" w="med" len="med"/>
            </a:ln>
          </p:spPr>
          <p:txBody>
            <a:bodyPr anchor="t"/>
            <a:p>
              <a:pPr lvl="0" eaLnBrk="0" hangingPunct="0"/>
              <a:r>
                <a:rPr lang="zh-CN" altLang="en-US" sz="1800" b="0">
                  <a:solidFill>
                    <a:srgbClr val="CC00FF"/>
                  </a:solidFill>
                  <a:latin typeface="Times New Roman" panose="02020603050405020304" charset="0"/>
                  <a:ea typeface="宋体" pitchFamily="2" charset="-122"/>
                </a:rPr>
                <a:t>核心态</a:t>
              </a:r>
              <a:endParaRPr lang="zh-CN" altLang="en-US" sz="1800" b="0">
                <a:solidFill>
                  <a:srgbClr val="CC00FF"/>
                </a:solidFill>
                <a:latin typeface="Times New Roman" panose="02020603050405020304" charset="0"/>
                <a:ea typeface="宋体" pitchFamily="2" charset="-122"/>
              </a:endParaRPr>
            </a:p>
          </p:txBody>
        </p:sp>
        <p:sp>
          <p:nvSpPr>
            <p:cNvPr id="31759" name="文本框 62479"/>
            <p:cNvSpPr txBox="1"/>
            <p:nvPr/>
          </p:nvSpPr>
          <p:spPr>
            <a:xfrm>
              <a:off x="34" y="1585"/>
              <a:ext cx="1759" cy="1103"/>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400" b="0">
                  <a:solidFill>
                    <a:srgbClr val="CC00FF"/>
                  </a:solidFill>
                  <a:latin typeface="Times New Roman" panose="02020603050405020304" charset="0"/>
                  <a:ea typeface="宋体" pitchFamily="2" charset="-122"/>
                </a:rPr>
                <a:t>          </a:t>
              </a:r>
              <a:endParaRPr lang="zh-CN" altLang="en-US" sz="1400" b="0">
                <a:solidFill>
                  <a:srgbClr val="CC00FF"/>
                </a:solidFill>
                <a:latin typeface="Times New Roman" panose="02020603050405020304" charset="0"/>
                <a:ea typeface="宋体" pitchFamily="2" charset="-122"/>
              </a:endParaRPr>
            </a:p>
            <a:p>
              <a:pPr lvl="0" eaLnBrk="0" hangingPunct="0"/>
              <a:r>
                <a:rPr lang="zh-CN" altLang="en-US" sz="1400" b="0">
                  <a:solidFill>
                    <a:srgbClr val="CC00FF"/>
                  </a:solidFill>
                  <a:latin typeface="Times New Roman" panose="02020603050405020304" charset="0"/>
                  <a:ea typeface="宋体" pitchFamily="2" charset="-122"/>
                </a:rPr>
                <a:t>                     </a:t>
              </a:r>
              <a:r>
                <a:rPr lang="zh-CN" altLang="en-US" sz="1800" b="0">
                  <a:solidFill>
                    <a:srgbClr val="CC00FF"/>
                  </a:solidFill>
                  <a:latin typeface="Times New Roman" panose="02020603050405020304" charset="0"/>
                  <a:ea typeface="宋体" pitchFamily="2" charset="-122"/>
                </a:rPr>
                <a:t>执行体</a:t>
              </a:r>
              <a:endParaRPr lang="zh-CN" altLang="en-US" sz="1800" b="0">
                <a:solidFill>
                  <a:srgbClr val="CC00FF"/>
                </a:solidFill>
                <a:latin typeface="Times New Roman" panose="02020603050405020304" charset="0"/>
                <a:ea typeface="宋体" pitchFamily="2" charset="-122"/>
              </a:endParaRPr>
            </a:p>
            <a:p>
              <a:pPr lvl="0" eaLnBrk="0" hangingPunct="0"/>
              <a:endParaRPr lang="zh-CN" altLang="en-US" sz="1800" b="0">
                <a:solidFill>
                  <a:srgbClr val="CC00FF"/>
                </a:solidFill>
                <a:latin typeface="Times New Roman" panose="02020603050405020304" charset="0"/>
                <a:ea typeface="宋体" pitchFamily="2" charset="-122"/>
              </a:endParaRPr>
            </a:p>
            <a:p>
              <a:pPr lvl="0" eaLnBrk="0" hangingPunct="0"/>
              <a:r>
                <a:rPr lang="zh-CN" altLang="en-US" sz="1400" b="0">
                  <a:solidFill>
                    <a:srgbClr val="CC00FF"/>
                  </a:solidFill>
                  <a:latin typeface="Times New Roman" panose="02020603050405020304" charset="0"/>
                  <a:ea typeface="宋体" pitchFamily="2" charset="-122"/>
                </a:rPr>
                <a:t>  核心                    设备驱动程序</a:t>
              </a:r>
              <a:endParaRPr lang="zh-CN" altLang="en-US" sz="1400" b="0">
                <a:solidFill>
                  <a:srgbClr val="CC00FF"/>
                </a:solidFill>
                <a:latin typeface="Times New Roman" panose="02020603050405020304" charset="0"/>
                <a:ea typeface="宋体" pitchFamily="2" charset="-122"/>
              </a:endParaRPr>
            </a:p>
            <a:p>
              <a:pPr lvl="0" eaLnBrk="0" hangingPunct="0"/>
              <a:endParaRPr lang="zh-CN" altLang="en-US" sz="1400" b="0">
                <a:solidFill>
                  <a:srgbClr val="CC00FF"/>
                </a:solidFill>
                <a:latin typeface="Times New Roman" panose="02020603050405020304" charset="0"/>
                <a:ea typeface="宋体" pitchFamily="2" charset="-122"/>
              </a:endParaRPr>
            </a:p>
            <a:p>
              <a:pPr lvl="0" eaLnBrk="0" hangingPunct="0"/>
              <a:r>
                <a:rPr lang="zh-CN" altLang="en-US" sz="1400" b="0">
                  <a:solidFill>
                    <a:srgbClr val="CC00FF"/>
                  </a:solidFill>
                  <a:latin typeface="Times New Roman" panose="02020603050405020304" charset="0"/>
                  <a:ea typeface="宋体" pitchFamily="2" charset="-122"/>
                </a:rPr>
                <a:t>                </a:t>
              </a:r>
              <a:r>
                <a:rPr lang="zh-CN" altLang="en-US" sz="1800" b="0">
                  <a:solidFill>
                    <a:srgbClr val="CC00FF"/>
                  </a:solidFill>
                  <a:latin typeface="Times New Roman" panose="02020603050405020304" charset="0"/>
                  <a:ea typeface="宋体" pitchFamily="2" charset="-122"/>
                </a:rPr>
                <a:t>硬件抽象层</a:t>
              </a:r>
              <a:endParaRPr lang="zh-CN" altLang="en-US" sz="1800" b="0">
                <a:solidFill>
                  <a:srgbClr val="CC00FF"/>
                </a:solidFill>
                <a:latin typeface="Times New Roman" panose="02020603050405020304" charset="0"/>
                <a:ea typeface="宋体" pitchFamily="2" charset="-122"/>
              </a:endParaRPr>
            </a:p>
          </p:txBody>
        </p:sp>
        <p:sp>
          <p:nvSpPr>
            <p:cNvPr id="31760" name="直接连接符 62480"/>
            <p:cNvSpPr/>
            <p:nvPr/>
          </p:nvSpPr>
          <p:spPr>
            <a:xfrm>
              <a:off x="34" y="1999"/>
              <a:ext cx="175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1761" name="直接连接符 62481"/>
            <p:cNvSpPr/>
            <p:nvPr/>
          </p:nvSpPr>
          <p:spPr>
            <a:xfrm>
              <a:off x="34" y="2274"/>
              <a:ext cx="1759"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1762" name="直接连接符 62482"/>
            <p:cNvSpPr/>
            <p:nvPr/>
          </p:nvSpPr>
          <p:spPr>
            <a:xfrm>
              <a:off x="575" y="2006"/>
              <a:ext cx="0" cy="26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1763" name="文本框 62483"/>
            <p:cNvSpPr txBox="1"/>
            <p:nvPr/>
          </p:nvSpPr>
          <p:spPr>
            <a:xfrm>
              <a:off x="1996" y="1826"/>
              <a:ext cx="609" cy="51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zh-CN" altLang="en-US" sz="1800" b="0">
                  <a:solidFill>
                    <a:srgbClr val="CC00FF"/>
                  </a:solidFill>
                  <a:latin typeface="Times New Roman" panose="02020603050405020304" charset="0"/>
                  <a:ea typeface="宋体" pitchFamily="2" charset="-122"/>
                </a:rPr>
                <a:t>图形</a:t>
              </a:r>
              <a:endParaRPr lang="zh-CN" altLang="en-US" sz="1800" b="0">
                <a:solidFill>
                  <a:srgbClr val="CC00FF"/>
                </a:solidFill>
                <a:latin typeface="Times New Roman" panose="02020603050405020304" charset="0"/>
                <a:ea typeface="宋体" pitchFamily="2" charset="-122"/>
              </a:endParaRPr>
            </a:p>
            <a:p>
              <a:pPr lvl="0" eaLnBrk="0" hangingPunct="0"/>
              <a:r>
                <a:rPr lang="zh-CN" altLang="en-US" sz="1800" b="0">
                  <a:solidFill>
                    <a:srgbClr val="CC00FF"/>
                  </a:solidFill>
                  <a:latin typeface="Times New Roman" panose="02020603050405020304" charset="0"/>
                  <a:ea typeface="宋体" pitchFamily="2" charset="-122"/>
                </a:rPr>
                <a:t>引擎</a:t>
              </a:r>
              <a:endParaRPr lang="zh-CN" altLang="en-US" sz="1800" b="0">
                <a:solidFill>
                  <a:srgbClr val="CC00FF"/>
                </a:solidFill>
                <a:latin typeface="Times New Roman" panose="02020603050405020304" charset="0"/>
                <a:ea typeface="宋体" pitchFamily="2" charset="-122"/>
              </a:endParaRPr>
            </a:p>
          </p:txBody>
        </p:sp>
        <p:sp>
          <p:nvSpPr>
            <p:cNvPr id="31764" name="直接连接符 62484"/>
            <p:cNvSpPr/>
            <p:nvPr/>
          </p:nvSpPr>
          <p:spPr>
            <a:xfrm>
              <a:off x="1116" y="551"/>
              <a:ext cx="0" cy="207"/>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grpSp>
      <p:sp>
        <p:nvSpPr>
          <p:cNvPr id="31765" name="矩形 62485"/>
          <p:cNvSpPr/>
          <p:nvPr/>
        </p:nvSpPr>
        <p:spPr>
          <a:xfrm>
            <a:off x="457200" y="514350"/>
            <a:ext cx="8093075" cy="730885"/>
          </a:xfrm>
          <a:prstGeom prst="rect">
            <a:avLst/>
          </a:prstGeom>
          <a:noFill/>
          <a:ln w="9525">
            <a:noFill/>
            <a:miter/>
          </a:ln>
        </p:spPr>
        <p:txBody>
          <a:bodyPr wrap="square" anchor="t">
            <a:spAutoFit/>
          </a:bodyPr>
          <a:p>
            <a:pPr lvl="0" algn="l">
              <a:lnSpc>
                <a:spcPct val="130000"/>
              </a:lnSpc>
              <a:spcBef>
                <a:spcPct val="30000"/>
              </a:spcBef>
              <a:buClr>
                <a:schemeClr val="tx2"/>
              </a:buClr>
              <a:buSzPct val="95000"/>
              <a:buFont typeface="Wingdings" panose="05000000000000000000" pitchFamily="2" charset="2"/>
            </a:pPr>
            <a:r>
              <a:rPr lang="zh-CN" altLang="en-US" sz="3200" dirty="0">
                <a:solidFill>
                  <a:srgbClr val="A50021"/>
                </a:solidFill>
                <a:effectLst>
                  <a:outerShdw blurRad="38100" dist="38100" dir="2700000">
                    <a:srgbClr val="000000"/>
                  </a:outerShdw>
                </a:effectLst>
                <a:ea typeface="宋体" pitchFamily="2" charset="-122"/>
                <a:cs typeface="+mn-ea"/>
              </a:rPr>
              <a:t>Windows XP</a:t>
            </a:r>
            <a:r>
              <a:rPr lang="zh-CN" altLang="en-US" sz="3200" dirty="0">
                <a:solidFill>
                  <a:srgbClr val="A50021"/>
                </a:solidFill>
                <a:effectLst>
                  <a:outerShdw blurRad="38100" dist="38100" dir="2700000">
                    <a:srgbClr val="000000"/>
                  </a:outerShdw>
                </a:effectLst>
                <a:cs typeface="+mn-ea"/>
              </a:rPr>
              <a:t>客户/服务器</a:t>
            </a:r>
            <a:r>
              <a:rPr lang="zh-CN" altLang="en-US" sz="3200" dirty="0">
                <a:solidFill>
                  <a:srgbClr val="A50021"/>
                </a:solidFill>
                <a:effectLst>
                  <a:outerShdw blurRad="38100" dist="38100" dir="2700000">
                    <a:srgbClr val="000000"/>
                  </a:outerShdw>
                </a:effectLst>
                <a:ea typeface="宋体" pitchFamily="2" charset="-122"/>
                <a:cs typeface="+mn-ea"/>
              </a:rPr>
              <a:t>结构简框</a:t>
            </a:r>
            <a:endParaRPr lang="zh-CN" altLang="en-US" sz="3200" dirty="0">
              <a:solidFill>
                <a:srgbClr val="A50021"/>
              </a:solidFill>
              <a:effectLst>
                <a:outerShdw blurRad="38100" dist="38100" dir="2700000">
                  <a:srgbClr val="000000"/>
                </a:outerShdw>
              </a:effectLst>
              <a:ea typeface="宋体" pitchFamily="2" charset="-122"/>
              <a:cs typeface="+mn-ea"/>
            </a:endParaRPr>
          </a:p>
        </p:txBody>
      </p:sp>
      <p:sp>
        <p:nvSpPr>
          <p:cNvPr id="31766" name="文本框 62486"/>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a:t>
            </a:r>
            <a:r>
              <a:rPr lang="en-US" altLang="zh-CN" sz="1400" b="0">
                <a:solidFill>
                  <a:schemeClr val="tx2"/>
                </a:solidFill>
                <a:latin typeface="Times New Roman" panose="02020603050405020304" charset="0"/>
                <a:ea typeface="宋体" pitchFamily="2" charset="-122"/>
              </a:rPr>
              <a:t>8</a:t>
            </a:r>
            <a:endParaRPr lang="en-US" altLang="zh-CN" sz="1400" b="0">
              <a:solidFill>
                <a:schemeClr val="tx2"/>
              </a:solidFill>
              <a:latin typeface="Times New Roman" panose="02020603050405020304" charset="0"/>
              <a:ea typeface="宋体" pitchFamily="2" charset="-122"/>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69" name="组合 63489"/>
          <p:cNvGrpSpPr/>
          <p:nvPr/>
        </p:nvGrpSpPr>
        <p:grpSpPr>
          <a:xfrm>
            <a:off x="876300" y="1592263"/>
            <a:ext cx="7162800" cy="4648200"/>
            <a:chOff x="0" y="0"/>
            <a:chExt cx="8460" cy="4550"/>
          </a:xfrm>
        </p:grpSpPr>
        <p:sp>
          <p:nvSpPr>
            <p:cNvPr id="32770" name="文本框 63490"/>
            <p:cNvSpPr txBox="1"/>
            <p:nvPr/>
          </p:nvSpPr>
          <p:spPr>
            <a:xfrm>
              <a:off x="0" y="1831"/>
              <a:ext cx="900" cy="30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系统线程</a:t>
              </a:r>
              <a:endParaRPr lang="zh-CN" altLang="en-US" sz="1200" b="0">
                <a:solidFill>
                  <a:srgbClr val="CC00FF"/>
                </a:solidFill>
                <a:latin typeface="宋体" pitchFamily="2" charset="-122"/>
                <a:ea typeface="宋体" pitchFamily="2" charset="-122"/>
              </a:endParaRPr>
            </a:p>
          </p:txBody>
        </p:sp>
        <p:sp>
          <p:nvSpPr>
            <p:cNvPr id="32771" name="直接连接符 63491"/>
            <p:cNvSpPr/>
            <p:nvPr/>
          </p:nvSpPr>
          <p:spPr>
            <a:xfrm>
              <a:off x="720" y="2136"/>
              <a:ext cx="0" cy="305"/>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772" name="文本框 63492"/>
            <p:cNvSpPr txBox="1"/>
            <p:nvPr/>
          </p:nvSpPr>
          <p:spPr>
            <a:xfrm>
              <a:off x="1260" y="1678"/>
              <a:ext cx="6840" cy="306"/>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600" b="0">
                  <a:solidFill>
                    <a:srgbClr val="CC00FF"/>
                  </a:solidFill>
                  <a:latin typeface="宋体" pitchFamily="2" charset="-122"/>
                  <a:ea typeface="宋体" pitchFamily="2" charset="-122"/>
                </a:rPr>
                <a:t>NTDLL.DLL</a:t>
              </a:r>
              <a:endParaRPr lang="en-US" altLang="zh-CN" sz="1600" b="0">
                <a:solidFill>
                  <a:srgbClr val="CC00FF"/>
                </a:solidFill>
                <a:latin typeface="宋体" pitchFamily="2" charset="-122"/>
                <a:ea typeface="宋体" pitchFamily="2" charset="-122"/>
              </a:endParaRPr>
            </a:p>
          </p:txBody>
        </p:sp>
        <p:sp>
          <p:nvSpPr>
            <p:cNvPr id="32773" name="文本框 63493"/>
            <p:cNvSpPr txBox="1"/>
            <p:nvPr/>
          </p:nvSpPr>
          <p:spPr>
            <a:xfrm>
              <a:off x="3420" y="250"/>
              <a:ext cx="1080" cy="37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Service.exe</a:t>
              </a:r>
              <a:endParaRPr lang="en-US" altLang="zh-CN" sz="1200" b="0">
                <a:solidFill>
                  <a:srgbClr val="CC00FF"/>
                </a:solidFill>
                <a:latin typeface="宋体" pitchFamily="2" charset="-122"/>
                <a:ea typeface="宋体" pitchFamily="2" charset="-122"/>
              </a:endParaRPr>
            </a:p>
          </p:txBody>
        </p:sp>
        <p:sp>
          <p:nvSpPr>
            <p:cNvPr id="32774" name="文本框 63494"/>
            <p:cNvSpPr txBox="1"/>
            <p:nvPr/>
          </p:nvSpPr>
          <p:spPr>
            <a:xfrm>
              <a:off x="3240" y="499"/>
              <a:ext cx="1080" cy="37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RPC</a:t>
              </a:r>
              <a:endParaRPr lang="en-US" altLang="zh-CN" sz="1200" b="0">
                <a:solidFill>
                  <a:srgbClr val="CC00FF"/>
                </a:solidFill>
                <a:latin typeface="宋体" pitchFamily="2" charset="-122"/>
                <a:ea typeface="宋体" pitchFamily="2" charset="-122"/>
              </a:endParaRPr>
            </a:p>
          </p:txBody>
        </p:sp>
        <p:sp>
          <p:nvSpPr>
            <p:cNvPr id="32775" name="文本框 63495"/>
            <p:cNvSpPr txBox="1"/>
            <p:nvPr/>
          </p:nvSpPr>
          <p:spPr>
            <a:xfrm>
              <a:off x="3060" y="749"/>
              <a:ext cx="1080" cy="37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Spooler</a:t>
              </a:r>
              <a:endParaRPr lang="en-US" altLang="zh-CN" sz="1200" b="0">
                <a:solidFill>
                  <a:srgbClr val="CC00FF"/>
                </a:solidFill>
                <a:latin typeface="宋体" pitchFamily="2" charset="-122"/>
                <a:ea typeface="宋体" pitchFamily="2" charset="-122"/>
              </a:endParaRPr>
            </a:p>
          </p:txBody>
        </p:sp>
        <p:sp>
          <p:nvSpPr>
            <p:cNvPr id="32776" name="文本框 63496"/>
            <p:cNvSpPr txBox="1"/>
            <p:nvPr/>
          </p:nvSpPr>
          <p:spPr>
            <a:xfrm>
              <a:off x="2880" y="999"/>
              <a:ext cx="1080" cy="37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事件日志</a:t>
              </a:r>
              <a:endParaRPr lang="zh-CN" altLang="en-US" sz="1200" b="0">
                <a:solidFill>
                  <a:srgbClr val="CC00FF"/>
                </a:solidFill>
                <a:latin typeface="宋体" pitchFamily="2" charset="-122"/>
                <a:ea typeface="宋体" pitchFamily="2" charset="-122"/>
              </a:endParaRPr>
            </a:p>
          </p:txBody>
        </p:sp>
        <p:sp>
          <p:nvSpPr>
            <p:cNvPr id="32777" name="文本框 63497"/>
            <p:cNvSpPr txBox="1"/>
            <p:nvPr/>
          </p:nvSpPr>
          <p:spPr>
            <a:xfrm>
              <a:off x="3420" y="0"/>
              <a:ext cx="1080" cy="250"/>
            </a:xfrm>
            <a:prstGeom prst="rect">
              <a:avLst/>
            </a:prstGeom>
            <a:noFill/>
            <a:ln w="9525">
              <a:noFill/>
              <a:miter/>
            </a:ln>
          </p:spPr>
          <p:txBody>
            <a:bodyPr lIns="0" tIns="0" rIns="0" bIns="0" anchor="t"/>
            <a:p>
              <a:pPr lvl="0" algn="ctr" eaLnBrk="0" hangingPunct="0"/>
              <a:r>
                <a:rPr lang="zh-CN" altLang="en-US" sz="1200" b="0">
                  <a:solidFill>
                    <a:srgbClr val="CC00FF"/>
                  </a:solidFill>
                  <a:latin typeface="宋体" pitchFamily="2" charset="-122"/>
                  <a:ea typeface="宋体" pitchFamily="2" charset="-122"/>
                </a:rPr>
                <a:t>服务进程</a:t>
              </a:r>
              <a:endParaRPr lang="zh-CN" altLang="en-US" sz="1200" b="0">
                <a:solidFill>
                  <a:srgbClr val="CC00FF"/>
                </a:solidFill>
                <a:latin typeface="宋体" pitchFamily="2" charset="-122"/>
                <a:ea typeface="宋体" pitchFamily="2" charset="-122"/>
              </a:endParaRPr>
            </a:p>
          </p:txBody>
        </p:sp>
        <p:sp>
          <p:nvSpPr>
            <p:cNvPr id="32778" name="文本框 63498"/>
            <p:cNvSpPr txBox="1"/>
            <p:nvPr/>
          </p:nvSpPr>
          <p:spPr>
            <a:xfrm>
              <a:off x="6840" y="874"/>
              <a:ext cx="1080" cy="249"/>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endParaRPr lang="zh-CN" altLang="en-US" sz="900" b="0" dirty="0">
                <a:solidFill>
                  <a:srgbClr val="CC00FF"/>
                </a:solidFill>
                <a:latin typeface="宋体" pitchFamily="2" charset="-122"/>
                <a:ea typeface="宋体" pitchFamily="2" charset="-122"/>
              </a:endParaRPr>
            </a:p>
          </p:txBody>
        </p:sp>
        <p:sp>
          <p:nvSpPr>
            <p:cNvPr id="32779" name="文本框 63499"/>
            <p:cNvSpPr txBox="1"/>
            <p:nvPr/>
          </p:nvSpPr>
          <p:spPr>
            <a:xfrm>
              <a:off x="7020" y="624"/>
              <a:ext cx="108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endParaRPr lang="zh-CN" altLang="en-US" sz="900" b="0" dirty="0">
                <a:solidFill>
                  <a:srgbClr val="CC00FF"/>
                </a:solidFill>
                <a:latin typeface="宋体" pitchFamily="2" charset="-122"/>
                <a:ea typeface="宋体" pitchFamily="2" charset="-122"/>
              </a:endParaRPr>
            </a:p>
          </p:txBody>
        </p:sp>
        <p:sp>
          <p:nvSpPr>
            <p:cNvPr id="32780" name="文本框 63500"/>
            <p:cNvSpPr txBox="1"/>
            <p:nvPr/>
          </p:nvSpPr>
          <p:spPr>
            <a:xfrm>
              <a:off x="7020" y="250"/>
              <a:ext cx="1080" cy="37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任务管理器</a:t>
              </a:r>
              <a:endParaRPr lang="zh-CN" altLang="en-US" sz="1200" b="0">
                <a:solidFill>
                  <a:srgbClr val="CC00FF"/>
                </a:solidFill>
                <a:latin typeface="宋体" pitchFamily="2" charset="-122"/>
                <a:ea typeface="宋体" pitchFamily="2" charset="-122"/>
              </a:endParaRPr>
            </a:p>
          </p:txBody>
        </p:sp>
        <p:sp>
          <p:nvSpPr>
            <p:cNvPr id="32781" name="文本框 63501"/>
            <p:cNvSpPr txBox="1"/>
            <p:nvPr/>
          </p:nvSpPr>
          <p:spPr>
            <a:xfrm>
              <a:off x="6840" y="499"/>
              <a:ext cx="1080" cy="37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IE</a:t>
              </a:r>
              <a:r>
                <a:rPr lang="zh-CN" altLang="en-US" sz="1200" b="0">
                  <a:solidFill>
                    <a:srgbClr val="CC00FF"/>
                  </a:solidFill>
                  <a:latin typeface="宋体" pitchFamily="2" charset="-122"/>
                  <a:ea typeface="宋体" pitchFamily="2" charset="-122"/>
                </a:rPr>
                <a:t>浏览器</a:t>
              </a:r>
              <a:endParaRPr lang="zh-CN" altLang="en-US" sz="1200" b="0">
                <a:solidFill>
                  <a:srgbClr val="CC00FF"/>
                </a:solidFill>
                <a:latin typeface="宋体" pitchFamily="2" charset="-122"/>
                <a:ea typeface="宋体" pitchFamily="2" charset="-122"/>
              </a:endParaRPr>
            </a:p>
          </p:txBody>
        </p:sp>
        <p:sp>
          <p:nvSpPr>
            <p:cNvPr id="32782" name="文本框 63502"/>
            <p:cNvSpPr txBox="1"/>
            <p:nvPr/>
          </p:nvSpPr>
          <p:spPr>
            <a:xfrm>
              <a:off x="6660" y="749"/>
              <a:ext cx="1080" cy="37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用户程序</a:t>
              </a:r>
              <a:endParaRPr lang="zh-CN" altLang="en-US" sz="1200" b="0">
                <a:solidFill>
                  <a:srgbClr val="CC00FF"/>
                </a:solidFill>
                <a:latin typeface="宋体" pitchFamily="2" charset="-122"/>
                <a:ea typeface="宋体" pitchFamily="2" charset="-122"/>
              </a:endParaRPr>
            </a:p>
          </p:txBody>
        </p:sp>
        <p:sp>
          <p:nvSpPr>
            <p:cNvPr id="32783" name="文本框 63503"/>
            <p:cNvSpPr txBox="1"/>
            <p:nvPr/>
          </p:nvSpPr>
          <p:spPr>
            <a:xfrm>
              <a:off x="6660" y="1123"/>
              <a:ext cx="1080" cy="250"/>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子系统</a:t>
              </a:r>
              <a:r>
                <a:rPr lang="en-US" altLang="zh-CN" sz="1200" b="0">
                  <a:solidFill>
                    <a:srgbClr val="CC00FF"/>
                  </a:solidFill>
                  <a:latin typeface="宋体" pitchFamily="2" charset="-122"/>
                  <a:ea typeface="宋体" pitchFamily="2" charset="-122"/>
                </a:rPr>
                <a:t>DLL</a:t>
              </a:r>
              <a:endParaRPr lang="en-US" altLang="zh-CN" sz="1200" b="0">
                <a:solidFill>
                  <a:srgbClr val="CC00FF"/>
                </a:solidFill>
                <a:latin typeface="宋体" pitchFamily="2" charset="-122"/>
                <a:ea typeface="宋体" pitchFamily="2" charset="-122"/>
              </a:endParaRPr>
            </a:p>
          </p:txBody>
        </p:sp>
        <p:sp>
          <p:nvSpPr>
            <p:cNvPr id="32784" name="文本框 63504"/>
            <p:cNvSpPr txBox="1"/>
            <p:nvPr/>
          </p:nvSpPr>
          <p:spPr>
            <a:xfrm>
              <a:off x="7020" y="0"/>
              <a:ext cx="1080" cy="250"/>
            </a:xfrm>
            <a:prstGeom prst="rect">
              <a:avLst/>
            </a:prstGeom>
            <a:noFill/>
            <a:ln w="9525">
              <a:noFill/>
              <a:miter/>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应用程序</a:t>
              </a:r>
              <a:endParaRPr lang="zh-CN" altLang="en-US" sz="1200" b="0">
                <a:solidFill>
                  <a:srgbClr val="CC00FF"/>
                </a:solidFill>
                <a:latin typeface="宋体" pitchFamily="2" charset="-122"/>
                <a:ea typeface="宋体" pitchFamily="2" charset="-122"/>
              </a:endParaRPr>
            </a:p>
          </p:txBody>
        </p:sp>
        <p:sp>
          <p:nvSpPr>
            <p:cNvPr id="32785" name="文本框 63505"/>
            <p:cNvSpPr txBox="1"/>
            <p:nvPr/>
          </p:nvSpPr>
          <p:spPr>
            <a:xfrm>
              <a:off x="5040" y="271"/>
              <a:ext cx="1080" cy="40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POSIX</a:t>
              </a:r>
              <a:endParaRPr lang="en-US" altLang="zh-CN" sz="1200" b="0">
                <a:solidFill>
                  <a:srgbClr val="CC00FF"/>
                </a:solidFill>
                <a:latin typeface="宋体" pitchFamily="2" charset="-122"/>
                <a:ea typeface="宋体" pitchFamily="2" charset="-122"/>
              </a:endParaRPr>
            </a:p>
          </p:txBody>
        </p:sp>
        <p:sp>
          <p:nvSpPr>
            <p:cNvPr id="32786" name="文本框 63506"/>
            <p:cNvSpPr txBox="1"/>
            <p:nvPr/>
          </p:nvSpPr>
          <p:spPr>
            <a:xfrm>
              <a:off x="4860" y="543"/>
              <a:ext cx="1080" cy="40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OS2</a:t>
              </a:r>
              <a:endParaRPr lang="en-US" altLang="zh-CN" sz="1200" b="0">
                <a:solidFill>
                  <a:srgbClr val="CC00FF"/>
                </a:solidFill>
                <a:latin typeface="宋体" pitchFamily="2" charset="-122"/>
                <a:ea typeface="宋体" pitchFamily="2" charset="-122"/>
              </a:endParaRPr>
            </a:p>
          </p:txBody>
        </p:sp>
        <p:sp>
          <p:nvSpPr>
            <p:cNvPr id="32787" name="文本框 63507"/>
            <p:cNvSpPr txBox="1"/>
            <p:nvPr/>
          </p:nvSpPr>
          <p:spPr>
            <a:xfrm>
              <a:off x="4680" y="814"/>
              <a:ext cx="1080" cy="40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WIN32</a:t>
              </a:r>
              <a:endParaRPr lang="en-US" altLang="zh-CN" sz="1200" b="0">
                <a:solidFill>
                  <a:srgbClr val="CC00FF"/>
                </a:solidFill>
                <a:latin typeface="宋体" pitchFamily="2" charset="-122"/>
                <a:ea typeface="宋体" pitchFamily="2" charset="-122"/>
              </a:endParaRPr>
            </a:p>
          </p:txBody>
        </p:sp>
        <p:sp>
          <p:nvSpPr>
            <p:cNvPr id="32788" name="文本框 63508"/>
            <p:cNvSpPr txBox="1"/>
            <p:nvPr/>
          </p:nvSpPr>
          <p:spPr>
            <a:xfrm>
              <a:off x="5040" y="0"/>
              <a:ext cx="1080" cy="271"/>
            </a:xfrm>
            <a:prstGeom prst="rect">
              <a:avLst/>
            </a:prstGeom>
            <a:noFill/>
            <a:ln w="9525">
              <a:noFill/>
              <a:miter/>
            </a:ln>
          </p:spPr>
          <p:txBody>
            <a:bodyPr lIns="0" tIns="0" rIns="0" bIns="0" anchor="t"/>
            <a:p>
              <a:pPr lvl="0" algn="ctr" eaLnBrk="0" hangingPunct="0"/>
              <a:r>
                <a:rPr lang="zh-CN" altLang="en-US" sz="1200" b="0">
                  <a:solidFill>
                    <a:srgbClr val="CC00FF"/>
                  </a:solidFill>
                  <a:latin typeface="宋体" pitchFamily="2" charset="-122"/>
                  <a:ea typeface="宋体" pitchFamily="2" charset="-122"/>
                </a:rPr>
                <a:t>环境子系统</a:t>
              </a:r>
              <a:endParaRPr lang="zh-CN" altLang="en-US" sz="1200" b="0">
                <a:solidFill>
                  <a:srgbClr val="CC00FF"/>
                </a:solidFill>
                <a:latin typeface="宋体" pitchFamily="2" charset="-122"/>
                <a:ea typeface="宋体" pitchFamily="2" charset="-122"/>
              </a:endParaRPr>
            </a:p>
          </p:txBody>
        </p:sp>
        <p:sp>
          <p:nvSpPr>
            <p:cNvPr id="32789" name="直接连接符 63509"/>
            <p:cNvSpPr/>
            <p:nvPr/>
          </p:nvSpPr>
          <p:spPr>
            <a:xfrm>
              <a:off x="3420" y="1373"/>
              <a:ext cx="0" cy="305"/>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790" name="直接连接符 63510"/>
            <p:cNvSpPr/>
            <p:nvPr/>
          </p:nvSpPr>
          <p:spPr>
            <a:xfrm>
              <a:off x="5220" y="1221"/>
              <a:ext cx="0" cy="457"/>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791" name="直接连接符 63511"/>
            <p:cNvSpPr/>
            <p:nvPr/>
          </p:nvSpPr>
          <p:spPr>
            <a:xfrm>
              <a:off x="7200" y="1373"/>
              <a:ext cx="0" cy="305"/>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792" name="文本框 63512"/>
            <p:cNvSpPr txBox="1"/>
            <p:nvPr/>
          </p:nvSpPr>
          <p:spPr>
            <a:xfrm>
              <a:off x="1800" y="239"/>
              <a:ext cx="1080" cy="392"/>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服务管理器</a:t>
              </a:r>
              <a:endParaRPr lang="zh-CN" altLang="en-US" sz="1200" b="0">
                <a:solidFill>
                  <a:srgbClr val="CC00FF"/>
                </a:solidFill>
                <a:latin typeface="宋体" pitchFamily="2" charset="-122"/>
                <a:ea typeface="宋体" pitchFamily="2" charset="-122"/>
              </a:endParaRPr>
            </a:p>
          </p:txBody>
        </p:sp>
        <p:sp>
          <p:nvSpPr>
            <p:cNvPr id="32793" name="文本框 63513"/>
            <p:cNvSpPr txBox="1"/>
            <p:nvPr/>
          </p:nvSpPr>
          <p:spPr>
            <a:xfrm>
              <a:off x="1620" y="475"/>
              <a:ext cx="1080" cy="392"/>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安全验证</a:t>
              </a:r>
              <a:endParaRPr lang="zh-CN" altLang="en-US" sz="1200" b="0">
                <a:solidFill>
                  <a:srgbClr val="CC00FF"/>
                </a:solidFill>
                <a:latin typeface="宋体" pitchFamily="2" charset="-122"/>
                <a:ea typeface="宋体" pitchFamily="2" charset="-122"/>
              </a:endParaRPr>
            </a:p>
          </p:txBody>
        </p:sp>
        <p:sp>
          <p:nvSpPr>
            <p:cNvPr id="32794" name="文本框 63514"/>
            <p:cNvSpPr txBox="1"/>
            <p:nvPr/>
          </p:nvSpPr>
          <p:spPr>
            <a:xfrm>
              <a:off x="1440" y="725"/>
              <a:ext cx="1080" cy="392"/>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Win</a:t>
              </a:r>
              <a:r>
                <a:rPr lang="zh-CN" altLang="en-US" sz="1200" b="0">
                  <a:solidFill>
                    <a:srgbClr val="CC00FF"/>
                  </a:solidFill>
                  <a:latin typeface="宋体" pitchFamily="2" charset="-122"/>
                  <a:ea typeface="宋体" pitchFamily="2" charset="-122"/>
                </a:rPr>
                <a:t>登录</a:t>
              </a:r>
              <a:endParaRPr lang="zh-CN" altLang="en-US" sz="1200" b="0">
                <a:solidFill>
                  <a:srgbClr val="CC00FF"/>
                </a:solidFill>
                <a:latin typeface="宋体" pitchFamily="2" charset="-122"/>
                <a:ea typeface="宋体" pitchFamily="2" charset="-122"/>
              </a:endParaRPr>
            </a:p>
          </p:txBody>
        </p:sp>
        <p:sp>
          <p:nvSpPr>
            <p:cNvPr id="32795" name="文本框 63515"/>
            <p:cNvSpPr txBox="1"/>
            <p:nvPr/>
          </p:nvSpPr>
          <p:spPr>
            <a:xfrm>
              <a:off x="1260" y="943"/>
              <a:ext cx="1080" cy="392"/>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会话管理器</a:t>
              </a:r>
              <a:endParaRPr lang="zh-CN" altLang="en-US" sz="1200" b="0">
                <a:solidFill>
                  <a:srgbClr val="CC00FF"/>
                </a:solidFill>
                <a:latin typeface="宋体" pitchFamily="2" charset="-122"/>
                <a:ea typeface="宋体" pitchFamily="2" charset="-122"/>
              </a:endParaRPr>
            </a:p>
          </p:txBody>
        </p:sp>
        <p:sp>
          <p:nvSpPr>
            <p:cNvPr id="32796" name="文本框 63516"/>
            <p:cNvSpPr txBox="1"/>
            <p:nvPr/>
          </p:nvSpPr>
          <p:spPr>
            <a:xfrm>
              <a:off x="1620" y="0"/>
              <a:ext cx="1080" cy="261"/>
            </a:xfrm>
            <a:prstGeom prst="rect">
              <a:avLst/>
            </a:prstGeom>
            <a:noFill/>
            <a:ln w="9525">
              <a:noFill/>
              <a:miter/>
            </a:ln>
          </p:spPr>
          <p:txBody>
            <a:bodyPr lIns="0" tIns="0" rIns="0" bIns="0" anchor="t"/>
            <a:p>
              <a:pPr lvl="0" algn="ctr" eaLnBrk="0" hangingPunct="0"/>
              <a:r>
                <a:rPr lang="zh-CN" altLang="en-US" sz="1200" b="0">
                  <a:solidFill>
                    <a:srgbClr val="CC00FF"/>
                  </a:solidFill>
                  <a:latin typeface="宋体" pitchFamily="2" charset="-122"/>
                  <a:ea typeface="宋体" pitchFamily="2" charset="-122"/>
                </a:rPr>
                <a:t>系统进程</a:t>
              </a:r>
              <a:endParaRPr lang="zh-CN" altLang="en-US" sz="1200" b="0">
                <a:solidFill>
                  <a:srgbClr val="CC00FF"/>
                </a:solidFill>
                <a:latin typeface="宋体" pitchFamily="2" charset="-122"/>
                <a:ea typeface="宋体" pitchFamily="2" charset="-122"/>
              </a:endParaRPr>
            </a:p>
          </p:txBody>
        </p:sp>
        <p:sp>
          <p:nvSpPr>
            <p:cNvPr id="32797" name="直接连接符 63517"/>
            <p:cNvSpPr/>
            <p:nvPr/>
          </p:nvSpPr>
          <p:spPr>
            <a:xfrm>
              <a:off x="1800" y="1335"/>
              <a:ext cx="0" cy="343"/>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798" name="直接连接符 63518"/>
            <p:cNvSpPr/>
            <p:nvPr/>
          </p:nvSpPr>
          <p:spPr>
            <a:xfrm>
              <a:off x="1080" y="1678"/>
              <a:ext cx="0" cy="458"/>
            </a:xfrm>
            <a:prstGeom prst="line">
              <a:avLst/>
            </a:prstGeom>
            <a:ln w="2857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2799" name="直接连接符 63519"/>
            <p:cNvSpPr/>
            <p:nvPr/>
          </p:nvSpPr>
          <p:spPr>
            <a:xfrm flipH="1">
              <a:off x="1080" y="2136"/>
              <a:ext cx="7380" cy="0"/>
            </a:xfrm>
            <a:prstGeom prst="line">
              <a:avLst/>
            </a:prstGeom>
            <a:ln w="2857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2800" name="直接连接符 63520"/>
            <p:cNvSpPr/>
            <p:nvPr/>
          </p:nvSpPr>
          <p:spPr>
            <a:xfrm flipH="1">
              <a:off x="0" y="1678"/>
              <a:ext cx="1080" cy="0"/>
            </a:xfrm>
            <a:prstGeom prst="line">
              <a:avLst/>
            </a:prstGeom>
            <a:ln w="2857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2801" name="直接连接符 63521"/>
            <p:cNvSpPr/>
            <p:nvPr/>
          </p:nvSpPr>
          <p:spPr>
            <a:xfrm>
              <a:off x="4680" y="1984"/>
              <a:ext cx="0" cy="457"/>
            </a:xfrm>
            <a:prstGeom prst="line">
              <a:avLst/>
            </a:prstGeom>
            <a:ln w="952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32802" name="文本框 63522"/>
            <p:cNvSpPr txBox="1"/>
            <p:nvPr/>
          </p:nvSpPr>
          <p:spPr>
            <a:xfrm>
              <a:off x="8100" y="2289"/>
              <a:ext cx="360" cy="912"/>
            </a:xfrm>
            <a:prstGeom prst="rect">
              <a:avLst/>
            </a:prstGeom>
            <a:noFill/>
            <a:ln w="9525">
              <a:noFill/>
              <a:miter/>
            </a:ln>
          </p:spPr>
          <p:txBody>
            <a:bodyPr lIns="0" tIns="0" rIns="0" bIns="0" anchor="t"/>
            <a:p>
              <a:pPr lvl="0" algn="ctr" eaLnBrk="0" hangingPunct="0"/>
              <a:r>
                <a:rPr lang="zh-CN" altLang="en-US" sz="1400" b="0">
                  <a:solidFill>
                    <a:srgbClr val="CC00FF"/>
                  </a:solidFill>
                  <a:latin typeface="宋体" pitchFamily="2" charset="-122"/>
                  <a:ea typeface="宋体" pitchFamily="2" charset="-122"/>
                </a:rPr>
                <a:t>核</a:t>
              </a:r>
              <a:endParaRPr lang="zh-CN" altLang="en-US"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心</a:t>
              </a:r>
              <a:endParaRPr lang="zh-CN" altLang="en-US"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态</a:t>
              </a:r>
              <a:endParaRPr lang="zh-CN" altLang="en-US" sz="1400" b="0">
                <a:solidFill>
                  <a:srgbClr val="CC00FF"/>
                </a:solidFill>
                <a:latin typeface="宋体" pitchFamily="2" charset="-122"/>
                <a:ea typeface="宋体" pitchFamily="2" charset="-122"/>
              </a:endParaRPr>
            </a:p>
          </p:txBody>
        </p:sp>
        <p:sp>
          <p:nvSpPr>
            <p:cNvPr id="32803" name="文本框 63523"/>
            <p:cNvSpPr txBox="1"/>
            <p:nvPr/>
          </p:nvSpPr>
          <p:spPr>
            <a:xfrm>
              <a:off x="8100" y="1221"/>
              <a:ext cx="360" cy="915"/>
            </a:xfrm>
            <a:prstGeom prst="rect">
              <a:avLst/>
            </a:prstGeom>
            <a:noFill/>
            <a:ln w="9525">
              <a:noFill/>
              <a:miter/>
            </a:ln>
          </p:spPr>
          <p:txBody>
            <a:bodyPr lIns="0" tIns="0" rIns="0" bIns="0" anchor="t"/>
            <a:p>
              <a:pPr lvl="0" algn="ctr" eaLnBrk="0" hangingPunct="0"/>
              <a:r>
                <a:rPr lang="zh-CN" altLang="en-US" sz="1400" b="0">
                  <a:solidFill>
                    <a:srgbClr val="CC00FF"/>
                  </a:solidFill>
                  <a:latin typeface="宋体" pitchFamily="2" charset="-122"/>
                  <a:ea typeface="宋体" pitchFamily="2" charset="-122"/>
                </a:rPr>
                <a:t>用</a:t>
              </a:r>
              <a:endParaRPr lang="zh-CN" altLang="en-US"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户</a:t>
              </a:r>
              <a:endParaRPr lang="zh-CN" altLang="en-US"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态</a:t>
              </a:r>
              <a:endParaRPr lang="zh-CN" altLang="en-US" sz="1400" b="0">
                <a:solidFill>
                  <a:srgbClr val="CC00FF"/>
                </a:solidFill>
                <a:latin typeface="宋体" pitchFamily="2" charset="-122"/>
                <a:ea typeface="宋体" pitchFamily="2" charset="-122"/>
              </a:endParaRPr>
            </a:p>
          </p:txBody>
        </p:sp>
        <p:grpSp>
          <p:nvGrpSpPr>
            <p:cNvPr id="32804" name="组合 63524"/>
            <p:cNvGrpSpPr/>
            <p:nvPr/>
          </p:nvGrpSpPr>
          <p:grpSpPr>
            <a:xfrm>
              <a:off x="357" y="2442"/>
              <a:ext cx="7563" cy="1770"/>
              <a:chOff x="0" y="0"/>
              <a:chExt cx="7563" cy="2238"/>
            </a:xfrm>
          </p:grpSpPr>
          <p:sp>
            <p:nvSpPr>
              <p:cNvPr id="32805" name="文本框 63525"/>
              <p:cNvSpPr txBox="1"/>
              <p:nvPr/>
            </p:nvSpPr>
            <p:spPr>
              <a:xfrm>
                <a:off x="6663" y="0"/>
                <a:ext cx="900" cy="2238"/>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endParaRPr lang="zh-CN" altLang="en-US" sz="900" b="0">
                  <a:solidFill>
                    <a:srgbClr val="CC00FF"/>
                  </a:solidFill>
                  <a:latin typeface="宋体" pitchFamily="2" charset="-122"/>
                  <a:ea typeface="宋体" pitchFamily="2" charset="-122"/>
                </a:endParaRPr>
              </a:p>
              <a:p>
                <a:pPr lvl="0" algn="ctr" eaLnBrk="0" hangingPunct="0"/>
                <a:r>
                  <a:rPr lang="en-US" altLang="zh-CN" sz="1400" b="0">
                    <a:solidFill>
                      <a:srgbClr val="CC00FF"/>
                    </a:solidFill>
                    <a:latin typeface="宋体" pitchFamily="2" charset="-122"/>
                    <a:ea typeface="宋体" pitchFamily="2" charset="-122"/>
                  </a:rPr>
                  <a:t>Win32 User</a:t>
                </a:r>
                <a:endParaRPr lang="en-US" altLang="zh-CN" sz="1400" b="0">
                  <a:solidFill>
                    <a:srgbClr val="CC00FF"/>
                  </a:solidFill>
                  <a:latin typeface="宋体" pitchFamily="2" charset="-122"/>
                  <a:ea typeface="宋体" pitchFamily="2" charset="-122"/>
                </a:endParaRPr>
              </a:p>
              <a:p>
                <a:pPr lvl="0" algn="ctr" eaLnBrk="0" hangingPunct="0"/>
                <a:r>
                  <a:rPr lang="en-US" altLang="zh-CN" sz="1400" b="0">
                    <a:solidFill>
                      <a:srgbClr val="CC00FF"/>
                    </a:solidFill>
                    <a:latin typeface="宋体" pitchFamily="2" charset="-122"/>
                    <a:ea typeface="宋体" pitchFamily="2" charset="-122"/>
                  </a:rPr>
                  <a:t>GDI</a:t>
                </a:r>
                <a:endParaRPr lang="en-US" altLang="zh-CN"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图形驱动器</a:t>
                </a:r>
                <a:endParaRPr lang="zh-CN" altLang="en-US" sz="1400" b="0">
                  <a:solidFill>
                    <a:srgbClr val="CC00FF"/>
                  </a:solidFill>
                  <a:latin typeface="宋体" pitchFamily="2" charset="-122"/>
                  <a:ea typeface="宋体" pitchFamily="2" charset="-122"/>
                </a:endParaRPr>
              </a:p>
              <a:p>
                <a:pPr lvl="0" algn="ctr" eaLnBrk="0" hangingPunct="0"/>
                <a:endParaRPr lang="zh-CN" altLang="en-US" sz="1400" b="0">
                  <a:solidFill>
                    <a:srgbClr val="CC00FF"/>
                  </a:solidFill>
                  <a:latin typeface="宋体" pitchFamily="2" charset="-122"/>
                  <a:ea typeface="宋体" pitchFamily="2" charset="-122"/>
                </a:endParaRPr>
              </a:p>
            </p:txBody>
          </p:sp>
          <p:grpSp>
            <p:nvGrpSpPr>
              <p:cNvPr id="32806" name="组合 63526"/>
              <p:cNvGrpSpPr/>
              <p:nvPr/>
            </p:nvGrpSpPr>
            <p:grpSpPr>
              <a:xfrm>
                <a:off x="0" y="1614"/>
                <a:ext cx="7228" cy="624"/>
                <a:chOff x="0" y="0"/>
                <a:chExt cx="7228" cy="499"/>
              </a:xfrm>
            </p:grpSpPr>
            <p:sp>
              <p:nvSpPr>
                <p:cNvPr id="32807" name="文本框 63527"/>
                <p:cNvSpPr txBox="1"/>
                <p:nvPr/>
              </p:nvSpPr>
              <p:spPr>
                <a:xfrm>
                  <a:off x="0" y="245"/>
                  <a:ext cx="7228" cy="25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硬件抽象层</a:t>
                  </a:r>
                  <a:r>
                    <a:rPr lang="en-US" altLang="zh-CN" sz="1400" b="0">
                      <a:solidFill>
                        <a:srgbClr val="CC00FF"/>
                      </a:solidFill>
                      <a:latin typeface="宋体" pitchFamily="2" charset="-122"/>
                      <a:ea typeface="宋体" pitchFamily="2" charset="-122"/>
                    </a:rPr>
                    <a:t>(HAL)</a:t>
                  </a:r>
                  <a:endParaRPr lang="en-US" altLang="zh-CN" sz="1400" b="0">
                    <a:solidFill>
                      <a:srgbClr val="CC00FF"/>
                    </a:solidFill>
                    <a:latin typeface="宋体" pitchFamily="2" charset="-122"/>
                    <a:ea typeface="宋体" pitchFamily="2" charset="-122"/>
                  </a:endParaRPr>
                </a:p>
              </p:txBody>
            </p:sp>
            <p:grpSp>
              <p:nvGrpSpPr>
                <p:cNvPr id="32808" name="组合 63528"/>
                <p:cNvGrpSpPr/>
                <p:nvPr/>
              </p:nvGrpSpPr>
              <p:grpSpPr>
                <a:xfrm>
                  <a:off x="0" y="0"/>
                  <a:ext cx="6945" cy="255"/>
                  <a:chOff x="0" y="0"/>
                  <a:chExt cx="6660" cy="255"/>
                </a:xfrm>
              </p:grpSpPr>
              <p:sp>
                <p:nvSpPr>
                  <p:cNvPr id="32809" name="文本框 63529"/>
                  <p:cNvSpPr txBox="1"/>
                  <p:nvPr/>
                </p:nvSpPr>
                <p:spPr>
                  <a:xfrm>
                    <a:off x="0" y="0"/>
                    <a:ext cx="3331" cy="25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设备驱动程序</a:t>
                    </a:r>
                    <a:endParaRPr lang="zh-CN" altLang="en-US" sz="1400" b="0">
                      <a:solidFill>
                        <a:srgbClr val="CC00FF"/>
                      </a:solidFill>
                      <a:latin typeface="宋体" pitchFamily="2" charset="-122"/>
                      <a:ea typeface="宋体" pitchFamily="2" charset="-122"/>
                    </a:endParaRPr>
                  </a:p>
                </p:txBody>
              </p:sp>
              <p:sp>
                <p:nvSpPr>
                  <p:cNvPr id="32810" name="文本框 63530"/>
                  <p:cNvSpPr txBox="1"/>
                  <p:nvPr/>
                </p:nvSpPr>
                <p:spPr>
                  <a:xfrm>
                    <a:off x="3331" y="0"/>
                    <a:ext cx="3329" cy="25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内核</a:t>
                    </a:r>
                    <a:endParaRPr lang="zh-CN" altLang="en-US" sz="1400" b="0">
                      <a:solidFill>
                        <a:srgbClr val="CC00FF"/>
                      </a:solidFill>
                      <a:latin typeface="宋体" pitchFamily="2" charset="-122"/>
                      <a:ea typeface="宋体" pitchFamily="2" charset="-122"/>
                    </a:endParaRPr>
                  </a:p>
                </p:txBody>
              </p:sp>
            </p:grpSp>
          </p:grpSp>
          <p:sp>
            <p:nvSpPr>
              <p:cNvPr id="32811" name="文本框 63531"/>
              <p:cNvSpPr txBox="1"/>
              <p:nvPr/>
            </p:nvSpPr>
            <p:spPr>
              <a:xfrm>
                <a:off x="3" y="1293"/>
                <a:ext cx="6660" cy="32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对象管理器</a:t>
                </a:r>
                <a:endParaRPr lang="zh-CN" altLang="en-US" sz="1400" b="0">
                  <a:solidFill>
                    <a:srgbClr val="CC00FF"/>
                  </a:solidFill>
                  <a:latin typeface="宋体" pitchFamily="2" charset="-122"/>
                  <a:ea typeface="宋体" pitchFamily="2" charset="-122"/>
                </a:endParaRPr>
              </a:p>
            </p:txBody>
          </p:sp>
          <p:grpSp>
            <p:nvGrpSpPr>
              <p:cNvPr id="32812" name="组合 63532"/>
              <p:cNvGrpSpPr/>
              <p:nvPr/>
            </p:nvGrpSpPr>
            <p:grpSpPr>
              <a:xfrm>
                <a:off x="3" y="7"/>
                <a:ext cx="6660" cy="671"/>
                <a:chOff x="0" y="0"/>
                <a:chExt cx="6660" cy="492"/>
              </a:xfrm>
            </p:grpSpPr>
            <p:sp>
              <p:nvSpPr>
                <p:cNvPr id="32813" name="文本框 63533"/>
                <p:cNvSpPr txBox="1"/>
                <p:nvPr/>
              </p:nvSpPr>
              <p:spPr>
                <a:xfrm>
                  <a:off x="0" y="237"/>
                  <a:ext cx="6660" cy="255"/>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核心态可调用接口</a:t>
                  </a:r>
                  <a:r>
                    <a:rPr lang="en-US" altLang="zh-CN" sz="1400" b="0">
                      <a:solidFill>
                        <a:srgbClr val="CC00FF"/>
                      </a:solidFill>
                      <a:latin typeface="宋体" pitchFamily="2" charset="-122"/>
                      <a:ea typeface="宋体" pitchFamily="2" charset="-122"/>
                    </a:rPr>
                    <a:t>(</a:t>
                  </a:r>
                  <a:r>
                    <a:rPr lang="zh-CN" altLang="en-US" sz="1400" b="0">
                      <a:solidFill>
                        <a:srgbClr val="CC00FF"/>
                      </a:solidFill>
                      <a:latin typeface="宋体" pitchFamily="2" charset="-122"/>
                      <a:ea typeface="宋体" pitchFamily="2" charset="-122"/>
                    </a:rPr>
                    <a:t>执行程序</a:t>
                  </a:r>
                  <a:r>
                    <a:rPr lang="en-US" altLang="zh-CN" sz="1400" b="0">
                      <a:solidFill>
                        <a:srgbClr val="CC00FF"/>
                      </a:solidFill>
                      <a:latin typeface="宋体" pitchFamily="2" charset="-122"/>
                      <a:ea typeface="宋体" pitchFamily="2" charset="-122"/>
                    </a:rPr>
                    <a:t>API)</a:t>
                  </a:r>
                  <a:endParaRPr lang="en-US" altLang="zh-CN" sz="1400" b="0">
                    <a:solidFill>
                      <a:srgbClr val="CC00FF"/>
                    </a:solidFill>
                    <a:latin typeface="宋体" pitchFamily="2" charset="-122"/>
                    <a:ea typeface="宋体" pitchFamily="2" charset="-122"/>
                  </a:endParaRPr>
                </a:p>
              </p:txBody>
            </p:sp>
            <p:sp>
              <p:nvSpPr>
                <p:cNvPr id="32814" name="文本框 63534"/>
                <p:cNvSpPr txBox="1"/>
                <p:nvPr/>
              </p:nvSpPr>
              <p:spPr>
                <a:xfrm>
                  <a:off x="0" y="0"/>
                  <a:ext cx="6660" cy="254"/>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400" b="0">
                      <a:solidFill>
                        <a:srgbClr val="CC00FF"/>
                      </a:solidFill>
                      <a:latin typeface="宋体" pitchFamily="2" charset="-122"/>
                      <a:ea typeface="宋体" pitchFamily="2" charset="-122"/>
                    </a:rPr>
                    <a:t>系统服务调度进程</a:t>
                  </a:r>
                  <a:endParaRPr lang="zh-CN" altLang="en-US" sz="1400" b="0">
                    <a:solidFill>
                      <a:srgbClr val="CC00FF"/>
                    </a:solidFill>
                    <a:latin typeface="宋体" pitchFamily="2" charset="-122"/>
                    <a:ea typeface="宋体" pitchFamily="2" charset="-122"/>
                  </a:endParaRPr>
                </a:p>
              </p:txBody>
            </p:sp>
          </p:grpSp>
          <p:grpSp>
            <p:nvGrpSpPr>
              <p:cNvPr id="32815" name="组合 63535"/>
              <p:cNvGrpSpPr/>
              <p:nvPr/>
            </p:nvGrpSpPr>
            <p:grpSpPr>
              <a:xfrm>
                <a:off x="0" y="673"/>
                <a:ext cx="6660" cy="631"/>
                <a:chOff x="0" y="0"/>
                <a:chExt cx="6660" cy="631"/>
              </a:xfrm>
            </p:grpSpPr>
            <p:sp>
              <p:nvSpPr>
                <p:cNvPr id="32816" name="文本框 63536"/>
                <p:cNvSpPr txBox="1"/>
                <p:nvPr/>
              </p:nvSpPr>
              <p:spPr>
                <a:xfrm>
                  <a:off x="0" y="3"/>
                  <a:ext cx="720" cy="626"/>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en-US" altLang="zh-CN" sz="1200" b="0">
                      <a:solidFill>
                        <a:srgbClr val="CC00FF"/>
                      </a:solidFill>
                      <a:latin typeface="宋体" pitchFamily="2" charset="-122"/>
                      <a:ea typeface="宋体" pitchFamily="2" charset="-122"/>
                    </a:rPr>
                    <a:t>I/O</a:t>
                  </a:r>
                  <a:endParaRPr lang="en-US" altLang="zh-CN" sz="1200" b="0">
                    <a:solidFill>
                      <a:srgbClr val="CC00FF"/>
                    </a:solidFill>
                    <a:latin typeface="宋体" pitchFamily="2" charset="-122"/>
                    <a:ea typeface="宋体" pitchFamily="2" charset="-122"/>
                  </a:endParaRPr>
                </a:p>
                <a:p>
                  <a:pPr lvl="0" algn="ctr" eaLnBrk="0" hangingPunct="0"/>
                  <a:r>
                    <a:rPr lang="zh-CN" altLang="en-US" sz="1200" b="0">
                      <a:solidFill>
                        <a:srgbClr val="CC00FF"/>
                      </a:solidFill>
                      <a:latin typeface="宋体" pitchFamily="2" charset="-122"/>
                      <a:ea typeface="宋体" pitchFamily="2" charset="-122"/>
                    </a:rPr>
                    <a:t>管理器</a:t>
                  </a:r>
                  <a:endParaRPr lang="zh-CN" altLang="en-US" sz="1200" b="0">
                    <a:solidFill>
                      <a:srgbClr val="CC00FF"/>
                    </a:solidFill>
                    <a:latin typeface="宋体" pitchFamily="2" charset="-122"/>
                    <a:ea typeface="宋体" pitchFamily="2" charset="-122"/>
                  </a:endParaRPr>
                </a:p>
              </p:txBody>
            </p:sp>
            <p:sp>
              <p:nvSpPr>
                <p:cNvPr id="32817" name="文本框 63537"/>
                <p:cNvSpPr txBox="1"/>
                <p:nvPr/>
              </p:nvSpPr>
              <p:spPr>
                <a:xfrm>
                  <a:off x="720" y="3"/>
                  <a:ext cx="720" cy="626"/>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文件缓存管理</a:t>
                  </a:r>
                  <a:endParaRPr lang="zh-CN" altLang="en-US" sz="1200" b="0">
                    <a:solidFill>
                      <a:srgbClr val="CC00FF"/>
                    </a:solidFill>
                    <a:latin typeface="宋体" pitchFamily="2" charset="-122"/>
                    <a:ea typeface="宋体" pitchFamily="2" charset="-122"/>
                  </a:endParaRPr>
                </a:p>
              </p:txBody>
            </p:sp>
            <p:sp>
              <p:nvSpPr>
                <p:cNvPr id="32818" name="文本框 63538"/>
                <p:cNvSpPr txBox="1"/>
                <p:nvPr/>
              </p:nvSpPr>
              <p:spPr>
                <a:xfrm>
                  <a:off x="4320" y="3"/>
                  <a:ext cx="720" cy="626"/>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eaLnBrk="0" hangingPunct="0"/>
                  <a:r>
                    <a:rPr lang="zh-CN" altLang="en-US" sz="1200" b="0">
                      <a:solidFill>
                        <a:srgbClr val="CC00FF"/>
                      </a:solidFill>
                      <a:latin typeface="宋体" pitchFamily="2" charset="-122"/>
                      <a:ea typeface="宋体" pitchFamily="2" charset="-122"/>
                    </a:rPr>
                    <a:t> 进程线       程管理</a:t>
                  </a:r>
                  <a:endParaRPr lang="zh-CN" altLang="en-US" sz="1200" b="0">
                    <a:solidFill>
                      <a:srgbClr val="CC00FF"/>
                    </a:solidFill>
                    <a:latin typeface="宋体" pitchFamily="2" charset="-122"/>
                    <a:ea typeface="宋体" pitchFamily="2" charset="-122"/>
                  </a:endParaRPr>
                </a:p>
              </p:txBody>
            </p:sp>
            <p:sp>
              <p:nvSpPr>
                <p:cNvPr id="32819" name="文本框 63539"/>
                <p:cNvSpPr txBox="1"/>
                <p:nvPr/>
              </p:nvSpPr>
              <p:spPr>
                <a:xfrm>
                  <a:off x="2880" y="0"/>
                  <a:ext cx="720" cy="62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安全访问监视</a:t>
                  </a:r>
                  <a:endParaRPr lang="zh-CN" altLang="en-US" sz="1200" b="0">
                    <a:solidFill>
                      <a:srgbClr val="CC00FF"/>
                    </a:solidFill>
                    <a:latin typeface="宋体" pitchFamily="2" charset="-122"/>
                    <a:ea typeface="宋体" pitchFamily="2" charset="-122"/>
                  </a:endParaRPr>
                </a:p>
              </p:txBody>
            </p:sp>
            <p:sp>
              <p:nvSpPr>
                <p:cNvPr id="32820" name="文本框 63540"/>
                <p:cNvSpPr txBox="1"/>
                <p:nvPr/>
              </p:nvSpPr>
              <p:spPr>
                <a:xfrm>
                  <a:off x="3600" y="3"/>
                  <a:ext cx="720" cy="626"/>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虚存</a:t>
                  </a:r>
                  <a:endParaRPr lang="zh-CN" altLang="en-US" sz="1200" b="0">
                    <a:solidFill>
                      <a:srgbClr val="CC00FF"/>
                    </a:solidFill>
                    <a:latin typeface="宋体" pitchFamily="2" charset="-122"/>
                    <a:ea typeface="宋体" pitchFamily="2" charset="-122"/>
                  </a:endParaRPr>
                </a:p>
                <a:p>
                  <a:pPr lvl="0" algn="ctr" eaLnBrk="0" hangingPunct="0"/>
                  <a:r>
                    <a:rPr lang="zh-CN" altLang="en-US" sz="1200" b="0">
                      <a:solidFill>
                        <a:srgbClr val="CC00FF"/>
                      </a:solidFill>
                      <a:latin typeface="宋体" pitchFamily="2" charset="-122"/>
                      <a:ea typeface="宋体" pitchFamily="2" charset="-122"/>
                    </a:rPr>
                    <a:t>管理</a:t>
                  </a:r>
                  <a:endParaRPr lang="zh-CN" altLang="en-US" sz="1200" b="0">
                    <a:solidFill>
                      <a:srgbClr val="CC00FF"/>
                    </a:solidFill>
                    <a:latin typeface="宋体" pitchFamily="2" charset="-122"/>
                    <a:ea typeface="宋体" pitchFamily="2" charset="-122"/>
                  </a:endParaRPr>
                </a:p>
              </p:txBody>
            </p:sp>
            <p:sp>
              <p:nvSpPr>
                <p:cNvPr id="32821" name="文本框 63541"/>
                <p:cNvSpPr txBox="1"/>
                <p:nvPr/>
              </p:nvSpPr>
              <p:spPr>
                <a:xfrm>
                  <a:off x="5940" y="4"/>
                  <a:ext cx="720" cy="62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局部过</a:t>
                  </a:r>
                  <a:endParaRPr lang="zh-CN" altLang="en-US" sz="1200" b="0">
                    <a:solidFill>
                      <a:srgbClr val="CC00FF"/>
                    </a:solidFill>
                    <a:latin typeface="宋体" pitchFamily="2" charset="-122"/>
                    <a:ea typeface="宋体" pitchFamily="2" charset="-122"/>
                  </a:endParaRPr>
                </a:p>
                <a:p>
                  <a:pPr lvl="0" algn="ctr" eaLnBrk="0" hangingPunct="0"/>
                  <a:r>
                    <a:rPr lang="zh-CN" altLang="en-US" sz="1200" b="0">
                      <a:solidFill>
                        <a:srgbClr val="CC00FF"/>
                      </a:solidFill>
                      <a:latin typeface="宋体" pitchFamily="2" charset="-122"/>
                      <a:ea typeface="宋体" pitchFamily="2" charset="-122"/>
                    </a:rPr>
                    <a:t>程调用</a:t>
                  </a:r>
                  <a:endParaRPr lang="zh-CN" altLang="en-US" sz="1200" b="0">
                    <a:solidFill>
                      <a:srgbClr val="CC00FF"/>
                    </a:solidFill>
                    <a:latin typeface="宋体" pitchFamily="2" charset="-122"/>
                    <a:ea typeface="宋体" pitchFamily="2" charset="-122"/>
                  </a:endParaRPr>
                </a:p>
              </p:txBody>
            </p:sp>
            <p:sp>
              <p:nvSpPr>
                <p:cNvPr id="32822" name="文本框 63542"/>
                <p:cNvSpPr txBox="1"/>
                <p:nvPr/>
              </p:nvSpPr>
              <p:spPr>
                <a:xfrm>
                  <a:off x="5040" y="0"/>
                  <a:ext cx="900" cy="62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注册表配</a:t>
                  </a:r>
                  <a:endParaRPr lang="zh-CN" altLang="en-US" sz="1200" b="0">
                    <a:solidFill>
                      <a:srgbClr val="CC00FF"/>
                    </a:solidFill>
                    <a:latin typeface="宋体" pitchFamily="2" charset="-122"/>
                    <a:ea typeface="宋体" pitchFamily="2" charset="-122"/>
                  </a:endParaRPr>
                </a:p>
                <a:p>
                  <a:pPr lvl="0" algn="ctr" eaLnBrk="0" hangingPunct="0"/>
                  <a:r>
                    <a:rPr lang="zh-CN" altLang="en-US" sz="1200" b="0">
                      <a:solidFill>
                        <a:srgbClr val="CC00FF"/>
                      </a:solidFill>
                      <a:latin typeface="宋体" pitchFamily="2" charset="-122"/>
                      <a:ea typeface="宋体" pitchFamily="2" charset="-122"/>
                    </a:rPr>
                    <a:t>置管理器</a:t>
                  </a:r>
                  <a:endParaRPr lang="zh-CN" altLang="en-US" sz="1200" b="0">
                    <a:solidFill>
                      <a:srgbClr val="CC00FF"/>
                    </a:solidFill>
                    <a:latin typeface="宋体" pitchFamily="2" charset="-122"/>
                    <a:ea typeface="宋体" pitchFamily="2" charset="-122"/>
                  </a:endParaRPr>
                </a:p>
              </p:txBody>
            </p:sp>
            <p:sp>
              <p:nvSpPr>
                <p:cNvPr id="32823" name="文本框 63543"/>
                <p:cNvSpPr txBox="1"/>
                <p:nvPr/>
              </p:nvSpPr>
              <p:spPr>
                <a:xfrm>
                  <a:off x="2160" y="0"/>
                  <a:ext cx="720" cy="62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电源</a:t>
                  </a:r>
                  <a:endParaRPr lang="zh-CN" altLang="en-US" sz="1200" b="0">
                    <a:solidFill>
                      <a:srgbClr val="CC00FF"/>
                    </a:solidFill>
                    <a:latin typeface="宋体" pitchFamily="2" charset="-122"/>
                    <a:ea typeface="宋体" pitchFamily="2" charset="-122"/>
                  </a:endParaRPr>
                </a:p>
                <a:p>
                  <a:pPr lvl="0" algn="ctr" eaLnBrk="0" hangingPunct="0"/>
                  <a:r>
                    <a:rPr lang="zh-CN" altLang="en-US" sz="1200" b="0">
                      <a:solidFill>
                        <a:srgbClr val="CC00FF"/>
                      </a:solidFill>
                      <a:latin typeface="宋体" pitchFamily="2" charset="-122"/>
                      <a:ea typeface="宋体" pitchFamily="2" charset="-122"/>
                    </a:rPr>
                    <a:t>管理器</a:t>
                  </a:r>
                  <a:endParaRPr lang="zh-CN" altLang="en-US" sz="1200" b="0">
                    <a:solidFill>
                      <a:srgbClr val="CC00FF"/>
                    </a:solidFill>
                    <a:latin typeface="宋体" pitchFamily="2" charset="-122"/>
                    <a:ea typeface="宋体" pitchFamily="2" charset="-122"/>
                  </a:endParaRPr>
                </a:p>
              </p:txBody>
            </p:sp>
            <p:sp>
              <p:nvSpPr>
                <p:cNvPr id="32824" name="文本框 63544"/>
                <p:cNvSpPr txBox="1"/>
                <p:nvPr/>
              </p:nvSpPr>
              <p:spPr>
                <a:xfrm>
                  <a:off x="1440" y="0"/>
                  <a:ext cx="720" cy="627"/>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nchor="t"/>
                <a:p>
                  <a:pPr lvl="0" algn="ctr" eaLnBrk="0" hangingPunct="0"/>
                  <a:r>
                    <a:rPr lang="zh-CN" altLang="en-US" sz="1200" b="0">
                      <a:solidFill>
                        <a:srgbClr val="CC00FF"/>
                      </a:solidFill>
                      <a:latin typeface="宋体" pitchFamily="2" charset="-122"/>
                      <a:ea typeface="宋体" pitchFamily="2" charset="-122"/>
                    </a:rPr>
                    <a:t>即插即用管理</a:t>
                  </a:r>
                  <a:endParaRPr lang="zh-CN" altLang="en-US" sz="1200" b="0">
                    <a:solidFill>
                      <a:srgbClr val="CC00FF"/>
                    </a:solidFill>
                    <a:latin typeface="宋体" pitchFamily="2" charset="-122"/>
                    <a:ea typeface="宋体" pitchFamily="2" charset="-122"/>
                  </a:endParaRPr>
                </a:p>
              </p:txBody>
            </p:sp>
          </p:grpSp>
        </p:grpSp>
        <p:sp>
          <p:nvSpPr>
            <p:cNvPr id="32825" name="文本框 63545"/>
            <p:cNvSpPr txBox="1"/>
            <p:nvPr/>
          </p:nvSpPr>
          <p:spPr>
            <a:xfrm>
              <a:off x="357" y="4238"/>
              <a:ext cx="7563" cy="312"/>
            </a:xfrm>
            <a:prstGeom prst="rect">
              <a:avLst/>
            </a:prstGeom>
            <a:solidFill>
              <a:srgbClr val="FFFFFF"/>
            </a:solidFill>
            <a:ln w="9525">
              <a:noFill/>
              <a:miter/>
            </a:ln>
          </p:spPr>
          <p:txBody>
            <a:bodyPr lIns="0" tIns="0" rIns="0" bIns="0" anchor="t"/>
            <a:p>
              <a:pPr lvl="0" algn="ctr" eaLnBrk="0" hangingPunct="0"/>
              <a:r>
                <a:rPr lang="zh-CN" altLang="en-US" sz="1400" b="0">
                  <a:solidFill>
                    <a:srgbClr val="CC00FF"/>
                  </a:solidFill>
                  <a:latin typeface="宋体" pitchFamily="2" charset="-122"/>
                  <a:ea typeface="宋体" pitchFamily="2" charset="-122"/>
                </a:rPr>
                <a:t>硬件接口（总线、</a:t>
              </a:r>
              <a:r>
                <a:rPr lang="en-US" altLang="zh-CN" sz="1400" b="0">
                  <a:solidFill>
                    <a:srgbClr val="CC00FF"/>
                  </a:solidFill>
                  <a:latin typeface="宋体" pitchFamily="2" charset="-122"/>
                  <a:ea typeface="宋体" pitchFamily="2" charset="-122"/>
                </a:rPr>
                <a:t>I/O</a:t>
              </a:r>
              <a:r>
                <a:rPr lang="zh-CN" altLang="en-US" sz="1400" b="0">
                  <a:solidFill>
                    <a:srgbClr val="CC00FF"/>
                  </a:solidFill>
                  <a:latin typeface="宋体" pitchFamily="2" charset="-122"/>
                  <a:ea typeface="宋体" pitchFamily="2" charset="-122"/>
                </a:rPr>
                <a:t>、时钟、计时器、中断、</a:t>
              </a:r>
              <a:r>
                <a:rPr lang="en-US" altLang="zh-CN" sz="1400" b="0">
                  <a:solidFill>
                    <a:srgbClr val="CC00FF"/>
                  </a:solidFill>
                  <a:latin typeface="宋体" pitchFamily="2" charset="-122"/>
                  <a:ea typeface="宋体" pitchFamily="2" charset="-122"/>
                </a:rPr>
                <a:t>DMA</a:t>
              </a:r>
              <a:r>
                <a:rPr lang="zh-CN" altLang="en-US" sz="1400" b="0">
                  <a:solidFill>
                    <a:srgbClr val="CC00FF"/>
                  </a:solidFill>
                  <a:latin typeface="宋体" pitchFamily="2" charset="-122"/>
                  <a:ea typeface="宋体" pitchFamily="2" charset="-122"/>
                </a:rPr>
                <a:t>、</a:t>
              </a:r>
              <a:r>
                <a:rPr lang="en-US" altLang="zh-CN" sz="1400" b="0">
                  <a:solidFill>
                    <a:srgbClr val="CC00FF"/>
                  </a:solidFill>
                  <a:latin typeface="宋体" pitchFamily="2" charset="-122"/>
                  <a:ea typeface="宋体" pitchFamily="2" charset="-122"/>
                </a:rPr>
                <a:t>CACHE</a:t>
              </a:r>
              <a:r>
                <a:rPr lang="zh-CN" altLang="en-US" sz="1400" b="0">
                  <a:solidFill>
                    <a:srgbClr val="CC00FF"/>
                  </a:solidFill>
                  <a:latin typeface="宋体" pitchFamily="2" charset="-122"/>
                  <a:ea typeface="宋体" pitchFamily="2" charset="-122"/>
                </a:rPr>
                <a:t>控制器）</a:t>
              </a:r>
              <a:endParaRPr lang="zh-CN" altLang="en-US" sz="1400" b="0">
                <a:solidFill>
                  <a:srgbClr val="CC00FF"/>
                </a:solidFill>
                <a:latin typeface="宋体" pitchFamily="2" charset="-122"/>
                <a:ea typeface="宋体" pitchFamily="2" charset="-122"/>
              </a:endParaRPr>
            </a:p>
            <a:p>
              <a:pPr lvl="0" algn="ctr" eaLnBrk="0" hangingPunct="0"/>
              <a:endParaRPr lang="zh-CN" altLang="en-US" sz="1400" b="0">
                <a:solidFill>
                  <a:srgbClr val="CC00FF"/>
                </a:solidFill>
                <a:latin typeface="宋体" pitchFamily="2" charset="-122"/>
                <a:ea typeface="宋体" pitchFamily="2" charset="-122"/>
              </a:endParaRPr>
            </a:p>
            <a:p>
              <a:pPr lvl="0" algn="ctr" eaLnBrk="0" hangingPunct="0"/>
              <a:r>
                <a:rPr lang="zh-CN" altLang="en-US" sz="1400" b="0">
                  <a:solidFill>
                    <a:srgbClr val="CC00FF"/>
                  </a:solidFill>
                  <a:latin typeface="宋体" pitchFamily="2" charset="-122"/>
                  <a:ea typeface="宋体" pitchFamily="2" charset="-122"/>
                </a:rPr>
                <a:t>  </a:t>
              </a:r>
              <a:endParaRPr lang="zh-CN" altLang="en-US" sz="1400" b="0">
                <a:solidFill>
                  <a:srgbClr val="CC00FF"/>
                </a:solidFill>
                <a:latin typeface="宋体" pitchFamily="2" charset="-122"/>
                <a:ea typeface="宋体" pitchFamily="2" charset="-122"/>
              </a:endParaRPr>
            </a:p>
            <a:p>
              <a:pPr lvl="0" algn="ctr" eaLnBrk="0" hangingPunct="0"/>
              <a:endParaRPr lang="zh-CN" altLang="en-US" sz="1400" b="0">
                <a:solidFill>
                  <a:srgbClr val="CC00FF"/>
                </a:solidFill>
                <a:latin typeface="宋体" pitchFamily="2" charset="-122"/>
                <a:ea typeface="宋体" pitchFamily="2" charset="-122"/>
              </a:endParaRPr>
            </a:p>
            <a:p>
              <a:pPr lvl="0" algn="ctr" eaLnBrk="0" hangingPunct="0"/>
              <a:endParaRPr lang="zh-CN" altLang="en-US" sz="1400" b="0">
                <a:solidFill>
                  <a:srgbClr val="CC00FF"/>
                </a:solidFill>
                <a:latin typeface="宋体" pitchFamily="2" charset="-122"/>
                <a:ea typeface="宋体" pitchFamily="2" charset="-122"/>
              </a:endParaRPr>
            </a:p>
            <a:p>
              <a:pPr lvl="0" algn="ctr" eaLnBrk="0" hangingPunct="0"/>
              <a:endParaRPr lang="zh-CN" altLang="en-US" sz="1400" b="0">
                <a:solidFill>
                  <a:srgbClr val="CC00FF"/>
                </a:solidFill>
                <a:latin typeface="宋体" pitchFamily="2" charset="-122"/>
                <a:ea typeface="宋体" pitchFamily="2" charset="-122"/>
              </a:endParaRPr>
            </a:p>
          </p:txBody>
        </p:sp>
      </p:grpSp>
      <p:sp>
        <p:nvSpPr>
          <p:cNvPr id="32826" name="矩形 63546"/>
          <p:cNvSpPr/>
          <p:nvPr/>
        </p:nvSpPr>
        <p:spPr>
          <a:xfrm>
            <a:off x="238125" y="593725"/>
            <a:ext cx="6148070" cy="583565"/>
          </a:xfrm>
          <a:prstGeom prst="rect">
            <a:avLst/>
          </a:prstGeom>
          <a:noFill/>
          <a:ln w="9525">
            <a:noFill/>
            <a:miter/>
          </a:ln>
        </p:spPr>
        <p:txBody>
          <a:bodyPr wrap="none" anchor="t">
            <a:spAutoFit/>
          </a:bodyPr>
          <a:p>
            <a:pPr lvl="0"/>
            <a:r>
              <a:rPr lang="zh-CN" altLang="en-US" sz="3200" dirty="0">
                <a:solidFill>
                  <a:srgbClr val="A50021"/>
                </a:solidFill>
                <a:effectLst>
                  <a:outerShdw blurRad="38100" dist="38100" dir="2700000">
                    <a:srgbClr val="000000"/>
                  </a:outerShdw>
                </a:effectLst>
                <a:cs typeface="+mn-ea"/>
              </a:rPr>
              <a:t>Windows XP 客户/服务器结构</a:t>
            </a:r>
            <a:endParaRPr lang="zh-CN" altLang="en-US" sz="4000">
              <a:solidFill>
                <a:schemeClr val="tx2"/>
              </a:solidFill>
              <a:latin typeface="Times New Roman" panose="02020603050405020304" charset="0"/>
              <a:ea typeface="黑体" panose="02010609060101010101" pitchFamily="2" charset="-122"/>
            </a:endParaRPr>
          </a:p>
        </p:txBody>
      </p:sp>
      <p:sp>
        <p:nvSpPr>
          <p:cNvPr id="32827" name="文本框 6354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1</a:t>
            </a:r>
            <a:r>
              <a:rPr lang="en-US" altLang="zh-CN" sz="1400" b="0">
                <a:solidFill>
                  <a:schemeClr val="tx2"/>
                </a:solidFill>
                <a:latin typeface="Times New Roman" panose="02020603050405020304" charset="0"/>
                <a:ea typeface="宋体" pitchFamily="2" charset="-122"/>
              </a:rPr>
              <a:t>9</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64513"/>
          <p:cNvSpPr>
            <a:spLocks noGrp="1"/>
          </p:cNvSpPr>
          <p:nvPr>
            <p:ph type="title"/>
          </p:nvPr>
        </p:nvSpPr>
        <p:spPr>
          <a:xfrm>
            <a:off x="750888" y="0"/>
            <a:ext cx="8393113" cy="534035"/>
          </a:xfrm>
        </p:spPr>
        <p:txBody>
          <a:bodyPr>
            <a:spAutoFit/>
          </a:bodyPr>
          <a:p>
            <a:pPr marL="1219200" lvl="0" indent="-1219200"/>
            <a:r>
              <a:rPr lang="zh-CN" altLang="en-US" sz="3200" dirty="0">
                <a:solidFill>
                  <a:srgbClr val="A50021"/>
                </a:solidFill>
                <a:latin typeface="Arial" panose="020B0604020202020204" pitchFamily="34" charset="0"/>
                <a:ea typeface="宋体" pitchFamily="2" charset="-122"/>
                <a:cs typeface="+mn-ea"/>
              </a:rPr>
              <a:t>(4)Android架构</a:t>
            </a:r>
            <a:endParaRPr lang="zh-CN" altLang="en-US" dirty="0">
              <a:ea typeface="宋体" pitchFamily="2" charset="-122"/>
            </a:endParaRPr>
          </a:p>
        </p:txBody>
      </p:sp>
      <p:pic>
        <p:nvPicPr>
          <p:cNvPr id="33794" name="图片 64515"/>
          <p:cNvPicPr>
            <a:picLocks noChangeAspect="1"/>
          </p:cNvPicPr>
          <p:nvPr/>
        </p:nvPicPr>
        <p:blipFill>
          <a:blip r:embed="rId1"/>
          <a:stretch>
            <a:fillRect/>
          </a:stretch>
        </p:blipFill>
        <p:spPr>
          <a:xfrm>
            <a:off x="163513" y="842963"/>
            <a:ext cx="8837612" cy="5651500"/>
          </a:xfrm>
          <a:prstGeom prst="rect">
            <a:avLst/>
          </a:prstGeom>
          <a:noFill/>
          <a:ln w="9525">
            <a:noFill/>
            <a:miter/>
          </a:ln>
        </p:spPr>
      </p:pic>
      <p:sp>
        <p:nvSpPr>
          <p:cNvPr id="33795" name="文本框 64516"/>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20</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65537"/>
          <p:cNvSpPr>
            <a:spLocks noGrp="1"/>
          </p:cNvSpPr>
          <p:nvPr>
            <p:ph type="title"/>
          </p:nvPr>
        </p:nvSpPr>
        <p:spPr>
          <a:xfrm>
            <a:off x="363538" y="595313"/>
            <a:ext cx="8393113" cy="534035"/>
          </a:xfrm>
        </p:spPr>
        <p:txBody>
          <a:bodyPr>
            <a:spAutoFit/>
          </a:bodyPr>
          <a:p>
            <a:pPr marL="1219200" lvl="0" indent="-1219200" algn="l"/>
            <a:r>
              <a:rPr lang="zh-CN" altLang="en-US" sz="3200" dirty="0">
                <a:solidFill>
                  <a:srgbClr val="A50021"/>
                </a:solidFill>
                <a:latin typeface="Arial" panose="020B0604020202020204" pitchFamily="34" charset="0"/>
                <a:ea typeface="宋体" pitchFamily="2" charset="-122"/>
                <a:cs typeface="+mn-ea"/>
              </a:rPr>
              <a:t>Android架构</a:t>
            </a:r>
            <a:endParaRPr lang="zh-CN" altLang="en-US" sz="3200" dirty="0">
              <a:solidFill>
                <a:srgbClr val="A50021"/>
              </a:solidFill>
              <a:latin typeface="Arial" panose="020B0604020202020204" pitchFamily="34" charset="0"/>
              <a:ea typeface="宋体" pitchFamily="2" charset="-122"/>
              <a:cs typeface="+mn-ea"/>
            </a:endParaRPr>
          </a:p>
        </p:txBody>
      </p:sp>
      <p:sp>
        <p:nvSpPr>
          <p:cNvPr id="65539" name="文本占位符 65538"/>
          <p:cNvSpPr>
            <a:spLocks noGrp="1"/>
          </p:cNvSpPr>
          <p:nvPr>
            <p:ph idx="1"/>
          </p:nvPr>
        </p:nvSpPr>
        <p:spPr>
          <a:xfrm>
            <a:off x="269875" y="1355725"/>
            <a:ext cx="8388350" cy="5057775"/>
          </a:xfrm>
        </p:spPr>
        <p:txBody>
          <a:bodyPr>
            <a:spAutoFit/>
          </a:bodyPr>
          <a:p>
            <a:pPr lvl="0"/>
            <a:r>
              <a:rPr lang="zh-CN" altLang="en-US" dirty="0">
                <a:solidFill>
                  <a:schemeClr val="tx1"/>
                </a:solidFill>
                <a:effectLst/>
                <a:ea typeface="宋体" pitchFamily="2" charset="-122"/>
              </a:rPr>
              <a:t>最底层是</a:t>
            </a:r>
            <a:r>
              <a:rPr lang="en-US" altLang="zh-CN" b="1">
                <a:solidFill>
                  <a:schemeClr val="tx1"/>
                </a:solidFill>
                <a:effectLst/>
                <a:ea typeface="宋体" pitchFamily="2" charset="-122"/>
              </a:rPr>
              <a:t>Linux Kernel</a:t>
            </a:r>
            <a:r>
              <a:rPr lang="zh-CN" altLang="en-US" dirty="0">
                <a:solidFill>
                  <a:schemeClr val="tx1"/>
                </a:solidFill>
                <a:effectLst/>
                <a:ea typeface="宋体" pitchFamily="2" charset="-122"/>
              </a:rPr>
              <a:t>在移动平台的一个移植，它隐藏了硬件、网络等相关的细节，为上层提供了一个相对纯洁的统一接口。</a:t>
            </a:r>
            <a:endParaRPr lang="zh-CN" altLang="en-US" dirty="0">
              <a:solidFill>
                <a:schemeClr val="tx1"/>
              </a:solidFill>
              <a:effectLst/>
              <a:ea typeface="宋体" pitchFamily="2" charset="-122"/>
            </a:endParaRPr>
          </a:p>
          <a:p>
            <a:pPr lvl="0"/>
            <a:r>
              <a:rPr lang="zh-CN" altLang="en-US" dirty="0">
                <a:solidFill>
                  <a:schemeClr val="tx1"/>
                </a:solidFill>
                <a:effectLst/>
                <a:ea typeface="宋体" pitchFamily="2" charset="-122"/>
              </a:rPr>
              <a:t>靠上一层，是一些</a:t>
            </a:r>
            <a:r>
              <a:rPr lang="zh-CN" altLang="en-US" b="1" dirty="0">
                <a:solidFill>
                  <a:schemeClr val="tx1"/>
                </a:solidFill>
                <a:effectLst/>
                <a:ea typeface="宋体" pitchFamily="2" charset="-122"/>
              </a:rPr>
              <a:t>核心的和扩展的类库</a:t>
            </a:r>
            <a:r>
              <a:rPr lang="zh-CN" altLang="en-US" dirty="0">
                <a:solidFill>
                  <a:schemeClr val="tx1"/>
                </a:solidFill>
                <a:effectLst/>
                <a:ea typeface="宋体" pitchFamily="2" charset="-122"/>
              </a:rPr>
              <a:t>，它们都是原生的</a:t>
            </a:r>
            <a:r>
              <a:rPr lang="en-US" altLang="zh-CN">
                <a:solidFill>
                  <a:schemeClr val="tx1"/>
                </a:solidFill>
                <a:effectLst/>
                <a:ea typeface="宋体" pitchFamily="2" charset="-122"/>
              </a:rPr>
              <a:t>C++</a:t>
            </a:r>
            <a:r>
              <a:rPr lang="zh-CN" altLang="en-US" dirty="0">
                <a:solidFill>
                  <a:schemeClr val="tx1"/>
                </a:solidFill>
                <a:effectLst/>
                <a:ea typeface="宋体" pitchFamily="2" charset="-122"/>
              </a:rPr>
              <a:t>实现。在这一层，你可以看到很多熟悉的面孔，开源的力量与贡献由此可见。如果，该层类库需要被上层函数调用，就必须要通过</a:t>
            </a:r>
            <a:r>
              <a:rPr lang="en-US" altLang="zh-CN" b="1">
                <a:solidFill>
                  <a:schemeClr val="tx1"/>
                </a:solidFill>
                <a:effectLst/>
                <a:ea typeface="宋体" pitchFamily="2" charset="-122"/>
              </a:rPr>
              <a:t>JNI</a:t>
            </a:r>
            <a:r>
              <a:rPr lang="zh-CN" altLang="en-US" dirty="0">
                <a:solidFill>
                  <a:schemeClr val="tx1"/>
                </a:solidFill>
                <a:effectLst/>
                <a:ea typeface="宋体" pitchFamily="2" charset="-122"/>
              </a:rPr>
              <a:t>的导出相应的接口函数，否则就只能在层次内部自个调用</a:t>
            </a:r>
            <a:r>
              <a:rPr lang="zh-CN" altLang="en-US" dirty="0">
                <a:ea typeface="宋体" pitchFamily="2" charset="-122"/>
              </a:rPr>
              <a:t>。</a:t>
            </a:r>
            <a:endParaRPr lang="zh-CN" altLang="en-US" dirty="0">
              <a:ea typeface="宋体" pitchFamily="2" charset="-122"/>
            </a:endParaRPr>
          </a:p>
        </p:txBody>
      </p:sp>
      <p:sp>
        <p:nvSpPr>
          <p:cNvPr id="34819" name="文本框 6553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21</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p:cNvSpPr>
          <p:nvPr>
            <p:ph type="title"/>
          </p:nvPr>
        </p:nvSpPr>
        <p:spPr>
          <a:xfrm>
            <a:off x="363538" y="595313"/>
            <a:ext cx="8393113" cy="534035"/>
          </a:xfrm>
        </p:spPr>
        <p:txBody>
          <a:bodyPr>
            <a:spAutoFit/>
          </a:bodyPr>
          <a:p>
            <a:pPr lvl="0"/>
            <a:r>
              <a:rPr lang="zh-CN" altLang="en-US" sz="3200" dirty="0">
                <a:solidFill>
                  <a:srgbClr val="A50021"/>
                </a:solidFill>
                <a:latin typeface="Arial" panose="020B0604020202020204" pitchFamily="34" charset="0"/>
                <a:ea typeface="宋体" pitchFamily="2" charset="-122"/>
                <a:cs typeface="+mn-ea"/>
              </a:rPr>
              <a:t>Android架构</a:t>
            </a:r>
            <a:endParaRPr lang="zh-CN" altLang="en-US" dirty="0">
              <a:ea typeface="宋体" pitchFamily="2" charset="-122"/>
            </a:endParaRPr>
          </a:p>
        </p:txBody>
      </p:sp>
      <p:sp>
        <p:nvSpPr>
          <p:cNvPr id="66563" name="文本占位符 66562"/>
          <p:cNvSpPr>
            <a:spLocks noGrp="1"/>
          </p:cNvSpPr>
          <p:nvPr>
            <p:ph idx="1"/>
          </p:nvPr>
        </p:nvSpPr>
        <p:spPr>
          <a:xfrm>
            <a:off x="381000" y="1803400"/>
            <a:ext cx="8388350" cy="3305175"/>
          </a:xfrm>
        </p:spPr>
        <p:txBody>
          <a:bodyPr>
            <a:spAutoFit/>
          </a:bodyPr>
          <a:p>
            <a:pPr lvl="0"/>
            <a:r>
              <a:rPr lang="zh-CN" altLang="en-US" dirty="0">
                <a:solidFill>
                  <a:schemeClr val="tx1"/>
                </a:solidFill>
                <a:effectLst/>
                <a:ea typeface="宋体" pitchFamily="2" charset="-122"/>
              </a:rPr>
              <a:t>再往上，首先是</a:t>
            </a:r>
            <a:r>
              <a:rPr lang="zh-CN" altLang="en-US" b="1" dirty="0">
                <a:solidFill>
                  <a:schemeClr val="tx1"/>
                </a:solidFill>
                <a:effectLst/>
                <a:ea typeface="宋体" pitchFamily="2" charset="-122"/>
              </a:rPr>
              <a:t>框架层</a:t>
            </a:r>
            <a:r>
              <a:rPr lang="zh-CN" altLang="en-US" dirty="0">
                <a:solidFill>
                  <a:schemeClr val="tx1"/>
                </a:solidFill>
                <a:effectLst/>
                <a:ea typeface="宋体" pitchFamily="2" charset="-122"/>
              </a:rPr>
              <a:t>，这里包含所有开发所用的</a:t>
            </a:r>
            <a:r>
              <a:rPr lang="en-US" altLang="zh-CN">
                <a:solidFill>
                  <a:schemeClr val="tx1"/>
                </a:solidFill>
                <a:effectLst/>
                <a:ea typeface="宋体" pitchFamily="2" charset="-122"/>
              </a:rPr>
              <a:t>SDK</a:t>
            </a:r>
            <a:r>
              <a:rPr lang="zh-CN" altLang="en-US" dirty="0">
                <a:solidFill>
                  <a:schemeClr val="tx1"/>
                </a:solidFill>
                <a:effectLst/>
                <a:ea typeface="宋体" pitchFamily="2" charset="-122"/>
              </a:rPr>
              <a:t>类库，另外还有一些未公开接口的类库和实现，它们是整个</a:t>
            </a:r>
            <a:r>
              <a:rPr lang="en-US" altLang="zh-CN">
                <a:solidFill>
                  <a:schemeClr val="tx1"/>
                </a:solidFill>
                <a:effectLst/>
                <a:ea typeface="宋体" pitchFamily="2" charset="-122"/>
              </a:rPr>
              <a:t>Android</a:t>
            </a:r>
            <a:r>
              <a:rPr lang="zh-CN" altLang="en-US" dirty="0">
                <a:solidFill>
                  <a:schemeClr val="tx1"/>
                </a:solidFill>
                <a:effectLst/>
                <a:ea typeface="宋体" pitchFamily="2" charset="-122"/>
              </a:rPr>
              <a:t>平台核心机制的体现。</a:t>
            </a:r>
            <a:endParaRPr lang="zh-CN" altLang="en-US" dirty="0">
              <a:solidFill>
                <a:schemeClr val="tx1"/>
              </a:solidFill>
              <a:effectLst/>
              <a:ea typeface="宋体" pitchFamily="2" charset="-122"/>
            </a:endParaRPr>
          </a:p>
          <a:p>
            <a:pPr lvl="0"/>
            <a:r>
              <a:rPr lang="zh-CN" altLang="en-US" dirty="0">
                <a:solidFill>
                  <a:schemeClr val="tx1"/>
                </a:solidFill>
                <a:effectLst/>
                <a:ea typeface="宋体" pitchFamily="2" charset="-122"/>
              </a:rPr>
              <a:t>在最上面，就是</a:t>
            </a:r>
            <a:r>
              <a:rPr lang="zh-CN" altLang="en-US" b="1" dirty="0">
                <a:solidFill>
                  <a:schemeClr val="tx1"/>
                </a:solidFill>
                <a:effectLst/>
                <a:ea typeface="宋体" pitchFamily="2" charset="-122"/>
              </a:rPr>
              <a:t>应用层</a:t>
            </a:r>
            <a:r>
              <a:rPr lang="zh-CN" altLang="en-US" dirty="0">
                <a:solidFill>
                  <a:schemeClr val="tx1"/>
                </a:solidFill>
                <a:effectLst/>
                <a:ea typeface="宋体" pitchFamily="2" charset="-122"/>
              </a:rPr>
              <a:t>了，系统的一些应用和第三方开发的所有应用都是位于这个层次上，总是基于</a:t>
            </a:r>
            <a:r>
              <a:rPr lang="en-US" altLang="zh-CN">
                <a:solidFill>
                  <a:schemeClr val="tx1"/>
                </a:solidFill>
                <a:effectLst/>
                <a:ea typeface="宋体" pitchFamily="2" charset="-122"/>
              </a:rPr>
              <a:t>SDK</a:t>
            </a:r>
            <a:r>
              <a:rPr lang="zh-CN" altLang="en-US" dirty="0">
                <a:solidFill>
                  <a:schemeClr val="tx1"/>
                </a:solidFill>
                <a:effectLst/>
                <a:ea typeface="宋体" pitchFamily="2" charset="-122"/>
              </a:rPr>
              <a:t>来实现。</a:t>
            </a:r>
            <a:endParaRPr lang="zh-CN" altLang="en-US" dirty="0">
              <a:solidFill>
                <a:schemeClr val="tx1"/>
              </a:solidFill>
              <a:effectLst/>
              <a:ea typeface="宋体" pitchFamily="2" charset="-122"/>
            </a:endParaRPr>
          </a:p>
        </p:txBody>
      </p:sp>
      <p:sp>
        <p:nvSpPr>
          <p:cNvPr id="35843" name="文本框 665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23</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p:cNvSpPr>
          <p:nvPr>
            <p:ph type="title"/>
          </p:nvPr>
        </p:nvSpPr>
        <p:spPr>
          <a:xfrm>
            <a:off x="363538" y="595313"/>
            <a:ext cx="8393113" cy="534035"/>
          </a:xfrm>
        </p:spPr>
        <p:txBody>
          <a:bodyPr>
            <a:spAutoFit/>
          </a:bodyPr>
          <a:p>
            <a:pPr lvl="0"/>
            <a:r>
              <a:rPr lang="zh-CN" altLang="en-US" sz="3200" dirty="0">
                <a:solidFill>
                  <a:srgbClr val="A50021"/>
                </a:solidFill>
                <a:latin typeface="Arial" panose="020B0604020202020204" pitchFamily="34" charset="0"/>
                <a:ea typeface="宋体" pitchFamily="2" charset="-122"/>
                <a:cs typeface="+mn-ea"/>
              </a:rPr>
              <a:t>HarmonyOS NEXT</a:t>
            </a:r>
            <a:r>
              <a:rPr lang="en-US" altLang="zh-CN" sz="3200" dirty="0">
                <a:solidFill>
                  <a:srgbClr val="A50021"/>
                </a:solidFill>
                <a:latin typeface="Arial" panose="020B0604020202020204" pitchFamily="34" charset="0"/>
                <a:ea typeface="宋体" pitchFamily="2" charset="-122"/>
                <a:cs typeface="+mn-ea"/>
              </a:rPr>
              <a:t> </a:t>
            </a:r>
            <a:r>
              <a:rPr lang="zh-CN" altLang="en-US" sz="3200" dirty="0">
                <a:solidFill>
                  <a:srgbClr val="A50021"/>
                </a:solidFill>
                <a:latin typeface="Arial" panose="020B0604020202020204" pitchFamily="34" charset="0"/>
                <a:ea typeface="宋体" pitchFamily="2" charset="-122"/>
                <a:cs typeface="+mn-ea"/>
              </a:rPr>
              <a:t>鸿蒙微内核</a:t>
            </a:r>
            <a:endParaRPr lang="zh-CN" altLang="en-US" dirty="0">
              <a:ea typeface="宋体" pitchFamily="2" charset="-122"/>
            </a:endParaRPr>
          </a:p>
        </p:txBody>
      </p:sp>
      <p:sp>
        <p:nvSpPr>
          <p:cNvPr id="66563" name="文本占位符 66562"/>
          <p:cNvSpPr>
            <a:spLocks noGrp="1"/>
          </p:cNvSpPr>
          <p:nvPr>
            <p:ph idx="1"/>
          </p:nvPr>
        </p:nvSpPr>
        <p:spPr>
          <a:xfrm>
            <a:off x="335280" y="1270000"/>
            <a:ext cx="8472805" cy="4848860"/>
          </a:xfrm>
        </p:spPr>
        <p:txBody>
          <a:bodyPr wrap="square">
            <a:spAutoFit/>
          </a:bodyPr>
          <a:p>
            <a:pPr lvl="0"/>
            <a:r>
              <a:rPr lang="zh-CN" altLang="en-US" sz="2400" dirty="0">
                <a:solidFill>
                  <a:schemeClr val="tx1"/>
                </a:solidFill>
                <a:effectLst/>
                <a:ea typeface="宋体" pitchFamily="2" charset="-122"/>
              </a:rPr>
              <a:t>鸿蒙内核包含一个核心内核</a:t>
            </a:r>
            <a:r>
              <a:rPr lang="en-US" altLang="zh-CN" sz="2400" dirty="0">
                <a:solidFill>
                  <a:schemeClr val="tx1"/>
                </a:solidFill>
                <a:effectLst/>
                <a:ea typeface="宋体" pitchFamily="2" charset="-122"/>
              </a:rPr>
              <a:t> + </a:t>
            </a:r>
            <a:r>
              <a:rPr lang="zh-CN" altLang="en-US" sz="2400" dirty="0">
                <a:solidFill>
                  <a:schemeClr val="tx1"/>
                </a:solidFill>
                <a:effectLst/>
                <a:ea typeface="宋体" pitchFamily="2" charset="-122"/>
              </a:rPr>
              <a:t>一系列高权限的特权服务</a:t>
            </a:r>
            <a:endParaRPr lang="zh-CN" altLang="en-US"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鸿蒙内核之上可以运行复杂应用框架，比如</a:t>
            </a:r>
            <a:r>
              <a:rPr lang="en-US" altLang="zh-CN" sz="2400" dirty="0">
                <a:solidFill>
                  <a:schemeClr val="tx1"/>
                </a:solidFill>
                <a:effectLst/>
                <a:ea typeface="宋体" pitchFamily="2" charset="-122"/>
              </a:rPr>
              <a:t>AOSP</a:t>
            </a:r>
            <a:r>
              <a:rPr lang="zh-CN" altLang="en-US" sz="2400" dirty="0">
                <a:solidFill>
                  <a:schemeClr val="tx1"/>
                </a:solidFill>
                <a:effectLst/>
                <a:ea typeface="宋体" pitchFamily="2" charset="-122"/>
              </a:rPr>
              <a:t>，</a:t>
            </a:r>
            <a:r>
              <a:rPr lang="en-US" altLang="zh-CN" sz="2400" dirty="0">
                <a:solidFill>
                  <a:schemeClr val="tx1"/>
                </a:solidFill>
                <a:effectLst/>
                <a:ea typeface="宋体" pitchFamily="2" charset="-122"/>
              </a:rPr>
              <a:t>OpenHarmony</a:t>
            </a:r>
            <a:endParaRPr lang="en-US" altLang="zh-CN"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性能和安全性超越</a:t>
            </a:r>
            <a:r>
              <a:rPr lang="en-US" altLang="zh-CN" sz="2400" dirty="0">
                <a:solidFill>
                  <a:schemeClr val="tx1"/>
                </a:solidFill>
                <a:effectLst/>
                <a:ea typeface="宋体" pitchFamily="2" charset="-122"/>
              </a:rPr>
              <a:t>Linux</a:t>
            </a:r>
            <a:r>
              <a:rPr lang="zh-CN" altLang="en-US" sz="2400" dirty="0">
                <a:solidFill>
                  <a:schemeClr val="tx1"/>
                </a:solidFill>
                <a:effectLst/>
                <a:ea typeface="宋体" pitchFamily="2" charset="-122"/>
              </a:rPr>
              <a:t>同类设备</a:t>
            </a:r>
            <a:endParaRPr lang="zh-CN" altLang="en-US"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鸿蒙内核有</a:t>
            </a:r>
            <a:r>
              <a:rPr lang="en-US" altLang="zh-CN" sz="2400" dirty="0">
                <a:solidFill>
                  <a:schemeClr val="tx1"/>
                </a:solidFill>
                <a:effectLst/>
                <a:ea typeface="宋体" pitchFamily="2" charset="-122"/>
              </a:rPr>
              <a:t>9</a:t>
            </a:r>
            <a:r>
              <a:rPr lang="zh-CN" altLang="en-US" sz="2400" dirty="0">
                <a:solidFill>
                  <a:schemeClr val="tx1"/>
                </a:solidFill>
                <a:effectLst/>
                <a:ea typeface="宋体" pitchFamily="2" charset="-122"/>
              </a:rPr>
              <a:t>万行核心代码，基于</a:t>
            </a:r>
            <a:r>
              <a:rPr lang="en-US" altLang="zh-CN" sz="2400" dirty="0">
                <a:solidFill>
                  <a:schemeClr val="tx1"/>
                </a:solidFill>
                <a:effectLst/>
                <a:ea typeface="宋体" pitchFamily="2" charset="-122"/>
              </a:rPr>
              <a:t>C</a:t>
            </a:r>
            <a:r>
              <a:rPr lang="zh-CN" altLang="en-US" sz="2400" dirty="0">
                <a:solidFill>
                  <a:schemeClr val="tx1"/>
                </a:solidFill>
                <a:effectLst/>
                <a:ea typeface="宋体" pitchFamily="2" charset="-122"/>
              </a:rPr>
              <a:t>语言的受限子集实现，</a:t>
            </a:r>
            <a:r>
              <a:rPr lang="en-US" altLang="zh-CN" sz="2400" dirty="0">
                <a:solidFill>
                  <a:schemeClr val="tx1"/>
                </a:solidFill>
                <a:effectLst/>
                <a:ea typeface="宋体" pitchFamily="2" charset="-122"/>
              </a:rPr>
              <a:t>100%</a:t>
            </a:r>
            <a:r>
              <a:rPr lang="zh-CN" altLang="en-US" sz="2400" dirty="0">
                <a:solidFill>
                  <a:schemeClr val="tx1"/>
                </a:solidFill>
                <a:effectLst/>
                <a:ea typeface="宋体" pitchFamily="2" charset="-122"/>
              </a:rPr>
              <a:t>自研。鸿蒙系统的所有服务版本超过</a:t>
            </a:r>
            <a:r>
              <a:rPr lang="en-US" altLang="zh-CN" sz="2400" dirty="0">
                <a:solidFill>
                  <a:schemeClr val="tx1"/>
                </a:solidFill>
                <a:effectLst/>
                <a:ea typeface="宋体" pitchFamily="2" charset="-122"/>
              </a:rPr>
              <a:t>100</a:t>
            </a:r>
            <a:r>
              <a:rPr lang="zh-CN" altLang="en-US" sz="2400" dirty="0">
                <a:solidFill>
                  <a:schemeClr val="tx1"/>
                </a:solidFill>
                <a:effectLst/>
                <a:ea typeface="宋体" pitchFamily="2" charset="-122"/>
              </a:rPr>
              <a:t>万行代码。</a:t>
            </a:r>
            <a:endParaRPr lang="zh-CN" altLang="en-US"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鸿蒙系统可以根据针对各种场景指定的详细配置组装</a:t>
            </a:r>
            <a:r>
              <a:rPr lang="en-US" altLang="zh-CN" sz="2400" dirty="0">
                <a:solidFill>
                  <a:schemeClr val="tx1"/>
                </a:solidFill>
                <a:effectLst/>
                <a:ea typeface="宋体" pitchFamily="2" charset="-122"/>
              </a:rPr>
              <a:t>OS</a:t>
            </a:r>
            <a:r>
              <a:rPr lang="zh-CN" altLang="en-US" sz="2400" dirty="0">
                <a:solidFill>
                  <a:schemeClr val="tx1"/>
                </a:solidFill>
                <a:effectLst/>
                <a:ea typeface="宋体" pitchFamily="2" charset="-122"/>
              </a:rPr>
              <a:t>服务</a:t>
            </a:r>
            <a:endParaRPr lang="zh-CN" altLang="en-US"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微内核的可靠性、安全性和扩展性由于宏内核。</a:t>
            </a:r>
            <a:endParaRPr lang="zh-CN" altLang="en-US" sz="2400" dirty="0">
              <a:solidFill>
                <a:schemeClr val="tx1"/>
              </a:solidFill>
              <a:effectLst/>
              <a:ea typeface="宋体" pitchFamily="2" charset="-122"/>
            </a:endParaRPr>
          </a:p>
          <a:p>
            <a:pPr lvl="0"/>
            <a:r>
              <a:rPr lang="zh-CN" altLang="en-US" sz="2400" dirty="0">
                <a:solidFill>
                  <a:schemeClr val="tx1"/>
                </a:solidFill>
                <a:effectLst/>
                <a:ea typeface="宋体" pitchFamily="2" charset="-122"/>
              </a:rPr>
              <a:t>微内核的挑战：</a:t>
            </a:r>
            <a:endParaRPr lang="zh-CN" altLang="en-US" sz="2400" dirty="0">
              <a:solidFill>
                <a:schemeClr val="tx1"/>
              </a:solidFill>
              <a:effectLst/>
              <a:ea typeface="宋体" pitchFamily="2" charset="-122"/>
            </a:endParaRPr>
          </a:p>
          <a:p>
            <a:pPr lvl="1"/>
            <a:r>
              <a:rPr lang="zh-CN" altLang="en-US" sz="2100" dirty="0">
                <a:solidFill>
                  <a:schemeClr val="tx1"/>
                </a:solidFill>
                <a:effectLst/>
                <a:ea typeface="宋体" pitchFamily="2" charset="-122"/>
              </a:rPr>
              <a:t>兼容性，生态系统，重用已有的软件</a:t>
            </a:r>
            <a:endParaRPr lang="zh-CN" altLang="en-US" sz="2100" dirty="0">
              <a:solidFill>
                <a:schemeClr val="tx1"/>
              </a:solidFill>
              <a:effectLst/>
              <a:ea typeface="宋体" pitchFamily="2" charset="-122"/>
            </a:endParaRPr>
          </a:p>
          <a:p>
            <a:pPr lvl="1"/>
            <a:r>
              <a:rPr lang="zh-CN" altLang="en-US" sz="2100" dirty="0">
                <a:solidFill>
                  <a:schemeClr val="tx1"/>
                </a:solidFill>
                <a:effectLst/>
                <a:ea typeface="宋体" pitchFamily="2" charset="-122"/>
              </a:rPr>
              <a:t>性能</a:t>
            </a:r>
            <a:endParaRPr lang="zh-CN" altLang="en-US" sz="2100" dirty="0">
              <a:solidFill>
                <a:schemeClr val="tx1"/>
              </a:solidFill>
              <a:effectLst/>
              <a:ea typeface="宋体" pitchFamily="2" charset="-122"/>
            </a:endParaRPr>
          </a:p>
        </p:txBody>
      </p:sp>
      <p:sp>
        <p:nvSpPr>
          <p:cNvPr id="35843" name="文本框 665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23</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p:cNvSpPr>
          <p:nvPr>
            <p:ph type="title"/>
          </p:nvPr>
        </p:nvSpPr>
        <p:spPr>
          <a:xfrm>
            <a:off x="363538" y="595313"/>
            <a:ext cx="8393113" cy="534035"/>
          </a:xfrm>
        </p:spPr>
        <p:txBody>
          <a:bodyPr>
            <a:spAutoFit/>
          </a:bodyPr>
          <a:p>
            <a:pPr lvl="0"/>
            <a:r>
              <a:rPr lang="zh-CN" altLang="en-US" sz="3200" dirty="0">
                <a:solidFill>
                  <a:srgbClr val="A50021"/>
                </a:solidFill>
                <a:latin typeface="Arial" panose="020B0604020202020204" pitchFamily="34" charset="0"/>
                <a:ea typeface="宋体" pitchFamily="2" charset="-122"/>
                <a:cs typeface="+mn-ea"/>
              </a:rPr>
              <a:t>HarmonyOS NEXT</a:t>
            </a:r>
            <a:r>
              <a:rPr lang="en-US" altLang="zh-CN" sz="3200" dirty="0">
                <a:solidFill>
                  <a:srgbClr val="A50021"/>
                </a:solidFill>
                <a:latin typeface="Arial" panose="020B0604020202020204" pitchFamily="34" charset="0"/>
                <a:ea typeface="宋体" pitchFamily="2" charset="-122"/>
                <a:cs typeface="+mn-ea"/>
              </a:rPr>
              <a:t> </a:t>
            </a:r>
            <a:r>
              <a:rPr lang="zh-CN" altLang="en-US" sz="3200" dirty="0">
                <a:solidFill>
                  <a:srgbClr val="A50021"/>
                </a:solidFill>
                <a:latin typeface="Arial" panose="020B0604020202020204" pitchFamily="34" charset="0"/>
                <a:ea typeface="宋体" pitchFamily="2" charset="-122"/>
                <a:cs typeface="+mn-ea"/>
              </a:rPr>
              <a:t>鸿蒙微内核</a:t>
            </a:r>
            <a:endParaRPr lang="zh-CN" altLang="en-US" dirty="0">
              <a:ea typeface="宋体" pitchFamily="2" charset="-122"/>
            </a:endParaRPr>
          </a:p>
        </p:txBody>
      </p:sp>
      <p:sp>
        <p:nvSpPr>
          <p:cNvPr id="35843" name="文本框 665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23</a:t>
            </a:r>
            <a:endParaRPr lang="en-US" altLang="zh-CN" sz="1400" b="0">
              <a:solidFill>
                <a:schemeClr val="tx2"/>
              </a:solidFill>
              <a:latin typeface="Times New Roman" panose="02020603050405020304" charset="0"/>
              <a:ea typeface="宋体" pitchFamily="2" charset="-122"/>
            </a:endParaRPr>
          </a:p>
        </p:txBody>
      </p:sp>
      <p:pic>
        <p:nvPicPr>
          <p:cNvPr id="2" name="图片 1"/>
          <p:cNvPicPr>
            <a:picLocks noChangeAspect="1"/>
          </p:cNvPicPr>
          <p:nvPr/>
        </p:nvPicPr>
        <p:blipFill>
          <a:blip r:embed="rId1"/>
          <a:stretch>
            <a:fillRect/>
          </a:stretch>
        </p:blipFill>
        <p:spPr>
          <a:xfrm>
            <a:off x="641985" y="1298575"/>
            <a:ext cx="7628890" cy="52120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p:cNvSpPr>
          <p:nvPr>
            <p:ph type="title"/>
          </p:nvPr>
        </p:nvSpPr>
        <p:spPr>
          <a:xfrm>
            <a:off x="363538" y="595313"/>
            <a:ext cx="8393113" cy="534035"/>
          </a:xfrm>
        </p:spPr>
        <p:txBody>
          <a:bodyPr>
            <a:spAutoFit/>
          </a:bodyPr>
          <a:p>
            <a:pPr lvl="0"/>
            <a:r>
              <a:rPr lang="zh-CN" altLang="en-US" sz="3200" dirty="0">
                <a:solidFill>
                  <a:srgbClr val="A50021"/>
                </a:solidFill>
                <a:latin typeface="Arial" panose="020B0604020202020204" pitchFamily="34" charset="0"/>
                <a:ea typeface="宋体" pitchFamily="2" charset="-122"/>
                <a:cs typeface="+mn-ea"/>
              </a:rPr>
              <a:t>HarmonyOS NEXT</a:t>
            </a:r>
            <a:r>
              <a:rPr lang="en-US" altLang="zh-CN" sz="3200" dirty="0">
                <a:solidFill>
                  <a:srgbClr val="A50021"/>
                </a:solidFill>
                <a:latin typeface="Arial" panose="020B0604020202020204" pitchFamily="34" charset="0"/>
                <a:ea typeface="宋体" pitchFamily="2" charset="-122"/>
                <a:cs typeface="+mn-ea"/>
              </a:rPr>
              <a:t> </a:t>
            </a:r>
            <a:r>
              <a:rPr lang="zh-CN" altLang="en-US" sz="3200" dirty="0">
                <a:solidFill>
                  <a:srgbClr val="A50021"/>
                </a:solidFill>
                <a:latin typeface="Arial" panose="020B0604020202020204" pitchFamily="34" charset="0"/>
                <a:ea typeface="宋体" pitchFamily="2" charset="-122"/>
                <a:cs typeface="+mn-ea"/>
              </a:rPr>
              <a:t>鸿蒙微内核</a:t>
            </a:r>
            <a:endParaRPr lang="zh-CN" altLang="en-US" dirty="0">
              <a:ea typeface="宋体" pitchFamily="2" charset="-122"/>
            </a:endParaRPr>
          </a:p>
        </p:txBody>
      </p:sp>
      <p:sp>
        <p:nvSpPr>
          <p:cNvPr id="66563" name="文本占位符 66562"/>
          <p:cNvSpPr>
            <a:spLocks noGrp="1"/>
          </p:cNvSpPr>
          <p:nvPr>
            <p:ph idx="1"/>
          </p:nvPr>
        </p:nvSpPr>
        <p:spPr>
          <a:xfrm>
            <a:off x="167640" y="1254760"/>
            <a:ext cx="8702675" cy="5003800"/>
          </a:xfrm>
        </p:spPr>
        <p:txBody>
          <a:bodyPr wrap="square">
            <a:spAutoFit/>
          </a:bodyPr>
          <a:p>
            <a:pPr lvl="0"/>
            <a:r>
              <a:rPr lang="zh-CN" altLang="en-US" sz="2400" dirty="0">
                <a:solidFill>
                  <a:schemeClr val="tx1"/>
                </a:solidFill>
                <a:effectLst/>
                <a:ea typeface="宋体" pitchFamily="2" charset="-122"/>
                <a:sym typeface="+mn-ea"/>
              </a:rPr>
              <a:t>最大限度的提高和</a:t>
            </a:r>
            <a:r>
              <a:rPr lang="en-US" altLang="zh-CN" sz="2400" dirty="0">
                <a:solidFill>
                  <a:schemeClr val="tx1"/>
                </a:solidFill>
                <a:effectLst/>
                <a:ea typeface="宋体" pitchFamily="2" charset="-122"/>
                <a:sym typeface="+mn-ea"/>
              </a:rPr>
              <a:t>Linux</a:t>
            </a:r>
            <a:r>
              <a:rPr lang="zh-CN" altLang="en-US" sz="2400" dirty="0">
                <a:solidFill>
                  <a:schemeClr val="tx1"/>
                </a:solidFill>
                <a:effectLst/>
                <a:ea typeface="宋体" pitchFamily="2" charset="-122"/>
                <a:sym typeface="+mn-ea"/>
              </a:rPr>
              <a:t>系统的兼容性。</a:t>
            </a:r>
            <a:endParaRPr lang="zh-CN" sz="2400" dirty="0">
              <a:solidFill>
                <a:schemeClr val="tx1"/>
              </a:solidFill>
              <a:effectLst/>
              <a:ea typeface="宋体" pitchFamily="2" charset="-122"/>
            </a:endParaRPr>
          </a:p>
          <a:p>
            <a:pPr lvl="1"/>
            <a:r>
              <a:rPr lang="zh-CN" sz="2100" dirty="0">
                <a:solidFill>
                  <a:schemeClr val="tx1"/>
                </a:solidFill>
                <a:effectLst/>
                <a:ea typeface="宋体" pitchFamily="2" charset="-122"/>
              </a:rPr>
              <a:t>完全兼容</a:t>
            </a:r>
            <a:r>
              <a:rPr lang="en-US" altLang="zh-CN" sz="2100" dirty="0">
                <a:solidFill>
                  <a:schemeClr val="tx1"/>
                </a:solidFill>
                <a:effectLst/>
                <a:ea typeface="宋体" pitchFamily="2" charset="-122"/>
              </a:rPr>
              <a:t>Linux API/ABI</a:t>
            </a:r>
            <a:r>
              <a:rPr lang="zh-CN" altLang="en-US" sz="2100" dirty="0">
                <a:solidFill>
                  <a:schemeClr val="tx1"/>
                </a:solidFill>
                <a:effectLst/>
                <a:ea typeface="宋体" pitchFamily="2" charset="-122"/>
              </a:rPr>
              <a:t>，可以重用</a:t>
            </a:r>
            <a:r>
              <a:rPr lang="en-US" altLang="zh-CN" sz="2100" dirty="0">
                <a:solidFill>
                  <a:schemeClr val="tx1"/>
                </a:solidFill>
                <a:effectLst/>
                <a:ea typeface="宋体" pitchFamily="2" charset="-122"/>
              </a:rPr>
              <a:t>Linux</a:t>
            </a:r>
            <a:r>
              <a:rPr lang="zh-CN" altLang="en-US" sz="2100" dirty="0">
                <a:solidFill>
                  <a:schemeClr val="tx1"/>
                </a:solidFill>
                <a:effectLst/>
                <a:ea typeface="宋体" pitchFamily="2" charset="-122"/>
              </a:rPr>
              <a:t>应用软件（不仅仅是只兼容</a:t>
            </a:r>
            <a:r>
              <a:rPr lang="en-US" altLang="zh-CN" sz="2100" dirty="0">
                <a:solidFill>
                  <a:schemeClr val="tx1"/>
                </a:solidFill>
                <a:effectLst/>
                <a:ea typeface="宋体" pitchFamily="2" charset="-122"/>
              </a:rPr>
              <a:t>POSIX</a:t>
            </a:r>
            <a:r>
              <a:rPr lang="zh-CN" altLang="en-US" sz="2100" dirty="0">
                <a:solidFill>
                  <a:schemeClr val="tx1"/>
                </a:solidFill>
                <a:effectLst/>
                <a:ea typeface="宋体" pitchFamily="2" charset="-122"/>
              </a:rPr>
              <a:t>标准）。</a:t>
            </a:r>
            <a:endParaRPr lang="zh-CN" altLang="en-US" sz="2100" dirty="0">
              <a:solidFill>
                <a:schemeClr val="tx1"/>
              </a:solidFill>
              <a:effectLst/>
              <a:ea typeface="宋体" pitchFamily="2" charset="-122"/>
            </a:endParaRPr>
          </a:p>
          <a:p>
            <a:pPr lvl="1"/>
            <a:r>
              <a:rPr lang="zh-CN" altLang="en-US" sz="2100" dirty="0">
                <a:solidFill>
                  <a:schemeClr val="tx1"/>
                </a:solidFill>
                <a:effectLst/>
                <a:ea typeface="宋体" pitchFamily="2" charset="-122"/>
              </a:rPr>
              <a:t>提供</a:t>
            </a:r>
            <a:r>
              <a:rPr lang="en-US" altLang="zh-CN" sz="2100" dirty="0">
                <a:solidFill>
                  <a:schemeClr val="tx1"/>
                </a:solidFill>
                <a:effectLst/>
                <a:ea typeface="宋体" pitchFamily="2" charset="-122"/>
              </a:rPr>
              <a:t>Linux</a:t>
            </a:r>
            <a:r>
              <a:rPr lang="zh-CN" altLang="en-US" sz="2100" dirty="0">
                <a:solidFill>
                  <a:schemeClr val="tx1"/>
                </a:solidFill>
                <a:effectLst/>
                <a:ea typeface="宋体" pitchFamily="2" charset="-122"/>
              </a:rPr>
              <a:t>驱动容器（</a:t>
            </a:r>
            <a:r>
              <a:rPr lang="en-US" altLang="zh-CN" sz="2100" dirty="0">
                <a:solidFill>
                  <a:schemeClr val="tx1"/>
                </a:solidFill>
                <a:effectLst/>
                <a:ea typeface="宋体" pitchFamily="2" charset="-122"/>
              </a:rPr>
              <a:t>LDC</a:t>
            </a:r>
            <a:r>
              <a:rPr lang="zh-CN" altLang="en-US" sz="2100" dirty="0">
                <a:solidFill>
                  <a:schemeClr val="tx1"/>
                </a:solidFill>
                <a:effectLst/>
                <a:ea typeface="宋体" pitchFamily="2" charset="-122"/>
              </a:rPr>
              <a:t>），</a:t>
            </a:r>
            <a:r>
              <a:rPr lang="en-US" altLang="zh-CN" sz="2100" dirty="0">
                <a:solidFill>
                  <a:schemeClr val="tx1"/>
                </a:solidFill>
                <a:effectLst/>
                <a:ea typeface="宋体" pitchFamily="2" charset="-122"/>
              </a:rPr>
              <a:t>LDC</a:t>
            </a:r>
            <a:r>
              <a:rPr lang="zh-CN" altLang="en-US" sz="2100" dirty="0">
                <a:solidFill>
                  <a:schemeClr val="tx1"/>
                </a:solidFill>
                <a:effectLst/>
                <a:ea typeface="宋体" pitchFamily="2" charset="-122"/>
              </a:rPr>
              <a:t>通过修改</a:t>
            </a:r>
            <a:r>
              <a:rPr lang="zh-CN" altLang="en-US" sz="2100" dirty="0">
                <a:solidFill>
                  <a:schemeClr val="tx1"/>
                </a:solidFill>
                <a:effectLst/>
                <a:ea typeface="宋体" pitchFamily="2" charset="-122"/>
                <a:sym typeface="+mn-ea"/>
              </a:rPr>
              <a:t>开源</a:t>
            </a:r>
            <a:r>
              <a:rPr lang="en-US" altLang="zh-CN" sz="2100" dirty="0">
                <a:solidFill>
                  <a:schemeClr val="tx1"/>
                </a:solidFill>
                <a:effectLst/>
                <a:ea typeface="宋体" pitchFamily="2" charset="-122"/>
              </a:rPr>
              <a:t>Linux</a:t>
            </a:r>
            <a:r>
              <a:rPr lang="zh-CN" altLang="en-US" sz="2100" dirty="0">
                <a:solidFill>
                  <a:schemeClr val="tx1"/>
                </a:solidFill>
                <a:effectLst/>
                <a:ea typeface="宋体" pitchFamily="2" charset="-122"/>
              </a:rPr>
              <a:t>内核代码，作为用户空间运行时来运行未修改的</a:t>
            </a:r>
            <a:r>
              <a:rPr lang="en-US" altLang="zh-CN" sz="2100" dirty="0">
                <a:solidFill>
                  <a:schemeClr val="tx1"/>
                </a:solidFill>
                <a:effectLst/>
                <a:ea typeface="宋体" pitchFamily="2" charset="-122"/>
              </a:rPr>
              <a:t>Linux</a:t>
            </a:r>
            <a:r>
              <a:rPr lang="zh-CN" altLang="en-US" sz="2100" dirty="0">
                <a:solidFill>
                  <a:schemeClr val="tx1"/>
                </a:solidFill>
                <a:effectLst/>
                <a:ea typeface="宋体" pitchFamily="2" charset="-122"/>
              </a:rPr>
              <a:t>驱动程序，包括未开源的二进制驱动程序。（驱动数量需求快速增长，车辆和手机要求超过</a:t>
            </a:r>
            <a:r>
              <a:rPr lang="en-US" altLang="zh-CN" sz="2100" dirty="0">
                <a:solidFill>
                  <a:schemeClr val="tx1"/>
                </a:solidFill>
                <a:effectLst/>
                <a:ea typeface="宋体" pitchFamily="2" charset="-122"/>
              </a:rPr>
              <a:t>700</a:t>
            </a:r>
            <a:r>
              <a:rPr lang="zh-CN" altLang="en-US" sz="2100" dirty="0">
                <a:solidFill>
                  <a:schemeClr val="tx1"/>
                </a:solidFill>
                <a:effectLst/>
                <a:ea typeface="宋体" pitchFamily="2" charset="-122"/>
              </a:rPr>
              <a:t>个驱动，重写估计需要</a:t>
            </a:r>
            <a:r>
              <a:rPr lang="en-US" altLang="zh-CN" sz="2100" dirty="0">
                <a:solidFill>
                  <a:schemeClr val="tx1"/>
                </a:solidFill>
                <a:effectLst/>
                <a:ea typeface="宋体" pitchFamily="2" charset="-122"/>
              </a:rPr>
              <a:t>5000</a:t>
            </a:r>
            <a:r>
              <a:rPr lang="zh-CN" altLang="en-US" sz="2100" dirty="0">
                <a:solidFill>
                  <a:schemeClr val="tx1"/>
                </a:solidFill>
                <a:effectLst/>
                <a:ea typeface="宋体" pitchFamily="2" charset="-122"/>
              </a:rPr>
              <a:t>人一年的工作量）（目前支持</a:t>
            </a:r>
            <a:r>
              <a:rPr lang="en-US" altLang="zh-CN" sz="2100" dirty="0">
                <a:solidFill>
                  <a:schemeClr val="tx1"/>
                </a:solidFill>
                <a:effectLst/>
                <a:ea typeface="宋体" pitchFamily="2" charset="-122"/>
              </a:rPr>
              <a:t>Linux</a:t>
            </a:r>
            <a:r>
              <a:rPr lang="zh-CN" altLang="en-US" sz="2100" dirty="0">
                <a:solidFill>
                  <a:schemeClr val="tx1"/>
                </a:solidFill>
                <a:effectLst/>
                <a:ea typeface="宋体" pitchFamily="2" charset="-122"/>
              </a:rPr>
              <a:t>内核驱动</a:t>
            </a:r>
            <a:r>
              <a:rPr lang="en-US" altLang="zh-CN" sz="2100" dirty="0">
                <a:solidFill>
                  <a:schemeClr val="tx1"/>
                </a:solidFill>
                <a:effectLst/>
                <a:ea typeface="宋体" pitchFamily="2" charset="-122"/>
              </a:rPr>
              <a:t>4.4</a:t>
            </a:r>
            <a:r>
              <a:rPr lang="zh-CN" altLang="en-US" sz="2100" dirty="0">
                <a:solidFill>
                  <a:schemeClr val="tx1"/>
                </a:solidFill>
                <a:effectLst/>
                <a:ea typeface="宋体" pitchFamily="2" charset="-122"/>
              </a:rPr>
              <a:t>、</a:t>
            </a:r>
            <a:r>
              <a:rPr lang="en-US" altLang="zh-CN" sz="2100" dirty="0">
                <a:solidFill>
                  <a:schemeClr val="tx1"/>
                </a:solidFill>
                <a:effectLst/>
                <a:ea typeface="宋体" pitchFamily="2" charset="-122"/>
              </a:rPr>
              <a:t>4.19</a:t>
            </a:r>
            <a:r>
              <a:rPr lang="zh-CN" altLang="en-US" sz="2100" dirty="0">
                <a:solidFill>
                  <a:schemeClr val="tx1"/>
                </a:solidFill>
                <a:effectLst/>
                <a:ea typeface="宋体" pitchFamily="2" charset="-122"/>
              </a:rPr>
              <a:t>、</a:t>
            </a:r>
            <a:r>
              <a:rPr lang="en-US" altLang="zh-CN" sz="2100" dirty="0">
                <a:solidFill>
                  <a:schemeClr val="tx1"/>
                </a:solidFill>
                <a:effectLst/>
                <a:ea typeface="宋体" pitchFamily="2" charset="-122"/>
              </a:rPr>
              <a:t>5.10</a:t>
            </a:r>
            <a:r>
              <a:rPr lang="zh-CN" altLang="en-US" sz="2100" dirty="0">
                <a:solidFill>
                  <a:schemeClr val="tx1"/>
                </a:solidFill>
                <a:effectLst/>
                <a:ea typeface="宋体" pitchFamily="2" charset="-122"/>
              </a:rPr>
              <a:t>版本）</a:t>
            </a:r>
            <a:endParaRPr lang="zh-CN" altLang="en-US" sz="2100" dirty="0">
              <a:solidFill>
                <a:schemeClr val="tx1"/>
              </a:solidFill>
              <a:effectLst/>
              <a:ea typeface="宋体" pitchFamily="2" charset="-122"/>
            </a:endParaRPr>
          </a:p>
          <a:p>
            <a:pPr lvl="1"/>
            <a:r>
              <a:rPr lang="zh-CN" altLang="en-US" sz="2100" dirty="0">
                <a:solidFill>
                  <a:schemeClr val="tx1"/>
                </a:solidFill>
                <a:effectLst/>
                <a:ea typeface="宋体" pitchFamily="2" charset="-122"/>
                <a:sym typeface="+mn-ea"/>
              </a:rPr>
              <a:t>对于性能关键的</a:t>
            </a:r>
            <a:r>
              <a:rPr lang="en-US" altLang="zh-CN" sz="2100" dirty="0">
                <a:solidFill>
                  <a:schemeClr val="tx1"/>
                </a:solidFill>
                <a:effectLst/>
                <a:ea typeface="宋体" pitchFamily="2" charset="-122"/>
                <a:sym typeface="+mn-ea"/>
              </a:rPr>
              <a:t>Linux</a:t>
            </a:r>
            <a:r>
              <a:rPr lang="zh-CN" altLang="en-US" sz="2100" dirty="0">
                <a:solidFill>
                  <a:schemeClr val="tx1"/>
                </a:solidFill>
                <a:effectLst/>
                <a:ea typeface="宋体" pitchFamily="2" charset="-122"/>
                <a:sym typeface="+mn-ea"/>
              </a:rPr>
              <a:t>驱动程序（相机，闪存存储），在本地驱动层创建孪生驱动程序（</a:t>
            </a:r>
            <a:r>
              <a:rPr lang="en-US" altLang="zh-CN" sz="2100" dirty="0">
                <a:solidFill>
                  <a:schemeClr val="tx1"/>
                </a:solidFill>
                <a:effectLst/>
                <a:ea typeface="宋体" pitchFamily="2" charset="-122"/>
                <a:sym typeface="+mn-ea"/>
              </a:rPr>
              <a:t>twin drivers</a:t>
            </a:r>
            <a:r>
              <a:rPr lang="zh-CN" altLang="en-US" sz="2100" dirty="0">
                <a:solidFill>
                  <a:schemeClr val="tx1"/>
                </a:solidFill>
                <a:effectLst/>
                <a:ea typeface="宋体" pitchFamily="2" charset="-122"/>
                <a:sym typeface="+mn-ea"/>
              </a:rPr>
              <a:t>），接收设备信息和操作命令，</a:t>
            </a:r>
            <a:r>
              <a:rPr lang="zh-CN" altLang="en-US" sz="2100" dirty="0">
                <a:solidFill>
                  <a:schemeClr val="tx1"/>
                </a:solidFill>
                <a:effectLst/>
                <a:ea typeface="宋体" pitchFamily="2" charset="-122"/>
                <a:sym typeface="+mn-ea"/>
              </a:rPr>
              <a:t>降低</a:t>
            </a:r>
            <a:r>
              <a:rPr lang="zh-CN" altLang="en-US" sz="2100" dirty="0">
                <a:solidFill>
                  <a:schemeClr val="tx1"/>
                </a:solidFill>
                <a:effectLst/>
                <a:ea typeface="宋体" pitchFamily="2" charset="-122"/>
                <a:sym typeface="+mn-ea"/>
              </a:rPr>
              <a:t>性能开销。</a:t>
            </a:r>
            <a:endParaRPr lang="zh-CN" altLang="en-US" sz="2100" dirty="0">
              <a:solidFill>
                <a:schemeClr val="tx1"/>
              </a:solidFill>
              <a:effectLst/>
              <a:ea typeface="宋体" pitchFamily="2" charset="-122"/>
            </a:endParaRPr>
          </a:p>
          <a:p>
            <a:pPr lvl="0"/>
            <a:r>
              <a:rPr lang="zh-CN" altLang="en-US" sz="2000" dirty="0">
                <a:solidFill>
                  <a:schemeClr val="tx1"/>
                </a:solidFill>
                <a:effectLst/>
                <a:ea typeface="宋体" pitchFamily="2" charset="-122"/>
              </a:rPr>
              <a:t>优化同步</a:t>
            </a:r>
            <a:r>
              <a:rPr lang="en-US" altLang="zh-CN" sz="2000" dirty="0">
                <a:solidFill>
                  <a:schemeClr val="tx1"/>
                </a:solidFill>
                <a:effectLst/>
                <a:ea typeface="宋体" pitchFamily="2" charset="-122"/>
              </a:rPr>
              <a:t>IPC</a:t>
            </a:r>
            <a:r>
              <a:rPr lang="zh-CN" altLang="en-US" sz="2000" dirty="0">
                <a:solidFill>
                  <a:schemeClr val="tx1"/>
                </a:solidFill>
                <a:effectLst/>
                <a:ea typeface="宋体" pitchFamily="2" charset="-122"/>
              </a:rPr>
              <a:t>调用过程，减少</a:t>
            </a:r>
            <a:r>
              <a:rPr lang="en-US" altLang="zh-CN" sz="2000" dirty="0">
                <a:solidFill>
                  <a:schemeClr val="tx1"/>
                </a:solidFill>
                <a:effectLst/>
                <a:ea typeface="宋体" pitchFamily="2" charset="-122"/>
              </a:rPr>
              <a:t>IPC</a:t>
            </a:r>
            <a:r>
              <a:rPr lang="zh-CN" altLang="en-US" sz="2000" dirty="0">
                <a:solidFill>
                  <a:schemeClr val="tx1"/>
                </a:solidFill>
                <a:effectLst/>
                <a:ea typeface="宋体" pitchFamily="2" charset="-122"/>
              </a:rPr>
              <a:t>往返调用次数。</a:t>
            </a:r>
            <a:endParaRPr lang="zh-CN" altLang="en-US" sz="2000" dirty="0">
              <a:solidFill>
                <a:schemeClr val="tx1"/>
              </a:solidFill>
              <a:effectLst/>
              <a:ea typeface="宋体" pitchFamily="2" charset="-122"/>
            </a:endParaRPr>
          </a:p>
          <a:p>
            <a:pPr lvl="0"/>
            <a:r>
              <a:rPr lang="zh-CN" altLang="en-US" sz="2000" dirty="0">
                <a:solidFill>
                  <a:schemeClr val="tx1"/>
                </a:solidFill>
                <a:effectLst/>
                <a:ea typeface="宋体" pitchFamily="2" charset="-122"/>
              </a:rPr>
              <a:t>实现灵活的系统服务组合，紧密耦合可信服务，降低隔离</a:t>
            </a:r>
            <a:r>
              <a:rPr lang="en-US" altLang="zh-CN" sz="2000" dirty="0">
                <a:solidFill>
                  <a:schemeClr val="tx1"/>
                </a:solidFill>
                <a:effectLst/>
                <a:ea typeface="宋体" pitchFamily="2" charset="-122"/>
              </a:rPr>
              <a:t>IPC</a:t>
            </a:r>
            <a:r>
              <a:rPr lang="zh-CN" altLang="en-US" sz="2000" dirty="0">
                <a:solidFill>
                  <a:schemeClr val="tx1"/>
                </a:solidFill>
                <a:effectLst/>
                <a:ea typeface="宋体" pitchFamily="2" charset="-122"/>
              </a:rPr>
              <a:t>开销</a:t>
            </a:r>
            <a:endParaRPr lang="zh-CN" altLang="en-US" sz="2000" dirty="0">
              <a:solidFill>
                <a:schemeClr val="tx1"/>
              </a:solidFill>
              <a:effectLst/>
              <a:ea typeface="宋体" pitchFamily="2" charset="-122"/>
            </a:endParaRPr>
          </a:p>
          <a:p>
            <a:pPr lvl="0"/>
            <a:r>
              <a:rPr lang="zh-CN" altLang="en-US" sz="2000" dirty="0">
                <a:solidFill>
                  <a:schemeClr val="tx1"/>
                </a:solidFill>
                <a:effectLst/>
                <a:ea typeface="宋体" pitchFamily="2" charset="-122"/>
              </a:rPr>
              <a:t>灵活使用共享内存，实现内核对象所在内存页面的共享，服务进程可以直接访问内核对象。</a:t>
            </a:r>
            <a:endParaRPr lang="zh-CN" altLang="en-US" sz="2000" dirty="0">
              <a:solidFill>
                <a:schemeClr val="tx1"/>
              </a:solidFill>
              <a:effectLst/>
              <a:ea typeface="宋体" pitchFamily="2" charset="-122"/>
            </a:endParaRPr>
          </a:p>
        </p:txBody>
      </p:sp>
      <p:sp>
        <p:nvSpPr>
          <p:cNvPr id="35843" name="文本框 665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23</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框 716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a:t>
            </a:r>
            <a:endParaRPr lang="en-US" altLang="zh-CN" sz="1400" b="0">
              <a:solidFill>
                <a:schemeClr val="tx2"/>
              </a:solidFill>
              <a:latin typeface="Times New Roman" panose="02020603050405020304" charset="0"/>
              <a:ea typeface="宋体" pitchFamily="2" charset="-122"/>
            </a:endParaRPr>
          </a:p>
        </p:txBody>
      </p:sp>
      <p:sp>
        <p:nvSpPr>
          <p:cNvPr id="71684" name="矩形 71683"/>
          <p:cNvSpPr/>
          <p:nvPr/>
        </p:nvSpPr>
        <p:spPr>
          <a:xfrm>
            <a:off x="381000" y="42863"/>
            <a:ext cx="8393113" cy="425450"/>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endParaRPr lang="zh-CN" altLang="en-US" sz="2400" strike="noStrike" noProof="1">
              <a:ea typeface="宋体" pitchFamily="2" charset="-122"/>
            </a:endParaRPr>
          </a:p>
        </p:txBody>
      </p:sp>
      <p:grpSp>
        <p:nvGrpSpPr>
          <p:cNvPr id="36867" name="组合 1"/>
          <p:cNvGrpSpPr/>
          <p:nvPr/>
        </p:nvGrpSpPr>
        <p:grpSpPr>
          <a:xfrm>
            <a:off x="4707567" y="1549400"/>
            <a:ext cx="4322133" cy="3895725"/>
            <a:chOff x="2887" y="1998"/>
            <a:chExt cx="10156" cy="7597"/>
          </a:xfrm>
        </p:grpSpPr>
        <p:sp>
          <p:nvSpPr>
            <p:cNvPr id="36868" name="矩形 71710"/>
            <p:cNvSpPr/>
            <p:nvPr/>
          </p:nvSpPr>
          <p:spPr>
            <a:xfrm>
              <a:off x="5218" y="8463"/>
              <a:ext cx="7825" cy="113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硬      </a:t>
              </a:r>
              <a:r>
                <a:rPr lang="zh-CN" altLang="en-US" sz="2000" dirty="0">
                  <a:solidFill>
                    <a:schemeClr val="tx1"/>
                  </a:solidFill>
                  <a:latin typeface="Times New Roman" panose="02020603050405020304" charset="0"/>
                  <a:ea typeface="宋体" pitchFamily="2" charset="-122"/>
                </a:rPr>
                <a:t>件</a:t>
              </a:r>
              <a:endParaRPr lang="zh-CN" altLang="en-US" sz="2000" dirty="0">
                <a:solidFill>
                  <a:schemeClr val="tx1"/>
                </a:solidFill>
                <a:latin typeface="Times New Roman" panose="02020603050405020304" charset="0"/>
                <a:ea typeface="宋体" pitchFamily="2" charset="-122"/>
              </a:endParaRPr>
            </a:p>
          </p:txBody>
        </p:sp>
        <p:sp>
          <p:nvSpPr>
            <p:cNvPr id="36869" name="矩形 71711"/>
            <p:cNvSpPr/>
            <p:nvPr/>
          </p:nvSpPr>
          <p:spPr>
            <a:xfrm>
              <a:off x="8165" y="6308"/>
              <a:ext cx="4650" cy="1135"/>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操作系统内核</a:t>
              </a:r>
              <a:endParaRPr lang="zh-CN" altLang="en-US" sz="2000">
                <a:solidFill>
                  <a:schemeClr val="tx1"/>
                </a:solidFill>
                <a:latin typeface="Times New Roman" panose="02020603050405020304" charset="0"/>
                <a:ea typeface="宋体" pitchFamily="2" charset="-122"/>
              </a:endParaRPr>
            </a:p>
          </p:txBody>
        </p:sp>
        <p:sp>
          <p:nvSpPr>
            <p:cNvPr id="36870" name="矩形 71712"/>
            <p:cNvSpPr/>
            <p:nvPr/>
          </p:nvSpPr>
          <p:spPr>
            <a:xfrm>
              <a:off x="7035" y="4155"/>
              <a:ext cx="4308" cy="1135"/>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系 统 库</a:t>
              </a:r>
              <a:endParaRPr lang="zh-CN" altLang="en-US" sz="2000">
                <a:solidFill>
                  <a:schemeClr val="tx1"/>
                </a:solidFill>
                <a:latin typeface="Times New Roman" panose="02020603050405020304" charset="0"/>
                <a:ea typeface="宋体" pitchFamily="2" charset="-122"/>
              </a:endParaRPr>
            </a:p>
          </p:txBody>
        </p:sp>
        <p:sp>
          <p:nvSpPr>
            <p:cNvPr id="36871" name="矩形 71713"/>
            <p:cNvSpPr/>
            <p:nvPr/>
          </p:nvSpPr>
          <p:spPr>
            <a:xfrm>
              <a:off x="5445" y="1998"/>
              <a:ext cx="7485" cy="113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p>
              <a:pPr lvl="0" algn="ctr"/>
              <a:r>
                <a:rPr lang="zh-CN" altLang="en-US" sz="2000">
                  <a:solidFill>
                    <a:schemeClr val="tx1"/>
                  </a:solidFill>
                  <a:latin typeface="Times New Roman" panose="02020603050405020304" charset="0"/>
                  <a:ea typeface="宋体" pitchFamily="2" charset="-122"/>
                </a:rPr>
                <a:t>应用程序</a:t>
              </a:r>
              <a:endParaRPr lang="zh-CN" altLang="en-US" sz="2000">
                <a:solidFill>
                  <a:schemeClr val="tx1"/>
                </a:solidFill>
                <a:latin typeface="Times New Roman" panose="02020603050405020304" charset="0"/>
                <a:ea typeface="宋体" pitchFamily="2" charset="-122"/>
              </a:endParaRPr>
            </a:p>
          </p:txBody>
        </p:sp>
        <p:sp>
          <p:nvSpPr>
            <p:cNvPr id="36872" name="下箭头 71714"/>
            <p:cNvSpPr/>
            <p:nvPr/>
          </p:nvSpPr>
          <p:spPr>
            <a:xfrm flipH="1">
              <a:off x="5673" y="3135"/>
              <a:ext cx="565" cy="5327"/>
            </a:xfrm>
            <a:prstGeom prst="downArrow">
              <a:avLst>
                <a:gd name="adj1" fmla="val 44518"/>
                <a:gd name="adj2" fmla="val 135095"/>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6873" name="下箭头 71715"/>
            <p:cNvSpPr/>
            <p:nvPr/>
          </p:nvSpPr>
          <p:spPr>
            <a:xfrm flipH="1">
              <a:off x="7260" y="5288"/>
              <a:ext cx="565" cy="3175"/>
            </a:xfrm>
            <a:prstGeom prst="downArrow">
              <a:avLst>
                <a:gd name="adj1" fmla="val 44518"/>
                <a:gd name="adj2" fmla="val 80493"/>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6874" name="下箭头 71716"/>
            <p:cNvSpPr/>
            <p:nvPr/>
          </p:nvSpPr>
          <p:spPr>
            <a:xfrm flipH="1">
              <a:off x="10323" y="7443"/>
              <a:ext cx="565" cy="1022"/>
            </a:xfrm>
            <a:prstGeom prst="downArrow">
              <a:avLst>
                <a:gd name="adj1" fmla="val 44518"/>
                <a:gd name="adj2" fmla="val 25926"/>
              </a:avLst>
            </a:prstGeom>
            <a:solidFill>
              <a:schemeClr val="accent1"/>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6875" name="下箭头 71717"/>
            <p:cNvSpPr/>
            <p:nvPr/>
          </p:nvSpPr>
          <p:spPr>
            <a:xfrm flipH="1">
              <a:off x="9640" y="5288"/>
              <a:ext cx="568" cy="1020"/>
            </a:xfrm>
            <a:prstGeom prst="downArrow">
              <a:avLst>
                <a:gd name="adj1" fmla="val 44518"/>
                <a:gd name="adj2" fmla="val 25747"/>
              </a:avLst>
            </a:prstGeom>
            <a:solidFill>
              <a:srgbClr val="FF0000"/>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6876" name="下箭头 71718"/>
            <p:cNvSpPr/>
            <p:nvPr/>
          </p:nvSpPr>
          <p:spPr>
            <a:xfrm flipH="1">
              <a:off x="9075" y="3133"/>
              <a:ext cx="565" cy="1022"/>
            </a:xfrm>
            <a:prstGeom prst="downArrow">
              <a:avLst>
                <a:gd name="adj1" fmla="val 44518"/>
                <a:gd name="adj2" fmla="val 25926"/>
              </a:avLst>
            </a:prstGeom>
            <a:solidFill>
              <a:srgbClr val="0000FF"/>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6877" name="文本框 71719"/>
            <p:cNvSpPr txBox="1"/>
            <p:nvPr/>
          </p:nvSpPr>
          <p:spPr>
            <a:xfrm>
              <a:off x="2887" y="7565"/>
              <a:ext cx="2945" cy="773"/>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机器指令</a:t>
              </a:r>
              <a:endParaRPr lang="zh-CN" altLang="en-US" sz="2000" b="0">
                <a:solidFill>
                  <a:schemeClr val="tx1"/>
                </a:solidFill>
                <a:latin typeface="Times New Roman" panose="02020603050405020304" charset="0"/>
                <a:ea typeface="宋体" pitchFamily="2" charset="-122"/>
              </a:endParaRPr>
            </a:p>
          </p:txBody>
        </p:sp>
        <p:sp>
          <p:nvSpPr>
            <p:cNvPr id="36878" name="文本框 71720"/>
            <p:cNvSpPr txBox="1"/>
            <p:nvPr/>
          </p:nvSpPr>
          <p:spPr>
            <a:xfrm>
              <a:off x="2985" y="5578"/>
              <a:ext cx="2945" cy="778"/>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系统调用</a:t>
              </a:r>
              <a:endParaRPr lang="zh-CN" altLang="en-US" sz="2000" b="0">
                <a:solidFill>
                  <a:schemeClr val="tx1"/>
                </a:solidFill>
                <a:latin typeface="Times New Roman" panose="02020603050405020304" charset="0"/>
                <a:ea typeface="宋体" pitchFamily="2" charset="-122"/>
              </a:endParaRPr>
            </a:p>
          </p:txBody>
        </p:sp>
        <p:sp>
          <p:nvSpPr>
            <p:cNvPr id="36879" name="文本框 71721"/>
            <p:cNvSpPr txBox="1"/>
            <p:nvPr/>
          </p:nvSpPr>
          <p:spPr>
            <a:xfrm>
              <a:off x="2939" y="3400"/>
              <a:ext cx="2945" cy="773"/>
            </a:xfrm>
            <a:prstGeom prst="rect">
              <a:avLst/>
            </a:prstGeom>
            <a:noFill/>
            <a:ln w="9525">
              <a:noFill/>
              <a:miter/>
            </a:ln>
          </p:spPr>
          <p:txBody>
            <a:bodyPr anchor="t">
              <a:spAutoFit/>
            </a:bodyPr>
            <a:p>
              <a:pPr lvl="0" algn="ctr"/>
              <a:r>
                <a:rPr lang="zh-CN" altLang="en-US" sz="2000" b="0">
                  <a:solidFill>
                    <a:schemeClr val="tx1"/>
                  </a:solidFill>
                  <a:latin typeface="Times New Roman" panose="02020603050405020304" charset="0"/>
                  <a:ea typeface="宋体" pitchFamily="2" charset="-122"/>
                </a:rPr>
                <a:t>函数调用</a:t>
              </a:r>
              <a:endParaRPr lang="zh-CN" altLang="en-US" sz="2000" b="0">
                <a:solidFill>
                  <a:schemeClr val="tx1"/>
                </a:solidFill>
                <a:latin typeface="Times New Roman" panose="02020603050405020304" charset="0"/>
                <a:ea typeface="宋体" pitchFamily="2" charset="-122"/>
              </a:endParaRPr>
            </a:p>
          </p:txBody>
        </p:sp>
        <p:sp>
          <p:nvSpPr>
            <p:cNvPr id="36880" name="下箭头 71722"/>
            <p:cNvSpPr/>
            <p:nvPr/>
          </p:nvSpPr>
          <p:spPr>
            <a:xfrm flipH="1">
              <a:off x="11910" y="3135"/>
              <a:ext cx="568" cy="3175"/>
            </a:xfrm>
            <a:prstGeom prst="downArrow">
              <a:avLst>
                <a:gd name="adj1" fmla="val 44518"/>
                <a:gd name="adj2" fmla="val 80146"/>
              </a:avLst>
            </a:prstGeom>
            <a:solidFill>
              <a:srgbClr val="FF0000"/>
            </a:solidFill>
            <a:ln w="9525" cap="flat" cmpd="sng">
              <a:solidFill>
                <a:schemeClr val="tx1"/>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36881" name="文本框 2"/>
          <p:cNvSpPr txBox="1"/>
          <p:nvPr/>
        </p:nvSpPr>
        <p:spPr>
          <a:xfrm>
            <a:off x="182563" y="628650"/>
            <a:ext cx="4994275" cy="5507990"/>
          </a:xfrm>
          <a:prstGeom prst="rect">
            <a:avLst/>
          </a:prstGeom>
          <a:noFill/>
          <a:ln w="9525">
            <a:noFill/>
            <a:miter/>
          </a:ln>
        </p:spPr>
        <p:txBody>
          <a:bodyPr wrap="square" anchor="t">
            <a:spAutoFit/>
          </a:bodyPr>
          <a:p>
            <a:pPr lvl="0"/>
            <a:r>
              <a:rPr lang="en-US" altLang="zh-CN" sz="2800">
                <a:solidFill>
                  <a:schemeClr val="tx1"/>
                </a:solidFill>
                <a:latin typeface="Arial" panose="020B0604020202020204" pitchFamily="34" charset="0"/>
                <a:ea typeface="宋体" pitchFamily="2" charset="-122"/>
                <a:sym typeface="Arial" panose="020B0604020202020204" pitchFamily="34" charset="0"/>
              </a:rPr>
              <a:t>    </a:t>
            </a:r>
            <a:r>
              <a:rPr lang="zh-CN" altLang="zh-CN" sz="2800">
                <a:solidFill>
                  <a:schemeClr val="tx1"/>
                </a:solidFill>
                <a:latin typeface="Arial" panose="020B0604020202020204" pitchFamily="34" charset="0"/>
                <a:ea typeface="宋体" pitchFamily="2" charset="-122"/>
                <a:sym typeface="Arial" panose="020B0604020202020204" pitchFamily="34" charset="0"/>
              </a:rPr>
              <a:t>要实现操作系统虚拟机及相关虚拟技术</a:t>
            </a:r>
            <a:r>
              <a:rPr lang="zh-CN" altLang="zh-CN" sz="2400">
                <a:solidFill>
                  <a:schemeClr val="tx1"/>
                </a:solidFill>
                <a:latin typeface="Arial" panose="020B0604020202020204" pitchFamily="34" charset="0"/>
                <a:ea typeface="宋体" pitchFamily="2" charset="-122"/>
                <a:sym typeface="Arial" panose="020B0604020202020204" pitchFamily="34" charset="0"/>
              </a:rPr>
              <a:t>：</a:t>
            </a:r>
            <a:endParaRPr lang="zh-CN" altLang="zh-CN" sz="2400">
              <a:solidFill>
                <a:schemeClr val="tx1"/>
              </a:solidFill>
              <a:latin typeface="Arial" panose="020B0604020202020204" pitchFamily="34" charset="0"/>
              <a:ea typeface="宋体" pitchFamily="2" charset="-122"/>
              <a:sym typeface="Arial" panose="020B0604020202020204" pitchFamily="34" charset="0"/>
            </a:endParaRPr>
          </a:p>
          <a:p>
            <a:pPr marL="914400" lvl="1" indent="-457200" algn="l">
              <a:buFont typeface="宋体" pitchFamily="2" charset="-122"/>
              <a:buAutoNum type="arabicPeriod"/>
            </a:pPr>
            <a:r>
              <a:rPr lang="en-US" altLang="zh-CN" sz="2400">
                <a:solidFill>
                  <a:schemeClr val="tx1"/>
                </a:solidFill>
                <a:latin typeface="Arial" panose="020B0604020202020204" pitchFamily="34" charset="0"/>
                <a:ea typeface="宋体" pitchFamily="2" charset="-122"/>
                <a:sym typeface="Arial" panose="020B0604020202020204" pitchFamily="34" charset="0"/>
              </a:rPr>
              <a:t>CPU</a:t>
            </a:r>
            <a:r>
              <a:rPr lang="zh-CN" altLang="en-US" sz="2400">
                <a:solidFill>
                  <a:schemeClr val="tx1"/>
                </a:solidFill>
                <a:latin typeface="Arial" panose="020B0604020202020204" pitchFamily="34" charset="0"/>
                <a:ea typeface="宋体" pitchFamily="2" charset="-122"/>
                <a:sym typeface="Arial" panose="020B0604020202020204" pitchFamily="34" charset="0"/>
              </a:rPr>
              <a:t>调度和分配</a:t>
            </a:r>
            <a:endParaRPr lang="zh-CN" altLang="en-US" sz="20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分时技术，时间片，</a:t>
            </a:r>
            <a:endParaRPr lang="zh-CN" altLang="en-US" sz="20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虚拟</a:t>
            </a:r>
            <a:r>
              <a:rPr lang="en-US" altLang="zh-CN" sz="2400">
                <a:solidFill>
                  <a:schemeClr val="tx1"/>
                </a:solidFill>
                <a:latin typeface="Arial" panose="020B0604020202020204" pitchFamily="34" charset="0"/>
                <a:ea typeface="宋体" pitchFamily="2" charset="-122"/>
                <a:sym typeface="Arial" panose="020B0604020202020204" pitchFamily="34" charset="0"/>
              </a:rPr>
              <a:t>cpu</a:t>
            </a:r>
            <a:r>
              <a:rPr lang="zh-CN" altLang="en-US" sz="2400">
                <a:solidFill>
                  <a:schemeClr val="tx1"/>
                </a:solidFill>
                <a:latin typeface="Arial" panose="020B0604020202020204" pitchFamily="34" charset="0"/>
                <a:ea typeface="宋体" pitchFamily="2" charset="-122"/>
                <a:sym typeface="Arial" panose="020B0604020202020204" pitchFamily="34" charset="0"/>
              </a:rPr>
              <a:t>，独占</a:t>
            </a:r>
            <a:endParaRPr lang="zh-CN" altLang="en-US" sz="2000">
              <a:solidFill>
                <a:schemeClr val="tx1"/>
              </a:solidFill>
              <a:latin typeface="Arial" panose="020B0604020202020204" pitchFamily="34" charset="0"/>
              <a:ea typeface="宋体" pitchFamily="2" charset="-122"/>
              <a:sym typeface="Arial" panose="020B0604020202020204" pitchFamily="34" charset="0"/>
            </a:endParaRPr>
          </a:p>
          <a:p>
            <a:pPr marL="914400" lvl="1" indent="-457200" algn="l">
              <a:buFont typeface="宋体" pitchFamily="2" charset="-122"/>
              <a:buAutoNum type="arabicPeriod"/>
            </a:pPr>
            <a:r>
              <a:rPr lang="zh-CN" altLang="en-US" sz="2400">
                <a:solidFill>
                  <a:schemeClr val="tx1"/>
                </a:solidFill>
                <a:latin typeface="Arial" panose="020B0604020202020204" pitchFamily="34" charset="0"/>
                <a:ea typeface="宋体" pitchFamily="2" charset="-122"/>
                <a:sym typeface="Arial" panose="020B0604020202020204" pitchFamily="34" charset="0"/>
              </a:rPr>
              <a:t>内存管理（空间）</a:t>
            </a:r>
            <a:endParaRPr lang="zh-CN" altLang="en-US" sz="20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虚拟存储技术</a:t>
            </a: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虚拟地址空间，独占</a:t>
            </a: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虚拟地址－－物理地址</a:t>
            </a: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marL="914400" lvl="1" indent="-457200" algn="l">
              <a:buFont typeface="宋体" pitchFamily="2" charset="-122"/>
              <a:buAutoNum type="arabicPeriod"/>
            </a:pPr>
            <a:r>
              <a:rPr lang="zh-CN" altLang="en-US" sz="2400">
                <a:solidFill>
                  <a:schemeClr val="tx1"/>
                </a:solidFill>
                <a:latin typeface="Arial" panose="020B0604020202020204" pitchFamily="34" charset="0"/>
                <a:ea typeface="宋体" pitchFamily="2" charset="-122"/>
                <a:sym typeface="Arial" panose="020B0604020202020204" pitchFamily="34" charset="0"/>
              </a:rPr>
              <a:t>设备管理</a:t>
            </a:r>
            <a:endParaRPr lang="zh-CN" altLang="en-US" sz="20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虚拟设备（输入、输出）</a:t>
            </a: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r>
              <a:rPr lang="zh-CN" altLang="en-US" sz="2400">
                <a:solidFill>
                  <a:schemeClr val="tx1"/>
                </a:solidFill>
                <a:latin typeface="Arial" panose="020B0604020202020204" pitchFamily="34" charset="0"/>
                <a:ea typeface="宋体" pitchFamily="2" charset="-122"/>
                <a:sym typeface="Arial" panose="020B0604020202020204" pitchFamily="34" charset="0"/>
              </a:rPr>
              <a:t>共享和分时</a:t>
            </a: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lvl="2" indent="0" algn="l">
              <a:buFont typeface="宋体" pitchFamily="2" charset="-122"/>
              <a:buNone/>
            </a:pPr>
            <a:endParaRPr lang="zh-CN" altLang="en-US" sz="2400">
              <a:solidFill>
                <a:schemeClr val="tx1"/>
              </a:solidFill>
              <a:latin typeface="Arial" panose="020B0604020202020204" pitchFamily="34" charset="0"/>
              <a:ea typeface="宋体" pitchFamily="2" charset="-122"/>
              <a:sym typeface="Arial" panose="020B0604020202020204" pitchFamily="34" charset="0"/>
            </a:endParaRPr>
          </a:p>
          <a:p>
            <a:pPr lvl="0">
              <a:buFont typeface="宋体" pitchFamily="2" charset="-122"/>
              <a:buNone/>
            </a:pPr>
            <a:r>
              <a:rPr lang="zh-CN" altLang="en-US">
                <a:solidFill>
                  <a:srgbClr val="FF0000"/>
                </a:solidFill>
                <a:latin typeface="Arial" panose="020B0604020202020204" pitchFamily="34" charset="0"/>
                <a:ea typeface="宋体" pitchFamily="2" charset="-122"/>
                <a:sym typeface="Arial" panose="020B0604020202020204" pitchFamily="34" charset="0"/>
              </a:rPr>
              <a:t>硬件必须要有那些支持？</a:t>
            </a:r>
            <a:endParaRPr lang="zh-CN" altLang="en-US">
              <a:solidFill>
                <a:srgbClr val="FF0000"/>
              </a:solidFill>
              <a:latin typeface="Arial" panose="020B0604020202020204" pitchFamily="34" charset="0"/>
              <a:ea typeface="宋体" pitchFamily="2"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矩形 26625"/>
          <p:cNvSpPr/>
          <p:nvPr/>
        </p:nvSpPr>
        <p:spPr>
          <a:xfrm>
            <a:off x="1006475" y="1562100"/>
            <a:ext cx="7129463" cy="28702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itchFamily="2" charset="-122"/>
                <a:cs typeface="+mn-ea"/>
              </a:rPr>
              <a:t>处理机的特权级</a:t>
            </a:r>
            <a:endParaRPr lang="zh-CN" altLang="en-US" sz="4000" b="1" strike="noStrike" noProof="1">
              <a:solidFill>
                <a:srgbClr val="663300"/>
              </a:solidFill>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itchFamily="2" charset="-122"/>
                <a:cs typeface="+mn-ea"/>
              </a:rPr>
              <a:t>和中断</a:t>
            </a:r>
            <a:endParaRPr lang="zh-CN" altLang="en-US" sz="4000" b="1" strike="noStrike" noProof="1">
              <a:solidFill>
                <a:srgbClr val="663300"/>
              </a:solidFill>
              <a:ea typeface="宋体"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itchFamily="2" charset="-122"/>
            </a:endParaRPr>
          </a:p>
        </p:txBody>
      </p:sp>
      <p:graphicFrame>
        <p:nvGraphicFramePr>
          <p:cNvPr id="37890" name="内容占位符 2662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2" imgW="838200" imgH="647700" progId="Paint.Picture">
                  <p:embed/>
                </p:oleObj>
              </mc:Choice>
              <mc:Fallback>
                <p:oleObj name="" r:id="rId2" imgW="838200" imgH="647700" progId="Paint.Picture">
                  <p:embed/>
                  <p:pic>
                    <p:nvPicPr>
                      <p:cNvPr id="0" name="图片 3079"/>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26628" name="矩形 2662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处理机的特权级</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6626"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2764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24</a:t>
            </a:r>
            <a:endParaRPr lang="en-US" altLang="zh-CN" sz="1400" b="0">
              <a:solidFill>
                <a:schemeClr val="tx2"/>
              </a:solidFill>
              <a:latin typeface="Times New Roman" panose="02020603050405020304" charset="0"/>
              <a:ea typeface="宋体" pitchFamily="2" charset="-122"/>
            </a:endParaRPr>
          </a:p>
        </p:txBody>
      </p:sp>
      <p:sp>
        <p:nvSpPr>
          <p:cNvPr id="27651" name="矩形 27650"/>
          <p:cNvSpPr/>
          <p:nvPr/>
        </p:nvSpPr>
        <p:spPr>
          <a:xfrm>
            <a:off x="685800" y="1744663"/>
            <a:ext cx="6229350" cy="206629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itchFamily="2" charset="-122"/>
                <a:cs typeface="+mn-ea"/>
              </a:rPr>
              <a:t>               管理程序                 用户程序</a:t>
            </a:r>
            <a:endParaRPr lang="zh-CN" altLang="en-US" sz="2000" b="1"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000" b="1" strike="noStrike" noProof="1">
                <a:solidFill>
                  <a:schemeClr val="tx1"/>
                </a:solidFill>
                <a:latin typeface="Times New Roman" panose="02020603050405020304" charset="0"/>
                <a:ea typeface="宋体" pitchFamily="2" charset="-122"/>
                <a:cs typeface="+mn-ea"/>
              </a:rPr>
              <a:t>            </a:t>
            </a:r>
            <a:r>
              <a:rPr lang="zh-CN" altLang="en-US" sz="2000" strike="noStrike" noProof="1">
                <a:solidFill>
                  <a:schemeClr val="tx1"/>
                </a:solidFill>
                <a:latin typeface="Times New Roman" panose="02020603050405020304" charset="0"/>
                <a:ea typeface="宋体" pitchFamily="2" charset="-122"/>
                <a:cs typeface="+mn-ea"/>
              </a:rPr>
              <a:t>管理系统资源        </a:t>
            </a:r>
            <a:r>
              <a:rPr lang="en-US" altLang="zh-CN" sz="2000" strike="noStrike" noProof="1">
                <a:solidFill>
                  <a:schemeClr val="tx1"/>
                </a:solidFill>
                <a:latin typeface="Times New Roman" panose="02020603050405020304" charset="0"/>
                <a:ea typeface="宋体" pitchFamily="2" charset="-122"/>
                <a:cs typeface="+mn-ea"/>
              </a:rPr>
              <a:t>   </a:t>
            </a:r>
            <a:r>
              <a:rPr lang="zh-CN" altLang="en-US" sz="2000" strike="noStrike" noProof="1">
                <a:solidFill>
                  <a:schemeClr val="tx1"/>
                </a:solidFill>
                <a:latin typeface="Times New Roman" panose="02020603050405020304" charset="0"/>
                <a:ea typeface="宋体" pitchFamily="2" charset="-122"/>
                <a:cs typeface="+mn-ea"/>
              </a:rPr>
              <a:t>使用资源，提出申请</a:t>
            </a:r>
            <a:endParaRPr lang="zh-CN" altLang="en-US" sz="2000"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itchFamily="2" charset="-122"/>
                <a:cs typeface="+mn-ea"/>
              </a:rPr>
              <a:t>            控制程序运行                  被控制</a:t>
            </a:r>
            <a:endParaRPr lang="zh-CN" altLang="en-US" sz="2000"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ea"/>
              </a:rPr>
              <a:t>区分处理机状态的目的：保护操作系统</a:t>
            </a:r>
            <a:r>
              <a:rPr lang="zh-CN" altLang="en-US" sz="2000" strike="noStrike" noProof="1">
                <a:solidFill>
                  <a:schemeClr val="tx1"/>
                </a:solidFill>
                <a:latin typeface="Times New Roman" panose="02020603050405020304" charset="0"/>
                <a:ea typeface="宋体" pitchFamily="2" charset="-122"/>
                <a:cs typeface="+mn-ea"/>
              </a:rPr>
              <a:t>        </a:t>
            </a:r>
            <a:endParaRPr lang="zh-CN" altLang="en-US" sz="2000" strike="noStrike" noProof="1">
              <a:solidFill>
                <a:schemeClr val="tx1"/>
              </a:solidFill>
              <a:latin typeface="Times New Roman" panose="02020603050405020304" charset="0"/>
              <a:ea typeface="宋体" pitchFamily="2" charset="-122"/>
            </a:endParaRPr>
          </a:p>
        </p:txBody>
      </p:sp>
      <p:sp>
        <p:nvSpPr>
          <p:cNvPr id="27652" name="矩形 2765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处理机的特权级</a:t>
            </a:r>
            <a:endParaRPr lang="zh-CN" altLang="en-US" sz="2400" strike="noStrike" noProof="1">
              <a:ea typeface="宋体" pitchFamily="2" charset="-122"/>
            </a:endParaRPr>
          </a:p>
        </p:txBody>
      </p:sp>
      <p:sp>
        <p:nvSpPr>
          <p:cNvPr id="27653" name="矩形 27652"/>
          <p:cNvSpPr/>
          <p:nvPr/>
        </p:nvSpPr>
        <p:spPr>
          <a:xfrm>
            <a:off x="244475" y="527050"/>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1. </a:t>
            </a:r>
            <a:r>
              <a:rPr lang="zh-CN" altLang="en-US" b="1" strike="noStrike" noProof="1">
                <a:solidFill>
                  <a:srgbClr val="990000"/>
                </a:solidFill>
                <a:latin typeface="Arial" panose="020B0604020202020204" pitchFamily="34" charset="0"/>
                <a:ea typeface="宋体" pitchFamily="2" charset="-122"/>
                <a:cs typeface="+mn-ea"/>
              </a:rPr>
              <a:t>为什么要区分处理机的状态</a:t>
            </a:r>
            <a:endParaRPr lang="zh-CN" altLang="en-US" b="1" strike="noStrike" noProof="1">
              <a:solidFill>
                <a:srgbClr val="990000"/>
              </a:solidFill>
              <a:ea typeface="宋体" pitchFamily="2" charset="-122"/>
            </a:endParaRPr>
          </a:p>
        </p:txBody>
      </p:sp>
      <p:grpSp>
        <p:nvGrpSpPr>
          <p:cNvPr id="27654" name="组合 27653"/>
          <p:cNvGrpSpPr/>
          <p:nvPr/>
        </p:nvGrpSpPr>
        <p:grpSpPr>
          <a:xfrm>
            <a:off x="1236663" y="1725613"/>
            <a:ext cx="5194300" cy="1511300"/>
            <a:chOff x="0" y="0"/>
            <a:chExt cx="3409" cy="952"/>
          </a:xfrm>
        </p:grpSpPr>
        <p:sp>
          <p:nvSpPr>
            <p:cNvPr id="27655" name="矩形 27654"/>
            <p:cNvSpPr/>
            <p:nvPr/>
          </p:nvSpPr>
          <p:spPr>
            <a:xfrm>
              <a:off x="4" y="0"/>
              <a:ext cx="3401" cy="952"/>
            </a:xfrm>
            <a:prstGeom prst="rect">
              <a:avLst/>
            </a:prstGeom>
            <a:no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38919" name="直接连接符 27655"/>
            <p:cNvSpPr/>
            <p:nvPr/>
          </p:nvSpPr>
          <p:spPr>
            <a:xfrm>
              <a:off x="8" y="319"/>
              <a:ext cx="340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8920" name="直接连接符 27656"/>
            <p:cNvSpPr/>
            <p:nvPr/>
          </p:nvSpPr>
          <p:spPr>
            <a:xfrm>
              <a:off x="0" y="662"/>
              <a:ext cx="3401"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38921" name="直接连接符 27657"/>
            <p:cNvSpPr/>
            <p:nvPr/>
          </p:nvSpPr>
          <p:spPr>
            <a:xfrm>
              <a:off x="1590" y="1"/>
              <a:ext cx="0" cy="95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27659" name="矩形 27658"/>
          <p:cNvSpPr/>
          <p:nvPr/>
        </p:nvSpPr>
        <p:spPr>
          <a:xfrm>
            <a:off x="663575" y="1071563"/>
            <a:ext cx="54181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chemeClr val="tx1"/>
                </a:solidFill>
                <a:latin typeface="Times New Roman" panose="02020603050405020304" charset="0"/>
                <a:ea typeface="宋体" pitchFamily="2" charset="-122"/>
                <a:cs typeface="+mn-ea"/>
              </a:rPr>
              <a:t>系统中两类程序的职责和区别</a:t>
            </a:r>
            <a:endParaRPr lang="zh-CN" altLang="en-US" sz="2400" b="1" strike="noStrike" noProof="1">
              <a:solidFill>
                <a:schemeClr val="tx1"/>
              </a:solidFill>
              <a:latin typeface="Times New Roman" panose="02020603050405020304" charset="0"/>
              <a:ea typeface="宋体" pitchFamily="2" charset="-122"/>
            </a:endParaRPr>
          </a:p>
        </p:txBody>
      </p:sp>
      <p:sp>
        <p:nvSpPr>
          <p:cNvPr id="27660" name="矩形 27659"/>
          <p:cNvSpPr/>
          <p:nvPr/>
        </p:nvSpPr>
        <p:spPr>
          <a:xfrm>
            <a:off x="938848" y="5132388"/>
            <a:ext cx="7897813" cy="14077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itchFamily="2" charset="-122"/>
                <a:cs typeface="+mn-ea"/>
              </a:rPr>
              <a:t>处理机的态</a:t>
            </a:r>
            <a:r>
              <a:rPr lang="x-none" altLang="zh-CN" sz="2400" strike="noStrike" noProof="1">
                <a:solidFill>
                  <a:schemeClr val="tx1"/>
                </a:solidFill>
                <a:latin typeface="Times New Roman" panose="02020603050405020304" charset="0"/>
                <a:ea typeface="宋体" pitchFamily="2" charset="-122"/>
                <a:cs typeface="+mn-ea"/>
              </a:rPr>
              <a:t>(模式)</a:t>
            </a:r>
            <a:r>
              <a:rPr lang="zh-CN" altLang="en-US" sz="2400" strike="noStrike" noProof="1">
                <a:solidFill>
                  <a:schemeClr val="tx1"/>
                </a:solidFill>
                <a:latin typeface="Times New Roman" panose="02020603050405020304" charset="0"/>
                <a:ea typeface="宋体" pitchFamily="2" charset="-122"/>
                <a:cs typeface="+mn-ea"/>
              </a:rPr>
              <a:t>，又称为处理机的特权级，是中央处理机的工作状态。当前处理机正在执行哪类程序，决定处理机的态。</a:t>
            </a:r>
            <a:endParaRPr lang="zh-CN" altLang="en-US" sz="2400" strike="noStrike" noProof="1">
              <a:solidFill>
                <a:schemeClr val="tx1"/>
              </a:solidFill>
              <a:latin typeface="Times New Roman" panose="02020603050405020304" charset="0"/>
              <a:ea typeface="宋体" pitchFamily="2" charset="-122"/>
            </a:endParaRPr>
          </a:p>
        </p:txBody>
      </p:sp>
      <p:sp>
        <p:nvSpPr>
          <p:cNvPr id="27661" name="矩形 27660"/>
          <p:cNvSpPr/>
          <p:nvPr/>
        </p:nvSpPr>
        <p:spPr>
          <a:xfrm>
            <a:off x="679450" y="4503103"/>
            <a:ext cx="5418138"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(1) </a:t>
            </a:r>
            <a:r>
              <a:rPr lang="zh-CN" altLang="en-US" sz="2800" b="1" strike="noStrike" noProof="1">
                <a:solidFill>
                  <a:srgbClr val="A50021"/>
                </a:solidFill>
                <a:latin typeface="Times New Roman" panose="02020603050405020304" charset="0"/>
                <a:ea typeface="宋体" pitchFamily="2" charset="-122"/>
                <a:cs typeface="+mn-ea"/>
              </a:rPr>
              <a:t>什么是处理机的态</a:t>
            </a:r>
            <a:endParaRPr lang="zh-CN" altLang="en-US" sz="2800" b="1" strike="noStrike" noProof="1">
              <a:solidFill>
                <a:srgbClr val="A50021"/>
              </a:solidFill>
              <a:latin typeface="Times New Roman" panose="02020603050405020304" charset="0"/>
              <a:ea typeface="宋体" pitchFamily="2" charset="-122"/>
            </a:endParaRPr>
          </a:p>
        </p:txBody>
      </p:sp>
      <p:sp>
        <p:nvSpPr>
          <p:cNvPr id="27662" name="矩形 27661"/>
          <p:cNvSpPr/>
          <p:nvPr/>
        </p:nvSpPr>
        <p:spPr>
          <a:xfrm>
            <a:off x="246063" y="3799523"/>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2. </a:t>
            </a:r>
            <a:r>
              <a:rPr lang="zh-CN" altLang="en-US" b="1" strike="noStrike" noProof="1">
                <a:solidFill>
                  <a:srgbClr val="990000"/>
                </a:solidFill>
                <a:latin typeface="Arial" panose="020B0604020202020204" pitchFamily="34" charset="0"/>
                <a:ea typeface="宋体" pitchFamily="2" charset="-122"/>
                <a:cs typeface="+mn-ea"/>
              </a:rPr>
              <a:t>处理机的状态及分类</a:t>
            </a:r>
            <a:endParaRPr lang="zh-CN" altLang="en-US" b="1" strike="noStrike" noProof="1">
              <a:solidFill>
                <a:srgbClr val="990000"/>
              </a:solidFill>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7653" grpId="0" build="p"/>
      <p:bldP spid="27659" grpId="0" build="p"/>
      <p:bldP spid="27660" grpId="0"/>
      <p:bldP spid="27661" grpId="0" build="p"/>
      <p:bldP spid="2766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2867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25</a:t>
            </a:r>
            <a:endParaRPr lang="en-US" altLang="zh-CN" sz="1400" b="0">
              <a:solidFill>
                <a:schemeClr val="tx2"/>
              </a:solidFill>
              <a:latin typeface="Times New Roman" panose="02020603050405020304" charset="0"/>
              <a:ea typeface="宋体" pitchFamily="2" charset="-122"/>
            </a:endParaRPr>
          </a:p>
        </p:txBody>
      </p:sp>
      <p:sp>
        <p:nvSpPr>
          <p:cNvPr id="28675" name="矩形 28674"/>
          <p:cNvSpPr/>
          <p:nvPr/>
        </p:nvSpPr>
        <p:spPr>
          <a:xfrm>
            <a:off x="525780" y="1253173"/>
            <a:ext cx="8405813" cy="421894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itchFamily="2" charset="-122"/>
                <a:ea typeface="宋体" pitchFamily="2" charset="-122"/>
                <a:cs typeface="+mn-ea"/>
              </a:rPr>
              <a:t>① </a:t>
            </a:r>
            <a:r>
              <a:rPr lang="zh-CN" altLang="en-US" sz="2400" b="1" strike="noStrike" noProof="1">
                <a:solidFill>
                  <a:srgbClr val="000099"/>
                </a:solidFill>
                <a:latin typeface="Times New Roman" panose="02020603050405020304" charset="0"/>
                <a:ea typeface="宋体" pitchFamily="2" charset="-122"/>
                <a:cs typeface="+mn-ea"/>
              </a:rPr>
              <a:t>管态 </a:t>
            </a:r>
            <a:r>
              <a:rPr lang="en-US" altLang="zh-CN" sz="2400" b="1" strike="noStrike" noProof="1">
                <a:solidFill>
                  <a:srgbClr val="000099"/>
                </a:solidFill>
                <a:latin typeface="Times New Roman" panose="02020603050405020304" charset="0"/>
                <a:ea typeface="宋体" pitchFamily="2" charset="-122"/>
                <a:cs typeface="+mn-ea"/>
              </a:rPr>
              <a:t>(Supervisor mode)</a:t>
            </a:r>
            <a:r>
              <a:rPr lang="x-none" altLang="en-US" sz="2400" b="1" strike="noStrike" noProof="1">
                <a:solidFill>
                  <a:srgbClr val="000099"/>
                </a:solidFill>
                <a:latin typeface="Times New Roman" panose="02020603050405020304" charset="0"/>
                <a:ea typeface="宋体" pitchFamily="2" charset="-122"/>
                <a:cs typeface="+mn-ea"/>
              </a:rPr>
              <a:t>（系统态）</a:t>
            </a:r>
            <a:endParaRPr lang="x-none" altLang="en-US" sz="2400" b="1" strike="noStrike" noProof="1">
              <a:solidFill>
                <a:srgbClr val="000099"/>
              </a:solidFill>
              <a:latin typeface="Times New Roman" panose="02020603050405020304" charset="0"/>
              <a:ea typeface="宋体" pitchFamily="2" charset="-122"/>
              <a:cs typeface="+mn-ea"/>
            </a:endParaRPr>
          </a:p>
          <a:p>
            <a:pPr marL="533400" lvl="0" indent="-533400" fontAlgn="base">
              <a:lnSpc>
                <a:spcPct val="130000"/>
              </a:lnSpc>
              <a:buNone/>
            </a:pPr>
            <a:r>
              <a:rPr lang="en-US" altLang="zh-CN" sz="2400" strike="noStrike" noProof="1">
                <a:latin typeface="Times New Roman" panose="02020603050405020304" charset="0"/>
                <a:ea typeface="宋体" pitchFamily="2" charset="-122"/>
                <a:cs typeface="+mn-ea"/>
              </a:rPr>
              <a:t>       </a:t>
            </a:r>
            <a:r>
              <a:rPr lang="zh-CN" altLang="en-US" sz="2400" strike="noStrike" noProof="1">
                <a:solidFill>
                  <a:schemeClr val="tx1"/>
                </a:solidFill>
                <a:latin typeface="Times New Roman" panose="02020603050405020304" charset="0"/>
                <a:ea typeface="宋体" pitchFamily="2" charset="-122"/>
                <a:cs typeface="+mn-ea"/>
              </a:rPr>
              <a:t>操作系统的管理程序执行时机器所处的状态，又称处理机的特权级。在此状态下处理机可使用全部指令</a:t>
            </a:r>
            <a:r>
              <a:rPr lang="en-US" altLang="zh-CN" sz="2400" strike="noStrike" noProof="1">
                <a:solidFill>
                  <a:schemeClr val="tx1"/>
                </a:solidFill>
                <a:latin typeface="Times New Roman" panose="02020603050405020304" charset="0"/>
                <a:ea typeface="宋体" pitchFamily="2" charset="-122"/>
                <a:cs typeface="+mn-ea"/>
              </a:rPr>
              <a:t>(</a:t>
            </a:r>
            <a:r>
              <a:rPr lang="zh-CN" altLang="en-US" sz="2400" strike="noStrike" noProof="1">
                <a:solidFill>
                  <a:schemeClr val="tx1"/>
                </a:solidFill>
                <a:latin typeface="Times New Roman" panose="02020603050405020304" charset="0"/>
                <a:ea typeface="宋体" pitchFamily="2" charset="-122"/>
                <a:cs typeface="+mn-ea"/>
              </a:rPr>
              <a:t>包括一组特权指令</a:t>
            </a:r>
            <a:r>
              <a:rPr lang="en-US" altLang="zh-CN" sz="2400" strike="noStrike" noProof="1">
                <a:solidFill>
                  <a:schemeClr val="tx1"/>
                </a:solidFill>
                <a:latin typeface="Times New Roman" panose="02020603050405020304" charset="0"/>
                <a:ea typeface="宋体" pitchFamily="2" charset="-122"/>
                <a:cs typeface="+mn-ea"/>
              </a:rPr>
              <a:t>)</a:t>
            </a:r>
            <a:r>
              <a:rPr lang="zh-CN" altLang="en-US" sz="2400" strike="noStrike" noProof="1">
                <a:solidFill>
                  <a:schemeClr val="tx1"/>
                </a:solidFill>
                <a:latin typeface="Times New Roman" panose="02020603050405020304" charset="0"/>
                <a:ea typeface="宋体" pitchFamily="2" charset="-122"/>
                <a:cs typeface="+mn-ea"/>
              </a:rPr>
              <a:t>；使用全部系统资源</a:t>
            </a:r>
            <a:r>
              <a:rPr lang="en-US" altLang="zh-CN" sz="2400" strike="noStrike" noProof="1">
                <a:solidFill>
                  <a:schemeClr val="tx1"/>
                </a:solidFill>
                <a:latin typeface="Times New Roman" panose="02020603050405020304" charset="0"/>
                <a:ea typeface="宋体" pitchFamily="2" charset="-122"/>
                <a:cs typeface="+mn-ea"/>
              </a:rPr>
              <a:t>(</a:t>
            </a:r>
            <a:r>
              <a:rPr lang="zh-CN" altLang="en-US" sz="2400" strike="noStrike" noProof="1">
                <a:solidFill>
                  <a:schemeClr val="tx1"/>
                </a:solidFill>
                <a:latin typeface="Times New Roman" panose="02020603050405020304" charset="0"/>
                <a:ea typeface="宋体" pitchFamily="2" charset="-122"/>
                <a:cs typeface="+mn-ea"/>
              </a:rPr>
              <a:t>包括整个存储区域</a:t>
            </a:r>
            <a:r>
              <a:rPr lang="en-US" altLang="zh-CN" sz="2400" strike="noStrike" noProof="1">
                <a:solidFill>
                  <a:schemeClr val="tx1"/>
                </a:solidFill>
                <a:latin typeface="Times New Roman" panose="02020603050405020304" charset="0"/>
                <a:ea typeface="宋体" pitchFamily="2" charset="-122"/>
                <a:cs typeface="+mn-ea"/>
              </a:rPr>
              <a:t>)</a:t>
            </a:r>
            <a:r>
              <a:rPr lang="zh-CN" altLang="en-US" sz="2400" strike="noStrike" noProof="1">
                <a:solidFill>
                  <a:schemeClr val="tx1"/>
                </a:solidFill>
                <a:latin typeface="Times New Roman" panose="02020603050405020304" charset="0"/>
                <a:ea typeface="宋体" pitchFamily="2" charset="-122"/>
                <a:cs typeface="+mn-ea"/>
              </a:rPr>
              <a:t>。</a:t>
            </a:r>
            <a:endParaRPr lang="zh-CN" altLang="en-US" sz="2400"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400" b="1" strike="noStrike" noProof="1">
                <a:solidFill>
                  <a:srgbClr val="000099"/>
                </a:solidFill>
                <a:latin typeface="宋体" pitchFamily="2" charset="-122"/>
                <a:ea typeface="宋体" pitchFamily="2" charset="-122"/>
                <a:cs typeface="+mn-ea"/>
              </a:rPr>
              <a:t>② </a:t>
            </a:r>
            <a:r>
              <a:rPr lang="zh-CN" altLang="en-US" sz="2400" b="1" strike="noStrike" noProof="1">
                <a:solidFill>
                  <a:srgbClr val="000099"/>
                </a:solidFill>
                <a:latin typeface="Times New Roman" panose="02020603050405020304" charset="0"/>
                <a:ea typeface="宋体" pitchFamily="2" charset="-122"/>
                <a:cs typeface="+mn-ea"/>
              </a:rPr>
              <a:t>用户态</a:t>
            </a:r>
            <a:r>
              <a:rPr lang="en-US" altLang="zh-CN" sz="2400" b="1" strike="noStrike" noProof="1">
                <a:solidFill>
                  <a:srgbClr val="000099"/>
                </a:solidFill>
                <a:latin typeface="Times New Roman" panose="02020603050405020304" charset="0"/>
                <a:ea typeface="宋体" pitchFamily="2" charset="-122"/>
                <a:cs typeface="+mn-ea"/>
              </a:rPr>
              <a:t>(User mode)</a:t>
            </a:r>
            <a:r>
              <a:rPr lang="x-none" altLang="en-US" sz="2400" b="1" strike="noStrike" noProof="1">
                <a:solidFill>
                  <a:srgbClr val="000099"/>
                </a:solidFill>
                <a:latin typeface="Times New Roman" panose="02020603050405020304" charset="0"/>
                <a:ea typeface="宋体" pitchFamily="2" charset="-122"/>
                <a:cs typeface="+mn-ea"/>
              </a:rPr>
              <a:t>（目态）</a:t>
            </a:r>
            <a:endParaRPr lang="x-none" altLang="en-US" sz="2400" b="1" strike="noStrike" noProof="1">
              <a:solidFill>
                <a:srgbClr val="000099"/>
              </a:solidFill>
              <a:latin typeface="Times New Roman" panose="02020603050405020304" charset="0"/>
              <a:ea typeface="宋体" pitchFamily="2" charset="-122"/>
              <a:cs typeface="+mn-ea"/>
            </a:endParaRPr>
          </a:p>
          <a:p>
            <a:pPr marL="533400" lvl="0" indent="-533400" algn="just" fontAlgn="base">
              <a:lnSpc>
                <a:spcPct val="130000"/>
              </a:lnSpc>
              <a:buNone/>
            </a:pPr>
            <a:r>
              <a:rPr lang="en-US" altLang="zh-CN" sz="2400" strike="noStrike" noProof="1">
                <a:latin typeface="Times New Roman" panose="02020603050405020304" charset="0"/>
                <a:ea typeface="宋体" pitchFamily="2" charset="-122"/>
                <a:cs typeface="+mn-ea"/>
              </a:rPr>
              <a:t>       </a:t>
            </a:r>
            <a:r>
              <a:rPr lang="zh-CN" altLang="en-US" sz="2400" strike="noStrike" noProof="1">
                <a:solidFill>
                  <a:schemeClr val="tx1"/>
                </a:solidFill>
                <a:latin typeface="Times New Roman" panose="02020603050405020304" charset="0"/>
                <a:ea typeface="宋体" pitchFamily="2" charset="-122"/>
                <a:cs typeface="+mn-ea"/>
              </a:rPr>
              <a:t>用户程序执行时机器所处的状态称为用户态。在此状态下禁止使用特权指令，不能直接取用资源与改变机器状态，并且只允许用户程序访问自己的存储区域。</a:t>
            </a:r>
            <a:endParaRPr lang="zh-CN" altLang="en-US" sz="2400" strike="noStrike" noProof="1">
              <a:solidFill>
                <a:schemeClr val="tx1"/>
              </a:solidFill>
              <a:latin typeface="Times New Roman" panose="02020603050405020304" charset="0"/>
              <a:ea typeface="宋体" pitchFamily="2" charset="-122"/>
            </a:endParaRPr>
          </a:p>
        </p:txBody>
      </p:sp>
      <p:sp>
        <p:nvSpPr>
          <p:cNvPr id="28676" name="矩形 28675"/>
          <p:cNvSpPr/>
          <p:nvPr/>
        </p:nvSpPr>
        <p:spPr>
          <a:xfrm>
            <a:off x="664210" y="557530"/>
            <a:ext cx="7920355" cy="64579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(2) </a:t>
            </a:r>
            <a:r>
              <a:rPr lang="zh-CN" altLang="en-US" sz="2800" b="1" strike="noStrike" noProof="1">
                <a:solidFill>
                  <a:srgbClr val="A50021"/>
                </a:solidFill>
                <a:latin typeface="Times New Roman" panose="02020603050405020304" charset="0"/>
                <a:ea typeface="宋体" pitchFamily="2" charset="-122"/>
                <a:cs typeface="+mn-ea"/>
              </a:rPr>
              <a:t>处理机状态</a:t>
            </a:r>
            <a:r>
              <a:rPr lang="x-none" altLang="zh-CN" sz="2800" b="1" strike="noStrike" noProof="1">
                <a:solidFill>
                  <a:srgbClr val="A50021"/>
                </a:solidFill>
                <a:latin typeface="Times New Roman" panose="02020603050405020304" charset="0"/>
                <a:ea typeface="宋体" pitchFamily="2" charset="-122"/>
                <a:cs typeface="+mn-ea"/>
              </a:rPr>
              <a:t>（至少需要区分两种状态）</a:t>
            </a:r>
            <a:endParaRPr lang="zh-CN" altLang="en-US" sz="2800" b="1" strike="noStrike" noProof="1">
              <a:solidFill>
                <a:srgbClr val="A50021"/>
              </a:solidFill>
              <a:latin typeface="Times New Roman" panose="02020603050405020304" charset="0"/>
              <a:ea typeface="宋体" pitchFamily="2" charset="-122"/>
            </a:endParaRPr>
          </a:p>
        </p:txBody>
      </p:sp>
      <p:sp>
        <p:nvSpPr>
          <p:cNvPr id="28677" name="矩形 2867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处理机的特权级</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8675" grpId="0" uiExpand="1" build="p"/>
      <p:bldP spid="2867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29697"/>
          <p:cNvSpPr/>
          <p:nvPr/>
        </p:nvSpPr>
        <p:spPr>
          <a:xfrm>
            <a:off x="461645" y="3728720"/>
            <a:ext cx="8085455" cy="2557145"/>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30000"/>
              </a:lnSpc>
              <a:buFont typeface="+mj-ea"/>
              <a:buNone/>
            </a:pPr>
            <a:r>
              <a:rPr lang="x-none" sz="2400" strike="noStrike" noProof="1">
                <a:solidFill>
                  <a:schemeClr val="tx1"/>
                </a:solidFill>
                <a:effectLst/>
                <a:latin typeface="Times New Roman" panose="02020603050405020304" charset="0"/>
                <a:ea typeface="宋体" pitchFamily="2" charset="-122"/>
                <a:cs typeface="+mn-ea"/>
              </a:rPr>
              <a:t>      为了区分处理机的工作状态，需要有硬件支持，在计算机特定寄存器中设置一个系统状态位，1bit可以区分两态。若用户程序执行时超出了权限，都将产生中断(程序性中断或保护性中断)，系统由用户态转为管态，操作系统得到CPU控制权，来处理这一非法事件。</a:t>
            </a:r>
            <a:endParaRPr lang="x-none" sz="2400" strike="noStrike" noProof="1">
              <a:solidFill>
                <a:schemeClr val="tx1"/>
              </a:solidFill>
              <a:effectLst/>
              <a:latin typeface="Times New Roman" panose="02020603050405020304" charset="0"/>
              <a:ea typeface="宋体" pitchFamily="2" charset="-122"/>
              <a:cs typeface="+mn-ea"/>
            </a:endParaRPr>
          </a:p>
        </p:txBody>
      </p:sp>
      <p:sp>
        <p:nvSpPr>
          <p:cNvPr id="40962" name="文本框 2969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26</a:t>
            </a:r>
            <a:endParaRPr lang="en-US" altLang="zh-CN" sz="1400" b="0">
              <a:solidFill>
                <a:schemeClr val="tx2"/>
              </a:solidFill>
              <a:latin typeface="Times New Roman" panose="02020603050405020304" charset="0"/>
              <a:ea typeface="宋体" pitchFamily="2" charset="-122"/>
            </a:endParaRPr>
          </a:p>
        </p:txBody>
      </p:sp>
      <p:sp>
        <p:nvSpPr>
          <p:cNvPr id="29701" name="矩形 2970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处理机的特权级</a:t>
            </a:r>
            <a:endParaRPr lang="zh-CN" altLang="en-US" sz="2400" strike="noStrike" noProof="1">
              <a:ea typeface="宋体" pitchFamily="2" charset="-122"/>
            </a:endParaRPr>
          </a:p>
        </p:txBody>
      </p:sp>
      <p:grpSp>
        <p:nvGrpSpPr>
          <p:cNvPr id="29702" name="组合 29701"/>
          <p:cNvGrpSpPr/>
          <p:nvPr/>
        </p:nvGrpSpPr>
        <p:grpSpPr>
          <a:xfrm>
            <a:off x="769938" y="581025"/>
            <a:ext cx="7564437" cy="2974975"/>
            <a:chOff x="0" y="0"/>
            <a:chExt cx="4765" cy="1874"/>
          </a:xfrm>
        </p:grpSpPr>
        <p:sp>
          <p:nvSpPr>
            <p:cNvPr id="29703" name="矩形 29702"/>
            <p:cNvSpPr/>
            <p:nvPr/>
          </p:nvSpPr>
          <p:spPr>
            <a:xfrm>
              <a:off x="2" y="88"/>
              <a:ext cx="4761" cy="1786"/>
            </a:xfrm>
            <a:prstGeom prst="rect">
              <a:avLst/>
            </a:prstGeom>
            <a:no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29704" name="文本占位符 29703"/>
            <p:cNvSpPr>
              <a:spLocks noGrp="1"/>
            </p:cNvSpPr>
            <p:nvPr>
              <p:ph type="body" idx="1"/>
            </p:nvPr>
          </p:nvSpPr>
          <p:spPr>
            <a:xfrm>
              <a:off x="66" y="0"/>
              <a:ext cx="4642" cy="1854"/>
            </a:xfrm>
          </p:spPr>
          <p:txBody>
            <a:bodyPr wrap="square">
              <a:spAutoFit/>
            </a:bodyPr>
            <a:p>
              <a:pPr lvl="0">
                <a:lnSpc>
                  <a:spcPct val="130000"/>
                </a:lnSpc>
                <a:buNone/>
              </a:pPr>
              <a:r>
                <a:rPr lang="zh-CN" altLang="en-US" b="1">
                  <a:latin typeface="Times New Roman" panose="02020603050405020304" charset="0"/>
                  <a:ea typeface="宋体" pitchFamily="2" charset="-122"/>
                </a:rPr>
                <a:t>         </a:t>
              </a:r>
              <a:r>
                <a:rPr lang="zh-CN" altLang="en-US" sz="2400" b="1">
                  <a:solidFill>
                    <a:srgbClr val="000099"/>
                  </a:solidFill>
                  <a:latin typeface="Times New Roman" panose="02020603050405020304" charset="0"/>
                  <a:ea typeface="宋体" pitchFamily="2" charset="-122"/>
                </a:rPr>
                <a:t>管态                        </a:t>
              </a:r>
              <a:r>
                <a:rPr lang="en-US" altLang="zh-CN" sz="2400" b="1">
                  <a:solidFill>
                    <a:srgbClr val="000099"/>
                  </a:solidFill>
                  <a:latin typeface="Times New Roman" panose="02020603050405020304" charset="0"/>
                  <a:ea typeface="宋体" pitchFamily="2" charset="-122"/>
                </a:rPr>
                <a:t>     </a:t>
              </a:r>
              <a:r>
                <a:rPr lang="zh-CN" altLang="en-US" sz="2400" b="1">
                  <a:solidFill>
                    <a:srgbClr val="000099"/>
                  </a:solidFill>
                  <a:latin typeface="Times New Roman" panose="02020603050405020304" charset="0"/>
                  <a:ea typeface="宋体" pitchFamily="2" charset="-122"/>
                </a:rPr>
                <a:t>用户态</a:t>
              </a:r>
              <a:endParaRPr lang="zh-CN" altLang="en-US" sz="2400" b="1">
                <a:solidFill>
                  <a:srgbClr val="000099"/>
                </a:solidFill>
                <a:latin typeface="Times New Roman" panose="02020603050405020304" charset="0"/>
                <a:ea typeface="宋体" pitchFamily="2" charset="-122"/>
                <a:sym typeface="Symbol" panose="05050102010706020507" pitchFamily="18" charset="2"/>
              </a:endParaRPr>
            </a:p>
            <a:p>
              <a:pPr lvl="0">
                <a:lnSpc>
                  <a:spcPct val="130000"/>
                </a:lnSpc>
                <a:buNone/>
              </a:pPr>
              <a:r>
                <a:rPr lang="zh-CN" altLang="en-US" sz="2400">
                  <a:latin typeface="Times New Roman" panose="02020603050405020304" charset="0"/>
                  <a:ea typeface="宋体" pitchFamily="2" charset="-122"/>
                  <a:sym typeface="Symbol" panose="05050102010706020507" pitchFamily="18" charset="2"/>
                </a:rPr>
                <a:t>    </a:t>
              </a:r>
              <a:r>
                <a:rPr lang="zh-CN" altLang="en-US" sz="2400">
                  <a:solidFill>
                    <a:schemeClr val="tx1"/>
                  </a:solidFill>
                  <a:latin typeface="Times New Roman" panose="02020603050405020304" charset="0"/>
                  <a:ea typeface="宋体" pitchFamily="2" charset="-122"/>
                </a:rPr>
                <a:t>操作系统的程序执行               用户程序执行</a:t>
              </a:r>
              <a:endParaRPr lang="zh-CN" altLang="en-US" sz="2400">
                <a:solidFill>
                  <a:schemeClr val="tx1"/>
                </a:solidFill>
                <a:latin typeface="Times New Roman" panose="02020603050405020304" charset="0"/>
                <a:ea typeface="宋体" pitchFamily="2" charset="-122"/>
              </a:endParaRPr>
            </a:p>
            <a:p>
              <a:pPr lvl="0" algn="just">
                <a:lnSpc>
                  <a:spcPct val="130000"/>
                </a:lnSpc>
                <a:buNone/>
              </a:pPr>
              <a:r>
                <a:rPr lang="zh-CN" altLang="en-US" sz="2400">
                  <a:solidFill>
                    <a:schemeClr val="tx1"/>
                  </a:solidFill>
                  <a:latin typeface="Times New Roman" panose="02020603050405020304" charset="0"/>
                  <a:ea typeface="宋体" pitchFamily="2" charset="-122"/>
                </a:rPr>
                <a:t>     使用全部指令                    禁止使用特权指令</a:t>
              </a:r>
              <a:endParaRPr lang="zh-CN" altLang="en-US" sz="2400">
                <a:solidFill>
                  <a:schemeClr val="tx1"/>
                </a:solidFill>
                <a:latin typeface="Times New Roman" panose="02020603050405020304" charset="0"/>
                <a:ea typeface="宋体" pitchFamily="2" charset="-122"/>
              </a:endParaRPr>
            </a:p>
            <a:p>
              <a:pPr lvl="0" algn="just">
                <a:lnSpc>
                  <a:spcPct val="130000"/>
                </a:lnSpc>
                <a:buNone/>
              </a:pPr>
              <a:r>
                <a:rPr lang="zh-CN" altLang="en-US" sz="2400">
                  <a:solidFill>
                    <a:schemeClr val="tx1"/>
                  </a:solidFill>
                  <a:latin typeface="Times New Roman" panose="02020603050405020304" charset="0"/>
                  <a:ea typeface="宋体" pitchFamily="2" charset="-122"/>
                  <a:sym typeface="Symbol" panose="05050102010706020507" pitchFamily="18" charset="2"/>
                </a:rPr>
                <a:t>   </a:t>
              </a:r>
              <a:r>
                <a:rPr lang="zh-CN" altLang="en-US" sz="2400">
                  <a:solidFill>
                    <a:schemeClr val="tx1"/>
                  </a:solidFill>
                  <a:latin typeface="Times New Roman" panose="02020603050405020304" charset="0"/>
                  <a:ea typeface="宋体" pitchFamily="2" charset="-122"/>
                </a:rPr>
                <a:t>使用全部系统资源                   只允许用户程序</a:t>
              </a:r>
              <a:endParaRPr lang="zh-CN" altLang="en-US" sz="2400">
                <a:solidFill>
                  <a:schemeClr val="tx1"/>
                </a:solidFill>
                <a:latin typeface="Times New Roman" panose="02020603050405020304" charset="0"/>
                <a:ea typeface="宋体" pitchFamily="2" charset="-122"/>
              </a:endParaRPr>
            </a:p>
            <a:p>
              <a:pPr lvl="0">
                <a:lnSpc>
                  <a:spcPct val="110000"/>
                </a:lnSpc>
                <a:spcBef>
                  <a:spcPct val="10000"/>
                </a:spcBef>
                <a:buNone/>
              </a:pPr>
              <a:r>
                <a:rPr lang="zh-CN" altLang="en-US" sz="2400">
                  <a:solidFill>
                    <a:schemeClr val="tx1"/>
                  </a:solidFill>
                  <a:latin typeface="Times New Roman" panose="02020603050405020304" charset="0"/>
                  <a:ea typeface="宋体" pitchFamily="2" charset="-122"/>
                </a:rPr>
                <a:t>  </a:t>
              </a:r>
              <a:r>
                <a:rPr lang="en-US" altLang="zh-CN" sz="2400">
                  <a:solidFill>
                    <a:schemeClr val="tx1"/>
                  </a:solidFill>
                  <a:latin typeface="Times New Roman" panose="02020603050405020304" charset="0"/>
                  <a:ea typeface="宋体" pitchFamily="2" charset="-122"/>
                </a:rPr>
                <a:t>(</a:t>
              </a:r>
              <a:r>
                <a:rPr lang="zh-CN" altLang="en-US" sz="2400">
                  <a:solidFill>
                    <a:schemeClr val="tx1"/>
                  </a:solidFill>
                  <a:latin typeface="Times New Roman" panose="02020603050405020304" charset="0"/>
                  <a:ea typeface="宋体" pitchFamily="2" charset="-122"/>
                </a:rPr>
                <a:t>包括整个存储区域</a:t>
              </a:r>
              <a:r>
                <a:rPr lang="en-US" altLang="zh-CN" sz="2400">
                  <a:solidFill>
                    <a:schemeClr val="tx1"/>
                  </a:solidFill>
                  <a:latin typeface="Times New Roman" panose="02020603050405020304" charset="0"/>
                  <a:ea typeface="宋体" pitchFamily="2" charset="-122"/>
                </a:rPr>
                <a:t>)               </a:t>
              </a:r>
              <a:r>
                <a:rPr lang="zh-CN" altLang="en-US" sz="2400">
                  <a:solidFill>
                    <a:schemeClr val="tx1"/>
                  </a:solidFill>
                  <a:latin typeface="Times New Roman" panose="02020603050405020304" charset="0"/>
                  <a:ea typeface="宋体" pitchFamily="2" charset="-122"/>
                </a:rPr>
                <a:t>访问自己的存储区域</a:t>
              </a:r>
              <a:endParaRPr lang="zh-CN" altLang="en-US" sz="2400">
                <a:solidFill>
                  <a:schemeClr val="tx1"/>
                </a:solidFill>
                <a:latin typeface="Times New Roman" panose="02020603050405020304" charset="0"/>
                <a:ea typeface="宋体" pitchFamily="2" charset="-122"/>
              </a:endParaRPr>
            </a:p>
          </p:txBody>
        </p:sp>
        <p:sp>
          <p:nvSpPr>
            <p:cNvPr id="40968" name="直接连接符 29704"/>
            <p:cNvSpPr/>
            <p:nvPr/>
          </p:nvSpPr>
          <p:spPr>
            <a:xfrm>
              <a:off x="0" y="438"/>
              <a:ext cx="476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0969" name="直接连接符 29705"/>
            <p:cNvSpPr/>
            <p:nvPr/>
          </p:nvSpPr>
          <p:spPr>
            <a:xfrm>
              <a:off x="1" y="835"/>
              <a:ext cx="476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0970" name="直接连接符 29706"/>
            <p:cNvSpPr/>
            <p:nvPr/>
          </p:nvSpPr>
          <p:spPr>
            <a:xfrm>
              <a:off x="2" y="1232"/>
              <a:ext cx="4763"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0971" name="直接连接符 29707"/>
            <p:cNvSpPr/>
            <p:nvPr/>
          </p:nvSpPr>
          <p:spPr>
            <a:xfrm>
              <a:off x="2368" y="91"/>
              <a:ext cx="0" cy="1774"/>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30721"/>
          <p:cNvSpPr>
            <a:spLocks noGrp="1"/>
          </p:cNvSpPr>
          <p:nvPr>
            <p:ph type="title"/>
          </p:nvPr>
        </p:nvSpPr>
        <p:spPr>
          <a:xfrm>
            <a:off x="363538" y="595313"/>
            <a:ext cx="5135563" cy="593725"/>
          </a:xfrm>
        </p:spPr>
        <p:txBody>
          <a:bodyPr wrap="square">
            <a:spAutoFit/>
          </a:bodyPr>
          <a:p>
            <a:pPr lvl="0"/>
            <a:r>
              <a:rPr lang="zh-CN" altLang="en-US" sz="3600" b="0" dirty="0">
                <a:latin typeface="仿宋_GB2312" panose="02010609030101010101" pitchFamily="49" charset="-122"/>
                <a:ea typeface="仿宋_GB2312" panose="02010609030101010101" pitchFamily="49" charset="-122"/>
              </a:rPr>
              <a:t>处理器特权级的标识：</a:t>
            </a:r>
            <a:endParaRPr lang="zh-CN" altLang="en-US" sz="3600" b="0" dirty="0">
              <a:latin typeface="仿宋_GB2312" panose="02010609030101010101" pitchFamily="49" charset="-122"/>
              <a:ea typeface="仿宋_GB2312" panose="02010609030101010101" pitchFamily="49" charset="-122"/>
            </a:endParaRPr>
          </a:p>
        </p:txBody>
      </p:sp>
      <p:sp>
        <p:nvSpPr>
          <p:cNvPr id="30723" name="矩形 30722"/>
          <p:cNvSpPr/>
          <p:nvPr/>
        </p:nvSpPr>
        <p:spPr>
          <a:xfrm>
            <a:off x="431800" y="1226503"/>
            <a:ext cx="8255000" cy="4732337"/>
          </a:xfrm>
          <a:prstGeom prst="rect">
            <a:avLst/>
          </a:prstGeom>
          <a:noFill/>
          <a:ln w="9525">
            <a:noFill/>
            <a:miter/>
          </a:ln>
        </p:spPr>
        <p:txBody>
          <a:bodyPr anchor="t"/>
          <a:p>
            <a:pPr marL="342900" lvl="0"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80386</a:t>
            </a:r>
            <a:r>
              <a:rPr lang="zh-CN" altLang="zh-CN" sz="2800" dirty="0">
                <a:solidFill>
                  <a:schemeClr val="tx1"/>
                </a:solidFill>
                <a:latin typeface="仿宋_GB2312" panose="02010609030101010101" pitchFamily="49" charset="-122"/>
                <a:ea typeface="仿宋_GB2312" panose="02010609030101010101" pitchFamily="49" charset="-122"/>
              </a:rPr>
              <a:t>保护模式</a:t>
            </a:r>
            <a:r>
              <a:rPr lang="en-US" altLang="zh-CN" sz="2800" dirty="0">
                <a:solidFill>
                  <a:schemeClr val="tx1"/>
                </a:solidFill>
                <a:latin typeface="仿宋_GB2312" panose="02010609030101010101" pitchFamily="49" charset="-122"/>
                <a:ea typeface="仿宋_GB2312" panose="02010609030101010101" pitchFamily="49" charset="-122"/>
              </a:rPr>
              <a:t>:CS</a:t>
            </a:r>
            <a:r>
              <a:rPr lang="zh-CN" altLang="en-US" sz="2800" dirty="0">
                <a:solidFill>
                  <a:schemeClr val="tx1"/>
                </a:solidFill>
                <a:latin typeface="仿宋_GB2312" panose="02010609030101010101" pitchFamily="49" charset="-122"/>
                <a:ea typeface="仿宋_GB2312" panose="02010609030101010101" pitchFamily="49" charset="-122"/>
              </a:rPr>
              <a:t>段选择字低</a:t>
            </a:r>
            <a:r>
              <a:rPr lang="en-US" altLang="zh-CN" sz="2800" dirty="0">
                <a:solidFill>
                  <a:schemeClr val="tx1"/>
                </a:solidFill>
                <a:latin typeface="仿宋_GB2312" panose="02010609030101010101" pitchFamily="49" charset="-122"/>
                <a:ea typeface="仿宋_GB2312" panose="02010609030101010101" pitchFamily="49" charset="-122"/>
              </a:rPr>
              <a:t>2</a:t>
            </a:r>
            <a:r>
              <a:rPr lang="zh-CN" altLang="en-US" sz="2800" dirty="0">
                <a:solidFill>
                  <a:schemeClr val="tx1"/>
                </a:solidFill>
                <a:latin typeface="仿宋_GB2312" panose="02010609030101010101" pitchFamily="49" charset="-122"/>
                <a:ea typeface="仿宋_GB2312" panose="02010609030101010101" pitchFamily="49" charset="-122"/>
              </a:rPr>
              <a:t>位（</a:t>
            </a:r>
            <a:r>
              <a:rPr lang="en-US" altLang="zh-CN" sz="2800" dirty="0">
                <a:solidFill>
                  <a:schemeClr val="tx1"/>
                </a:solidFill>
                <a:latin typeface="仿宋_GB2312" panose="02010609030101010101" pitchFamily="49" charset="-122"/>
                <a:ea typeface="仿宋_GB2312" panose="02010609030101010101" pitchFamily="49" charset="-122"/>
              </a:rPr>
              <a:t>CPL</a:t>
            </a:r>
            <a:r>
              <a:rPr lang="zh-CN" altLang="en-US" sz="2800" dirty="0">
                <a:solidFill>
                  <a:schemeClr val="tx1"/>
                </a:solidFill>
                <a:latin typeface="仿宋_GB2312" panose="02010609030101010101" pitchFamily="49" charset="-122"/>
                <a:ea typeface="仿宋_GB2312" panose="02010609030101010101" pitchFamily="49" charset="-122"/>
              </a:rPr>
              <a:t>）</a:t>
            </a:r>
            <a:endParaRPr lang="zh-CN" altLang="en-US"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00 -&gt; system      11 -&gt; user</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01, 10</a:t>
            </a:r>
            <a:endParaRPr lang="en-US" altLang="zh-CN" sz="2800" dirty="0">
              <a:solidFill>
                <a:schemeClr val="tx1"/>
              </a:solidFill>
              <a:latin typeface="仿宋_GB2312" panose="02010609030101010101" pitchFamily="49" charset="-122"/>
              <a:ea typeface="仿宋_GB2312" panose="02010609030101010101" pitchFamily="49" charset="-122"/>
            </a:endParaRPr>
          </a:p>
          <a:p>
            <a:pPr marL="342900" lvl="0"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arm:CPSR</a:t>
            </a:r>
            <a:r>
              <a:rPr lang="zh-CN" altLang="zh-CN" sz="2800" dirty="0">
                <a:solidFill>
                  <a:schemeClr val="tx1"/>
                </a:solidFill>
                <a:latin typeface="仿宋_GB2312" panose="02010609030101010101" pitchFamily="49" charset="-122"/>
                <a:ea typeface="仿宋_GB2312" panose="02010609030101010101" pitchFamily="49" charset="-122"/>
              </a:rPr>
              <a:t>状态寄存器中的低</a:t>
            </a:r>
            <a:r>
              <a:rPr lang="en-US" altLang="zh-CN" sz="2800" dirty="0">
                <a:solidFill>
                  <a:schemeClr val="tx1"/>
                </a:solidFill>
                <a:latin typeface="仿宋_GB2312" panose="02010609030101010101" pitchFamily="49" charset="-122"/>
                <a:ea typeface="仿宋_GB2312" panose="02010609030101010101" pitchFamily="49" charset="-122"/>
              </a:rPr>
              <a:t>5</a:t>
            </a:r>
            <a:r>
              <a:rPr lang="zh-CN" altLang="en-US" sz="2800" dirty="0">
                <a:solidFill>
                  <a:schemeClr val="tx1"/>
                </a:solidFill>
                <a:latin typeface="仿宋_GB2312" panose="02010609030101010101" pitchFamily="49" charset="-122"/>
                <a:ea typeface="仿宋_GB2312" panose="02010609030101010101" pitchFamily="49" charset="-122"/>
              </a:rPr>
              <a:t>位：M</a:t>
            </a:r>
            <a:r>
              <a:rPr lang="en-US" altLang="zh-CN" sz="2800" dirty="0">
                <a:solidFill>
                  <a:schemeClr val="tx1"/>
                </a:solidFill>
                <a:latin typeface="仿宋_GB2312" panose="02010609030101010101" pitchFamily="49" charset="-122"/>
                <a:ea typeface="仿宋_GB2312" panose="02010609030101010101" pitchFamily="49" charset="-122"/>
              </a:rPr>
              <a:t>[4:0]</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10000 -&gt; user    </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10001 -&gt; FIQ     10010-&gt;IRQ</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10011 -&gt; supervisor</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10111 -&gt; abort   </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rPr>
              <a:t>11011 -&gt; undefined</a:t>
            </a:r>
            <a:endParaRPr lang="en-US" altLang="zh-CN"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en-US" altLang="zh-CN" sz="2800" dirty="0">
                <a:solidFill>
                  <a:schemeClr val="tx1"/>
                </a:solidFill>
                <a:latin typeface="仿宋_GB2312" panose="02010609030101010101" pitchFamily="49" charset="-122"/>
                <a:ea typeface="仿宋_GB2312" panose="02010609030101010101" pitchFamily="49" charset="-122"/>
                <a:sym typeface="Arial" panose="020B0604020202020204" pitchFamily="34" charset="0"/>
              </a:rPr>
              <a:t>11111 -&gt; system</a:t>
            </a:r>
            <a:endParaRPr lang="en-US" altLang="zh-CN" sz="2800" dirty="0">
              <a:solidFill>
                <a:schemeClr val="tx1"/>
              </a:solidFill>
              <a:latin typeface="仿宋_GB2312" panose="02010609030101010101" pitchFamily="49" charset="-122"/>
              <a:ea typeface="仿宋_GB2312" panose="02010609030101010101" pitchFamily="49" charset="-122"/>
              <a:sym typeface="Arial" panose="020B0604020202020204" pitchFamily="34" charset="0"/>
            </a:endParaRPr>
          </a:p>
        </p:txBody>
      </p:sp>
      <p:sp>
        <p:nvSpPr>
          <p:cNvPr id="41987" name="文本框 3072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2</a:t>
            </a:r>
            <a:r>
              <a:rPr lang="en-US" altLang="zh-CN" sz="1400" b="0">
                <a:solidFill>
                  <a:schemeClr val="tx2"/>
                </a:solidFill>
                <a:latin typeface="Times New Roman" panose="02020603050405020304" charset="0"/>
                <a:ea typeface="宋体" pitchFamily="2" charset="-122"/>
              </a:rPr>
              <a:t>7</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29697"/>
          <p:cNvSpPr/>
          <p:nvPr/>
        </p:nvSpPr>
        <p:spPr>
          <a:xfrm>
            <a:off x="767715" y="1546225"/>
            <a:ext cx="7533005" cy="2044065"/>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buFont typeface="+mj-ea"/>
              <a:buAutoNum type="circleNumDbPlain"/>
            </a:pPr>
            <a:r>
              <a:rPr lang="zh-CN" altLang="en-US" sz="2400" b="1" strike="noStrike" noProof="1">
                <a:solidFill>
                  <a:srgbClr val="000099"/>
                </a:solidFill>
                <a:latin typeface="Times New Roman" panose="02020603050405020304" charset="0"/>
                <a:ea typeface="宋体" pitchFamily="2" charset="-122"/>
                <a:cs typeface="+mn-ea"/>
              </a:rPr>
              <a:t>涉及外部设备的输入</a:t>
            </a:r>
            <a:r>
              <a:rPr lang="en-US" altLang="zh-CN" sz="2400" b="1" strike="noStrike" noProof="1">
                <a:solidFill>
                  <a:srgbClr val="000099"/>
                </a:solidFill>
                <a:latin typeface="Times New Roman" panose="02020603050405020304" charset="0"/>
                <a:ea typeface="宋体" pitchFamily="2" charset="-122"/>
                <a:cs typeface="+mn-ea"/>
              </a:rPr>
              <a:t>/</a:t>
            </a:r>
            <a:r>
              <a:rPr lang="zh-CN" altLang="en-US" sz="2400" b="1" strike="noStrike" noProof="1">
                <a:solidFill>
                  <a:srgbClr val="000099"/>
                </a:solidFill>
                <a:latin typeface="Times New Roman" panose="02020603050405020304" charset="0"/>
                <a:ea typeface="宋体" pitchFamily="2" charset="-122"/>
                <a:cs typeface="+mn-ea"/>
              </a:rPr>
              <a:t>输出指令，</a:t>
            </a:r>
            <a:r>
              <a:rPr lang="zh-CN" altLang="en-US" sz="2400" b="1" strike="noStrike" noProof="1">
                <a:solidFill>
                  <a:srgbClr val="000099"/>
                </a:solidFill>
                <a:latin typeface="Times New Roman" panose="02020603050405020304" charset="0"/>
                <a:ea typeface="宋体" pitchFamily="2" charset="-122"/>
                <a:cs typeface="+mn-ea"/>
                <a:sym typeface="Symbol" panose="05050102010706020507" pitchFamily="18" charset="2"/>
              </a:rPr>
              <a:t>允许/禁止中断；</a:t>
            </a:r>
            <a:endParaRPr lang="zh-CN" altLang="en-US" sz="2400" b="1" strike="noStrike" noProof="1">
              <a:solidFill>
                <a:srgbClr val="000099"/>
              </a:solidFill>
              <a:latin typeface="Times New Roman" panose="02020603050405020304" charset="0"/>
              <a:ea typeface="宋体" pitchFamily="2" charset="-122"/>
            </a:endParaRPr>
          </a:p>
          <a:p>
            <a:pPr lvl="0" fontAlgn="base">
              <a:lnSpc>
                <a:spcPct val="130000"/>
              </a:lnSpc>
              <a:buFont typeface="+mj-ea"/>
              <a:buAutoNum type="circleNumDbPlain"/>
            </a:pPr>
            <a:r>
              <a:rPr lang="zh-CN" altLang="en-US" sz="2400" b="1" strike="noStrike" noProof="1">
                <a:solidFill>
                  <a:srgbClr val="000099"/>
                </a:solidFill>
                <a:latin typeface="Times New Roman" panose="02020603050405020304" charset="0"/>
                <a:ea typeface="宋体" pitchFamily="2" charset="-122"/>
                <a:cs typeface="+mn-ea"/>
              </a:rPr>
              <a:t>修改特殊寄存器的指令；</a:t>
            </a:r>
            <a:endParaRPr lang="zh-CN" altLang="en-US" sz="2400" b="1" strike="noStrike" noProof="1">
              <a:solidFill>
                <a:srgbClr val="000099"/>
              </a:solidFill>
              <a:latin typeface="Times New Roman" panose="02020603050405020304" charset="0"/>
              <a:ea typeface="宋体" pitchFamily="2" charset="-122"/>
            </a:endParaRPr>
          </a:p>
          <a:p>
            <a:pPr lvl="0" fontAlgn="base">
              <a:lnSpc>
                <a:spcPct val="130000"/>
              </a:lnSpc>
              <a:buFont typeface="+mj-ea"/>
              <a:buAutoNum type="circleNumDbPlain"/>
            </a:pPr>
            <a:r>
              <a:rPr lang="zh-CN" altLang="en-US" sz="2400" b="1" strike="noStrike" noProof="1">
                <a:solidFill>
                  <a:srgbClr val="000099"/>
                </a:solidFill>
                <a:latin typeface="Times New Roman" panose="02020603050405020304" charset="0"/>
                <a:ea typeface="宋体" pitchFamily="2" charset="-122"/>
                <a:cs typeface="+mn-ea"/>
              </a:rPr>
              <a:t>改变机器状态的指令；</a:t>
            </a:r>
            <a:endParaRPr lang="zh-CN" altLang="en-US" sz="2400" b="1" strike="noStrike" noProof="1">
              <a:solidFill>
                <a:srgbClr val="000099"/>
              </a:solidFill>
              <a:latin typeface="Times New Roman" panose="02020603050405020304" charset="0"/>
              <a:ea typeface="宋体" pitchFamily="2" charset="-122"/>
            </a:endParaRPr>
          </a:p>
        </p:txBody>
      </p:sp>
      <p:sp>
        <p:nvSpPr>
          <p:cNvPr id="40962" name="文本框 2969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26</a:t>
            </a:r>
            <a:endParaRPr lang="en-US" altLang="zh-CN" sz="1400" b="0">
              <a:solidFill>
                <a:schemeClr val="tx2"/>
              </a:solidFill>
              <a:latin typeface="Times New Roman" panose="02020603050405020304" charset="0"/>
              <a:ea typeface="宋体" pitchFamily="2" charset="-122"/>
            </a:endParaRPr>
          </a:p>
        </p:txBody>
      </p:sp>
      <p:sp>
        <p:nvSpPr>
          <p:cNvPr id="29700" name="矩形 29699"/>
          <p:cNvSpPr/>
          <p:nvPr/>
        </p:nvSpPr>
        <p:spPr>
          <a:xfrm>
            <a:off x="733425" y="910908"/>
            <a:ext cx="5418138"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(3) </a:t>
            </a:r>
            <a:r>
              <a:rPr lang="zh-CN" altLang="en-US" sz="2800" b="1" strike="noStrike" noProof="1">
                <a:solidFill>
                  <a:srgbClr val="A50021"/>
                </a:solidFill>
                <a:latin typeface="Times New Roman" panose="02020603050405020304" charset="0"/>
                <a:ea typeface="宋体" pitchFamily="2" charset="-122"/>
                <a:cs typeface="+mn-ea"/>
              </a:rPr>
              <a:t>处理机的特权指令</a:t>
            </a:r>
            <a:endParaRPr lang="zh-CN" altLang="en-US" sz="2800" b="1" strike="noStrike" noProof="1">
              <a:solidFill>
                <a:srgbClr val="A50021"/>
              </a:solidFill>
              <a:latin typeface="Times New Roman" panose="02020603050405020304" charset="0"/>
              <a:ea typeface="宋体" pitchFamily="2" charset="-122"/>
            </a:endParaRPr>
          </a:p>
        </p:txBody>
      </p:sp>
      <p:sp>
        <p:nvSpPr>
          <p:cNvPr id="29701" name="矩形 2970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处理机的特权级</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970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32769"/>
          <p:cNvSpPr>
            <a:spLocks noGrp="1"/>
          </p:cNvSpPr>
          <p:nvPr>
            <p:ph type="title"/>
          </p:nvPr>
        </p:nvSpPr>
        <p:spPr>
          <a:xfrm>
            <a:off x="363538" y="595313"/>
            <a:ext cx="8393113" cy="760413"/>
          </a:xfrm>
        </p:spPr>
        <p:txBody>
          <a:bodyPr>
            <a:spAutoFit/>
          </a:bodyPr>
          <a:p>
            <a:pPr lvl="0"/>
            <a:r>
              <a:rPr lang="zh-CN" altLang="en-US" sz="3600">
                <a:solidFill>
                  <a:srgbClr val="A50021"/>
                </a:solidFill>
                <a:latin typeface="Times New Roman" panose="02020603050405020304" charset="0"/>
                <a:ea typeface="宋体" pitchFamily="2" charset="-122"/>
              </a:rPr>
              <a:t>处理器状态切换</a:t>
            </a:r>
            <a:r>
              <a:rPr lang="zh-CN" altLang="en-US" dirty="0">
                <a:ea typeface="宋体" pitchFamily="2" charset="-122"/>
              </a:rPr>
              <a:t>：</a:t>
            </a:r>
            <a:endParaRPr lang="zh-CN" altLang="en-US" dirty="0"/>
          </a:p>
        </p:txBody>
      </p:sp>
      <p:sp>
        <p:nvSpPr>
          <p:cNvPr id="32771" name="文本占位符 32770"/>
          <p:cNvSpPr>
            <a:spLocks noGrp="1"/>
          </p:cNvSpPr>
          <p:nvPr>
            <p:ph idx="1"/>
          </p:nvPr>
        </p:nvSpPr>
        <p:spPr>
          <a:xfrm>
            <a:off x="139700" y="1572895"/>
            <a:ext cx="8825230" cy="4093210"/>
          </a:xfrm>
        </p:spPr>
        <p:txBody>
          <a:bodyPr vert="horz" wrap="square" anchor="t">
            <a:spAutoFit/>
          </a:bodyPr>
          <a:p>
            <a:pPr fontAlgn="base"/>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用户态转到核态</a:t>
            </a:r>
            <a:endPar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lvl="1" fontAlgn="base">
              <a:buClr>
                <a:schemeClr val="bg2"/>
              </a:buClr>
              <a:buChar char="•"/>
            </a:pPr>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用户程序要求操作系统提供服务，执行系统功能调用；</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(中断或系统调用指令)</a:t>
            </a:r>
            <a:endPar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lvl="1" fontAlgn="base">
              <a:buClr>
                <a:schemeClr val="bg2"/>
              </a:buClr>
              <a:buChar char="•"/>
            </a:pPr>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用户程序运行时，偶然发生一次</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硬件</a:t>
            </a:r>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中断</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a:t>
            </a:r>
            <a:endPar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lvl="1" fontAlgn="base">
              <a:buClr>
                <a:schemeClr val="bg2"/>
              </a:buClr>
              <a:buChar char="•"/>
            </a:pPr>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用户程序产生错误</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a:t>
            </a:r>
            <a:r>
              <a:rPr lang="zh-CN" altLang="x-none" strike="noStrike" noProof="1" dirty="0">
                <a:ln>
                  <a:solidFill>
                    <a:sysClr val="windowText" lastClr="000000"/>
                  </a:solidFill>
                </a:ln>
                <a:solidFill>
                  <a:schemeClr val="tx1"/>
                </a:solidFill>
                <a:effectLst/>
                <a:ea typeface="宋体" pitchFamily="2" charset="-122"/>
                <a:sym typeface="Symbol" panose="05050102010706020507" pitchFamily="18" charset="2"/>
              </a:rPr>
              <a:t>程序性</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中断)</a:t>
            </a:r>
            <a:endPar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lvl="1" fontAlgn="base">
              <a:buClr>
                <a:schemeClr val="bg2"/>
              </a:buClr>
              <a:buChar char="•"/>
            </a:pPr>
            <a:r>
              <a:rPr lang="zh-CN" altLang="x-none" strike="noStrike" noProof="1" dirty="0">
                <a:ln>
                  <a:solidFill>
                    <a:sysClr val="windowText" lastClr="000000"/>
                  </a:solidFill>
                </a:ln>
                <a:solidFill>
                  <a:schemeClr val="tx1"/>
                </a:solidFill>
                <a:effectLst/>
                <a:ea typeface="宋体" pitchFamily="2" charset="-122"/>
                <a:sym typeface="Symbol" panose="05050102010706020507" pitchFamily="18" charset="2"/>
              </a:rPr>
              <a:t>用户程序企图执行特权指令；（处理同上一条）</a:t>
            </a:r>
            <a:endPar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fontAlgn="base"/>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核态转到用户态</a:t>
            </a:r>
            <a:endPar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endParaRPr>
          </a:p>
          <a:p>
            <a:pPr lvl="1" fontAlgn="base">
              <a:buChar char="•"/>
            </a:pPr>
            <a:r>
              <a:rPr lang="zh-CN" altLang="en-US" strike="noStrike" noProof="1" dirty="0">
                <a:ln>
                  <a:solidFill>
                    <a:sysClr val="windowText" lastClr="000000"/>
                  </a:solidFill>
                </a:ln>
                <a:solidFill>
                  <a:schemeClr val="tx1"/>
                </a:solidFill>
                <a:effectLst/>
                <a:ea typeface="宋体" pitchFamily="2" charset="-122"/>
                <a:sym typeface="Symbol" panose="05050102010706020507" pitchFamily="18" charset="2"/>
              </a:rPr>
              <a:t>中断返回</a:t>
            </a:r>
            <a:r>
              <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rPr>
              <a:t>（这条指令本身也是特权指令）</a:t>
            </a:r>
            <a:endParaRPr lang="x-none" altLang="zh-CN" strike="noStrike" noProof="1" dirty="0">
              <a:ln>
                <a:solidFill>
                  <a:sysClr val="windowText" lastClr="000000"/>
                </a:solidFill>
              </a:ln>
              <a:solidFill>
                <a:schemeClr val="tx1"/>
              </a:solidFill>
              <a:effectLst/>
              <a:ea typeface="宋体" pitchFamily="2" charset="-122"/>
              <a:sym typeface="Symbol" panose="05050102010706020507" pitchFamily="18" charset="2"/>
            </a:endParaRPr>
          </a:p>
        </p:txBody>
      </p:sp>
      <p:sp>
        <p:nvSpPr>
          <p:cNvPr id="43011" name="文本框 3277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itchFamily="2" charset="-122"/>
              </a:rPr>
              <a:t>2</a:t>
            </a:r>
            <a:r>
              <a:rPr lang="en-US" altLang="zh-CN" sz="1400" b="0">
                <a:solidFill>
                  <a:schemeClr val="tx2"/>
                </a:solidFill>
                <a:latin typeface="Times New Roman" panose="02020603050405020304" charset="0"/>
                <a:ea typeface="宋体" pitchFamily="2" charset="-122"/>
              </a:rPr>
              <a:t>9</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2771" grpId="0" animBg="1"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矩形 34817"/>
          <p:cNvSpPr/>
          <p:nvPr/>
        </p:nvSpPr>
        <p:spPr>
          <a:xfrm>
            <a:off x="1006475" y="1562100"/>
            <a:ext cx="7129463"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itchFamily="2" charset="-122"/>
                <a:cs typeface="+mn-ea"/>
              </a:rPr>
              <a:t>中断及其处理</a:t>
            </a:r>
            <a:endParaRPr lang="zh-CN" altLang="en-US" sz="4000" b="1" strike="noStrike" noProof="1">
              <a:solidFill>
                <a:srgbClr val="663300"/>
              </a:solidFill>
              <a:ea typeface="宋体"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itchFamily="2" charset="-122"/>
            </a:endParaRPr>
          </a:p>
        </p:txBody>
      </p:sp>
      <p:graphicFrame>
        <p:nvGraphicFramePr>
          <p:cNvPr id="44034" name="内容占位符 3481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34820" name="矩形 3481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4818"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3584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31</a:t>
            </a:r>
            <a:endParaRPr lang="en-US" altLang="zh-CN" sz="1400" b="0">
              <a:solidFill>
                <a:schemeClr val="tx2"/>
              </a:solidFill>
              <a:latin typeface="Times New Roman" panose="02020603050405020304" charset="0"/>
              <a:ea typeface="宋体" pitchFamily="2" charset="-122"/>
            </a:endParaRPr>
          </a:p>
        </p:txBody>
      </p:sp>
      <p:sp>
        <p:nvSpPr>
          <p:cNvPr id="35843" name="矩形 3584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
        <p:nvSpPr>
          <p:cNvPr id="35844" name="矩形 35843"/>
          <p:cNvSpPr/>
          <p:nvPr/>
        </p:nvSpPr>
        <p:spPr>
          <a:xfrm>
            <a:off x="4297045" y="1395413"/>
            <a:ext cx="4591050" cy="414909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ea"/>
              </a:rPr>
              <a:t>所谓中断是指某个事件 </a:t>
            </a:r>
            <a:r>
              <a:rPr lang="en-US" altLang="zh-CN" sz="2400" strike="noStrike" noProof="1">
                <a:solidFill>
                  <a:schemeClr val="tx1"/>
                </a:solidFill>
                <a:latin typeface="Times New Roman" panose="02020603050405020304" charset="0"/>
                <a:ea typeface="宋体" pitchFamily="2" charset="-122"/>
                <a:cs typeface="+mn-ea"/>
              </a:rPr>
              <a:t>(</a:t>
            </a:r>
            <a:r>
              <a:rPr lang="zh-CN" altLang="en-US" sz="2400" strike="noStrike" noProof="1">
                <a:solidFill>
                  <a:schemeClr val="tx1"/>
                </a:solidFill>
                <a:latin typeface="Times New Roman" panose="02020603050405020304" charset="0"/>
                <a:ea typeface="宋体" pitchFamily="2" charset="-122"/>
                <a:cs typeface="+mn-ea"/>
              </a:rPr>
              <a:t>例如电源掉电、</a:t>
            </a:r>
            <a:r>
              <a:rPr lang="x-none" altLang="zh-CN" sz="2400" strike="noStrike" noProof="1">
                <a:solidFill>
                  <a:schemeClr val="tx1"/>
                </a:solidFill>
                <a:latin typeface="Times New Roman" panose="02020603050405020304" charset="0"/>
                <a:ea typeface="宋体" pitchFamily="2" charset="-122"/>
                <a:cs typeface="+mn-ea"/>
              </a:rPr>
              <a:t>计算异常</a:t>
            </a:r>
            <a:r>
              <a:rPr lang="zh-CN" altLang="en-US" sz="2400" strike="noStrike" noProof="1">
                <a:solidFill>
                  <a:schemeClr val="tx1"/>
                </a:solidFill>
                <a:latin typeface="Times New Roman" panose="02020603050405020304" charset="0"/>
                <a:ea typeface="宋体" pitchFamily="2" charset="-122"/>
                <a:cs typeface="+mn-ea"/>
              </a:rPr>
              <a:t>或</a:t>
            </a:r>
            <a:r>
              <a:rPr lang="en-US" altLang="zh-CN" sz="2400" strike="noStrike" noProof="1">
                <a:solidFill>
                  <a:schemeClr val="tx1"/>
                </a:solidFill>
                <a:latin typeface="Times New Roman" panose="02020603050405020304" charset="0"/>
                <a:ea typeface="宋体" pitchFamily="2" charset="-122"/>
                <a:cs typeface="+mn-ea"/>
              </a:rPr>
              <a:t>I/O</a:t>
            </a:r>
            <a:r>
              <a:rPr lang="zh-CN" altLang="en-US" sz="2400" strike="noStrike" noProof="1">
                <a:solidFill>
                  <a:schemeClr val="tx1"/>
                </a:solidFill>
                <a:latin typeface="Times New Roman" panose="02020603050405020304" charset="0"/>
                <a:ea typeface="宋体" pitchFamily="2" charset="-122"/>
                <a:cs typeface="+mn-ea"/>
              </a:rPr>
              <a:t>传输结束等</a:t>
            </a:r>
            <a:r>
              <a:rPr lang="en-US" altLang="zh-CN" sz="2400" strike="noStrike" noProof="1">
                <a:solidFill>
                  <a:schemeClr val="tx1"/>
                </a:solidFill>
                <a:latin typeface="Times New Roman" panose="02020603050405020304" charset="0"/>
                <a:ea typeface="宋体" pitchFamily="2" charset="-122"/>
                <a:cs typeface="+mn-ea"/>
              </a:rPr>
              <a:t>) </a:t>
            </a:r>
            <a:r>
              <a:rPr lang="zh-CN" altLang="en-US" sz="2400" strike="noStrike" noProof="1">
                <a:solidFill>
                  <a:schemeClr val="tx1"/>
                </a:solidFill>
                <a:latin typeface="Times New Roman" panose="02020603050405020304" charset="0"/>
                <a:ea typeface="宋体" pitchFamily="2" charset="-122"/>
                <a:cs typeface="+mn-ea"/>
              </a:rPr>
              <a:t>发生时，</a:t>
            </a:r>
            <a:endParaRPr lang="zh-CN" altLang="en-US" sz="2400" strike="noStrike" noProof="1">
              <a:solidFill>
                <a:schemeClr val="tx1"/>
              </a:solidFill>
              <a:latin typeface="Times New Roman" panose="02020603050405020304" charset="0"/>
              <a:ea typeface="宋体"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ea"/>
              </a:rPr>
              <a:t>系统中止现行程序的运行、引出处理事件程序对该事件进行处理，</a:t>
            </a:r>
            <a:endParaRPr lang="zh-CN" altLang="en-US" sz="2400" strike="noStrike" noProof="1">
              <a:solidFill>
                <a:schemeClr val="tx1"/>
              </a:solidFill>
              <a:latin typeface="Times New Roman" panose="02020603050405020304" charset="0"/>
              <a:ea typeface="宋体"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ea"/>
              </a:rPr>
              <a:t>处理完毕后返回断点继续执行的过程。</a:t>
            </a:r>
            <a:endParaRPr lang="zh-CN" altLang="en-US" sz="2400" strike="noStrike" noProof="1">
              <a:solidFill>
                <a:schemeClr val="tx1"/>
              </a:solidFill>
              <a:latin typeface="Times New Roman" panose="02020603050405020304" charset="0"/>
              <a:ea typeface="宋体" pitchFamily="2" charset="-122"/>
            </a:endParaRPr>
          </a:p>
        </p:txBody>
      </p:sp>
      <p:grpSp>
        <p:nvGrpSpPr>
          <p:cNvPr id="35845" name="组合 35844"/>
          <p:cNvGrpSpPr/>
          <p:nvPr/>
        </p:nvGrpSpPr>
        <p:grpSpPr>
          <a:xfrm>
            <a:off x="423863" y="1552575"/>
            <a:ext cx="3681412" cy="3892550"/>
            <a:chOff x="0" y="0"/>
            <a:chExt cx="2319" cy="2452"/>
          </a:xfrm>
        </p:grpSpPr>
        <p:sp>
          <p:nvSpPr>
            <p:cNvPr id="45061" name="直接连接符 35845"/>
            <p:cNvSpPr/>
            <p:nvPr/>
          </p:nvSpPr>
          <p:spPr>
            <a:xfrm>
              <a:off x="947" y="936"/>
              <a:ext cx="850" cy="1"/>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5062" name="直接连接符 35846"/>
            <p:cNvSpPr/>
            <p:nvPr/>
          </p:nvSpPr>
          <p:spPr>
            <a:xfrm flipH="1" flipV="1">
              <a:off x="953" y="936"/>
              <a:ext cx="840" cy="915"/>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grpSp>
          <p:nvGrpSpPr>
            <p:cNvPr id="45063" name="组合 35847"/>
            <p:cNvGrpSpPr/>
            <p:nvPr/>
          </p:nvGrpSpPr>
          <p:grpSpPr>
            <a:xfrm>
              <a:off x="650" y="948"/>
              <a:ext cx="685" cy="1504"/>
              <a:chOff x="0" y="0"/>
              <a:chExt cx="576" cy="1224"/>
            </a:xfrm>
          </p:grpSpPr>
          <p:sp>
            <p:nvSpPr>
              <p:cNvPr id="45064" name="直接连接符 35848"/>
              <p:cNvSpPr/>
              <p:nvPr/>
            </p:nvSpPr>
            <p:spPr>
              <a:xfrm>
                <a:off x="276" y="0"/>
                <a:ext cx="0" cy="1008"/>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5065" name="文本框 35849"/>
              <p:cNvSpPr txBox="1"/>
              <p:nvPr/>
            </p:nvSpPr>
            <p:spPr>
              <a:xfrm>
                <a:off x="0" y="1052"/>
                <a:ext cx="576" cy="17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继续执行</a:t>
                </a:r>
                <a:endParaRPr lang="zh-CN" altLang="en-US" sz="1600">
                  <a:solidFill>
                    <a:schemeClr val="tx1"/>
                  </a:solidFill>
                  <a:latin typeface="Times New Roman" panose="02020603050405020304" charset="0"/>
                  <a:ea typeface="宋体" pitchFamily="2" charset="-122"/>
                </a:endParaRPr>
              </a:p>
            </p:txBody>
          </p:sp>
        </p:grpSp>
        <p:sp>
          <p:nvSpPr>
            <p:cNvPr id="45066" name="文本框 35850"/>
            <p:cNvSpPr txBox="1"/>
            <p:nvPr/>
          </p:nvSpPr>
          <p:spPr>
            <a:xfrm>
              <a:off x="1130" y="649"/>
              <a:ext cx="685" cy="212"/>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中断进入</a:t>
              </a:r>
              <a:endParaRPr lang="zh-CN" altLang="en-US" sz="1600">
                <a:solidFill>
                  <a:schemeClr val="tx1"/>
                </a:solidFill>
                <a:latin typeface="Times New Roman" panose="02020603050405020304" charset="0"/>
                <a:ea typeface="宋体" pitchFamily="2" charset="-122"/>
              </a:endParaRPr>
            </a:p>
          </p:txBody>
        </p:sp>
        <p:sp>
          <p:nvSpPr>
            <p:cNvPr id="45067" name="文本框 35851"/>
            <p:cNvSpPr txBox="1"/>
            <p:nvPr/>
          </p:nvSpPr>
          <p:spPr>
            <a:xfrm>
              <a:off x="1199" y="1454"/>
              <a:ext cx="571"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返回</a:t>
              </a:r>
              <a:endParaRPr lang="zh-CN" altLang="en-US" sz="1600">
                <a:solidFill>
                  <a:schemeClr val="tx1"/>
                </a:solidFill>
                <a:latin typeface="Times New Roman" panose="02020603050405020304" charset="0"/>
                <a:ea typeface="宋体" pitchFamily="2" charset="-122"/>
              </a:endParaRPr>
            </a:p>
          </p:txBody>
        </p:sp>
        <p:grpSp>
          <p:nvGrpSpPr>
            <p:cNvPr id="45068" name="组合 35852"/>
            <p:cNvGrpSpPr/>
            <p:nvPr/>
          </p:nvGrpSpPr>
          <p:grpSpPr>
            <a:xfrm>
              <a:off x="0" y="936"/>
              <a:ext cx="975" cy="1159"/>
              <a:chOff x="0" y="0"/>
              <a:chExt cx="820" cy="943"/>
            </a:xfrm>
          </p:grpSpPr>
          <p:grpSp>
            <p:nvGrpSpPr>
              <p:cNvPr id="45069" name="组合 35853"/>
              <p:cNvGrpSpPr/>
              <p:nvPr/>
            </p:nvGrpSpPr>
            <p:grpSpPr>
              <a:xfrm>
                <a:off x="100" y="0"/>
                <a:ext cx="720" cy="720"/>
                <a:chOff x="0" y="0"/>
                <a:chExt cx="720" cy="720"/>
              </a:xfrm>
            </p:grpSpPr>
            <p:sp>
              <p:nvSpPr>
                <p:cNvPr id="45070" name="直接连接符 35854"/>
                <p:cNvSpPr/>
                <p:nvPr/>
              </p:nvSpPr>
              <p:spPr>
                <a:xfrm flipV="1">
                  <a:off x="0" y="288"/>
                  <a:ext cx="576" cy="4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5071" name="直接连接符 35855"/>
                <p:cNvSpPr/>
                <p:nvPr/>
              </p:nvSpPr>
              <p:spPr>
                <a:xfrm flipV="1">
                  <a:off x="192" y="0"/>
                  <a:ext cx="528" cy="384"/>
                </a:xfrm>
                <a:prstGeom prst="line">
                  <a:avLst/>
                </a:prstGeom>
                <a:ln w="28575" cap="flat" cmpd="sng">
                  <a:solidFill>
                    <a:srgbClr val="0033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5072" name="直接连接符 35856"/>
                <p:cNvSpPr/>
                <p:nvPr/>
              </p:nvSpPr>
              <p:spPr>
                <a:xfrm flipV="1">
                  <a:off x="192" y="288"/>
                  <a:ext cx="384" cy="96"/>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45073" name="文本框 35857"/>
              <p:cNvSpPr txBox="1"/>
              <p:nvPr/>
            </p:nvSpPr>
            <p:spPr>
              <a:xfrm>
                <a:off x="0" y="771"/>
                <a:ext cx="576" cy="17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中断信号</a:t>
                </a:r>
                <a:endParaRPr lang="zh-CN" altLang="en-US" sz="1600">
                  <a:solidFill>
                    <a:schemeClr val="tx1"/>
                  </a:solidFill>
                  <a:latin typeface="Times New Roman" panose="02020603050405020304" charset="0"/>
                  <a:ea typeface="宋体" pitchFamily="2" charset="-122"/>
                </a:endParaRPr>
              </a:p>
            </p:txBody>
          </p:sp>
        </p:grpSp>
        <p:grpSp>
          <p:nvGrpSpPr>
            <p:cNvPr id="45074" name="组合 35858"/>
            <p:cNvGrpSpPr/>
            <p:nvPr/>
          </p:nvGrpSpPr>
          <p:grpSpPr>
            <a:xfrm>
              <a:off x="265" y="0"/>
              <a:ext cx="707" cy="943"/>
              <a:chOff x="0" y="0"/>
              <a:chExt cx="595" cy="768"/>
            </a:xfrm>
          </p:grpSpPr>
          <p:sp>
            <p:nvSpPr>
              <p:cNvPr id="45075" name="直接连接符 35859"/>
              <p:cNvSpPr/>
              <p:nvPr/>
            </p:nvSpPr>
            <p:spPr>
              <a:xfrm>
                <a:off x="595" y="0"/>
                <a:ext cx="0" cy="768"/>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5076" name="文本框 35860"/>
              <p:cNvSpPr txBox="1"/>
              <p:nvPr/>
            </p:nvSpPr>
            <p:spPr>
              <a:xfrm>
                <a:off x="0" y="191"/>
                <a:ext cx="576" cy="324"/>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正在执行</a:t>
                </a:r>
                <a:endParaRPr lang="zh-CN" altLang="en-US" sz="1600">
                  <a:solidFill>
                    <a:schemeClr val="tx1"/>
                  </a:solidFill>
                  <a:latin typeface="Times New Roman" panose="02020603050405020304" charset="0"/>
                  <a:ea typeface="宋体" pitchFamily="2" charset="-122"/>
                </a:endParaRPr>
              </a:p>
              <a:p>
                <a:pPr lvl="0">
                  <a:spcBef>
                    <a:spcPct val="20000"/>
                  </a:spcBef>
                </a:pPr>
                <a:r>
                  <a:rPr lang="zh-CN" altLang="en-US" sz="1600">
                    <a:solidFill>
                      <a:schemeClr val="tx1"/>
                    </a:solidFill>
                    <a:latin typeface="Times New Roman" panose="02020603050405020304" charset="0"/>
                    <a:ea typeface="宋体" pitchFamily="2" charset="-122"/>
                  </a:rPr>
                  <a:t>的程序</a:t>
                </a:r>
                <a:endParaRPr lang="zh-CN" altLang="en-US" sz="1600">
                  <a:solidFill>
                    <a:schemeClr val="tx1"/>
                  </a:solidFill>
                  <a:latin typeface="Times New Roman" panose="02020603050405020304" charset="0"/>
                  <a:ea typeface="宋体" pitchFamily="2" charset="-122"/>
                </a:endParaRPr>
              </a:p>
            </p:txBody>
          </p:sp>
        </p:grpSp>
        <p:sp>
          <p:nvSpPr>
            <p:cNvPr id="45077" name="直接连接符 35861"/>
            <p:cNvSpPr/>
            <p:nvPr/>
          </p:nvSpPr>
          <p:spPr>
            <a:xfrm>
              <a:off x="1793" y="936"/>
              <a:ext cx="0" cy="943"/>
            </a:xfrm>
            <a:prstGeom prst="line">
              <a:avLst/>
            </a:prstGeom>
            <a:ln w="38100" cap="flat" cmpd="sng">
              <a:solidFill>
                <a:srgbClr val="CC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5078" name="文本框 35862"/>
            <p:cNvSpPr txBox="1"/>
            <p:nvPr/>
          </p:nvSpPr>
          <p:spPr>
            <a:xfrm>
              <a:off x="1776" y="1056"/>
              <a:ext cx="543"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中断处</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理程序</a:t>
              </a:r>
              <a:endParaRPr lang="zh-CN" altLang="en-US" sz="1600">
                <a:solidFill>
                  <a:schemeClr val="tx1"/>
                </a:solidFill>
                <a:latin typeface="Times New Roman" panose="02020603050405020304" charset="0"/>
                <a:ea typeface="宋体" pitchFamily="2" charset="-122"/>
              </a:endParaRPr>
            </a:p>
          </p:txBody>
        </p:sp>
      </p:grpSp>
      <p:sp>
        <p:nvSpPr>
          <p:cNvPr id="35864" name="文本框 35863"/>
          <p:cNvSpPr txBox="1"/>
          <p:nvPr/>
        </p:nvSpPr>
        <p:spPr>
          <a:xfrm>
            <a:off x="1255713" y="5729288"/>
            <a:ext cx="171767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中断概念示意图</a:t>
            </a:r>
            <a:endParaRPr lang="zh-CN" altLang="en-US" sz="1600" b="0">
              <a:solidFill>
                <a:schemeClr val="tx1"/>
              </a:solidFill>
              <a:latin typeface="Times New Roman" panose="02020603050405020304" charset="0"/>
              <a:ea typeface="宋体" pitchFamily="2" charset="-122"/>
            </a:endParaRPr>
          </a:p>
        </p:txBody>
      </p:sp>
      <p:sp>
        <p:nvSpPr>
          <p:cNvPr id="35865" name="矩形 35864"/>
          <p:cNvSpPr/>
          <p:nvPr/>
        </p:nvSpPr>
        <p:spPr>
          <a:xfrm>
            <a:off x="244475" y="527050"/>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1. </a:t>
            </a:r>
            <a:r>
              <a:rPr lang="zh-CN" altLang="en-US" b="1" strike="noStrike" noProof="1">
                <a:solidFill>
                  <a:srgbClr val="990000"/>
                </a:solidFill>
                <a:latin typeface="Arial" panose="020B0604020202020204" pitchFamily="34" charset="0"/>
                <a:ea typeface="宋体" pitchFamily="2" charset="-122"/>
                <a:cs typeface="+mn-ea"/>
              </a:rPr>
              <a:t>中断概念</a:t>
            </a:r>
            <a:endParaRPr lang="zh-CN" altLang="en-US" b="1" strike="noStrike" noProof="1">
              <a:solidFill>
                <a:srgbClr val="990000"/>
              </a:solidFill>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5844" grpId="0"/>
      <p:bldP spid="35864" grpId="0"/>
      <p:bldP spid="3586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368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32</a:t>
            </a:r>
            <a:endParaRPr lang="en-US" altLang="zh-CN" sz="1400" b="0">
              <a:solidFill>
                <a:schemeClr val="tx2"/>
              </a:solidFill>
              <a:latin typeface="Times New Roman" panose="02020603050405020304" charset="0"/>
              <a:ea typeface="宋体" pitchFamily="2" charset="-122"/>
            </a:endParaRPr>
          </a:p>
        </p:txBody>
      </p:sp>
      <p:sp>
        <p:nvSpPr>
          <p:cNvPr id="36867" name="矩形 36866"/>
          <p:cNvSpPr/>
          <p:nvPr/>
        </p:nvSpPr>
        <p:spPr>
          <a:xfrm>
            <a:off x="244475" y="512763"/>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2. </a:t>
            </a:r>
            <a:r>
              <a:rPr lang="zh-CN" altLang="en-US" b="1" strike="noStrike" noProof="1">
                <a:solidFill>
                  <a:srgbClr val="990000"/>
                </a:solidFill>
                <a:latin typeface="Arial" panose="020B0604020202020204" pitchFamily="34" charset="0"/>
                <a:ea typeface="宋体" pitchFamily="2" charset="-122"/>
                <a:cs typeface="+mn-ea"/>
              </a:rPr>
              <a:t>中断类型</a:t>
            </a:r>
            <a:endParaRPr lang="zh-CN" altLang="en-US" b="1" strike="noStrike" noProof="1">
              <a:solidFill>
                <a:srgbClr val="990000"/>
              </a:solidFill>
              <a:ea typeface="宋体" pitchFamily="2" charset="-122"/>
            </a:endParaRPr>
          </a:p>
        </p:txBody>
      </p:sp>
      <p:sp>
        <p:nvSpPr>
          <p:cNvPr id="36868" name="矩形 36867"/>
          <p:cNvSpPr/>
          <p:nvPr/>
        </p:nvSpPr>
        <p:spPr>
          <a:xfrm>
            <a:off x="663575" y="1085850"/>
            <a:ext cx="5418138"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(1) </a:t>
            </a:r>
            <a:r>
              <a:rPr lang="zh-CN" altLang="en-US" sz="2800" b="1" strike="noStrike" noProof="1">
                <a:solidFill>
                  <a:srgbClr val="A50021"/>
                </a:solidFill>
                <a:latin typeface="Times New Roman" panose="02020603050405020304" charset="0"/>
                <a:ea typeface="宋体" pitchFamily="2" charset="-122"/>
                <a:cs typeface="+mn-ea"/>
              </a:rPr>
              <a:t>按中断功能分类</a:t>
            </a:r>
            <a:endParaRPr lang="zh-CN" altLang="en-US" sz="2800" b="1" strike="noStrike" noProof="1">
              <a:solidFill>
                <a:srgbClr val="A50021"/>
              </a:solidFill>
              <a:latin typeface="Times New Roman" panose="02020603050405020304" charset="0"/>
              <a:ea typeface="宋体" pitchFamily="2" charset="-122"/>
            </a:endParaRPr>
          </a:p>
        </p:txBody>
      </p:sp>
      <p:sp>
        <p:nvSpPr>
          <p:cNvPr id="36869" name="矩形 36868"/>
          <p:cNvSpPr/>
          <p:nvPr/>
        </p:nvSpPr>
        <p:spPr>
          <a:xfrm>
            <a:off x="130175" y="1789113"/>
            <a:ext cx="8942388" cy="340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30000"/>
              </a:lnSpc>
              <a:buNone/>
            </a:pPr>
            <a:r>
              <a:rPr lang="zh-CN" altLang="en-US" sz="2400" b="1" strike="noStrike" noProof="1">
                <a:solidFill>
                  <a:srgbClr val="000099"/>
                </a:solidFill>
                <a:effectLst/>
                <a:latin typeface="宋体" pitchFamily="2" charset="-122"/>
                <a:ea typeface="宋体" pitchFamily="2" charset="-122"/>
                <a:cs typeface="+mn-cs"/>
              </a:rPr>
              <a:t>① </a:t>
            </a:r>
            <a:r>
              <a:rPr lang="zh-CN" altLang="en-US" sz="2400" b="1" strike="noStrike" noProof="1">
                <a:solidFill>
                  <a:srgbClr val="000099"/>
                </a:solidFill>
                <a:effectLst/>
                <a:latin typeface="Times New Roman" panose="02020603050405020304" charset="0"/>
                <a:ea typeface="宋体" pitchFamily="2" charset="-122"/>
                <a:cs typeface="+mn-cs"/>
              </a:rPr>
              <a:t>输入输出中断</a:t>
            </a:r>
            <a:r>
              <a:rPr lang="zh-CN" altLang="en-US" sz="2400" strike="noStrike" noProof="1">
                <a:solidFill>
                  <a:schemeClr val="tx1"/>
                </a:solidFill>
                <a:effectLst/>
                <a:latin typeface="Times New Roman" panose="02020603050405020304" charset="0"/>
                <a:ea typeface="宋体" pitchFamily="2" charset="-122"/>
                <a:cs typeface="+mn-cs"/>
              </a:rPr>
              <a:t>    </a:t>
            </a:r>
            <a:r>
              <a:rPr lang="en-US" altLang="zh-CN" sz="2400" strike="noStrike" noProof="1">
                <a:solidFill>
                  <a:schemeClr val="tx1"/>
                </a:solidFill>
                <a:effectLst/>
                <a:latin typeface="Times New Roman" panose="02020603050405020304" charset="0"/>
                <a:ea typeface="宋体" pitchFamily="2" charset="-122"/>
                <a:cs typeface="+mn-cs"/>
              </a:rPr>
              <a:t>I/O</a:t>
            </a:r>
            <a:r>
              <a:rPr lang="zh-CN" altLang="en-US" sz="2400" strike="noStrike" noProof="1">
                <a:solidFill>
                  <a:schemeClr val="tx1"/>
                </a:solidFill>
                <a:effectLst/>
                <a:latin typeface="Times New Roman" panose="02020603050405020304" charset="0"/>
                <a:ea typeface="宋体" pitchFamily="2" charset="-122"/>
                <a:cs typeface="+mn-cs"/>
              </a:rPr>
              <a:t>传输结束或出错中断</a:t>
            </a:r>
            <a:endParaRPr lang="zh-CN" altLang="en-US" sz="2400" strike="noStrike" noProof="1">
              <a:solidFill>
                <a:schemeClr val="tx1"/>
              </a:solidFill>
              <a:effectLst/>
              <a:latin typeface="Times New Roman" panose="02020603050405020304" charset="0"/>
              <a:ea typeface="宋体" pitchFamily="2" charset="-122"/>
            </a:endParaRPr>
          </a:p>
          <a:p>
            <a:pPr marL="457200" lvl="0" indent="-457200" fontAlgn="base">
              <a:lnSpc>
                <a:spcPct val="130000"/>
              </a:lnSpc>
              <a:buNone/>
            </a:pPr>
            <a:r>
              <a:rPr lang="zh-CN" altLang="en-US" sz="2400" b="1" strike="noStrike" noProof="1">
                <a:solidFill>
                  <a:srgbClr val="000099"/>
                </a:solidFill>
                <a:effectLst/>
                <a:latin typeface="Times New Roman" panose="02020603050405020304" charset="0"/>
                <a:ea typeface="宋体" pitchFamily="2" charset="-122"/>
                <a:cs typeface="+mn-cs"/>
              </a:rPr>
              <a:t>②</a:t>
            </a:r>
            <a:r>
              <a:rPr lang="zh-CN" altLang="en-US" sz="2400" b="1" strike="noStrike" noProof="1">
                <a:solidFill>
                  <a:srgbClr val="000099"/>
                </a:solidFill>
                <a:effectLst/>
                <a:latin typeface="宋体" pitchFamily="2" charset="-122"/>
                <a:ea typeface="宋体" pitchFamily="2" charset="-122"/>
                <a:cs typeface="+mn-cs"/>
              </a:rPr>
              <a:t> </a:t>
            </a:r>
            <a:r>
              <a:rPr lang="zh-CN" altLang="en-US" sz="2400" b="1" strike="noStrike" noProof="1">
                <a:solidFill>
                  <a:srgbClr val="000099"/>
                </a:solidFill>
                <a:effectLst/>
                <a:latin typeface="Times New Roman" panose="02020603050405020304" charset="0"/>
                <a:ea typeface="宋体" pitchFamily="2" charset="-122"/>
                <a:cs typeface="+mn-cs"/>
              </a:rPr>
              <a:t>外中断     </a:t>
            </a:r>
            <a:r>
              <a:rPr lang="zh-CN" altLang="en-US" sz="2400" strike="noStrike" noProof="1">
                <a:solidFill>
                  <a:schemeClr val="tx1"/>
                </a:solidFill>
                <a:effectLst/>
                <a:latin typeface="Times New Roman" panose="02020603050405020304" charset="0"/>
                <a:ea typeface="宋体" pitchFamily="2" charset="-122"/>
                <a:cs typeface="+mn-cs"/>
              </a:rPr>
              <a:t> 时钟中断、操作员控制台中断、多核通信等</a:t>
            </a:r>
            <a:endParaRPr lang="zh-CN" altLang="en-US" sz="2400" strike="noStrike" noProof="1">
              <a:solidFill>
                <a:schemeClr val="tx1"/>
              </a:solidFill>
              <a:effectLst/>
              <a:latin typeface="Times New Roman" panose="02020603050405020304" charset="0"/>
              <a:ea typeface="宋体" pitchFamily="2" charset="-122"/>
            </a:endParaRPr>
          </a:p>
          <a:p>
            <a:pPr marL="457200" lvl="0" indent="-457200" fontAlgn="base">
              <a:lnSpc>
                <a:spcPct val="130000"/>
              </a:lnSpc>
              <a:buNone/>
            </a:pPr>
            <a:r>
              <a:rPr lang="zh-CN" altLang="en-US" sz="2400" b="1" strike="noStrike" noProof="1">
                <a:solidFill>
                  <a:srgbClr val="000099"/>
                </a:solidFill>
                <a:effectLst/>
                <a:latin typeface="Times New Roman" panose="02020603050405020304" charset="0"/>
                <a:ea typeface="宋体" pitchFamily="2" charset="-122"/>
                <a:cs typeface="+mn-cs"/>
              </a:rPr>
              <a:t>③</a:t>
            </a:r>
            <a:r>
              <a:rPr lang="zh-CN" altLang="en-US" sz="2400" b="1" strike="noStrike" noProof="1">
                <a:solidFill>
                  <a:srgbClr val="000099"/>
                </a:solidFill>
                <a:effectLst/>
                <a:latin typeface="宋体" pitchFamily="2" charset="-122"/>
                <a:ea typeface="宋体" pitchFamily="2" charset="-122"/>
                <a:cs typeface="+mn-cs"/>
              </a:rPr>
              <a:t> </a:t>
            </a:r>
            <a:r>
              <a:rPr lang="zh-CN" altLang="en-US" sz="2400" b="1" strike="noStrike" noProof="1">
                <a:solidFill>
                  <a:srgbClr val="000099"/>
                </a:solidFill>
                <a:effectLst/>
                <a:latin typeface="Times New Roman" panose="02020603050405020304" charset="0"/>
                <a:ea typeface="宋体" pitchFamily="2" charset="-122"/>
                <a:cs typeface="+mn-cs"/>
              </a:rPr>
              <a:t>机器故障中断  </a:t>
            </a:r>
            <a:r>
              <a:rPr lang="zh-CN" altLang="en-US" sz="2400" strike="noStrike" noProof="1">
                <a:solidFill>
                  <a:schemeClr val="tx1"/>
                </a:solidFill>
                <a:effectLst/>
                <a:latin typeface="Times New Roman" panose="02020603050405020304" charset="0"/>
                <a:ea typeface="宋体" pitchFamily="2" charset="-122"/>
                <a:cs typeface="+mn-cs"/>
              </a:rPr>
              <a:t>电源故障、主存取指令错等</a:t>
            </a:r>
            <a:endParaRPr lang="zh-CN" altLang="en-US" sz="2400" strike="noStrike" noProof="1">
              <a:solidFill>
                <a:schemeClr val="tx1"/>
              </a:solidFill>
              <a:effectLst/>
              <a:latin typeface="Times New Roman" panose="02020603050405020304" charset="0"/>
              <a:ea typeface="宋体" pitchFamily="2" charset="-122"/>
            </a:endParaRPr>
          </a:p>
          <a:p>
            <a:pPr marL="457200" lvl="0" indent="-457200" fontAlgn="base">
              <a:lnSpc>
                <a:spcPct val="130000"/>
              </a:lnSpc>
              <a:buNone/>
            </a:pPr>
            <a:r>
              <a:rPr lang="zh-CN" altLang="en-US" sz="2400" b="1" strike="noStrike" noProof="1">
                <a:solidFill>
                  <a:srgbClr val="000099"/>
                </a:solidFill>
                <a:effectLst/>
                <a:latin typeface="Times New Roman" panose="02020603050405020304" charset="0"/>
                <a:ea typeface="宋体" pitchFamily="2" charset="-122"/>
                <a:cs typeface="+mn-cs"/>
              </a:rPr>
              <a:t>④</a:t>
            </a:r>
            <a:r>
              <a:rPr lang="zh-CN" altLang="en-US" sz="2400" b="1" strike="noStrike" noProof="1">
                <a:solidFill>
                  <a:srgbClr val="000099"/>
                </a:solidFill>
                <a:effectLst/>
                <a:latin typeface="宋体" pitchFamily="2" charset="-122"/>
                <a:ea typeface="宋体" pitchFamily="2" charset="-122"/>
                <a:cs typeface="+mn-cs"/>
              </a:rPr>
              <a:t> </a:t>
            </a:r>
            <a:r>
              <a:rPr lang="zh-CN" altLang="en-US" sz="2400" b="1" strike="noStrike" noProof="1">
                <a:solidFill>
                  <a:srgbClr val="000099"/>
                </a:solidFill>
                <a:effectLst/>
                <a:latin typeface="Times New Roman" panose="02020603050405020304" charset="0"/>
                <a:ea typeface="宋体" pitchFamily="2" charset="-122"/>
                <a:cs typeface="+mn-cs"/>
              </a:rPr>
              <a:t>程序性中断  </a:t>
            </a:r>
            <a:r>
              <a:rPr lang="zh-CN" altLang="en-US" sz="2400" strike="noStrike" noProof="1">
                <a:solidFill>
                  <a:schemeClr val="tx1"/>
                </a:solidFill>
                <a:effectLst/>
                <a:latin typeface="Times New Roman" panose="02020603050405020304" charset="0"/>
                <a:ea typeface="宋体" pitchFamily="2" charset="-122"/>
                <a:cs typeface="+mn-cs"/>
              </a:rPr>
              <a:t>计算异常、用户态下用核态指令、非法操作</a:t>
            </a:r>
            <a:endParaRPr lang="zh-CN" altLang="en-US" sz="2400" strike="noStrike" noProof="1">
              <a:solidFill>
                <a:schemeClr val="tx1"/>
              </a:solidFill>
              <a:effectLst/>
              <a:latin typeface="Times New Roman" panose="02020603050405020304" charset="0"/>
              <a:ea typeface="宋体" pitchFamily="2" charset="-122"/>
            </a:endParaRPr>
          </a:p>
          <a:p>
            <a:pPr marL="457200" lvl="0" indent="-457200" fontAlgn="base">
              <a:lnSpc>
                <a:spcPct val="130000"/>
              </a:lnSpc>
              <a:buNone/>
            </a:pPr>
            <a:r>
              <a:rPr lang="zh-CN" altLang="en-US" sz="2400" b="1" strike="noStrike" noProof="1">
                <a:solidFill>
                  <a:srgbClr val="000099"/>
                </a:solidFill>
                <a:effectLst/>
                <a:latin typeface="Times New Roman" panose="02020603050405020304" charset="0"/>
                <a:ea typeface="宋体" pitchFamily="2" charset="-122"/>
                <a:cs typeface="+mn-cs"/>
              </a:rPr>
              <a:t>⑤</a:t>
            </a:r>
            <a:r>
              <a:rPr lang="zh-CN" altLang="en-US" sz="2400" b="1" strike="noStrike" noProof="1">
                <a:solidFill>
                  <a:srgbClr val="000099"/>
                </a:solidFill>
                <a:effectLst/>
                <a:latin typeface="宋体" pitchFamily="2" charset="-122"/>
                <a:ea typeface="宋体" pitchFamily="2" charset="-122"/>
                <a:cs typeface="+mn-cs"/>
              </a:rPr>
              <a:t> </a:t>
            </a:r>
            <a:r>
              <a:rPr lang="zh-CN" altLang="en-US" sz="2400" b="1" strike="noStrike" noProof="1">
                <a:solidFill>
                  <a:srgbClr val="000099"/>
                </a:solidFill>
                <a:effectLst/>
                <a:latin typeface="Times New Roman" panose="02020603050405020304" charset="0"/>
                <a:ea typeface="宋体" pitchFamily="2" charset="-122"/>
                <a:cs typeface="+mn-cs"/>
              </a:rPr>
              <a:t>访管中断  </a:t>
            </a:r>
            <a:r>
              <a:rPr lang="zh-CN" altLang="en-US" sz="2400" strike="noStrike" noProof="1">
                <a:solidFill>
                  <a:schemeClr val="tx1"/>
                </a:solidFill>
                <a:effectLst/>
                <a:latin typeface="Times New Roman" panose="02020603050405020304" charset="0"/>
                <a:ea typeface="宋体" pitchFamily="2" charset="-122"/>
                <a:cs typeface="+mn-cs"/>
              </a:rPr>
              <a:t>对操作系统提出某种需求时所发出的中断</a:t>
            </a:r>
            <a:r>
              <a:rPr lang="x-none" altLang="zh-CN" sz="2400" strike="noStrike" noProof="1">
                <a:solidFill>
                  <a:schemeClr val="tx1"/>
                </a:solidFill>
                <a:effectLst/>
                <a:latin typeface="Times New Roman" panose="02020603050405020304" charset="0"/>
                <a:ea typeface="宋体" pitchFamily="2" charset="-122"/>
                <a:cs typeface="+mn-cs"/>
              </a:rPr>
              <a:t>（系统调用中断）</a:t>
            </a:r>
            <a:endParaRPr lang="x-none" altLang="zh-CN" sz="2400" strike="noStrike" noProof="1">
              <a:solidFill>
                <a:schemeClr val="tx1"/>
              </a:solidFill>
              <a:effectLst/>
              <a:latin typeface="Times New Roman" panose="02020603050405020304" charset="0"/>
              <a:ea typeface="宋体" pitchFamily="2" charset="-122"/>
              <a:cs typeface="+mn-cs"/>
            </a:endParaRPr>
          </a:p>
        </p:txBody>
      </p:sp>
      <p:sp>
        <p:nvSpPr>
          <p:cNvPr id="36870" name="矩形 3686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6867" grpId="0" build="p"/>
      <p:bldP spid="36868"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框 3788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33</a:t>
            </a:r>
            <a:endParaRPr lang="en-US" altLang="zh-CN" sz="1400" b="0">
              <a:solidFill>
                <a:schemeClr val="tx2"/>
              </a:solidFill>
              <a:latin typeface="Times New Roman" panose="02020603050405020304" charset="0"/>
              <a:ea typeface="宋体" pitchFamily="2" charset="-122"/>
            </a:endParaRPr>
          </a:p>
        </p:txBody>
      </p:sp>
      <p:sp>
        <p:nvSpPr>
          <p:cNvPr id="37891" name="矩形 37890"/>
          <p:cNvSpPr/>
          <p:nvPr/>
        </p:nvSpPr>
        <p:spPr>
          <a:xfrm>
            <a:off x="663575" y="657225"/>
            <a:ext cx="5418138"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(2) </a:t>
            </a:r>
            <a:r>
              <a:rPr lang="zh-CN" altLang="en-US" sz="2800" b="1" strike="noStrike" noProof="1">
                <a:solidFill>
                  <a:srgbClr val="A50021"/>
                </a:solidFill>
                <a:latin typeface="Times New Roman" panose="02020603050405020304" charset="0"/>
                <a:ea typeface="宋体" pitchFamily="2" charset="-122"/>
                <a:cs typeface="+mn-ea"/>
              </a:rPr>
              <a:t>按中断方式分类</a:t>
            </a:r>
            <a:endParaRPr lang="zh-CN" altLang="en-US" sz="2800" b="1" strike="noStrike" noProof="1">
              <a:solidFill>
                <a:srgbClr val="A50021"/>
              </a:solidFill>
              <a:latin typeface="Times New Roman" panose="02020603050405020304" charset="0"/>
              <a:ea typeface="宋体" pitchFamily="2" charset="-122"/>
            </a:endParaRPr>
          </a:p>
        </p:txBody>
      </p:sp>
      <p:sp>
        <p:nvSpPr>
          <p:cNvPr id="37892" name="矩形 37891"/>
          <p:cNvSpPr/>
          <p:nvPr/>
        </p:nvSpPr>
        <p:spPr>
          <a:xfrm>
            <a:off x="128270" y="1289050"/>
            <a:ext cx="8942388" cy="34874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a:t>
            </a:r>
            <a:r>
              <a:rPr lang="zh-CN" altLang="en-US" sz="2400" b="1" strike="noStrike" noProof="1">
                <a:solidFill>
                  <a:srgbClr val="000099"/>
                </a:solidFill>
                <a:latin typeface="Times New Roman" panose="02020603050405020304" charset="0"/>
                <a:ea typeface="宋体" pitchFamily="2" charset="-122"/>
                <a:cs typeface="+mn-cs"/>
              </a:rPr>
              <a:t>强迫性中断</a:t>
            </a:r>
            <a:r>
              <a:rPr lang="zh-CN" altLang="en-US" sz="2400" strike="noStrike" noProof="1">
                <a:solidFill>
                  <a:schemeClr val="tx1"/>
                </a:solidFill>
                <a:latin typeface="Times New Roman" panose="02020603050405020304" charset="0"/>
                <a:ea typeface="宋体" pitchFamily="2" charset="-122"/>
                <a:cs typeface="+mn-cs"/>
              </a:rPr>
              <a:t>    </a:t>
            </a:r>
            <a:endParaRPr lang="zh-CN" altLang="en-US" sz="2400" strike="noStrike" noProof="1">
              <a:solidFill>
                <a:schemeClr val="tx1"/>
              </a:solidFill>
              <a:latin typeface="Times New Roman" panose="02020603050405020304" charset="0"/>
              <a:ea typeface="宋体"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      不是正在运行的程序所期待的中断。</a:t>
            </a:r>
            <a:r>
              <a:rPr lang="x-none" altLang="zh-CN" sz="2400" strike="noStrike" noProof="1">
                <a:solidFill>
                  <a:schemeClr val="tx1"/>
                </a:solidFill>
                <a:latin typeface="Times New Roman" panose="02020603050405020304" charset="0"/>
                <a:ea typeface="宋体" pitchFamily="2" charset="-122"/>
                <a:cs typeface="+mn-cs"/>
              </a:rPr>
              <a:t>（用户程序不可控）</a:t>
            </a:r>
            <a:endParaRPr lang="x-none" altLang="zh-CN" sz="2400" strike="noStrike" noProof="1">
              <a:solidFill>
                <a:schemeClr val="tx1"/>
              </a:solidFill>
              <a:latin typeface="Times New Roman" panose="02020603050405020304" charset="0"/>
              <a:ea typeface="宋体" pitchFamily="2" charset="-122"/>
              <a:cs typeface="+mn-cs"/>
            </a:endParaRPr>
          </a:p>
          <a:p>
            <a:pPr marL="1295400" lvl="2" indent="-381000" fontAlgn="base">
              <a:lnSpc>
                <a:spcPct val="130000"/>
              </a:lnSpc>
              <a:buNone/>
            </a:pPr>
            <a:r>
              <a:rPr lang="zh-CN" altLang="en-US" strike="noStrike" noProof="1">
                <a:solidFill>
                  <a:schemeClr val="tx1"/>
                </a:solidFill>
                <a:latin typeface="Times New Roman" panose="02020603050405020304" charset="0"/>
                <a:ea typeface="宋体" pitchFamily="2" charset="-122"/>
                <a:cs typeface="+mn-cs"/>
              </a:rPr>
              <a:t>如：输入输出中断、外中断、机器故障中断、程序性中断</a:t>
            </a:r>
            <a:endParaRPr lang="zh-CN" altLang="en-US" strike="noStrike" noProof="1">
              <a:solidFill>
                <a:schemeClr val="tx1"/>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cs"/>
              </a:rPr>
              <a:t>②</a:t>
            </a:r>
            <a:r>
              <a:rPr lang="zh-CN" altLang="en-US" sz="2400" b="1" strike="noStrike" noProof="1">
                <a:solidFill>
                  <a:srgbClr val="000099"/>
                </a:solidFill>
                <a:latin typeface="宋体" pitchFamily="2" charset="-122"/>
                <a:ea typeface="宋体" pitchFamily="2" charset="-122"/>
                <a:cs typeface="+mn-cs"/>
              </a:rPr>
              <a:t> </a:t>
            </a:r>
            <a:r>
              <a:rPr lang="zh-CN" altLang="en-US" sz="2400" b="1" strike="noStrike" noProof="1">
                <a:solidFill>
                  <a:srgbClr val="000099"/>
                </a:solidFill>
                <a:latin typeface="Times New Roman" panose="02020603050405020304" charset="0"/>
                <a:ea typeface="宋体" pitchFamily="2" charset="-122"/>
                <a:cs typeface="+mn-cs"/>
              </a:rPr>
              <a:t>自愿中断        </a:t>
            </a:r>
            <a:endParaRPr lang="zh-CN" altLang="en-US" sz="2400" b="1" strike="noStrike" noProof="1">
              <a:solidFill>
                <a:srgbClr val="000099"/>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cs"/>
              </a:rPr>
              <a:t>      </a:t>
            </a:r>
            <a:r>
              <a:rPr lang="zh-CN" altLang="en-US" sz="2400" strike="noStrike" noProof="1">
                <a:solidFill>
                  <a:schemeClr val="tx1"/>
                </a:solidFill>
                <a:latin typeface="Times New Roman" panose="02020603050405020304" charset="0"/>
                <a:ea typeface="宋体" pitchFamily="2" charset="-122"/>
                <a:cs typeface="+mn-cs"/>
              </a:rPr>
              <a:t>是运行程序所期待的事件。</a:t>
            </a:r>
            <a:endParaRPr lang="zh-CN" altLang="en-US" sz="2400" strike="noStrike" noProof="1">
              <a:solidFill>
                <a:schemeClr val="tx1"/>
              </a:solidFill>
              <a:latin typeface="Times New Roman" panose="02020603050405020304" charset="0"/>
              <a:ea typeface="宋体" pitchFamily="2" charset="-122"/>
            </a:endParaRPr>
          </a:p>
          <a:p>
            <a:pPr marL="914400" lvl="1" indent="-4572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      如：访管中断</a:t>
            </a:r>
            <a:endParaRPr lang="zh-CN" altLang="en-US" sz="2400" strike="noStrike" noProof="1">
              <a:solidFill>
                <a:schemeClr val="tx1"/>
              </a:solidFill>
              <a:latin typeface="Times New Roman" panose="02020603050405020304" charset="0"/>
              <a:ea typeface="宋体" pitchFamily="2" charset="-122"/>
            </a:endParaRPr>
          </a:p>
        </p:txBody>
      </p:sp>
      <p:sp>
        <p:nvSpPr>
          <p:cNvPr id="37893" name="矩形 3789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789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389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34</a:t>
            </a:r>
            <a:endParaRPr lang="en-US" altLang="zh-CN" sz="1400" b="0">
              <a:solidFill>
                <a:schemeClr val="tx2"/>
              </a:solidFill>
              <a:latin typeface="Times New Roman" panose="02020603050405020304" charset="0"/>
              <a:ea typeface="宋体" pitchFamily="2" charset="-122"/>
            </a:endParaRPr>
          </a:p>
        </p:txBody>
      </p:sp>
      <p:sp>
        <p:nvSpPr>
          <p:cNvPr id="38915" name="矩形 38914"/>
          <p:cNvSpPr/>
          <p:nvPr/>
        </p:nvSpPr>
        <p:spPr>
          <a:xfrm>
            <a:off x="128588" y="1101725"/>
            <a:ext cx="8405813" cy="17348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a:t>
            </a:r>
            <a:r>
              <a:rPr lang="zh-CN" altLang="en-US" sz="2400" b="1" strike="noStrike" noProof="1">
                <a:solidFill>
                  <a:srgbClr val="000099"/>
                </a:solidFill>
                <a:latin typeface="Times New Roman" panose="02020603050405020304" charset="0"/>
                <a:ea typeface="宋体" pitchFamily="2" charset="-122"/>
                <a:cs typeface="+mn-cs"/>
              </a:rPr>
              <a:t>中断</a:t>
            </a:r>
            <a:r>
              <a:rPr lang="zh-CN" altLang="en-US" sz="2400" strike="noStrike" noProof="1">
                <a:solidFill>
                  <a:srgbClr val="000099"/>
                </a:solidFill>
                <a:latin typeface="Times New Roman" panose="02020603050405020304" charset="0"/>
                <a:ea typeface="宋体" pitchFamily="2" charset="-122"/>
                <a:cs typeface="+mn-cs"/>
              </a:rPr>
              <a:t>        </a:t>
            </a:r>
            <a:r>
              <a:rPr lang="zh-CN" altLang="en-US" sz="2400" strike="noStrike" noProof="1">
                <a:solidFill>
                  <a:schemeClr val="tx1"/>
                </a:solidFill>
                <a:latin typeface="Times New Roman" panose="02020603050405020304" charset="0"/>
                <a:ea typeface="宋体" pitchFamily="2" charset="-122"/>
                <a:cs typeface="+mn-cs"/>
              </a:rPr>
              <a:t>由处理机外部事件引起的中断</a:t>
            </a:r>
            <a:endParaRPr lang="zh-CN" altLang="en-US" sz="2400" strike="noStrike" noProof="1">
              <a:solidFill>
                <a:schemeClr val="tx1"/>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② </a:t>
            </a:r>
            <a:r>
              <a:rPr lang="zh-CN" altLang="en-US" sz="2400" b="1" strike="noStrike" noProof="1">
                <a:solidFill>
                  <a:srgbClr val="000099"/>
                </a:solidFill>
                <a:latin typeface="Times New Roman" panose="02020603050405020304" charset="0"/>
                <a:ea typeface="宋体" pitchFamily="2" charset="-122"/>
                <a:cs typeface="+mn-cs"/>
              </a:rPr>
              <a:t>俘获</a:t>
            </a:r>
            <a:r>
              <a:rPr lang="zh-CN" altLang="en-US" sz="2400" strike="noStrike" noProof="1">
                <a:solidFill>
                  <a:srgbClr val="000099"/>
                </a:solidFill>
                <a:latin typeface="Times New Roman" panose="02020603050405020304" charset="0"/>
                <a:ea typeface="宋体" pitchFamily="2" charset="-122"/>
                <a:cs typeface="+mn-cs"/>
              </a:rPr>
              <a:t>        </a:t>
            </a:r>
            <a:r>
              <a:rPr lang="zh-CN" altLang="en-US" sz="2400" strike="noStrike" noProof="1">
                <a:solidFill>
                  <a:schemeClr val="tx1"/>
                </a:solidFill>
                <a:latin typeface="Times New Roman" panose="02020603050405020304" charset="0"/>
                <a:ea typeface="宋体" pitchFamily="2" charset="-122"/>
                <a:cs typeface="+mn-cs"/>
              </a:rPr>
              <a:t>由处理机内部事件引起的中断</a:t>
            </a:r>
            <a:r>
              <a:rPr lang="x-none" altLang="zh-CN" sz="2400" strike="noStrike" noProof="1">
                <a:solidFill>
                  <a:schemeClr val="tx1"/>
                </a:solidFill>
                <a:latin typeface="Times New Roman" panose="02020603050405020304" charset="0"/>
                <a:ea typeface="宋体" pitchFamily="2" charset="-122"/>
                <a:cs typeface="+mn-cs"/>
              </a:rPr>
              <a:t>（又叫异常）</a:t>
            </a:r>
            <a:endParaRPr lang="x-none" altLang="zh-CN" sz="2400" strike="noStrike" noProof="1">
              <a:solidFill>
                <a:schemeClr val="tx1"/>
              </a:solidFill>
              <a:latin typeface="Times New Roman" panose="02020603050405020304" charset="0"/>
              <a:ea typeface="宋体" pitchFamily="2" charset="-122"/>
              <a:cs typeface="+mn-cs"/>
            </a:endParaRPr>
          </a:p>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③ 中断与俘获的例</a:t>
            </a:r>
            <a:r>
              <a:rPr lang="x-none" altLang="zh-CN" sz="2400" b="1" strike="noStrike" noProof="1">
                <a:solidFill>
                  <a:srgbClr val="000099"/>
                </a:solidFill>
                <a:latin typeface="宋体" pitchFamily="2" charset="-122"/>
                <a:ea typeface="宋体" pitchFamily="2" charset="-122"/>
                <a:cs typeface="+mn-cs"/>
              </a:rPr>
              <a:t>子</a:t>
            </a:r>
            <a:endParaRPr lang="x-none" altLang="zh-CN" sz="2400" b="1" strike="noStrike" noProof="1">
              <a:solidFill>
                <a:srgbClr val="000099"/>
              </a:solidFill>
              <a:latin typeface="宋体" pitchFamily="2" charset="-122"/>
              <a:ea typeface="宋体" pitchFamily="2" charset="-122"/>
              <a:cs typeface="+mn-cs"/>
            </a:endParaRPr>
          </a:p>
        </p:txBody>
      </p:sp>
      <p:grpSp>
        <p:nvGrpSpPr>
          <p:cNvPr id="38916" name="组合 38915"/>
          <p:cNvGrpSpPr/>
          <p:nvPr/>
        </p:nvGrpSpPr>
        <p:grpSpPr>
          <a:xfrm>
            <a:off x="742950" y="2647950"/>
            <a:ext cx="7507288" cy="3848100"/>
            <a:chOff x="0" y="0"/>
            <a:chExt cx="4729" cy="2424"/>
          </a:xfrm>
        </p:grpSpPr>
        <p:sp>
          <p:nvSpPr>
            <p:cNvPr id="48132" name="直接连接符 38916"/>
            <p:cNvSpPr/>
            <p:nvPr/>
          </p:nvSpPr>
          <p:spPr>
            <a:xfrm>
              <a:off x="3974"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33" name="直接连接符 38917"/>
            <p:cNvSpPr/>
            <p:nvPr/>
          </p:nvSpPr>
          <p:spPr>
            <a:xfrm>
              <a:off x="2335" y="868"/>
              <a:ext cx="1964" cy="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8134" name="直接连接符 38918"/>
            <p:cNvSpPr/>
            <p:nvPr/>
          </p:nvSpPr>
          <p:spPr>
            <a:xfrm>
              <a:off x="231" y="862"/>
              <a:ext cx="1746" cy="0"/>
            </a:xfrm>
            <a:prstGeom prst="line">
              <a:avLst/>
            </a:prstGeom>
            <a:ln w="25400"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8135" name="文本框 38919"/>
            <p:cNvSpPr txBox="1"/>
            <p:nvPr/>
          </p:nvSpPr>
          <p:spPr>
            <a:xfrm>
              <a:off x="3512" y="911"/>
              <a:ext cx="322" cy="201"/>
            </a:xfrm>
            <a:prstGeom prst="rect">
              <a:avLst/>
            </a:prstGeom>
            <a:noFill/>
            <a:ln w="9525">
              <a:noFill/>
              <a:miter/>
            </a:ln>
          </p:spPr>
          <p:txBody>
            <a:bodyPr anchor="t"/>
            <a:p>
              <a:pPr lvl="0" algn="just"/>
              <a:r>
                <a:rPr lang="en-US" altLang="zh-CN" sz="1400">
                  <a:solidFill>
                    <a:schemeClr val="tx1"/>
                  </a:solidFill>
                  <a:latin typeface="Times New Roman" panose="02020603050405020304" charset="0"/>
                  <a:ea typeface="宋体" pitchFamily="2" charset="-122"/>
                  <a:sym typeface="MT Extra" panose="05050102010205020202" pitchFamily="18" charset="2"/>
                </a:rPr>
                <a:t>...</a:t>
              </a:r>
              <a:endParaRPr lang="en-US" altLang="zh-CN" sz="1400">
                <a:solidFill>
                  <a:schemeClr val="tx1"/>
                </a:solidFill>
                <a:latin typeface="Times New Roman" panose="02020603050405020304" charset="0"/>
                <a:ea typeface="宋体" pitchFamily="2" charset="-122"/>
                <a:sym typeface="MT Extra" panose="05050102010205020202" pitchFamily="18" charset="2"/>
              </a:endParaRPr>
            </a:p>
          </p:txBody>
        </p:sp>
        <p:sp>
          <p:nvSpPr>
            <p:cNvPr id="48136" name="直接连接符 38920"/>
            <p:cNvSpPr/>
            <p:nvPr/>
          </p:nvSpPr>
          <p:spPr>
            <a:xfrm>
              <a:off x="3327"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37" name="直接连接符 38921"/>
            <p:cNvSpPr/>
            <p:nvPr/>
          </p:nvSpPr>
          <p:spPr>
            <a:xfrm>
              <a:off x="2819"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38" name="直接连接符 38922"/>
            <p:cNvSpPr/>
            <p:nvPr/>
          </p:nvSpPr>
          <p:spPr>
            <a:xfrm>
              <a:off x="2332"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39" name="直接连接符 38923"/>
            <p:cNvSpPr/>
            <p:nvPr/>
          </p:nvSpPr>
          <p:spPr>
            <a:xfrm>
              <a:off x="3974" y="1531"/>
              <a:ext cx="0" cy="339"/>
            </a:xfrm>
            <a:prstGeom prst="line">
              <a:avLst/>
            </a:prstGeom>
            <a:ln w="28575" cap="flat" cmpd="sng">
              <a:solidFill>
                <a:srgbClr val="000000"/>
              </a:solidFill>
              <a:prstDash val="solid"/>
              <a:round/>
              <a:headEnd type="none" w="med" len="med"/>
              <a:tailEnd type="triangle" w="med" len="med"/>
            </a:ln>
          </p:spPr>
          <p:txBody>
            <a:bodyPr anchor="t"/>
            <a:p>
              <a:pPr lvl="0" algn="ctr"/>
              <a:endParaRPr lang="zh-CN" altLang="en-US">
                <a:latin typeface="Arial" panose="020B0604020202020204" pitchFamily="34" charset="0"/>
                <a:ea typeface="宋体" pitchFamily="2" charset="-122"/>
              </a:endParaRPr>
            </a:p>
          </p:txBody>
        </p:sp>
        <p:sp>
          <p:nvSpPr>
            <p:cNvPr id="48140" name="文本框 38924"/>
            <p:cNvSpPr txBox="1"/>
            <p:nvPr/>
          </p:nvSpPr>
          <p:spPr>
            <a:xfrm>
              <a:off x="3789" y="1174"/>
              <a:ext cx="462" cy="326"/>
            </a:xfrm>
            <a:prstGeom prst="rect">
              <a:avLst/>
            </a:prstGeom>
            <a:noFill/>
            <a:ln w="9525">
              <a:noFill/>
              <a:miter/>
            </a:ln>
          </p:spPr>
          <p:txBody>
            <a:bodyPr anchor="t">
              <a:spAutoFit/>
            </a:bodyPr>
            <a:p>
              <a:pPr lvl="0"/>
              <a:r>
                <a:rPr lang="zh-CN" altLang="en-US" sz="1400" dirty="0">
                  <a:solidFill>
                    <a:schemeClr val="tx1"/>
                  </a:solidFill>
                  <a:latin typeface="Times New Roman" panose="02020603050405020304" charset="0"/>
                  <a:ea typeface="宋体" pitchFamily="2" charset="-122"/>
                </a:rPr>
                <a:t>trap</a:t>
              </a:r>
              <a:endParaRPr lang="zh-CN" altLang="en-US" sz="1400" dirty="0">
                <a:solidFill>
                  <a:schemeClr val="tx1"/>
                </a:solidFill>
                <a:latin typeface="Times New Roman" panose="02020603050405020304" charset="0"/>
                <a:ea typeface="宋体" pitchFamily="2" charset="-122"/>
              </a:endParaRPr>
            </a:p>
            <a:p>
              <a:pPr lvl="0"/>
              <a:r>
                <a:rPr lang="zh-CN" altLang="en-US" sz="1400" dirty="0">
                  <a:solidFill>
                    <a:schemeClr val="tx1"/>
                  </a:solidFill>
                  <a:latin typeface="Times New Roman" panose="02020603050405020304" charset="0"/>
                  <a:ea typeface="宋体" pitchFamily="2" charset="-122"/>
                </a:rPr>
                <a:t>指令</a:t>
              </a:r>
              <a:endParaRPr lang="zh-CN" altLang="en-US" sz="1400" dirty="0">
                <a:solidFill>
                  <a:schemeClr val="tx1"/>
                </a:solidFill>
                <a:latin typeface="Times New Roman" panose="02020603050405020304" charset="0"/>
                <a:ea typeface="宋体" pitchFamily="2" charset="-122"/>
              </a:endParaRPr>
            </a:p>
          </p:txBody>
        </p:sp>
        <p:sp>
          <p:nvSpPr>
            <p:cNvPr id="48141" name="文本框 38925"/>
            <p:cNvSpPr txBox="1"/>
            <p:nvPr/>
          </p:nvSpPr>
          <p:spPr>
            <a:xfrm>
              <a:off x="3142" y="1174"/>
              <a:ext cx="463" cy="329"/>
            </a:xfrm>
            <a:prstGeom prst="rect">
              <a:avLst/>
            </a:prstGeom>
            <a:noFill/>
            <a:ln w="9525">
              <a:noFill/>
              <a:miter/>
            </a:ln>
          </p:spPr>
          <p:txBody>
            <a:bodyPr anchor="t">
              <a:spAutoFit/>
            </a:bodyPr>
            <a:p>
              <a:pPr lvl="0"/>
              <a:r>
                <a:rPr lang="x-none" altLang="zh-CN" sz="1400" dirty="0">
                  <a:solidFill>
                    <a:schemeClr val="tx1"/>
                  </a:solidFill>
                  <a:latin typeface="Times New Roman" panose="02020603050405020304" charset="0"/>
                  <a:ea typeface="宋体" pitchFamily="2" charset="-122"/>
                </a:rPr>
                <a:t>浮</a:t>
              </a:r>
              <a:r>
                <a:rPr lang="zh-CN" altLang="en-US" sz="1400" dirty="0">
                  <a:solidFill>
                    <a:schemeClr val="tx1"/>
                  </a:solidFill>
                  <a:latin typeface="Times New Roman" panose="02020603050405020304" charset="0"/>
                  <a:ea typeface="宋体" pitchFamily="2" charset="-122"/>
                </a:rPr>
                <a:t>点</a:t>
              </a:r>
              <a:endParaRPr lang="zh-CN" altLang="en-US" sz="1400" dirty="0">
                <a:solidFill>
                  <a:schemeClr val="tx1"/>
                </a:solidFill>
                <a:latin typeface="Times New Roman" panose="02020603050405020304" charset="0"/>
                <a:ea typeface="宋体" pitchFamily="2" charset="-122"/>
              </a:endParaRPr>
            </a:p>
            <a:p>
              <a:pPr lvl="0"/>
              <a:r>
                <a:rPr lang="zh-CN" altLang="en-US" sz="1400" dirty="0">
                  <a:solidFill>
                    <a:schemeClr val="tx1"/>
                  </a:solidFill>
                  <a:latin typeface="Times New Roman" panose="02020603050405020304" charset="0"/>
                  <a:ea typeface="宋体" pitchFamily="2" charset="-122"/>
                </a:rPr>
                <a:t>溢出</a:t>
              </a:r>
              <a:endParaRPr lang="zh-CN" altLang="en-US" sz="1400" dirty="0">
                <a:solidFill>
                  <a:schemeClr val="tx1"/>
                </a:solidFill>
                <a:latin typeface="Times New Roman" panose="02020603050405020304" charset="0"/>
                <a:ea typeface="宋体" pitchFamily="2" charset="-122"/>
              </a:endParaRPr>
            </a:p>
          </p:txBody>
        </p:sp>
        <p:sp>
          <p:nvSpPr>
            <p:cNvPr id="48142" name="文本框 38926"/>
            <p:cNvSpPr txBox="1"/>
            <p:nvPr/>
          </p:nvSpPr>
          <p:spPr>
            <a:xfrm>
              <a:off x="2634" y="1174"/>
              <a:ext cx="462" cy="326"/>
            </a:xfrm>
            <a:prstGeom prst="rect">
              <a:avLst/>
            </a:prstGeom>
            <a:noFill/>
            <a:ln w="9525">
              <a:noFill/>
              <a:miter/>
            </a:ln>
          </p:spPr>
          <p:txBody>
            <a:bodyPr anchor="t">
              <a:spAutoFit/>
            </a:bodyPr>
            <a:p>
              <a:pPr lvl="0"/>
              <a:r>
                <a:rPr lang="zh-CN" altLang="en-US" sz="1400" dirty="0">
                  <a:solidFill>
                    <a:schemeClr val="tx1"/>
                  </a:solidFill>
                  <a:latin typeface="Times New Roman" panose="02020603050405020304" charset="0"/>
                  <a:ea typeface="宋体" pitchFamily="2" charset="-122"/>
                </a:rPr>
                <a:t>地址</a:t>
              </a:r>
              <a:endParaRPr lang="zh-CN" altLang="en-US" sz="1400" dirty="0">
                <a:solidFill>
                  <a:schemeClr val="tx1"/>
                </a:solidFill>
                <a:latin typeface="Times New Roman" panose="02020603050405020304" charset="0"/>
                <a:ea typeface="宋体" pitchFamily="2" charset="-122"/>
              </a:endParaRPr>
            </a:p>
            <a:p>
              <a:pPr lvl="0"/>
              <a:r>
                <a:rPr lang="zh-CN" altLang="en-US" sz="1400" dirty="0">
                  <a:solidFill>
                    <a:schemeClr val="tx1"/>
                  </a:solidFill>
                  <a:latin typeface="Times New Roman" panose="02020603050405020304" charset="0"/>
                  <a:ea typeface="宋体" pitchFamily="2" charset="-122"/>
                </a:rPr>
                <a:t>越界</a:t>
              </a:r>
              <a:endParaRPr lang="zh-CN" altLang="en-US" sz="1400" dirty="0">
                <a:solidFill>
                  <a:schemeClr val="tx1"/>
                </a:solidFill>
                <a:latin typeface="Times New Roman" panose="02020603050405020304" charset="0"/>
                <a:ea typeface="宋体" pitchFamily="2" charset="-122"/>
              </a:endParaRPr>
            </a:p>
          </p:txBody>
        </p:sp>
        <p:sp>
          <p:nvSpPr>
            <p:cNvPr id="48143" name="文本框 38927"/>
            <p:cNvSpPr txBox="1"/>
            <p:nvPr/>
          </p:nvSpPr>
          <p:spPr>
            <a:xfrm>
              <a:off x="2126" y="1174"/>
              <a:ext cx="462" cy="326"/>
            </a:xfrm>
            <a:prstGeom prst="rect">
              <a:avLst/>
            </a:prstGeom>
            <a:noFill/>
            <a:ln w="9525">
              <a:noFill/>
              <a:miter/>
            </a:ln>
          </p:spPr>
          <p:txBody>
            <a:bodyPr anchor="t">
              <a:spAutoFit/>
            </a:bodyPr>
            <a:p>
              <a:pPr lvl="0"/>
              <a:r>
                <a:rPr lang="zh-CN" altLang="en-US" sz="1400" dirty="0">
                  <a:solidFill>
                    <a:schemeClr val="tx1"/>
                  </a:solidFill>
                  <a:latin typeface="Times New Roman" panose="02020603050405020304" charset="0"/>
                  <a:ea typeface="宋体" pitchFamily="2" charset="-122"/>
                </a:rPr>
                <a:t>非法</a:t>
              </a:r>
              <a:endParaRPr lang="zh-CN" altLang="en-US" sz="1400" dirty="0">
                <a:solidFill>
                  <a:schemeClr val="tx1"/>
                </a:solidFill>
                <a:latin typeface="Times New Roman" panose="02020603050405020304" charset="0"/>
                <a:ea typeface="宋体" pitchFamily="2" charset="-122"/>
              </a:endParaRPr>
            </a:p>
            <a:p>
              <a:pPr lvl="0"/>
              <a:r>
                <a:rPr lang="zh-CN" altLang="en-US" sz="1400" dirty="0">
                  <a:solidFill>
                    <a:schemeClr val="tx1"/>
                  </a:solidFill>
                  <a:latin typeface="Times New Roman" panose="02020603050405020304" charset="0"/>
                  <a:ea typeface="宋体" pitchFamily="2" charset="-122"/>
                </a:rPr>
                <a:t>指令</a:t>
              </a:r>
              <a:endParaRPr lang="zh-CN" altLang="en-US" sz="1400" dirty="0">
                <a:solidFill>
                  <a:schemeClr val="tx1"/>
                </a:solidFill>
                <a:latin typeface="Times New Roman" panose="02020603050405020304" charset="0"/>
                <a:ea typeface="宋体" pitchFamily="2" charset="-122"/>
              </a:endParaRPr>
            </a:p>
          </p:txBody>
        </p:sp>
        <p:sp>
          <p:nvSpPr>
            <p:cNvPr id="48144" name="直接连接符 38928"/>
            <p:cNvSpPr/>
            <p:nvPr/>
          </p:nvSpPr>
          <p:spPr>
            <a:xfrm>
              <a:off x="3420" y="1881"/>
              <a:ext cx="1309" cy="0"/>
            </a:xfrm>
            <a:prstGeom prst="line">
              <a:avLst/>
            </a:prstGeom>
            <a:ln w="25400"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8145" name="直接连接符 38929"/>
            <p:cNvSpPr/>
            <p:nvPr/>
          </p:nvSpPr>
          <p:spPr>
            <a:xfrm>
              <a:off x="4575" y="1881"/>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46" name="直接连接符 38930"/>
            <p:cNvSpPr/>
            <p:nvPr/>
          </p:nvSpPr>
          <p:spPr>
            <a:xfrm>
              <a:off x="4159" y="1881"/>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47" name="直接连接符 38931"/>
            <p:cNvSpPr/>
            <p:nvPr/>
          </p:nvSpPr>
          <p:spPr>
            <a:xfrm>
              <a:off x="3789" y="1881"/>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48" name="直接连接符 38932"/>
            <p:cNvSpPr/>
            <p:nvPr/>
          </p:nvSpPr>
          <p:spPr>
            <a:xfrm>
              <a:off x="3420" y="1881"/>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49" name="文本框 38933"/>
            <p:cNvSpPr txBox="1"/>
            <p:nvPr/>
          </p:nvSpPr>
          <p:spPr>
            <a:xfrm>
              <a:off x="3189" y="2231"/>
              <a:ext cx="369" cy="192"/>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exit</a:t>
              </a:r>
              <a:endParaRPr lang="en-US" altLang="zh-CN" sz="1400">
                <a:solidFill>
                  <a:schemeClr val="tx1"/>
                </a:solidFill>
                <a:latin typeface="Times New Roman" panose="02020603050405020304" charset="0"/>
                <a:ea typeface="宋体" pitchFamily="2" charset="-122"/>
              </a:endParaRPr>
            </a:p>
          </p:txBody>
        </p:sp>
        <p:sp>
          <p:nvSpPr>
            <p:cNvPr id="48150" name="文本框 38934"/>
            <p:cNvSpPr txBox="1"/>
            <p:nvPr/>
          </p:nvSpPr>
          <p:spPr>
            <a:xfrm>
              <a:off x="3606" y="2231"/>
              <a:ext cx="456" cy="192"/>
            </a:xfrm>
            <a:prstGeom prst="rect">
              <a:avLst/>
            </a:prstGeom>
            <a:noFill/>
            <a:ln w="9525">
              <a:noFill/>
              <a:miter/>
            </a:ln>
          </p:spPr>
          <p:txBody>
            <a:bodyPr wrap="square" anchor="t">
              <a:spAutoFit/>
            </a:bodyPr>
            <a:p>
              <a:pPr lvl="0">
                <a:spcBef>
                  <a:spcPct val="50000"/>
                </a:spcBef>
              </a:pPr>
              <a:r>
                <a:rPr lang="en-US" altLang="zh-CN" sz="1400">
                  <a:solidFill>
                    <a:schemeClr val="tx1"/>
                  </a:solidFill>
                  <a:latin typeface="Times New Roman" panose="02020603050405020304" charset="0"/>
                  <a:ea typeface="宋体" pitchFamily="2" charset="-122"/>
                </a:rPr>
                <a:t>fork</a:t>
              </a:r>
              <a:endParaRPr lang="en-US" altLang="zh-CN" sz="1400">
                <a:solidFill>
                  <a:schemeClr val="tx1"/>
                </a:solidFill>
                <a:latin typeface="Times New Roman" panose="02020603050405020304" charset="0"/>
                <a:ea typeface="宋体" pitchFamily="2" charset="-122"/>
              </a:endParaRPr>
            </a:p>
          </p:txBody>
        </p:sp>
        <p:sp>
          <p:nvSpPr>
            <p:cNvPr id="48151" name="文本框 38935"/>
            <p:cNvSpPr txBox="1"/>
            <p:nvPr/>
          </p:nvSpPr>
          <p:spPr>
            <a:xfrm>
              <a:off x="4020" y="2231"/>
              <a:ext cx="416" cy="193"/>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read</a:t>
              </a:r>
              <a:endParaRPr lang="en-US" altLang="zh-CN" sz="1400">
                <a:solidFill>
                  <a:schemeClr val="tx1"/>
                </a:solidFill>
                <a:latin typeface="Times New Roman" panose="02020603050405020304" charset="0"/>
                <a:ea typeface="宋体" pitchFamily="2" charset="-122"/>
              </a:endParaRPr>
            </a:p>
          </p:txBody>
        </p:sp>
        <p:sp>
          <p:nvSpPr>
            <p:cNvPr id="48152" name="文本框 38936"/>
            <p:cNvSpPr txBox="1"/>
            <p:nvPr/>
          </p:nvSpPr>
          <p:spPr>
            <a:xfrm>
              <a:off x="4205" y="1925"/>
              <a:ext cx="322" cy="202"/>
            </a:xfrm>
            <a:prstGeom prst="rect">
              <a:avLst/>
            </a:prstGeom>
            <a:noFill/>
            <a:ln w="9525">
              <a:noFill/>
              <a:miter/>
            </a:ln>
          </p:spPr>
          <p:txBody>
            <a:bodyPr anchor="t"/>
            <a:p>
              <a:pPr lvl="0" algn="just"/>
              <a:r>
                <a:rPr lang="en-US" altLang="zh-CN" sz="1400">
                  <a:solidFill>
                    <a:schemeClr val="tx1"/>
                  </a:solidFill>
                  <a:latin typeface="Times New Roman" panose="02020603050405020304" charset="0"/>
                  <a:ea typeface="宋体" pitchFamily="2" charset="-122"/>
                  <a:sym typeface="MT Extra" panose="05050102010205020202" pitchFamily="18" charset="2"/>
                </a:rPr>
                <a:t>...</a:t>
              </a:r>
              <a:endParaRPr lang="en-US" altLang="zh-CN" sz="1400">
                <a:solidFill>
                  <a:schemeClr val="tx1"/>
                </a:solidFill>
                <a:latin typeface="Times New Roman" panose="02020603050405020304" charset="0"/>
                <a:ea typeface="宋体" pitchFamily="2" charset="-122"/>
                <a:sym typeface="MT Extra" panose="05050102010205020202" pitchFamily="18" charset="2"/>
              </a:endParaRPr>
            </a:p>
          </p:txBody>
        </p:sp>
        <p:sp>
          <p:nvSpPr>
            <p:cNvPr id="48153" name="直接连接符 38937"/>
            <p:cNvSpPr/>
            <p:nvPr/>
          </p:nvSpPr>
          <p:spPr>
            <a:xfrm>
              <a:off x="3327" y="51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4" name="直接连接符 38938"/>
            <p:cNvSpPr/>
            <p:nvPr/>
          </p:nvSpPr>
          <p:spPr>
            <a:xfrm>
              <a:off x="1202" y="51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5" name="直接连接符 38939"/>
            <p:cNvSpPr/>
            <p:nvPr/>
          </p:nvSpPr>
          <p:spPr>
            <a:xfrm>
              <a:off x="231"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6" name="直接连接符 38940"/>
            <p:cNvSpPr/>
            <p:nvPr/>
          </p:nvSpPr>
          <p:spPr>
            <a:xfrm>
              <a:off x="693"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7" name="直接连接符 38941"/>
            <p:cNvSpPr/>
            <p:nvPr/>
          </p:nvSpPr>
          <p:spPr>
            <a:xfrm>
              <a:off x="1202"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8" name="直接连接符 38942"/>
            <p:cNvSpPr/>
            <p:nvPr/>
          </p:nvSpPr>
          <p:spPr>
            <a:xfrm>
              <a:off x="1848" y="867"/>
              <a:ext cx="0" cy="339"/>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59" name="文本框 38943"/>
            <p:cNvSpPr txBox="1"/>
            <p:nvPr/>
          </p:nvSpPr>
          <p:spPr>
            <a:xfrm>
              <a:off x="0" y="1174"/>
              <a:ext cx="462" cy="325"/>
            </a:xfrm>
            <a:prstGeom prst="rect">
              <a:avLst/>
            </a:prstGeom>
            <a:noFill/>
            <a:ln w="9525">
              <a:noFill/>
              <a:miter/>
            </a:ln>
          </p:spPr>
          <p:txBody>
            <a:bodyPr anchor="t">
              <a:spAutoFit/>
            </a:bodyPr>
            <a:p>
              <a:pPr lvl="0"/>
              <a:r>
                <a:rPr lang="zh-CN" altLang="en-US" sz="1400" dirty="0">
                  <a:solidFill>
                    <a:schemeClr val="tx1"/>
                  </a:solidFill>
                  <a:latin typeface="Times New Roman" panose="02020603050405020304" charset="0"/>
                  <a:ea typeface="宋体" pitchFamily="2" charset="-122"/>
                </a:rPr>
                <a:t>clock</a:t>
              </a:r>
              <a:endParaRPr lang="zh-CN" altLang="en-US" sz="1400" dirty="0">
                <a:solidFill>
                  <a:schemeClr val="tx1"/>
                </a:solidFill>
                <a:latin typeface="Times New Roman" panose="02020603050405020304" charset="0"/>
                <a:ea typeface="宋体" pitchFamily="2" charset="-122"/>
              </a:endParaRPr>
            </a:p>
            <a:p>
              <a:pPr lvl="0"/>
              <a:r>
                <a:rPr lang="zh-CN" altLang="en-US" sz="1400" dirty="0">
                  <a:solidFill>
                    <a:schemeClr val="tx1"/>
                  </a:solidFill>
                  <a:latin typeface="Times New Roman" panose="02020603050405020304" charset="0"/>
                  <a:ea typeface="宋体" pitchFamily="2" charset="-122"/>
                </a:rPr>
                <a:t>时钟</a:t>
              </a:r>
              <a:endParaRPr lang="zh-CN" altLang="en-US" sz="1400" dirty="0">
                <a:solidFill>
                  <a:schemeClr val="tx1"/>
                </a:solidFill>
                <a:latin typeface="Times New Roman" panose="02020603050405020304" charset="0"/>
                <a:ea typeface="宋体" pitchFamily="2" charset="-122"/>
              </a:endParaRPr>
            </a:p>
          </p:txBody>
        </p:sp>
        <p:sp>
          <p:nvSpPr>
            <p:cNvPr id="48160" name="文本框 38944"/>
            <p:cNvSpPr txBox="1"/>
            <p:nvPr/>
          </p:nvSpPr>
          <p:spPr>
            <a:xfrm>
              <a:off x="508" y="1174"/>
              <a:ext cx="462" cy="325"/>
            </a:xfrm>
            <a:prstGeom prst="rect">
              <a:avLst/>
            </a:prstGeom>
            <a:noFill/>
            <a:ln w="9525">
              <a:noFill/>
              <a:miter/>
            </a:ln>
          </p:spPr>
          <p:txBody>
            <a:bodyPr anchor="t">
              <a:spAutoFit/>
            </a:bodyPr>
            <a:p>
              <a:pPr lvl="0"/>
              <a:r>
                <a:rPr lang="zh-CN" altLang="en-US" sz="1400" b="0">
                  <a:solidFill>
                    <a:schemeClr val="tx1"/>
                  </a:solidFill>
                  <a:latin typeface="Times New Roman" panose="02020603050405020304" charset="0"/>
                  <a:ea typeface="宋体" pitchFamily="2" charset="-122"/>
                </a:rPr>
                <a:t>  </a:t>
              </a:r>
              <a:r>
                <a:rPr lang="en-US" altLang="zh-CN" sz="1400">
                  <a:solidFill>
                    <a:schemeClr val="tx1"/>
                  </a:solidFill>
                  <a:latin typeface="Times New Roman" panose="02020603050405020304" charset="0"/>
                  <a:ea typeface="宋体" pitchFamily="2" charset="-122"/>
                </a:rPr>
                <a:t>rk</a:t>
              </a:r>
              <a:endParaRPr lang="en-US" altLang="zh-CN" sz="1400">
                <a:solidFill>
                  <a:schemeClr val="tx1"/>
                </a:solidFill>
                <a:latin typeface="Times New Roman" panose="02020603050405020304" charset="0"/>
                <a:ea typeface="宋体" pitchFamily="2" charset="-122"/>
              </a:endParaRPr>
            </a:p>
            <a:p>
              <a:pPr lvl="0"/>
              <a:r>
                <a:rPr lang="zh-CN" altLang="en-US" sz="1400">
                  <a:solidFill>
                    <a:schemeClr val="tx1"/>
                  </a:solidFill>
                  <a:latin typeface="Times New Roman" panose="02020603050405020304" charset="0"/>
                  <a:ea typeface="宋体" pitchFamily="2" charset="-122"/>
                </a:rPr>
                <a:t>磁盘</a:t>
              </a:r>
              <a:endParaRPr lang="zh-CN" altLang="en-US" sz="1400">
                <a:solidFill>
                  <a:schemeClr val="tx1"/>
                </a:solidFill>
                <a:latin typeface="Times New Roman" panose="02020603050405020304" charset="0"/>
                <a:ea typeface="宋体" pitchFamily="2" charset="-122"/>
              </a:endParaRPr>
            </a:p>
          </p:txBody>
        </p:sp>
        <p:sp>
          <p:nvSpPr>
            <p:cNvPr id="48161" name="文本框 38945"/>
            <p:cNvSpPr txBox="1"/>
            <p:nvPr/>
          </p:nvSpPr>
          <p:spPr>
            <a:xfrm>
              <a:off x="970" y="1174"/>
              <a:ext cx="463" cy="325"/>
            </a:xfrm>
            <a:prstGeom prst="rect">
              <a:avLst/>
            </a:prstGeom>
            <a:noFill/>
            <a:ln w="9525">
              <a:noFill/>
              <a:miter/>
            </a:ln>
          </p:spPr>
          <p:txBody>
            <a:bodyPr anchor="t">
              <a:spAutoFit/>
            </a:bodyPr>
            <a:p>
              <a:pPr lvl="0"/>
              <a:r>
                <a:rPr lang="zh-CN" altLang="en-US" sz="1400" b="0">
                  <a:solidFill>
                    <a:schemeClr val="tx1"/>
                  </a:solidFill>
                  <a:latin typeface="Times New Roman" panose="02020603050405020304" charset="0"/>
                  <a:ea typeface="宋体" pitchFamily="2" charset="-122"/>
                </a:rPr>
                <a:t>  </a:t>
              </a:r>
              <a:r>
                <a:rPr lang="en-US" altLang="zh-CN" sz="1400">
                  <a:solidFill>
                    <a:schemeClr val="tx1"/>
                  </a:solidFill>
                  <a:latin typeface="Times New Roman" panose="02020603050405020304" charset="0"/>
                  <a:ea typeface="宋体" pitchFamily="2" charset="-122"/>
                </a:rPr>
                <a:t>tty</a:t>
              </a:r>
              <a:endParaRPr lang="en-US" altLang="zh-CN" sz="1400">
                <a:solidFill>
                  <a:schemeClr val="tx1"/>
                </a:solidFill>
                <a:latin typeface="Times New Roman" panose="02020603050405020304" charset="0"/>
                <a:ea typeface="宋体" pitchFamily="2" charset="-122"/>
              </a:endParaRPr>
            </a:p>
            <a:p>
              <a:pPr lvl="0"/>
              <a:r>
                <a:rPr lang="zh-CN" altLang="en-US" sz="1400">
                  <a:solidFill>
                    <a:schemeClr val="tx1"/>
                  </a:solidFill>
                  <a:latin typeface="Times New Roman" panose="02020603050405020304" charset="0"/>
                  <a:ea typeface="宋体" pitchFamily="2" charset="-122"/>
                </a:rPr>
                <a:t>终端</a:t>
              </a:r>
              <a:endParaRPr lang="zh-CN" altLang="en-US" sz="1400">
                <a:solidFill>
                  <a:schemeClr val="tx1"/>
                </a:solidFill>
                <a:latin typeface="Times New Roman" panose="02020603050405020304" charset="0"/>
                <a:ea typeface="宋体" pitchFamily="2" charset="-122"/>
              </a:endParaRPr>
            </a:p>
          </p:txBody>
        </p:sp>
        <p:sp>
          <p:nvSpPr>
            <p:cNvPr id="48162" name="文本框 38946"/>
            <p:cNvSpPr txBox="1"/>
            <p:nvPr/>
          </p:nvSpPr>
          <p:spPr>
            <a:xfrm>
              <a:off x="1386" y="955"/>
              <a:ext cx="322" cy="201"/>
            </a:xfrm>
            <a:prstGeom prst="rect">
              <a:avLst/>
            </a:prstGeom>
            <a:noFill/>
            <a:ln w="9525">
              <a:noFill/>
              <a:miter/>
            </a:ln>
          </p:spPr>
          <p:txBody>
            <a:bodyPr anchor="t"/>
            <a:p>
              <a:pPr lvl="0" algn="just"/>
              <a:r>
                <a:rPr lang="en-US" altLang="zh-CN" sz="1400">
                  <a:solidFill>
                    <a:schemeClr val="tx1"/>
                  </a:solidFill>
                  <a:latin typeface="Times New Roman" panose="02020603050405020304" charset="0"/>
                  <a:ea typeface="宋体" pitchFamily="2" charset="-122"/>
                  <a:sym typeface="MT Extra" panose="05050102010205020202" pitchFamily="18" charset="2"/>
                </a:rPr>
                <a:t>...</a:t>
              </a:r>
              <a:endParaRPr lang="en-US" altLang="zh-CN" sz="1400">
                <a:solidFill>
                  <a:schemeClr val="tx1"/>
                </a:solidFill>
                <a:latin typeface="Times New Roman" panose="02020603050405020304" charset="0"/>
                <a:ea typeface="宋体" pitchFamily="2" charset="-122"/>
                <a:sym typeface="MT Extra" panose="05050102010205020202" pitchFamily="18" charset="2"/>
              </a:endParaRPr>
            </a:p>
          </p:txBody>
        </p:sp>
        <p:sp>
          <p:nvSpPr>
            <p:cNvPr id="48163" name="直接连接符 38947"/>
            <p:cNvSpPr/>
            <p:nvPr/>
          </p:nvSpPr>
          <p:spPr>
            <a:xfrm>
              <a:off x="1202" y="517"/>
              <a:ext cx="2125" cy="0"/>
            </a:xfrm>
            <a:prstGeom prst="line">
              <a:avLst/>
            </a:prstGeom>
            <a:ln w="25400"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8164" name="直接连接符 38948"/>
            <p:cNvSpPr/>
            <p:nvPr/>
          </p:nvSpPr>
          <p:spPr>
            <a:xfrm>
              <a:off x="2218" y="175"/>
              <a:ext cx="0" cy="340"/>
            </a:xfrm>
            <a:prstGeom prst="line">
              <a:avLst/>
            </a:prstGeom>
            <a:ln w="28575"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8165" name="文本框 38949"/>
            <p:cNvSpPr txBox="1"/>
            <p:nvPr/>
          </p:nvSpPr>
          <p:spPr>
            <a:xfrm>
              <a:off x="1865" y="0"/>
              <a:ext cx="1017" cy="192"/>
            </a:xfrm>
            <a:prstGeom prst="rect">
              <a:avLst/>
            </a:prstGeom>
            <a:noFill/>
            <a:ln w="9525">
              <a:noFill/>
              <a:miter/>
            </a:ln>
          </p:spPr>
          <p:txBody>
            <a:bodyPr anchor="t">
              <a:spAutoFit/>
            </a:bodyPr>
            <a:p>
              <a:pPr lvl="0"/>
              <a:r>
                <a:rPr lang="zh-CN" altLang="en-US" sz="1400">
                  <a:solidFill>
                    <a:schemeClr val="tx1"/>
                  </a:solidFill>
                  <a:latin typeface="Times New Roman" panose="02020603050405020304" charset="0"/>
                  <a:ea typeface="宋体" pitchFamily="2" charset="-122"/>
                </a:rPr>
                <a:t>中断与俘获</a:t>
              </a:r>
              <a:endParaRPr lang="zh-CN" altLang="en-US" sz="1400">
                <a:solidFill>
                  <a:schemeClr val="tx1"/>
                </a:solidFill>
                <a:latin typeface="Times New Roman" panose="02020603050405020304" charset="0"/>
                <a:ea typeface="宋体" pitchFamily="2" charset="-122"/>
              </a:endParaRPr>
            </a:p>
          </p:txBody>
        </p:sp>
        <p:sp>
          <p:nvSpPr>
            <p:cNvPr id="48166" name="文本框 38950"/>
            <p:cNvSpPr txBox="1"/>
            <p:nvPr/>
          </p:nvSpPr>
          <p:spPr>
            <a:xfrm>
              <a:off x="786" y="526"/>
              <a:ext cx="462" cy="192"/>
            </a:xfrm>
            <a:prstGeom prst="rect">
              <a:avLst/>
            </a:prstGeom>
            <a:noFill/>
            <a:ln w="9525">
              <a:noFill/>
              <a:miter/>
            </a:ln>
          </p:spPr>
          <p:txBody>
            <a:bodyPr anchor="t">
              <a:spAutoFit/>
            </a:bodyPr>
            <a:p>
              <a:pPr lvl="0"/>
              <a:r>
                <a:rPr lang="zh-CN" altLang="en-US" sz="1400">
                  <a:solidFill>
                    <a:schemeClr val="tx1"/>
                  </a:solidFill>
                  <a:latin typeface="Times New Roman" panose="02020603050405020304" charset="0"/>
                  <a:ea typeface="宋体" pitchFamily="2" charset="-122"/>
                </a:rPr>
                <a:t>中断</a:t>
              </a:r>
              <a:endParaRPr lang="zh-CN" altLang="en-US" sz="1400">
                <a:solidFill>
                  <a:schemeClr val="tx1"/>
                </a:solidFill>
                <a:latin typeface="Times New Roman" panose="02020603050405020304" charset="0"/>
                <a:ea typeface="宋体" pitchFamily="2" charset="-122"/>
              </a:endParaRPr>
            </a:p>
          </p:txBody>
        </p:sp>
        <p:sp>
          <p:nvSpPr>
            <p:cNvPr id="48167" name="文本框 38951"/>
            <p:cNvSpPr txBox="1"/>
            <p:nvPr/>
          </p:nvSpPr>
          <p:spPr>
            <a:xfrm>
              <a:off x="3354" y="526"/>
              <a:ext cx="508" cy="192"/>
            </a:xfrm>
            <a:prstGeom prst="rect">
              <a:avLst/>
            </a:prstGeom>
            <a:noFill/>
            <a:ln w="9525">
              <a:noFill/>
              <a:miter/>
            </a:ln>
          </p:spPr>
          <p:txBody>
            <a:bodyPr anchor="t">
              <a:spAutoFit/>
            </a:bodyPr>
            <a:p>
              <a:pPr lvl="0"/>
              <a:r>
                <a:rPr lang="zh-CN" altLang="en-US" sz="1400">
                  <a:solidFill>
                    <a:schemeClr val="tx1"/>
                  </a:solidFill>
                  <a:latin typeface="Times New Roman" panose="02020603050405020304" charset="0"/>
                  <a:ea typeface="宋体" pitchFamily="2" charset="-122"/>
                </a:rPr>
                <a:t>俘获</a:t>
              </a:r>
              <a:endParaRPr lang="zh-CN" altLang="en-US" sz="1400">
                <a:solidFill>
                  <a:schemeClr val="tx1"/>
                </a:solidFill>
                <a:latin typeface="Times New Roman" panose="02020603050405020304" charset="0"/>
                <a:ea typeface="宋体" pitchFamily="2" charset="-122"/>
              </a:endParaRPr>
            </a:p>
          </p:txBody>
        </p:sp>
      </p:grpSp>
      <p:sp>
        <p:nvSpPr>
          <p:cNvPr id="38953" name="文本框 38952"/>
          <p:cNvSpPr txBox="1"/>
          <p:nvPr/>
        </p:nvSpPr>
        <p:spPr>
          <a:xfrm>
            <a:off x="3313113" y="6100763"/>
            <a:ext cx="1947862"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中断与俘获示意图</a:t>
            </a:r>
            <a:endParaRPr lang="zh-CN" altLang="en-US" sz="1600" b="0">
              <a:solidFill>
                <a:schemeClr val="tx1"/>
              </a:solidFill>
              <a:latin typeface="Times New Roman" panose="02020603050405020304" charset="0"/>
              <a:ea typeface="宋体" pitchFamily="2" charset="-122"/>
            </a:endParaRPr>
          </a:p>
        </p:txBody>
      </p:sp>
      <p:sp>
        <p:nvSpPr>
          <p:cNvPr id="38954" name="矩形 38953"/>
          <p:cNvSpPr/>
          <p:nvPr/>
        </p:nvSpPr>
        <p:spPr>
          <a:xfrm>
            <a:off x="663575" y="500063"/>
            <a:ext cx="5418138"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(3) </a:t>
            </a:r>
            <a:r>
              <a:rPr lang="zh-CN" altLang="en-US" sz="2800" b="1" strike="noStrike" noProof="1">
                <a:solidFill>
                  <a:srgbClr val="A50021"/>
                </a:solidFill>
                <a:latin typeface="Times New Roman" panose="02020603050405020304" charset="0"/>
                <a:ea typeface="宋体" pitchFamily="2" charset="-122"/>
                <a:cs typeface="+mn-ea"/>
              </a:rPr>
              <a:t>按中断来源分类</a:t>
            </a:r>
            <a:endParaRPr lang="zh-CN" altLang="en-US" sz="2800" b="1" strike="noStrike" noProof="1">
              <a:solidFill>
                <a:srgbClr val="A50021"/>
              </a:solidFill>
              <a:latin typeface="Times New Roman" panose="02020603050405020304" charset="0"/>
              <a:ea typeface="宋体" pitchFamily="2" charset="-122"/>
            </a:endParaRPr>
          </a:p>
        </p:txBody>
      </p:sp>
      <p:sp>
        <p:nvSpPr>
          <p:cNvPr id="38955" name="矩形 3895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8953" grpId="0"/>
      <p:bldP spid="3895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文本框 39937"/>
          <p:cNvSpPr txBox="1"/>
          <p:nvPr/>
        </p:nvSpPr>
        <p:spPr>
          <a:xfrm>
            <a:off x="8501063" y="6510338"/>
            <a:ext cx="376237"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35</a:t>
            </a:r>
            <a:endParaRPr lang="en-US" altLang="zh-CN" sz="1400" b="0">
              <a:solidFill>
                <a:schemeClr val="tx2"/>
              </a:solidFill>
              <a:latin typeface="Times New Roman" panose="02020603050405020304" charset="0"/>
              <a:ea typeface="宋体" pitchFamily="2" charset="-122"/>
            </a:endParaRPr>
          </a:p>
        </p:txBody>
      </p:sp>
      <p:grpSp>
        <p:nvGrpSpPr>
          <p:cNvPr id="39939" name="组合 39938"/>
          <p:cNvGrpSpPr/>
          <p:nvPr/>
        </p:nvGrpSpPr>
        <p:grpSpPr>
          <a:xfrm>
            <a:off x="5226050" y="1500188"/>
            <a:ext cx="3679825" cy="3892550"/>
            <a:chOff x="0" y="0"/>
            <a:chExt cx="2319" cy="2452"/>
          </a:xfrm>
        </p:grpSpPr>
        <p:sp>
          <p:nvSpPr>
            <p:cNvPr id="49155" name="直接连接符 39939"/>
            <p:cNvSpPr/>
            <p:nvPr/>
          </p:nvSpPr>
          <p:spPr>
            <a:xfrm>
              <a:off x="947" y="936"/>
              <a:ext cx="850" cy="1"/>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9156" name="直接连接符 39940"/>
            <p:cNvSpPr/>
            <p:nvPr/>
          </p:nvSpPr>
          <p:spPr>
            <a:xfrm flipH="1" flipV="1">
              <a:off x="962" y="936"/>
              <a:ext cx="840" cy="915"/>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grpSp>
          <p:nvGrpSpPr>
            <p:cNvPr id="49157" name="组合 39941"/>
            <p:cNvGrpSpPr/>
            <p:nvPr/>
          </p:nvGrpSpPr>
          <p:grpSpPr>
            <a:xfrm>
              <a:off x="650" y="948"/>
              <a:ext cx="685" cy="1504"/>
              <a:chOff x="0" y="0"/>
              <a:chExt cx="576" cy="1224"/>
            </a:xfrm>
          </p:grpSpPr>
          <p:sp>
            <p:nvSpPr>
              <p:cNvPr id="49158" name="直接连接符 39942"/>
              <p:cNvSpPr/>
              <p:nvPr/>
            </p:nvSpPr>
            <p:spPr>
              <a:xfrm>
                <a:off x="276" y="0"/>
                <a:ext cx="0" cy="1008"/>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9159" name="文本框 39943"/>
              <p:cNvSpPr txBox="1"/>
              <p:nvPr/>
            </p:nvSpPr>
            <p:spPr>
              <a:xfrm>
                <a:off x="0" y="1052"/>
                <a:ext cx="576" cy="17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继续执行</a:t>
                </a:r>
                <a:endParaRPr lang="zh-CN" altLang="en-US" sz="1600">
                  <a:solidFill>
                    <a:schemeClr val="tx1"/>
                  </a:solidFill>
                  <a:latin typeface="Times New Roman" panose="02020603050405020304" charset="0"/>
                  <a:ea typeface="宋体" pitchFamily="2" charset="-122"/>
                </a:endParaRPr>
              </a:p>
            </p:txBody>
          </p:sp>
        </p:grpSp>
        <p:sp>
          <p:nvSpPr>
            <p:cNvPr id="49160" name="文本框 39944"/>
            <p:cNvSpPr txBox="1"/>
            <p:nvPr/>
          </p:nvSpPr>
          <p:spPr>
            <a:xfrm>
              <a:off x="1130" y="649"/>
              <a:ext cx="685" cy="212"/>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中断进入</a:t>
              </a:r>
              <a:endParaRPr lang="zh-CN" altLang="en-US" sz="1600">
                <a:solidFill>
                  <a:schemeClr val="tx1"/>
                </a:solidFill>
                <a:latin typeface="Times New Roman" panose="02020603050405020304" charset="0"/>
                <a:ea typeface="宋体" pitchFamily="2" charset="-122"/>
              </a:endParaRPr>
            </a:p>
          </p:txBody>
        </p:sp>
        <p:sp>
          <p:nvSpPr>
            <p:cNvPr id="49161" name="文本框 39945"/>
            <p:cNvSpPr txBox="1"/>
            <p:nvPr/>
          </p:nvSpPr>
          <p:spPr>
            <a:xfrm>
              <a:off x="1199" y="1454"/>
              <a:ext cx="571"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返回</a:t>
              </a:r>
              <a:endParaRPr lang="zh-CN" altLang="en-US" sz="1600">
                <a:solidFill>
                  <a:schemeClr val="tx1"/>
                </a:solidFill>
                <a:latin typeface="Times New Roman" panose="02020603050405020304" charset="0"/>
                <a:ea typeface="宋体" pitchFamily="2" charset="-122"/>
              </a:endParaRPr>
            </a:p>
          </p:txBody>
        </p:sp>
        <p:grpSp>
          <p:nvGrpSpPr>
            <p:cNvPr id="49162" name="组合 39946"/>
            <p:cNvGrpSpPr/>
            <p:nvPr/>
          </p:nvGrpSpPr>
          <p:grpSpPr>
            <a:xfrm>
              <a:off x="0" y="936"/>
              <a:ext cx="975" cy="1159"/>
              <a:chOff x="0" y="0"/>
              <a:chExt cx="820" cy="943"/>
            </a:xfrm>
          </p:grpSpPr>
          <p:grpSp>
            <p:nvGrpSpPr>
              <p:cNvPr id="49163" name="组合 39947"/>
              <p:cNvGrpSpPr/>
              <p:nvPr/>
            </p:nvGrpSpPr>
            <p:grpSpPr>
              <a:xfrm>
                <a:off x="100" y="0"/>
                <a:ext cx="720" cy="720"/>
                <a:chOff x="0" y="0"/>
                <a:chExt cx="720" cy="720"/>
              </a:xfrm>
            </p:grpSpPr>
            <p:sp>
              <p:nvSpPr>
                <p:cNvPr id="49164" name="直接连接符 39948"/>
                <p:cNvSpPr/>
                <p:nvPr/>
              </p:nvSpPr>
              <p:spPr>
                <a:xfrm flipV="1">
                  <a:off x="0" y="288"/>
                  <a:ext cx="576" cy="4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49165" name="直接连接符 39949"/>
                <p:cNvSpPr/>
                <p:nvPr/>
              </p:nvSpPr>
              <p:spPr>
                <a:xfrm flipV="1">
                  <a:off x="192" y="0"/>
                  <a:ext cx="528" cy="384"/>
                </a:xfrm>
                <a:prstGeom prst="line">
                  <a:avLst/>
                </a:prstGeom>
                <a:ln w="28575" cap="flat" cmpd="sng">
                  <a:solidFill>
                    <a:srgbClr val="0033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9166" name="直接连接符 39950"/>
                <p:cNvSpPr/>
                <p:nvPr/>
              </p:nvSpPr>
              <p:spPr>
                <a:xfrm flipV="1">
                  <a:off x="192" y="288"/>
                  <a:ext cx="384" cy="96"/>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49167" name="文本框 39951"/>
              <p:cNvSpPr txBox="1"/>
              <p:nvPr/>
            </p:nvSpPr>
            <p:spPr>
              <a:xfrm>
                <a:off x="0" y="771"/>
                <a:ext cx="576" cy="17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中断信号</a:t>
                </a:r>
                <a:endParaRPr lang="zh-CN" altLang="en-US" sz="1600">
                  <a:solidFill>
                    <a:schemeClr val="tx1"/>
                  </a:solidFill>
                  <a:latin typeface="Times New Roman" panose="02020603050405020304" charset="0"/>
                  <a:ea typeface="宋体" pitchFamily="2" charset="-122"/>
                </a:endParaRPr>
              </a:p>
            </p:txBody>
          </p:sp>
        </p:grpSp>
        <p:grpSp>
          <p:nvGrpSpPr>
            <p:cNvPr id="49168" name="组合 39952"/>
            <p:cNvGrpSpPr/>
            <p:nvPr/>
          </p:nvGrpSpPr>
          <p:grpSpPr>
            <a:xfrm>
              <a:off x="265" y="0"/>
              <a:ext cx="707" cy="943"/>
              <a:chOff x="0" y="0"/>
              <a:chExt cx="595" cy="768"/>
            </a:xfrm>
          </p:grpSpPr>
          <p:sp>
            <p:nvSpPr>
              <p:cNvPr id="49169" name="直接连接符 39953"/>
              <p:cNvSpPr/>
              <p:nvPr/>
            </p:nvSpPr>
            <p:spPr>
              <a:xfrm>
                <a:off x="595" y="0"/>
                <a:ext cx="0" cy="768"/>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9170" name="文本框 39954"/>
              <p:cNvSpPr txBox="1"/>
              <p:nvPr/>
            </p:nvSpPr>
            <p:spPr>
              <a:xfrm>
                <a:off x="0" y="191"/>
                <a:ext cx="576" cy="324"/>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正在执行</a:t>
                </a:r>
                <a:endParaRPr lang="zh-CN" altLang="en-US" sz="1600">
                  <a:solidFill>
                    <a:schemeClr val="tx1"/>
                  </a:solidFill>
                  <a:latin typeface="Times New Roman" panose="02020603050405020304" charset="0"/>
                  <a:ea typeface="宋体" pitchFamily="2" charset="-122"/>
                </a:endParaRPr>
              </a:p>
              <a:p>
                <a:pPr lvl="0">
                  <a:spcBef>
                    <a:spcPct val="20000"/>
                  </a:spcBef>
                </a:pPr>
                <a:r>
                  <a:rPr lang="zh-CN" altLang="en-US" sz="1600">
                    <a:solidFill>
                      <a:schemeClr val="tx1"/>
                    </a:solidFill>
                    <a:latin typeface="Times New Roman" panose="02020603050405020304" charset="0"/>
                    <a:ea typeface="宋体" pitchFamily="2" charset="-122"/>
                  </a:rPr>
                  <a:t>的程序</a:t>
                </a:r>
                <a:endParaRPr lang="zh-CN" altLang="en-US" sz="1600">
                  <a:solidFill>
                    <a:schemeClr val="tx1"/>
                  </a:solidFill>
                  <a:latin typeface="Times New Roman" panose="02020603050405020304" charset="0"/>
                  <a:ea typeface="宋体" pitchFamily="2" charset="-122"/>
                </a:endParaRPr>
              </a:p>
            </p:txBody>
          </p:sp>
        </p:grpSp>
        <p:sp>
          <p:nvSpPr>
            <p:cNvPr id="49171" name="直接连接符 39955"/>
            <p:cNvSpPr/>
            <p:nvPr/>
          </p:nvSpPr>
          <p:spPr>
            <a:xfrm>
              <a:off x="1793" y="936"/>
              <a:ext cx="0" cy="943"/>
            </a:xfrm>
            <a:prstGeom prst="line">
              <a:avLst/>
            </a:prstGeom>
            <a:ln w="38100" cap="flat" cmpd="sng">
              <a:solidFill>
                <a:srgbClr val="CC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9172" name="文本框 39956"/>
            <p:cNvSpPr txBox="1"/>
            <p:nvPr/>
          </p:nvSpPr>
          <p:spPr>
            <a:xfrm>
              <a:off x="1776" y="1056"/>
              <a:ext cx="543"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中断处</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理程序</a:t>
              </a:r>
              <a:endParaRPr lang="zh-CN" altLang="en-US" sz="1600">
                <a:solidFill>
                  <a:schemeClr val="tx1"/>
                </a:solidFill>
                <a:latin typeface="Times New Roman" panose="02020603050405020304" charset="0"/>
                <a:ea typeface="宋体" pitchFamily="2" charset="-122"/>
              </a:endParaRPr>
            </a:p>
          </p:txBody>
        </p:sp>
      </p:grpSp>
      <p:sp>
        <p:nvSpPr>
          <p:cNvPr id="39958" name="文本框 39957"/>
          <p:cNvSpPr txBox="1"/>
          <p:nvPr/>
        </p:nvSpPr>
        <p:spPr>
          <a:xfrm>
            <a:off x="6159500" y="5700713"/>
            <a:ext cx="171767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中断概念示意图</a:t>
            </a:r>
            <a:endParaRPr lang="zh-CN" altLang="en-US" sz="1600" b="0">
              <a:solidFill>
                <a:schemeClr val="tx1"/>
              </a:solidFill>
              <a:latin typeface="Times New Roman" panose="02020603050405020304" charset="0"/>
              <a:ea typeface="宋体" pitchFamily="2" charset="-122"/>
            </a:endParaRPr>
          </a:p>
        </p:txBody>
      </p:sp>
      <p:sp>
        <p:nvSpPr>
          <p:cNvPr id="39959" name="矩形 39958"/>
          <p:cNvSpPr/>
          <p:nvPr/>
        </p:nvSpPr>
        <p:spPr>
          <a:xfrm>
            <a:off x="244475" y="612775"/>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3. </a:t>
            </a:r>
            <a:r>
              <a:rPr lang="zh-CN" altLang="en-US" b="1" strike="noStrike" noProof="1">
                <a:solidFill>
                  <a:srgbClr val="990000"/>
                </a:solidFill>
                <a:latin typeface="Arial" panose="020B0604020202020204" pitchFamily="34" charset="0"/>
                <a:ea typeface="宋体" pitchFamily="2" charset="-122"/>
                <a:cs typeface="+mn-ea"/>
              </a:rPr>
              <a:t>中断过程</a:t>
            </a:r>
            <a:endParaRPr lang="en-US" altLang="zh-CN" b="1" strike="noStrike" noProof="1">
              <a:solidFill>
                <a:srgbClr val="990000"/>
              </a:solidFill>
              <a:ea typeface="宋体" pitchFamily="2" charset="-122"/>
            </a:endParaRPr>
          </a:p>
        </p:txBody>
      </p:sp>
      <p:sp>
        <p:nvSpPr>
          <p:cNvPr id="39960" name="矩形 3995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
        <p:nvSpPr>
          <p:cNvPr id="39961" name="矩形 39960"/>
          <p:cNvSpPr/>
          <p:nvPr/>
        </p:nvSpPr>
        <p:spPr>
          <a:xfrm>
            <a:off x="147638" y="1466850"/>
            <a:ext cx="5006975" cy="4114800"/>
          </a:xfrm>
          <a:prstGeom prst="rect">
            <a:avLst/>
          </a:prstGeom>
          <a:noFill/>
          <a:ln w="9525">
            <a:noFill/>
            <a:miter/>
          </a:ln>
        </p:spPr>
        <p:txBody>
          <a:bodyPr anchor="t"/>
          <a:p>
            <a:pPr marL="342900" lvl="0" indent="-342900">
              <a:spcBef>
                <a:spcPct val="20000"/>
              </a:spcBef>
              <a:buClr>
                <a:schemeClr val="tx2"/>
              </a:buClr>
              <a:buSzPct val="90000"/>
              <a:buFont typeface="Symbol" panose="05050102010706020507" pitchFamily="18" charset="2"/>
              <a:buChar char="¨"/>
            </a:pPr>
            <a:r>
              <a:rPr lang="zh-CN" altLang="en-US" sz="2800" dirty="0">
                <a:solidFill>
                  <a:schemeClr val="tx1"/>
                </a:solidFill>
                <a:latin typeface="仿宋_GB2312" panose="02010609030101010101" pitchFamily="49" charset="-122"/>
                <a:ea typeface="仿宋_GB2312" panose="02010609030101010101" pitchFamily="49" charset="-122"/>
              </a:rPr>
              <a:t>所有计算机系统都采用硬件和软件结合的方法实现中断处理。</a:t>
            </a:r>
            <a:endParaRPr lang="zh-CN" altLang="en-US"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zh-CN" altLang="en-US" sz="2800" dirty="0">
                <a:solidFill>
                  <a:schemeClr val="tx1"/>
                </a:solidFill>
                <a:latin typeface="仿宋_GB2312" panose="02010609030101010101" pitchFamily="49" charset="-122"/>
                <a:ea typeface="仿宋_GB2312" panose="02010609030101010101" pitchFamily="49" charset="-122"/>
              </a:rPr>
              <a:t>硬件自动完成中断进入；</a:t>
            </a:r>
            <a:endParaRPr lang="zh-CN" altLang="en-US"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zh-CN" altLang="en-US" sz="2800" dirty="0">
                <a:solidFill>
                  <a:schemeClr val="tx1"/>
                </a:solidFill>
                <a:latin typeface="仿宋_GB2312" panose="02010609030101010101" pitchFamily="49" charset="-122"/>
                <a:ea typeface="仿宋_GB2312" panose="02010609030101010101" pitchFamily="49" charset="-122"/>
              </a:rPr>
              <a:t>软件完成中断处理；</a:t>
            </a:r>
            <a:endParaRPr lang="zh-CN" altLang="en-US" sz="2800" dirty="0">
              <a:solidFill>
                <a:schemeClr val="tx1"/>
              </a:solidFill>
              <a:latin typeface="仿宋_GB2312" panose="02010609030101010101" pitchFamily="49" charset="-122"/>
              <a:ea typeface="仿宋_GB2312" panose="02010609030101010101" pitchFamily="49" charset="-122"/>
            </a:endParaRPr>
          </a:p>
          <a:p>
            <a:pPr marL="800100" lvl="1" indent="-342900">
              <a:spcBef>
                <a:spcPct val="20000"/>
              </a:spcBef>
              <a:buClr>
                <a:schemeClr val="tx2"/>
              </a:buClr>
              <a:buSzPct val="90000"/>
              <a:buFont typeface="Symbol" panose="05050102010706020507" pitchFamily="18" charset="2"/>
              <a:buChar char="¨"/>
            </a:pPr>
            <a:r>
              <a:rPr lang="zh-CN" altLang="en-US" sz="2800" dirty="0">
                <a:solidFill>
                  <a:schemeClr val="tx1"/>
                </a:solidFill>
                <a:latin typeface="仿宋_GB2312" panose="02010609030101010101" pitchFamily="49" charset="-122"/>
                <a:ea typeface="仿宋_GB2312" panose="02010609030101010101" pitchFamily="49" charset="-122"/>
              </a:rPr>
              <a:t>软件执行中断返回</a:t>
            </a:r>
            <a:r>
              <a:rPr lang="zh-CN" altLang="en-US" dirty="0">
                <a:solidFill>
                  <a:schemeClr val="tx1"/>
                </a:solidFill>
                <a:latin typeface="仿宋_GB2312" panose="02010609030101010101" pitchFamily="49" charset="-122"/>
                <a:ea typeface="仿宋_GB2312" panose="02010609030101010101" pitchFamily="49" charset="-122"/>
              </a:rPr>
              <a:t>；</a:t>
            </a:r>
            <a:endParaRPr lang="zh-CN" altLang="en-US" dirty="0">
              <a:solidFill>
                <a:schemeClr val="tx1"/>
              </a:solidFill>
              <a:latin typeface="仿宋_GB2312" panose="02010609030101010101" pitchFamily="49" charset="-122"/>
              <a:ea typeface="仿宋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58" grpId="0"/>
      <p:bldP spid="39959" grpId="0" build="p"/>
      <p:bldP spid="39961" grpId="0" bldLvl="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39937"/>
          <p:cNvSpPr txBox="1"/>
          <p:nvPr/>
        </p:nvSpPr>
        <p:spPr>
          <a:xfrm>
            <a:off x="8501063" y="6510338"/>
            <a:ext cx="376237"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35</a:t>
            </a:r>
            <a:endParaRPr lang="en-US" altLang="zh-CN" sz="1400" b="0">
              <a:solidFill>
                <a:schemeClr val="tx2"/>
              </a:solidFill>
              <a:latin typeface="Times New Roman" panose="02020603050405020304" charset="0"/>
              <a:ea typeface="宋体" pitchFamily="2" charset="-122"/>
            </a:endParaRPr>
          </a:p>
        </p:txBody>
      </p:sp>
      <p:sp>
        <p:nvSpPr>
          <p:cNvPr id="39959" name="矩形 39958"/>
          <p:cNvSpPr/>
          <p:nvPr/>
        </p:nvSpPr>
        <p:spPr>
          <a:xfrm>
            <a:off x="244475" y="612775"/>
            <a:ext cx="5111750" cy="6762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3. </a:t>
            </a:r>
            <a:r>
              <a:rPr lang="zh-CN" altLang="en-US" b="1" strike="noStrike" noProof="1">
                <a:solidFill>
                  <a:srgbClr val="990000"/>
                </a:solidFill>
                <a:latin typeface="Arial" panose="020B0604020202020204" pitchFamily="34" charset="0"/>
                <a:ea typeface="宋体" pitchFamily="2" charset="-122"/>
                <a:cs typeface="+mn-ea"/>
              </a:rPr>
              <a:t>中断</a:t>
            </a:r>
            <a:r>
              <a:rPr lang="zh-CN" altLang="en-US" b="1" strike="noStrike" noProof="1">
                <a:solidFill>
                  <a:srgbClr val="990000"/>
                </a:solidFill>
                <a:latin typeface="Arial" panose="020B0604020202020204" pitchFamily="34" charset="0"/>
                <a:ea typeface="宋体" pitchFamily="2" charset="-122"/>
                <a:cs typeface="+mn-ea"/>
                <a:sym typeface="+mn-ea"/>
              </a:rPr>
              <a:t>进入</a:t>
            </a:r>
            <a:r>
              <a:rPr lang="zh-CN" altLang="en-US" b="1" strike="noStrike" noProof="1">
                <a:solidFill>
                  <a:srgbClr val="990000"/>
                </a:solidFill>
                <a:latin typeface="Arial" panose="020B0604020202020204" pitchFamily="34" charset="0"/>
                <a:ea typeface="宋体" pitchFamily="2" charset="-122"/>
                <a:cs typeface="+mn-ea"/>
              </a:rPr>
              <a:t> </a:t>
            </a:r>
            <a:r>
              <a:rPr lang="en-US" altLang="zh-CN" b="1" strike="noStrike" noProof="1">
                <a:solidFill>
                  <a:srgbClr val="990000"/>
                </a:solidFill>
                <a:latin typeface="Arial" panose="020B0604020202020204" pitchFamily="34" charset="0"/>
                <a:ea typeface="宋体" pitchFamily="2" charset="-122"/>
                <a:cs typeface="+mn-ea"/>
              </a:rPr>
              <a:t>(</a:t>
            </a:r>
            <a:r>
              <a:rPr lang="zh-CN" altLang="en-US" b="1" strike="noStrike" noProof="1">
                <a:solidFill>
                  <a:srgbClr val="990000"/>
                </a:solidFill>
                <a:latin typeface="Arial" panose="020B0604020202020204" pitchFamily="34" charset="0"/>
                <a:ea typeface="宋体" pitchFamily="2" charset="-122"/>
                <a:cs typeface="+mn-ea"/>
              </a:rPr>
              <a:t>中断</a:t>
            </a:r>
            <a:r>
              <a:rPr lang="zh-CN" altLang="en-US" b="1" strike="noStrike" noProof="1">
                <a:solidFill>
                  <a:srgbClr val="990000"/>
                </a:solidFill>
                <a:latin typeface="Arial" panose="020B0604020202020204" pitchFamily="34" charset="0"/>
                <a:ea typeface="宋体" pitchFamily="2" charset="-122"/>
                <a:cs typeface="+mn-ea"/>
                <a:sym typeface="+mn-ea"/>
              </a:rPr>
              <a:t>响应</a:t>
            </a:r>
            <a:r>
              <a:rPr lang="en-US" altLang="zh-CN" b="1" strike="noStrike" noProof="1">
                <a:solidFill>
                  <a:srgbClr val="990000"/>
                </a:solidFill>
                <a:latin typeface="Arial" panose="020B0604020202020204" pitchFamily="34" charset="0"/>
                <a:ea typeface="宋体" pitchFamily="2" charset="-122"/>
                <a:cs typeface="+mn-ea"/>
              </a:rPr>
              <a:t>)</a:t>
            </a:r>
            <a:endParaRPr lang="en-US" altLang="zh-CN" b="1" strike="noStrike" noProof="1">
              <a:solidFill>
                <a:srgbClr val="990000"/>
              </a:solidFill>
              <a:ea typeface="宋体" pitchFamily="2" charset="-122"/>
            </a:endParaRPr>
          </a:p>
        </p:txBody>
      </p:sp>
      <p:sp>
        <p:nvSpPr>
          <p:cNvPr id="39960" name="矩形 3995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
        <p:nvSpPr>
          <p:cNvPr id="39961" name="矩形 39960"/>
          <p:cNvSpPr/>
          <p:nvPr/>
        </p:nvSpPr>
        <p:spPr>
          <a:xfrm>
            <a:off x="147638" y="1466850"/>
            <a:ext cx="8337550" cy="1476375"/>
          </a:xfrm>
          <a:prstGeom prst="rect">
            <a:avLst/>
          </a:prstGeom>
          <a:noFill/>
          <a:ln w="9525">
            <a:noFill/>
            <a:miter/>
          </a:ln>
        </p:spPr>
        <p:txBody>
          <a:bodyPr anchor="t"/>
          <a:p>
            <a:pPr marL="342900" lvl="0" indent="-342900">
              <a:spcBef>
                <a:spcPct val="20000"/>
              </a:spcBef>
              <a:buClr>
                <a:schemeClr val="tx2"/>
              </a:buClr>
              <a:buSzPct val="90000"/>
              <a:buFont typeface="Symbol" panose="05050102010706020507" pitchFamily="18" charset="2"/>
              <a:buChar char="¨"/>
            </a:pPr>
            <a:r>
              <a:rPr lang="zh-CN" altLang="en-US" sz="2400" dirty="0">
                <a:solidFill>
                  <a:schemeClr val="tx1"/>
                </a:solidFill>
                <a:latin typeface="仿宋_GB2312" panose="02010609030101010101" pitchFamily="49" charset="-122"/>
                <a:ea typeface="仿宋_GB2312" panose="02010609030101010101" pitchFamily="49" charset="-122"/>
                <a:sym typeface="Arial" panose="020B0604020202020204" pitchFamily="34" charset="0"/>
              </a:rPr>
              <a:t>中断响应是当中央处理机发现已有中断请求时，中止现行程序执行，并自动进入中断处理程序的过程。</a:t>
            </a:r>
            <a:endParaRPr lang="zh-CN" altLang="en-US" sz="2400" dirty="0">
              <a:solidFill>
                <a:schemeClr val="tx1"/>
              </a:solidFill>
              <a:latin typeface="仿宋_GB2312" panose="02010609030101010101" pitchFamily="49" charset="-122"/>
              <a:ea typeface="仿宋_GB2312" panose="02010609030101010101" pitchFamily="49" charset="-122"/>
              <a:sym typeface="Arial" panose="020B0604020202020204" pitchFamily="34" charset="0"/>
            </a:endParaRPr>
          </a:p>
        </p:txBody>
      </p:sp>
      <p:grpSp>
        <p:nvGrpSpPr>
          <p:cNvPr id="44036" name="组合 44035"/>
          <p:cNvGrpSpPr/>
          <p:nvPr/>
        </p:nvGrpSpPr>
        <p:grpSpPr>
          <a:xfrm>
            <a:off x="5108575" y="3248025"/>
            <a:ext cx="2670175" cy="2352675"/>
            <a:chOff x="0" y="0"/>
            <a:chExt cx="1500" cy="1393"/>
          </a:xfrm>
        </p:grpSpPr>
        <p:sp>
          <p:nvSpPr>
            <p:cNvPr id="50182" name="文本框 44036"/>
            <p:cNvSpPr txBox="1"/>
            <p:nvPr/>
          </p:nvSpPr>
          <p:spPr>
            <a:xfrm>
              <a:off x="0" y="0"/>
              <a:ext cx="1500" cy="205"/>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1600">
                  <a:solidFill>
                    <a:schemeClr val="tx1"/>
                  </a:solidFill>
                  <a:latin typeface="Times New Roman" panose="02020603050405020304" charset="0"/>
                  <a:ea typeface="宋体" pitchFamily="2" charset="-122"/>
                </a:rPr>
                <a:t>指令计数器</a:t>
              </a:r>
              <a:endParaRPr lang="zh-CN" altLang="en-US" sz="1600">
                <a:solidFill>
                  <a:schemeClr val="tx1"/>
                </a:solidFill>
                <a:latin typeface="Times New Roman" panose="02020603050405020304" charset="0"/>
                <a:ea typeface="宋体" pitchFamily="2" charset="-122"/>
              </a:endParaRPr>
            </a:p>
          </p:txBody>
        </p:sp>
        <p:sp>
          <p:nvSpPr>
            <p:cNvPr id="50183" name="文本框 44037"/>
            <p:cNvSpPr txBox="1"/>
            <p:nvPr/>
          </p:nvSpPr>
          <p:spPr>
            <a:xfrm>
              <a:off x="154" y="752"/>
              <a:ext cx="461" cy="640"/>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1600">
                  <a:solidFill>
                    <a:schemeClr val="tx1"/>
                  </a:solidFill>
                  <a:latin typeface="Times New Roman" panose="02020603050405020304" charset="0"/>
                  <a:ea typeface="宋体" pitchFamily="2" charset="-122"/>
                </a:rPr>
                <a:t>系统</a:t>
              </a:r>
              <a:endParaRPr lang="zh-CN" altLang="en-US" sz="1600">
                <a:solidFill>
                  <a:schemeClr val="tx1"/>
                </a:solidFill>
                <a:latin typeface="Times New Roman" panose="02020603050405020304" charset="0"/>
                <a:ea typeface="宋体" pitchFamily="2" charset="-122"/>
              </a:endParaRPr>
            </a:p>
            <a:p>
              <a:pPr lvl="0" algn="ctr">
                <a:spcBef>
                  <a:spcPct val="50000"/>
                </a:spcBef>
              </a:pPr>
              <a:r>
                <a:rPr lang="zh-CN" altLang="en-US" sz="1600">
                  <a:solidFill>
                    <a:schemeClr val="tx1"/>
                  </a:solidFill>
                  <a:latin typeface="Times New Roman" panose="02020603050405020304" charset="0"/>
                  <a:ea typeface="宋体" pitchFamily="2" charset="-122"/>
                </a:rPr>
                <a:t>堆栈</a:t>
              </a:r>
              <a:endParaRPr lang="zh-CN" altLang="en-US" sz="1600">
                <a:solidFill>
                  <a:schemeClr val="tx1"/>
                </a:solidFill>
                <a:latin typeface="Times New Roman" panose="02020603050405020304" charset="0"/>
                <a:ea typeface="宋体" pitchFamily="2" charset="-122"/>
              </a:endParaRPr>
            </a:p>
            <a:p>
              <a:pPr lvl="0" algn="ctr">
                <a:spcBef>
                  <a:spcPct val="50000"/>
                </a:spcBef>
              </a:pPr>
              <a:endParaRPr lang="zh-CN" altLang="en-US" sz="1600">
                <a:solidFill>
                  <a:schemeClr val="tx1"/>
                </a:solidFill>
                <a:latin typeface="Times New Roman" panose="02020603050405020304" charset="0"/>
                <a:ea typeface="宋体" pitchFamily="2" charset="-122"/>
              </a:endParaRPr>
            </a:p>
          </p:txBody>
        </p:sp>
        <p:sp>
          <p:nvSpPr>
            <p:cNvPr id="50184" name="文本框 44038"/>
            <p:cNvSpPr txBox="1"/>
            <p:nvPr/>
          </p:nvSpPr>
          <p:spPr>
            <a:xfrm>
              <a:off x="800" y="753"/>
              <a:ext cx="576" cy="640"/>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1600">
                  <a:solidFill>
                    <a:schemeClr val="tx1"/>
                  </a:solidFill>
                  <a:latin typeface="Times New Roman" panose="02020603050405020304" charset="0"/>
                  <a:ea typeface="宋体" pitchFamily="2" charset="-122"/>
                </a:rPr>
                <a:t>中断</a:t>
              </a:r>
              <a:endParaRPr lang="zh-CN" altLang="en-US" sz="1600">
                <a:solidFill>
                  <a:schemeClr val="tx1"/>
                </a:solidFill>
                <a:latin typeface="Times New Roman" panose="02020603050405020304" charset="0"/>
                <a:ea typeface="宋体" pitchFamily="2" charset="-122"/>
              </a:endParaRPr>
            </a:p>
            <a:p>
              <a:pPr lvl="0" algn="ctr">
                <a:spcBef>
                  <a:spcPct val="50000"/>
                </a:spcBef>
              </a:pPr>
              <a:r>
                <a:rPr lang="zh-CN" altLang="en-US" sz="1600">
                  <a:solidFill>
                    <a:schemeClr val="tx1"/>
                  </a:solidFill>
                  <a:latin typeface="Times New Roman" panose="02020603050405020304" charset="0"/>
                  <a:ea typeface="宋体" pitchFamily="2" charset="-122"/>
                </a:rPr>
                <a:t>向量表</a:t>
              </a:r>
              <a:endParaRPr lang="zh-CN" altLang="en-US" sz="1600">
                <a:solidFill>
                  <a:schemeClr val="tx1"/>
                </a:solidFill>
                <a:latin typeface="Times New Roman" panose="02020603050405020304" charset="0"/>
                <a:ea typeface="宋体" pitchFamily="2" charset="-122"/>
              </a:endParaRPr>
            </a:p>
            <a:p>
              <a:pPr lvl="0" algn="ctr">
                <a:spcBef>
                  <a:spcPct val="50000"/>
                </a:spcBef>
              </a:pPr>
              <a:endParaRPr lang="zh-CN" altLang="en-US" sz="1600">
                <a:solidFill>
                  <a:schemeClr val="tx1"/>
                </a:solidFill>
                <a:latin typeface="Times New Roman" panose="02020603050405020304" charset="0"/>
                <a:ea typeface="宋体" pitchFamily="2" charset="-122"/>
              </a:endParaRPr>
            </a:p>
          </p:txBody>
        </p:sp>
        <p:sp>
          <p:nvSpPr>
            <p:cNvPr id="50185" name="文本框 44039"/>
            <p:cNvSpPr txBox="1"/>
            <p:nvPr/>
          </p:nvSpPr>
          <p:spPr>
            <a:xfrm>
              <a:off x="0" y="370"/>
              <a:ext cx="1496" cy="205"/>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50000"/>
                </a:spcBef>
              </a:pPr>
              <a:r>
                <a:rPr lang="zh-CN" altLang="en-US" sz="1600">
                  <a:solidFill>
                    <a:schemeClr val="tx1"/>
                  </a:solidFill>
                  <a:latin typeface="Times New Roman" panose="02020603050405020304" charset="0"/>
                  <a:ea typeface="宋体" pitchFamily="2" charset="-122"/>
                </a:rPr>
                <a:t>处理机状态寄存器</a:t>
              </a:r>
              <a:endParaRPr lang="zh-CN" altLang="en-US" sz="1600">
                <a:solidFill>
                  <a:schemeClr val="tx1"/>
                </a:solidFill>
                <a:latin typeface="Times New Roman" panose="02020603050405020304" charset="0"/>
                <a:ea typeface="宋体" pitchFamily="2" charset="-122"/>
              </a:endParaRPr>
            </a:p>
          </p:txBody>
        </p:sp>
      </p:grpSp>
      <p:grpSp>
        <p:nvGrpSpPr>
          <p:cNvPr id="44041" name="组合 44040"/>
          <p:cNvGrpSpPr/>
          <p:nvPr/>
        </p:nvGrpSpPr>
        <p:grpSpPr>
          <a:xfrm>
            <a:off x="1220788" y="2955925"/>
            <a:ext cx="3506787" cy="3582988"/>
            <a:chOff x="0" y="0"/>
            <a:chExt cx="2209" cy="2257"/>
          </a:xfrm>
        </p:grpSpPr>
        <p:sp>
          <p:nvSpPr>
            <p:cNvPr id="50187" name="直接连接符 44041"/>
            <p:cNvSpPr/>
            <p:nvPr/>
          </p:nvSpPr>
          <p:spPr>
            <a:xfrm>
              <a:off x="902" y="869"/>
              <a:ext cx="810" cy="1"/>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188" name="直接连接符 44042"/>
            <p:cNvSpPr/>
            <p:nvPr/>
          </p:nvSpPr>
          <p:spPr>
            <a:xfrm flipH="1" flipV="1">
              <a:off x="917" y="869"/>
              <a:ext cx="800" cy="850"/>
            </a:xfrm>
            <a:prstGeom prst="line">
              <a:avLst/>
            </a:prstGeom>
            <a:ln w="38100" cap="flat" cmpd="sng">
              <a:solidFill>
                <a:schemeClr val="tx1"/>
              </a:solidFill>
              <a:prstDash val="sysDot"/>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189" name="直接连接符 44043"/>
            <p:cNvSpPr/>
            <p:nvPr/>
          </p:nvSpPr>
          <p:spPr>
            <a:xfrm>
              <a:off x="932" y="880"/>
              <a:ext cx="0" cy="1150"/>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190" name="文本框 44044"/>
            <p:cNvSpPr txBox="1"/>
            <p:nvPr/>
          </p:nvSpPr>
          <p:spPr>
            <a:xfrm>
              <a:off x="619" y="2045"/>
              <a:ext cx="65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继续执行</a:t>
              </a:r>
              <a:endParaRPr lang="zh-CN" altLang="en-US" sz="1600">
                <a:solidFill>
                  <a:schemeClr val="tx1"/>
                </a:solidFill>
                <a:latin typeface="Times New Roman" panose="02020603050405020304" charset="0"/>
                <a:ea typeface="宋体" pitchFamily="2" charset="-122"/>
              </a:endParaRPr>
            </a:p>
          </p:txBody>
        </p:sp>
        <p:sp>
          <p:nvSpPr>
            <p:cNvPr id="50191" name="文本框 44045"/>
            <p:cNvSpPr txBox="1"/>
            <p:nvPr/>
          </p:nvSpPr>
          <p:spPr>
            <a:xfrm>
              <a:off x="1076" y="603"/>
              <a:ext cx="653" cy="211"/>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中断进入</a:t>
              </a:r>
              <a:endParaRPr lang="zh-CN" altLang="en-US" sz="1600">
                <a:solidFill>
                  <a:schemeClr val="tx1"/>
                </a:solidFill>
                <a:latin typeface="Times New Roman" panose="02020603050405020304" charset="0"/>
                <a:ea typeface="宋体" pitchFamily="2" charset="-122"/>
              </a:endParaRPr>
            </a:p>
          </p:txBody>
        </p:sp>
        <p:sp>
          <p:nvSpPr>
            <p:cNvPr id="50192" name="文本框 44046"/>
            <p:cNvSpPr txBox="1"/>
            <p:nvPr/>
          </p:nvSpPr>
          <p:spPr>
            <a:xfrm>
              <a:off x="1142" y="1349"/>
              <a:ext cx="544"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返回</a:t>
              </a:r>
              <a:endParaRPr lang="zh-CN" altLang="en-US" sz="1600">
                <a:solidFill>
                  <a:schemeClr val="tx1"/>
                </a:solidFill>
                <a:latin typeface="Times New Roman" panose="02020603050405020304" charset="0"/>
                <a:ea typeface="宋体" pitchFamily="2" charset="-122"/>
              </a:endParaRPr>
            </a:p>
          </p:txBody>
        </p:sp>
        <p:grpSp>
          <p:nvGrpSpPr>
            <p:cNvPr id="50193" name="组合 44047"/>
            <p:cNvGrpSpPr/>
            <p:nvPr/>
          </p:nvGrpSpPr>
          <p:grpSpPr>
            <a:xfrm>
              <a:off x="0" y="869"/>
              <a:ext cx="929" cy="1092"/>
              <a:chOff x="0" y="0"/>
              <a:chExt cx="820" cy="957"/>
            </a:xfrm>
          </p:grpSpPr>
          <p:grpSp>
            <p:nvGrpSpPr>
              <p:cNvPr id="50194" name="组合 44048"/>
              <p:cNvGrpSpPr/>
              <p:nvPr/>
            </p:nvGrpSpPr>
            <p:grpSpPr>
              <a:xfrm>
                <a:off x="100" y="0"/>
                <a:ext cx="720" cy="720"/>
                <a:chOff x="0" y="0"/>
                <a:chExt cx="720" cy="720"/>
              </a:xfrm>
            </p:grpSpPr>
            <p:sp>
              <p:nvSpPr>
                <p:cNvPr id="50195" name="直接连接符 44049"/>
                <p:cNvSpPr/>
                <p:nvPr/>
              </p:nvSpPr>
              <p:spPr>
                <a:xfrm flipV="1">
                  <a:off x="0" y="288"/>
                  <a:ext cx="576" cy="432"/>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0196" name="直接连接符 44050"/>
                <p:cNvSpPr/>
                <p:nvPr/>
              </p:nvSpPr>
              <p:spPr>
                <a:xfrm flipV="1">
                  <a:off x="192" y="0"/>
                  <a:ext cx="528" cy="384"/>
                </a:xfrm>
                <a:prstGeom prst="line">
                  <a:avLst/>
                </a:prstGeom>
                <a:ln w="28575" cap="flat" cmpd="sng">
                  <a:solidFill>
                    <a:srgbClr val="0033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197" name="直接连接符 44051"/>
                <p:cNvSpPr/>
                <p:nvPr/>
              </p:nvSpPr>
              <p:spPr>
                <a:xfrm flipV="1">
                  <a:off x="192" y="288"/>
                  <a:ext cx="384" cy="96"/>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50198" name="文本框 44052"/>
              <p:cNvSpPr txBox="1"/>
              <p:nvPr/>
            </p:nvSpPr>
            <p:spPr>
              <a:xfrm>
                <a:off x="0" y="771"/>
                <a:ext cx="576" cy="186"/>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中断信号</a:t>
                </a:r>
                <a:endParaRPr lang="zh-CN" altLang="en-US" sz="1600">
                  <a:solidFill>
                    <a:schemeClr val="tx1"/>
                  </a:solidFill>
                  <a:latin typeface="Times New Roman" panose="02020603050405020304" charset="0"/>
                  <a:ea typeface="宋体" pitchFamily="2" charset="-122"/>
                </a:endParaRPr>
              </a:p>
            </p:txBody>
          </p:sp>
        </p:grpSp>
        <p:grpSp>
          <p:nvGrpSpPr>
            <p:cNvPr id="50199" name="组合 44053"/>
            <p:cNvGrpSpPr/>
            <p:nvPr/>
          </p:nvGrpSpPr>
          <p:grpSpPr>
            <a:xfrm>
              <a:off x="252" y="0"/>
              <a:ext cx="674" cy="876"/>
              <a:chOff x="0" y="0"/>
              <a:chExt cx="595" cy="768"/>
            </a:xfrm>
          </p:grpSpPr>
          <p:sp>
            <p:nvSpPr>
              <p:cNvPr id="50200" name="直接连接符 44054"/>
              <p:cNvSpPr/>
              <p:nvPr/>
            </p:nvSpPr>
            <p:spPr>
              <a:xfrm>
                <a:off x="595" y="0"/>
                <a:ext cx="0" cy="768"/>
              </a:xfrm>
              <a:prstGeom prst="line">
                <a:avLst/>
              </a:prstGeom>
              <a:ln w="381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201" name="文本框 44055"/>
              <p:cNvSpPr txBox="1"/>
              <p:nvPr/>
            </p:nvSpPr>
            <p:spPr>
              <a:xfrm>
                <a:off x="0" y="191"/>
                <a:ext cx="576" cy="348"/>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itchFamily="2" charset="-122"/>
                  </a:rPr>
                  <a:t>正在执行</a:t>
                </a:r>
                <a:endParaRPr lang="zh-CN" altLang="en-US" sz="1600">
                  <a:solidFill>
                    <a:schemeClr val="tx1"/>
                  </a:solidFill>
                  <a:latin typeface="Times New Roman" panose="02020603050405020304" charset="0"/>
                  <a:ea typeface="宋体" pitchFamily="2" charset="-122"/>
                </a:endParaRPr>
              </a:p>
              <a:p>
                <a:pPr lvl="0">
                  <a:spcBef>
                    <a:spcPct val="20000"/>
                  </a:spcBef>
                </a:pPr>
                <a:r>
                  <a:rPr lang="zh-CN" altLang="en-US" sz="1600">
                    <a:solidFill>
                      <a:schemeClr val="tx1"/>
                    </a:solidFill>
                    <a:latin typeface="Times New Roman" panose="02020603050405020304" charset="0"/>
                    <a:ea typeface="宋体" pitchFamily="2" charset="-122"/>
                  </a:rPr>
                  <a:t>的程序</a:t>
                </a:r>
                <a:endParaRPr lang="zh-CN" altLang="en-US" sz="1600">
                  <a:solidFill>
                    <a:schemeClr val="tx1"/>
                  </a:solidFill>
                  <a:latin typeface="Times New Roman" panose="02020603050405020304" charset="0"/>
                  <a:ea typeface="宋体" pitchFamily="2" charset="-122"/>
                </a:endParaRPr>
              </a:p>
            </p:txBody>
          </p:sp>
        </p:grpSp>
        <p:sp>
          <p:nvSpPr>
            <p:cNvPr id="50202" name="直接连接符 44056"/>
            <p:cNvSpPr/>
            <p:nvPr/>
          </p:nvSpPr>
          <p:spPr>
            <a:xfrm>
              <a:off x="1708" y="869"/>
              <a:ext cx="0" cy="876"/>
            </a:xfrm>
            <a:prstGeom prst="line">
              <a:avLst/>
            </a:prstGeom>
            <a:ln w="38100" cap="flat" cmpd="sng">
              <a:solidFill>
                <a:srgbClr val="CC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0203" name="文本框 44057"/>
            <p:cNvSpPr txBox="1"/>
            <p:nvPr/>
          </p:nvSpPr>
          <p:spPr>
            <a:xfrm>
              <a:off x="1692" y="981"/>
              <a:ext cx="517" cy="366"/>
            </a:xfrm>
            <a:prstGeom prst="rect">
              <a:avLst/>
            </a:prstGeom>
            <a:noFill/>
            <a:ln w="9525">
              <a:noFill/>
              <a:miter/>
            </a:ln>
          </p:spPr>
          <p:txBody>
            <a:bodyPr anchor="t">
              <a:spAutoFit/>
            </a:bodyPr>
            <a:p>
              <a:pPr lvl="0"/>
              <a:r>
                <a:rPr lang="zh-CN" altLang="en-US" sz="1600">
                  <a:solidFill>
                    <a:schemeClr val="tx1"/>
                  </a:solidFill>
                  <a:latin typeface="Times New Roman" panose="02020603050405020304" charset="0"/>
                  <a:ea typeface="宋体" pitchFamily="2" charset="-122"/>
                </a:rPr>
                <a:t>中断处</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理程序</a:t>
              </a:r>
              <a:endParaRPr lang="zh-CN" altLang="en-US" sz="1600">
                <a:solidFill>
                  <a:schemeClr val="tx1"/>
                </a:solidFill>
                <a:latin typeface="Times New Roman" panose="02020603050405020304" charset="0"/>
                <a:ea typeface="宋体" pitchFamily="2" charset="-122"/>
              </a:endParaRPr>
            </a:p>
          </p:txBody>
        </p:sp>
      </p:grpSp>
      <p:sp>
        <p:nvSpPr>
          <p:cNvPr id="44061" name="矩形 44060"/>
          <p:cNvSpPr/>
          <p:nvPr/>
        </p:nvSpPr>
        <p:spPr>
          <a:xfrm>
            <a:off x="336550" y="2235200"/>
            <a:ext cx="5418138"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(1) </a:t>
            </a:r>
            <a:r>
              <a:rPr lang="zh-CN" altLang="en-US" sz="2800" b="1" strike="noStrike" noProof="1">
                <a:solidFill>
                  <a:srgbClr val="A50021"/>
                </a:solidFill>
                <a:latin typeface="Times New Roman" panose="02020603050405020304" charset="0"/>
                <a:ea typeface="宋体" pitchFamily="2" charset="-122"/>
                <a:cs typeface="+mn-ea"/>
              </a:rPr>
              <a:t>中断响应所需的硬件支持</a:t>
            </a:r>
            <a:endParaRPr lang="zh-CN" altLang="en-US" sz="2800" b="1" strike="noStrike" noProof="1">
              <a:solidFill>
                <a:srgbClr val="A50021"/>
              </a:solidFill>
              <a:latin typeface="Times New Roman" panose="02020603050405020304" charset="0"/>
              <a:ea typeface="宋体" pitchFamily="2" charset="-122"/>
            </a:endParaRPr>
          </a:p>
        </p:txBody>
      </p:sp>
      <p:sp>
        <p:nvSpPr>
          <p:cNvPr id="44059" name="文本框 44058"/>
          <p:cNvSpPr txBox="1"/>
          <p:nvPr/>
        </p:nvSpPr>
        <p:spPr>
          <a:xfrm>
            <a:off x="5300663" y="5778500"/>
            <a:ext cx="2544762"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中断响应所需的硬件支持</a:t>
            </a:r>
            <a:endParaRPr lang="zh-CN" altLang="en-US" sz="1600" b="0">
              <a:solidFill>
                <a:schemeClr val="tx1"/>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59" grpId="0" build="p"/>
      <p:bldP spid="39961" grpId="0" bldLvl="0"/>
      <p:bldP spid="44061" grpId="0" build="p"/>
      <p:bldP spid="44059"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矩形 43010"/>
          <p:cNvSpPr/>
          <p:nvPr/>
        </p:nvSpPr>
        <p:spPr>
          <a:xfrm>
            <a:off x="514350" y="3138488"/>
            <a:ext cx="8643938"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fontAlgn="base">
              <a:lnSpc>
                <a:spcPct val="120000"/>
              </a:lnSpc>
              <a:spcBef>
                <a:spcPct val="20000"/>
              </a:spcBef>
              <a:buNone/>
            </a:pPr>
            <a:r>
              <a:rPr lang="zh-CN" altLang="en-US" sz="2400" strike="noStrike" noProof="1">
                <a:solidFill>
                  <a:schemeClr val="tx1"/>
                </a:solidFill>
                <a:latin typeface="Times New Roman" panose="02020603050405020304" charset="0"/>
                <a:ea typeface="宋体" pitchFamily="2" charset="-122"/>
                <a:cs typeface="+mn-cs"/>
              </a:rPr>
              <a:t>指令地址、指令执行情况、处理机状态、应屏蔽的中断等。</a:t>
            </a:r>
            <a:endParaRPr lang="zh-CN" altLang="en-US" sz="2400" strike="noStrike" noProof="1">
              <a:solidFill>
                <a:schemeClr val="tx1"/>
              </a:solidFill>
              <a:latin typeface="Times New Roman" panose="02020603050405020304" charset="0"/>
              <a:ea typeface="宋体" pitchFamily="2" charset="-122"/>
            </a:endParaRPr>
          </a:p>
        </p:txBody>
      </p:sp>
      <p:sp>
        <p:nvSpPr>
          <p:cNvPr id="43012" name="矩形 43011"/>
          <p:cNvSpPr/>
          <p:nvPr/>
        </p:nvSpPr>
        <p:spPr>
          <a:xfrm>
            <a:off x="501650" y="4425950"/>
            <a:ext cx="8405813" cy="18510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fontAlgn="base">
              <a:lnSpc>
                <a:spcPct val="120000"/>
              </a:lnSpc>
              <a:spcBef>
                <a:spcPct val="20000"/>
              </a:spcBef>
              <a:buNone/>
            </a:pPr>
            <a:r>
              <a:rPr lang="zh-CN" altLang="en-US" sz="2400" b="1" strike="noStrike" noProof="1" dirty="0">
                <a:solidFill>
                  <a:schemeClr val="tx1"/>
                </a:solidFill>
                <a:latin typeface="宋体" pitchFamily="2" charset="-122"/>
                <a:ea typeface="宋体" pitchFamily="2" charset="-122"/>
                <a:cs typeface="+mn-cs"/>
                <a:sym typeface="+mn-ea"/>
              </a:rPr>
              <a:t>ⅰ</a:t>
            </a:r>
            <a:r>
              <a:rPr lang="zh-CN" altLang="en-US" sz="2400" b="1" strike="noStrike" noProof="1" dirty="0">
                <a:solidFill>
                  <a:schemeClr val="tx1"/>
                </a:solidFill>
                <a:latin typeface="宋体" pitchFamily="2" charset="-122"/>
                <a:ea typeface="宋体" pitchFamily="2" charset="-122"/>
                <a:cs typeface="+mn-cs"/>
              </a:rPr>
              <a:t> </a:t>
            </a:r>
            <a:r>
              <a:rPr lang="en-US" altLang="zh-CN" sz="2400" b="1" strike="noStrike" noProof="1" dirty="0">
                <a:solidFill>
                  <a:schemeClr val="tx1"/>
                </a:solidFill>
                <a:latin typeface="Times New Roman" panose="02020603050405020304" charset="0"/>
                <a:ea typeface="宋体" pitchFamily="2" charset="-122"/>
                <a:cs typeface="+mn-cs"/>
              </a:rPr>
              <a:t>x86 </a:t>
            </a:r>
            <a:r>
              <a:rPr lang="zh-CN" altLang="en-US" sz="2400" b="1" strike="noStrike" noProof="1" dirty="0">
                <a:solidFill>
                  <a:schemeClr val="tx1"/>
                </a:solidFill>
                <a:latin typeface="Times New Roman" panose="02020603050405020304" charset="0"/>
                <a:ea typeface="宋体" pitchFamily="2" charset="-122"/>
                <a:cs typeface="+mn-cs"/>
              </a:rPr>
              <a:t>PC 机</a:t>
            </a:r>
            <a:r>
              <a:rPr lang="zh-CN" altLang="en-US" sz="2000" strike="noStrike" noProof="1" dirty="0">
                <a:solidFill>
                  <a:schemeClr val="tx1"/>
                </a:solidFill>
                <a:latin typeface="Times New Roman" panose="02020603050405020304" charset="0"/>
                <a:ea typeface="宋体" pitchFamily="2" charset="-122"/>
                <a:cs typeface="+mn-cs"/>
              </a:rPr>
              <a:t>     程序状态字内容  CS</a:t>
            </a:r>
            <a:r>
              <a:rPr lang="en-US" altLang="zh-CN" sz="2000" strike="noStrike" noProof="1" dirty="0">
                <a:solidFill>
                  <a:schemeClr val="tx1"/>
                </a:solidFill>
                <a:latin typeface="Times New Roman" panose="02020603050405020304" charset="0"/>
                <a:ea typeface="宋体" pitchFamily="2" charset="-122"/>
                <a:cs typeface="+mn-cs"/>
              </a:rPr>
              <a:t>:</a:t>
            </a:r>
            <a:r>
              <a:rPr lang="zh-CN" altLang="en-US" sz="2000" strike="noStrike" noProof="1" dirty="0">
                <a:solidFill>
                  <a:schemeClr val="tx1"/>
                </a:solidFill>
                <a:latin typeface="Times New Roman" panose="02020603050405020304" charset="0"/>
                <a:ea typeface="宋体" pitchFamily="2" charset="-122"/>
                <a:cs typeface="+mn-cs"/>
              </a:rPr>
              <a:t>IP   指令地址</a:t>
            </a:r>
            <a:endParaRPr lang="zh-CN" altLang="en-US" sz="2000" strike="noStrike" noProof="1" dirty="0">
              <a:solidFill>
                <a:schemeClr val="tx1"/>
              </a:solidFill>
              <a:latin typeface="Times New Roman" panose="02020603050405020304" charset="0"/>
              <a:ea typeface="宋体" pitchFamily="2" charset="-122"/>
            </a:endParaRPr>
          </a:p>
          <a:p>
            <a:pPr marL="609600" lvl="0" indent="-609600" fontAlgn="base">
              <a:buNone/>
            </a:pPr>
            <a:r>
              <a:rPr lang="zh-CN" altLang="en-US" sz="2000" strike="noStrike" noProof="1" dirty="0">
                <a:solidFill>
                  <a:schemeClr val="tx1"/>
                </a:solidFill>
                <a:latin typeface="Times New Roman" panose="02020603050405020304" charset="0"/>
                <a:ea typeface="宋体" pitchFamily="2" charset="-122"/>
                <a:cs typeface="+mn-ea"/>
              </a:rPr>
              <a:t>                                    </a:t>
            </a:r>
            <a:r>
              <a:rPr lang="x-none" altLang="zh-CN" sz="2000" strike="noStrike" noProof="1" dirty="0">
                <a:solidFill>
                  <a:schemeClr val="tx1"/>
                </a:solidFill>
                <a:latin typeface="Times New Roman" panose="02020603050405020304" charset="0"/>
                <a:ea typeface="宋体" pitchFamily="2" charset="-122"/>
                <a:cs typeface="+mn-ea"/>
              </a:rPr>
              <a:t> </a:t>
            </a:r>
            <a:r>
              <a:rPr lang="zh-CN" altLang="en-US" sz="2000" strike="noStrike" noProof="1" dirty="0">
                <a:solidFill>
                  <a:schemeClr val="tx1"/>
                </a:solidFill>
                <a:latin typeface="Times New Roman" panose="02020603050405020304" charset="0"/>
                <a:ea typeface="宋体" pitchFamily="2" charset="-122"/>
                <a:cs typeface="+mn-ea"/>
              </a:rPr>
              <a:t>                    </a:t>
            </a:r>
            <a:r>
              <a:rPr lang="en-US" altLang="zh-CN" sz="2000" strike="noStrike" noProof="1" dirty="0">
                <a:solidFill>
                  <a:schemeClr val="tx1"/>
                </a:solidFill>
                <a:latin typeface="Times New Roman" panose="02020603050405020304" charset="0"/>
                <a:ea typeface="宋体" pitchFamily="2" charset="-122"/>
                <a:cs typeface="+mn-ea"/>
              </a:rPr>
              <a:t>FLAGS</a:t>
            </a:r>
            <a:r>
              <a:rPr lang="zh-CN" altLang="en-US" sz="2000" strike="noStrike" noProof="1" dirty="0">
                <a:solidFill>
                  <a:schemeClr val="tx1"/>
                </a:solidFill>
                <a:latin typeface="Times New Roman" panose="02020603050405020304" charset="0"/>
                <a:ea typeface="宋体" pitchFamily="2" charset="-122"/>
                <a:cs typeface="+mn-ea"/>
              </a:rPr>
              <a:t>    标志寄存器</a:t>
            </a:r>
            <a:endParaRPr lang="zh-CN" altLang="en-US" sz="2000" strike="noStrike" noProof="1" dirty="0">
              <a:solidFill>
                <a:schemeClr val="tx1"/>
              </a:solidFill>
              <a:latin typeface="Times New Roman" panose="02020603050405020304" charset="0"/>
              <a:ea typeface="宋体" pitchFamily="2" charset="-122"/>
            </a:endParaRPr>
          </a:p>
          <a:p>
            <a:pPr marL="1106805" lvl="1" indent="-649605" fontAlgn="base">
              <a:lnSpc>
                <a:spcPct val="120000"/>
              </a:lnSpc>
              <a:spcBef>
                <a:spcPct val="20000"/>
              </a:spcBef>
              <a:buNone/>
            </a:pPr>
            <a:r>
              <a:rPr lang="zh-CN" altLang="en-US" sz="2400" b="1" strike="noStrike" noProof="1" dirty="0">
                <a:solidFill>
                  <a:schemeClr val="tx1"/>
                </a:solidFill>
                <a:latin typeface="宋体" pitchFamily="2" charset="-122"/>
                <a:ea typeface="宋体" pitchFamily="2" charset="-122"/>
                <a:cs typeface="+mn-cs"/>
                <a:sym typeface="+mn-ea"/>
              </a:rPr>
              <a:t>ⅱ</a:t>
            </a:r>
            <a:r>
              <a:rPr lang="zh-CN" altLang="en-US" sz="2400" b="1" strike="noStrike" noProof="1" dirty="0">
                <a:solidFill>
                  <a:schemeClr val="tx1"/>
                </a:solidFill>
                <a:latin typeface="宋体" pitchFamily="2" charset="-122"/>
                <a:ea typeface="宋体" pitchFamily="2" charset="-122"/>
                <a:cs typeface="+mn-cs"/>
              </a:rPr>
              <a:t> </a:t>
            </a:r>
            <a:r>
              <a:rPr lang="en-US" altLang="zh-CN" sz="2400" b="1" strike="noStrike" noProof="1" dirty="0">
                <a:solidFill>
                  <a:schemeClr val="tx1"/>
                </a:solidFill>
                <a:latin typeface="Times New Roman" panose="02020603050405020304" charset="0"/>
                <a:ea typeface="宋体" pitchFamily="2" charset="-122"/>
                <a:cs typeface="+mn-cs"/>
              </a:rPr>
              <a:t>arm</a:t>
            </a:r>
            <a:r>
              <a:rPr lang="zh-CN" altLang="zh-CN" sz="2400" b="1" strike="noStrike" noProof="1" dirty="0">
                <a:solidFill>
                  <a:schemeClr val="tx1"/>
                </a:solidFill>
                <a:latin typeface="Times New Roman" panose="02020603050405020304" charset="0"/>
                <a:ea typeface="宋体" pitchFamily="2" charset="-122"/>
                <a:cs typeface="+mn-cs"/>
              </a:rPr>
              <a:t>处理器</a:t>
            </a:r>
            <a:r>
              <a:rPr lang="zh-CN" altLang="en-US" sz="2000" strike="noStrike" noProof="1" dirty="0">
                <a:solidFill>
                  <a:schemeClr val="tx1"/>
                </a:solidFill>
                <a:latin typeface="Times New Roman" panose="02020603050405020304" charset="0"/>
                <a:ea typeface="宋体" pitchFamily="2" charset="-122"/>
                <a:cs typeface="+mn-cs"/>
              </a:rPr>
              <a:t>     程序状态字内容</a:t>
            </a:r>
            <a:r>
              <a:rPr lang="zh-CN" altLang="en-US" sz="2000" strike="noStrike" noProof="1" dirty="0">
                <a:solidFill>
                  <a:schemeClr val="tx1"/>
                </a:solidFill>
                <a:latin typeface="Times New Roman" panose="02020603050405020304" charset="0"/>
                <a:ea typeface="宋体" pitchFamily="2" charset="-122"/>
                <a:cs typeface="+mn-cs"/>
                <a:sym typeface="Symbol" panose="05050102010706020507" pitchFamily="18" charset="2"/>
              </a:rPr>
              <a:t>  </a:t>
            </a:r>
            <a:r>
              <a:rPr lang="en-US" altLang="zh-CN" sz="2000" strike="noStrike" noProof="1" dirty="0">
                <a:solidFill>
                  <a:schemeClr val="tx1"/>
                </a:solidFill>
                <a:latin typeface="Times New Roman" panose="02020603050405020304" charset="0"/>
                <a:ea typeface="宋体" pitchFamily="2" charset="-122"/>
                <a:cs typeface="+mn-cs"/>
              </a:rPr>
              <a:t>R15</a:t>
            </a:r>
            <a:r>
              <a:rPr lang="zh-CN" altLang="en-US" sz="2000" strike="noStrike" noProof="1" dirty="0">
                <a:solidFill>
                  <a:schemeClr val="tx1"/>
                </a:solidFill>
                <a:latin typeface="Times New Roman" panose="02020603050405020304" charset="0"/>
                <a:ea typeface="宋体" pitchFamily="2" charset="-122"/>
                <a:cs typeface="+mn-cs"/>
              </a:rPr>
              <a:t>    指令计数器</a:t>
            </a:r>
            <a:endParaRPr lang="zh-CN" altLang="en-US" sz="2000" strike="noStrike" noProof="1" dirty="0">
              <a:solidFill>
                <a:schemeClr val="tx1"/>
              </a:solidFill>
              <a:latin typeface="Times New Roman" panose="02020603050405020304" charset="0"/>
              <a:ea typeface="宋体" pitchFamily="2" charset="-122"/>
            </a:endParaRPr>
          </a:p>
          <a:p>
            <a:pPr marL="1106805" lvl="1" indent="-649605" fontAlgn="base">
              <a:lnSpc>
                <a:spcPct val="120000"/>
              </a:lnSpc>
              <a:spcBef>
                <a:spcPct val="20000"/>
              </a:spcBef>
              <a:buNone/>
            </a:pPr>
            <a:r>
              <a:rPr lang="zh-CN" altLang="en-US" sz="2000" strike="noStrike" noProof="1" dirty="0">
                <a:solidFill>
                  <a:schemeClr val="tx1"/>
                </a:solidFill>
                <a:latin typeface="Times New Roman" panose="02020603050405020304" charset="0"/>
                <a:ea typeface="宋体" pitchFamily="2" charset="-122"/>
                <a:cs typeface="+mn-cs"/>
              </a:rPr>
              <a:t>                                                     </a:t>
            </a:r>
            <a:r>
              <a:rPr lang="en-US" altLang="zh-CN" sz="2000" strike="noStrike" noProof="1" dirty="0">
                <a:solidFill>
                  <a:schemeClr val="tx1"/>
                </a:solidFill>
                <a:latin typeface="Times New Roman" panose="02020603050405020304" charset="0"/>
                <a:ea typeface="宋体" pitchFamily="2" charset="-122"/>
                <a:cs typeface="+mn-cs"/>
              </a:rPr>
              <a:t>CPSR</a:t>
            </a:r>
            <a:r>
              <a:rPr lang="zh-CN" altLang="en-US" sz="2000" strike="noStrike" noProof="1" dirty="0">
                <a:solidFill>
                  <a:schemeClr val="tx1"/>
                </a:solidFill>
                <a:latin typeface="Times New Roman" panose="02020603050405020304" charset="0"/>
                <a:ea typeface="宋体" pitchFamily="2" charset="-122"/>
                <a:cs typeface="+mn-cs"/>
              </a:rPr>
              <a:t> 处理器状态寄存器</a:t>
            </a:r>
            <a:endParaRPr lang="zh-CN" altLang="en-US" sz="2000" strike="noStrike" noProof="1" dirty="0">
              <a:solidFill>
                <a:schemeClr val="tx1"/>
              </a:solidFill>
              <a:latin typeface="Times New Roman" panose="02020603050405020304" charset="0"/>
              <a:ea typeface="宋体" pitchFamily="2" charset="-122"/>
            </a:endParaRPr>
          </a:p>
        </p:txBody>
      </p:sp>
      <p:sp>
        <p:nvSpPr>
          <p:cNvPr id="43013" name="矩形 43012"/>
          <p:cNvSpPr/>
          <p:nvPr/>
        </p:nvSpPr>
        <p:spPr>
          <a:xfrm>
            <a:off x="663575" y="485775"/>
            <a:ext cx="5418138"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(2) </a:t>
            </a:r>
            <a:r>
              <a:rPr lang="zh-CN" altLang="en-US" sz="2800" b="1" strike="noStrike" noProof="1">
                <a:solidFill>
                  <a:srgbClr val="A50021"/>
                </a:solidFill>
                <a:latin typeface="Times New Roman" panose="02020603050405020304" charset="0"/>
                <a:ea typeface="宋体" pitchFamily="2" charset="-122"/>
                <a:cs typeface="+mn-ea"/>
              </a:rPr>
              <a:t>程序状态字 </a:t>
            </a:r>
            <a:endParaRPr lang="en-US" altLang="zh-CN" sz="2800" b="1" strike="noStrike" noProof="1">
              <a:solidFill>
                <a:srgbClr val="A50021"/>
              </a:solidFill>
              <a:latin typeface="Times New Roman" panose="02020603050405020304" charset="0"/>
              <a:ea typeface="宋体" pitchFamily="2" charset="-122"/>
            </a:endParaRPr>
          </a:p>
        </p:txBody>
      </p:sp>
      <p:sp>
        <p:nvSpPr>
          <p:cNvPr id="43014" name="矩形 43013"/>
          <p:cNvSpPr/>
          <p:nvPr/>
        </p:nvSpPr>
        <p:spPr>
          <a:xfrm>
            <a:off x="120650" y="1114425"/>
            <a:ext cx="53546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定义</a:t>
            </a:r>
            <a:endParaRPr lang="zh-CN" altLang="en-US" sz="2400" b="1" strike="noStrike" noProof="1">
              <a:solidFill>
                <a:srgbClr val="000099"/>
              </a:solidFill>
              <a:latin typeface="宋体" pitchFamily="2" charset="-122"/>
              <a:ea typeface="宋体" pitchFamily="2" charset="-122"/>
            </a:endParaRPr>
          </a:p>
        </p:txBody>
      </p:sp>
      <p:sp>
        <p:nvSpPr>
          <p:cNvPr id="43015" name="矩形 43014"/>
          <p:cNvSpPr/>
          <p:nvPr/>
        </p:nvSpPr>
        <p:spPr>
          <a:xfrm>
            <a:off x="139700" y="1646238"/>
            <a:ext cx="8578850" cy="96996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algn="l" fontAlgn="base">
              <a:lnSpc>
                <a:spcPct val="120000"/>
              </a:lnSpc>
              <a:spcBef>
                <a:spcPct val="20000"/>
              </a:spcBef>
              <a:buNone/>
            </a:pPr>
            <a:r>
              <a:rPr lang="zh-CN" altLang="en-US" sz="2400" strike="noStrike" noProof="1">
                <a:solidFill>
                  <a:schemeClr val="tx1"/>
                </a:solidFill>
                <a:latin typeface="Times New Roman" panose="02020603050405020304" charset="0"/>
                <a:ea typeface="宋体" pitchFamily="2" charset="-122"/>
                <a:cs typeface="+mn-cs"/>
              </a:rPr>
              <a:t>反映指令执行时机器所处的现行状态。重要，放在特定的寄存器中</a:t>
            </a:r>
            <a:r>
              <a:rPr lang="en-US" altLang="zh-CN" sz="2400" strike="noStrike" noProof="1">
                <a:solidFill>
                  <a:schemeClr val="tx1"/>
                </a:solidFill>
                <a:latin typeface="Times New Roman" panose="02020603050405020304" charset="0"/>
                <a:ea typeface="宋体" pitchFamily="2" charset="-122"/>
                <a:cs typeface="+mn-cs"/>
              </a:rPr>
              <a:t>(</a:t>
            </a:r>
            <a:r>
              <a:rPr lang="zh-CN" altLang="en-US" sz="2400" strike="noStrike" noProof="1" dirty="0">
                <a:solidFill>
                  <a:schemeClr val="tx1"/>
                </a:solidFill>
                <a:latin typeface="Times New Roman" panose="02020603050405020304" charset="0"/>
                <a:ea typeface="宋体" pitchFamily="2" charset="-122"/>
                <a:cs typeface="+mn-cs"/>
                <a:sym typeface="+mn-ea"/>
              </a:rPr>
              <a:t>PC：指令计数器；PS：处理器状态寄存器</a:t>
            </a:r>
            <a:r>
              <a:rPr lang="en-US" altLang="zh-CN" sz="2400" strike="noStrike" noProof="1" dirty="0">
                <a:solidFill>
                  <a:schemeClr val="tx1"/>
                </a:solidFill>
                <a:latin typeface="Times New Roman" panose="02020603050405020304" charset="0"/>
                <a:ea typeface="宋体" pitchFamily="2" charset="-122"/>
                <a:cs typeface="+mn-cs"/>
                <a:sym typeface="+mn-ea"/>
              </a:rPr>
              <a:t>)</a:t>
            </a:r>
            <a:endParaRPr lang="en-US" altLang="zh-CN" sz="2400" strike="noStrike" noProof="1" dirty="0">
              <a:solidFill>
                <a:schemeClr val="tx1"/>
              </a:solidFill>
              <a:latin typeface="Times New Roman" panose="02020603050405020304" charset="0"/>
              <a:ea typeface="宋体" pitchFamily="2" charset="-122"/>
              <a:cs typeface="+mn-cs"/>
              <a:sym typeface="+mn-ea"/>
            </a:endParaRPr>
          </a:p>
        </p:txBody>
      </p:sp>
      <p:sp>
        <p:nvSpPr>
          <p:cNvPr id="43016" name="矩形 43015"/>
          <p:cNvSpPr/>
          <p:nvPr/>
        </p:nvSpPr>
        <p:spPr>
          <a:xfrm>
            <a:off x="122238" y="2524125"/>
            <a:ext cx="53546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② 内容</a:t>
            </a:r>
            <a:endParaRPr lang="zh-CN" altLang="en-US" sz="2400" b="1" strike="noStrike" noProof="1">
              <a:solidFill>
                <a:srgbClr val="000099"/>
              </a:solidFill>
              <a:latin typeface="宋体" pitchFamily="2" charset="-122"/>
              <a:ea typeface="宋体" pitchFamily="2" charset="-122"/>
            </a:endParaRPr>
          </a:p>
        </p:txBody>
      </p:sp>
      <p:sp>
        <p:nvSpPr>
          <p:cNvPr id="43017" name="矩形 43016"/>
          <p:cNvSpPr/>
          <p:nvPr/>
        </p:nvSpPr>
        <p:spPr>
          <a:xfrm>
            <a:off x="139700" y="3754438"/>
            <a:ext cx="53546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③ 程序状态字的例子</a:t>
            </a:r>
            <a:endParaRPr lang="zh-CN" altLang="en-US" sz="2400" b="1" strike="noStrike" noProof="1">
              <a:solidFill>
                <a:srgbClr val="000099"/>
              </a:solidFill>
              <a:latin typeface="宋体" pitchFamily="2" charset="-122"/>
              <a:ea typeface="宋体" pitchFamily="2" charset="-122"/>
            </a:endParaRPr>
          </a:p>
        </p:txBody>
      </p:sp>
      <p:sp>
        <p:nvSpPr>
          <p:cNvPr id="43018" name="矩形 4301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3012" grpId="0"/>
      <p:bldP spid="43013" grpId="0" build="p"/>
      <p:bldP spid="43014" grpId="0" build="p"/>
      <p:bldP spid="43016" grpId="0" build="p"/>
      <p:bldP spid="4301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47105"/>
          <p:cNvSpPr>
            <a:spLocks noGrp="1"/>
          </p:cNvSpPr>
          <p:nvPr>
            <p:ph type="title"/>
          </p:nvPr>
        </p:nvSpPr>
        <p:spPr>
          <a:xfrm>
            <a:off x="374650" y="644525"/>
            <a:ext cx="5238750" cy="495300"/>
          </a:xfrm>
        </p:spPr>
        <p:txBody>
          <a:bodyPr wrap="square">
            <a:spAutoFit/>
          </a:bodyPr>
          <a:p>
            <a:pPr lvl="0"/>
            <a:r>
              <a:rPr lang="en-US" altLang="zh-CN" sz="2800" dirty="0">
                <a:solidFill>
                  <a:srgbClr val="990000"/>
                </a:solidFill>
                <a:ea typeface="宋体" pitchFamily="2" charset="-122"/>
              </a:rPr>
              <a:t>(3) </a:t>
            </a:r>
            <a:r>
              <a:rPr lang="zh-CN" altLang="en-US" sz="2800" dirty="0">
                <a:solidFill>
                  <a:srgbClr val="990000"/>
                </a:solidFill>
                <a:ea typeface="宋体" pitchFamily="2" charset="-122"/>
                <a:sym typeface="Arial" panose="020B0604020202020204" pitchFamily="34" charset="0"/>
              </a:rPr>
              <a:t>中断</a:t>
            </a:r>
            <a:r>
              <a:rPr lang="zh-CN" altLang="en-US" sz="2800" dirty="0">
                <a:solidFill>
                  <a:srgbClr val="990000"/>
                </a:solidFill>
                <a:ea typeface="宋体" pitchFamily="2" charset="-122"/>
              </a:rPr>
              <a:t>向量表</a:t>
            </a:r>
            <a:endParaRPr lang="zh-CN" altLang="en-US" sz="2800" dirty="0">
              <a:solidFill>
                <a:srgbClr val="990000"/>
              </a:solidFill>
              <a:ea typeface="宋体" pitchFamily="2" charset="-122"/>
            </a:endParaRPr>
          </a:p>
        </p:txBody>
      </p:sp>
      <p:sp>
        <p:nvSpPr>
          <p:cNvPr id="47107" name="文本框 47106"/>
          <p:cNvSpPr txBox="1"/>
          <p:nvPr/>
        </p:nvSpPr>
        <p:spPr>
          <a:xfrm>
            <a:off x="272098" y="1352550"/>
            <a:ext cx="8653463" cy="4653915"/>
          </a:xfrm>
          <a:prstGeom prst="rect">
            <a:avLst/>
          </a:prstGeom>
          <a:noFill/>
          <a:ln w="9525">
            <a:noFill/>
          </a:ln>
        </p:spPr>
        <p:txBody>
          <a:bodyPr>
            <a:spAutoFit/>
          </a:bodyPr>
          <a:p>
            <a:pPr lvl="0" algn="l" fontAlgn="base">
              <a:lnSpc>
                <a:spcPct val="80000"/>
              </a:lnSpc>
            </a:pPr>
            <a:r>
              <a:rPr lang="zh-CN" altLang="en-US" sz="2800" b="0" strike="noStrike" noProof="1" dirty="0">
                <a:solidFill>
                  <a:schemeClr val="tx1"/>
                </a:solidFill>
                <a:latin typeface="Arial" panose="020B0604020202020204" pitchFamily="34" charset="0"/>
                <a:ea typeface="宋体" pitchFamily="2" charset="-122"/>
                <a:cs typeface="+mn-ea"/>
              </a:rPr>
              <a:t>1</a:t>
            </a:r>
            <a:r>
              <a:rPr lang="en-US" altLang="x-none" sz="2800" b="0" strike="noStrike" noProof="1">
                <a:solidFill>
                  <a:schemeClr val="tx1"/>
                </a:solidFill>
                <a:latin typeface="Arial" panose="020B0604020202020204" pitchFamily="34" charset="0"/>
                <a:ea typeface="宋体" pitchFamily="2" charset="-122"/>
                <a:cs typeface="+mn-ea"/>
              </a:rPr>
              <a:t>. </a:t>
            </a:r>
            <a:r>
              <a:rPr lang="zh-CN" altLang="en-US" sz="2800" b="0" strike="noStrike" noProof="1" dirty="0">
                <a:solidFill>
                  <a:schemeClr val="tx1"/>
                </a:solidFill>
                <a:latin typeface="Arial" panose="020B0604020202020204" pitchFamily="34" charset="0"/>
                <a:ea typeface="宋体" pitchFamily="2" charset="-122"/>
                <a:cs typeface="+mn-ea"/>
              </a:rPr>
              <a:t>什么是向量中断</a:t>
            </a:r>
            <a:endParaRPr lang="zh-CN" altLang="en-US" sz="2800" b="0" strike="noStrike" noProof="1" dirty="0">
              <a:solidFill>
                <a:schemeClr val="tx1"/>
              </a:solidFill>
              <a:latin typeface="Arial" panose="020B0604020202020204" pitchFamily="34" charset="0"/>
              <a:ea typeface="宋体" pitchFamily="2" charset="-122"/>
            </a:endParaRPr>
          </a:p>
          <a:p>
            <a:pPr lvl="1" algn="l" fontAlgn="base">
              <a:lnSpc>
                <a:spcPct val="80000"/>
              </a:lnSpc>
              <a:spcBef>
                <a:spcPct val="30000"/>
              </a:spcBef>
            </a:pPr>
            <a:r>
              <a:rPr lang="zh-CN" altLang="en-US" sz="2800" b="0" strike="noStrike" noProof="1" dirty="0">
                <a:solidFill>
                  <a:schemeClr val="tx1"/>
                </a:solidFill>
                <a:latin typeface="Arial" panose="020B0604020202020204" pitchFamily="34" charset="0"/>
                <a:ea typeface="宋体" pitchFamily="2" charset="-122"/>
                <a:cs typeface="+mn-ea"/>
              </a:rPr>
              <a:t>当中断发生时，由中断源自己引导处理机进入中断服务程序的中断过程称为向量中断。</a:t>
            </a:r>
            <a:endParaRPr lang="zh-CN" altLang="en-US" sz="2800" b="0" strike="noStrike" noProof="1" dirty="0">
              <a:solidFill>
                <a:schemeClr val="tx1"/>
              </a:solidFill>
              <a:latin typeface="Arial" panose="020B0604020202020204" pitchFamily="34" charset="0"/>
              <a:ea typeface="宋体" pitchFamily="2" charset="-122"/>
              <a:cs typeface="+mn-ea"/>
            </a:endParaRPr>
          </a:p>
          <a:p>
            <a:pPr lvl="1" algn="l" fontAlgn="base">
              <a:lnSpc>
                <a:spcPct val="80000"/>
              </a:lnSpc>
              <a:spcBef>
                <a:spcPct val="30000"/>
              </a:spcBef>
            </a:pPr>
            <a:endParaRPr lang="zh-CN" altLang="en-US" sz="2800" b="0" strike="noStrike" noProof="1" dirty="0">
              <a:solidFill>
                <a:schemeClr val="tx1"/>
              </a:solidFill>
              <a:latin typeface="Arial" panose="020B0604020202020204" pitchFamily="34" charset="0"/>
              <a:ea typeface="宋体" pitchFamily="2" charset="-122"/>
            </a:endParaRPr>
          </a:p>
          <a:p>
            <a:pPr lvl="0" algn="l" fontAlgn="base">
              <a:lnSpc>
                <a:spcPct val="80000"/>
              </a:lnSpc>
            </a:pPr>
            <a:r>
              <a:rPr lang="en-US" altLang="x-none" sz="2800" b="0" strike="noStrike" noProof="1">
                <a:solidFill>
                  <a:schemeClr val="tx1"/>
                </a:solidFill>
                <a:latin typeface="Arial" panose="020B0604020202020204" pitchFamily="34" charset="0"/>
                <a:ea typeface="宋体" pitchFamily="2" charset="-122"/>
                <a:cs typeface="+mn-ea"/>
              </a:rPr>
              <a:t>2. </a:t>
            </a:r>
            <a:r>
              <a:rPr lang="zh-CN" altLang="en-US" sz="2800" b="0" strike="noStrike" noProof="1" dirty="0">
                <a:solidFill>
                  <a:schemeClr val="tx1"/>
                </a:solidFill>
                <a:latin typeface="Arial" panose="020B0604020202020204" pitchFamily="34" charset="0"/>
                <a:ea typeface="宋体" pitchFamily="2" charset="-122"/>
                <a:cs typeface="+mn-ea"/>
              </a:rPr>
              <a:t>中断向量</a:t>
            </a:r>
            <a:r>
              <a:rPr lang="zh-CN" altLang="en-US" sz="2800" b="1" strike="noStrike" noProof="1" dirty="0">
                <a:solidFill>
                  <a:srgbClr val="000099"/>
                </a:solidFill>
                <a:effectLst>
                  <a:outerShdw blurRad="38100" dist="38100" dir="2700000">
                    <a:srgbClr val="000000"/>
                  </a:outerShdw>
                </a:effectLst>
                <a:latin typeface="Arial" panose="020B0604020202020204" pitchFamily="34" charset="0"/>
                <a:ea typeface="宋体" pitchFamily="2" charset="-122"/>
                <a:cs typeface="+mn-ea"/>
                <a:sym typeface="Symbol" panose="05050102010706020507" pitchFamily="18" charset="2"/>
              </a:rPr>
              <a:t>　</a:t>
            </a:r>
            <a:endParaRPr lang="zh-CN" altLang="en-US" sz="2800" b="1" strike="noStrike" noProof="1" dirty="0">
              <a:solidFill>
                <a:srgbClr val="000099"/>
              </a:solidFill>
              <a:effectLst>
                <a:outerShdw blurRad="38100" dist="38100" dir="2700000">
                  <a:srgbClr val="000000"/>
                </a:outerShdw>
              </a:effectLst>
              <a:latin typeface="Arial" panose="020B0604020202020204" pitchFamily="34" charset="0"/>
              <a:ea typeface="宋体" pitchFamily="2" charset="-122"/>
              <a:sym typeface="Symbol" panose="05050102010706020507" pitchFamily="18" charset="2"/>
            </a:endParaRPr>
          </a:p>
          <a:p>
            <a:pPr lvl="1" algn="l" fontAlgn="base">
              <a:lnSpc>
                <a:spcPct val="120000"/>
              </a:lnSpc>
              <a:buClr>
                <a:schemeClr val="tx2"/>
              </a:buClr>
              <a:buSzPct val="95000"/>
              <a:buFont typeface="Wingdings" panose="05000000000000000000" pitchFamily="2" charset="2"/>
              <a:buNone/>
            </a:pPr>
            <a:r>
              <a:rPr lang="zh-CN" altLang="en-US" sz="2800" b="0" strike="noStrike" noProof="1" dirty="0">
                <a:solidFill>
                  <a:schemeClr val="tx1"/>
                </a:solidFill>
                <a:latin typeface="Arial" panose="020B0604020202020204" pitchFamily="34" charset="0"/>
                <a:ea typeface="宋体" pitchFamily="2" charset="-122"/>
                <a:cs typeface="+mn-ea"/>
              </a:rPr>
              <a:t>每</a:t>
            </a:r>
            <a:r>
              <a:rPr lang="x-none" altLang="zh-CN" sz="2800" b="0" strike="noStrike" noProof="1" dirty="0">
                <a:solidFill>
                  <a:schemeClr val="tx1"/>
                </a:solidFill>
                <a:latin typeface="Arial" panose="020B0604020202020204" pitchFamily="34" charset="0"/>
                <a:ea typeface="宋体" pitchFamily="2" charset="-122"/>
                <a:cs typeface="+mn-ea"/>
              </a:rPr>
              <a:t>个</a:t>
            </a:r>
            <a:r>
              <a:rPr lang="zh-CN" altLang="en-US" sz="2800" b="0" strike="noStrike" noProof="1" dirty="0">
                <a:solidFill>
                  <a:schemeClr val="tx1"/>
                </a:solidFill>
                <a:latin typeface="Arial" panose="020B0604020202020204" pitchFamily="34" charset="0"/>
                <a:ea typeface="宋体" pitchFamily="2" charset="-122"/>
                <a:cs typeface="+mn-ea"/>
              </a:rPr>
              <a:t>中断类型都有自己的中断向量，包含：</a:t>
            </a:r>
            <a:endParaRPr lang="zh-CN" altLang="en-US" sz="2800" b="0" strike="noStrike" noProof="1" dirty="0">
              <a:solidFill>
                <a:schemeClr val="tx1"/>
              </a:solidFill>
              <a:latin typeface="Arial" panose="020B0604020202020204" pitchFamily="34" charset="0"/>
              <a:ea typeface="宋体" pitchFamily="2" charset="-122"/>
            </a:endParaRPr>
          </a:p>
          <a:p>
            <a:pPr lvl="1" algn="l" fontAlgn="base">
              <a:lnSpc>
                <a:spcPct val="120000"/>
              </a:lnSpc>
              <a:buClr>
                <a:schemeClr val="tx2"/>
              </a:buClr>
              <a:buSzPct val="95000"/>
              <a:buFont typeface="Wingdings" panose="05000000000000000000" pitchFamily="2" charset="2"/>
              <a:buNone/>
            </a:pPr>
            <a:r>
              <a:rPr lang="zh-CN" altLang="en-US" sz="2800" b="0" strike="noStrike" noProof="1" dirty="0">
                <a:solidFill>
                  <a:schemeClr val="tx1"/>
                </a:solidFill>
                <a:latin typeface="Arial" panose="020B0604020202020204" pitchFamily="34" charset="0"/>
                <a:ea typeface="宋体" pitchFamily="2" charset="-122"/>
                <a:cs typeface="+mn-ea"/>
              </a:rPr>
              <a:t>中断服务程序的入口地址。</a:t>
            </a:r>
            <a:endParaRPr lang="zh-CN" altLang="en-US" sz="2800" b="0" strike="noStrike" noProof="1" dirty="0">
              <a:solidFill>
                <a:schemeClr val="tx1"/>
              </a:solidFill>
              <a:latin typeface="Arial" panose="020B0604020202020204" pitchFamily="34" charset="0"/>
              <a:ea typeface="宋体" pitchFamily="2" charset="-122"/>
              <a:cs typeface="+mn-ea"/>
            </a:endParaRPr>
          </a:p>
          <a:p>
            <a:pPr lvl="1" algn="l" fontAlgn="base">
              <a:lnSpc>
                <a:spcPct val="120000"/>
              </a:lnSpc>
              <a:buClr>
                <a:schemeClr val="tx2"/>
              </a:buClr>
              <a:buSzPct val="95000"/>
              <a:buFont typeface="Wingdings" panose="05000000000000000000" pitchFamily="2" charset="2"/>
              <a:buNone/>
            </a:pPr>
            <a:endParaRPr lang="zh-CN" altLang="en-US" sz="2800" b="0" strike="noStrike" noProof="1" dirty="0">
              <a:solidFill>
                <a:schemeClr val="tx1"/>
              </a:solidFill>
              <a:latin typeface="Arial" panose="020B0604020202020204" pitchFamily="34" charset="0"/>
              <a:ea typeface="宋体" pitchFamily="2" charset="-122"/>
            </a:endParaRPr>
          </a:p>
          <a:p>
            <a:pPr lvl="0" algn="l" fontAlgn="base">
              <a:lnSpc>
                <a:spcPct val="80000"/>
              </a:lnSpc>
            </a:pPr>
            <a:r>
              <a:rPr lang="en-US" altLang="x-none" sz="2800" b="0" strike="noStrike" noProof="1">
                <a:solidFill>
                  <a:schemeClr val="tx1"/>
                </a:solidFill>
                <a:latin typeface="Arial" panose="020B0604020202020204" pitchFamily="34" charset="0"/>
                <a:ea typeface="宋体" pitchFamily="2" charset="-122"/>
                <a:cs typeface="+mn-ea"/>
              </a:rPr>
              <a:t>3.</a:t>
            </a:r>
            <a:r>
              <a:rPr lang="zh-CN" altLang="en-US" sz="2800" b="0" strike="noStrike" noProof="1" dirty="0">
                <a:solidFill>
                  <a:schemeClr val="tx1"/>
                </a:solidFill>
                <a:latin typeface="Arial" panose="020B0604020202020204" pitchFamily="34" charset="0"/>
                <a:ea typeface="宋体" pitchFamily="2" charset="-122"/>
                <a:cs typeface="+mn-ea"/>
              </a:rPr>
              <a:t>中断向量表</a:t>
            </a:r>
            <a:endParaRPr lang="zh-CN" altLang="en-US" sz="2800" b="0" strike="noStrike" noProof="1" dirty="0">
              <a:solidFill>
                <a:schemeClr val="tx1"/>
              </a:solidFill>
              <a:latin typeface="Arial" panose="020B0604020202020204" pitchFamily="34" charset="0"/>
              <a:ea typeface="宋体" pitchFamily="2" charset="-122"/>
            </a:endParaRPr>
          </a:p>
          <a:p>
            <a:pPr lvl="1" algn="l" fontAlgn="base">
              <a:lnSpc>
                <a:spcPct val="80000"/>
              </a:lnSpc>
            </a:pPr>
            <a:r>
              <a:rPr lang="zh-CN" altLang="en-US" sz="2800" b="0" strike="noStrike" noProof="1" dirty="0">
                <a:solidFill>
                  <a:schemeClr val="tx1"/>
                </a:solidFill>
                <a:latin typeface="Arial" panose="020B0604020202020204" pitchFamily="34" charset="0"/>
                <a:ea typeface="宋体" pitchFamily="2" charset="-122"/>
                <a:cs typeface="+mn-ea"/>
              </a:rPr>
              <a:t>主存中用于存放中断向量服务地址的一组存储单元组成的表。</a:t>
            </a:r>
            <a:endParaRPr lang="zh-CN" altLang="en-US" sz="2800" b="0" strike="noStrike" noProof="1" dirty="0">
              <a:solidFill>
                <a:schemeClr val="tx1"/>
              </a:solidFill>
              <a:latin typeface="Arial" panose="020B0604020202020204" pitchFamily="34" charset="0"/>
              <a:ea typeface="宋体"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框 48129"/>
          <p:cNvSpPr txBox="1"/>
          <p:nvPr/>
        </p:nvSpPr>
        <p:spPr>
          <a:xfrm>
            <a:off x="293370" y="635000"/>
            <a:ext cx="2938780" cy="3041015"/>
          </a:xfrm>
          <a:prstGeom prst="rect">
            <a:avLst/>
          </a:prstGeom>
          <a:noFill/>
          <a:ln w="9525">
            <a:noFill/>
            <a:miter/>
          </a:ln>
        </p:spPr>
        <p:txBody>
          <a:bodyPr wrap="square" lIns="87273" tIns="43636" rIns="87273" bIns="43636" anchor="t">
            <a:spAutoFit/>
          </a:bodyPr>
          <a:p>
            <a:pPr lvl="0" algn="just" defTabSz="873125">
              <a:spcBef>
                <a:spcPct val="50000"/>
              </a:spcBef>
            </a:pPr>
            <a:r>
              <a:rPr lang="zh-CN" altLang="en-US" sz="2400" b="0" dirty="0">
                <a:solidFill>
                  <a:schemeClr val="tx1"/>
                </a:solidFill>
                <a:latin typeface="Arial" panose="020B0604020202020204" pitchFamily="34" charset="0"/>
                <a:ea typeface="宋体" pitchFamily="2" charset="-122"/>
              </a:rPr>
              <a:t>      </a:t>
            </a:r>
            <a:r>
              <a:rPr lang="en-US" altLang="zh-CN" sz="2400" b="0" dirty="0">
                <a:solidFill>
                  <a:schemeClr val="tx1"/>
                </a:solidFill>
                <a:latin typeface="Arial" panose="020B0604020202020204" pitchFamily="34" charset="0"/>
                <a:ea typeface="宋体" pitchFamily="2" charset="-122"/>
              </a:rPr>
              <a:t>x86 </a:t>
            </a:r>
            <a:r>
              <a:rPr lang="zh-CN" altLang="en-US" sz="2400" b="0" dirty="0">
                <a:solidFill>
                  <a:schemeClr val="tx1"/>
                </a:solidFill>
                <a:latin typeface="Arial" panose="020B0604020202020204" pitchFamily="34" charset="0"/>
                <a:ea typeface="宋体" pitchFamily="2" charset="-122"/>
              </a:rPr>
              <a:t>PC中所有256个中断的中断向量放在一张表上称为中断向量表，它在内存区中占有最低阶1k字节(地址00000H～003FFH)。</a:t>
            </a:r>
            <a:endParaRPr lang="zh-CN" altLang="en-US" sz="2400" b="0" dirty="0">
              <a:solidFill>
                <a:schemeClr val="tx1"/>
              </a:solidFill>
              <a:latin typeface="Arial" panose="020B0604020202020204" pitchFamily="34" charset="0"/>
              <a:ea typeface="宋体" pitchFamily="2" charset="-122"/>
            </a:endParaRPr>
          </a:p>
        </p:txBody>
      </p:sp>
      <p:grpSp>
        <p:nvGrpSpPr>
          <p:cNvPr id="53250" name="组合 2"/>
          <p:cNvGrpSpPr/>
          <p:nvPr/>
        </p:nvGrpSpPr>
        <p:grpSpPr>
          <a:xfrm>
            <a:off x="3399790" y="685800"/>
            <a:ext cx="5543550" cy="5761355"/>
            <a:chOff x="5450" y="285"/>
            <a:chExt cx="7798" cy="10212"/>
          </a:xfrm>
        </p:grpSpPr>
        <p:sp>
          <p:nvSpPr>
            <p:cNvPr id="53251" name="矩形 48130"/>
            <p:cNvSpPr/>
            <p:nvPr/>
          </p:nvSpPr>
          <p:spPr>
            <a:xfrm>
              <a:off x="6962" y="297"/>
              <a:ext cx="5017" cy="10200"/>
            </a:xfrm>
            <a:prstGeom prst="rect">
              <a:avLst/>
            </a:prstGeom>
            <a:noFill/>
            <a:ln w="9525" cap="flat" cmpd="sng">
              <a:solidFill>
                <a:schemeClr val="tx1"/>
              </a:solidFill>
              <a:prstDash val="solid"/>
              <a:miter/>
              <a:headEnd type="none" w="med" len="med"/>
              <a:tailEnd type="none" w="med" len="med"/>
            </a:ln>
          </p:spPr>
          <p:txBody>
            <a:bodyPr anchor="t"/>
            <a:p>
              <a:pPr lvl="0" algn="ctr"/>
              <a:endParaRPr lang="zh-CN" altLang="en-US" sz="2000">
                <a:latin typeface="Arial" panose="020B0604020202020204" pitchFamily="34" charset="0"/>
                <a:ea typeface="宋体" pitchFamily="2" charset="-122"/>
              </a:endParaRPr>
            </a:p>
          </p:txBody>
        </p:sp>
        <p:sp>
          <p:nvSpPr>
            <p:cNvPr id="53252" name="直接连接符 48131"/>
            <p:cNvSpPr/>
            <p:nvPr/>
          </p:nvSpPr>
          <p:spPr>
            <a:xfrm>
              <a:off x="6967" y="975"/>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3" name="直接连接符 48132"/>
            <p:cNvSpPr/>
            <p:nvPr/>
          </p:nvSpPr>
          <p:spPr>
            <a:xfrm>
              <a:off x="6967" y="1742"/>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4" name="直接连接符 48133"/>
            <p:cNvSpPr/>
            <p:nvPr/>
          </p:nvSpPr>
          <p:spPr>
            <a:xfrm>
              <a:off x="6967" y="2515"/>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5" name="直接连接符 48134"/>
            <p:cNvSpPr/>
            <p:nvPr/>
          </p:nvSpPr>
          <p:spPr>
            <a:xfrm>
              <a:off x="6967" y="3287"/>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6" name="直接连接符 48135"/>
            <p:cNvSpPr/>
            <p:nvPr/>
          </p:nvSpPr>
          <p:spPr>
            <a:xfrm>
              <a:off x="6967" y="4057"/>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7" name="直接连接符 48136"/>
            <p:cNvSpPr/>
            <p:nvPr/>
          </p:nvSpPr>
          <p:spPr>
            <a:xfrm>
              <a:off x="6967" y="4827"/>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8" name="直接连接符 48137"/>
            <p:cNvSpPr/>
            <p:nvPr/>
          </p:nvSpPr>
          <p:spPr>
            <a:xfrm>
              <a:off x="6967" y="5605"/>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59" name="直接连接符 48138"/>
            <p:cNvSpPr/>
            <p:nvPr/>
          </p:nvSpPr>
          <p:spPr>
            <a:xfrm>
              <a:off x="6967" y="6377"/>
              <a:ext cx="501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0" name="直接连接符 48139"/>
            <p:cNvSpPr/>
            <p:nvPr/>
          </p:nvSpPr>
          <p:spPr>
            <a:xfrm>
              <a:off x="6972" y="7832"/>
              <a:ext cx="50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1" name="直接连接符 48140"/>
            <p:cNvSpPr/>
            <p:nvPr/>
          </p:nvSpPr>
          <p:spPr>
            <a:xfrm>
              <a:off x="6972" y="8505"/>
              <a:ext cx="50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2" name="直接连接符 48141"/>
            <p:cNvSpPr/>
            <p:nvPr/>
          </p:nvSpPr>
          <p:spPr>
            <a:xfrm>
              <a:off x="6972" y="9177"/>
              <a:ext cx="50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3" name="直接连接符 48142"/>
            <p:cNvSpPr/>
            <p:nvPr/>
          </p:nvSpPr>
          <p:spPr>
            <a:xfrm>
              <a:off x="6972" y="9850"/>
              <a:ext cx="50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4" name="矩形 48143"/>
            <p:cNvSpPr/>
            <p:nvPr/>
          </p:nvSpPr>
          <p:spPr>
            <a:xfrm>
              <a:off x="12203" y="655"/>
              <a:ext cx="896"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IP</a:t>
              </a:r>
              <a:endParaRPr lang="en-US" altLang="x-none" sz="1800" b="0">
                <a:solidFill>
                  <a:schemeClr val="tx1"/>
                </a:solidFill>
                <a:latin typeface="Arial" panose="020B0604020202020204" pitchFamily="34" charset="0"/>
                <a:ea typeface="宋体" pitchFamily="2" charset="-122"/>
              </a:endParaRPr>
            </a:p>
          </p:txBody>
        </p:sp>
        <p:sp>
          <p:nvSpPr>
            <p:cNvPr id="53265" name="右大括号 48144"/>
            <p:cNvSpPr/>
            <p:nvPr/>
          </p:nvSpPr>
          <p:spPr>
            <a:xfrm>
              <a:off x="11987" y="285"/>
              <a:ext cx="257" cy="1452"/>
            </a:xfrm>
            <a:prstGeom prst="rightBrace">
              <a:avLst>
                <a:gd name="adj1" fmla="val 46872"/>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6" name="右大括号 48145"/>
            <p:cNvSpPr/>
            <p:nvPr/>
          </p:nvSpPr>
          <p:spPr>
            <a:xfrm>
              <a:off x="11987" y="1735"/>
              <a:ext cx="257" cy="1547"/>
            </a:xfrm>
            <a:prstGeom prst="rightBrace">
              <a:avLst>
                <a:gd name="adj1" fmla="val 49939"/>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7" name="右大括号 48146"/>
            <p:cNvSpPr/>
            <p:nvPr/>
          </p:nvSpPr>
          <p:spPr>
            <a:xfrm>
              <a:off x="11987" y="3285"/>
              <a:ext cx="257" cy="1547"/>
            </a:xfrm>
            <a:prstGeom prst="rightBrace">
              <a:avLst>
                <a:gd name="adj1" fmla="val 49939"/>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8" name="右大括号 48147"/>
            <p:cNvSpPr/>
            <p:nvPr/>
          </p:nvSpPr>
          <p:spPr>
            <a:xfrm>
              <a:off x="11987" y="4832"/>
              <a:ext cx="257" cy="1552"/>
            </a:xfrm>
            <a:prstGeom prst="rightBrace">
              <a:avLst>
                <a:gd name="adj1" fmla="val 50100"/>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69" name="矩形 48148"/>
            <p:cNvSpPr/>
            <p:nvPr/>
          </p:nvSpPr>
          <p:spPr>
            <a:xfrm>
              <a:off x="12203" y="3703"/>
              <a:ext cx="973"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IP</a:t>
              </a:r>
              <a:endParaRPr lang="en-US" altLang="x-none" sz="1800" b="0">
                <a:solidFill>
                  <a:schemeClr val="tx1"/>
                </a:solidFill>
                <a:latin typeface="Arial" panose="020B0604020202020204" pitchFamily="34" charset="0"/>
                <a:ea typeface="宋体" pitchFamily="2" charset="-122"/>
              </a:endParaRPr>
            </a:p>
          </p:txBody>
        </p:sp>
        <p:sp>
          <p:nvSpPr>
            <p:cNvPr id="53270" name="右大括号 48149"/>
            <p:cNvSpPr/>
            <p:nvPr/>
          </p:nvSpPr>
          <p:spPr>
            <a:xfrm>
              <a:off x="11987" y="7810"/>
              <a:ext cx="257" cy="1395"/>
            </a:xfrm>
            <a:prstGeom prst="rightBrace">
              <a:avLst>
                <a:gd name="adj1" fmla="val 45032"/>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71" name="右大括号 48150"/>
            <p:cNvSpPr/>
            <p:nvPr/>
          </p:nvSpPr>
          <p:spPr>
            <a:xfrm>
              <a:off x="11987" y="9177"/>
              <a:ext cx="257" cy="1265"/>
            </a:xfrm>
            <a:prstGeom prst="rightBrace">
              <a:avLst>
                <a:gd name="adj1" fmla="val 40835"/>
                <a:gd name="adj2" fmla="val 50000"/>
              </a:avLst>
            </a:prstGeom>
            <a:noFill/>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3272" name="矩形 48151"/>
            <p:cNvSpPr/>
            <p:nvPr/>
          </p:nvSpPr>
          <p:spPr>
            <a:xfrm>
              <a:off x="12203" y="8098"/>
              <a:ext cx="973"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IP</a:t>
              </a:r>
              <a:endParaRPr lang="en-US" altLang="x-none" sz="1800" b="0">
                <a:solidFill>
                  <a:schemeClr val="tx1"/>
                </a:solidFill>
                <a:latin typeface="Arial" panose="020B0604020202020204" pitchFamily="34" charset="0"/>
                <a:ea typeface="宋体" pitchFamily="2" charset="-122"/>
              </a:endParaRPr>
            </a:p>
          </p:txBody>
        </p:sp>
        <p:sp>
          <p:nvSpPr>
            <p:cNvPr id="53273" name="文本框 48152"/>
            <p:cNvSpPr txBox="1"/>
            <p:nvPr/>
          </p:nvSpPr>
          <p:spPr>
            <a:xfrm>
              <a:off x="5450" y="363"/>
              <a:ext cx="1441"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00000</a:t>
              </a:r>
              <a:endParaRPr lang="en-US" altLang="x-none" sz="1800" b="0">
                <a:solidFill>
                  <a:schemeClr val="tx1"/>
                </a:solidFill>
                <a:latin typeface="Arial" panose="020B0604020202020204" pitchFamily="34" charset="0"/>
                <a:ea typeface="宋体" pitchFamily="2" charset="-122"/>
              </a:endParaRPr>
            </a:p>
          </p:txBody>
        </p:sp>
        <p:sp>
          <p:nvSpPr>
            <p:cNvPr id="53274" name="文本框 48153"/>
            <p:cNvSpPr txBox="1"/>
            <p:nvPr/>
          </p:nvSpPr>
          <p:spPr>
            <a:xfrm>
              <a:off x="5450" y="1138"/>
              <a:ext cx="1414"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00001</a:t>
              </a:r>
              <a:endParaRPr lang="en-US" altLang="x-none" sz="1800" b="0">
                <a:solidFill>
                  <a:schemeClr val="tx1"/>
                </a:solidFill>
                <a:latin typeface="Arial" panose="020B0604020202020204" pitchFamily="34" charset="0"/>
                <a:ea typeface="宋体" pitchFamily="2" charset="-122"/>
              </a:endParaRPr>
            </a:p>
          </p:txBody>
        </p:sp>
        <p:sp>
          <p:nvSpPr>
            <p:cNvPr id="53275" name="文本框 48154"/>
            <p:cNvSpPr txBox="1"/>
            <p:nvPr/>
          </p:nvSpPr>
          <p:spPr>
            <a:xfrm>
              <a:off x="5450" y="1924"/>
              <a:ext cx="1414"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00002</a:t>
              </a:r>
              <a:endParaRPr lang="en-US" altLang="x-none" sz="1800" b="0">
                <a:solidFill>
                  <a:schemeClr val="tx1"/>
                </a:solidFill>
                <a:latin typeface="Arial" panose="020B0604020202020204" pitchFamily="34" charset="0"/>
                <a:ea typeface="宋体" pitchFamily="2" charset="-122"/>
              </a:endParaRPr>
            </a:p>
          </p:txBody>
        </p:sp>
        <p:sp>
          <p:nvSpPr>
            <p:cNvPr id="53276" name="文本框 48155"/>
            <p:cNvSpPr txBox="1"/>
            <p:nvPr/>
          </p:nvSpPr>
          <p:spPr>
            <a:xfrm>
              <a:off x="5450" y="2700"/>
              <a:ext cx="1389"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00003</a:t>
              </a:r>
              <a:endParaRPr lang="en-US" altLang="x-none" sz="1800" b="0">
                <a:solidFill>
                  <a:schemeClr val="tx1"/>
                </a:solidFill>
                <a:latin typeface="Arial" panose="020B0604020202020204" pitchFamily="34" charset="0"/>
                <a:ea typeface="宋体" pitchFamily="2" charset="-122"/>
              </a:endParaRPr>
            </a:p>
          </p:txBody>
        </p:sp>
        <p:sp>
          <p:nvSpPr>
            <p:cNvPr id="53277" name="文本框 48156"/>
            <p:cNvSpPr txBox="1"/>
            <p:nvPr/>
          </p:nvSpPr>
          <p:spPr>
            <a:xfrm>
              <a:off x="5450" y="3474"/>
              <a:ext cx="1414"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00004</a:t>
              </a:r>
              <a:endParaRPr lang="en-US" altLang="x-none" sz="1800" b="0">
                <a:solidFill>
                  <a:schemeClr val="tx1"/>
                </a:solidFill>
                <a:latin typeface="Arial" panose="020B0604020202020204" pitchFamily="34" charset="0"/>
                <a:ea typeface="宋体" pitchFamily="2" charset="-122"/>
              </a:endParaRPr>
            </a:p>
          </p:txBody>
        </p:sp>
        <p:sp>
          <p:nvSpPr>
            <p:cNvPr id="53278" name="文本框 48157"/>
            <p:cNvSpPr txBox="1"/>
            <p:nvPr/>
          </p:nvSpPr>
          <p:spPr>
            <a:xfrm>
              <a:off x="5450" y="4260"/>
              <a:ext cx="1428"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00005</a:t>
              </a:r>
              <a:endParaRPr lang="en-US" altLang="x-none" sz="1800" b="0">
                <a:solidFill>
                  <a:schemeClr val="tx1"/>
                </a:solidFill>
                <a:latin typeface="Arial" panose="020B0604020202020204" pitchFamily="34" charset="0"/>
                <a:ea typeface="宋体" pitchFamily="2" charset="-122"/>
              </a:endParaRPr>
            </a:p>
          </p:txBody>
        </p:sp>
        <p:sp>
          <p:nvSpPr>
            <p:cNvPr id="53279" name="文本框 48158"/>
            <p:cNvSpPr txBox="1"/>
            <p:nvPr/>
          </p:nvSpPr>
          <p:spPr>
            <a:xfrm>
              <a:off x="5450" y="5037"/>
              <a:ext cx="1414"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00006</a:t>
              </a:r>
              <a:endParaRPr lang="en-US" altLang="x-none" sz="1800" b="0">
                <a:solidFill>
                  <a:schemeClr val="tx1"/>
                </a:solidFill>
                <a:latin typeface="Arial" panose="020B0604020202020204" pitchFamily="34" charset="0"/>
                <a:ea typeface="宋体" pitchFamily="2" charset="-122"/>
              </a:endParaRPr>
            </a:p>
          </p:txBody>
        </p:sp>
        <p:sp>
          <p:nvSpPr>
            <p:cNvPr id="53280" name="文本框 48159"/>
            <p:cNvSpPr txBox="1"/>
            <p:nvPr/>
          </p:nvSpPr>
          <p:spPr>
            <a:xfrm>
              <a:off x="5450" y="5815"/>
              <a:ext cx="1441"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00007</a:t>
              </a:r>
              <a:endParaRPr lang="en-US" altLang="x-none" sz="1800" b="0">
                <a:solidFill>
                  <a:schemeClr val="tx1"/>
                </a:solidFill>
                <a:latin typeface="Arial" panose="020B0604020202020204" pitchFamily="34" charset="0"/>
                <a:ea typeface="宋体" pitchFamily="2" charset="-122"/>
              </a:endParaRPr>
            </a:p>
          </p:txBody>
        </p:sp>
        <p:sp>
          <p:nvSpPr>
            <p:cNvPr id="53281" name="文本框 48160"/>
            <p:cNvSpPr txBox="1"/>
            <p:nvPr/>
          </p:nvSpPr>
          <p:spPr>
            <a:xfrm>
              <a:off x="5450" y="7713"/>
              <a:ext cx="1482"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003FC</a:t>
              </a:r>
              <a:endParaRPr lang="en-US" altLang="x-none" sz="1800" b="0">
                <a:solidFill>
                  <a:schemeClr val="tx1"/>
                </a:solidFill>
                <a:latin typeface="Arial" panose="020B0604020202020204" pitchFamily="34" charset="0"/>
                <a:ea typeface="宋体" pitchFamily="2" charset="-122"/>
              </a:endParaRPr>
            </a:p>
          </p:txBody>
        </p:sp>
        <p:sp>
          <p:nvSpPr>
            <p:cNvPr id="53282" name="文本框 48161"/>
            <p:cNvSpPr txBox="1"/>
            <p:nvPr/>
          </p:nvSpPr>
          <p:spPr>
            <a:xfrm>
              <a:off x="5450" y="8423"/>
              <a:ext cx="1496"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003FD</a:t>
              </a:r>
              <a:endParaRPr lang="en-US" altLang="x-none" sz="1800" b="0">
                <a:solidFill>
                  <a:schemeClr val="tx1"/>
                </a:solidFill>
                <a:latin typeface="Arial" panose="020B0604020202020204" pitchFamily="34" charset="0"/>
                <a:ea typeface="宋体" pitchFamily="2" charset="-122"/>
              </a:endParaRPr>
            </a:p>
          </p:txBody>
        </p:sp>
        <p:sp>
          <p:nvSpPr>
            <p:cNvPr id="53283" name="文本框 48162"/>
            <p:cNvSpPr txBox="1"/>
            <p:nvPr/>
          </p:nvSpPr>
          <p:spPr>
            <a:xfrm>
              <a:off x="5450" y="9130"/>
              <a:ext cx="1475"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003FE</a:t>
              </a:r>
              <a:endParaRPr lang="en-US" altLang="x-none" sz="1800" b="0">
                <a:solidFill>
                  <a:schemeClr val="tx1"/>
                </a:solidFill>
                <a:latin typeface="Arial" panose="020B0604020202020204" pitchFamily="34" charset="0"/>
                <a:ea typeface="宋体" pitchFamily="2" charset="-122"/>
              </a:endParaRPr>
            </a:p>
          </p:txBody>
        </p:sp>
        <p:sp>
          <p:nvSpPr>
            <p:cNvPr id="53284" name="文本框 48163"/>
            <p:cNvSpPr txBox="1"/>
            <p:nvPr/>
          </p:nvSpPr>
          <p:spPr>
            <a:xfrm>
              <a:off x="5450" y="9840"/>
              <a:ext cx="1429"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003FF</a:t>
              </a:r>
              <a:endParaRPr lang="en-US" altLang="x-none" sz="1800" b="0">
                <a:solidFill>
                  <a:schemeClr val="tx1"/>
                </a:solidFill>
                <a:latin typeface="Arial" panose="020B0604020202020204" pitchFamily="34" charset="0"/>
                <a:ea typeface="宋体" pitchFamily="2" charset="-122"/>
              </a:endParaRPr>
            </a:p>
          </p:txBody>
        </p:sp>
        <p:sp>
          <p:nvSpPr>
            <p:cNvPr id="53285" name="矩形 48164"/>
            <p:cNvSpPr/>
            <p:nvPr/>
          </p:nvSpPr>
          <p:spPr>
            <a:xfrm>
              <a:off x="12203" y="2153"/>
              <a:ext cx="980"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CS</a:t>
              </a:r>
              <a:endParaRPr lang="en-US" altLang="x-none" sz="1800" b="0">
                <a:solidFill>
                  <a:schemeClr val="tx1"/>
                </a:solidFill>
                <a:latin typeface="Arial" panose="020B0604020202020204" pitchFamily="34" charset="0"/>
                <a:ea typeface="宋体" pitchFamily="2" charset="-122"/>
              </a:endParaRPr>
            </a:p>
          </p:txBody>
        </p:sp>
        <p:sp>
          <p:nvSpPr>
            <p:cNvPr id="53286" name="矩形 48165"/>
            <p:cNvSpPr/>
            <p:nvPr/>
          </p:nvSpPr>
          <p:spPr>
            <a:xfrm>
              <a:off x="12205" y="5280"/>
              <a:ext cx="965"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CS</a:t>
              </a:r>
              <a:endParaRPr lang="en-US" altLang="x-none" sz="1800" b="0">
                <a:solidFill>
                  <a:schemeClr val="tx1"/>
                </a:solidFill>
                <a:latin typeface="Arial" panose="020B0604020202020204" pitchFamily="34" charset="0"/>
                <a:ea typeface="宋体" pitchFamily="2" charset="-122"/>
              </a:endParaRPr>
            </a:p>
          </p:txBody>
        </p:sp>
        <p:sp>
          <p:nvSpPr>
            <p:cNvPr id="53287" name="矩形 48166"/>
            <p:cNvSpPr/>
            <p:nvPr/>
          </p:nvSpPr>
          <p:spPr>
            <a:xfrm>
              <a:off x="12205" y="9480"/>
              <a:ext cx="1043" cy="644"/>
            </a:xfrm>
            <a:prstGeom prst="rect">
              <a:avLst/>
            </a:prstGeom>
            <a:noFill/>
            <a:ln w="9525">
              <a:noFill/>
              <a:miter/>
            </a:ln>
          </p:spPr>
          <p:txBody>
            <a:bodyPr wrap="square" lIns="87273" tIns="43636" rIns="87273" bIns="43636" anchor="t">
              <a:spAutoFit/>
            </a:bodyPr>
            <a:p>
              <a:pPr lvl="0" defTabSz="873125"/>
              <a:r>
                <a:rPr lang="en-US" altLang="x-none" sz="1800" b="0">
                  <a:solidFill>
                    <a:schemeClr val="tx1"/>
                  </a:solidFill>
                  <a:latin typeface="Arial" panose="020B0604020202020204" pitchFamily="34" charset="0"/>
                  <a:ea typeface="宋体" pitchFamily="2" charset="-122"/>
                </a:rPr>
                <a:t>CS</a:t>
              </a:r>
              <a:endParaRPr lang="en-US" altLang="x-none" sz="1800" b="0">
                <a:solidFill>
                  <a:schemeClr val="tx1"/>
                </a:solidFill>
                <a:latin typeface="Arial" panose="020B0604020202020204" pitchFamily="34" charset="0"/>
                <a:ea typeface="宋体" pitchFamily="2" charset="-122"/>
              </a:endParaRPr>
            </a:p>
          </p:txBody>
        </p:sp>
      </p:grpSp>
      <p:sp>
        <p:nvSpPr>
          <p:cNvPr id="53288" name="文本框 4816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43</a:t>
            </a:r>
            <a:endParaRPr lang="en-US" altLang="zh-CN" sz="1400" b="0">
              <a:solidFill>
                <a:schemeClr val="tx2"/>
              </a:solidFill>
              <a:latin typeface="Times New Roman" panose="020206030504050203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框 48129"/>
          <p:cNvSpPr txBox="1"/>
          <p:nvPr/>
        </p:nvSpPr>
        <p:spPr>
          <a:xfrm>
            <a:off x="814388" y="838200"/>
            <a:ext cx="6440488" cy="512763"/>
          </a:xfrm>
          <a:prstGeom prst="rect">
            <a:avLst/>
          </a:prstGeom>
          <a:noFill/>
          <a:ln w="9525">
            <a:noFill/>
          </a:ln>
        </p:spPr>
        <p:txBody>
          <a:bodyPr wrap="square" lIns="87273" tIns="43636" rIns="87273" bIns="43636" anchor="t">
            <a:spAutoFit/>
          </a:bodyPr>
          <a:p>
            <a:pPr lvl="0" algn="just" defTabSz="873125" fontAlgn="base">
              <a:spcBef>
                <a:spcPct val="50000"/>
              </a:spcBef>
            </a:pPr>
            <a:r>
              <a:rPr lang="zh-CN" altLang="en-US" sz="2800" strike="noStrike" noProof="1" dirty="0">
                <a:solidFill>
                  <a:srgbClr val="990000"/>
                </a:solidFill>
                <a:effectLst>
                  <a:outerShdw blurRad="38100" dist="38100" dir="2700000" algn="tl">
                    <a:srgbClr val="000000">
                      <a:alpha val="43137"/>
                    </a:srgbClr>
                  </a:outerShdw>
                </a:effectLst>
                <a:latin typeface="+mj-lt"/>
                <a:ea typeface="宋体" pitchFamily="2" charset="-122"/>
                <a:cs typeface="+mj-cs"/>
              </a:rPr>
              <a:t>arm处理器的中断向量表</a:t>
            </a:r>
            <a:r>
              <a:rPr lang="zh-CN" sz="2400" b="0" strike="noStrike" noProof="1" dirty="0">
                <a:solidFill>
                  <a:schemeClr val="tx1"/>
                </a:solidFill>
                <a:latin typeface="Arial" panose="020B0604020202020204" pitchFamily="34" charset="0"/>
                <a:ea typeface="宋体" pitchFamily="2" charset="-122"/>
                <a:cs typeface="+mn-ea"/>
              </a:rPr>
              <a:t>：</a:t>
            </a:r>
            <a:endParaRPr lang="zh-CN" altLang="en-US" sz="2400" b="0" strike="noStrike" noProof="1" dirty="0">
              <a:solidFill>
                <a:schemeClr val="tx1"/>
              </a:solidFill>
              <a:latin typeface="Arial" panose="020B0604020202020204" pitchFamily="34" charset="0"/>
              <a:ea typeface="宋体" pitchFamily="2" charset="-122"/>
            </a:endParaRPr>
          </a:p>
        </p:txBody>
      </p:sp>
      <p:sp>
        <p:nvSpPr>
          <p:cNvPr id="54274" name="文本框 4816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43</a:t>
            </a:r>
            <a:endParaRPr lang="en-US" altLang="zh-CN" sz="1400" b="0">
              <a:solidFill>
                <a:schemeClr val="tx2"/>
              </a:solidFill>
              <a:latin typeface="Times New Roman" panose="02020603050405020304" charset="0"/>
              <a:ea typeface="宋体" pitchFamily="2" charset="-122"/>
            </a:endParaRPr>
          </a:p>
        </p:txBody>
      </p:sp>
      <p:pic>
        <p:nvPicPr>
          <p:cNvPr id="54275" name="图片 1"/>
          <p:cNvPicPr>
            <a:picLocks noChangeAspect="1"/>
          </p:cNvPicPr>
          <p:nvPr/>
        </p:nvPicPr>
        <p:blipFill>
          <a:blip r:embed="rId1"/>
          <a:stretch>
            <a:fillRect/>
          </a:stretch>
        </p:blipFill>
        <p:spPr>
          <a:xfrm>
            <a:off x="827088" y="1790700"/>
            <a:ext cx="6721475" cy="3956050"/>
          </a:xfrm>
          <a:prstGeom prst="rect">
            <a:avLst/>
          </a:prstGeom>
          <a:noFill/>
          <a:ln w="9525">
            <a:noFill/>
            <a:miter/>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框 4505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40</a:t>
            </a:r>
            <a:endParaRPr lang="en-US" altLang="zh-CN" sz="1400" b="0">
              <a:solidFill>
                <a:schemeClr val="tx2"/>
              </a:solidFill>
              <a:latin typeface="Times New Roman" panose="02020603050405020304" charset="0"/>
              <a:ea typeface="宋体" pitchFamily="2" charset="-122"/>
            </a:endParaRPr>
          </a:p>
        </p:txBody>
      </p:sp>
      <p:sp>
        <p:nvSpPr>
          <p:cNvPr id="45059" name="矩形 45058"/>
          <p:cNvSpPr/>
          <p:nvPr/>
        </p:nvSpPr>
        <p:spPr>
          <a:xfrm>
            <a:off x="128588" y="1216025"/>
            <a:ext cx="4341813" cy="23193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a:t>
            </a:r>
            <a:r>
              <a:rPr lang="zh-CN" altLang="en-US" sz="2400" b="1" strike="noStrike" noProof="1">
                <a:solidFill>
                  <a:srgbClr val="000099"/>
                </a:solidFill>
                <a:latin typeface="Times New Roman" panose="02020603050405020304" charset="0"/>
                <a:ea typeface="宋体" pitchFamily="2" charset="-122"/>
                <a:cs typeface="+mn-cs"/>
              </a:rPr>
              <a:t>保留程序断点及处理机</a:t>
            </a:r>
            <a:endParaRPr lang="zh-CN" altLang="en-US" sz="2400" b="1" strike="noStrike" noProof="1">
              <a:solidFill>
                <a:srgbClr val="000099"/>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cs"/>
              </a:rPr>
              <a:t>      有关信息      </a:t>
            </a:r>
            <a:endParaRPr lang="zh-CN" altLang="en-US" sz="2400" b="1" strike="noStrike" noProof="1">
              <a:solidFill>
                <a:srgbClr val="000099"/>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② </a:t>
            </a:r>
            <a:r>
              <a:rPr lang="zh-CN" altLang="en-US" sz="2400" b="1" strike="noStrike" noProof="1">
                <a:solidFill>
                  <a:srgbClr val="000099"/>
                </a:solidFill>
                <a:latin typeface="Times New Roman" panose="02020603050405020304" charset="0"/>
                <a:ea typeface="宋体" pitchFamily="2" charset="-122"/>
                <a:cs typeface="+mn-cs"/>
              </a:rPr>
              <a:t>自动转入相应的中断处</a:t>
            </a:r>
            <a:endParaRPr lang="zh-CN" altLang="en-US" sz="2400" b="1" strike="noStrike" noProof="1">
              <a:solidFill>
                <a:srgbClr val="000099"/>
              </a:solidFill>
              <a:latin typeface="Times New Roman" panose="02020603050405020304" charset="0"/>
              <a:ea typeface="宋体" pitchFamily="2" charset="-122"/>
            </a:endParaRPr>
          </a:p>
          <a:p>
            <a:pPr marL="914400" lvl="1" indent="-4572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cs"/>
              </a:rPr>
              <a:t>      理程序执行</a:t>
            </a:r>
            <a:r>
              <a:rPr lang="zh-CN" altLang="en-US" sz="2000" b="1" strike="noStrike" noProof="1">
                <a:solidFill>
                  <a:schemeClr val="tx1"/>
                </a:solidFill>
                <a:latin typeface="Times New Roman" panose="02020603050405020304" charset="0"/>
                <a:ea typeface="宋体" pitchFamily="2" charset="-122"/>
                <a:cs typeface="+mn-cs"/>
              </a:rPr>
              <a:t>     </a:t>
            </a:r>
            <a:endParaRPr lang="zh-CN" altLang="en-US" sz="2000" b="1" strike="noStrike" noProof="1">
              <a:solidFill>
                <a:schemeClr val="tx1"/>
              </a:solidFill>
              <a:latin typeface="Times New Roman" panose="02020603050405020304" charset="0"/>
              <a:ea typeface="宋体" pitchFamily="2" charset="-122"/>
            </a:endParaRPr>
          </a:p>
        </p:txBody>
      </p:sp>
      <p:grpSp>
        <p:nvGrpSpPr>
          <p:cNvPr id="45060" name="组合 45059"/>
          <p:cNvGrpSpPr/>
          <p:nvPr/>
        </p:nvGrpSpPr>
        <p:grpSpPr>
          <a:xfrm>
            <a:off x="4494530" y="1233488"/>
            <a:ext cx="4187825" cy="4078287"/>
            <a:chOff x="0" y="0"/>
            <a:chExt cx="2638" cy="2569"/>
          </a:xfrm>
        </p:grpSpPr>
        <p:sp>
          <p:nvSpPr>
            <p:cNvPr id="55300" name="直接连接符 45060"/>
            <p:cNvSpPr/>
            <p:nvPr/>
          </p:nvSpPr>
          <p:spPr>
            <a:xfrm>
              <a:off x="534" y="1127"/>
              <a:ext cx="1087" cy="869"/>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5301" name="直接连接符 45061"/>
            <p:cNvSpPr/>
            <p:nvPr/>
          </p:nvSpPr>
          <p:spPr>
            <a:xfrm>
              <a:off x="489" y="812"/>
              <a:ext cx="1133" cy="1000"/>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5302" name="直接连接符 45062"/>
            <p:cNvSpPr/>
            <p:nvPr/>
          </p:nvSpPr>
          <p:spPr>
            <a:xfrm flipH="1">
              <a:off x="414" y="470"/>
              <a:ext cx="1206" cy="592"/>
            </a:xfrm>
            <a:prstGeom prst="line">
              <a:avLst/>
            </a:prstGeom>
            <a:ln w="25400" cap="flat" cmpd="sng">
              <a:solidFill>
                <a:srgbClr val="660033"/>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5303" name="直接连接符 45063"/>
            <p:cNvSpPr/>
            <p:nvPr/>
          </p:nvSpPr>
          <p:spPr>
            <a:xfrm flipH="1">
              <a:off x="311" y="248"/>
              <a:ext cx="1316" cy="481"/>
            </a:xfrm>
            <a:prstGeom prst="line">
              <a:avLst/>
            </a:prstGeom>
            <a:ln w="25400" cap="flat" cmpd="sng">
              <a:solidFill>
                <a:srgbClr val="660033"/>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5304" name="文本框 45064"/>
            <p:cNvSpPr txBox="1"/>
            <p:nvPr/>
          </p:nvSpPr>
          <p:spPr>
            <a:xfrm>
              <a:off x="1544" y="0"/>
              <a:ext cx="1094" cy="1320"/>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just">
                <a:lnSpc>
                  <a:spcPct val="80000"/>
                </a:lnSpc>
              </a:pPr>
              <a:endParaRPr lang="zh-CN" altLang="en-US" sz="1400">
                <a:solidFill>
                  <a:schemeClr val="tx1"/>
                </a:solidFill>
                <a:latin typeface="Times New Roman" panose="02020603050405020304" charset="0"/>
                <a:ea typeface="宋体" pitchFamily="2" charset="-122"/>
              </a:endParaRPr>
            </a:p>
            <a:p>
              <a:pPr lvl="0" algn="just">
                <a:lnSpc>
                  <a:spcPct val="80000"/>
                </a:lnSpc>
              </a:pPr>
              <a:endParaRPr lang="zh-CN" altLang="en-US" sz="1400">
                <a:solidFill>
                  <a:schemeClr val="tx1"/>
                </a:solidFill>
                <a:latin typeface="Times New Roman" panose="02020603050405020304" charset="0"/>
                <a:ea typeface="宋体" pitchFamily="2" charset="-122"/>
              </a:endParaRPr>
            </a:p>
            <a:p>
              <a:pPr lvl="0" algn="just">
                <a:lnSpc>
                  <a:spcPct val="80000"/>
                </a:lnSpc>
              </a:pPr>
              <a:r>
                <a:rPr lang="zh-CN" altLang="en-US" sz="1400">
                  <a:solidFill>
                    <a:schemeClr val="tx1"/>
                  </a:solidFill>
                  <a:latin typeface="Times New Roman" panose="02020603050405020304" charset="0"/>
                  <a:ea typeface="宋体" pitchFamily="2" charset="-122"/>
                </a:rPr>
                <a:t>中断处理程序的</a:t>
              </a:r>
              <a:r>
                <a:rPr lang="en-US" altLang="zh-CN" sz="1400">
                  <a:solidFill>
                    <a:schemeClr val="tx1"/>
                  </a:solidFill>
                  <a:latin typeface="Times New Roman" panose="02020603050405020304" charset="0"/>
                  <a:ea typeface="宋体" pitchFamily="2" charset="-122"/>
                </a:rPr>
                <a:t>PC</a:t>
              </a:r>
              <a:endParaRPr lang="en-US" altLang="zh-CN" sz="1400">
                <a:solidFill>
                  <a:schemeClr val="tx1"/>
                </a:solidFill>
                <a:latin typeface="Times New Roman" panose="02020603050405020304" charset="0"/>
                <a:ea typeface="宋体" pitchFamily="2" charset="-122"/>
              </a:endParaRPr>
            </a:p>
            <a:p>
              <a:pPr lvl="0" algn="just">
                <a:lnSpc>
                  <a:spcPct val="80000"/>
                </a:lnSpc>
              </a:pPr>
              <a:endParaRPr lang="en-US" altLang="zh-CN" sz="1400">
                <a:solidFill>
                  <a:schemeClr val="tx1"/>
                </a:solidFill>
                <a:latin typeface="Times New Roman" panose="02020603050405020304" charset="0"/>
                <a:ea typeface="宋体" pitchFamily="2" charset="-122"/>
              </a:endParaRPr>
            </a:p>
            <a:p>
              <a:pPr lvl="0" algn="just">
                <a:lnSpc>
                  <a:spcPct val="80000"/>
                </a:lnSpc>
              </a:pPr>
              <a:r>
                <a:rPr lang="zh-CN" altLang="en-US" sz="1400">
                  <a:solidFill>
                    <a:schemeClr val="tx1"/>
                  </a:solidFill>
                  <a:latin typeface="Times New Roman" panose="02020603050405020304" charset="0"/>
                  <a:ea typeface="宋体" pitchFamily="2" charset="-122"/>
                </a:rPr>
                <a:t>中断处理程序的</a:t>
              </a:r>
              <a:r>
                <a:rPr lang="en-US" altLang="zh-CN" sz="1400">
                  <a:solidFill>
                    <a:schemeClr val="tx1"/>
                  </a:solidFill>
                  <a:latin typeface="Times New Roman" panose="02020603050405020304" charset="0"/>
                  <a:ea typeface="宋体" pitchFamily="2" charset="-122"/>
                </a:rPr>
                <a:t>PS</a:t>
              </a:r>
              <a:endParaRPr lang="en-US" altLang="zh-CN" sz="1400">
                <a:solidFill>
                  <a:schemeClr val="tx1"/>
                </a:solidFill>
                <a:latin typeface="Times New Roman" panose="02020603050405020304" charset="0"/>
                <a:ea typeface="宋体" pitchFamily="2" charset="-122"/>
              </a:endParaRPr>
            </a:p>
            <a:p>
              <a:pPr lvl="0" algn="just">
                <a:lnSpc>
                  <a:spcPct val="80000"/>
                </a:lnSpc>
              </a:pPr>
              <a:endParaRPr lang="en-US" altLang="zh-CN" sz="1400">
                <a:solidFill>
                  <a:schemeClr val="tx1"/>
                </a:solidFill>
                <a:latin typeface="Times New Roman" panose="02020603050405020304" charset="0"/>
                <a:ea typeface="宋体" pitchFamily="2" charset="-122"/>
              </a:endParaRPr>
            </a:p>
            <a:p>
              <a:pPr lvl="0" algn="just">
                <a:lnSpc>
                  <a:spcPct val="80000"/>
                </a:lnSpc>
              </a:pPr>
              <a:endParaRPr lang="en-US" altLang="zh-CN" sz="1400">
                <a:solidFill>
                  <a:schemeClr val="tx1"/>
                </a:solidFill>
                <a:latin typeface="Times New Roman" panose="02020603050405020304" charset="0"/>
                <a:ea typeface="宋体" pitchFamily="2" charset="-122"/>
              </a:endParaRPr>
            </a:p>
          </p:txBody>
        </p:sp>
        <p:sp>
          <p:nvSpPr>
            <p:cNvPr id="55305" name="直接连接符 45065"/>
            <p:cNvSpPr/>
            <p:nvPr/>
          </p:nvSpPr>
          <p:spPr>
            <a:xfrm>
              <a:off x="1533" y="188"/>
              <a:ext cx="109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06" name="直接连接符 45066"/>
            <p:cNvSpPr/>
            <p:nvPr/>
          </p:nvSpPr>
          <p:spPr>
            <a:xfrm>
              <a:off x="1543" y="603"/>
              <a:ext cx="109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07" name="文本框 45067"/>
            <p:cNvSpPr txBox="1"/>
            <p:nvPr/>
          </p:nvSpPr>
          <p:spPr>
            <a:xfrm>
              <a:off x="1739" y="1315"/>
              <a:ext cx="773" cy="211"/>
            </a:xfrm>
            <a:prstGeom prst="rect">
              <a:avLst/>
            </a:prstGeom>
            <a:noFill/>
            <a:ln w="9525">
              <a:noFill/>
              <a:miter/>
            </a:ln>
          </p:spPr>
          <p:txBody>
            <a:bodyPr wrap="square" anchor="t">
              <a:spAutoFit/>
            </a:bodyPr>
            <a:p>
              <a:pPr lvl="0">
                <a:spcBef>
                  <a:spcPct val="50000"/>
                </a:spcBef>
              </a:pPr>
              <a:r>
                <a:rPr lang="zh-CN" altLang="en-US" sz="1600">
                  <a:solidFill>
                    <a:schemeClr val="tx1"/>
                  </a:solidFill>
                  <a:latin typeface="Times New Roman" panose="02020603050405020304" charset="0"/>
                  <a:ea typeface="宋体" pitchFamily="2" charset="-122"/>
                </a:rPr>
                <a:t>中断向量表</a:t>
              </a:r>
              <a:endParaRPr lang="zh-CN" altLang="en-US" sz="1600">
                <a:solidFill>
                  <a:schemeClr val="tx1"/>
                </a:solidFill>
                <a:latin typeface="Times New Roman" panose="02020603050405020304" charset="0"/>
                <a:ea typeface="宋体" pitchFamily="2" charset="-122"/>
              </a:endParaRPr>
            </a:p>
          </p:txBody>
        </p:sp>
        <p:grpSp>
          <p:nvGrpSpPr>
            <p:cNvPr id="55308" name="组合 45068"/>
            <p:cNvGrpSpPr/>
            <p:nvPr/>
          </p:nvGrpSpPr>
          <p:grpSpPr>
            <a:xfrm>
              <a:off x="0" y="536"/>
              <a:ext cx="585" cy="675"/>
              <a:chOff x="0" y="0"/>
              <a:chExt cx="768" cy="874"/>
            </a:xfrm>
          </p:grpSpPr>
          <p:sp>
            <p:nvSpPr>
              <p:cNvPr id="55309" name="矩形 45069"/>
              <p:cNvSpPr/>
              <p:nvPr/>
            </p:nvSpPr>
            <p:spPr>
              <a:xfrm>
                <a:off x="0" y="250"/>
                <a:ext cx="768" cy="192"/>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10" name="矩形 45070"/>
              <p:cNvSpPr/>
              <p:nvPr/>
            </p:nvSpPr>
            <p:spPr>
              <a:xfrm>
                <a:off x="0" y="682"/>
                <a:ext cx="768" cy="192"/>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11" name="文本框 45071"/>
              <p:cNvSpPr txBox="1"/>
              <p:nvPr/>
            </p:nvSpPr>
            <p:spPr>
              <a:xfrm>
                <a:off x="144" y="0"/>
                <a:ext cx="528" cy="249"/>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PC</a:t>
                </a:r>
                <a:endParaRPr lang="en-US" altLang="zh-CN" sz="1400">
                  <a:solidFill>
                    <a:schemeClr val="tx1"/>
                  </a:solidFill>
                  <a:latin typeface="Times New Roman" panose="02020603050405020304" charset="0"/>
                  <a:ea typeface="宋体" pitchFamily="2" charset="-122"/>
                </a:endParaRPr>
              </a:p>
            </p:txBody>
          </p:sp>
          <p:sp>
            <p:nvSpPr>
              <p:cNvPr id="55312" name="文本框 45072"/>
              <p:cNvSpPr txBox="1"/>
              <p:nvPr/>
            </p:nvSpPr>
            <p:spPr>
              <a:xfrm>
                <a:off x="144" y="443"/>
                <a:ext cx="528" cy="248"/>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PS</a:t>
                </a:r>
                <a:endParaRPr lang="en-US" altLang="zh-CN" sz="1400">
                  <a:solidFill>
                    <a:schemeClr val="tx1"/>
                  </a:solidFill>
                  <a:latin typeface="Times New Roman" panose="02020603050405020304" charset="0"/>
                  <a:ea typeface="宋体" pitchFamily="2" charset="-122"/>
                </a:endParaRPr>
              </a:p>
            </p:txBody>
          </p:sp>
        </p:grpSp>
        <p:sp>
          <p:nvSpPr>
            <p:cNvPr id="55313" name="文本框 45073"/>
            <p:cNvSpPr txBox="1"/>
            <p:nvPr/>
          </p:nvSpPr>
          <p:spPr>
            <a:xfrm>
              <a:off x="1617" y="1617"/>
              <a:ext cx="558" cy="704"/>
            </a:xfrm>
            <a:prstGeom prst="rect">
              <a:avLst/>
            </a:prstGeom>
            <a:solidFill>
              <a:srgbClr val="CCFFFF"/>
            </a:solidFill>
            <a:ln w="9525" cap="flat" cmpd="sng">
              <a:solidFill>
                <a:srgbClr val="000000"/>
              </a:solidFill>
              <a:prstDash val="solid"/>
              <a:miter/>
              <a:headEnd type="none" w="med" len="med"/>
              <a:tailEnd type="none" w="med" len="med"/>
            </a:ln>
          </p:spPr>
          <p:txBody>
            <a:bodyPr anchor="t"/>
            <a:p>
              <a:pPr lvl="0" algn="just"/>
              <a:endParaRPr lang="zh-CN" altLang="en-US" sz="1400">
                <a:solidFill>
                  <a:schemeClr val="tx1"/>
                </a:solidFill>
                <a:latin typeface="Times New Roman" panose="02020603050405020304" charset="0"/>
                <a:ea typeface="宋体" pitchFamily="2" charset="-122"/>
              </a:endParaRPr>
            </a:p>
            <a:p>
              <a:pPr lvl="0" algn="just"/>
              <a:r>
                <a:rPr lang="zh-CN" altLang="en-US" sz="1400">
                  <a:solidFill>
                    <a:schemeClr val="tx1"/>
                  </a:solidFill>
                  <a:latin typeface="Times New Roman" panose="02020603050405020304" charset="0"/>
                  <a:ea typeface="宋体" pitchFamily="2" charset="-122"/>
                </a:rPr>
                <a:t>    </a:t>
              </a:r>
              <a:r>
                <a:rPr lang="en-US" altLang="zh-CN" sz="1400">
                  <a:solidFill>
                    <a:schemeClr val="tx1"/>
                  </a:solidFill>
                  <a:latin typeface="Times New Roman" panose="02020603050405020304" charset="0"/>
                  <a:ea typeface="宋体" pitchFamily="2" charset="-122"/>
                </a:rPr>
                <a:t>PC</a:t>
              </a:r>
              <a:endParaRPr lang="en-US" altLang="zh-CN" sz="1400">
                <a:solidFill>
                  <a:schemeClr val="tx1"/>
                </a:solidFill>
                <a:latin typeface="Times New Roman" panose="02020603050405020304" charset="0"/>
                <a:ea typeface="宋体" pitchFamily="2" charset="-122"/>
              </a:endParaRPr>
            </a:p>
            <a:p>
              <a:pPr lvl="0" algn="just"/>
              <a:r>
                <a:rPr lang="en-US" altLang="zh-CN" sz="1400">
                  <a:solidFill>
                    <a:schemeClr val="tx1"/>
                  </a:solidFill>
                  <a:latin typeface="Times New Roman" panose="02020603050405020304" charset="0"/>
                  <a:ea typeface="宋体" pitchFamily="2" charset="-122"/>
                </a:rPr>
                <a:t>    PS</a:t>
              </a:r>
              <a:endParaRPr lang="en-US" altLang="zh-CN" sz="1400">
                <a:solidFill>
                  <a:schemeClr val="tx1"/>
                </a:solidFill>
                <a:latin typeface="Times New Roman" panose="02020603050405020304" charset="0"/>
                <a:ea typeface="宋体" pitchFamily="2" charset="-122"/>
              </a:endParaRPr>
            </a:p>
          </p:txBody>
        </p:sp>
        <p:sp>
          <p:nvSpPr>
            <p:cNvPr id="55314" name="直接连接符 45074"/>
            <p:cNvSpPr/>
            <p:nvPr/>
          </p:nvSpPr>
          <p:spPr>
            <a:xfrm>
              <a:off x="1617" y="2084"/>
              <a:ext cx="55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15" name="直接连接符 45075"/>
            <p:cNvSpPr/>
            <p:nvPr/>
          </p:nvSpPr>
          <p:spPr>
            <a:xfrm>
              <a:off x="1617" y="1914"/>
              <a:ext cx="55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16" name="直接连接符 45076"/>
            <p:cNvSpPr/>
            <p:nvPr/>
          </p:nvSpPr>
          <p:spPr>
            <a:xfrm>
              <a:off x="1617" y="1765"/>
              <a:ext cx="55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5317" name="文本框 45077"/>
            <p:cNvSpPr txBox="1"/>
            <p:nvPr/>
          </p:nvSpPr>
          <p:spPr>
            <a:xfrm>
              <a:off x="1722" y="2357"/>
              <a:ext cx="402"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堆栈</a:t>
              </a:r>
              <a:endParaRPr lang="zh-CN" altLang="en-US" sz="1600">
                <a:solidFill>
                  <a:schemeClr val="tx1"/>
                </a:solidFill>
                <a:latin typeface="Times New Roman" panose="02020603050405020304" charset="0"/>
                <a:ea typeface="宋体" pitchFamily="2" charset="-122"/>
              </a:endParaRPr>
            </a:p>
          </p:txBody>
        </p:sp>
        <p:sp>
          <p:nvSpPr>
            <p:cNvPr id="55318" name="直接连接符 45078"/>
            <p:cNvSpPr/>
            <p:nvPr/>
          </p:nvSpPr>
          <p:spPr>
            <a:xfrm>
              <a:off x="1026" y="2074"/>
              <a:ext cx="586" cy="1"/>
            </a:xfrm>
            <a:prstGeom prst="line">
              <a:avLst/>
            </a:prstGeom>
            <a:ln w="25400"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5319" name="文本框 45079"/>
            <p:cNvSpPr txBox="1"/>
            <p:nvPr/>
          </p:nvSpPr>
          <p:spPr>
            <a:xfrm>
              <a:off x="1089" y="2088"/>
              <a:ext cx="585" cy="366"/>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itchFamily="2" charset="-122"/>
                </a:rPr>
                <a:t>堆栈栈</a:t>
              </a:r>
              <a:endParaRPr lang="zh-CN" altLang="en-US" sz="1600">
                <a:solidFill>
                  <a:schemeClr val="tx1"/>
                </a:solidFill>
                <a:latin typeface="Times New Roman" panose="02020603050405020304" charset="0"/>
                <a:ea typeface="宋体" pitchFamily="2" charset="-122"/>
              </a:endParaRPr>
            </a:p>
            <a:p>
              <a:pPr lvl="0"/>
              <a:r>
                <a:rPr lang="zh-CN" altLang="en-US" sz="1600">
                  <a:solidFill>
                    <a:schemeClr val="tx1"/>
                  </a:solidFill>
                  <a:latin typeface="Times New Roman" panose="02020603050405020304" charset="0"/>
                  <a:ea typeface="宋体" pitchFamily="2" charset="-122"/>
                </a:rPr>
                <a:t>顶指针</a:t>
              </a:r>
              <a:endParaRPr lang="zh-CN" altLang="en-US" sz="1600">
                <a:solidFill>
                  <a:schemeClr val="tx1"/>
                </a:solidFill>
                <a:latin typeface="Times New Roman" panose="02020603050405020304" charset="0"/>
                <a:ea typeface="宋体" pitchFamily="2" charset="-122"/>
              </a:endParaRPr>
            </a:p>
          </p:txBody>
        </p:sp>
        <p:sp>
          <p:nvSpPr>
            <p:cNvPr id="55320" name="文本框 45080"/>
            <p:cNvSpPr txBox="1"/>
            <p:nvPr/>
          </p:nvSpPr>
          <p:spPr>
            <a:xfrm>
              <a:off x="851" y="556"/>
              <a:ext cx="278" cy="192"/>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(4)</a:t>
              </a:r>
              <a:endParaRPr lang="en-US" altLang="zh-CN" sz="1400">
                <a:solidFill>
                  <a:schemeClr val="tx1"/>
                </a:solidFill>
                <a:latin typeface="Times New Roman" panose="02020603050405020304" charset="0"/>
                <a:ea typeface="宋体" pitchFamily="2" charset="-122"/>
              </a:endParaRPr>
            </a:p>
          </p:txBody>
        </p:sp>
        <p:sp>
          <p:nvSpPr>
            <p:cNvPr id="55321" name="文本框 45081"/>
            <p:cNvSpPr txBox="1"/>
            <p:nvPr/>
          </p:nvSpPr>
          <p:spPr>
            <a:xfrm>
              <a:off x="720" y="1395"/>
              <a:ext cx="277" cy="192"/>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(1)</a:t>
              </a:r>
              <a:endParaRPr lang="en-US" altLang="zh-CN" sz="1400">
                <a:solidFill>
                  <a:schemeClr val="tx1"/>
                </a:solidFill>
                <a:latin typeface="Times New Roman" panose="02020603050405020304" charset="0"/>
                <a:ea typeface="宋体" pitchFamily="2" charset="-122"/>
              </a:endParaRPr>
            </a:p>
          </p:txBody>
        </p:sp>
        <p:sp>
          <p:nvSpPr>
            <p:cNvPr id="55322" name="文本框 45082"/>
            <p:cNvSpPr txBox="1"/>
            <p:nvPr/>
          </p:nvSpPr>
          <p:spPr>
            <a:xfrm>
              <a:off x="1047" y="1104"/>
              <a:ext cx="275" cy="192"/>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(2)</a:t>
              </a:r>
              <a:endParaRPr lang="en-US" altLang="zh-CN" sz="1400">
                <a:solidFill>
                  <a:schemeClr val="tx1"/>
                </a:solidFill>
                <a:latin typeface="Times New Roman" panose="02020603050405020304" charset="0"/>
                <a:ea typeface="宋体" pitchFamily="2" charset="-122"/>
              </a:endParaRPr>
            </a:p>
          </p:txBody>
        </p:sp>
        <p:sp>
          <p:nvSpPr>
            <p:cNvPr id="55323" name="文本框 45083"/>
            <p:cNvSpPr txBox="1"/>
            <p:nvPr/>
          </p:nvSpPr>
          <p:spPr>
            <a:xfrm>
              <a:off x="883" y="205"/>
              <a:ext cx="278" cy="192"/>
            </a:xfrm>
            <a:prstGeom prst="rect">
              <a:avLst/>
            </a:prstGeom>
            <a:noFill/>
            <a:ln w="9525">
              <a:noFill/>
              <a:miter/>
            </a:ln>
          </p:spPr>
          <p:txBody>
            <a:bodyPr anchor="t">
              <a:spAutoFit/>
            </a:bodyPr>
            <a:p>
              <a:pPr lvl="0">
                <a:spcBef>
                  <a:spcPct val="50000"/>
                </a:spcBef>
              </a:pPr>
              <a:r>
                <a:rPr lang="en-US" altLang="zh-CN" sz="1400">
                  <a:solidFill>
                    <a:schemeClr val="tx1"/>
                  </a:solidFill>
                  <a:latin typeface="Times New Roman" panose="02020603050405020304" charset="0"/>
                  <a:ea typeface="宋体" pitchFamily="2" charset="-122"/>
                </a:rPr>
                <a:t>(3)</a:t>
              </a:r>
              <a:endParaRPr lang="en-US" altLang="zh-CN" sz="1400">
                <a:solidFill>
                  <a:schemeClr val="tx1"/>
                </a:solidFill>
                <a:latin typeface="Times New Roman" panose="02020603050405020304" charset="0"/>
                <a:ea typeface="宋体" pitchFamily="2" charset="-122"/>
              </a:endParaRPr>
            </a:p>
          </p:txBody>
        </p:sp>
        <p:sp>
          <p:nvSpPr>
            <p:cNvPr id="55324" name="直接连接符 45084"/>
            <p:cNvSpPr/>
            <p:nvPr/>
          </p:nvSpPr>
          <p:spPr>
            <a:xfrm>
              <a:off x="1534" y="387"/>
              <a:ext cx="1093"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45087" name="文本框 45086"/>
          <p:cNvSpPr txBox="1"/>
          <p:nvPr/>
        </p:nvSpPr>
        <p:spPr>
          <a:xfrm>
            <a:off x="5584825" y="5600700"/>
            <a:ext cx="2414588"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中断响应过程示意图</a:t>
            </a:r>
            <a:endParaRPr lang="zh-CN" altLang="en-US" sz="1600" b="0">
              <a:solidFill>
                <a:schemeClr val="tx1"/>
              </a:solidFill>
              <a:latin typeface="Times New Roman" panose="02020603050405020304" charset="0"/>
              <a:ea typeface="宋体" pitchFamily="2" charset="-122"/>
            </a:endParaRPr>
          </a:p>
        </p:txBody>
      </p:sp>
      <p:sp>
        <p:nvSpPr>
          <p:cNvPr id="45088" name="矩形 45087"/>
          <p:cNvSpPr/>
          <p:nvPr/>
        </p:nvSpPr>
        <p:spPr>
          <a:xfrm>
            <a:off x="679450" y="515938"/>
            <a:ext cx="5418138"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(4) </a:t>
            </a:r>
            <a:r>
              <a:rPr lang="zh-CN" altLang="en-US" sz="2800" b="1" strike="noStrike" noProof="1">
                <a:solidFill>
                  <a:srgbClr val="A50021"/>
                </a:solidFill>
                <a:latin typeface="Times New Roman" panose="02020603050405020304" charset="0"/>
                <a:ea typeface="宋体" pitchFamily="2" charset="-122"/>
                <a:cs typeface="+mn-ea"/>
              </a:rPr>
              <a:t>中断响应过程</a:t>
            </a:r>
            <a:endParaRPr lang="zh-CN" altLang="en-US" sz="2800" b="1" strike="noStrike" noProof="1">
              <a:solidFill>
                <a:srgbClr val="A50021"/>
              </a:solidFill>
              <a:latin typeface="Times New Roman" panose="02020603050405020304" charset="0"/>
              <a:ea typeface="宋体" pitchFamily="2" charset="-122"/>
            </a:endParaRPr>
          </a:p>
        </p:txBody>
      </p:sp>
      <p:sp>
        <p:nvSpPr>
          <p:cNvPr id="45090" name="矩形 4508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5087" grpId="0"/>
      <p:bldP spid="4508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460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itchFamily="2" charset="-122"/>
              </a:rPr>
              <a:t>41</a:t>
            </a:r>
            <a:endParaRPr lang="en-US" altLang="zh-CN" sz="1400" b="0">
              <a:solidFill>
                <a:schemeClr val="tx2"/>
              </a:solidFill>
              <a:latin typeface="Times New Roman" panose="02020603050405020304" charset="0"/>
              <a:ea typeface="宋体" pitchFamily="2" charset="-122"/>
            </a:endParaRPr>
          </a:p>
        </p:txBody>
      </p:sp>
      <p:sp>
        <p:nvSpPr>
          <p:cNvPr id="46083" name="矩形 46082"/>
          <p:cNvSpPr/>
          <p:nvPr/>
        </p:nvSpPr>
        <p:spPr>
          <a:xfrm>
            <a:off x="363538" y="1087438"/>
            <a:ext cx="8551863" cy="17351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itchFamily="2" charset="-122"/>
                <a:cs typeface="+mn-ea"/>
              </a:rPr>
              <a:t>    </a:t>
            </a:r>
            <a:r>
              <a:rPr lang="zh-CN" altLang="en-US" sz="2400" strike="noStrike" noProof="1">
                <a:solidFill>
                  <a:schemeClr val="tx1"/>
                </a:solidFill>
                <a:latin typeface="Times New Roman" panose="02020603050405020304" charset="0"/>
                <a:ea typeface="宋体" pitchFamily="2" charset="-122"/>
                <a:cs typeface="+mn-ea"/>
              </a:rPr>
              <a:t>当硬件完成了中断进入过程后，由相应的中断处理程序得到</a:t>
            </a:r>
            <a:endParaRPr lang="zh-CN" altLang="en-US" sz="2400"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ea"/>
              </a:rPr>
              <a:t>    控制权，进入了软件的中断处理过程。</a:t>
            </a:r>
            <a:endParaRPr lang="zh-CN" altLang="en-US" sz="2400" strike="noStrike" noProof="1">
              <a:solidFill>
                <a:schemeClr val="tx1"/>
              </a:solidFill>
              <a:latin typeface="Times New Roman" panose="02020603050405020304" charset="0"/>
              <a:ea typeface="宋体"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ea"/>
              </a:rPr>
              <a:t>    软件的中断处理过程如图所示。</a:t>
            </a:r>
            <a:endParaRPr lang="zh-CN" altLang="en-US" sz="2400" strike="noStrike" noProof="1">
              <a:solidFill>
                <a:schemeClr val="tx1"/>
              </a:solidFill>
              <a:latin typeface="Times New Roman" panose="02020603050405020304" charset="0"/>
              <a:ea typeface="宋体" pitchFamily="2" charset="-122"/>
            </a:endParaRPr>
          </a:p>
        </p:txBody>
      </p:sp>
      <p:grpSp>
        <p:nvGrpSpPr>
          <p:cNvPr id="46084" name="组合 46083"/>
          <p:cNvGrpSpPr/>
          <p:nvPr/>
        </p:nvGrpSpPr>
        <p:grpSpPr>
          <a:xfrm>
            <a:off x="1000125" y="2843213"/>
            <a:ext cx="7097713" cy="3314700"/>
            <a:chOff x="0" y="0"/>
            <a:chExt cx="3767" cy="2088"/>
          </a:xfrm>
        </p:grpSpPr>
        <p:sp>
          <p:nvSpPr>
            <p:cNvPr id="56324" name="直接连接符 46084"/>
            <p:cNvSpPr/>
            <p:nvPr/>
          </p:nvSpPr>
          <p:spPr>
            <a:xfrm>
              <a:off x="892" y="680"/>
              <a:ext cx="5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25" name="文本框 46085"/>
            <p:cNvSpPr txBox="1"/>
            <p:nvPr/>
          </p:nvSpPr>
          <p:spPr>
            <a:xfrm>
              <a:off x="1735" y="454"/>
              <a:ext cx="1834" cy="31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spcBef>
                  <a:spcPct val="20000"/>
                </a:spcBef>
              </a:pPr>
              <a:r>
                <a:rPr lang="zh-CN" altLang="en-US" sz="1600">
                  <a:solidFill>
                    <a:schemeClr val="tx1"/>
                  </a:solidFill>
                  <a:latin typeface="Times New Roman" panose="02020603050405020304" charset="0"/>
                  <a:ea typeface="宋体" pitchFamily="2" charset="-122"/>
                </a:rPr>
                <a:t>   保留被中断程序的现场</a:t>
              </a:r>
              <a:endParaRPr lang="zh-CN" altLang="en-US" sz="1600">
                <a:solidFill>
                  <a:schemeClr val="tx1"/>
                </a:solidFill>
                <a:latin typeface="Times New Roman" panose="02020603050405020304" charset="0"/>
                <a:ea typeface="宋体" pitchFamily="2" charset="-122"/>
              </a:endParaRPr>
            </a:p>
          </p:txBody>
        </p:sp>
        <p:sp>
          <p:nvSpPr>
            <p:cNvPr id="56326" name="文本框 46086"/>
            <p:cNvSpPr txBox="1"/>
            <p:nvPr/>
          </p:nvSpPr>
          <p:spPr>
            <a:xfrm>
              <a:off x="1735" y="926"/>
              <a:ext cx="1834" cy="326"/>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itchFamily="2" charset="-122"/>
                </a:rPr>
                <a:t>  进入相应的中断服务例程</a:t>
              </a:r>
              <a:endParaRPr lang="zh-CN" altLang="en-US" sz="1600">
                <a:solidFill>
                  <a:schemeClr val="tx1"/>
                </a:solidFill>
                <a:latin typeface="Times New Roman" panose="02020603050405020304" charset="0"/>
                <a:ea typeface="宋体" pitchFamily="2" charset="-122"/>
              </a:endParaRPr>
            </a:p>
          </p:txBody>
        </p:sp>
        <p:sp>
          <p:nvSpPr>
            <p:cNvPr id="56327" name="文本框 46087"/>
            <p:cNvSpPr txBox="1"/>
            <p:nvPr/>
          </p:nvSpPr>
          <p:spPr>
            <a:xfrm>
              <a:off x="1735" y="1416"/>
              <a:ext cx="1834" cy="326"/>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itchFamily="2" charset="-122"/>
                </a:rPr>
                <a:t>    恢复被中断程序的现场</a:t>
              </a:r>
              <a:endParaRPr lang="zh-CN" altLang="en-US" sz="1600">
                <a:solidFill>
                  <a:schemeClr val="tx1"/>
                </a:solidFill>
                <a:latin typeface="Times New Roman" panose="02020603050405020304" charset="0"/>
                <a:ea typeface="宋体" pitchFamily="2" charset="-122"/>
              </a:endParaRPr>
            </a:p>
          </p:txBody>
        </p:sp>
        <p:sp>
          <p:nvSpPr>
            <p:cNvPr id="56328" name="直接连接符 46088"/>
            <p:cNvSpPr/>
            <p:nvPr/>
          </p:nvSpPr>
          <p:spPr>
            <a:xfrm>
              <a:off x="2649" y="189"/>
              <a:ext cx="0" cy="265"/>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46090" name="矩形 46089"/>
            <p:cNvSpPr/>
            <p:nvPr/>
          </p:nvSpPr>
          <p:spPr>
            <a:xfrm>
              <a:off x="370" y="490"/>
              <a:ext cx="548" cy="703"/>
            </a:xfrm>
            <a:prstGeom prst="rect">
              <a:avLst/>
            </a:prstGeom>
            <a:solidFill>
              <a:srgbClr val="CCFFCC"/>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B0604020202020204" pitchFamily="34" charset="0"/>
                <a:ea typeface="宋体" pitchFamily="2" charset="-122"/>
              </a:endParaRPr>
            </a:p>
          </p:txBody>
        </p:sp>
        <p:sp>
          <p:nvSpPr>
            <p:cNvPr id="56330" name="直接连接符 46090"/>
            <p:cNvSpPr/>
            <p:nvPr/>
          </p:nvSpPr>
          <p:spPr>
            <a:xfrm>
              <a:off x="1428" y="189"/>
              <a:ext cx="122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31" name="直接连接符 46091"/>
            <p:cNvSpPr/>
            <p:nvPr/>
          </p:nvSpPr>
          <p:spPr>
            <a:xfrm>
              <a:off x="3767" y="0"/>
              <a:ext cx="0" cy="2088"/>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32" name="文本框 46092"/>
            <p:cNvSpPr txBox="1"/>
            <p:nvPr/>
          </p:nvSpPr>
          <p:spPr>
            <a:xfrm>
              <a:off x="943" y="817"/>
              <a:ext cx="494" cy="489"/>
            </a:xfrm>
            <a:prstGeom prst="rect">
              <a:avLst/>
            </a:prstGeom>
            <a:noFill/>
            <a:ln w="9525">
              <a:noFill/>
              <a:miter/>
            </a:ln>
          </p:spPr>
          <p:txBody>
            <a:bodyPr anchor="t"/>
            <a:p>
              <a:pPr lvl="0" algn="ctr"/>
              <a:r>
                <a:rPr lang="zh-CN" altLang="en-US" sz="1600">
                  <a:solidFill>
                    <a:schemeClr val="tx1"/>
                  </a:solidFill>
                  <a:latin typeface="Times New Roman" panose="02020603050405020304" charset="0"/>
                  <a:ea typeface="宋体" pitchFamily="2" charset="-122"/>
                </a:rPr>
                <a:t>中断</a:t>
              </a:r>
              <a:endParaRPr lang="zh-CN" altLang="en-US" sz="1600">
                <a:solidFill>
                  <a:schemeClr val="tx1"/>
                </a:solidFill>
                <a:latin typeface="Times New Roman" panose="02020603050405020304" charset="0"/>
                <a:ea typeface="宋体" pitchFamily="2" charset="-122"/>
              </a:endParaRPr>
            </a:p>
            <a:p>
              <a:pPr lvl="0" algn="ctr"/>
              <a:r>
                <a:rPr lang="zh-CN" altLang="en-US" sz="1600">
                  <a:solidFill>
                    <a:schemeClr val="tx1"/>
                  </a:solidFill>
                  <a:latin typeface="Times New Roman" panose="02020603050405020304" charset="0"/>
                  <a:ea typeface="宋体" pitchFamily="2" charset="-122"/>
                </a:rPr>
                <a:t>返回</a:t>
              </a:r>
              <a:endParaRPr lang="zh-CN" altLang="en-US" sz="1600">
                <a:solidFill>
                  <a:schemeClr val="tx1"/>
                </a:solidFill>
                <a:latin typeface="Times New Roman" panose="02020603050405020304" charset="0"/>
                <a:ea typeface="宋体" pitchFamily="2" charset="-122"/>
              </a:endParaRPr>
            </a:p>
          </p:txBody>
        </p:sp>
        <p:sp>
          <p:nvSpPr>
            <p:cNvPr id="56333" name="文本框 46093"/>
            <p:cNvSpPr txBox="1"/>
            <p:nvPr/>
          </p:nvSpPr>
          <p:spPr>
            <a:xfrm>
              <a:off x="942" y="217"/>
              <a:ext cx="446" cy="382"/>
            </a:xfrm>
            <a:prstGeom prst="rect">
              <a:avLst/>
            </a:prstGeom>
            <a:noFill/>
            <a:ln w="9525">
              <a:noFill/>
              <a:miter/>
            </a:ln>
          </p:spPr>
          <p:txBody>
            <a:bodyPr anchor="t"/>
            <a:p>
              <a:pPr lvl="0" algn="ctr"/>
              <a:r>
                <a:rPr lang="zh-CN" altLang="en-US" sz="1600">
                  <a:solidFill>
                    <a:schemeClr val="tx1"/>
                  </a:solidFill>
                  <a:latin typeface="Times New Roman" panose="02020603050405020304" charset="0"/>
                  <a:ea typeface="宋体" pitchFamily="2" charset="-122"/>
                </a:rPr>
                <a:t>中断进入</a:t>
              </a:r>
              <a:endParaRPr lang="zh-CN" altLang="en-US" sz="1600">
                <a:solidFill>
                  <a:schemeClr val="tx1"/>
                </a:solidFill>
                <a:latin typeface="Times New Roman" panose="02020603050405020304" charset="0"/>
                <a:ea typeface="宋体" pitchFamily="2" charset="-122"/>
              </a:endParaRPr>
            </a:p>
          </p:txBody>
        </p:sp>
        <p:sp>
          <p:nvSpPr>
            <p:cNvPr id="56334" name="文本框 46094"/>
            <p:cNvSpPr txBox="1"/>
            <p:nvPr/>
          </p:nvSpPr>
          <p:spPr>
            <a:xfrm>
              <a:off x="0" y="544"/>
              <a:ext cx="370" cy="212"/>
            </a:xfrm>
            <a:prstGeom prst="rect">
              <a:avLst/>
            </a:prstGeom>
            <a:noFill/>
            <a:ln w="9525">
              <a:noFill/>
              <a:miter/>
            </a:ln>
          </p:spPr>
          <p:txBody>
            <a:bodyPr anchor="t"/>
            <a:p>
              <a:pPr lvl="0" algn="ctr"/>
              <a:r>
                <a:rPr lang="en-US" altLang="zh-CN" sz="1600">
                  <a:solidFill>
                    <a:schemeClr val="tx1"/>
                  </a:solidFill>
                  <a:latin typeface="Times New Roman" panose="02020603050405020304" charset="0"/>
                  <a:ea typeface="宋体" pitchFamily="2" charset="-122"/>
                </a:rPr>
                <a:t>k+0</a:t>
              </a:r>
              <a:endParaRPr lang="en-US" altLang="zh-CN" sz="1600">
                <a:solidFill>
                  <a:schemeClr val="tx1"/>
                </a:solidFill>
                <a:latin typeface="Times New Roman" panose="02020603050405020304" charset="0"/>
                <a:ea typeface="宋体" pitchFamily="2" charset="-122"/>
              </a:endParaRPr>
            </a:p>
          </p:txBody>
        </p:sp>
        <p:sp>
          <p:nvSpPr>
            <p:cNvPr id="56335" name="文本框 46095"/>
            <p:cNvSpPr txBox="1"/>
            <p:nvPr/>
          </p:nvSpPr>
          <p:spPr>
            <a:xfrm>
              <a:off x="257" y="1261"/>
              <a:ext cx="743" cy="273"/>
            </a:xfrm>
            <a:prstGeom prst="rect">
              <a:avLst/>
            </a:prstGeom>
            <a:noFill/>
            <a:ln w="9525">
              <a:noFill/>
              <a:miter/>
            </a:ln>
          </p:spPr>
          <p:txBody>
            <a:bodyPr anchor="t"/>
            <a:p>
              <a:pPr lvl="0" algn="ctr"/>
              <a:r>
                <a:rPr lang="zh-CN" altLang="en-US" sz="1600">
                  <a:solidFill>
                    <a:schemeClr val="tx1"/>
                  </a:solidFill>
                  <a:latin typeface="Times New Roman" panose="02020603050405020304" charset="0"/>
                  <a:ea typeface="宋体" pitchFamily="2" charset="-122"/>
                </a:rPr>
                <a:t>现行程序</a:t>
              </a:r>
              <a:endParaRPr lang="zh-CN" altLang="en-US" sz="1600">
                <a:solidFill>
                  <a:schemeClr val="tx1"/>
                </a:solidFill>
                <a:latin typeface="Times New Roman" panose="02020603050405020304" charset="0"/>
                <a:ea typeface="宋体" pitchFamily="2" charset="-122"/>
              </a:endParaRPr>
            </a:p>
          </p:txBody>
        </p:sp>
        <p:sp>
          <p:nvSpPr>
            <p:cNvPr id="56336" name="文本框 46096"/>
            <p:cNvSpPr txBox="1"/>
            <p:nvPr/>
          </p:nvSpPr>
          <p:spPr>
            <a:xfrm>
              <a:off x="0" y="768"/>
              <a:ext cx="370" cy="212"/>
            </a:xfrm>
            <a:prstGeom prst="rect">
              <a:avLst/>
            </a:prstGeom>
            <a:noFill/>
            <a:ln w="9525">
              <a:noFill/>
              <a:miter/>
            </a:ln>
          </p:spPr>
          <p:txBody>
            <a:bodyPr anchor="t"/>
            <a:p>
              <a:pPr lvl="0" algn="ctr"/>
              <a:r>
                <a:rPr lang="en-US" altLang="zh-CN" sz="1600">
                  <a:solidFill>
                    <a:schemeClr val="tx1"/>
                  </a:solidFill>
                  <a:latin typeface="Times New Roman" panose="02020603050405020304" charset="0"/>
                  <a:ea typeface="宋体" pitchFamily="2" charset="-122"/>
                </a:rPr>
                <a:t>k+1</a:t>
              </a:r>
              <a:endParaRPr lang="en-US" altLang="zh-CN" sz="1600">
                <a:solidFill>
                  <a:schemeClr val="tx1"/>
                </a:solidFill>
                <a:latin typeface="Times New Roman" panose="02020603050405020304" charset="0"/>
                <a:ea typeface="宋体" pitchFamily="2" charset="-122"/>
              </a:endParaRPr>
            </a:p>
          </p:txBody>
        </p:sp>
        <p:sp>
          <p:nvSpPr>
            <p:cNvPr id="56337" name="直接连接符 46097"/>
            <p:cNvSpPr/>
            <p:nvPr/>
          </p:nvSpPr>
          <p:spPr>
            <a:xfrm>
              <a:off x="2657" y="762"/>
              <a:ext cx="0" cy="16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6338" name="直接连接符 46098"/>
            <p:cNvSpPr/>
            <p:nvPr/>
          </p:nvSpPr>
          <p:spPr>
            <a:xfrm>
              <a:off x="2657" y="1252"/>
              <a:ext cx="0" cy="164"/>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B0604020202020204" pitchFamily="34" charset="0"/>
                <a:ea typeface="宋体" pitchFamily="2" charset="-122"/>
              </a:endParaRPr>
            </a:p>
          </p:txBody>
        </p:sp>
        <p:sp>
          <p:nvSpPr>
            <p:cNvPr id="56339" name="直接连接符 46099"/>
            <p:cNvSpPr/>
            <p:nvPr/>
          </p:nvSpPr>
          <p:spPr>
            <a:xfrm>
              <a:off x="2657" y="1742"/>
              <a:ext cx="0" cy="164"/>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0" name="直接连接符 46100"/>
            <p:cNvSpPr/>
            <p:nvPr/>
          </p:nvSpPr>
          <p:spPr>
            <a:xfrm>
              <a:off x="1431" y="1903"/>
              <a:ext cx="1222"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1" name="直接连接符 46101"/>
            <p:cNvSpPr/>
            <p:nvPr/>
          </p:nvSpPr>
          <p:spPr>
            <a:xfrm>
              <a:off x="1537" y="0"/>
              <a:ext cx="2230" cy="0"/>
            </a:xfrm>
            <a:prstGeom prst="line">
              <a:avLst/>
            </a:prstGeom>
            <a:ln w="9525" cap="flat" cmpd="sng">
              <a:solidFill>
                <a:schemeClr val="tx1"/>
              </a:solidFill>
              <a:prstDash val="dash"/>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2" name="直接连接符 46102"/>
            <p:cNvSpPr/>
            <p:nvPr/>
          </p:nvSpPr>
          <p:spPr>
            <a:xfrm>
              <a:off x="1537" y="2087"/>
              <a:ext cx="2230" cy="0"/>
            </a:xfrm>
            <a:prstGeom prst="line">
              <a:avLst/>
            </a:prstGeom>
            <a:ln w="9525" cap="flat" cmpd="sng">
              <a:solidFill>
                <a:schemeClr val="tx1"/>
              </a:solidFill>
              <a:prstDash val="dash"/>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3" name="直接连接符 46103"/>
            <p:cNvSpPr/>
            <p:nvPr/>
          </p:nvSpPr>
          <p:spPr>
            <a:xfrm>
              <a:off x="1537" y="0"/>
              <a:ext cx="0" cy="2088"/>
            </a:xfrm>
            <a:prstGeom prst="line">
              <a:avLst/>
            </a:prstGeom>
            <a:ln w="9525" cap="flat" cmpd="sng">
              <a:solidFill>
                <a:srgbClr val="000000"/>
              </a:solidFill>
              <a:prstDash val="dash"/>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4" name="直接连接符 46104"/>
            <p:cNvSpPr/>
            <p:nvPr/>
          </p:nvSpPr>
          <p:spPr>
            <a:xfrm>
              <a:off x="1413" y="189"/>
              <a:ext cx="0" cy="49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5" name="直接连接符 46105"/>
            <p:cNvSpPr/>
            <p:nvPr/>
          </p:nvSpPr>
          <p:spPr>
            <a:xfrm flipV="1">
              <a:off x="1431" y="817"/>
              <a:ext cx="0" cy="1089"/>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sp>
          <p:nvSpPr>
            <p:cNvPr id="56346" name="直接连接符 46106"/>
            <p:cNvSpPr/>
            <p:nvPr/>
          </p:nvSpPr>
          <p:spPr>
            <a:xfrm>
              <a:off x="910" y="817"/>
              <a:ext cx="515"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B0604020202020204" pitchFamily="34" charset="0"/>
                <a:ea typeface="宋体" pitchFamily="2" charset="-122"/>
              </a:endParaRPr>
            </a:p>
          </p:txBody>
        </p:sp>
      </p:grpSp>
      <p:sp>
        <p:nvSpPr>
          <p:cNvPr id="46108" name="文本框 46107"/>
          <p:cNvSpPr txBox="1"/>
          <p:nvPr/>
        </p:nvSpPr>
        <p:spPr>
          <a:xfrm>
            <a:off x="3184525" y="6172200"/>
            <a:ext cx="2659063"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itchFamily="2" charset="-122"/>
              </a:rPr>
              <a:t>软件中断处理过程示意图</a:t>
            </a:r>
            <a:endParaRPr lang="zh-CN" altLang="en-US" sz="1600" b="0">
              <a:solidFill>
                <a:schemeClr val="tx1"/>
              </a:solidFill>
              <a:latin typeface="Times New Roman" panose="02020603050405020304" charset="0"/>
              <a:ea typeface="宋体" pitchFamily="2" charset="-122"/>
            </a:endParaRPr>
          </a:p>
        </p:txBody>
      </p:sp>
      <p:sp>
        <p:nvSpPr>
          <p:cNvPr id="46109" name="矩形 46108"/>
          <p:cNvSpPr/>
          <p:nvPr/>
        </p:nvSpPr>
        <p:spPr>
          <a:xfrm>
            <a:off x="244475" y="541338"/>
            <a:ext cx="57388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itchFamily="2" charset="-122"/>
                <a:cs typeface="+mn-ea"/>
              </a:rPr>
              <a:t>4. </a:t>
            </a:r>
            <a:r>
              <a:rPr lang="zh-CN" altLang="en-US" b="1" strike="noStrike" noProof="1">
                <a:solidFill>
                  <a:srgbClr val="990000"/>
                </a:solidFill>
                <a:latin typeface="Times New Roman" panose="02020603050405020304" charset="0"/>
                <a:ea typeface="宋体" pitchFamily="2" charset="-122"/>
                <a:cs typeface="+mn-ea"/>
              </a:rPr>
              <a:t>软件</a:t>
            </a:r>
            <a:r>
              <a:rPr lang="zh-CN" altLang="en-US" b="1" strike="noStrike" noProof="1">
                <a:solidFill>
                  <a:srgbClr val="990000"/>
                </a:solidFill>
                <a:latin typeface="Arial" panose="020B0604020202020204" pitchFamily="34" charset="0"/>
                <a:ea typeface="宋体" pitchFamily="2" charset="-122"/>
                <a:cs typeface="+mn-ea"/>
              </a:rPr>
              <a:t>中断处理</a:t>
            </a:r>
            <a:endParaRPr lang="zh-CN" altLang="en-US" b="1" strike="noStrike" noProof="1">
              <a:solidFill>
                <a:srgbClr val="990000"/>
              </a:solidFill>
              <a:ea typeface="宋体" pitchFamily="2" charset="-122"/>
            </a:endParaRPr>
          </a:p>
        </p:txBody>
      </p:sp>
      <p:sp>
        <p:nvSpPr>
          <p:cNvPr id="46110" name="矩形 4610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083" grpId="0"/>
      <p:bldP spid="46108" grpId="0"/>
      <p:bldP spid="4610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矩形 40962"/>
          <p:cNvSpPr/>
          <p:nvPr/>
        </p:nvSpPr>
        <p:spPr>
          <a:xfrm>
            <a:off x="128905" y="1687830"/>
            <a:ext cx="8792210" cy="5664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fontAlgn="base">
              <a:lnSpc>
                <a:spcPct val="130000"/>
              </a:lnSpc>
              <a:buNone/>
            </a:pPr>
            <a:r>
              <a:rPr lang="zh-CN" altLang="en-US" sz="2000" strike="noStrike" noProof="1">
                <a:solidFill>
                  <a:schemeClr val="tx1"/>
                </a:solidFill>
                <a:latin typeface="Times New Roman" panose="02020603050405020304" charset="0"/>
                <a:ea typeface="宋体" pitchFamily="2" charset="-122"/>
                <a:cs typeface="+mn-cs"/>
              </a:rPr>
              <a:t>       </a:t>
            </a:r>
            <a:r>
              <a:rPr lang="zh-CN" altLang="en-US" sz="2400" strike="noStrike" noProof="1">
                <a:solidFill>
                  <a:schemeClr val="tx1"/>
                </a:solidFill>
                <a:latin typeface="Times New Roman" panose="02020603050405020304" charset="0"/>
                <a:ea typeface="宋体" pitchFamily="2" charset="-122"/>
                <a:cs typeface="+mn-cs"/>
              </a:rPr>
              <a:t>（除了PC和PS，</a:t>
            </a:r>
            <a:r>
              <a:rPr lang="x-none" altLang="zh-CN" sz="2400" strike="noStrike" noProof="1">
                <a:solidFill>
                  <a:schemeClr val="tx1"/>
                </a:solidFill>
                <a:latin typeface="Times New Roman" panose="02020603050405020304" charset="0"/>
                <a:ea typeface="宋体" pitchFamily="2" charset="-122"/>
                <a:cs typeface="+mn-cs"/>
              </a:rPr>
              <a:t>几乎</a:t>
            </a:r>
            <a:r>
              <a:rPr lang="zh-CN" altLang="en-US" sz="2400" strike="noStrike" noProof="1">
                <a:solidFill>
                  <a:schemeClr val="tx1"/>
                </a:solidFill>
                <a:latin typeface="Times New Roman" panose="02020603050405020304" charset="0"/>
                <a:ea typeface="宋体" pitchFamily="2" charset="-122"/>
                <a:cs typeface="+mn-cs"/>
              </a:rPr>
              <a:t>其他所有的寄存器）</a:t>
            </a:r>
            <a:endParaRPr lang="zh-CN" altLang="en-US" strike="noStrike" noProof="1">
              <a:solidFill>
                <a:schemeClr val="tx1"/>
              </a:solidFill>
              <a:latin typeface="Times New Roman" panose="02020603050405020304" charset="0"/>
              <a:ea typeface="宋体" pitchFamily="2" charset="-122"/>
            </a:endParaRPr>
          </a:p>
        </p:txBody>
      </p:sp>
      <p:sp>
        <p:nvSpPr>
          <p:cNvPr id="40964" name="矩形 40963"/>
          <p:cNvSpPr/>
          <p:nvPr/>
        </p:nvSpPr>
        <p:spPr>
          <a:xfrm>
            <a:off x="663575" y="500063"/>
            <a:ext cx="5418138"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(1) </a:t>
            </a:r>
            <a:r>
              <a:rPr lang="zh-CN" altLang="en-US" sz="2800" b="1" strike="noStrike" noProof="1">
                <a:solidFill>
                  <a:srgbClr val="A50021"/>
                </a:solidFill>
                <a:latin typeface="Times New Roman" panose="02020603050405020304" charset="0"/>
                <a:ea typeface="宋体" pitchFamily="2" charset="-122"/>
                <a:cs typeface="+mn-ea"/>
              </a:rPr>
              <a:t>保护现场和恢复现场</a:t>
            </a:r>
            <a:endParaRPr lang="zh-CN" altLang="en-US" sz="2800" b="1" strike="noStrike" noProof="1">
              <a:solidFill>
                <a:srgbClr val="A50021"/>
              </a:solidFill>
              <a:latin typeface="Times New Roman" panose="02020603050405020304" charset="0"/>
              <a:ea typeface="宋体" pitchFamily="2" charset="-122"/>
            </a:endParaRPr>
          </a:p>
        </p:txBody>
      </p:sp>
      <p:sp>
        <p:nvSpPr>
          <p:cNvPr id="40965" name="矩形 40964"/>
          <p:cNvSpPr/>
          <p:nvPr/>
        </p:nvSpPr>
        <p:spPr>
          <a:xfrm>
            <a:off x="120650" y="1143000"/>
            <a:ext cx="8614410" cy="5664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① 现场</a:t>
            </a:r>
            <a:r>
              <a:rPr lang="x-none" altLang="zh-CN" sz="2400" b="1" strike="noStrike" noProof="1">
                <a:solidFill>
                  <a:srgbClr val="000099"/>
                </a:solidFill>
                <a:latin typeface="宋体" pitchFamily="2" charset="-122"/>
                <a:ea typeface="宋体" pitchFamily="2" charset="-122"/>
                <a:cs typeface="+mn-cs"/>
              </a:rPr>
              <a:t>：</a:t>
            </a:r>
            <a:r>
              <a:rPr lang="zh-CN" altLang="en-US" sz="2400">
                <a:solidFill>
                  <a:schemeClr val="tx1"/>
                </a:solidFill>
                <a:effectLst>
                  <a:outerShdw blurRad="38100" dist="38100" dir="2700000" algn="tl">
                    <a:srgbClr val="000000">
                      <a:alpha val="43137"/>
                    </a:srgbClr>
                  </a:outerShdw>
                </a:effectLst>
                <a:latin typeface="Times New Roman" panose="02020603050405020304" charset="0"/>
                <a:ea typeface="宋体" pitchFamily="2" charset="-122"/>
                <a:sym typeface="+mn-ea"/>
              </a:rPr>
              <a:t>中断</a:t>
            </a:r>
            <a:r>
              <a:rPr lang="x-none" altLang="zh-CN" sz="2400">
                <a:solidFill>
                  <a:schemeClr val="tx1"/>
                </a:solidFill>
                <a:effectLst>
                  <a:outerShdw blurRad="38100" dist="38100" dir="2700000" algn="tl">
                    <a:srgbClr val="000000">
                      <a:alpha val="43137"/>
                    </a:srgbClr>
                  </a:outerShdw>
                </a:effectLst>
                <a:latin typeface="Times New Roman" panose="02020603050405020304" charset="0"/>
                <a:ea typeface="宋体" pitchFamily="2" charset="-122"/>
                <a:sym typeface="+mn-ea"/>
              </a:rPr>
              <a:t>返回时</a:t>
            </a:r>
            <a:r>
              <a:rPr lang="zh-CN" altLang="en-US" sz="2400">
                <a:solidFill>
                  <a:schemeClr val="tx1"/>
                </a:solidFill>
                <a:effectLst>
                  <a:outerShdw blurRad="38100" dist="38100" dir="2700000" algn="tl">
                    <a:srgbClr val="000000">
                      <a:alpha val="43137"/>
                    </a:srgbClr>
                  </a:outerShdw>
                </a:effectLst>
                <a:latin typeface="Times New Roman" panose="02020603050405020304" charset="0"/>
                <a:ea typeface="宋体" pitchFamily="2" charset="-122"/>
                <a:sym typeface="+mn-ea"/>
              </a:rPr>
              <a:t>能确保程序继续运行的有关信息。</a:t>
            </a:r>
            <a:endParaRPr lang="x-none" altLang="zh-CN" sz="2400" strike="noStrike" noProof="1">
              <a:solidFill>
                <a:srgbClr val="000099"/>
              </a:solidFill>
              <a:effectLst>
                <a:outerShdw blurRad="38100" dist="38100" dir="2700000" algn="tl">
                  <a:srgbClr val="000000">
                    <a:alpha val="43137"/>
                  </a:srgbClr>
                </a:outerShdw>
              </a:effectLst>
              <a:latin typeface="宋体" pitchFamily="2" charset="-122"/>
              <a:ea typeface="宋体" pitchFamily="2" charset="-122"/>
              <a:cs typeface="+mn-cs"/>
            </a:endParaRPr>
          </a:p>
        </p:txBody>
      </p:sp>
      <p:sp>
        <p:nvSpPr>
          <p:cNvPr id="40966" name="矩形 4096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
        <p:nvSpPr>
          <p:cNvPr id="41987" name="矩形 41986"/>
          <p:cNvSpPr/>
          <p:nvPr/>
        </p:nvSpPr>
        <p:spPr>
          <a:xfrm>
            <a:off x="571500" y="2854008"/>
            <a:ext cx="8405813"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当中断发生时，必须立即把现场信息保存在主存中，这一</a:t>
            </a:r>
            <a:endParaRPr lang="zh-CN" altLang="en-US" sz="2400" strike="noStrike" noProof="1">
              <a:solidFill>
                <a:schemeClr val="tx1"/>
              </a:solidFill>
              <a:latin typeface="Times New Roman" panose="02020603050405020304" charset="0"/>
              <a:ea typeface="宋体" pitchFamily="2" charset="-122"/>
            </a:endParaRPr>
          </a:p>
          <a:p>
            <a:pPr marL="1106805" lvl="1" indent="-649605"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工作称之为保护现场。</a:t>
            </a:r>
            <a:endParaRPr lang="zh-CN" altLang="en-US" sz="2400" strike="noStrike" noProof="1">
              <a:solidFill>
                <a:schemeClr val="tx1"/>
              </a:solidFill>
              <a:latin typeface="Times New Roman" panose="02020603050405020304" charset="0"/>
              <a:ea typeface="宋体" pitchFamily="2" charset="-122"/>
            </a:endParaRPr>
          </a:p>
        </p:txBody>
      </p:sp>
      <p:sp>
        <p:nvSpPr>
          <p:cNvPr id="41988" name="矩形 41987"/>
          <p:cNvSpPr/>
          <p:nvPr/>
        </p:nvSpPr>
        <p:spPr>
          <a:xfrm>
            <a:off x="120650" y="2366645"/>
            <a:ext cx="53546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② 保护现场</a:t>
            </a:r>
            <a:endParaRPr lang="zh-CN" altLang="en-US" sz="2400" b="1" strike="noStrike" noProof="1">
              <a:solidFill>
                <a:srgbClr val="000099"/>
              </a:solidFill>
              <a:latin typeface="宋体" pitchFamily="2" charset="-122"/>
              <a:ea typeface="宋体" pitchFamily="2" charset="-122"/>
            </a:endParaRPr>
          </a:p>
        </p:txBody>
      </p:sp>
      <p:sp>
        <p:nvSpPr>
          <p:cNvPr id="41989" name="矩形 41988"/>
          <p:cNvSpPr/>
          <p:nvPr/>
        </p:nvSpPr>
        <p:spPr>
          <a:xfrm>
            <a:off x="544513" y="4670108"/>
            <a:ext cx="8599488" cy="17351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106805" lvl="1" indent="-649605"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程序重新运行之前，把保留的该程序现场信息从主存中送</a:t>
            </a:r>
            <a:endParaRPr lang="zh-CN" altLang="en-US" sz="2400" strike="noStrike" noProof="1">
              <a:solidFill>
                <a:schemeClr val="tx1"/>
              </a:solidFill>
              <a:latin typeface="Times New Roman" panose="02020603050405020304" charset="0"/>
              <a:ea typeface="宋体" pitchFamily="2" charset="-122"/>
            </a:endParaRPr>
          </a:p>
          <a:p>
            <a:pPr marL="1106805" lvl="1" indent="-649605"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至相应的指令计数器、通用寄存器或一些特殊的寄存器中。</a:t>
            </a:r>
            <a:endParaRPr lang="zh-CN" altLang="en-US" sz="2400" strike="noStrike" noProof="1">
              <a:solidFill>
                <a:schemeClr val="tx1"/>
              </a:solidFill>
              <a:latin typeface="Times New Roman" panose="02020603050405020304" charset="0"/>
              <a:ea typeface="宋体" pitchFamily="2" charset="-122"/>
            </a:endParaRPr>
          </a:p>
          <a:p>
            <a:pPr marL="1106805" lvl="1" indent="-649605" fontAlgn="base">
              <a:lnSpc>
                <a:spcPct val="130000"/>
              </a:lnSpc>
              <a:buNone/>
            </a:pPr>
            <a:r>
              <a:rPr lang="zh-CN" altLang="en-US" sz="2400" strike="noStrike" noProof="1">
                <a:solidFill>
                  <a:schemeClr val="tx1"/>
                </a:solidFill>
                <a:latin typeface="Times New Roman" panose="02020603050405020304" charset="0"/>
                <a:ea typeface="宋体" pitchFamily="2" charset="-122"/>
                <a:cs typeface="+mn-cs"/>
              </a:rPr>
              <a:t>完成这些工作称为恢复现场。</a:t>
            </a:r>
            <a:endParaRPr lang="zh-CN" altLang="en-US" sz="2400" strike="noStrike" noProof="1">
              <a:solidFill>
                <a:schemeClr val="tx1"/>
              </a:solidFill>
              <a:latin typeface="Times New Roman" panose="02020603050405020304" charset="0"/>
              <a:ea typeface="宋体" pitchFamily="2" charset="-122"/>
            </a:endParaRPr>
          </a:p>
        </p:txBody>
      </p:sp>
      <p:sp>
        <p:nvSpPr>
          <p:cNvPr id="41990" name="矩形 41989"/>
          <p:cNvSpPr/>
          <p:nvPr/>
        </p:nvSpPr>
        <p:spPr>
          <a:xfrm>
            <a:off x="122238" y="4068445"/>
            <a:ext cx="53546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itchFamily="2" charset="-122"/>
                <a:ea typeface="宋体" pitchFamily="2" charset="-122"/>
                <a:cs typeface="+mn-cs"/>
              </a:rPr>
              <a:t>③ 恢复现场</a:t>
            </a:r>
            <a:endParaRPr lang="zh-CN" altLang="en-US" sz="2400" b="1" strike="noStrike" noProof="1">
              <a:solidFill>
                <a:srgbClr val="000099"/>
              </a:solidFill>
              <a:latin typeface="宋体" pitchFamily="2" charset="-122"/>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64" grpId="0" build="p"/>
      <p:bldP spid="40965" grpId="0" build="p"/>
      <p:bldP spid="41987" grpId="0"/>
      <p:bldP spid="41988" grpId="0" build="p"/>
      <p:bldP spid="41989" grpId="0"/>
      <p:bldP spid="41990"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4" name="矩形 40963"/>
          <p:cNvSpPr/>
          <p:nvPr/>
        </p:nvSpPr>
        <p:spPr>
          <a:xfrm>
            <a:off x="690563" y="638175"/>
            <a:ext cx="5418138"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itchFamily="2" charset="-122"/>
                <a:cs typeface="+mn-ea"/>
              </a:rPr>
              <a:t>(</a:t>
            </a:r>
            <a:r>
              <a:rPr lang="x-none" altLang="en-US" sz="2800" b="1" strike="noStrike" noProof="1">
                <a:solidFill>
                  <a:srgbClr val="A50021"/>
                </a:solidFill>
                <a:latin typeface="Times New Roman" panose="02020603050405020304" charset="0"/>
                <a:ea typeface="宋体" pitchFamily="2" charset="-122"/>
                <a:cs typeface="+mn-ea"/>
              </a:rPr>
              <a:t>2</a:t>
            </a:r>
            <a:r>
              <a:rPr lang="en-US" altLang="zh-CN" sz="2800" b="1" strike="noStrike" noProof="1">
                <a:solidFill>
                  <a:srgbClr val="A50021"/>
                </a:solidFill>
                <a:latin typeface="Times New Roman" panose="02020603050405020304" charset="0"/>
                <a:ea typeface="宋体" pitchFamily="2" charset="-122"/>
                <a:cs typeface="+mn-ea"/>
              </a:rPr>
              <a:t>) </a:t>
            </a:r>
            <a:r>
              <a:rPr lang="x-none" altLang="en-US" sz="2800" b="1" strike="noStrike" noProof="1">
                <a:solidFill>
                  <a:srgbClr val="A50021"/>
                </a:solidFill>
                <a:latin typeface="Times New Roman" panose="02020603050405020304" charset="0"/>
                <a:ea typeface="宋体" pitchFamily="2" charset="-122"/>
                <a:cs typeface="+mn-ea"/>
              </a:rPr>
              <a:t>中断处理</a:t>
            </a:r>
            <a:endParaRPr lang="x-none" altLang="en-US" sz="2800" b="1" strike="noStrike" noProof="1">
              <a:solidFill>
                <a:srgbClr val="A50021"/>
              </a:solidFill>
              <a:latin typeface="Times New Roman" panose="02020603050405020304" charset="0"/>
              <a:ea typeface="宋体" pitchFamily="2" charset="-122"/>
              <a:cs typeface="+mn-ea"/>
            </a:endParaRPr>
          </a:p>
        </p:txBody>
      </p:sp>
      <p:sp>
        <p:nvSpPr>
          <p:cNvPr id="40965" name="矩形 40964"/>
          <p:cNvSpPr/>
          <p:nvPr/>
        </p:nvSpPr>
        <p:spPr>
          <a:xfrm>
            <a:off x="660400" y="1419225"/>
            <a:ext cx="6278563" cy="2319338"/>
          </a:xfrm>
          <a:prstGeom prst="rect">
            <a:avLst/>
          </a:prstGeom>
          <a:noFill/>
          <a:ln w="9525">
            <a:noFill/>
            <a:miter/>
          </a:ln>
        </p:spPr>
        <p:txBody>
          <a:bodyPr wrap="square" anchor="t">
            <a:spAutoFit/>
          </a:bodyPr>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AutoNum type="arabicPeriod"/>
            </a:pPr>
            <a:r>
              <a:rPr lang="zh-CN" altLang="zh-CN" sz="2400" u="none" baseline="0">
                <a:solidFill>
                  <a:srgbClr val="000099"/>
                </a:solidFill>
                <a:latin typeface="宋体" pitchFamily="2" charset="-122"/>
                <a:ea typeface="宋体" pitchFamily="2" charset="-122"/>
              </a:rPr>
              <a:t>硬件故障中断的处理</a:t>
            </a:r>
            <a:endParaRPr lang="zh-CN" altLang="zh-CN" sz="2400" u="none" baseline="0">
              <a:solidFill>
                <a:srgbClr val="000099"/>
              </a:solidFill>
              <a:latin typeface="宋体" pitchFamily="2" charset="-122"/>
              <a:ea typeface="宋体"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AutoNum type="arabicPeriod"/>
            </a:pPr>
            <a:r>
              <a:rPr lang="zh-CN" altLang="zh-CN" sz="2400" u="none" baseline="0">
                <a:solidFill>
                  <a:srgbClr val="000099"/>
                </a:solidFill>
                <a:latin typeface="宋体" pitchFamily="2" charset="-122"/>
                <a:ea typeface="宋体" pitchFamily="2" charset="-122"/>
              </a:rPr>
              <a:t>程序性中断的处理</a:t>
            </a:r>
            <a:endParaRPr lang="zh-CN" altLang="zh-CN" sz="2400" u="none" baseline="0">
              <a:solidFill>
                <a:srgbClr val="000099"/>
              </a:solidFill>
              <a:latin typeface="宋体" pitchFamily="2" charset="-122"/>
              <a:ea typeface="宋体"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AutoNum type="arabicPeriod"/>
            </a:pPr>
            <a:r>
              <a:rPr lang="zh-CN" altLang="zh-CN" sz="2400" u="none" baseline="0">
                <a:solidFill>
                  <a:srgbClr val="000099"/>
                </a:solidFill>
                <a:latin typeface="宋体" pitchFamily="2" charset="-122"/>
                <a:ea typeface="宋体" pitchFamily="2" charset="-122"/>
              </a:rPr>
              <a:t>外部中断事件的处理</a:t>
            </a:r>
            <a:endParaRPr lang="zh-CN" altLang="zh-CN" sz="2400" u="none" baseline="0">
              <a:solidFill>
                <a:srgbClr val="000099"/>
              </a:solidFill>
              <a:latin typeface="宋体" pitchFamily="2" charset="-122"/>
              <a:ea typeface="宋体"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AutoNum type="arabicPeriod"/>
            </a:pPr>
            <a:r>
              <a:rPr lang="zh-CN" altLang="zh-CN" sz="2400" u="none" baseline="0">
                <a:solidFill>
                  <a:srgbClr val="000099"/>
                </a:solidFill>
                <a:latin typeface="宋体" pitchFamily="2" charset="-122"/>
                <a:ea typeface="宋体" pitchFamily="2" charset="-122"/>
              </a:rPr>
              <a:t>外部设备中断的处理</a:t>
            </a:r>
            <a:endParaRPr lang="zh-CN" altLang="zh-CN" sz="2400" u="none" baseline="0">
              <a:solidFill>
                <a:srgbClr val="000099"/>
              </a:solidFill>
              <a:latin typeface="宋体" pitchFamily="2" charset="-122"/>
              <a:ea typeface="宋体" pitchFamily="2" charset="-122"/>
            </a:endParaRPr>
          </a:p>
        </p:txBody>
      </p:sp>
      <p:sp>
        <p:nvSpPr>
          <p:cNvPr id="40966" name="矩形 4096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中断及其处理</a:t>
            </a:r>
            <a:endParaRPr lang="zh-CN" altLang="en-US" sz="2400" strike="noStrike" noProof="1">
              <a:ea typeface="宋体" pitchFamily="2" charset="-122"/>
            </a:endParaRPr>
          </a:p>
        </p:txBody>
      </p:sp>
      <p:sp>
        <p:nvSpPr>
          <p:cNvPr id="2" name="矩形 1"/>
          <p:cNvSpPr/>
          <p:nvPr/>
        </p:nvSpPr>
        <p:spPr>
          <a:xfrm>
            <a:off x="254000" y="4106863"/>
            <a:ext cx="8440738" cy="2179638"/>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sz="2800" b="1" strike="noStrike" noProof="1">
                <a:solidFill>
                  <a:srgbClr val="A50021"/>
                </a:solidFill>
                <a:latin typeface="Times New Roman" panose="02020603050405020304" charset="0"/>
                <a:ea typeface="宋体" pitchFamily="2" charset="-122"/>
                <a:cs typeface="+mn-ea"/>
              </a:rPr>
              <a:t>	中断是操作系统的基础，是实现并发的根本措施。</a:t>
            </a:r>
            <a:endParaRPr lang="x-none" altLang="en-US" sz="2800" b="1" strike="noStrike" noProof="1">
              <a:solidFill>
                <a:srgbClr val="A50021"/>
              </a:solidFill>
              <a:latin typeface="Times New Roman" panose="02020603050405020304" charset="0"/>
              <a:ea typeface="宋体" pitchFamily="2" charset="-122"/>
              <a:cs typeface="+mn-ea"/>
            </a:endParaRPr>
          </a:p>
          <a:p>
            <a:pPr marL="533400" lvl="0" indent="-533400" fontAlgn="base">
              <a:lnSpc>
                <a:spcPct val="130000"/>
              </a:lnSpc>
              <a:buNone/>
            </a:pPr>
            <a:r>
              <a:rPr lang="x-none" altLang="en-US" sz="2400" strike="noStrike" noProof="1">
                <a:solidFill>
                  <a:schemeClr val="tx1"/>
                </a:solidFill>
                <a:effectLst/>
                <a:latin typeface="Times New Roman" panose="02020603050405020304" charset="0"/>
                <a:ea typeface="宋体" pitchFamily="2" charset="-122"/>
                <a:cs typeface="+mn-ea"/>
              </a:rPr>
              <a:t>		中断是程序得以运行的直接或间接的“向导”，是程序被激活的驱动源，只有透彻了解中断的机理，才能深刻体会操作系统的内在结构。</a:t>
            </a:r>
            <a:endParaRPr lang="x-none" altLang="en-US" sz="2400" strike="noStrike" noProof="1">
              <a:solidFill>
                <a:schemeClr val="tx1"/>
              </a:solidFill>
              <a:effectLst/>
              <a:latin typeface="Times New Roman" panose="02020603050405020304" charset="0"/>
              <a:ea typeface="宋体"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64" grpId="0" build="p"/>
      <p:bldP spid="40965" grpId="0" build="p"/>
      <p:bldP spid="2"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171450" y="587375"/>
            <a:ext cx="8551863" cy="53340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10000"/>
              </a:lnSpc>
              <a:spcBef>
                <a:spcPct val="10000"/>
              </a:spcBef>
              <a:buNone/>
            </a:pPr>
            <a:r>
              <a:rPr lang="zh-CN" altLang="en-US" b="1" strike="noStrike" noProof="1">
                <a:solidFill>
                  <a:srgbClr val="990000"/>
                </a:solidFill>
                <a:latin typeface="Times New Roman" panose="02020603050405020304" charset="0"/>
                <a:ea typeface="宋体" pitchFamily="2" charset="-122"/>
                <a:cs typeface="+mn-ea"/>
              </a:rPr>
              <a:t>一般操作系统</a:t>
            </a:r>
            <a:r>
              <a:rPr lang="en-US" altLang="zh-CN" b="1" strike="noStrike" noProof="1">
                <a:solidFill>
                  <a:srgbClr val="990000"/>
                </a:solidFill>
                <a:latin typeface="Times New Roman" panose="02020603050405020304" charset="0"/>
                <a:ea typeface="宋体" pitchFamily="2" charset="-122"/>
                <a:cs typeface="+mn-ea"/>
              </a:rPr>
              <a:t>(</a:t>
            </a:r>
            <a:r>
              <a:rPr lang="zh-CN" altLang="en-US" b="1" strike="noStrike" noProof="1">
                <a:solidFill>
                  <a:srgbClr val="990000"/>
                </a:solidFill>
                <a:latin typeface="Times New Roman" panose="02020603050405020304" charset="0"/>
                <a:ea typeface="宋体" pitchFamily="2" charset="-122"/>
                <a:cs typeface="+mn-ea"/>
              </a:rPr>
              <a:t>包括</a:t>
            </a:r>
            <a:r>
              <a:rPr lang="en-US" altLang="zh-CN" b="1" strike="noStrike" noProof="1">
                <a:solidFill>
                  <a:srgbClr val="990000"/>
                </a:solidFill>
                <a:latin typeface="Times New Roman" panose="02020603050405020304" charset="0"/>
                <a:ea typeface="宋体" pitchFamily="2" charset="-122"/>
                <a:cs typeface="+mn-ea"/>
              </a:rPr>
              <a:t>Linux)</a:t>
            </a:r>
            <a:r>
              <a:rPr lang="zh-CN" altLang="en-US" b="1" strike="noStrike" noProof="1">
                <a:solidFill>
                  <a:srgbClr val="990000"/>
                </a:solidFill>
                <a:latin typeface="Times New Roman" panose="02020603050405020304" charset="0"/>
                <a:ea typeface="宋体" pitchFamily="2" charset="-122"/>
                <a:cs typeface="+mn-ea"/>
              </a:rPr>
              <a:t>对中断的支持：</a:t>
            </a:r>
            <a:endParaRPr lang="zh-CN" altLang="en-US" b="1" strike="noStrike" noProof="1">
              <a:solidFill>
                <a:srgbClr val="990000"/>
              </a:solidFill>
              <a:latin typeface="Times New Roman" panose="02020603050405020304" charset="0"/>
              <a:ea typeface="宋体" pitchFamily="2" charset="-122"/>
              <a:cs typeface="+mn-ea"/>
            </a:endParaRPr>
          </a:p>
          <a:p>
            <a:pPr marL="533400" lvl="0" indent="-533400" fontAlgn="base">
              <a:lnSpc>
                <a:spcPct val="110000"/>
              </a:lnSpc>
              <a:spcBef>
                <a:spcPct val="10000"/>
              </a:spcBef>
              <a:buNone/>
            </a:pPr>
            <a:r>
              <a:rPr lang="en-US" altLang="zh-CN" sz="2400" strike="noStrike" noProof="1">
                <a:solidFill>
                  <a:schemeClr val="tx1"/>
                </a:solidFill>
                <a:latin typeface="Times New Roman" panose="02020603050405020304" charset="0"/>
                <a:ea typeface="宋体" pitchFamily="2" charset="-122"/>
                <a:cs typeface="+mn-cs"/>
              </a:rPr>
              <a:t>	1</a:t>
            </a:r>
            <a:r>
              <a:rPr lang="zh-CN" altLang="en-US" sz="2400" strike="noStrike" noProof="1">
                <a:solidFill>
                  <a:schemeClr val="tx1"/>
                </a:solidFill>
                <a:latin typeface="Times New Roman" panose="02020603050405020304" charset="0"/>
                <a:ea typeface="宋体" pitchFamily="2" charset="-122"/>
                <a:cs typeface="+mn-cs"/>
              </a:rPr>
              <a:t>、至少支持两个特权级别，</a:t>
            </a:r>
            <a:r>
              <a:rPr lang="en-US" altLang="zh-CN" sz="2400">
                <a:solidFill>
                  <a:schemeClr val="tx1"/>
                </a:solidFill>
                <a:latin typeface="Times New Roman" panose="02020603050405020304" charset="0"/>
                <a:ea typeface="宋体" pitchFamily="2" charset="-122"/>
                <a:sym typeface="+mn-ea"/>
              </a:rPr>
              <a:t>Linux</a:t>
            </a:r>
            <a:r>
              <a:rPr lang="zh-CN" altLang="en-US" sz="2400">
                <a:solidFill>
                  <a:schemeClr val="tx1"/>
                </a:solidFill>
                <a:latin typeface="Times New Roman" panose="02020603050405020304" charset="0"/>
                <a:ea typeface="宋体" pitchFamily="2" charset="-122"/>
                <a:sym typeface="+mn-ea"/>
              </a:rPr>
              <a:t>系统使用两个级别</a:t>
            </a:r>
            <a:r>
              <a:rPr lang="en-US" altLang="zh-CN" sz="2400">
                <a:solidFill>
                  <a:schemeClr val="tx1"/>
                </a:solidFill>
                <a:latin typeface="Times New Roman" panose="02020603050405020304" charset="0"/>
                <a:ea typeface="宋体" pitchFamily="2" charset="-122"/>
                <a:sym typeface="+mn-ea"/>
              </a:rPr>
              <a:t>:</a:t>
            </a:r>
            <a:endParaRPr lang="zh-CN" altLang="en-US" sz="2400" strike="noStrike" noProof="1">
              <a:solidFill>
                <a:schemeClr val="tx1"/>
              </a:solidFill>
              <a:latin typeface="Times New Roman" panose="02020603050405020304" charset="0"/>
              <a:ea typeface="宋体" pitchFamily="2" charset="-122"/>
            </a:endParaRPr>
          </a:p>
          <a:p>
            <a:pPr marL="914400" lvl="1" indent="-457200" fontAlgn="base">
              <a:lnSpc>
                <a:spcPct val="110000"/>
              </a:lnSpc>
              <a:spcBef>
                <a:spcPct val="10000"/>
              </a:spcBef>
              <a:buNone/>
            </a:pPr>
            <a:r>
              <a:rPr lang="en-US" altLang="zh-CN" sz="2000" strike="noStrike" noProof="1">
                <a:solidFill>
                  <a:schemeClr val="tx1"/>
                </a:solidFill>
                <a:latin typeface="Times New Roman" panose="02020603050405020304" charset="0"/>
                <a:ea typeface="宋体" pitchFamily="2" charset="-122"/>
                <a:cs typeface="+mn-cs"/>
              </a:rPr>
              <a:t>	</a:t>
            </a:r>
            <a:r>
              <a:rPr lang="zh-CN" altLang="en-US" sz="2000" strike="noStrike" noProof="1">
                <a:solidFill>
                  <a:schemeClr val="tx1"/>
                </a:solidFill>
                <a:latin typeface="Times New Roman" panose="02020603050405020304" charset="0"/>
                <a:ea typeface="宋体" pitchFamily="2" charset="-122"/>
                <a:cs typeface="+mn-cs"/>
              </a:rPr>
              <a:t>特权级</a:t>
            </a:r>
            <a:r>
              <a:rPr lang="en-US" altLang="zh-CN" sz="2000" strike="noStrike" noProof="1">
                <a:solidFill>
                  <a:schemeClr val="tx1"/>
                </a:solidFill>
                <a:latin typeface="Times New Roman" panose="02020603050405020304" charset="0"/>
                <a:ea typeface="宋体" pitchFamily="2" charset="-122"/>
                <a:cs typeface="+mn-cs"/>
              </a:rPr>
              <a:t>0 —— </a:t>
            </a:r>
            <a:r>
              <a:rPr lang="zh-CN" altLang="en-US" sz="2000" strike="noStrike" noProof="1">
                <a:solidFill>
                  <a:schemeClr val="tx1"/>
                </a:solidFill>
                <a:latin typeface="Times New Roman" panose="02020603050405020304" charset="0"/>
                <a:ea typeface="宋体" pitchFamily="2" charset="-122"/>
                <a:cs typeface="+mn-cs"/>
              </a:rPr>
              <a:t>核态 </a:t>
            </a:r>
            <a:r>
              <a:rPr lang="en-US" altLang="zh-CN" sz="2000" strike="noStrike" noProof="1">
                <a:solidFill>
                  <a:schemeClr val="tx1"/>
                </a:solidFill>
                <a:latin typeface="Times New Roman" panose="02020603050405020304" charset="0"/>
                <a:ea typeface="宋体" pitchFamily="2" charset="-122"/>
                <a:cs typeface="+mn-cs"/>
              </a:rPr>
              <a:t>(</a:t>
            </a:r>
            <a:r>
              <a:rPr lang="zh-CN" altLang="en-US" sz="2000" strike="noStrike" noProof="1">
                <a:solidFill>
                  <a:schemeClr val="tx1"/>
                </a:solidFill>
                <a:latin typeface="Times New Roman" panose="02020603050405020304" charset="0"/>
                <a:ea typeface="宋体" pitchFamily="2" charset="-122"/>
                <a:cs typeface="+mn-cs"/>
              </a:rPr>
              <a:t>内核模式</a:t>
            </a:r>
            <a:r>
              <a:rPr lang="en-US" altLang="zh-CN" sz="2000" strike="noStrike" noProof="1">
                <a:solidFill>
                  <a:schemeClr val="tx1"/>
                </a:solidFill>
                <a:latin typeface="Times New Roman" panose="02020603050405020304" charset="0"/>
                <a:ea typeface="宋体" pitchFamily="2" charset="-122"/>
                <a:cs typeface="+mn-cs"/>
              </a:rPr>
              <a:t>)</a:t>
            </a:r>
            <a:endParaRPr lang="en-US" altLang="zh-CN" sz="2000" strike="noStrike" noProof="1">
              <a:solidFill>
                <a:schemeClr val="tx1"/>
              </a:solidFill>
              <a:latin typeface="Times New Roman" panose="02020603050405020304" charset="0"/>
              <a:ea typeface="宋体" pitchFamily="2" charset="-122"/>
            </a:endParaRPr>
          </a:p>
          <a:p>
            <a:pPr marL="914400" lvl="1" indent="-457200" fontAlgn="base">
              <a:lnSpc>
                <a:spcPct val="110000"/>
              </a:lnSpc>
              <a:spcBef>
                <a:spcPct val="10000"/>
              </a:spcBef>
              <a:buNone/>
            </a:pPr>
            <a:r>
              <a:rPr lang="en-US" altLang="zh-CN" sz="2000" strike="noStrike" noProof="1">
                <a:solidFill>
                  <a:schemeClr val="tx1"/>
                </a:solidFill>
                <a:latin typeface="Times New Roman" panose="02020603050405020304" charset="0"/>
                <a:ea typeface="宋体" pitchFamily="2" charset="-122"/>
                <a:cs typeface="+mn-cs"/>
              </a:rPr>
              <a:t>	</a:t>
            </a:r>
            <a:r>
              <a:rPr lang="zh-CN" altLang="en-US" sz="2000" strike="noStrike" noProof="1">
                <a:solidFill>
                  <a:schemeClr val="tx1"/>
                </a:solidFill>
                <a:latin typeface="Times New Roman" panose="02020603050405020304" charset="0"/>
                <a:ea typeface="宋体" pitchFamily="2" charset="-122"/>
                <a:cs typeface="+mn-cs"/>
              </a:rPr>
              <a:t>特权级</a:t>
            </a:r>
            <a:r>
              <a:rPr lang="en-US" altLang="zh-CN" sz="2000" strike="noStrike" noProof="1">
                <a:solidFill>
                  <a:schemeClr val="tx1"/>
                </a:solidFill>
                <a:latin typeface="Times New Roman" panose="02020603050405020304" charset="0"/>
                <a:ea typeface="宋体" pitchFamily="2" charset="-122"/>
                <a:cs typeface="+mn-cs"/>
              </a:rPr>
              <a:t>3 —— </a:t>
            </a:r>
            <a:r>
              <a:rPr lang="zh-CN" altLang="en-US" sz="2000" strike="noStrike" noProof="1">
                <a:solidFill>
                  <a:schemeClr val="tx1"/>
                </a:solidFill>
                <a:latin typeface="Times New Roman" panose="02020603050405020304" charset="0"/>
                <a:ea typeface="宋体" pitchFamily="2" charset="-122"/>
                <a:cs typeface="+mn-cs"/>
              </a:rPr>
              <a:t>用户态 </a:t>
            </a:r>
            <a:r>
              <a:rPr lang="en-US" altLang="zh-CN" sz="2000" strike="noStrike" noProof="1">
                <a:solidFill>
                  <a:schemeClr val="tx1"/>
                </a:solidFill>
                <a:latin typeface="Times New Roman" panose="02020603050405020304" charset="0"/>
                <a:ea typeface="宋体" pitchFamily="2" charset="-122"/>
                <a:cs typeface="+mn-cs"/>
              </a:rPr>
              <a:t>(</a:t>
            </a:r>
            <a:r>
              <a:rPr lang="zh-CN" altLang="en-US" sz="2000" strike="noStrike" noProof="1">
                <a:solidFill>
                  <a:schemeClr val="tx1"/>
                </a:solidFill>
                <a:latin typeface="Times New Roman" panose="02020603050405020304" charset="0"/>
                <a:ea typeface="宋体" pitchFamily="2" charset="-122"/>
                <a:cs typeface="+mn-cs"/>
              </a:rPr>
              <a:t>用户模式</a:t>
            </a:r>
            <a:r>
              <a:rPr lang="en-US" altLang="zh-CN" sz="2000" strike="noStrike" noProof="1">
                <a:solidFill>
                  <a:schemeClr val="tx1"/>
                </a:solidFill>
                <a:latin typeface="Times New Roman" panose="02020603050405020304" charset="0"/>
                <a:ea typeface="宋体" pitchFamily="2" charset="-122"/>
                <a:cs typeface="+mn-cs"/>
              </a:rPr>
              <a:t>)</a:t>
            </a:r>
            <a:endParaRPr lang="en-US" altLang="zh-CN" sz="2000" strike="noStrike" noProof="1">
              <a:solidFill>
                <a:schemeClr val="tx1"/>
              </a:solidFill>
              <a:latin typeface="Times New Roman" panose="02020603050405020304" charset="0"/>
              <a:ea typeface="宋体" pitchFamily="2" charset="-122"/>
              <a:cs typeface="+mn-cs"/>
            </a:endParaRPr>
          </a:p>
          <a:p>
            <a:pPr marL="914400" lvl="1" indent="-457200" fontAlgn="base">
              <a:lnSpc>
                <a:spcPct val="110000"/>
              </a:lnSpc>
              <a:spcBef>
                <a:spcPct val="10000"/>
              </a:spcBef>
              <a:buNone/>
            </a:pPr>
            <a:endParaRPr lang="en-US" altLang="zh-CN" sz="2000" strike="noStrike" noProof="1">
              <a:solidFill>
                <a:schemeClr val="tx1"/>
              </a:solidFill>
              <a:latin typeface="Times New Roman" panose="02020603050405020304" charset="0"/>
              <a:ea typeface="宋体" pitchFamily="2" charset="-122"/>
              <a:cs typeface="+mn-cs"/>
            </a:endParaRPr>
          </a:p>
          <a:p>
            <a:pPr marL="914400" lvl="1" indent="-457200" algn="l" fontAlgn="base">
              <a:lnSpc>
                <a:spcPct val="110000"/>
              </a:lnSpc>
              <a:spcBef>
                <a:spcPct val="10000"/>
              </a:spcBef>
              <a:buNone/>
            </a:pPr>
            <a:r>
              <a:rPr lang="en-US" altLang="zh-CN" sz="2400" strike="noStrike" noProof="1">
                <a:solidFill>
                  <a:schemeClr val="tx1"/>
                </a:solidFill>
                <a:latin typeface="Times New Roman" panose="02020603050405020304" charset="0"/>
                <a:ea typeface="宋体" pitchFamily="2" charset="-122"/>
                <a:cs typeface="+mn-cs"/>
              </a:rPr>
              <a:t>2</a:t>
            </a:r>
            <a:r>
              <a:rPr lang="zh-CN" altLang="en-US" sz="2400" strike="noStrike" noProof="1">
                <a:solidFill>
                  <a:schemeClr val="tx1"/>
                </a:solidFill>
                <a:latin typeface="Times New Roman" panose="02020603050405020304" charset="0"/>
                <a:ea typeface="宋体" pitchFamily="2" charset="-122"/>
                <a:cs typeface="+mn-cs"/>
              </a:rPr>
              <a:t>、</a:t>
            </a:r>
            <a:r>
              <a:rPr lang="zh-CN" altLang="en-US" sz="2400" strike="noStrike" noProof="1">
                <a:solidFill>
                  <a:schemeClr val="tx1"/>
                </a:solidFill>
                <a:latin typeface="Times New Roman" panose="02020603050405020304" charset="0"/>
                <a:ea typeface="宋体" pitchFamily="2" charset="-122"/>
              </a:rPr>
              <a:t>中断处理一般分为两部分(上半部和下半部)</a:t>
            </a:r>
            <a:endParaRPr lang="zh-CN" altLang="en-US" sz="2400" strike="noStrike" noProof="1">
              <a:solidFill>
                <a:schemeClr val="tx1"/>
              </a:solidFill>
              <a:latin typeface="Times New Roman" panose="02020603050405020304" charset="0"/>
              <a:ea typeface="宋体" pitchFamily="2" charset="-122"/>
            </a:endParaRPr>
          </a:p>
          <a:p>
            <a:pPr marL="800100" lvl="1" indent="-342900" fontAlgn="base">
              <a:lnSpc>
                <a:spcPct val="120000"/>
              </a:lnSpc>
              <a:spcBef>
                <a:spcPct val="20000"/>
              </a:spcBef>
              <a:buFont typeface="Arial" panose="020B0604020202020204" pitchFamily="34" charset="0"/>
              <a:buChar char="•"/>
            </a:pPr>
            <a:r>
              <a:rPr lang="zh-CN" altLang="en-US" sz="2000">
                <a:solidFill>
                  <a:schemeClr val="tx1"/>
                </a:solidFill>
                <a:latin typeface="Times New Roman" panose="02020603050405020304" charset="0"/>
                <a:ea typeface="宋体" pitchFamily="2" charset="-122"/>
                <a:sym typeface="+mn-ea"/>
              </a:rPr>
              <a:t>上半部</a:t>
            </a:r>
            <a:r>
              <a:rPr lang="zh-CN" altLang="en-US" sz="2000">
                <a:solidFill>
                  <a:schemeClr val="tx1"/>
                </a:solidFill>
                <a:latin typeface="Times New Roman" panose="02020603050405020304" charset="0"/>
                <a:ea typeface="宋体" pitchFamily="2" charset="-122"/>
                <a:sym typeface="+mn-ea"/>
              </a:rPr>
              <a:t>(top half)</a:t>
            </a:r>
            <a:r>
              <a:rPr lang="zh-CN" altLang="en-US" sz="2000">
                <a:solidFill>
                  <a:schemeClr val="tx1"/>
                </a:solidFill>
                <a:latin typeface="Times New Roman" panose="02020603050405020304" charset="0"/>
                <a:ea typeface="宋体" pitchFamily="2" charset="-122"/>
                <a:sym typeface="+mn-ea"/>
              </a:rPr>
              <a:t>是</a:t>
            </a:r>
            <a:r>
              <a:rPr lang="zh-CN" altLang="en-US" sz="2000">
                <a:solidFill>
                  <a:schemeClr val="tx1"/>
                </a:solidFill>
                <a:latin typeface="Times New Roman" panose="02020603050405020304" charset="0"/>
                <a:ea typeface="宋体" pitchFamily="2" charset="-122"/>
                <a:sym typeface="+mn-ea"/>
              </a:rPr>
              <a:t>中断响应后必须立即处理的工作，是</a:t>
            </a:r>
            <a:r>
              <a:rPr lang="zh-CN" altLang="en-US" sz="2000">
                <a:solidFill>
                  <a:schemeClr val="tx1"/>
                </a:solidFill>
                <a:latin typeface="Times New Roman" panose="02020603050405020304" charset="0"/>
                <a:ea typeface="宋体" pitchFamily="2" charset="-122"/>
                <a:sym typeface="+mn-ea"/>
              </a:rPr>
              <a:t>中断处理中有严格时间限制的工作，是关键而紧迫的部分。上半部的工作是不可被打断的，即在屏蔽所有中断的情况下进行的。例：与硬件设备应答或使硬件复位的工作。</a:t>
            </a:r>
            <a:endParaRPr lang="zh-CN" altLang="en-US" sz="2000" strike="noStrike" noProof="1">
              <a:solidFill>
                <a:schemeClr val="tx1"/>
              </a:solidFill>
              <a:latin typeface="Times New Roman" panose="02020603050405020304" charset="0"/>
              <a:ea typeface="宋体" pitchFamily="2" charset="-122"/>
            </a:endParaRPr>
          </a:p>
          <a:p>
            <a:pPr marL="800100" lvl="1" indent="-342900" fontAlgn="base">
              <a:lnSpc>
                <a:spcPct val="120000"/>
              </a:lnSpc>
              <a:spcBef>
                <a:spcPct val="20000"/>
              </a:spcBef>
              <a:buFont typeface="Arial" panose="020B0604020202020204" pitchFamily="34" charset="0"/>
              <a:buChar char="•"/>
            </a:pPr>
            <a:r>
              <a:rPr lang="zh-CN" altLang="en-US" sz="2000">
                <a:solidFill>
                  <a:schemeClr val="tx1"/>
                </a:solidFill>
                <a:latin typeface="Times New Roman" panose="02020603050405020304" charset="0"/>
                <a:ea typeface="宋体" pitchFamily="2" charset="-122"/>
                <a:sym typeface="+mn-ea"/>
              </a:rPr>
              <a:t>下半部</a:t>
            </a:r>
            <a:r>
              <a:rPr lang="zh-CN" altLang="en-US" sz="2000">
                <a:solidFill>
                  <a:schemeClr val="tx1"/>
                </a:solidFill>
                <a:latin typeface="Times New Roman" panose="02020603050405020304" charset="0"/>
                <a:ea typeface="宋体" pitchFamily="2" charset="-122"/>
                <a:sym typeface="+mn-ea"/>
              </a:rPr>
              <a:t>(bottom half)是</a:t>
            </a:r>
            <a:r>
              <a:rPr lang="zh-CN" altLang="en-US" sz="2000">
                <a:solidFill>
                  <a:schemeClr val="tx1"/>
                </a:solidFill>
                <a:latin typeface="Times New Roman" panose="02020603050405020304" charset="0"/>
                <a:ea typeface="宋体" pitchFamily="2" charset="-122"/>
                <a:sym typeface="+mn-ea"/>
              </a:rPr>
              <a:t>那些可以稍后完成的工作，</a:t>
            </a:r>
            <a:r>
              <a:rPr lang="zh-CN" altLang="en-US" sz="2000">
                <a:solidFill>
                  <a:schemeClr val="tx1"/>
                </a:solidFill>
                <a:latin typeface="Times New Roman" panose="02020603050405020304" charset="0"/>
                <a:ea typeface="宋体" pitchFamily="2" charset="-122"/>
                <a:sym typeface="+mn-ea"/>
              </a:rPr>
              <a:t>下半部的执行是可以打断的，即是在开中断的情况下执行。原则上</a:t>
            </a:r>
            <a:r>
              <a:rPr lang="zh-CN" altLang="en-US" sz="2000">
                <a:solidFill>
                  <a:schemeClr val="tx1"/>
                </a:solidFill>
                <a:latin typeface="Times New Roman" panose="02020603050405020304" charset="0"/>
                <a:ea typeface="宋体" pitchFamily="2" charset="-122"/>
                <a:cs typeface="+mn-cs"/>
                <a:sym typeface="+mn-ea"/>
              </a:rPr>
              <a:t>将更多的处理工作向后推迟到下半部</a:t>
            </a:r>
            <a:r>
              <a:rPr lang="zh-CN" altLang="en-US" sz="2000">
                <a:solidFill>
                  <a:schemeClr val="tx1"/>
                </a:solidFill>
                <a:latin typeface="Times New Roman" panose="02020603050405020304" charset="0"/>
                <a:ea typeface="宋体" pitchFamily="2" charset="-122"/>
                <a:sym typeface="+mn-ea"/>
              </a:rPr>
              <a:t>执行</a:t>
            </a:r>
            <a:r>
              <a:rPr lang="zh-CN" altLang="en-US" sz="2000">
                <a:solidFill>
                  <a:schemeClr val="tx1"/>
                </a:solidFill>
                <a:latin typeface="Times New Roman" panose="02020603050405020304" charset="0"/>
                <a:ea typeface="宋体" pitchFamily="2" charset="-122"/>
                <a:cs typeface="+mn-cs"/>
                <a:sym typeface="+mn-ea"/>
              </a:rPr>
              <a:t>。</a:t>
            </a:r>
            <a:endParaRPr lang="zh-CN" altLang="en-US" sz="2000" strike="noStrike" noProof="1">
              <a:solidFill>
                <a:schemeClr val="tx1"/>
              </a:solidFill>
              <a:latin typeface="Times New Roman" panose="02020603050405020304" charset="0"/>
              <a:ea typeface="宋体" pitchFamily="2" charset="-122"/>
              <a:cs typeface="+mn-cs"/>
              <a:sym typeface="+mn-ea"/>
            </a:endParaRPr>
          </a:p>
        </p:txBody>
      </p:sp>
      <p:sp>
        <p:nvSpPr>
          <p:cNvPr id="50180" name="矩形 5017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en-US" altLang="zh-CN" sz="2400" strike="noStrike" noProof="1">
                <a:latin typeface="Times New Roman" panose="02020603050405020304" charset="0"/>
                <a:ea typeface="宋体" pitchFamily="2" charset="-122"/>
                <a:cs typeface="+mn-ea"/>
              </a:rPr>
              <a:t>Linux</a:t>
            </a:r>
            <a:r>
              <a:rPr lang="zh-CN" altLang="en-US" sz="2400" strike="noStrike" noProof="1">
                <a:latin typeface="Arial" panose="020B0604020202020204" pitchFamily="34" charset="0"/>
                <a:ea typeface="宋体" pitchFamily="2" charset="-122"/>
                <a:cs typeface="+mn-ea"/>
              </a:rPr>
              <a:t>系统</a:t>
            </a:r>
            <a:r>
              <a:rPr lang="en-US" altLang="zh-CN" sz="2400" strike="noStrike" noProof="1">
                <a:latin typeface="Arial" panose="020B0604020202020204" pitchFamily="34" charset="0"/>
                <a:ea typeface="宋体" pitchFamily="2" charset="-122"/>
                <a:cs typeface="+mn-ea"/>
              </a:rPr>
              <a:t>—— </a:t>
            </a:r>
            <a:r>
              <a:rPr lang="en-US" altLang="zh-CN" sz="2400" strike="noStrike" noProof="1">
                <a:latin typeface="Times New Roman" panose="02020603050405020304" charset="0"/>
                <a:ea typeface="宋体" pitchFamily="2" charset="-122"/>
                <a:cs typeface="+mn-ea"/>
              </a:rPr>
              <a:t>Linux</a:t>
            </a:r>
            <a:r>
              <a:rPr lang="zh-CN" altLang="en-US" sz="2400" strike="noStrike" noProof="1">
                <a:latin typeface="Arial" panose="020B0604020202020204" pitchFamily="34" charset="0"/>
                <a:ea typeface="宋体" pitchFamily="2" charset="-122"/>
                <a:cs typeface="+mn-ea"/>
              </a:rPr>
              <a:t>系统的特权级与中断处理</a:t>
            </a:r>
            <a:endParaRPr lang="zh-CN" altLang="en-US" sz="2400" strike="noStrike" noProof="1">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矩形 59393"/>
          <p:cNvSpPr/>
          <p:nvPr/>
        </p:nvSpPr>
        <p:spPr>
          <a:xfrm>
            <a:off x="533400" y="1813243"/>
            <a:ext cx="8262938" cy="41103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什么是操作系统虚拟机</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操作系统的结构</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区分处理机的态的目的</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管态、用户态，二者的区别 </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中断的定义、类型</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中断响应的定义、实质、所需的硬件支持</a:t>
            </a:r>
            <a:endParaRPr lang="zh-CN" altLang="en-US" sz="2400" b="1" strike="noStrike" noProof="1">
              <a:solidFill>
                <a:schemeClr val="tx1"/>
              </a:solidFill>
              <a:effectLst/>
              <a:latin typeface="Times New Roman" panose="02020603050405020304" charset="0"/>
              <a:ea typeface="宋体" pitchFamily="2" charset="-122"/>
            </a:endParaRPr>
          </a:p>
          <a:p>
            <a:pPr marL="533400" lvl="0" indent="-533400" fontAlgn="base">
              <a:lnSpc>
                <a:spcPct val="130000"/>
              </a:lnSpc>
            </a:pPr>
            <a:r>
              <a:rPr lang="zh-CN" altLang="en-US" sz="2400" b="1" strike="noStrike" noProof="1">
                <a:solidFill>
                  <a:schemeClr val="tx1"/>
                </a:solidFill>
                <a:effectLst/>
                <a:latin typeface="Times New Roman" panose="02020603050405020304" charset="0"/>
                <a:ea typeface="宋体" pitchFamily="2" charset="-122"/>
                <a:cs typeface="+mn-ea"/>
              </a:rPr>
              <a:t>软件中断处理过程</a:t>
            </a:r>
            <a:endParaRPr lang="zh-CN" altLang="en-US" sz="2400" b="1" strike="noStrike" noProof="1">
              <a:solidFill>
                <a:schemeClr val="tx1"/>
              </a:solidFill>
              <a:effectLst/>
              <a:latin typeface="Times New Roman" panose="02020603050405020304" charset="0"/>
              <a:ea typeface="宋体" pitchFamily="2" charset="-122"/>
            </a:endParaRPr>
          </a:p>
        </p:txBody>
      </p:sp>
      <p:sp>
        <p:nvSpPr>
          <p:cNvPr id="59395" name="矩形 5939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itchFamily="2" charset="-122"/>
                <a:cs typeface="+mn-ea"/>
              </a:rPr>
              <a:t>操作系统的结构和硬件支持</a:t>
            </a:r>
            <a:r>
              <a:rPr lang="en-US" altLang="zh-CN" sz="2400" strike="noStrike" noProof="1">
                <a:latin typeface="Arial" panose="020B0604020202020204" pitchFamily="34" charset="0"/>
                <a:ea typeface="宋体" pitchFamily="2" charset="-122"/>
                <a:cs typeface="+mn-ea"/>
              </a:rPr>
              <a:t>——</a:t>
            </a:r>
            <a:r>
              <a:rPr lang="zh-CN" altLang="en-US" sz="2400" strike="noStrike" noProof="1">
                <a:latin typeface="Arial" panose="020B0604020202020204" pitchFamily="34" charset="0"/>
                <a:ea typeface="宋体" pitchFamily="2" charset="-122"/>
                <a:cs typeface="+mn-ea"/>
              </a:rPr>
              <a:t>小结</a:t>
            </a:r>
            <a:endParaRPr lang="zh-CN" altLang="en-US" sz="2400" strike="noStrike" noProof="1">
              <a:ea typeface="宋体" pitchFamily="2" charset="-122"/>
            </a:endParaRPr>
          </a:p>
        </p:txBody>
      </p:sp>
      <p:sp>
        <p:nvSpPr>
          <p:cNvPr id="2" name="文本框 1"/>
          <p:cNvSpPr txBox="1"/>
          <p:nvPr/>
        </p:nvSpPr>
        <p:spPr>
          <a:xfrm>
            <a:off x="583565" y="906780"/>
            <a:ext cx="995680" cy="579120"/>
          </a:xfrm>
          <a:prstGeom prst="rect">
            <a:avLst/>
          </a:prstGeom>
          <a:noFill/>
        </p:spPr>
        <p:txBody>
          <a:bodyPr wrap="none" rtlCol="0" anchor="t">
            <a:spAutoFit/>
          </a:bodyPr>
          <a:p>
            <a:r>
              <a:rPr lang="zh-CN" altLang="en-US">
                <a:solidFill>
                  <a:srgbClr val="990000"/>
                </a:solidFill>
                <a:cs typeface="+mn-ea"/>
                <a:sym typeface="+mn-ea"/>
              </a:rPr>
              <a:t>小结</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9394" grpId="0"/>
    </p:bldLst>
  </p:timing>
</p:sld>
</file>

<file path=ppt/theme/theme1.xml><?xml version="1.0" encoding="utf-8"?>
<a:theme xmlns:a="http://schemas.openxmlformats.org/drawingml/2006/main" name="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themeOverride>
</file>

<file path=docProps/app.xml><?xml version="1.0" encoding="utf-8"?>
<Properties xmlns="http://schemas.openxmlformats.org/officeDocument/2006/extended-properties" xmlns:vt="http://schemas.openxmlformats.org/officeDocument/2006/docPropsVTypes">
  <Template>IF9-VSTS Hongchao Wang</Template>
  <TotalTime>0</TotalTime>
  <Words>8429</Words>
  <Application>WPS 演示</Application>
  <PresentationFormat>在屏幕上显示</PresentationFormat>
  <Paragraphs>1103</Paragraphs>
  <Slides>61</Slides>
  <Notes>0</Notes>
  <HiddenSlides>0</HiddenSlides>
  <MMClips>0</MMClips>
  <ScaleCrop>false</ScaleCrop>
  <HeadingPairs>
    <vt:vector size="8" baseType="variant">
      <vt:variant>
        <vt:lpstr>已用的字体</vt:lpstr>
      </vt:variant>
      <vt:variant>
        <vt:i4>16</vt:i4>
      </vt:variant>
      <vt:variant>
        <vt:lpstr>主题</vt:lpstr>
      </vt:variant>
      <vt:variant>
        <vt:i4>8</vt:i4>
      </vt:variant>
      <vt:variant>
        <vt:lpstr>嵌入 OLE 服务器</vt:lpstr>
      </vt:variant>
      <vt:variant>
        <vt:i4>19</vt:i4>
      </vt:variant>
      <vt:variant>
        <vt:lpstr>幻灯片标题</vt:lpstr>
      </vt:variant>
      <vt:variant>
        <vt:i4>61</vt:i4>
      </vt:variant>
    </vt:vector>
  </HeadingPairs>
  <TitlesOfParts>
    <vt:vector size="104" baseType="lpstr">
      <vt:lpstr>Arial</vt:lpstr>
      <vt:lpstr>宋体</vt:lpstr>
      <vt:lpstr>Wingdings</vt:lpstr>
      <vt:lpstr>方正书宋_GBK</vt:lpstr>
      <vt:lpstr>Times New Roman</vt:lpstr>
      <vt:lpstr>微软雅黑</vt:lpstr>
      <vt:lpstr>宋体</vt:lpstr>
      <vt:lpstr>Arial Unicode MS</vt:lpstr>
      <vt:lpstr>Calibri</vt:lpstr>
      <vt:lpstr>Trebuchet MS</vt:lpstr>
      <vt:lpstr>Symbol</vt:lpstr>
      <vt:lpstr>黑体</vt:lpstr>
      <vt:lpstr>仿宋_GB2312</vt:lpstr>
      <vt:lpstr>方正仿宋_GBK</vt:lpstr>
      <vt:lpstr>MT Extra</vt:lpstr>
      <vt:lpstr>方正黑体_GBK</vt:lpstr>
      <vt:lpstr>SAF_2004_Template_2</vt:lpstr>
      <vt:lpstr>1_SAF_2004_Template_2</vt:lpstr>
      <vt:lpstr>2_SAF_2004_Template_2</vt:lpstr>
      <vt:lpstr>3_SAF_2004_Template_2</vt:lpstr>
      <vt:lpstr>4_SAF_2004_Template_2</vt:lpstr>
      <vt:lpstr>5_SAF_2004_Template_2</vt:lpstr>
      <vt:lpstr>6_SAF_2004_Template_2</vt:lpstr>
      <vt:lpstr>7_SAF_2004_Template_2</vt:lpstr>
      <vt:lpstr>Paint.Picture</vt:lpstr>
      <vt:lpstr>Paint.Picture</vt:lpstr>
      <vt:lpstr>Paint.Picture</vt:lpstr>
      <vt:lpstr>Paint.Picture</vt:lpstr>
      <vt:lpstr>Paint.Picture</vt:lpstr>
      <vt:lpstr>Paint.Picture</vt:lpstr>
      <vt:lpstr>Paint.Picture</vt:lpstr>
      <vt:lpstr>Paint.Picture</vt:lpstr>
      <vt:lpstr>MSPhotoEd.3</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单体结构特点：</vt:lpstr>
      <vt:lpstr>PowerPoint 演示文稿</vt:lpstr>
      <vt:lpstr>模块化结构特点：</vt:lpstr>
      <vt:lpstr>PowerPoint 演示文稿</vt:lpstr>
      <vt:lpstr>PowerPoint 演示文稿</vt:lpstr>
      <vt:lpstr>层次结构的特点：</vt:lpstr>
      <vt:lpstr>PowerPoint 演示文稿</vt:lpstr>
      <vt:lpstr>可扩展内核结构/微内核结构特点：</vt:lpstr>
      <vt:lpstr>缺点：效率非常低</vt:lpstr>
      <vt:lpstr>缺点：效率非常低</vt:lpstr>
      <vt:lpstr>可扩展内核结构/微内核结构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(4)Android架构</vt:lpstr>
      <vt:lpstr>Android架构</vt:lpstr>
      <vt:lpstr>Android架构</vt:lpstr>
      <vt:lpstr>HarmonyOS NEXT 架构</vt:lpstr>
      <vt:lpstr>HarmonyOS NEXT 鸿蒙微内核</vt:lpstr>
      <vt:lpstr>HarmonyOS NEXT 鸿蒙微内核</vt:lpstr>
      <vt:lpstr>PowerPoint 演示文稿</vt:lpstr>
      <vt:lpstr>PowerPoint 演示文稿</vt:lpstr>
      <vt:lpstr>PowerPoint 演示文稿</vt:lpstr>
      <vt:lpstr>PowerPoint 演示文稿</vt:lpstr>
      <vt:lpstr>PowerPoint 演示文稿</vt:lpstr>
      <vt:lpstr>处理器特权级的标识：</vt:lpstr>
      <vt:lpstr>PowerPoint 演示文稿</vt:lpstr>
      <vt:lpstr>处理器状态切换：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中断向量表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675</cp:revision>
  <dcterms:created xsi:type="dcterms:W3CDTF">2024-09-20T05:23:34Z</dcterms:created>
  <dcterms:modified xsi:type="dcterms:W3CDTF">2024-09-20T05:23:34Z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2052-11.1.0.11698</vt:lpwstr>
  </property>
  <property fmtid="{D5CDD505-2E9C-101B-9397-08002B2CF9AE}" pid="3" name="ICV">
    <vt:lpwstr/>
  </property>
</Properties>
</file>