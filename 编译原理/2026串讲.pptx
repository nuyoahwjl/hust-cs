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4" r:id="rId2"/>
  </p:sldMasterIdLst>
  <p:notesMasterIdLst>
    <p:notesMasterId r:id="rId41"/>
  </p:notesMasterIdLst>
  <p:sldIdLst>
    <p:sldId id="7887" r:id="rId3"/>
    <p:sldId id="2258" r:id="rId4"/>
    <p:sldId id="2259" r:id="rId5"/>
    <p:sldId id="2543" r:id="rId6"/>
    <p:sldId id="2550" r:id="rId7"/>
    <p:sldId id="7888" r:id="rId8"/>
    <p:sldId id="2545" r:id="rId9"/>
    <p:sldId id="2551" r:id="rId10"/>
    <p:sldId id="2546" r:id="rId11"/>
    <p:sldId id="2552" r:id="rId12"/>
    <p:sldId id="7889" r:id="rId13"/>
    <p:sldId id="7890" r:id="rId14"/>
    <p:sldId id="2544" r:id="rId15"/>
    <p:sldId id="2553" r:id="rId16"/>
    <p:sldId id="7913" r:id="rId17"/>
    <p:sldId id="7916" r:id="rId18"/>
    <p:sldId id="7892" r:id="rId19"/>
    <p:sldId id="7907" r:id="rId20"/>
    <p:sldId id="7891" r:id="rId21"/>
    <p:sldId id="7893" r:id="rId22"/>
    <p:sldId id="2542" r:id="rId23"/>
    <p:sldId id="7894" r:id="rId24"/>
    <p:sldId id="7895" r:id="rId25"/>
    <p:sldId id="7897" r:id="rId26"/>
    <p:sldId id="2547" r:id="rId27"/>
    <p:sldId id="7901" r:id="rId28"/>
    <p:sldId id="7902" r:id="rId29"/>
    <p:sldId id="7914" r:id="rId30"/>
    <p:sldId id="7915" r:id="rId31"/>
    <p:sldId id="2549" r:id="rId32"/>
    <p:sldId id="7905" r:id="rId33"/>
    <p:sldId id="7906" r:id="rId34"/>
    <p:sldId id="7904" r:id="rId35"/>
    <p:sldId id="7910" r:id="rId36"/>
    <p:sldId id="7911" r:id="rId37"/>
    <p:sldId id="7912" r:id="rId38"/>
    <p:sldId id="7898" r:id="rId39"/>
    <p:sldId id="2538" r:id="rId40"/>
  </p:sldIdLst>
  <p:sldSz cx="12192000" cy="6858000"/>
  <p:notesSz cx="7099300" cy="10234613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C505D193-7E5D-44E2-9BA1-E640E0BC06BA}">
          <p14:sldIdLst>
            <p14:sldId id="7887"/>
          </p14:sldIdLst>
        </p14:section>
        <p14:section name="正文" id="{60BEEEEF-E487-462B-8CE5-642B54B1A257}">
          <p14:sldIdLst>
            <p14:sldId id="2258"/>
            <p14:sldId id="2259"/>
            <p14:sldId id="2543"/>
            <p14:sldId id="2550"/>
            <p14:sldId id="7888"/>
            <p14:sldId id="2545"/>
            <p14:sldId id="2551"/>
            <p14:sldId id="2546"/>
            <p14:sldId id="2552"/>
            <p14:sldId id="7889"/>
            <p14:sldId id="7890"/>
            <p14:sldId id="2544"/>
            <p14:sldId id="2553"/>
            <p14:sldId id="7913"/>
            <p14:sldId id="7916"/>
            <p14:sldId id="7892"/>
            <p14:sldId id="7907"/>
            <p14:sldId id="7891"/>
            <p14:sldId id="7893"/>
            <p14:sldId id="2542"/>
            <p14:sldId id="7894"/>
            <p14:sldId id="7895"/>
            <p14:sldId id="7897"/>
            <p14:sldId id="2547"/>
            <p14:sldId id="7901"/>
            <p14:sldId id="7902"/>
            <p14:sldId id="7914"/>
            <p14:sldId id="7915"/>
            <p14:sldId id="2549"/>
            <p14:sldId id="7905"/>
            <p14:sldId id="7906"/>
            <p14:sldId id="7904"/>
            <p14:sldId id="7910"/>
            <p14:sldId id="7911"/>
            <p14:sldId id="7912"/>
            <p14:sldId id="7898"/>
            <p14:sldId id="25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43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16" userDrawn="1">
          <p15:clr>
            <a:srgbClr val="A4A3A4"/>
          </p15:clr>
        </p15:guide>
        <p15:guide id="5" orient="horz" pos="958" userDrawn="1">
          <p15:clr>
            <a:srgbClr val="A4A3A4"/>
          </p15:clr>
        </p15:guide>
        <p15:guide id="6" orient="horz" pos="731" userDrawn="1">
          <p15:clr>
            <a:srgbClr val="A4A3A4"/>
          </p15:clr>
        </p15:guide>
        <p15:guide id="8" orient="horz" pos="3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E7C7E"/>
    <a:srgbClr val="19968B"/>
    <a:srgbClr val="21C9B9"/>
    <a:srgbClr val="3B78FF"/>
    <a:srgbClr val="0C0C0C"/>
    <a:srgbClr val="3B6892"/>
    <a:srgbClr val="000000"/>
    <a:srgbClr val="3333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710" autoAdjust="0"/>
    <p:restoredTop sz="95961" autoAdjust="0"/>
  </p:normalViewPr>
  <p:slideViewPr>
    <p:cSldViewPr snapToGrid="0">
      <p:cViewPr varScale="1">
        <p:scale>
          <a:sx n="56" d="100"/>
          <a:sy n="56" d="100"/>
        </p:scale>
        <p:origin x="44" y="184"/>
      </p:cViewPr>
      <p:guideLst>
        <p:guide orient="horz" pos="3430"/>
        <p:guide pos="3840"/>
        <p:guide pos="416"/>
        <p:guide orient="horz" pos="958"/>
        <p:guide orient="horz" pos="731"/>
        <p:guide orient="horz" pos="3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gs" Target="tags/tag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DDD9FAD-0514-4934-AF60-548DC807C5C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B110F8FE-5AB9-4B43-AF23-42F879C707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002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E584D-DA30-42E6-B6AB-C9D2BEA4D81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23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1370C-D34B-9CB8-1157-5845938D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C7E413-A7CC-42AB-2050-20C616B7E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872C67-892D-B813-2696-FC8507A8F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2B4F-B315-4AEE-AD0A-906BD70E9D2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D17D77-4797-66B0-5615-626949E21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EF7B80-0CCD-87F5-C732-430CF1E1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19D7-F1A2-43C4-8C0D-05B8FB51EA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619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228870A-086E-4FD4-AAF5-CECA400D71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0585" y="364350"/>
            <a:ext cx="1554844" cy="35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210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CCF1B-7B1A-C644-B031-CDCF7AE94813}" type="datetimeFigureOut">
              <a:rPr kumimoji="1" lang="zh-CN" altLang="en-US" smtClean="0"/>
              <a:t>2026/6/3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E7B76-6D4A-D043-9FCE-C1FDFE2F9D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917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74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143171FD-B7AC-489A-91BA-0D890728EE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1182D"/>
              </a:clrFrom>
              <a:clrTo>
                <a:srgbClr val="01182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6" t="50499"/>
          <a:stretch/>
        </p:blipFill>
        <p:spPr>
          <a:xfrm>
            <a:off x="6561" y="3618316"/>
            <a:ext cx="12192000" cy="340136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91D76DD4-9D40-448E-9305-3D575E9D2020}"/>
              </a:ext>
            </a:extLst>
          </p:cNvPr>
          <p:cNvSpPr/>
          <p:nvPr userDrawn="1"/>
        </p:nvSpPr>
        <p:spPr>
          <a:xfrm>
            <a:off x="6561" y="3239684"/>
            <a:ext cx="12192000" cy="345279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553138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12800" indent="-3556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400">
                <a:solidFill>
                  <a:srgbClr val="1897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2DA8A99-4E3F-420F-9E9E-17E9B84113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0585" y="364350"/>
            <a:ext cx="1554844" cy="353947"/>
          </a:xfrm>
          <a:prstGeom prst="rect">
            <a:avLst/>
          </a:prstGeom>
        </p:spPr>
      </p:pic>
      <p:sp>
        <p:nvSpPr>
          <p:cNvPr id="15" name="椭圆 14"/>
          <p:cNvSpPr/>
          <p:nvPr userDrawn="1"/>
        </p:nvSpPr>
        <p:spPr>
          <a:xfrm>
            <a:off x="11290928" y="6595549"/>
            <a:ext cx="246888" cy="246888"/>
          </a:xfrm>
          <a:prstGeom prst="ellipse">
            <a:avLst/>
          </a:prstGeom>
          <a:solidFill>
            <a:srgbClr val="18978B"/>
          </a:solidFill>
          <a:ln>
            <a:solidFill>
              <a:srgbClr val="138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7822" y="257614"/>
            <a:ext cx="10515600" cy="617641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244B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430" y="6692474"/>
            <a:ext cx="12180570" cy="169469"/>
          </a:xfrm>
          <a:prstGeom prst="rect">
            <a:avLst/>
          </a:prstGeom>
          <a:solidFill>
            <a:srgbClr val="189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-1270" y="6692474"/>
            <a:ext cx="759220" cy="169469"/>
          </a:xfrm>
          <a:prstGeom prst="rect">
            <a:avLst/>
          </a:prstGeom>
          <a:solidFill>
            <a:srgbClr val="244B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 userDrawn="1"/>
        </p:nvSpPr>
        <p:spPr>
          <a:xfrm flipV="1">
            <a:off x="326571" y="359908"/>
            <a:ext cx="1386789" cy="432000"/>
          </a:xfrm>
          <a:custGeom>
            <a:avLst/>
            <a:gdLst>
              <a:gd name="connsiteX0" fmla="*/ 167822 w 1386790"/>
              <a:gd name="connsiteY0" fmla="*/ 524933 h 524933"/>
              <a:gd name="connsiteX1" fmla="*/ 168846 w 1386790"/>
              <a:gd name="connsiteY1" fmla="*/ 524933 h 524933"/>
              <a:gd name="connsiteX2" fmla="*/ 168846 w 1386790"/>
              <a:gd name="connsiteY2" fmla="*/ 14598 h 524933"/>
              <a:gd name="connsiteX3" fmla="*/ 1386790 w 1386790"/>
              <a:gd name="connsiteY3" fmla="*/ 14598 h 524933"/>
              <a:gd name="connsiteX4" fmla="*/ 1386790 w 1386790"/>
              <a:gd name="connsiteY4" fmla="*/ 0 h 524933"/>
              <a:gd name="connsiteX5" fmla="*/ 167822 w 1386790"/>
              <a:gd name="connsiteY5" fmla="*/ 0 h 524933"/>
              <a:gd name="connsiteX6" fmla="*/ 152999 w 1386790"/>
              <a:gd name="connsiteY6" fmla="*/ 0 h 524933"/>
              <a:gd name="connsiteX7" fmla="*/ 152999 w 1386790"/>
              <a:gd name="connsiteY7" fmla="*/ 507260 h 524933"/>
              <a:gd name="connsiteX8" fmla="*/ 107280 w 1386790"/>
              <a:gd name="connsiteY8" fmla="*/ 507260 h 524933"/>
              <a:gd name="connsiteX9" fmla="*/ 107280 w 1386790"/>
              <a:gd name="connsiteY9" fmla="*/ 0 h 524933"/>
              <a:gd name="connsiteX10" fmla="*/ 0 w 1386790"/>
              <a:gd name="connsiteY10" fmla="*/ 0 h 524933"/>
              <a:gd name="connsiteX11" fmla="*/ 0 w 1386790"/>
              <a:gd name="connsiteY11" fmla="*/ 524932 h 524933"/>
              <a:gd name="connsiteX12" fmla="*/ 33834 w 1386790"/>
              <a:gd name="connsiteY12" fmla="*/ 524932 h 524933"/>
              <a:gd name="connsiteX13" fmla="*/ 33834 w 1386790"/>
              <a:gd name="connsiteY13" fmla="*/ 23810 h 524933"/>
              <a:gd name="connsiteX14" fmla="*/ 79553 w 1386790"/>
              <a:gd name="connsiteY14" fmla="*/ 23810 h 524933"/>
              <a:gd name="connsiteX15" fmla="*/ 79553 w 1386790"/>
              <a:gd name="connsiteY15" fmla="*/ 524932 h 524933"/>
              <a:gd name="connsiteX16" fmla="*/ 167822 w 1386790"/>
              <a:gd name="connsiteY16" fmla="*/ 524932 h 52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189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FACCFFF4-8704-47DE-8273-AF2E2A9719F8}"/>
              </a:ext>
            </a:extLst>
          </p:cNvPr>
          <p:cNvSpPr txBox="1"/>
          <p:nvPr userDrawn="1"/>
        </p:nvSpPr>
        <p:spPr>
          <a:xfrm>
            <a:off x="11268341" y="6589899"/>
            <a:ext cx="292061" cy="283147"/>
          </a:xfrm>
          <a:prstGeom prst="rect">
            <a:avLst/>
          </a:prstGeom>
        </p:spPr>
        <p:txBody>
          <a:bodyPr vert="horz" wrap="square" lIns="0" tIns="0" rIns="0" bIns="0" rtlCol="0" anchor="ctr" anchorCtr="1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183D58-648D-4475-BEF8-624F48514A30}" type="slidenum">
              <a:rPr lang="zh-CN" altLang="en-US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‹#›</a:t>
            </a:fld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74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1060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143171FD-B7AC-489A-91BA-0D890728EE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1182D"/>
              </a:clrFrom>
              <a:clrTo>
                <a:srgbClr val="01182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6" t="50499"/>
          <a:stretch/>
        </p:blipFill>
        <p:spPr>
          <a:xfrm>
            <a:off x="6561" y="3618316"/>
            <a:ext cx="12192000" cy="340136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91D76DD4-9D40-448E-9305-3D575E9D2020}"/>
              </a:ext>
            </a:extLst>
          </p:cNvPr>
          <p:cNvSpPr/>
          <p:nvPr userDrawn="1"/>
        </p:nvSpPr>
        <p:spPr>
          <a:xfrm>
            <a:off x="6561" y="3239684"/>
            <a:ext cx="12192000" cy="345279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553138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2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12800" indent="-3556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2400">
                <a:solidFill>
                  <a:srgbClr val="1897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2DA8A99-4E3F-420F-9E9E-17E9B84113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10585" y="364350"/>
            <a:ext cx="1554844" cy="353947"/>
          </a:xfrm>
          <a:prstGeom prst="rect">
            <a:avLst/>
          </a:prstGeom>
        </p:spPr>
      </p:pic>
      <p:sp>
        <p:nvSpPr>
          <p:cNvPr id="15" name="椭圆 14"/>
          <p:cNvSpPr/>
          <p:nvPr userDrawn="1"/>
        </p:nvSpPr>
        <p:spPr>
          <a:xfrm>
            <a:off x="11290928" y="6595549"/>
            <a:ext cx="246888" cy="246888"/>
          </a:xfrm>
          <a:prstGeom prst="ellipse">
            <a:avLst/>
          </a:prstGeom>
          <a:solidFill>
            <a:srgbClr val="18978B"/>
          </a:solidFill>
          <a:ln>
            <a:solidFill>
              <a:srgbClr val="138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7822" y="257614"/>
            <a:ext cx="10515600" cy="617641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244B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430" y="6692474"/>
            <a:ext cx="12180570" cy="169469"/>
          </a:xfrm>
          <a:prstGeom prst="rect">
            <a:avLst/>
          </a:prstGeom>
          <a:solidFill>
            <a:srgbClr val="189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-1270" y="6692474"/>
            <a:ext cx="759220" cy="169469"/>
          </a:xfrm>
          <a:prstGeom prst="rect">
            <a:avLst/>
          </a:prstGeom>
          <a:solidFill>
            <a:srgbClr val="244B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 userDrawn="1"/>
        </p:nvSpPr>
        <p:spPr>
          <a:xfrm flipV="1">
            <a:off x="326571" y="359908"/>
            <a:ext cx="1386789" cy="432000"/>
          </a:xfrm>
          <a:custGeom>
            <a:avLst/>
            <a:gdLst>
              <a:gd name="connsiteX0" fmla="*/ 167822 w 1386790"/>
              <a:gd name="connsiteY0" fmla="*/ 524933 h 524933"/>
              <a:gd name="connsiteX1" fmla="*/ 168846 w 1386790"/>
              <a:gd name="connsiteY1" fmla="*/ 524933 h 524933"/>
              <a:gd name="connsiteX2" fmla="*/ 168846 w 1386790"/>
              <a:gd name="connsiteY2" fmla="*/ 14598 h 524933"/>
              <a:gd name="connsiteX3" fmla="*/ 1386790 w 1386790"/>
              <a:gd name="connsiteY3" fmla="*/ 14598 h 524933"/>
              <a:gd name="connsiteX4" fmla="*/ 1386790 w 1386790"/>
              <a:gd name="connsiteY4" fmla="*/ 0 h 524933"/>
              <a:gd name="connsiteX5" fmla="*/ 167822 w 1386790"/>
              <a:gd name="connsiteY5" fmla="*/ 0 h 524933"/>
              <a:gd name="connsiteX6" fmla="*/ 152999 w 1386790"/>
              <a:gd name="connsiteY6" fmla="*/ 0 h 524933"/>
              <a:gd name="connsiteX7" fmla="*/ 152999 w 1386790"/>
              <a:gd name="connsiteY7" fmla="*/ 507260 h 524933"/>
              <a:gd name="connsiteX8" fmla="*/ 107280 w 1386790"/>
              <a:gd name="connsiteY8" fmla="*/ 507260 h 524933"/>
              <a:gd name="connsiteX9" fmla="*/ 107280 w 1386790"/>
              <a:gd name="connsiteY9" fmla="*/ 0 h 524933"/>
              <a:gd name="connsiteX10" fmla="*/ 0 w 1386790"/>
              <a:gd name="connsiteY10" fmla="*/ 0 h 524933"/>
              <a:gd name="connsiteX11" fmla="*/ 0 w 1386790"/>
              <a:gd name="connsiteY11" fmla="*/ 524932 h 524933"/>
              <a:gd name="connsiteX12" fmla="*/ 33834 w 1386790"/>
              <a:gd name="connsiteY12" fmla="*/ 524932 h 524933"/>
              <a:gd name="connsiteX13" fmla="*/ 33834 w 1386790"/>
              <a:gd name="connsiteY13" fmla="*/ 23810 h 524933"/>
              <a:gd name="connsiteX14" fmla="*/ 79553 w 1386790"/>
              <a:gd name="connsiteY14" fmla="*/ 23810 h 524933"/>
              <a:gd name="connsiteX15" fmla="*/ 79553 w 1386790"/>
              <a:gd name="connsiteY15" fmla="*/ 524932 h 524933"/>
              <a:gd name="connsiteX16" fmla="*/ 167822 w 1386790"/>
              <a:gd name="connsiteY16" fmla="*/ 524932 h 52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189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FACCFFF4-8704-47DE-8273-AF2E2A9719F8}"/>
              </a:ext>
            </a:extLst>
          </p:cNvPr>
          <p:cNvSpPr txBox="1"/>
          <p:nvPr userDrawn="1"/>
        </p:nvSpPr>
        <p:spPr>
          <a:xfrm>
            <a:off x="11268341" y="6589899"/>
            <a:ext cx="292061" cy="283147"/>
          </a:xfrm>
          <a:prstGeom prst="rect">
            <a:avLst/>
          </a:prstGeom>
        </p:spPr>
        <p:txBody>
          <a:bodyPr vert="horz" wrap="square" lIns="0" tIns="0" rIns="0" bIns="0" rtlCol="0" anchor="ctr" anchorCtr="1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183D58-648D-4475-BEF8-624F48514A30}" type="slidenum">
              <a:rPr lang="zh-CN" altLang="en-US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‹#›</a:t>
            </a:fld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942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088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08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329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04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3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7845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803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532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388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F23B-AF66-41A9-897D-44609AD9DFB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059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84BA11-5D4C-1551-F114-5040AF629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A83358-049F-5F46-91E5-54C9EFBD3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176183-9480-D0D1-6AD3-BD4BD99DC7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C2B4F-B315-4AEE-AD0A-906BD70E9D26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7E4784-CE7B-5435-C635-BA9FCBBDD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A765BB-9FC4-48EA-13F2-69E4F019C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B19D7-F1A2-43C4-8C0D-05B8FB51EA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3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  <p:sldLayoutId id="2147483673" r:id="rId3"/>
    <p:sldLayoutId id="2147483661" r:id="rId4"/>
    <p:sldLayoutId id="214748366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16" userDrawn="1">
          <p15:clr>
            <a:srgbClr val="F26B43"/>
          </p15:clr>
        </p15:guide>
        <p15:guide id="4" pos="7256" userDrawn="1">
          <p15:clr>
            <a:srgbClr val="F26B43"/>
          </p15:clr>
        </p15:guide>
        <p15:guide id="5" orient="horz" pos="648" userDrawn="1">
          <p15:clr>
            <a:srgbClr val="F26B43"/>
          </p15:clr>
        </p15:guide>
        <p15:guide id="6" orient="horz" pos="712" userDrawn="1">
          <p15:clr>
            <a:srgbClr val="F26B43"/>
          </p15:clr>
        </p15:guide>
        <p15:guide id="7" orient="horz" pos="3928" userDrawn="1">
          <p15:clr>
            <a:srgbClr val="F26B43"/>
          </p15:clr>
        </p15:guide>
        <p15:guide id="8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2B2F23B-AF66-41A9-897D-44609AD9DFB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2F030DD-4EA3-4D16-8C1C-D1952208EE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89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qq.com/aio/DR0hGeWd2dkhTckJj?p=ulG2ZO2hW7gsBjHmaXGyUQ" TargetMode="Externa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EEE71E2C-0F62-4609-CFAA-C7FA8EF141B1}"/>
              </a:ext>
            </a:extLst>
          </p:cNvPr>
          <p:cNvSpPr/>
          <p:nvPr/>
        </p:nvSpPr>
        <p:spPr>
          <a:xfrm>
            <a:off x="1884" y="3938811"/>
            <a:ext cx="12206827" cy="292026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1DD9DD-FBA7-3DCE-66A3-41C60D5DD100}"/>
              </a:ext>
            </a:extLst>
          </p:cNvPr>
          <p:cNvSpPr txBox="1"/>
          <p:nvPr/>
        </p:nvSpPr>
        <p:spPr>
          <a:xfrm>
            <a:off x="883578" y="1639222"/>
            <a:ext cx="9924835" cy="1160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14000"/>
              </a:lnSpc>
            </a:pPr>
            <a:r>
              <a:rPr kumimoji="1" lang="en-US" altLang="zh-CN" sz="6600" dirty="0">
                <a:solidFill>
                  <a:srgbClr val="244B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Microsoft YaHei" charset="-122"/>
                <a:sym typeface="Arial" panose="020B0604020202020204" pitchFamily="34" charset="0"/>
              </a:rPr>
              <a:t>《</a:t>
            </a:r>
            <a:r>
              <a:rPr kumimoji="1" lang="zh-CN" altLang="en-US" sz="6600" dirty="0">
                <a:solidFill>
                  <a:srgbClr val="244B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Microsoft YaHei" charset="-122"/>
                <a:sym typeface="Arial" panose="020B0604020202020204" pitchFamily="34" charset="0"/>
              </a:rPr>
              <a:t>编译原理</a:t>
            </a:r>
            <a:r>
              <a:rPr kumimoji="1" lang="en-US" altLang="zh-CN" sz="6600" dirty="0">
                <a:solidFill>
                  <a:srgbClr val="244B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Microsoft YaHei" charset="-122"/>
                <a:sym typeface="Arial" panose="020B0604020202020204" pitchFamily="34" charset="0"/>
              </a:rPr>
              <a:t>》</a:t>
            </a:r>
            <a:r>
              <a:rPr kumimoji="1" lang="zh-CN" altLang="en-US" sz="6600" dirty="0">
                <a:solidFill>
                  <a:srgbClr val="244B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Microsoft YaHei" charset="-122"/>
                <a:sym typeface="Arial" panose="020B0604020202020204" pitchFamily="34" charset="0"/>
              </a:rPr>
              <a:t>知识点串讲</a:t>
            </a:r>
            <a:endParaRPr kumimoji="1" lang="zh-CN" altLang="en-US" sz="6600" i="0" u="none" strike="noStrike" kern="1200" cap="none" spc="0" normalizeH="0" baseline="0" noProof="0" dirty="0">
              <a:ln>
                <a:noFill/>
              </a:ln>
              <a:solidFill>
                <a:srgbClr val="244B6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Microsoft YaHei" charset="-122"/>
              <a:sym typeface="Arial" panose="020B0604020202020204" pitchFamily="34" charset="0"/>
            </a:endParaRPr>
          </a:p>
        </p:txBody>
      </p:sp>
      <p:pic>
        <p:nvPicPr>
          <p:cNvPr id="20" name="图片 19" descr="图形用户界面, 应用程序&#10;&#10;描述已自动生成">
            <a:extLst>
              <a:ext uri="{FF2B5EF4-FFF2-40B4-BE49-F238E27FC236}">
                <a16:creationId xmlns:a16="http://schemas.microsoft.com/office/drawing/2014/main" id="{28B648E9-E192-B936-1E35-FBC7F6958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28110"/>
            <a:ext cx="121920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872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7822" y="942764"/>
            <a:ext cx="10655459" cy="5637024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lnSpc>
                <a:spcPct val="150000"/>
              </a:lnSpc>
              <a:buClrTx/>
              <a:buFont typeface="+mj-lt"/>
              <a:buAutoNum type="arabicPeriod"/>
              <a:defRPr/>
            </a:pPr>
            <a:r>
              <a:rPr lang="zh-CN" altLang="en-US" sz="3200" b="0" dirty="0"/>
              <a:t>引论（</a:t>
            </a:r>
            <a:r>
              <a:rPr lang="en-US" altLang="zh-CN" sz="3200" b="0" dirty="0"/>
              <a:t>10%</a:t>
            </a:r>
            <a:r>
              <a:rPr lang="zh-CN" altLang="en-US" sz="3200" b="0" dirty="0"/>
              <a:t>）</a:t>
            </a:r>
            <a:endParaRPr lang="en-US" altLang="zh-CN" sz="3200" b="0" dirty="0"/>
          </a:p>
          <a:p>
            <a:pPr marL="514350" indent="-514350">
              <a:lnSpc>
                <a:spcPct val="150000"/>
              </a:lnSpc>
              <a:buClrTx/>
              <a:buFont typeface="+mj-lt"/>
              <a:buAutoNum type="arabicPeriod"/>
              <a:defRPr/>
            </a:pPr>
            <a:r>
              <a:rPr lang="zh-CN" altLang="en-US" sz="3200" b="0" dirty="0"/>
              <a:t>文法与语言（</a:t>
            </a:r>
            <a:r>
              <a:rPr lang="en-US" altLang="zh-CN" sz="3200" b="0" dirty="0"/>
              <a:t>10%</a:t>
            </a:r>
            <a:r>
              <a:rPr lang="zh-CN" altLang="en-US" sz="3200" b="0" dirty="0"/>
              <a:t>）</a:t>
            </a:r>
            <a:endParaRPr lang="en-US" altLang="zh-CN" sz="3200" b="0" dirty="0"/>
          </a:p>
          <a:p>
            <a:pPr marL="514350" indent="-514350">
              <a:lnSpc>
                <a:spcPct val="150000"/>
              </a:lnSpc>
              <a:buClrTx/>
              <a:buFont typeface="+mj-lt"/>
              <a:buAutoNum type="arabicPeriod"/>
              <a:defRPr/>
            </a:pPr>
            <a:r>
              <a:rPr lang="zh-CN" altLang="en-US" sz="3200" b="0" dirty="0"/>
              <a:t>词法分析（</a:t>
            </a:r>
            <a:r>
              <a:rPr lang="en-US" altLang="zh-CN" sz="3200" b="0" dirty="0"/>
              <a:t>15%</a:t>
            </a:r>
            <a:r>
              <a:rPr lang="zh-CN" altLang="en-US" sz="3200" b="0" dirty="0"/>
              <a:t>）</a:t>
            </a:r>
            <a:endParaRPr lang="en-US" altLang="zh-CN" sz="3200" b="0" dirty="0"/>
          </a:p>
          <a:p>
            <a:pPr marL="514350" indent="-514350">
              <a:lnSpc>
                <a:spcPct val="150000"/>
              </a:lnSpc>
              <a:buClrTx/>
              <a:buFont typeface="+mj-lt"/>
              <a:buAutoNum type="arabicPeriod"/>
              <a:defRPr/>
            </a:pPr>
            <a:r>
              <a:rPr lang="zh-CN" altLang="en-US" sz="3200" b="0" dirty="0"/>
              <a:t>语法分析</a:t>
            </a:r>
            <a:r>
              <a:rPr lang="en-US" altLang="zh-CN" sz="3200" b="0" dirty="0"/>
              <a:t>:LL(1) </a:t>
            </a:r>
            <a:r>
              <a:rPr lang="zh-CN" altLang="en-US" sz="3200" b="0" dirty="0"/>
              <a:t>（</a:t>
            </a:r>
            <a:r>
              <a:rPr lang="en-US" altLang="zh-CN" sz="3200" b="0" dirty="0"/>
              <a:t>15%</a:t>
            </a:r>
            <a:r>
              <a:rPr lang="zh-CN" altLang="en-US" sz="3200" b="0" dirty="0"/>
              <a:t>）</a:t>
            </a:r>
            <a:endParaRPr lang="en-US" altLang="zh-CN" sz="3200" b="0" dirty="0"/>
          </a:p>
          <a:p>
            <a:pPr marL="514350" indent="-514350">
              <a:lnSpc>
                <a:spcPct val="150000"/>
              </a:lnSpc>
              <a:buClrTx/>
              <a:buFont typeface="+mj-lt"/>
              <a:buAutoNum type="arabicPeriod"/>
              <a:defRPr/>
            </a:pPr>
            <a:r>
              <a:rPr lang="zh-CN" altLang="en-US" sz="3200" b="0" dirty="0"/>
              <a:t>语法分析</a:t>
            </a:r>
            <a:r>
              <a:rPr lang="en-US" altLang="zh-CN" sz="3200" b="0" dirty="0"/>
              <a:t>:LR</a:t>
            </a:r>
            <a:r>
              <a:rPr lang="zh-CN" altLang="en-US" sz="3200" b="0" dirty="0"/>
              <a:t>分析（</a:t>
            </a:r>
            <a:r>
              <a:rPr lang="en-US" altLang="zh-CN" sz="3200" b="0" dirty="0"/>
              <a:t>15%</a:t>
            </a:r>
            <a:r>
              <a:rPr lang="zh-CN" altLang="en-US" sz="3200" b="0" dirty="0"/>
              <a:t>）</a:t>
            </a:r>
            <a:endParaRPr lang="en-US" altLang="zh-CN" sz="3200" b="0" dirty="0"/>
          </a:p>
          <a:p>
            <a:pPr marL="514350" indent="-514350">
              <a:lnSpc>
                <a:spcPct val="150000"/>
              </a:lnSpc>
              <a:buClrTx/>
              <a:buFont typeface="+mj-lt"/>
              <a:buAutoNum type="arabicPeriod"/>
              <a:defRPr/>
            </a:pPr>
            <a:r>
              <a:rPr lang="zh-CN" altLang="en-US" sz="3200" b="0" dirty="0"/>
              <a:t>基于</a:t>
            </a:r>
            <a:r>
              <a:rPr lang="en-US" altLang="zh-CN" sz="3200" b="0" dirty="0"/>
              <a:t>L-</a:t>
            </a:r>
            <a:r>
              <a:rPr lang="zh-CN" altLang="en-US" sz="3200" b="0" dirty="0"/>
              <a:t> 翻译模式的中间代码生成（</a:t>
            </a:r>
            <a:r>
              <a:rPr lang="en-US" altLang="zh-CN" sz="3200" b="0" dirty="0"/>
              <a:t>15%</a:t>
            </a:r>
            <a:r>
              <a:rPr lang="zh-CN" altLang="en-US" sz="3200" b="0" dirty="0"/>
              <a:t>）</a:t>
            </a:r>
            <a:endParaRPr lang="en-US" altLang="zh-CN" sz="3200" b="0" dirty="0"/>
          </a:p>
          <a:p>
            <a:pPr marL="514350" indent="-514350">
              <a:lnSpc>
                <a:spcPct val="150000"/>
              </a:lnSpc>
              <a:buClrTx/>
              <a:buFont typeface="+mj-lt"/>
              <a:buAutoNum type="arabicPeriod"/>
              <a:defRPr/>
            </a:pPr>
            <a:r>
              <a:rPr lang="zh-CN" altLang="en-US" sz="3200" b="0" dirty="0"/>
              <a:t>运行时存储组织（</a:t>
            </a:r>
            <a:r>
              <a:rPr lang="en-US" altLang="zh-CN" sz="3200" b="0" dirty="0"/>
              <a:t>5%</a:t>
            </a:r>
            <a:r>
              <a:rPr lang="zh-CN" altLang="en-US" sz="3200" b="0" dirty="0"/>
              <a:t>）</a:t>
            </a:r>
            <a:endParaRPr lang="en-US" altLang="zh-CN" sz="3200" b="0" dirty="0"/>
          </a:p>
          <a:p>
            <a:pPr marL="514350" indent="-514350">
              <a:lnSpc>
                <a:spcPct val="150000"/>
              </a:lnSpc>
              <a:buClrTx/>
              <a:buFont typeface="+mj-lt"/>
              <a:buAutoNum type="arabicPeriod"/>
              <a:defRPr/>
            </a:pPr>
            <a:r>
              <a:rPr lang="zh-CN" altLang="en-US" sz="3200" b="0" dirty="0"/>
              <a:t>代码优化（</a:t>
            </a:r>
            <a:r>
              <a:rPr lang="en-US" altLang="zh-CN" sz="3200" b="0" dirty="0"/>
              <a:t>15%</a:t>
            </a:r>
            <a:r>
              <a:rPr lang="zh-CN" altLang="en-US" sz="3200" b="0" dirty="0"/>
              <a:t>） </a:t>
            </a:r>
            <a:endParaRPr lang="en-US" altLang="zh-CN" sz="3200" b="0" dirty="0"/>
          </a:p>
        </p:txBody>
      </p:sp>
    </p:spTree>
    <p:extLst>
      <p:ext uri="{BB962C8B-B14F-4D97-AF65-F5344CB8AC3E}">
        <p14:creationId xmlns:p14="http://schemas.microsoft.com/office/powerpoint/2010/main" val="3881763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引论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7822" y="942764"/>
            <a:ext cx="10515599" cy="47606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3200" b="0" dirty="0"/>
              <a:t> 编译过程和编译程序的结构  </a:t>
            </a:r>
            <a:endParaRPr lang="en-US" altLang="zh-CN" sz="3200" b="0" dirty="0"/>
          </a:p>
          <a:p>
            <a:pPr>
              <a:lnSpc>
                <a:spcPct val="150000"/>
              </a:lnSpc>
              <a:defRPr/>
            </a:pPr>
            <a:r>
              <a:rPr lang="zh-CN" altLang="en-US" sz="3200" b="0" dirty="0"/>
              <a:t> 各阶段的任务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3200" b="0" dirty="0"/>
              <a:t> 前后端划分的意义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3200" b="0" dirty="0"/>
              <a:t> </a:t>
            </a:r>
            <a:r>
              <a:rPr lang="zh-CN" altLang="en-US" sz="3200" b="0" dirty="0"/>
              <a:t>编译与解释</a:t>
            </a:r>
          </a:p>
        </p:txBody>
      </p:sp>
    </p:spTree>
    <p:extLst>
      <p:ext uri="{BB962C8B-B14F-4D97-AF65-F5344CB8AC3E}">
        <p14:creationId xmlns:p14="http://schemas.microsoft.com/office/powerpoint/2010/main" val="1836807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文法与语言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7822" y="942764"/>
            <a:ext cx="10515599" cy="47606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3200" b="0" dirty="0"/>
              <a:t> 识别文法的语言  </a:t>
            </a:r>
            <a:endParaRPr lang="en-US" altLang="zh-CN" sz="3200" b="0" dirty="0"/>
          </a:p>
          <a:p>
            <a:pPr>
              <a:lnSpc>
                <a:spcPct val="150000"/>
              </a:lnSpc>
              <a:defRPr/>
            </a:pPr>
            <a:r>
              <a:rPr lang="zh-CN" altLang="en-US" sz="3200" b="0" dirty="0"/>
              <a:t> 设计语言的文法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3200" b="0" dirty="0"/>
              <a:t> 最左</a:t>
            </a:r>
            <a:r>
              <a:rPr lang="en-US" altLang="zh-CN" sz="3200" b="0" dirty="0"/>
              <a:t>/</a:t>
            </a:r>
            <a:r>
              <a:rPr lang="zh-CN" altLang="en-US" sz="3200" b="0" dirty="0"/>
              <a:t>最右推导与语法推导树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3200" b="0" dirty="0"/>
              <a:t> </a:t>
            </a:r>
            <a:r>
              <a:rPr lang="zh-CN" altLang="en-US" sz="3200" b="0" dirty="0"/>
              <a:t>句型的短语，直接短语与句柄</a:t>
            </a:r>
            <a:endParaRPr lang="en-US" altLang="zh-CN" sz="3200" b="0" dirty="0"/>
          </a:p>
          <a:p>
            <a:pPr>
              <a:lnSpc>
                <a:spcPct val="150000"/>
              </a:lnSpc>
              <a:defRPr/>
            </a:pPr>
            <a:r>
              <a:rPr lang="en-US" altLang="zh-CN" sz="3200" b="0" dirty="0"/>
              <a:t> </a:t>
            </a:r>
            <a:r>
              <a:rPr lang="zh-CN" altLang="en-US" sz="3200" b="0" dirty="0"/>
              <a:t>文法的二义性</a:t>
            </a:r>
          </a:p>
        </p:txBody>
      </p:sp>
    </p:spTree>
    <p:extLst>
      <p:ext uri="{BB962C8B-B14F-4D97-AF65-F5344CB8AC3E}">
        <p14:creationId xmlns:p14="http://schemas.microsoft.com/office/powerpoint/2010/main" val="457734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735A0-343D-EAF8-8C37-AD88AA6C5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 </a:t>
            </a:r>
            <a:r>
              <a:rPr lang="zh-CN" altLang="en-US" dirty="0"/>
              <a:t>给定语言，构造正则文法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53F810-72F1-56B0-59B7-8D5474735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42764"/>
            <a:ext cx="10515599" cy="1050423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b="0" dirty="0"/>
              <a:t>设有语言</a:t>
            </a:r>
            <a:r>
              <a:rPr lang="en-US" altLang="zh-CN" b="0" dirty="0"/>
              <a:t>L(G)={</a:t>
            </a:r>
            <a:r>
              <a:rPr lang="en-US" altLang="zh-CN" b="0" dirty="0" err="1"/>
              <a:t>a|a</a:t>
            </a:r>
            <a:r>
              <a:rPr lang="en-US" altLang="zh-CN" b="0" dirty="0"/>
              <a:t>∈{0,1}</a:t>
            </a:r>
            <a:r>
              <a:rPr lang="en-US" altLang="zh-CN" b="0" baseline="30000" dirty="0"/>
              <a:t>+</a:t>
            </a:r>
            <a:r>
              <a:rPr lang="en-US" altLang="zh-CN" b="0" dirty="0"/>
              <a:t>,</a:t>
            </a:r>
            <a:r>
              <a:rPr lang="zh-CN" altLang="en-US" b="0" dirty="0"/>
              <a:t>并且</a:t>
            </a:r>
            <a:r>
              <a:rPr lang="en-US" altLang="zh-CN" b="0" dirty="0"/>
              <a:t>a</a:t>
            </a:r>
            <a:r>
              <a:rPr lang="zh-CN" altLang="en-US" b="0" dirty="0"/>
              <a:t>中的每个</a:t>
            </a:r>
            <a:r>
              <a:rPr lang="en-US" altLang="zh-CN" b="0" dirty="0"/>
              <a:t>1</a:t>
            </a:r>
            <a:r>
              <a:rPr lang="zh-CN" altLang="en-US" b="0" dirty="0"/>
              <a:t>后面至少有</a:t>
            </a:r>
            <a:r>
              <a:rPr lang="en-US" altLang="zh-CN" b="0" dirty="0"/>
              <a:t>2</a:t>
            </a:r>
            <a:r>
              <a:rPr lang="zh-CN" altLang="en-US" b="0" dirty="0"/>
              <a:t>个相继的</a:t>
            </a:r>
            <a:r>
              <a:rPr lang="en-US" altLang="zh-CN" b="0" dirty="0"/>
              <a:t>0</a:t>
            </a:r>
            <a:r>
              <a:rPr lang="zh-CN" altLang="en-US" b="0" dirty="0"/>
              <a:t>直接跟随</a:t>
            </a:r>
            <a:r>
              <a:rPr lang="en-US" altLang="zh-CN" b="0" dirty="0"/>
              <a:t>}</a:t>
            </a:r>
            <a:r>
              <a:rPr lang="zh-CN" altLang="en-US" b="0" dirty="0"/>
              <a:t>，请构造生成</a:t>
            </a:r>
            <a:r>
              <a:rPr lang="en-US" altLang="zh-CN" b="0" dirty="0"/>
              <a:t>L(G)</a:t>
            </a:r>
            <a:r>
              <a:rPr lang="zh-CN" altLang="en-US" b="0" dirty="0"/>
              <a:t>的正规文法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6EF478C-4D63-196A-AA7D-92F92E2D82AA}"/>
              </a:ext>
            </a:extLst>
          </p:cNvPr>
          <p:cNvGrpSpPr/>
          <p:nvPr/>
        </p:nvGrpSpPr>
        <p:grpSpPr>
          <a:xfrm>
            <a:off x="1206374" y="3244334"/>
            <a:ext cx="4566852" cy="1707046"/>
            <a:chOff x="1165278" y="3244334"/>
            <a:chExt cx="4566852" cy="1707046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D58BDBA-2067-071C-3820-354BD01CC1E9}"/>
                </a:ext>
              </a:extLst>
            </p:cNvPr>
            <p:cNvSpPr/>
            <p:nvPr/>
          </p:nvSpPr>
          <p:spPr bwMode="auto">
            <a:xfrm>
              <a:off x="1570807" y="3907721"/>
              <a:ext cx="445622" cy="44562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dirty="0">
                  <a:latin typeface="Arial" charset="0"/>
                  <a:ea typeface="微软雅黑" pitchFamily="34" charset="-122"/>
                </a:rPr>
                <a:t>A</a:t>
              </a:r>
              <a:endParaRPr lang="zh-CN" altLang="en-US" b="1" dirty="0">
                <a:latin typeface="Arial" charset="0"/>
                <a:ea typeface="微软雅黑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C2C7BBC-9C78-A26A-D515-D13B41D25F45}"/>
                </a:ext>
              </a:extLst>
            </p:cNvPr>
            <p:cNvSpPr txBox="1"/>
            <p:nvPr/>
          </p:nvSpPr>
          <p:spPr>
            <a:xfrm>
              <a:off x="1165278" y="3997836"/>
              <a:ext cx="4467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b="1" dirty="0">
                  <a:latin typeface="Times New Roman" pitchFamily="18" charset="0"/>
                  <a:sym typeface="Symbol" pitchFamily="18" charset="2"/>
                </a:rPr>
                <a:t></a:t>
              </a:r>
              <a:endParaRPr lang="en-US" altLang="zh-CN" b="1" dirty="0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D661A5C-E121-9183-4A05-18C155B9A4C9}"/>
                </a:ext>
              </a:extLst>
            </p:cNvPr>
            <p:cNvSpPr/>
            <p:nvPr/>
          </p:nvSpPr>
          <p:spPr bwMode="auto">
            <a:xfrm>
              <a:off x="2669929" y="3914128"/>
              <a:ext cx="445622" cy="44562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dirty="0">
                  <a:latin typeface="Arial" charset="0"/>
                  <a:ea typeface="微软雅黑" pitchFamily="34" charset="-122"/>
                </a:rPr>
                <a:t>B</a:t>
              </a:r>
              <a:endParaRPr lang="zh-CN" altLang="en-US" b="1" dirty="0">
                <a:latin typeface="Arial" charset="0"/>
                <a:ea typeface="微软雅黑" pitchFamily="34" charset="-122"/>
              </a:endParaRPr>
            </a:p>
          </p:txBody>
        </p:sp>
        <p:sp>
          <p:nvSpPr>
            <p:cNvPr id="9" name="Oval 4">
              <a:extLst>
                <a:ext uri="{FF2B5EF4-FFF2-40B4-BE49-F238E27FC236}">
                  <a16:creationId xmlns:a16="http://schemas.microsoft.com/office/drawing/2014/main" id="{8B055DE9-23C4-486C-F9EF-7E7F36DE4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6508" y="3907721"/>
              <a:ext cx="445622" cy="436988"/>
            </a:xfrm>
            <a:prstGeom prst="ellipse">
              <a:avLst/>
            </a:prstGeom>
            <a:noFill/>
            <a:ln w="63500" cmpd="dbl">
              <a:solidFill>
                <a:sysClr val="windowText" lastClr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kumimoji="0" lang="en-GB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" name="连接符: 曲线 9">
              <a:extLst>
                <a:ext uri="{FF2B5EF4-FFF2-40B4-BE49-F238E27FC236}">
                  <a16:creationId xmlns:a16="http://schemas.microsoft.com/office/drawing/2014/main" id="{C1F9FDBD-3D22-ADCC-88A5-D702DCA29BE4}"/>
                </a:ext>
              </a:extLst>
            </p:cNvPr>
            <p:cNvCxnSpPr>
              <a:cxnSpLocks/>
              <a:stCxn id="6" idx="6"/>
              <a:endCxn id="8" idx="2"/>
            </p:cNvCxnSpPr>
            <p:nvPr/>
          </p:nvCxnSpPr>
          <p:spPr>
            <a:xfrm>
              <a:off x="2016429" y="4130532"/>
              <a:ext cx="653500" cy="6407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连接符: 曲线 10">
              <a:extLst>
                <a:ext uri="{FF2B5EF4-FFF2-40B4-BE49-F238E27FC236}">
                  <a16:creationId xmlns:a16="http://schemas.microsoft.com/office/drawing/2014/main" id="{5000140B-9B82-BEC9-049A-B85F7CBFFFBF}"/>
                </a:ext>
              </a:extLst>
            </p:cNvPr>
            <p:cNvCxnSpPr>
              <a:cxnSpLocks/>
              <a:stCxn id="8" idx="6"/>
              <a:endCxn id="16" idx="2"/>
            </p:cNvCxnSpPr>
            <p:nvPr/>
          </p:nvCxnSpPr>
          <p:spPr>
            <a:xfrm>
              <a:off x="3115551" y="4136939"/>
              <a:ext cx="928115" cy="12700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连接符: 曲线 11">
              <a:extLst>
                <a:ext uri="{FF2B5EF4-FFF2-40B4-BE49-F238E27FC236}">
                  <a16:creationId xmlns:a16="http://schemas.microsoft.com/office/drawing/2014/main" id="{C2241329-3918-1CAB-1E14-2015D7EAB14E}"/>
                </a:ext>
              </a:extLst>
            </p:cNvPr>
            <p:cNvCxnSpPr>
              <a:cxnSpLocks/>
              <a:stCxn id="6" idx="0"/>
              <a:endCxn id="9" idx="0"/>
            </p:cNvCxnSpPr>
            <p:nvPr/>
          </p:nvCxnSpPr>
          <p:spPr>
            <a:xfrm rot="5400000" flipH="1" flipV="1">
              <a:off x="3651468" y="2049871"/>
              <a:ext cx="12700" cy="3715701"/>
            </a:xfrm>
            <a:prstGeom prst="curvedConnector3">
              <a:avLst>
                <a:gd name="adj1" fmla="val 1800000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EA20869-AA7E-56F9-908A-7B8495E03861}"/>
                </a:ext>
              </a:extLst>
            </p:cNvPr>
            <p:cNvSpPr txBox="1"/>
            <p:nvPr/>
          </p:nvSpPr>
          <p:spPr>
            <a:xfrm>
              <a:off x="3502457" y="324433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CF43E48-9EBE-D40E-D55C-071EA5D06414}"/>
                </a:ext>
              </a:extLst>
            </p:cNvPr>
            <p:cNvSpPr txBox="1"/>
            <p:nvPr/>
          </p:nvSpPr>
          <p:spPr>
            <a:xfrm>
              <a:off x="2198611" y="378831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1EBE517-7296-E698-F364-E25913FB4E50}"/>
                </a:ext>
              </a:extLst>
            </p:cNvPr>
            <p:cNvSpPr txBox="1"/>
            <p:nvPr/>
          </p:nvSpPr>
          <p:spPr>
            <a:xfrm>
              <a:off x="4731444" y="3723055"/>
              <a:ext cx="312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E21A66E-0EFC-061C-A9D6-F58963BDD263}"/>
                </a:ext>
              </a:extLst>
            </p:cNvPr>
            <p:cNvSpPr/>
            <p:nvPr/>
          </p:nvSpPr>
          <p:spPr bwMode="auto">
            <a:xfrm>
              <a:off x="4043666" y="3914128"/>
              <a:ext cx="445622" cy="44562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dirty="0">
                  <a:latin typeface="Arial" charset="0"/>
                  <a:ea typeface="微软雅黑" pitchFamily="34" charset="-122"/>
                </a:rPr>
                <a:t>C</a:t>
              </a:r>
              <a:endParaRPr lang="zh-CN" altLang="en-US" b="1" dirty="0">
                <a:latin typeface="Arial" charset="0"/>
                <a:ea typeface="微软雅黑" pitchFamily="34" charset="-122"/>
              </a:endParaRPr>
            </a:p>
          </p:txBody>
        </p:sp>
        <p:cxnSp>
          <p:nvCxnSpPr>
            <p:cNvPr id="19" name="连接符: 曲线 18">
              <a:extLst>
                <a:ext uri="{FF2B5EF4-FFF2-40B4-BE49-F238E27FC236}">
                  <a16:creationId xmlns:a16="http://schemas.microsoft.com/office/drawing/2014/main" id="{D51EF826-9F73-F731-4F63-2215D905B0A3}"/>
                </a:ext>
              </a:extLst>
            </p:cNvPr>
            <p:cNvCxnSpPr>
              <a:cxnSpLocks/>
              <a:stCxn id="16" idx="6"/>
              <a:endCxn id="9" idx="2"/>
            </p:cNvCxnSpPr>
            <p:nvPr/>
          </p:nvCxnSpPr>
          <p:spPr>
            <a:xfrm flipV="1">
              <a:off x="4489288" y="4126215"/>
              <a:ext cx="797220" cy="10724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7BC4B63-AD3D-F243-CBB1-94BAFEDA9894}"/>
                </a:ext>
              </a:extLst>
            </p:cNvPr>
            <p:cNvSpPr txBox="1"/>
            <p:nvPr/>
          </p:nvSpPr>
          <p:spPr>
            <a:xfrm>
              <a:off x="3346004" y="3788316"/>
              <a:ext cx="312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" name="连接符: 曲线 24">
              <a:extLst>
                <a:ext uri="{FF2B5EF4-FFF2-40B4-BE49-F238E27FC236}">
                  <a16:creationId xmlns:a16="http://schemas.microsoft.com/office/drawing/2014/main" id="{20354719-CCF8-4E34-4563-EC4F918FCC92}"/>
                </a:ext>
              </a:extLst>
            </p:cNvPr>
            <p:cNvCxnSpPr>
              <a:cxnSpLocks/>
              <a:stCxn id="9" idx="4"/>
              <a:endCxn id="6" idx="5"/>
            </p:cNvCxnSpPr>
            <p:nvPr/>
          </p:nvCxnSpPr>
          <p:spPr>
            <a:xfrm rot="5400000" flipH="1">
              <a:off x="3701931" y="2537321"/>
              <a:ext cx="56626" cy="3558150"/>
            </a:xfrm>
            <a:prstGeom prst="curvedConnector3">
              <a:avLst>
                <a:gd name="adj1" fmla="val -418949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B089786-FCF4-6491-F2FF-CBD85DE5C549}"/>
                </a:ext>
              </a:extLst>
            </p:cNvPr>
            <p:cNvSpPr txBox="1"/>
            <p:nvPr/>
          </p:nvSpPr>
          <p:spPr>
            <a:xfrm>
              <a:off x="3486427" y="4582048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Ɛ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AA1094D6-22AC-0B23-707D-FEDB4C838DA6}"/>
              </a:ext>
            </a:extLst>
          </p:cNvPr>
          <p:cNvSpPr txBox="1"/>
          <p:nvPr/>
        </p:nvSpPr>
        <p:spPr>
          <a:xfrm>
            <a:off x="894260" y="2466024"/>
            <a:ext cx="9702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策略：从状态转移图入手，构造</a:t>
            </a:r>
            <a:r>
              <a:rPr lang="en-US" altLang="zh-CN" sz="2400" dirty="0"/>
              <a:t>FA</a:t>
            </a:r>
            <a:r>
              <a:rPr lang="zh-CN" altLang="en-US" sz="2400" dirty="0"/>
              <a:t>，再构造</a:t>
            </a:r>
            <a:r>
              <a:rPr lang="en-US" altLang="zh-CN" sz="2400" dirty="0"/>
              <a:t>RG</a:t>
            </a:r>
            <a:r>
              <a:rPr lang="zh-CN" altLang="en-US" sz="2400" dirty="0"/>
              <a:t>，比直接写</a:t>
            </a:r>
            <a:r>
              <a:rPr lang="en-US" altLang="zh-CN" sz="2400" dirty="0"/>
              <a:t>RG</a:t>
            </a:r>
            <a:r>
              <a:rPr lang="zh-CN" altLang="en-US" sz="2400" dirty="0"/>
              <a:t>更精准。</a:t>
            </a:r>
          </a:p>
        </p:txBody>
      </p:sp>
    </p:spTree>
    <p:extLst>
      <p:ext uri="{BB962C8B-B14F-4D97-AF65-F5344CB8AC3E}">
        <p14:creationId xmlns:p14="http://schemas.microsoft.com/office/powerpoint/2010/main" val="1611251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A5F8F-376C-BF9B-4358-62028E0C8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C67432-19B3-7044-84BB-E2708DFD6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 </a:t>
            </a:r>
            <a:r>
              <a:rPr lang="zh-CN" altLang="en-US" dirty="0"/>
              <a:t>推导，语法树，句柄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41C1E6-8B53-3F3D-D72D-C85794933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42764"/>
            <a:ext cx="10515599" cy="1862081"/>
          </a:xfrm>
        </p:spPr>
        <p:txBody>
          <a:bodyPr>
            <a:normAutofit/>
          </a:bodyPr>
          <a:lstStyle/>
          <a:p>
            <a:r>
              <a:rPr lang="zh-CN" altLang="en-US" sz="2400" b="0" dirty="0"/>
              <a:t>设有文法</a:t>
            </a:r>
            <a:r>
              <a:rPr lang="en-US" altLang="zh-CN" sz="2400" b="0" dirty="0"/>
              <a:t>: </a:t>
            </a:r>
            <a:r>
              <a:rPr lang="en-US" altLang="zh-CN" sz="2400" b="0" dirty="0">
                <a:latin typeface="+mn-ea"/>
                <a:ea typeface="+mn-ea"/>
              </a:rPr>
              <a:t>S→AB  </a:t>
            </a:r>
            <a:r>
              <a:rPr lang="en-US" altLang="zh-CN" sz="2400" b="0" dirty="0" err="1">
                <a:latin typeface="+mn-ea"/>
                <a:ea typeface="+mn-ea"/>
              </a:rPr>
              <a:t>A→bA</a:t>
            </a:r>
            <a:r>
              <a:rPr lang="en-US" altLang="zh-CN" sz="2400" b="0" dirty="0">
                <a:latin typeface="+mn-ea"/>
                <a:ea typeface="+mn-ea"/>
              </a:rPr>
              <a:t> | a  </a:t>
            </a:r>
            <a:r>
              <a:rPr lang="en-US" altLang="zh-CN" sz="2400" b="0" dirty="0" err="1">
                <a:latin typeface="+mn-ea"/>
                <a:ea typeface="+mn-ea"/>
              </a:rPr>
              <a:t>B→aB</a:t>
            </a:r>
            <a:r>
              <a:rPr lang="en-US" altLang="zh-CN" sz="2400" b="0" dirty="0">
                <a:latin typeface="+mn-ea"/>
                <a:ea typeface="+mn-ea"/>
              </a:rPr>
              <a:t> | b</a:t>
            </a:r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给出</a:t>
            </a:r>
            <a:r>
              <a:rPr lang="en-US" altLang="zh-CN" sz="2000" b="0" dirty="0" err="1">
                <a:solidFill>
                  <a:schemeClr val="tx1"/>
                </a:solidFill>
              </a:rPr>
              <a:t>bbab</a:t>
            </a:r>
            <a:r>
              <a:rPr lang="zh-CN" altLang="en-US" sz="2000" b="0" dirty="0">
                <a:solidFill>
                  <a:schemeClr val="tx1"/>
                </a:solidFill>
              </a:rPr>
              <a:t>的规范推导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写出</a:t>
            </a:r>
            <a:r>
              <a:rPr lang="en-US" altLang="zh-CN" sz="2000" b="0" dirty="0" err="1">
                <a:solidFill>
                  <a:schemeClr val="tx1"/>
                </a:solidFill>
              </a:rPr>
              <a:t>bbab</a:t>
            </a:r>
            <a:r>
              <a:rPr lang="zh-CN" altLang="en-US" sz="2000" b="0" dirty="0">
                <a:solidFill>
                  <a:schemeClr val="tx1"/>
                </a:solidFill>
              </a:rPr>
              <a:t>的短语，直接短语，句柄</a:t>
            </a: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56B99A1-4D49-BCC4-BEB0-A30A6FCD49EF}"/>
              </a:ext>
            </a:extLst>
          </p:cNvPr>
          <p:cNvGrpSpPr/>
          <p:nvPr/>
        </p:nvGrpSpPr>
        <p:grpSpPr>
          <a:xfrm>
            <a:off x="976462" y="2872354"/>
            <a:ext cx="2053099" cy="3337109"/>
            <a:chOff x="1425541" y="2872354"/>
            <a:chExt cx="2053099" cy="3337109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022F1BE-1038-A5F4-82FD-75E9DA4EF5F2}"/>
                </a:ext>
              </a:extLst>
            </p:cNvPr>
            <p:cNvSpPr txBox="1"/>
            <p:nvPr/>
          </p:nvSpPr>
          <p:spPr>
            <a:xfrm>
              <a:off x="2486375" y="2872354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</a:t>
              </a:r>
              <a:endParaRPr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9CE0171-7DF7-BBF5-0441-0A362F64607D}"/>
                </a:ext>
              </a:extLst>
            </p:cNvPr>
            <p:cNvSpPr txBox="1"/>
            <p:nvPr/>
          </p:nvSpPr>
          <p:spPr>
            <a:xfrm>
              <a:off x="1848941" y="3508435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</a:t>
              </a:r>
              <a:endParaRPr lang="zh-CN" altLang="en-US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26B25B9-084E-A181-1FBD-8A04F43AFB1E}"/>
                </a:ext>
              </a:extLst>
            </p:cNvPr>
            <p:cNvSpPr txBox="1"/>
            <p:nvPr/>
          </p:nvSpPr>
          <p:spPr>
            <a:xfrm>
              <a:off x="3132070" y="3499157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B</a:t>
              </a:r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592748E-9ED8-3F8A-2A20-130B177B406A}"/>
                </a:ext>
              </a:extLst>
            </p:cNvPr>
            <p:cNvSpPr txBox="1"/>
            <p:nvPr/>
          </p:nvSpPr>
          <p:spPr>
            <a:xfrm>
              <a:off x="2195511" y="4285667"/>
              <a:ext cx="3465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altLang="zh-CN" dirty="0"/>
                <a:t>A</a:t>
              </a:r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0DD1048-BCBE-DBC0-883D-FAF50C9D6188}"/>
                </a:ext>
              </a:extLst>
            </p:cNvPr>
            <p:cNvSpPr txBox="1"/>
            <p:nvPr/>
          </p:nvSpPr>
          <p:spPr>
            <a:xfrm>
              <a:off x="1425541" y="4285667"/>
              <a:ext cx="3465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altLang="zh-CN" dirty="0"/>
                <a:t>b</a:t>
              </a:r>
              <a:endParaRPr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5C32A05-038B-8942-CC73-2D1D14693B43}"/>
                </a:ext>
              </a:extLst>
            </p:cNvPr>
            <p:cNvSpPr txBox="1"/>
            <p:nvPr/>
          </p:nvSpPr>
          <p:spPr>
            <a:xfrm>
              <a:off x="3132070" y="4285667"/>
              <a:ext cx="3465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altLang="zh-CN" dirty="0"/>
                <a:t>b</a:t>
              </a:r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25861750-F492-B1E2-1D8E-B4CDF6910F4F}"/>
                </a:ext>
              </a:extLst>
            </p:cNvPr>
            <p:cNvSpPr txBox="1"/>
            <p:nvPr/>
          </p:nvSpPr>
          <p:spPr>
            <a:xfrm>
              <a:off x="2542081" y="5062899"/>
              <a:ext cx="3465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altLang="zh-CN" dirty="0"/>
                <a:t>A</a:t>
              </a:r>
              <a:endParaRPr lang="zh-CN" altLang="en-US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B51A5E4-5652-340F-0025-61457B398E24}"/>
                </a:ext>
              </a:extLst>
            </p:cNvPr>
            <p:cNvSpPr txBox="1"/>
            <p:nvPr/>
          </p:nvSpPr>
          <p:spPr>
            <a:xfrm>
              <a:off x="1772111" y="5062899"/>
              <a:ext cx="3465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altLang="zh-CN" dirty="0"/>
                <a:t>b</a:t>
              </a:r>
              <a:endParaRPr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4E4E6ED-5952-B103-12FE-2ADE9607F414}"/>
                </a:ext>
              </a:extLst>
            </p:cNvPr>
            <p:cNvSpPr txBox="1"/>
            <p:nvPr/>
          </p:nvSpPr>
          <p:spPr>
            <a:xfrm>
              <a:off x="2601456" y="5840131"/>
              <a:ext cx="2501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altLang="zh-CN" dirty="0"/>
                <a:t>a</a:t>
              </a:r>
              <a:endParaRPr lang="zh-CN" altLang="en-US" dirty="0"/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CC7F9625-9E75-6447-3163-2FE666FFE9AA}"/>
                </a:ext>
              </a:extLst>
            </p:cNvPr>
            <p:cNvCxnSpPr>
              <a:stCxn id="5" idx="2"/>
              <a:endCxn id="17" idx="0"/>
            </p:cNvCxnSpPr>
            <p:nvPr/>
          </p:nvCxnSpPr>
          <p:spPr>
            <a:xfrm flipH="1">
              <a:off x="2022226" y="3241686"/>
              <a:ext cx="623007" cy="2667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EB42BE66-3D9B-99F9-A362-C497282DC5D7}"/>
                </a:ext>
              </a:extLst>
            </p:cNvPr>
            <p:cNvCxnSpPr>
              <a:cxnSpLocks/>
              <a:stCxn id="5" idx="2"/>
              <a:endCxn id="18" idx="0"/>
            </p:cNvCxnSpPr>
            <p:nvPr/>
          </p:nvCxnSpPr>
          <p:spPr>
            <a:xfrm>
              <a:off x="2645233" y="3241686"/>
              <a:ext cx="651305" cy="2574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56D86E55-2854-5746-E77B-DD4B3CDBA03C}"/>
                </a:ext>
              </a:extLst>
            </p:cNvPr>
            <p:cNvCxnSpPr>
              <a:cxnSpLocks/>
              <a:stCxn id="17" idx="2"/>
              <a:endCxn id="23" idx="0"/>
            </p:cNvCxnSpPr>
            <p:nvPr/>
          </p:nvCxnSpPr>
          <p:spPr>
            <a:xfrm flipH="1">
              <a:off x="1598826" y="3877767"/>
              <a:ext cx="423400" cy="407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2A512A72-73AD-DBC0-5BFB-6612A91C5579}"/>
                </a:ext>
              </a:extLst>
            </p:cNvPr>
            <p:cNvCxnSpPr>
              <a:cxnSpLocks/>
              <a:stCxn id="17" idx="2"/>
              <a:endCxn id="21" idx="0"/>
            </p:cNvCxnSpPr>
            <p:nvPr/>
          </p:nvCxnSpPr>
          <p:spPr>
            <a:xfrm>
              <a:off x="2022226" y="3877767"/>
              <a:ext cx="346570" cy="407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85A4BDA0-004E-40B4-D24B-CD85E58CF65F}"/>
                </a:ext>
              </a:extLst>
            </p:cNvPr>
            <p:cNvCxnSpPr>
              <a:cxnSpLocks/>
              <a:stCxn id="21" idx="2"/>
              <a:endCxn id="26" idx="0"/>
            </p:cNvCxnSpPr>
            <p:nvPr/>
          </p:nvCxnSpPr>
          <p:spPr>
            <a:xfrm>
              <a:off x="2368796" y="4654999"/>
              <a:ext cx="346570" cy="407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D61CD91-E606-126D-C4E7-B8C880E81510}"/>
                </a:ext>
              </a:extLst>
            </p:cNvPr>
            <p:cNvCxnSpPr>
              <a:cxnSpLocks/>
              <a:stCxn id="21" idx="2"/>
              <a:endCxn id="27" idx="0"/>
            </p:cNvCxnSpPr>
            <p:nvPr/>
          </p:nvCxnSpPr>
          <p:spPr>
            <a:xfrm flipH="1">
              <a:off x="1945396" y="4654999"/>
              <a:ext cx="423400" cy="407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BAE47E99-92B6-F5F0-EF55-B3D7AE1F3F9C}"/>
                </a:ext>
              </a:extLst>
            </p:cNvPr>
            <p:cNvCxnSpPr>
              <a:cxnSpLocks/>
              <a:stCxn id="26" idx="2"/>
              <a:endCxn id="30" idx="0"/>
            </p:cNvCxnSpPr>
            <p:nvPr/>
          </p:nvCxnSpPr>
          <p:spPr>
            <a:xfrm>
              <a:off x="2715366" y="5432231"/>
              <a:ext cx="11158" cy="4079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B92596DD-FD22-EC47-AE8D-FE145C8E9FEC}"/>
                </a:ext>
              </a:extLst>
            </p:cNvPr>
            <p:cNvCxnSpPr>
              <a:cxnSpLocks/>
              <a:stCxn id="18" idx="2"/>
              <a:endCxn id="24" idx="0"/>
            </p:cNvCxnSpPr>
            <p:nvPr/>
          </p:nvCxnSpPr>
          <p:spPr>
            <a:xfrm>
              <a:off x="3296538" y="3868489"/>
              <a:ext cx="8817" cy="4171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4446A362-56F4-D5E2-5FCC-372A3EB94507}"/>
              </a:ext>
            </a:extLst>
          </p:cNvPr>
          <p:cNvSpPr txBox="1"/>
          <p:nvPr/>
        </p:nvSpPr>
        <p:spPr>
          <a:xfrm>
            <a:off x="4215463" y="2937479"/>
            <a:ext cx="133882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规范推导：</a:t>
            </a:r>
            <a:endParaRPr lang="en-US" altLang="zh-CN" dirty="0"/>
          </a:p>
          <a:p>
            <a:r>
              <a:rPr lang="en-US" altLang="zh-CN" dirty="0"/>
              <a:t>S</a:t>
            </a:r>
          </a:p>
          <a:p>
            <a:r>
              <a:rPr lang="en-US" altLang="zh-CN" dirty="0"/>
              <a:t>⇒AB</a:t>
            </a:r>
          </a:p>
          <a:p>
            <a:r>
              <a:rPr lang="en-US" altLang="zh-CN" dirty="0"/>
              <a:t>⇒Ab</a:t>
            </a:r>
          </a:p>
          <a:p>
            <a:r>
              <a:rPr lang="en-US" altLang="zh-CN" dirty="0"/>
              <a:t>⇒</a:t>
            </a:r>
            <a:r>
              <a:rPr lang="en-US" altLang="zh-CN" dirty="0" err="1"/>
              <a:t>bAb</a:t>
            </a:r>
            <a:endParaRPr lang="en-US" altLang="zh-CN" dirty="0"/>
          </a:p>
          <a:p>
            <a:r>
              <a:rPr lang="en-US" altLang="zh-CN" dirty="0"/>
              <a:t>⇒</a:t>
            </a:r>
            <a:r>
              <a:rPr lang="en-US" altLang="zh-CN" dirty="0" err="1"/>
              <a:t>bbAb</a:t>
            </a:r>
            <a:endParaRPr lang="en-US" altLang="zh-CN" dirty="0"/>
          </a:p>
          <a:p>
            <a:r>
              <a:rPr lang="en-US" altLang="zh-CN" dirty="0"/>
              <a:t>⇒</a:t>
            </a:r>
            <a:r>
              <a:rPr lang="en-US" altLang="zh-CN" dirty="0" err="1"/>
              <a:t>bbab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92A298A1-5362-7200-4DB5-CC687284E29B}"/>
              </a:ext>
            </a:extLst>
          </p:cNvPr>
          <p:cNvSpPr/>
          <p:nvPr/>
        </p:nvSpPr>
        <p:spPr>
          <a:xfrm>
            <a:off x="1242606" y="4516053"/>
            <a:ext cx="205483" cy="205483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AC317160-23BB-2645-4870-674395605E41}"/>
              </a:ext>
            </a:extLst>
          </p:cNvPr>
          <p:cNvSpPr/>
          <p:nvPr/>
        </p:nvSpPr>
        <p:spPr>
          <a:xfrm>
            <a:off x="1540949" y="5301520"/>
            <a:ext cx="205483" cy="205483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2</a:t>
            </a:r>
            <a:endParaRPr lang="zh-CN" altLang="en-US" sz="1200" dirty="0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886C1561-9AC3-AA05-AECC-B36D3AEAAA23}"/>
              </a:ext>
            </a:extLst>
          </p:cNvPr>
          <p:cNvSpPr/>
          <p:nvPr/>
        </p:nvSpPr>
        <p:spPr>
          <a:xfrm>
            <a:off x="2964848" y="4516053"/>
            <a:ext cx="205483" cy="205483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3</a:t>
            </a:r>
            <a:endParaRPr lang="zh-CN" altLang="en-US" sz="12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37642B5-E81E-C708-4847-AB151426BB27}"/>
              </a:ext>
            </a:extLst>
          </p:cNvPr>
          <p:cNvSpPr txBox="1"/>
          <p:nvPr/>
        </p:nvSpPr>
        <p:spPr>
          <a:xfrm>
            <a:off x="6464399" y="2945159"/>
            <a:ext cx="14612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短语：</a:t>
            </a:r>
            <a:endParaRPr lang="en-US" altLang="zh-CN" dirty="0"/>
          </a:p>
          <a:p>
            <a:r>
              <a:rPr lang="en-US" altLang="zh-CN" dirty="0"/>
              <a:t>b</a:t>
            </a:r>
            <a:r>
              <a:rPr lang="en-US" altLang="zh-CN" sz="1400" baseline="-25000" dirty="0"/>
              <a:t>1</a:t>
            </a:r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ab</a:t>
            </a:r>
            <a:r>
              <a:rPr lang="en-US" altLang="zh-CN" baseline="-25000" dirty="0"/>
              <a:t>3</a:t>
            </a:r>
          </a:p>
          <a:p>
            <a:r>
              <a:rPr lang="en-US" altLang="zh-CN" dirty="0"/>
              <a:t>b</a:t>
            </a:r>
            <a:r>
              <a:rPr lang="en-US" altLang="zh-CN" sz="1400" baseline="-25000" dirty="0"/>
              <a:t>1</a:t>
            </a:r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a</a:t>
            </a:r>
          </a:p>
          <a:p>
            <a:r>
              <a:rPr lang="en-US" altLang="zh-CN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a</a:t>
            </a:r>
          </a:p>
          <a:p>
            <a:r>
              <a:rPr lang="en-US" altLang="zh-CN" dirty="0"/>
              <a:t>a</a:t>
            </a:r>
          </a:p>
          <a:p>
            <a:r>
              <a:rPr lang="en-US" altLang="zh-CN" dirty="0"/>
              <a:t>b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B235860-729E-7019-88C6-C62B1E46337A}"/>
              </a:ext>
            </a:extLst>
          </p:cNvPr>
          <p:cNvSpPr txBox="1"/>
          <p:nvPr/>
        </p:nvSpPr>
        <p:spPr>
          <a:xfrm>
            <a:off x="8244365" y="2945159"/>
            <a:ext cx="1461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直接短语：</a:t>
            </a:r>
            <a:endParaRPr lang="en-US" altLang="zh-CN" dirty="0"/>
          </a:p>
          <a:p>
            <a:r>
              <a:rPr lang="en-US" altLang="zh-CN" dirty="0"/>
              <a:t>a</a:t>
            </a:r>
          </a:p>
          <a:p>
            <a:r>
              <a:rPr lang="en-US" altLang="zh-CN" dirty="0"/>
              <a:t>b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4BBBD03-D5FB-D161-79B5-141ECE8E5BDB}"/>
              </a:ext>
            </a:extLst>
          </p:cNvPr>
          <p:cNvSpPr txBox="1"/>
          <p:nvPr/>
        </p:nvSpPr>
        <p:spPr>
          <a:xfrm>
            <a:off x="10024331" y="2945159"/>
            <a:ext cx="1461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句柄：</a:t>
            </a:r>
            <a:endParaRPr lang="en-US" altLang="zh-CN" dirty="0"/>
          </a:p>
          <a:p>
            <a:r>
              <a:rPr lang="en-US" altLang="zh-CN" dirty="0"/>
              <a:t>a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171B639-0BE1-72DD-1A89-166F782C8BDA}"/>
              </a:ext>
            </a:extLst>
          </p:cNvPr>
          <p:cNvSpPr txBox="1"/>
          <p:nvPr/>
        </p:nvSpPr>
        <p:spPr>
          <a:xfrm>
            <a:off x="4215463" y="5451515"/>
            <a:ext cx="361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思考</a:t>
            </a:r>
            <a:r>
              <a:rPr lang="en-US" altLang="zh-CN" dirty="0"/>
              <a:t>:LR</a:t>
            </a:r>
            <a:r>
              <a:rPr lang="zh-CN" altLang="en-US" dirty="0"/>
              <a:t>分析法分析</a:t>
            </a:r>
            <a:r>
              <a:rPr lang="en-US" altLang="zh-CN" dirty="0" err="1"/>
              <a:t>bbab</a:t>
            </a:r>
            <a:r>
              <a:rPr lang="zh-CN" altLang="en-US" dirty="0"/>
              <a:t>的过程？</a:t>
            </a:r>
          </a:p>
        </p:txBody>
      </p:sp>
    </p:spTree>
    <p:extLst>
      <p:ext uri="{BB962C8B-B14F-4D97-AF65-F5344CB8AC3E}">
        <p14:creationId xmlns:p14="http://schemas.microsoft.com/office/powerpoint/2010/main" val="2317597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60" grpId="0" animBg="1"/>
      <p:bldP spid="61" grpId="0" animBg="1"/>
      <p:bldP spid="62" grpId="0" animBg="1"/>
      <p:bldP spid="63" grpId="0"/>
      <p:bldP spid="65" grpId="0"/>
      <p:bldP spid="66" grpId="0"/>
      <p:bldP spid="6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词法分析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7822" y="942764"/>
            <a:ext cx="10515599" cy="47606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3200" b="0" dirty="0"/>
              <a:t> 正则式</a:t>
            </a:r>
            <a:r>
              <a:rPr lang="en-US" altLang="zh-CN" sz="3200" b="0" dirty="0"/>
              <a:t>/</a:t>
            </a:r>
            <a:r>
              <a:rPr lang="zh-CN" altLang="en-US" sz="3200" b="0" dirty="0"/>
              <a:t>正规文法 → </a:t>
            </a:r>
            <a:r>
              <a:rPr lang="en-US" altLang="zh-CN" sz="3200" b="0" dirty="0"/>
              <a:t>NFA</a:t>
            </a:r>
            <a:r>
              <a:rPr lang="zh-CN" altLang="en-US" sz="3200" b="0" dirty="0"/>
              <a:t>  </a:t>
            </a:r>
            <a:endParaRPr lang="en-US" altLang="zh-CN" sz="3200" b="0" dirty="0"/>
          </a:p>
          <a:p>
            <a:pPr>
              <a:lnSpc>
                <a:spcPct val="150000"/>
              </a:lnSpc>
              <a:defRPr/>
            </a:pPr>
            <a:r>
              <a:rPr lang="zh-CN" altLang="en-US" sz="3200" b="0" dirty="0"/>
              <a:t> </a:t>
            </a:r>
            <a:r>
              <a:rPr lang="en-US" altLang="zh-CN" sz="3200" b="0" dirty="0"/>
              <a:t>NFA</a:t>
            </a:r>
            <a:r>
              <a:rPr lang="zh-CN" altLang="en-US" sz="3200" b="0" dirty="0"/>
              <a:t> → </a:t>
            </a:r>
            <a:r>
              <a:rPr lang="en-US" altLang="zh-CN" sz="3200" b="0" dirty="0"/>
              <a:t>DFA</a:t>
            </a:r>
            <a:endParaRPr lang="zh-CN" altLang="en-US" sz="3200" b="0" dirty="0"/>
          </a:p>
          <a:p>
            <a:pPr>
              <a:lnSpc>
                <a:spcPct val="150000"/>
              </a:lnSpc>
              <a:defRPr/>
            </a:pPr>
            <a:r>
              <a:rPr lang="zh-CN" altLang="en-US" sz="3200" b="0" dirty="0"/>
              <a:t> </a:t>
            </a:r>
            <a:r>
              <a:rPr lang="en-US" altLang="zh-CN" sz="3200" b="0" dirty="0"/>
              <a:t>DFA</a:t>
            </a:r>
            <a:r>
              <a:rPr lang="zh-CN" altLang="en-US" sz="3200" b="0" dirty="0"/>
              <a:t>的化简</a:t>
            </a:r>
          </a:p>
          <a:p>
            <a:pPr>
              <a:lnSpc>
                <a:spcPct val="150000"/>
              </a:lnSpc>
              <a:defRPr/>
            </a:pPr>
            <a:endParaRPr lang="zh-CN" altLang="en-US" sz="3200" b="0" dirty="0"/>
          </a:p>
        </p:txBody>
      </p:sp>
    </p:spTree>
    <p:extLst>
      <p:ext uri="{BB962C8B-B14F-4D97-AF65-F5344CB8AC3E}">
        <p14:creationId xmlns:p14="http://schemas.microsoft.com/office/powerpoint/2010/main" val="3825951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E10EE-63D5-68BE-40E6-CD49B315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  NFA-&gt;DFA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6F6861-C0C8-946C-F31C-57837723C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4425595" cy="803463"/>
          </a:xfrm>
        </p:spPr>
        <p:txBody>
          <a:bodyPr/>
          <a:lstStyle/>
          <a:p>
            <a:r>
              <a:rPr lang="zh-CN" altLang="en-US" dirty="0"/>
              <a:t>子集构造法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5C86F0D-891F-838E-0E9D-3E81FF1C8B29}"/>
              </a:ext>
            </a:extLst>
          </p:cNvPr>
          <p:cNvGrpSpPr/>
          <p:nvPr/>
        </p:nvGrpSpPr>
        <p:grpSpPr>
          <a:xfrm>
            <a:off x="569376" y="2196370"/>
            <a:ext cx="4566852" cy="1707046"/>
            <a:chOff x="1165278" y="3244334"/>
            <a:chExt cx="4566852" cy="1707046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F3CCC3B8-5E68-FCAE-3F3C-F8A1B21FFE40}"/>
                </a:ext>
              </a:extLst>
            </p:cNvPr>
            <p:cNvSpPr/>
            <p:nvPr/>
          </p:nvSpPr>
          <p:spPr bwMode="auto">
            <a:xfrm>
              <a:off x="1570807" y="3907721"/>
              <a:ext cx="445622" cy="44562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dirty="0">
                  <a:latin typeface="Arial" charset="0"/>
                  <a:ea typeface="微软雅黑" pitchFamily="34" charset="-122"/>
                </a:rPr>
                <a:t>A</a:t>
              </a:r>
              <a:endParaRPr lang="zh-CN" altLang="en-US" b="1" dirty="0">
                <a:latin typeface="Arial" charset="0"/>
                <a:ea typeface="微软雅黑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8517B4D-5A97-2C15-8424-696E372E1516}"/>
                </a:ext>
              </a:extLst>
            </p:cNvPr>
            <p:cNvSpPr txBox="1"/>
            <p:nvPr/>
          </p:nvSpPr>
          <p:spPr>
            <a:xfrm>
              <a:off x="1165278" y="3997836"/>
              <a:ext cx="4467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b="1" dirty="0">
                  <a:latin typeface="Times New Roman" pitchFamily="18" charset="0"/>
                  <a:sym typeface="Symbol" pitchFamily="18" charset="2"/>
                </a:rPr>
                <a:t></a:t>
              </a:r>
              <a:endParaRPr lang="en-US" altLang="zh-CN" b="1" dirty="0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3577E2D-697A-A099-49D1-3A38C8B1847D}"/>
                </a:ext>
              </a:extLst>
            </p:cNvPr>
            <p:cNvSpPr/>
            <p:nvPr/>
          </p:nvSpPr>
          <p:spPr bwMode="auto">
            <a:xfrm>
              <a:off x="2669929" y="3914128"/>
              <a:ext cx="445622" cy="44562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dirty="0">
                  <a:latin typeface="Arial" charset="0"/>
                  <a:ea typeface="微软雅黑" pitchFamily="34" charset="-122"/>
                </a:rPr>
                <a:t>B</a:t>
              </a:r>
              <a:endParaRPr lang="zh-CN" altLang="en-US" b="1" dirty="0">
                <a:latin typeface="Arial" charset="0"/>
                <a:ea typeface="微软雅黑" pitchFamily="34" charset="-122"/>
              </a:endParaRPr>
            </a:p>
          </p:txBody>
        </p:sp>
        <p:sp>
          <p:nvSpPr>
            <p:cNvPr id="9" name="Oval 4">
              <a:extLst>
                <a:ext uri="{FF2B5EF4-FFF2-40B4-BE49-F238E27FC236}">
                  <a16:creationId xmlns:a16="http://schemas.microsoft.com/office/drawing/2014/main" id="{DC6E02EE-9E91-149A-F17F-2EF3CBD9C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6508" y="3907721"/>
              <a:ext cx="445622" cy="436988"/>
            </a:xfrm>
            <a:prstGeom prst="ellipse">
              <a:avLst/>
            </a:prstGeom>
            <a:noFill/>
            <a:ln w="63500" cmpd="dbl">
              <a:solidFill>
                <a:sysClr val="windowText" lastClr="00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kumimoji="0" lang="en-GB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" name="连接符: 曲线 9">
              <a:extLst>
                <a:ext uri="{FF2B5EF4-FFF2-40B4-BE49-F238E27FC236}">
                  <a16:creationId xmlns:a16="http://schemas.microsoft.com/office/drawing/2014/main" id="{A0124614-888C-A8CF-35CC-6589BE185E82}"/>
                </a:ext>
              </a:extLst>
            </p:cNvPr>
            <p:cNvCxnSpPr>
              <a:cxnSpLocks/>
              <a:stCxn id="6" idx="6"/>
              <a:endCxn id="8" idx="2"/>
            </p:cNvCxnSpPr>
            <p:nvPr/>
          </p:nvCxnSpPr>
          <p:spPr>
            <a:xfrm>
              <a:off x="2016429" y="4130532"/>
              <a:ext cx="653500" cy="6407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连接符: 曲线 10">
              <a:extLst>
                <a:ext uri="{FF2B5EF4-FFF2-40B4-BE49-F238E27FC236}">
                  <a16:creationId xmlns:a16="http://schemas.microsoft.com/office/drawing/2014/main" id="{E4A66FD0-BFB9-0E3F-5E64-2009269F441C}"/>
                </a:ext>
              </a:extLst>
            </p:cNvPr>
            <p:cNvCxnSpPr>
              <a:cxnSpLocks/>
              <a:stCxn id="8" idx="6"/>
              <a:endCxn id="16" idx="2"/>
            </p:cNvCxnSpPr>
            <p:nvPr/>
          </p:nvCxnSpPr>
          <p:spPr>
            <a:xfrm>
              <a:off x="3115551" y="4136939"/>
              <a:ext cx="928115" cy="12700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连接符: 曲线 11">
              <a:extLst>
                <a:ext uri="{FF2B5EF4-FFF2-40B4-BE49-F238E27FC236}">
                  <a16:creationId xmlns:a16="http://schemas.microsoft.com/office/drawing/2014/main" id="{CAB3E0FD-7FE8-6212-DAAA-F5CFBB632725}"/>
                </a:ext>
              </a:extLst>
            </p:cNvPr>
            <p:cNvCxnSpPr>
              <a:cxnSpLocks/>
              <a:stCxn id="6" idx="0"/>
              <a:endCxn id="9" idx="0"/>
            </p:cNvCxnSpPr>
            <p:nvPr/>
          </p:nvCxnSpPr>
          <p:spPr>
            <a:xfrm rot="5400000" flipH="1" flipV="1">
              <a:off x="3651468" y="2049871"/>
              <a:ext cx="12700" cy="3715701"/>
            </a:xfrm>
            <a:prstGeom prst="curvedConnector3">
              <a:avLst>
                <a:gd name="adj1" fmla="val 1800000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830A65C1-B386-3C0C-5AF7-A9A44B485F5D}"/>
                </a:ext>
              </a:extLst>
            </p:cNvPr>
            <p:cNvSpPr txBox="1"/>
            <p:nvPr/>
          </p:nvSpPr>
          <p:spPr>
            <a:xfrm>
              <a:off x="3502457" y="324433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2627377-15A0-5B31-252E-C49624E04090}"/>
                </a:ext>
              </a:extLst>
            </p:cNvPr>
            <p:cNvSpPr txBox="1"/>
            <p:nvPr/>
          </p:nvSpPr>
          <p:spPr>
            <a:xfrm>
              <a:off x="2198611" y="378831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716069B-A453-3819-A9F5-92FE07C3ADFA}"/>
                </a:ext>
              </a:extLst>
            </p:cNvPr>
            <p:cNvSpPr txBox="1"/>
            <p:nvPr/>
          </p:nvSpPr>
          <p:spPr>
            <a:xfrm>
              <a:off x="4731444" y="3723055"/>
              <a:ext cx="312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FE54AE6B-99FB-85E8-42E8-A6B067520FBF}"/>
                </a:ext>
              </a:extLst>
            </p:cNvPr>
            <p:cNvSpPr/>
            <p:nvPr/>
          </p:nvSpPr>
          <p:spPr bwMode="auto">
            <a:xfrm>
              <a:off x="4043666" y="3914128"/>
              <a:ext cx="445622" cy="44562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b="1" dirty="0">
                  <a:latin typeface="Arial" charset="0"/>
                  <a:ea typeface="微软雅黑" pitchFamily="34" charset="-122"/>
                </a:rPr>
                <a:t>C</a:t>
              </a:r>
              <a:endParaRPr lang="zh-CN" altLang="en-US" b="1" dirty="0">
                <a:latin typeface="Arial" charset="0"/>
                <a:ea typeface="微软雅黑" pitchFamily="34" charset="-122"/>
              </a:endParaRPr>
            </a:p>
          </p:txBody>
        </p:sp>
        <p:cxnSp>
          <p:nvCxnSpPr>
            <p:cNvPr id="17" name="连接符: 曲线 16">
              <a:extLst>
                <a:ext uri="{FF2B5EF4-FFF2-40B4-BE49-F238E27FC236}">
                  <a16:creationId xmlns:a16="http://schemas.microsoft.com/office/drawing/2014/main" id="{8CA61C0A-E547-FC37-2B18-02AD5E09FAB1}"/>
                </a:ext>
              </a:extLst>
            </p:cNvPr>
            <p:cNvCxnSpPr>
              <a:cxnSpLocks/>
              <a:stCxn id="16" idx="6"/>
              <a:endCxn id="9" idx="2"/>
            </p:cNvCxnSpPr>
            <p:nvPr/>
          </p:nvCxnSpPr>
          <p:spPr>
            <a:xfrm flipV="1">
              <a:off x="4489288" y="4126215"/>
              <a:ext cx="797220" cy="10724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C61DF66-91BC-D931-64E8-0FBD74FB5060}"/>
                </a:ext>
              </a:extLst>
            </p:cNvPr>
            <p:cNvSpPr txBox="1"/>
            <p:nvPr/>
          </p:nvSpPr>
          <p:spPr>
            <a:xfrm>
              <a:off x="3346004" y="3788316"/>
              <a:ext cx="312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9" name="连接符: 曲线 18">
              <a:extLst>
                <a:ext uri="{FF2B5EF4-FFF2-40B4-BE49-F238E27FC236}">
                  <a16:creationId xmlns:a16="http://schemas.microsoft.com/office/drawing/2014/main" id="{E00BE419-E08A-C262-CC2D-2574DA5F63DD}"/>
                </a:ext>
              </a:extLst>
            </p:cNvPr>
            <p:cNvCxnSpPr>
              <a:cxnSpLocks/>
              <a:stCxn id="9" idx="4"/>
              <a:endCxn id="6" idx="5"/>
            </p:cNvCxnSpPr>
            <p:nvPr/>
          </p:nvCxnSpPr>
          <p:spPr>
            <a:xfrm rot="5400000" flipH="1">
              <a:off x="3701931" y="2537321"/>
              <a:ext cx="56626" cy="3558150"/>
            </a:xfrm>
            <a:prstGeom prst="curvedConnector3">
              <a:avLst>
                <a:gd name="adj1" fmla="val -418949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5C9588-3BCA-26A8-5F41-C6E95054038E}"/>
                </a:ext>
              </a:extLst>
            </p:cNvPr>
            <p:cNvSpPr txBox="1"/>
            <p:nvPr/>
          </p:nvSpPr>
          <p:spPr>
            <a:xfrm>
              <a:off x="3486427" y="4582048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Ɛ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21" name="表格 21">
            <a:extLst>
              <a:ext uri="{FF2B5EF4-FFF2-40B4-BE49-F238E27FC236}">
                <a16:creationId xmlns:a16="http://schemas.microsoft.com/office/drawing/2014/main" id="{8F39B900-A9E1-B2CB-E280-DAA30E0387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99292"/>
              </p:ext>
            </p:extLst>
          </p:nvPr>
        </p:nvGraphicFramePr>
        <p:xfrm>
          <a:off x="5771529" y="1813252"/>
          <a:ext cx="4649280" cy="1854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2700000" algn="ctr" rotWithShape="0">
                    <a:schemeClr val="tx1">
                      <a:alpha val="40000"/>
                    </a:schemeClr>
                  </a:outerShdw>
                </a:effectLst>
                <a:tableStyleId>{5C22544A-7EE6-4342-B048-85BDC9FD1C3A}</a:tableStyleId>
              </a:tblPr>
              <a:tblGrid>
                <a:gridCol w="1549760">
                  <a:extLst>
                    <a:ext uri="{9D8B030D-6E8A-4147-A177-3AD203B41FA5}">
                      <a16:colId xmlns:a16="http://schemas.microsoft.com/office/drawing/2014/main" val="775350574"/>
                    </a:ext>
                  </a:extLst>
                </a:gridCol>
                <a:gridCol w="1549760">
                  <a:extLst>
                    <a:ext uri="{9D8B030D-6E8A-4147-A177-3AD203B41FA5}">
                      <a16:colId xmlns:a16="http://schemas.microsoft.com/office/drawing/2014/main" val="3444916675"/>
                    </a:ext>
                  </a:extLst>
                </a:gridCol>
                <a:gridCol w="1549760">
                  <a:extLst>
                    <a:ext uri="{9D8B030D-6E8A-4147-A177-3AD203B41FA5}">
                      <a16:colId xmlns:a16="http://schemas.microsoft.com/office/drawing/2014/main" val="2696935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状态子集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81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D,A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96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D,A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D,A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104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91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D,A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530911"/>
                  </a:ext>
                </a:extLst>
              </a:tr>
            </a:tbl>
          </a:graphicData>
        </a:graphic>
      </p:graphicFrame>
      <p:grpSp>
        <p:nvGrpSpPr>
          <p:cNvPr id="46" name="组合 45">
            <a:extLst>
              <a:ext uri="{FF2B5EF4-FFF2-40B4-BE49-F238E27FC236}">
                <a16:creationId xmlns:a16="http://schemas.microsoft.com/office/drawing/2014/main" id="{924E6136-DD52-23FC-7E70-70B303564A13}"/>
              </a:ext>
            </a:extLst>
          </p:cNvPr>
          <p:cNvGrpSpPr/>
          <p:nvPr/>
        </p:nvGrpSpPr>
        <p:grpSpPr>
          <a:xfrm>
            <a:off x="6998843" y="4108918"/>
            <a:ext cx="1965770" cy="2301522"/>
            <a:chOff x="1536506" y="4181107"/>
            <a:chExt cx="1965770" cy="2301522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843ECEB7-9CDF-AB10-0B1F-8DAAFD98565C}"/>
                </a:ext>
              </a:extLst>
            </p:cNvPr>
            <p:cNvSpPr/>
            <p:nvPr/>
          </p:nvSpPr>
          <p:spPr>
            <a:xfrm>
              <a:off x="2773137" y="4727229"/>
              <a:ext cx="328937" cy="328936"/>
            </a:xfrm>
            <a:prstGeom prst="ellipse">
              <a:avLst/>
            </a:prstGeom>
            <a:noFill/>
            <a:ln w="31750" cmpd="dbl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D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AEDB2E6B-6DB2-1505-4497-1528F670CA8A}"/>
                </a:ext>
              </a:extLst>
            </p:cNvPr>
            <p:cNvSpPr/>
            <p:nvPr/>
          </p:nvSpPr>
          <p:spPr>
            <a:xfrm>
              <a:off x="1745090" y="4738250"/>
              <a:ext cx="328937" cy="3289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A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2A5FF772-C772-9BF6-8B61-A2B7D0A46BEB}"/>
                </a:ext>
              </a:extLst>
            </p:cNvPr>
            <p:cNvSpPr/>
            <p:nvPr/>
          </p:nvSpPr>
          <p:spPr>
            <a:xfrm>
              <a:off x="2773136" y="5566794"/>
              <a:ext cx="328937" cy="3289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E724DC5B-ED66-7A44-9552-9DFECADD090B}"/>
                </a:ext>
              </a:extLst>
            </p:cNvPr>
            <p:cNvSpPr/>
            <p:nvPr/>
          </p:nvSpPr>
          <p:spPr>
            <a:xfrm>
              <a:off x="1759162" y="5566794"/>
              <a:ext cx="328937" cy="3289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B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连接符: 曲线 26">
              <a:extLst>
                <a:ext uri="{FF2B5EF4-FFF2-40B4-BE49-F238E27FC236}">
                  <a16:creationId xmlns:a16="http://schemas.microsoft.com/office/drawing/2014/main" id="{2EE77FD2-12BC-BC31-BA6D-0F37F49E2759}"/>
                </a:ext>
              </a:extLst>
            </p:cNvPr>
            <p:cNvCxnSpPr>
              <a:stCxn id="23" idx="6"/>
              <a:endCxn id="22" idx="2"/>
            </p:cNvCxnSpPr>
            <p:nvPr/>
          </p:nvCxnSpPr>
          <p:spPr>
            <a:xfrm flipV="1">
              <a:off x="2074027" y="4891697"/>
              <a:ext cx="699110" cy="11021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9A10DEF0-E5CC-D706-A494-CE6B7AF6617A}"/>
                </a:ext>
              </a:extLst>
            </p:cNvPr>
            <p:cNvCxnSpPr>
              <a:stCxn id="23" idx="4"/>
              <a:endCxn id="25" idx="0"/>
            </p:cNvCxnSpPr>
            <p:nvPr/>
          </p:nvCxnSpPr>
          <p:spPr>
            <a:xfrm>
              <a:off x="1909559" y="5067186"/>
              <a:ext cx="14072" cy="4996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E88B299-BCB7-89C8-5D56-06CFF1FAA0DE}"/>
                </a:ext>
              </a:extLst>
            </p:cNvPr>
            <p:cNvSpPr txBox="1"/>
            <p:nvPr/>
          </p:nvSpPr>
          <p:spPr>
            <a:xfrm>
              <a:off x="2291836" y="446105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1FD9AA7-5B78-5180-2718-3B7EB5358C28}"/>
                </a:ext>
              </a:extLst>
            </p:cNvPr>
            <p:cNvSpPr txBox="1"/>
            <p:nvPr/>
          </p:nvSpPr>
          <p:spPr>
            <a:xfrm>
              <a:off x="1536506" y="513232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3" name="连接符: 曲线 32">
              <a:extLst>
                <a:ext uri="{FF2B5EF4-FFF2-40B4-BE49-F238E27FC236}">
                  <a16:creationId xmlns:a16="http://schemas.microsoft.com/office/drawing/2014/main" id="{D39BFA21-A3C4-C650-035E-272C0185DACA}"/>
                </a:ext>
              </a:extLst>
            </p:cNvPr>
            <p:cNvCxnSpPr>
              <a:stCxn id="22" idx="1"/>
              <a:endCxn id="22" idx="6"/>
            </p:cNvCxnSpPr>
            <p:nvPr/>
          </p:nvCxnSpPr>
          <p:spPr>
            <a:xfrm rot="16200000" flipH="1">
              <a:off x="2903543" y="4693167"/>
              <a:ext cx="116296" cy="280765"/>
            </a:xfrm>
            <a:prstGeom prst="curvedConnector4">
              <a:avLst>
                <a:gd name="adj1" fmla="val -237989"/>
                <a:gd name="adj2" fmla="val 18142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9AEBF523-8DF6-9735-47DE-2C29A3FF837B}"/>
                </a:ext>
              </a:extLst>
            </p:cNvPr>
            <p:cNvSpPr txBox="1"/>
            <p:nvPr/>
          </p:nvSpPr>
          <p:spPr>
            <a:xfrm>
              <a:off x="3189370" y="418110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6" name="连接符: 曲线 35">
              <a:extLst>
                <a:ext uri="{FF2B5EF4-FFF2-40B4-BE49-F238E27FC236}">
                  <a16:creationId xmlns:a16="http://schemas.microsoft.com/office/drawing/2014/main" id="{515ECDB5-6CA6-6F81-A696-2330D0494AE7}"/>
                </a:ext>
              </a:extLst>
            </p:cNvPr>
            <p:cNvCxnSpPr>
              <a:cxnSpLocks/>
              <a:stCxn id="22" idx="3"/>
              <a:endCxn id="25" idx="7"/>
            </p:cNvCxnSpPr>
            <p:nvPr/>
          </p:nvCxnSpPr>
          <p:spPr>
            <a:xfrm rot="5400000">
              <a:off x="2127132" y="4920788"/>
              <a:ext cx="606973" cy="781382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8C052F9-B353-B5D9-B041-E1295967BF79}"/>
                </a:ext>
              </a:extLst>
            </p:cNvPr>
            <p:cNvSpPr txBox="1"/>
            <p:nvPr/>
          </p:nvSpPr>
          <p:spPr>
            <a:xfrm>
              <a:off x="2363196" y="524563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0" name="连接符: 曲线 39">
              <a:extLst>
                <a:ext uri="{FF2B5EF4-FFF2-40B4-BE49-F238E27FC236}">
                  <a16:creationId xmlns:a16="http://schemas.microsoft.com/office/drawing/2014/main" id="{298826DC-7FD3-B42A-DDAF-A0CC7A9D5BB3}"/>
                </a:ext>
              </a:extLst>
            </p:cNvPr>
            <p:cNvCxnSpPr>
              <a:stCxn id="25" idx="4"/>
              <a:endCxn id="24" idx="3"/>
            </p:cNvCxnSpPr>
            <p:nvPr/>
          </p:nvCxnSpPr>
          <p:spPr>
            <a:xfrm rot="5400000" flipH="1" flipV="1">
              <a:off x="2348383" y="5422805"/>
              <a:ext cx="48172" cy="897677"/>
            </a:xfrm>
            <a:prstGeom prst="curvedConnector3">
              <a:avLst>
                <a:gd name="adj1" fmla="val -47455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3BEDB53B-0B7E-C546-7FDB-3BAA8638D0FC}"/>
                </a:ext>
              </a:extLst>
            </p:cNvPr>
            <p:cNvSpPr txBox="1"/>
            <p:nvPr/>
          </p:nvSpPr>
          <p:spPr>
            <a:xfrm>
              <a:off x="2206743" y="611329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3" name="连接符: 曲线 42">
              <a:extLst>
                <a:ext uri="{FF2B5EF4-FFF2-40B4-BE49-F238E27FC236}">
                  <a16:creationId xmlns:a16="http://schemas.microsoft.com/office/drawing/2014/main" id="{A9E90FE9-4EEC-768D-43D3-A0F45DD05340}"/>
                </a:ext>
              </a:extLst>
            </p:cNvPr>
            <p:cNvCxnSpPr>
              <a:stCxn id="24" idx="0"/>
              <a:endCxn id="22" idx="4"/>
            </p:cNvCxnSpPr>
            <p:nvPr/>
          </p:nvCxnSpPr>
          <p:spPr>
            <a:xfrm rot="5400000" flipH="1" flipV="1">
              <a:off x="2682291" y="5311480"/>
              <a:ext cx="510629" cy="1"/>
            </a:xfrm>
            <a:prstGeom prst="curved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7AE29D9-9137-C212-4996-278366E490B0}"/>
                </a:ext>
              </a:extLst>
            </p:cNvPr>
            <p:cNvSpPr txBox="1"/>
            <p:nvPr/>
          </p:nvSpPr>
          <p:spPr>
            <a:xfrm>
              <a:off x="2977889" y="514923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zh-CN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8" name="文本框 47">
            <a:extLst>
              <a:ext uri="{FF2B5EF4-FFF2-40B4-BE49-F238E27FC236}">
                <a16:creationId xmlns:a16="http://schemas.microsoft.com/office/drawing/2014/main" id="{3EBA0C1B-4D67-C89E-3ACB-847A3212CD0D}"/>
              </a:ext>
            </a:extLst>
          </p:cNvPr>
          <p:cNvSpPr txBox="1"/>
          <p:nvPr/>
        </p:nvSpPr>
        <p:spPr>
          <a:xfrm>
            <a:off x="6892523" y="4614644"/>
            <a:ext cx="312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⇒</a:t>
            </a:r>
          </a:p>
        </p:txBody>
      </p:sp>
    </p:spTree>
    <p:extLst>
      <p:ext uri="{BB962C8B-B14F-4D97-AF65-F5344CB8AC3E}">
        <p14:creationId xmlns:p14="http://schemas.microsoft.com/office/powerpoint/2010/main" val="1298671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４</a:t>
            </a:r>
            <a:r>
              <a:rPr lang="en-US" altLang="zh-CN" dirty="0"/>
              <a:t> LL(1)</a:t>
            </a:r>
            <a:r>
              <a:rPr lang="zh-CN" altLang="en-US" dirty="0"/>
              <a:t>语法分析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7822" y="942764"/>
            <a:ext cx="10515599" cy="47606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3200" b="0" dirty="0"/>
              <a:t> </a:t>
            </a:r>
            <a:r>
              <a:rPr lang="en-US" altLang="zh-CN" sz="3200" b="0" dirty="0"/>
              <a:t>FIRST</a:t>
            </a:r>
            <a:r>
              <a:rPr lang="zh-CN" altLang="en-US" sz="3200" b="0" dirty="0"/>
              <a:t>集</a:t>
            </a:r>
            <a:r>
              <a:rPr lang="en-US" altLang="zh-CN" sz="3200" b="0" dirty="0"/>
              <a:t>FOLLOW</a:t>
            </a:r>
            <a:r>
              <a:rPr lang="zh-CN" altLang="en-US" sz="3200" b="0" dirty="0"/>
              <a:t>集和</a:t>
            </a:r>
            <a:r>
              <a:rPr lang="en-US" altLang="zh-CN" sz="3200" b="0" dirty="0"/>
              <a:t>SELECT</a:t>
            </a:r>
            <a:r>
              <a:rPr lang="zh-CN" altLang="en-US" sz="3200" b="0" dirty="0"/>
              <a:t>的计算  </a:t>
            </a:r>
            <a:endParaRPr lang="en-US" altLang="zh-CN" sz="3200" b="0" dirty="0"/>
          </a:p>
          <a:p>
            <a:pPr>
              <a:lnSpc>
                <a:spcPct val="150000"/>
              </a:lnSpc>
              <a:defRPr/>
            </a:pPr>
            <a:r>
              <a:rPr lang="zh-CN" altLang="en-US" sz="3200" b="0" dirty="0"/>
              <a:t> </a:t>
            </a:r>
            <a:r>
              <a:rPr lang="en-US" altLang="zh-CN" sz="3200" b="0" dirty="0"/>
              <a:t>LL(1)</a:t>
            </a:r>
            <a:r>
              <a:rPr lang="zh-CN" altLang="en-US" sz="3200" b="0" dirty="0"/>
              <a:t>文法的判定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3200" b="0" dirty="0"/>
              <a:t> 消除左递归，提取左公因子</a:t>
            </a:r>
            <a:endParaRPr lang="en-US" altLang="zh-CN" sz="3200" b="0" dirty="0"/>
          </a:p>
          <a:p>
            <a:pPr>
              <a:lnSpc>
                <a:spcPct val="150000"/>
              </a:lnSpc>
              <a:defRPr/>
            </a:pPr>
            <a:r>
              <a:rPr lang="zh-CN" altLang="en-US" sz="3200" b="0" dirty="0"/>
              <a:t> 预测表驱动的</a:t>
            </a:r>
            <a:r>
              <a:rPr lang="en-US" altLang="zh-CN" sz="3200" b="0" dirty="0"/>
              <a:t>LL(1)</a:t>
            </a:r>
            <a:r>
              <a:rPr lang="zh-CN" altLang="en-US" sz="3200" b="0" dirty="0"/>
              <a:t>语法分析方法</a:t>
            </a:r>
          </a:p>
        </p:txBody>
      </p:sp>
    </p:spTree>
    <p:extLst>
      <p:ext uri="{BB962C8B-B14F-4D97-AF65-F5344CB8AC3E}">
        <p14:creationId xmlns:p14="http://schemas.microsoft.com/office/powerpoint/2010/main" val="3607911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B3A72F-424C-2BFD-C7BA-4769ACE7E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4 LL(1)</a:t>
            </a:r>
            <a:r>
              <a:rPr lang="zh-CN" altLang="en-US" dirty="0"/>
              <a:t>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68C83B-1118-FC11-9B19-239D23C1E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42764"/>
            <a:ext cx="11351252" cy="4800490"/>
          </a:xfrm>
        </p:spPr>
        <p:txBody>
          <a:bodyPr>
            <a:normAutofit lnSpcReduction="10000"/>
          </a:bodyPr>
          <a:lstStyle/>
          <a:p>
            <a:r>
              <a:rPr lang="zh-CN" altLang="en-US" sz="2400" b="0" dirty="0"/>
              <a:t>设有文法</a:t>
            </a:r>
            <a:r>
              <a:rPr lang="en-US" altLang="zh-CN" sz="2400" b="0" dirty="0"/>
              <a:t>G[S]:</a:t>
            </a:r>
          </a:p>
          <a:p>
            <a:pPr marL="457200" lvl="1" indent="0">
              <a:buNone/>
            </a:pPr>
            <a:r>
              <a:rPr lang="zh-CN" altLang="zh-CN" sz="2200" b="0" dirty="0">
                <a:solidFill>
                  <a:schemeClr val="tx1"/>
                </a:solidFill>
              </a:rPr>
              <a:t>S→a(T)</a:t>
            </a:r>
          </a:p>
          <a:p>
            <a:pPr marL="457200" lvl="1" indent="0">
              <a:buNone/>
            </a:pPr>
            <a:r>
              <a:rPr lang="zh-CN" altLang="zh-CN" sz="2200" b="0" dirty="0">
                <a:solidFill>
                  <a:schemeClr val="tx1"/>
                </a:solidFill>
              </a:rPr>
              <a:t>T→T,S|S|b</a:t>
            </a:r>
          </a:p>
          <a:p>
            <a:pPr marL="0" indent="0">
              <a:buNone/>
            </a:pPr>
            <a:r>
              <a:rPr lang="en-US" altLang="zh-CN" sz="2400" b="0" dirty="0"/>
              <a:t>(1) </a:t>
            </a:r>
            <a:r>
              <a:rPr lang="zh-CN" altLang="en-US" sz="2400" b="0" dirty="0"/>
              <a:t>试构造与之等价的无左递归文法；</a:t>
            </a:r>
          </a:p>
          <a:p>
            <a:pPr marL="0" indent="0">
              <a:buNone/>
            </a:pPr>
            <a:r>
              <a:rPr lang="en-US" altLang="zh-CN" sz="2400" b="0" dirty="0"/>
              <a:t>(2)  </a:t>
            </a:r>
            <a:r>
              <a:rPr lang="zh-CN" altLang="en-US" sz="2400" b="0" dirty="0"/>
              <a:t>如果</a:t>
            </a:r>
            <a:r>
              <a:rPr lang="en-US" altLang="zh-CN" sz="2400" b="0" dirty="0"/>
              <a:t>(1)</a:t>
            </a:r>
            <a:r>
              <a:rPr lang="zh-CN" altLang="en-US" sz="2400" b="0" dirty="0"/>
              <a:t>所得到的文法不是</a:t>
            </a:r>
            <a:r>
              <a:rPr lang="en-US" altLang="zh-CN" sz="2400" b="0" dirty="0"/>
              <a:t>LL(1)</a:t>
            </a:r>
            <a:r>
              <a:rPr lang="zh-CN" altLang="en-US" sz="2400" b="0" dirty="0"/>
              <a:t>文法，请改造为</a:t>
            </a:r>
            <a:r>
              <a:rPr lang="en-US" altLang="zh-CN" sz="2400" b="0" dirty="0"/>
              <a:t>LL(1)</a:t>
            </a:r>
            <a:r>
              <a:rPr lang="zh-CN" altLang="en-US" sz="2400" b="0" dirty="0"/>
              <a:t>文法；如果是</a:t>
            </a:r>
            <a:r>
              <a:rPr lang="en-US" altLang="zh-CN" sz="2400" b="0" dirty="0"/>
              <a:t>LL</a:t>
            </a:r>
            <a:r>
              <a:rPr lang="zh-CN" altLang="en-US" sz="2400" b="0" dirty="0"/>
              <a:t>（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），请证明之</a:t>
            </a:r>
            <a:r>
              <a:rPr lang="en-US" altLang="zh-CN" sz="2400" b="0" dirty="0"/>
              <a:t>;</a:t>
            </a:r>
            <a:endParaRPr lang="zh-CN" altLang="en-US" sz="2400" b="0" dirty="0"/>
          </a:p>
          <a:p>
            <a:pPr marL="0" indent="0">
              <a:buNone/>
            </a:pPr>
            <a:r>
              <a:rPr lang="en-US" altLang="zh-CN" sz="2400" b="0" dirty="0"/>
              <a:t>(3) </a:t>
            </a:r>
            <a:r>
              <a:rPr lang="zh-CN" altLang="en-US" sz="2400" b="0" dirty="0"/>
              <a:t>构造所得</a:t>
            </a:r>
            <a:r>
              <a:rPr lang="en-US" altLang="zh-CN" sz="2400" b="0" dirty="0"/>
              <a:t>LL(1)</a:t>
            </a:r>
            <a:r>
              <a:rPr lang="zh-CN" altLang="en-US" sz="2400" b="0" dirty="0"/>
              <a:t>文法的分析表</a:t>
            </a:r>
            <a:r>
              <a:rPr lang="en-US" altLang="zh-CN" sz="2400" b="0" dirty="0"/>
              <a:t>;</a:t>
            </a:r>
            <a:endParaRPr lang="zh-CN" altLang="en-US" sz="2400" b="0" dirty="0"/>
          </a:p>
          <a:p>
            <a:pPr marL="0" indent="0">
              <a:buNone/>
            </a:pPr>
            <a:r>
              <a:rPr lang="en-US" altLang="zh-CN" sz="2400" b="0" dirty="0"/>
              <a:t>(4) </a:t>
            </a:r>
            <a:r>
              <a:rPr lang="zh-CN" altLang="en-US" sz="2400" b="0" dirty="0"/>
              <a:t>根据预测分析表，给出分析输入串“</a:t>
            </a:r>
            <a:r>
              <a:rPr lang="en-US" altLang="zh-CN" sz="2400" b="0" dirty="0"/>
              <a:t>a(</a:t>
            </a:r>
            <a:r>
              <a:rPr lang="en-US" altLang="zh-CN" sz="2400" b="0" dirty="0" err="1"/>
              <a:t>b,a</a:t>
            </a:r>
            <a:r>
              <a:rPr lang="en-US" altLang="zh-CN" sz="2400" b="0" dirty="0"/>
              <a:t>(b))”</a:t>
            </a:r>
            <a:r>
              <a:rPr lang="zh-CN" altLang="en-US" sz="2400" b="0" dirty="0"/>
              <a:t>的分析过程。</a:t>
            </a:r>
          </a:p>
        </p:txBody>
      </p:sp>
    </p:spTree>
    <p:extLst>
      <p:ext uri="{BB962C8B-B14F-4D97-AF65-F5344CB8AC3E}">
        <p14:creationId xmlns:p14="http://schemas.microsoft.com/office/powerpoint/2010/main" val="2456390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B0F7924-78D2-8B25-617E-4A1CE842D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LL(1)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06FCB41-E49A-9B12-AD2D-04FDCD3CCA2F}"/>
              </a:ext>
            </a:extLst>
          </p:cNvPr>
          <p:cNvSpPr txBox="1"/>
          <p:nvPr/>
        </p:nvSpPr>
        <p:spPr>
          <a:xfrm>
            <a:off x="487822" y="1186798"/>
            <a:ext cx="1582153" cy="707886"/>
          </a:xfrm>
          <a:prstGeom prst="rect">
            <a:avLst/>
          </a:prstGeom>
          <a:solidFill>
            <a:srgbClr val="FFFFFF"/>
          </a:solidFill>
          <a:ln>
            <a:solidFill>
              <a:prstClr val="black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fr-FR" altLang="zh-CN" sz="2000" dirty="0"/>
              <a:t>S→a(T)</a:t>
            </a:r>
          </a:p>
          <a:p>
            <a:r>
              <a:rPr lang="fr-FR" altLang="zh-CN" sz="2000" dirty="0"/>
              <a:t>T→T,S|S|b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F6783CD-8307-CD83-1BA8-9F03126E0AEE}"/>
              </a:ext>
            </a:extLst>
          </p:cNvPr>
          <p:cNvSpPr txBox="1"/>
          <p:nvPr/>
        </p:nvSpPr>
        <p:spPr>
          <a:xfrm>
            <a:off x="487822" y="2120609"/>
            <a:ext cx="32299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(1) </a:t>
            </a:r>
            <a:r>
              <a:rPr lang="zh-CN" altLang="en-US" sz="2000" dirty="0"/>
              <a:t>消除左递归，得文法：</a:t>
            </a:r>
            <a:endParaRPr lang="en-US" altLang="zh-CN" sz="2000" dirty="0"/>
          </a:p>
          <a:p>
            <a:r>
              <a:rPr lang="zh-CN" altLang="en-US" sz="2000" dirty="0"/>
              <a:t>产生式</a:t>
            </a:r>
            <a:r>
              <a:rPr lang="en-US" altLang="zh-CN" sz="2000" dirty="0"/>
              <a:t>		SELECT</a:t>
            </a:r>
            <a:r>
              <a:rPr lang="zh-CN" altLang="en-US" sz="2000" dirty="0"/>
              <a:t>集</a:t>
            </a:r>
          </a:p>
          <a:p>
            <a:r>
              <a:rPr lang="fr-FR" altLang="zh-CN" sz="2000" dirty="0"/>
              <a:t>S→a(T)		{a}</a:t>
            </a:r>
          </a:p>
          <a:p>
            <a:endParaRPr lang="fr-FR" altLang="zh-CN" sz="2000" dirty="0"/>
          </a:p>
          <a:p>
            <a:r>
              <a:rPr lang="fr-FR" altLang="zh-CN" sz="2000" dirty="0"/>
              <a:t>T→ST’	{a}</a:t>
            </a:r>
          </a:p>
          <a:p>
            <a:r>
              <a:rPr lang="fr-FR" altLang="zh-CN" sz="2000" dirty="0"/>
              <a:t>T→bT’	{b}</a:t>
            </a:r>
          </a:p>
          <a:p>
            <a:endParaRPr lang="fr-FR" altLang="zh-CN" sz="2000" dirty="0"/>
          </a:p>
          <a:p>
            <a:r>
              <a:rPr lang="fr-FR" altLang="zh-CN" sz="2000" dirty="0"/>
              <a:t>T’→,ST’    	{,} </a:t>
            </a:r>
          </a:p>
          <a:p>
            <a:r>
              <a:rPr lang="fr-FR" altLang="zh-CN" sz="2000" dirty="0"/>
              <a:t>T’→Ɛ           	{)}</a:t>
            </a:r>
            <a:endParaRPr lang="zh-CN" altLang="en-US" sz="2000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206C6BF0-94B2-65AF-EF10-71779FA587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908989"/>
              </p:ext>
            </p:extLst>
          </p:nvPr>
        </p:nvGraphicFramePr>
        <p:xfrm>
          <a:off x="4286609" y="2120609"/>
          <a:ext cx="7104751" cy="2642792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964384">
                  <a:extLst>
                    <a:ext uri="{9D8B030D-6E8A-4147-A177-3AD203B41FA5}">
                      <a16:colId xmlns:a16="http://schemas.microsoft.com/office/drawing/2014/main" val="1144855281"/>
                    </a:ext>
                  </a:extLst>
                </a:gridCol>
                <a:gridCol w="1067046">
                  <a:extLst>
                    <a:ext uri="{9D8B030D-6E8A-4147-A177-3AD203B41FA5}">
                      <a16:colId xmlns:a16="http://schemas.microsoft.com/office/drawing/2014/main" val="3555000415"/>
                    </a:ext>
                  </a:extLst>
                </a:gridCol>
                <a:gridCol w="1067855">
                  <a:extLst>
                    <a:ext uri="{9D8B030D-6E8A-4147-A177-3AD203B41FA5}">
                      <a16:colId xmlns:a16="http://schemas.microsoft.com/office/drawing/2014/main" val="985419574"/>
                    </a:ext>
                  </a:extLst>
                </a:gridCol>
                <a:gridCol w="1067855">
                  <a:extLst>
                    <a:ext uri="{9D8B030D-6E8A-4147-A177-3AD203B41FA5}">
                      <a16:colId xmlns:a16="http://schemas.microsoft.com/office/drawing/2014/main" val="3994955438"/>
                    </a:ext>
                  </a:extLst>
                </a:gridCol>
                <a:gridCol w="1067855">
                  <a:extLst>
                    <a:ext uri="{9D8B030D-6E8A-4147-A177-3AD203B41FA5}">
                      <a16:colId xmlns:a16="http://schemas.microsoft.com/office/drawing/2014/main" val="205839864"/>
                    </a:ext>
                  </a:extLst>
                </a:gridCol>
                <a:gridCol w="1067855">
                  <a:extLst>
                    <a:ext uri="{9D8B030D-6E8A-4147-A177-3AD203B41FA5}">
                      <a16:colId xmlns:a16="http://schemas.microsoft.com/office/drawing/2014/main" val="2171665829"/>
                    </a:ext>
                  </a:extLst>
                </a:gridCol>
                <a:gridCol w="801901">
                  <a:extLst>
                    <a:ext uri="{9D8B030D-6E8A-4147-A177-3AD203B41FA5}">
                      <a16:colId xmlns:a16="http://schemas.microsoft.com/office/drawing/2014/main" val="1810223803"/>
                    </a:ext>
                  </a:extLst>
                </a:gridCol>
              </a:tblGrid>
              <a:tr h="980390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zh-CN" sz="20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zh-CN" sz="2000" b="1" kern="100" baseline="-250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algn="l">
                        <a:buNone/>
                      </a:pPr>
                      <a:r>
                        <a:rPr lang="zh-CN" sz="20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zh-CN" sz="2000" b="1" kern="100" baseline="-250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1" kern="10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sz="2000" kern="1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,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1" kern="10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</a:t>
                      </a:r>
                      <a:endParaRPr lang="zh-CN" sz="2000" kern="1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1" kern="10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2000" kern="10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1" kern="1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#</a:t>
                      </a:r>
                      <a:endParaRPr lang="zh-CN" sz="2000" kern="100" dirty="0"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147077"/>
                  </a:ext>
                </a:extLst>
              </a:tr>
              <a:tr h="55413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S</a:t>
                      </a:r>
                      <a:endParaRPr lang="zh-CN" sz="2000" b="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S</a:t>
                      </a:r>
                      <a:r>
                        <a:rPr lang="zh-CN" sz="2000" b="0" kern="10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→a(T)</a:t>
                      </a:r>
                      <a:endParaRPr lang="zh-CN" sz="2000" b="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2000" b="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2000" b="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2000" b="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2000" b="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7639"/>
                  </a:ext>
                </a:extLst>
              </a:tr>
              <a:tr h="55413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 dirty="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T</a:t>
                      </a:r>
                      <a:endParaRPr lang="zh-CN" sz="2000" b="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 dirty="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S→ST</a:t>
                      </a:r>
                      <a:r>
                        <a:rPr lang="zh-CN" sz="2000" b="0" kern="100" baseline="30000" dirty="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’</a:t>
                      </a:r>
                      <a:endParaRPr lang="zh-CN" sz="2000" b="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zh-CN" sz="2000" b="0" kern="10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→b</a:t>
                      </a:r>
                      <a:r>
                        <a:rPr lang="zh-CN" sz="2000" b="0" kern="10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zh-CN" sz="2000" b="0" kern="100" baseline="3000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’</a:t>
                      </a:r>
                      <a:endParaRPr lang="zh-CN" sz="2000" b="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2000" b="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2000" b="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2000" b="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 dirty="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2000" b="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367645"/>
                  </a:ext>
                </a:extLst>
              </a:tr>
              <a:tr h="55413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T</a:t>
                      </a:r>
                      <a:r>
                        <a:rPr lang="zh-CN" sz="2000" b="0" kern="100" baseline="30000">
                          <a:effectLst/>
                          <a:latin typeface="+mn-ea"/>
                          <a:ea typeface="+mn-ea"/>
                        </a:rPr>
                        <a:t>’</a:t>
                      </a:r>
                      <a:endParaRPr lang="zh-CN" sz="2000" b="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 dirty="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2000" b="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 dirty="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2000" b="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 dirty="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zh-CN" sz="2000" b="0" kern="100" baseline="30000" dirty="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’</a:t>
                      </a:r>
                      <a:r>
                        <a:rPr lang="zh-CN" sz="2000" b="0" kern="100" dirty="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→,S</a:t>
                      </a:r>
                      <a:r>
                        <a:rPr lang="zh-CN" sz="2000" b="0" kern="100" dirty="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zh-CN" sz="2000" b="0" kern="100" baseline="30000" dirty="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’</a:t>
                      </a:r>
                      <a:endParaRPr lang="zh-CN" sz="2000" b="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 dirty="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sz="2000" b="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2000" b="0" kern="100" dirty="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  <a:r>
                        <a:rPr lang="zh-CN" sz="2000" b="0" kern="100" baseline="30000" dirty="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’</a:t>
                      </a:r>
                      <a:r>
                        <a:rPr lang="zh-CN" sz="2000" b="0" kern="100" dirty="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zh-CN" sz="2000" b="0" kern="100" dirty="0">
                          <a:solidFill>
                            <a:srgbClr val="EE0000"/>
                          </a:solidFill>
                          <a:effectLst/>
                          <a:latin typeface="+mn-ea"/>
                          <a:ea typeface="+mn-ea"/>
                        </a:rPr>
                        <a:t>Ɛ</a:t>
                      </a:r>
                      <a:endParaRPr lang="zh-CN" sz="2000" b="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zh-CN" sz="20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790283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2E470E3D-A727-F5F0-A40C-2F3A70DEE196}"/>
              </a:ext>
            </a:extLst>
          </p:cNvPr>
          <p:cNvSpPr txBox="1"/>
          <p:nvPr/>
        </p:nvSpPr>
        <p:spPr>
          <a:xfrm>
            <a:off x="520637" y="5208856"/>
            <a:ext cx="15821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(2)  </a:t>
            </a:r>
            <a:r>
              <a:rPr lang="zh-CN" altLang="en-US" sz="2000" b="1" dirty="0"/>
              <a:t>∵ ∴</a:t>
            </a:r>
          </a:p>
          <a:p>
            <a:r>
              <a:rPr lang="en-US" altLang="zh-CN" sz="2000" dirty="0"/>
              <a:t>(3) </a:t>
            </a:r>
            <a:r>
              <a:rPr lang="zh-CN" altLang="en-US" sz="2000" dirty="0"/>
              <a:t>分析表</a:t>
            </a:r>
          </a:p>
        </p:txBody>
      </p:sp>
    </p:spTree>
    <p:extLst>
      <p:ext uri="{BB962C8B-B14F-4D97-AF65-F5344CB8AC3E}">
        <p14:creationId xmlns:p14="http://schemas.microsoft.com/office/powerpoint/2010/main" val="1602769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4A4450B-8123-7490-96A9-23B3B91F6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710119"/>
          </a:xfrm>
        </p:spPr>
        <p:txBody>
          <a:bodyPr/>
          <a:lstStyle/>
          <a:p>
            <a:r>
              <a:rPr lang="fr-FR" altLang="zh-CN" dirty="0"/>
              <a:t>a(b,a(b))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88B1643-5326-CFEC-6EDC-44058A8FE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LL(1)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2CA8B28-9F82-1917-E85F-7ED89142D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097018"/>
              </p:ext>
            </p:extLst>
          </p:nvPr>
        </p:nvGraphicFramePr>
        <p:xfrm>
          <a:off x="2971801" y="365613"/>
          <a:ext cx="8908046" cy="5958331"/>
        </p:xfrm>
        <a:graphic>
          <a:graphicData uri="http://schemas.openxmlformats.org/drawingml/2006/table">
            <a:tbl>
              <a:tblPr/>
              <a:tblGrid>
                <a:gridCol w="1040058">
                  <a:extLst>
                    <a:ext uri="{9D8B030D-6E8A-4147-A177-3AD203B41FA5}">
                      <a16:colId xmlns:a16="http://schemas.microsoft.com/office/drawing/2014/main" val="566110691"/>
                    </a:ext>
                  </a:extLst>
                </a:gridCol>
                <a:gridCol w="2375479">
                  <a:extLst>
                    <a:ext uri="{9D8B030D-6E8A-4147-A177-3AD203B41FA5}">
                      <a16:colId xmlns:a16="http://schemas.microsoft.com/office/drawing/2014/main" val="2852910649"/>
                    </a:ext>
                  </a:extLst>
                </a:gridCol>
                <a:gridCol w="2375479">
                  <a:extLst>
                    <a:ext uri="{9D8B030D-6E8A-4147-A177-3AD203B41FA5}">
                      <a16:colId xmlns:a16="http://schemas.microsoft.com/office/drawing/2014/main" val="3118196463"/>
                    </a:ext>
                  </a:extLst>
                </a:gridCol>
                <a:gridCol w="3117030">
                  <a:extLst>
                    <a:ext uri="{9D8B030D-6E8A-4147-A177-3AD203B41FA5}">
                      <a16:colId xmlns:a16="http://schemas.microsoft.com/office/drawing/2014/main" val="2310748461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步骤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符号栈</a:t>
                      </a:r>
                      <a:r>
                        <a:rPr lang="zh-CN" sz="16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sz="1600" b="1" kern="100"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左为栈底</a:t>
                      </a:r>
                      <a:r>
                        <a:rPr lang="zh-CN" sz="1600" b="1" kern="1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剩余输入串</a:t>
                      </a:r>
                      <a:endParaRPr lang="zh-CN" sz="1600" kern="1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 dirty="0"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动作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976892"/>
                  </a:ext>
                </a:extLst>
              </a:tr>
              <a:tr h="23463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16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CN" sz="16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zh-CN" sz="16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a(b,a(b)</a:t>
                      </a:r>
                      <a:r>
                        <a:rPr lang="zh-CN" sz="16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S→a(T)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208092"/>
                  </a:ext>
                </a:extLst>
              </a:tr>
              <a:tr h="23463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)T(a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a(b,a(b)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匹配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940609"/>
                  </a:ext>
                </a:extLst>
              </a:tr>
              <a:tr h="23463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)T(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(b,a(b)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匹配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850285"/>
                  </a:ext>
                </a:extLst>
              </a:tr>
              <a:tr h="23463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4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)T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b,a(b)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T→bT’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5184"/>
                  </a:ext>
                </a:extLst>
              </a:tr>
              <a:tr h="23463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5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)T’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b,a(b))#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匹配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658533"/>
                  </a:ext>
                </a:extLst>
              </a:tr>
              <a:tr h="23463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6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T’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,a(b))#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T’→,ST’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476066"/>
                  </a:ext>
                </a:extLst>
              </a:tr>
              <a:tr h="23463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T’ S,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,a(b))#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匹配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1684"/>
                  </a:ext>
                </a:extLst>
              </a:tr>
              <a:tr h="23463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T’ S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a(b))#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S→a(T)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276722"/>
                  </a:ext>
                </a:extLst>
              </a:tr>
              <a:tr h="23463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T’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T(a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a(b))#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匹配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459827"/>
                  </a:ext>
                </a:extLst>
              </a:tr>
              <a:tr h="23463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T’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T(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(b))#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匹配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53252"/>
                  </a:ext>
                </a:extLst>
              </a:tr>
              <a:tr h="23463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11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T’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b))#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T→bT’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031378"/>
                  </a:ext>
                </a:extLst>
              </a:tr>
              <a:tr h="23463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12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T’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T’b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b))#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匹配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314729"/>
                  </a:ext>
                </a:extLst>
              </a:tr>
              <a:tr h="23463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13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T’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T’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))#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T’→ ε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094808"/>
                  </a:ext>
                </a:extLst>
              </a:tr>
              <a:tr h="23463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14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T’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))#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匹配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049907"/>
                  </a:ext>
                </a:extLst>
              </a:tr>
              <a:tr h="23463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15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T’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)#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T’→ ε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689959"/>
                  </a:ext>
                </a:extLst>
              </a:tr>
              <a:tr h="23463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16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)#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匹配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583971"/>
                  </a:ext>
                </a:extLst>
              </a:tr>
              <a:tr h="23463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17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zh-CN" sz="1600" b="1" kern="10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#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600" b="1" kern="100" dirty="0">
                          <a:solidFill>
                            <a:srgbClr val="EE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接受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990" marR="63990" marT="42660" marB="4266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54736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247D3E6-CF5C-243E-34BF-4A548E7ED56A}"/>
              </a:ext>
            </a:extLst>
          </p:cNvPr>
          <p:cNvSpPr txBox="1"/>
          <p:nvPr/>
        </p:nvSpPr>
        <p:spPr>
          <a:xfrm>
            <a:off x="312153" y="1759404"/>
            <a:ext cx="255616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2000" dirty="0"/>
          </a:p>
          <a:p>
            <a:r>
              <a:rPr lang="fr-FR" altLang="zh-CN" sz="2000" dirty="0"/>
              <a:t>S→a(T)		{a}</a:t>
            </a:r>
          </a:p>
          <a:p>
            <a:endParaRPr lang="fr-FR" altLang="zh-CN" sz="2000" dirty="0"/>
          </a:p>
          <a:p>
            <a:r>
              <a:rPr lang="fr-FR" altLang="zh-CN" sz="2000" dirty="0"/>
              <a:t>T→ST’	{a}</a:t>
            </a:r>
          </a:p>
          <a:p>
            <a:r>
              <a:rPr lang="fr-FR" altLang="zh-CN" sz="2000" dirty="0"/>
              <a:t>T→bT’	{b}</a:t>
            </a:r>
          </a:p>
          <a:p>
            <a:endParaRPr lang="fr-FR" altLang="zh-CN" sz="2000" dirty="0"/>
          </a:p>
          <a:p>
            <a:r>
              <a:rPr lang="fr-FR" altLang="zh-CN" sz="2000" dirty="0"/>
              <a:t>T’→,ST’    	{,} </a:t>
            </a:r>
          </a:p>
          <a:p>
            <a:r>
              <a:rPr lang="fr-FR" altLang="zh-CN" sz="2000" dirty="0"/>
              <a:t>T’→Ɛ           	{)}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62883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 LR</a:t>
            </a:r>
            <a:r>
              <a:rPr lang="zh-CN" altLang="en-US" dirty="0"/>
              <a:t>语法分析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7822" y="942764"/>
            <a:ext cx="10515599" cy="47606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3200" dirty="0"/>
              <a:t> </a:t>
            </a:r>
            <a:r>
              <a:rPr lang="en-US" altLang="zh-CN" sz="3200" dirty="0"/>
              <a:t>LR(1)</a:t>
            </a:r>
            <a:r>
              <a:rPr lang="zh-CN" altLang="en-US" sz="3200" dirty="0"/>
              <a:t>项目集族和</a:t>
            </a:r>
            <a:r>
              <a:rPr lang="en-US" altLang="zh-CN" sz="3200" dirty="0"/>
              <a:t>DFA</a:t>
            </a:r>
            <a:r>
              <a:rPr lang="zh-CN" altLang="en-US" sz="3200" dirty="0"/>
              <a:t>的构造  </a:t>
            </a:r>
            <a:endParaRPr lang="en-US" altLang="zh-CN" sz="3200" dirty="0"/>
          </a:p>
          <a:p>
            <a:pPr>
              <a:lnSpc>
                <a:spcPct val="150000"/>
              </a:lnSpc>
              <a:defRPr/>
            </a:pPr>
            <a:r>
              <a:rPr lang="zh-CN" altLang="en-US" sz="3200" dirty="0"/>
              <a:t> </a:t>
            </a:r>
            <a:r>
              <a:rPr lang="en-US" altLang="zh-CN" sz="3200" dirty="0"/>
              <a:t>LR(1)</a:t>
            </a:r>
            <a:r>
              <a:rPr lang="zh-CN" altLang="en-US" sz="3200" dirty="0"/>
              <a:t>分析表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3200" dirty="0"/>
              <a:t> </a:t>
            </a:r>
            <a:r>
              <a:rPr lang="en-US" altLang="zh-CN" sz="3200" dirty="0"/>
              <a:t>LR(1)</a:t>
            </a:r>
            <a:r>
              <a:rPr lang="zh-CN" altLang="en-US" sz="3200" dirty="0"/>
              <a:t>语法分析算法</a:t>
            </a:r>
            <a:endParaRPr lang="en-US" altLang="zh-CN" sz="3200" dirty="0"/>
          </a:p>
          <a:p>
            <a:pPr>
              <a:lnSpc>
                <a:spcPct val="150000"/>
              </a:lnSpc>
              <a:defRPr/>
            </a:pPr>
            <a:r>
              <a:rPr lang="en-US" altLang="zh-CN" sz="3200" dirty="0"/>
              <a:t> LL(1)/LR(0)/SLR(1)/LR(1)/LALR(1)</a:t>
            </a:r>
            <a:r>
              <a:rPr lang="zh-CN" altLang="en-US" sz="3200" dirty="0"/>
              <a:t>文法之间的关系</a:t>
            </a:r>
          </a:p>
        </p:txBody>
      </p:sp>
    </p:spTree>
    <p:extLst>
      <p:ext uri="{BB962C8B-B14F-4D97-AF65-F5344CB8AC3E}">
        <p14:creationId xmlns:p14="http://schemas.microsoft.com/office/powerpoint/2010/main" val="3750938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B87FBD-3572-DF4B-D184-6128C91E3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5 LR(1)</a:t>
            </a:r>
            <a:r>
              <a:rPr lang="zh-CN" altLang="en-US" dirty="0"/>
              <a:t>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3727F5-DC15-4735-D869-3BC2C4D1B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9907462" cy="4632414"/>
          </a:xfrm>
        </p:spPr>
        <p:txBody>
          <a:bodyPr/>
          <a:lstStyle/>
          <a:p>
            <a:r>
              <a:rPr lang="zh-CN" altLang="en-US" dirty="0"/>
              <a:t>设允许使用指针的赋值语句文法简化为：</a:t>
            </a:r>
          </a:p>
          <a:p>
            <a:pPr marL="0" indent="0">
              <a:buNone/>
            </a:pPr>
            <a:r>
              <a:rPr lang="en-US" altLang="zh-CN" dirty="0"/>
              <a:t>S→L=R   S→R  L→*R  </a:t>
            </a:r>
            <a:r>
              <a:rPr lang="en-US" altLang="zh-CN" dirty="0" err="1"/>
              <a:t>L→i</a:t>
            </a:r>
            <a:r>
              <a:rPr lang="en-US" altLang="zh-CN" dirty="0"/>
              <a:t>   R→L  (</a:t>
            </a:r>
            <a:r>
              <a:rPr lang="en-US" altLang="zh-CN" dirty="0" err="1"/>
              <a:t>i</a:t>
            </a:r>
            <a:r>
              <a:rPr lang="en-US" altLang="zh-CN" dirty="0"/>
              <a:t>: identifier)</a:t>
            </a:r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/>
              <a:t>画出该文法的</a:t>
            </a:r>
            <a:r>
              <a:rPr lang="en-US" altLang="zh-CN" dirty="0"/>
              <a:t>LR(1)</a:t>
            </a:r>
            <a:r>
              <a:rPr lang="zh-CN" altLang="en-US" dirty="0"/>
              <a:t>项目集族和转换函数</a:t>
            </a:r>
            <a:r>
              <a:rPr lang="en-US" altLang="zh-CN" dirty="0"/>
              <a:t>(DFA)</a:t>
            </a:r>
            <a:r>
              <a:rPr lang="zh-CN" altLang="en-US" dirty="0"/>
              <a:t>；</a:t>
            </a:r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/>
              <a:t>画出该文法的</a:t>
            </a:r>
            <a:r>
              <a:rPr lang="en-US" altLang="zh-CN" dirty="0"/>
              <a:t>LR(1)</a:t>
            </a:r>
            <a:r>
              <a:rPr lang="zh-CN" altLang="en-US" dirty="0"/>
              <a:t>分析表。</a:t>
            </a:r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/>
              <a:t>写出分析</a:t>
            </a:r>
            <a:r>
              <a:rPr lang="en-US" altLang="zh-CN" dirty="0"/>
              <a:t>a=*b</a:t>
            </a:r>
            <a:r>
              <a:rPr lang="zh-CN" altLang="en-US" dirty="0"/>
              <a:t>（</a:t>
            </a:r>
            <a:r>
              <a:rPr lang="en-US" altLang="zh-CN" dirty="0" err="1"/>
              <a:t>a,b</a:t>
            </a:r>
            <a:r>
              <a:rPr lang="zh-CN" altLang="en-US" dirty="0"/>
              <a:t>都是</a:t>
            </a:r>
            <a:r>
              <a:rPr lang="en-US" altLang="zh-CN" dirty="0"/>
              <a:t>identifier</a:t>
            </a:r>
            <a:r>
              <a:rPr lang="zh-CN" altLang="en-US" dirty="0"/>
              <a:t>）是否文法句子的过程</a:t>
            </a:r>
            <a:endParaRPr lang="en-US" altLang="zh-CN" dirty="0"/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/>
              <a:t>是不是</a:t>
            </a:r>
            <a:r>
              <a:rPr lang="en-US" altLang="zh-CN" dirty="0"/>
              <a:t>LALR(1)</a:t>
            </a:r>
            <a:r>
              <a:rPr lang="zh-CN" altLang="en-US" dirty="0"/>
              <a:t>？</a:t>
            </a:r>
          </a:p>
          <a:p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B78E834-9DC8-0351-BEEE-8D313EEE4B3B}"/>
              </a:ext>
            </a:extLst>
          </p:cNvPr>
          <p:cNvGrpSpPr/>
          <p:nvPr/>
        </p:nvGrpSpPr>
        <p:grpSpPr>
          <a:xfrm>
            <a:off x="10104925" y="1162961"/>
            <a:ext cx="1498650" cy="2266039"/>
            <a:chOff x="275126" y="1816126"/>
            <a:chExt cx="1498650" cy="2266039"/>
          </a:xfrm>
        </p:grpSpPr>
        <p:sp>
          <p:nvSpPr>
            <p:cNvPr id="6" name="Rectangle 37">
              <a:extLst>
                <a:ext uri="{FF2B5EF4-FFF2-40B4-BE49-F238E27FC236}">
                  <a16:creationId xmlns:a16="http://schemas.microsoft.com/office/drawing/2014/main" id="{AF02E4C4-C1E3-BD27-CB26-5B034B11D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727" y="1816126"/>
              <a:ext cx="1497049" cy="2263037"/>
            </a:xfrm>
            <a:prstGeom prst="roundRect">
              <a:avLst>
                <a:gd name="adj" fmla="val 5415"/>
              </a:avLst>
            </a:prstGeom>
            <a:solidFill>
              <a:schemeClr val="bg1"/>
            </a:solidFill>
            <a:ln w="12700">
              <a:solidFill>
                <a:srgbClr val="0E7C7E"/>
              </a:solidFill>
            </a:ln>
            <a:effectLst>
              <a:outerShdw blurRad="50800" dist="50800" dir="2700000" algn="ctr" rotWithShape="0">
                <a:schemeClr val="tx1"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0) </a:t>
              </a: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S</a:t>
              </a:r>
              <a:r>
                <a:rPr kumimoji="0" lang="en-US" altLang="zh-CN" sz="16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′ </a:t>
              </a: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→S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1) S→L=R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2) S→R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3) L→*R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4) L→i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5) R→L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0" lang="en-US" altLang="zh-CN" sz="80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cs typeface="华文楷体" pitchFamily="2" charset="-122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3DD6FD11-7BEB-4EC2-497E-0187666814E9}"/>
                </a:ext>
              </a:extLst>
            </p:cNvPr>
            <p:cNvSpPr/>
            <p:nvPr/>
          </p:nvSpPr>
          <p:spPr>
            <a:xfrm>
              <a:off x="275126" y="3789751"/>
              <a:ext cx="1494000" cy="292414"/>
            </a:xfrm>
            <a:custGeom>
              <a:avLst/>
              <a:gdLst>
                <a:gd name="connsiteX0" fmla="*/ 2895600 w 2895600"/>
                <a:gd name="connsiteY0" fmla="*/ 0 h 535860"/>
                <a:gd name="connsiteX1" fmla="*/ 2895600 w 2895600"/>
                <a:gd name="connsiteY1" fmla="*/ 396147 h 535860"/>
                <a:gd name="connsiteX2" fmla="*/ 2755887 w 2895600"/>
                <a:gd name="connsiteY2" fmla="*/ 535860 h 535860"/>
                <a:gd name="connsiteX3" fmla="*/ 139713 w 2895600"/>
                <a:gd name="connsiteY3" fmla="*/ 535860 h 535860"/>
                <a:gd name="connsiteX4" fmla="*/ 0 w 2895600"/>
                <a:gd name="connsiteY4" fmla="*/ 396147 h 535860"/>
                <a:gd name="connsiteX5" fmla="*/ 0 w 2895600"/>
                <a:gd name="connsiteY5" fmla="*/ 203266 h 535860"/>
                <a:gd name="connsiteX6" fmla="*/ 9301 w 2895600"/>
                <a:gd name="connsiteY6" fmla="*/ 207843 h 535860"/>
                <a:gd name="connsiteX7" fmla="*/ 1274905 w 2895600"/>
                <a:gd name="connsiteY7" fmla="*/ 453829 h 535860"/>
                <a:gd name="connsiteX8" fmla="*/ 2810218 w 2895600"/>
                <a:gd name="connsiteY8" fmla="*/ 61819 h 5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600" h="535860">
                  <a:moveTo>
                    <a:pt x="2895600" y="0"/>
                  </a:moveTo>
                  <a:lnTo>
                    <a:pt x="2895600" y="396147"/>
                  </a:lnTo>
                  <a:cubicBezTo>
                    <a:pt x="2895600" y="473308"/>
                    <a:pt x="2833048" y="535860"/>
                    <a:pt x="2755887" y="535860"/>
                  </a:cubicBezTo>
                  <a:lnTo>
                    <a:pt x="139713" y="535860"/>
                  </a:lnTo>
                  <a:cubicBezTo>
                    <a:pt x="62552" y="535860"/>
                    <a:pt x="0" y="473308"/>
                    <a:pt x="0" y="396147"/>
                  </a:cubicBezTo>
                  <a:lnTo>
                    <a:pt x="0" y="203266"/>
                  </a:lnTo>
                  <a:lnTo>
                    <a:pt x="9301" y="207843"/>
                  </a:lnTo>
                  <a:cubicBezTo>
                    <a:pt x="353230" y="361516"/>
                    <a:pt x="794156" y="453829"/>
                    <a:pt x="1274905" y="453829"/>
                  </a:cubicBezTo>
                  <a:cubicBezTo>
                    <a:pt x="1893011" y="453829"/>
                    <a:pt x="2445286" y="301229"/>
                    <a:pt x="2810218" y="61819"/>
                  </a:cubicBezTo>
                  <a:close/>
                </a:path>
              </a:pathLst>
            </a:custGeom>
            <a:solidFill>
              <a:srgbClr val="1996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7409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BDAAA-EA92-3A53-C303-A49BDEAE0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BAB839C-60C9-14CA-7F28-D01DAE931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LR</a:t>
            </a:r>
            <a:r>
              <a:rPr lang="zh-CN" altLang="en-US" dirty="0"/>
              <a:t>分析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2477A67A-F12B-59BB-A8C8-2ABC56AB6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2750" y="2896219"/>
            <a:ext cx="1685023" cy="215443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 t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+mn-ea"/>
              </a:rPr>
              <a:t>I</a:t>
            </a:r>
            <a:r>
              <a:rPr kumimoji="0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+mn-ea"/>
              </a:rPr>
              <a:t>0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  <a:cs typeface="Times New Roman" panose="02020603050405020304" pitchFamily="18" charset="0"/>
              </a:rPr>
              <a:t>S′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</a:rPr>
              <a:t>→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</a:rPr>
              <a:t>S</a:t>
            </a:r>
            <a:r>
              <a:rPr kumimoji="0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</a:rPr>
              <a:t>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</a:rPr>
              <a:t>, 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</a:rPr>
              <a:t>S→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</a:rPr>
              <a:t>L=R , 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</a:rPr>
              <a:t>S→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</a:rPr>
              <a:t>R , 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L→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*R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,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=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|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L→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</a:t>
            </a:r>
            <a:r>
              <a:rPr kumimoji="0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i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,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=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|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</a:t>
            </a:r>
            <a:r>
              <a:rPr kumimoji="0" lang="en-US" altLang="zh-CN" sz="18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R→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L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,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#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617B4B9-9DA5-F270-1CC3-419310178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9233" y="1761638"/>
            <a:ext cx="1684800" cy="70788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I</a:t>
            </a:r>
            <a:r>
              <a:rPr kumimoji="0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1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S′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rPr>
              <a:t>→S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 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,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rPr>
              <a:t> #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F24D34D-0A07-17D0-6C64-D15482456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6511" y="2692855"/>
            <a:ext cx="1741231" cy="938719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2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S→L</a:t>
            </a:r>
            <a:r>
              <a:rPr kumimoji="1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=R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R→L</a:t>
            </a:r>
            <a:r>
              <a:rPr kumimoji="1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5959B5E1-6285-E84E-6FF5-77CBAFB12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514" y="2789549"/>
            <a:ext cx="50319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L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59A10F2F-1C70-C412-241B-30505C3FD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6511" y="3673930"/>
            <a:ext cx="1746927" cy="70788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3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S→R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11" name="Text Box 13">
            <a:extLst>
              <a:ext uri="{FF2B5EF4-FFF2-40B4-BE49-F238E27FC236}">
                <a16:creationId xmlns:a16="http://schemas.microsoft.com/office/drawing/2014/main" id="{99A9354D-6204-8488-3676-69D705BF5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3668" y="3611225"/>
            <a:ext cx="60954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R</a:t>
            </a:r>
          </a:p>
        </p:txBody>
      </p:sp>
      <p:sp>
        <p:nvSpPr>
          <p:cNvPr id="12" name="Text Box 14">
            <a:extLst>
              <a:ext uri="{FF2B5EF4-FFF2-40B4-BE49-F238E27FC236}">
                <a16:creationId xmlns:a16="http://schemas.microsoft.com/office/drawing/2014/main" id="{D32032F2-AAE1-A3F2-31CE-1DC012FE3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7623" y="4466093"/>
            <a:ext cx="1745147" cy="150297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4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L→*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R→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L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, =|#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*R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F970D3CB-AA17-04FD-FCEC-848B2FDCA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3758" y="5697477"/>
            <a:ext cx="1774800" cy="70788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5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L→i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381D2672-FAF3-920B-E209-1C5D6D320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0938" y="4502800"/>
            <a:ext cx="27119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*</a:t>
            </a:r>
          </a:p>
        </p:txBody>
      </p:sp>
      <p:sp>
        <p:nvSpPr>
          <p:cNvPr id="15" name="Text Box 17">
            <a:extLst>
              <a:ext uri="{FF2B5EF4-FFF2-40B4-BE49-F238E27FC236}">
                <a16:creationId xmlns:a16="http://schemas.microsoft.com/office/drawing/2014/main" id="{4EB17F74-70EF-A31A-3D71-8AD4A0936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443" y="5194435"/>
            <a:ext cx="53335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6" name="Text Box 20">
            <a:extLst>
              <a:ext uri="{FF2B5EF4-FFF2-40B4-BE49-F238E27FC236}">
                <a16:creationId xmlns:a16="http://schemas.microsoft.com/office/drawing/2014/main" id="{42102564-86A1-9C49-87B1-82BF3B626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824" y="2817442"/>
            <a:ext cx="45715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=</a:t>
            </a:r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id="{12EB91AD-C1F8-5469-AD51-8448117E7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7607" y="3994939"/>
            <a:ext cx="1774975" cy="70788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7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L→*R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</a:p>
        </p:txBody>
      </p:sp>
      <p:sp>
        <p:nvSpPr>
          <p:cNvPr id="18" name="Text Box 24">
            <a:extLst>
              <a:ext uri="{FF2B5EF4-FFF2-40B4-BE49-F238E27FC236}">
                <a16:creationId xmlns:a16="http://schemas.microsoft.com/office/drawing/2014/main" id="{32DCDE04-A625-B90C-24E8-D93E39F7C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3838" y="4819481"/>
            <a:ext cx="1774800" cy="706437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8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R→L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19" name="Text Box 26">
            <a:extLst>
              <a:ext uri="{FF2B5EF4-FFF2-40B4-BE49-F238E27FC236}">
                <a16:creationId xmlns:a16="http://schemas.microsoft.com/office/drawing/2014/main" id="{3793E4DF-4D8A-C6F7-2F5D-A6067EF0C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2274" y="4794355"/>
            <a:ext cx="38096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L</a:t>
            </a:r>
          </a:p>
        </p:txBody>
      </p:sp>
      <p:sp>
        <p:nvSpPr>
          <p:cNvPr id="20" name="Text Box 27">
            <a:extLst>
              <a:ext uri="{FF2B5EF4-FFF2-40B4-BE49-F238E27FC236}">
                <a16:creationId xmlns:a16="http://schemas.microsoft.com/office/drawing/2014/main" id="{8F3E5975-2848-673F-B861-DFAB19EEC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55" y="1775665"/>
            <a:ext cx="1742400" cy="70788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9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S→L=R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21" name="Text Box 29">
            <a:extLst>
              <a:ext uri="{FF2B5EF4-FFF2-40B4-BE49-F238E27FC236}">
                <a16:creationId xmlns:a16="http://schemas.microsoft.com/office/drawing/2014/main" id="{983076A2-1B63-4909-3484-53F99D7A4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5884" y="1747832"/>
            <a:ext cx="4178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R</a:t>
            </a:r>
          </a:p>
        </p:txBody>
      </p:sp>
      <p:sp>
        <p:nvSpPr>
          <p:cNvPr id="22" name="Text Box 33">
            <a:extLst>
              <a:ext uri="{FF2B5EF4-FFF2-40B4-BE49-F238E27FC236}">
                <a16:creationId xmlns:a16="http://schemas.microsoft.com/office/drawing/2014/main" id="{AC35D92A-EDFA-AF2E-4021-FD34277F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1278" y="2492448"/>
            <a:ext cx="53335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S</a:t>
            </a:r>
          </a:p>
        </p:txBody>
      </p:sp>
      <p:sp>
        <p:nvSpPr>
          <p:cNvPr id="23" name="Text Box 35">
            <a:extLst>
              <a:ext uri="{FF2B5EF4-FFF2-40B4-BE49-F238E27FC236}">
                <a16:creationId xmlns:a16="http://schemas.microsoft.com/office/drawing/2014/main" id="{C02D373F-28E3-7727-3096-66B025BA9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8145" y="5459270"/>
            <a:ext cx="53335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4" name="Text Box 40">
            <a:extLst>
              <a:ext uri="{FF2B5EF4-FFF2-40B4-BE49-F238E27FC236}">
                <a16:creationId xmlns:a16="http://schemas.microsoft.com/office/drawing/2014/main" id="{513BB986-7FFA-D24B-5229-58C9748B3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7032" y="5080635"/>
            <a:ext cx="30454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*</a:t>
            </a:r>
          </a:p>
        </p:txBody>
      </p:sp>
      <p:sp>
        <p:nvSpPr>
          <p:cNvPr id="25" name="Text Box 32">
            <a:extLst>
              <a:ext uri="{FF2B5EF4-FFF2-40B4-BE49-F238E27FC236}">
                <a16:creationId xmlns:a16="http://schemas.microsoft.com/office/drawing/2014/main" id="{1C6693C9-0F29-7CEE-9053-C1D3909E5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6266" y="3640680"/>
            <a:ext cx="5032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6" name="Text Box 42">
            <a:extLst>
              <a:ext uri="{FF2B5EF4-FFF2-40B4-BE49-F238E27FC236}">
                <a16:creationId xmlns:a16="http://schemas.microsoft.com/office/drawing/2014/main" id="{B441D430-F766-AC52-331B-910B3C688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7596" y="1833100"/>
            <a:ext cx="1764000" cy="655638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10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R→L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27" name="Text Box 44">
            <a:extLst>
              <a:ext uri="{FF2B5EF4-FFF2-40B4-BE49-F238E27FC236}">
                <a16:creationId xmlns:a16="http://schemas.microsoft.com/office/drawing/2014/main" id="{DFB6A67D-4627-4694-B336-15232F8EB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6266" y="1822023"/>
            <a:ext cx="5334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L</a:t>
            </a:r>
          </a:p>
        </p:txBody>
      </p:sp>
      <p:sp>
        <p:nvSpPr>
          <p:cNvPr id="28" name="Text Box 45">
            <a:extLst>
              <a:ext uri="{FF2B5EF4-FFF2-40B4-BE49-F238E27FC236}">
                <a16:creationId xmlns:a16="http://schemas.microsoft.com/office/drawing/2014/main" id="{EA889628-45D2-C8E1-B773-5AB50E5D6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7596" y="2896474"/>
            <a:ext cx="1764000" cy="150297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11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L→*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#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R→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L, 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*R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29" name="Text Box 46">
            <a:extLst>
              <a:ext uri="{FF2B5EF4-FFF2-40B4-BE49-F238E27FC236}">
                <a16:creationId xmlns:a16="http://schemas.microsoft.com/office/drawing/2014/main" id="{C7A468DB-13B2-A3FE-6136-5DF6C332B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2372" y="2945633"/>
            <a:ext cx="360370" cy="400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*</a:t>
            </a:r>
          </a:p>
        </p:txBody>
      </p:sp>
      <p:sp>
        <p:nvSpPr>
          <p:cNvPr id="30" name="Text Box 48">
            <a:extLst>
              <a:ext uri="{FF2B5EF4-FFF2-40B4-BE49-F238E27FC236}">
                <a16:creationId xmlns:a16="http://schemas.microsoft.com/office/drawing/2014/main" id="{534AFFCD-D83E-99A0-9E3D-621B4508E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7596" y="4821693"/>
            <a:ext cx="1764000" cy="708025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12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L→i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31" name="Text Box 50">
            <a:extLst>
              <a:ext uri="{FF2B5EF4-FFF2-40B4-BE49-F238E27FC236}">
                <a16:creationId xmlns:a16="http://schemas.microsoft.com/office/drawing/2014/main" id="{10B73347-18EF-B875-9518-67A84EFA7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7596" y="5683030"/>
            <a:ext cx="1764000" cy="70788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13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L→*R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32" name="Text Box 52">
            <a:extLst>
              <a:ext uri="{FF2B5EF4-FFF2-40B4-BE49-F238E27FC236}">
                <a16:creationId xmlns:a16="http://schemas.microsoft.com/office/drawing/2014/main" id="{67E312C2-D5C3-3D20-D3EE-24C78D821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72901" y="5016769"/>
            <a:ext cx="3107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R</a:t>
            </a:r>
          </a:p>
        </p:txBody>
      </p:sp>
      <p:sp>
        <p:nvSpPr>
          <p:cNvPr id="33" name="Text Box 54">
            <a:extLst>
              <a:ext uri="{FF2B5EF4-FFF2-40B4-BE49-F238E27FC236}">
                <a16:creationId xmlns:a16="http://schemas.microsoft.com/office/drawing/2014/main" id="{292C92A9-C585-EA4D-19F5-DD1307655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8867" y="3240533"/>
            <a:ext cx="533414" cy="400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*</a:t>
            </a:r>
          </a:p>
        </p:txBody>
      </p:sp>
      <p:sp>
        <p:nvSpPr>
          <p:cNvPr id="34" name="Text Box 55">
            <a:extLst>
              <a:ext uri="{FF2B5EF4-FFF2-40B4-BE49-F238E27FC236}">
                <a16:creationId xmlns:a16="http://schemas.microsoft.com/office/drawing/2014/main" id="{F1E6F676-A879-8F68-A954-825B64FD2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6077" y="2492379"/>
            <a:ext cx="3810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L</a:t>
            </a:r>
          </a:p>
        </p:txBody>
      </p:sp>
      <p:sp>
        <p:nvSpPr>
          <p:cNvPr id="35" name="Text Box 17">
            <a:extLst>
              <a:ext uri="{FF2B5EF4-FFF2-40B4-BE49-F238E27FC236}">
                <a16:creationId xmlns:a16="http://schemas.microsoft.com/office/drawing/2014/main" id="{5B43995B-276F-FE26-6762-075F98859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6077" y="4466063"/>
            <a:ext cx="5334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6" name="Text Box 18">
            <a:extLst>
              <a:ext uri="{FF2B5EF4-FFF2-40B4-BE49-F238E27FC236}">
                <a16:creationId xmlns:a16="http://schemas.microsoft.com/office/drawing/2014/main" id="{F02421A7-650C-B6F7-CB62-FB74857EE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3126" y="1841050"/>
            <a:ext cx="1774800" cy="1631950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6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S→L=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 , #</a:t>
            </a:r>
          </a:p>
          <a:p>
            <a:pPr marL="0" marR="0" lvl="0" indent="0" defTabSz="91440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R→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L , #</a:t>
            </a:r>
          </a:p>
          <a:p>
            <a:pPr marL="0" marR="0" lvl="0" indent="0" defTabSz="91440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*R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  <a:p>
            <a:pPr marL="0" marR="0" lvl="0" indent="0" defTabSz="91440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38" name="矩形 2">
            <a:extLst>
              <a:ext uri="{FF2B5EF4-FFF2-40B4-BE49-F238E27FC236}">
                <a16:creationId xmlns:a16="http://schemas.microsoft.com/office/drawing/2014/main" id="{49DFA626-EB39-D5F9-E104-917570868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060" y="1118400"/>
            <a:ext cx="18533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0E7C7E"/>
                </a:solidFill>
                <a:latin typeface="+mn-ea"/>
                <a:cs typeface="Times New Roman" panose="02020603050405020304" pitchFamily="18" charset="0"/>
              </a:rPr>
              <a:t>LR(1)</a:t>
            </a:r>
            <a:r>
              <a:rPr lang="zh-CN" altLang="en-US" dirty="0">
                <a:solidFill>
                  <a:srgbClr val="0E7C7E"/>
                </a:solidFill>
                <a:latin typeface="+mn-ea"/>
                <a:cs typeface="Times New Roman" panose="02020603050405020304" pitchFamily="18" charset="0"/>
              </a:rPr>
              <a:t>自动机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4E0BC4C2-B8DF-E7F7-0CF7-2EC7E55926F5}"/>
              </a:ext>
            </a:extLst>
          </p:cNvPr>
          <p:cNvCxnSpPr>
            <a:cxnSpLocks/>
          </p:cNvCxnSpPr>
          <p:nvPr/>
        </p:nvCxnSpPr>
        <p:spPr>
          <a:xfrm flipV="1">
            <a:off x="4217773" y="3152382"/>
            <a:ext cx="489850" cy="30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D45250F5-9697-B9F8-505E-9560FB82BAB3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H="1" flipV="1">
            <a:off x="3371633" y="2469524"/>
            <a:ext cx="3629" cy="4266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9B066CA5-1512-FB63-8953-6DDE0539F6AB}"/>
              </a:ext>
            </a:extLst>
          </p:cNvPr>
          <p:cNvCxnSpPr>
            <a:cxnSpLocks/>
          </p:cNvCxnSpPr>
          <p:nvPr/>
        </p:nvCxnSpPr>
        <p:spPr>
          <a:xfrm flipV="1">
            <a:off x="4207331" y="4010632"/>
            <a:ext cx="489850" cy="30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连接符: 曲线 48">
            <a:extLst>
              <a:ext uri="{FF2B5EF4-FFF2-40B4-BE49-F238E27FC236}">
                <a16:creationId xmlns:a16="http://schemas.microsoft.com/office/drawing/2014/main" id="{3EC8EFA1-2AD5-DC3A-61CF-990417B52560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03585" y="5016769"/>
            <a:ext cx="918" cy="429146"/>
          </a:xfrm>
          <a:prstGeom prst="curvedConnector3">
            <a:avLst>
              <a:gd name="adj1" fmla="val 25001961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0F0A4578-D0A1-322A-658D-BBA6A107376B}"/>
              </a:ext>
            </a:extLst>
          </p:cNvPr>
          <p:cNvCxnSpPr>
            <a:cxnSpLocks/>
            <a:endCxn id="20" idx="3"/>
          </p:cNvCxnSpPr>
          <p:nvPr/>
        </p:nvCxnSpPr>
        <p:spPr>
          <a:xfrm flipH="1">
            <a:off x="6428755" y="2129608"/>
            <a:ext cx="56538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0F8186FF-0063-FB76-12A3-889F537BE345}"/>
              </a:ext>
            </a:extLst>
          </p:cNvPr>
          <p:cNvCxnSpPr>
            <a:cxnSpLocks/>
          </p:cNvCxnSpPr>
          <p:nvPr/>
        </p:nvCxnSpPr>
        <p:spPr>
          <a:xfrm>
            <a:off x="6460698" y="3188272"/>
            <a:ext cx="53673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AE5AF59-C94A-22D3-A442-E8BDCE209C6C}"/>
              </a:ext>
            </a:extLst>
          </p:cNvPr>
          <p:cNvCxnSpPr>
            <a:cxnSpLocks/>
          </p:cNvCxnSpPr>
          <p:nvPr/>
        </p:nvCxnSpPr>
        <p:spPr>
          <a:xfrm>
            <a:off x="6465428" y="4548153"/>
            <a:ext cx="52211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Box 23">
            <a:extLst>
              <a:ext uri="{FF2B5EF4-FFF2-40B4-BE49-F238E27FC236}">
                <a16:creationId xmlns:a16="http://schemas.microsoft.com/office/drawing/2014/main" id="{B1BBECF3-77D5-B620-1C18-CA8B5941E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7077" y="4201035"/>
            <a:ext cx="45715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R</a:t>
            </a: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0ED67E21-2247-A877-38A3-C68D76708A6D}"/>
              </a:ext>
            </a:extLst>
          </p:cNvPr>
          <p:cNvCxnSpPr>
            <a:cxnSpLocks/>
          </p:cNvCxnSpPr>
          <p:nvPr/>
        </p:nvCxnSpPr>
        <p:spPr>
          <a:xfrm>
            <a:off x="6457408" y="5165771"/>
            <a:ext cx="52211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DCE7339B-ACAE-3792-7230-E59F20805609}"/>
              </a:ext>
            </a:extLst>
          </p:cNvPr>
          <p:cNvCxnSpPr>
            <a:cxnSpLocks/>
          </p:cNvCxnSpPr>
          <p:nvPr/>
        </p:nvCxnSpPr>
        <p:spPr>
          <a:xfrm>
            <a:off x="6454212" y="5827194"/>
            <a:ext cx="522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CF0E8DE-54F4-1A5C-835B-AF576E793028}"/>
              </a:ext>
            </a:extLst>
          </p:cNvPr>
          <p:cNvCxnSpPr>
            <a:cxnSpLocks/>
          </p:cNvCxnSpPr>
          <p:nvPr/>
        </p:nvCxnSpPr>
        <p:spPr>
          <a:xfrm>
            <a:off x="8813064" y="2160919"/>
            <a:ext cx="7904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7539F64A-41CD-23D5-2A1A-E46C0C3CBD3A}"/>
              </a:ext>
            </a:extLst>
          </p:cNvPr>
          <p:cNvCxnSpPr>
            <a:cxnSpLocks/>
          </p:cNvCxnSpPr>
          <p:nvPr/>
        </p:nvCxnSpPr>
        <p:spPr>
          <a:xfrm>
            <a:off x="8805044" y="3275839"/>
            <a:ext cx="7904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E8FBACED-9CCF-0F73-FBB5-50D73425BE62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8777926" y="3493792"/>
            <a:ext cx="809670" cy="168191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F8BD0E37-E7F8-1029-5319-F2840FE7D0F4}"/>
              </a:ext>
            </a:extLst>
          </p:cNvPr>
          <p:cNvCxnSpPr>
            <a:cxnSpLocks/>
            <a:stCxn id="28" idx="2"/>
            <a:endCxn id="30" idx="0"/>
          </p:cNvCxnSpPr>
          <p:nvPr/>
        </p:nvCxnSpPr>
        <p:spPr>
          <a:xfrm>
            <a:off x="10469596" y="4399450"/>
            <a:ext cx="0" cy="42224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11F6C75E-1028-9BF7-EF6D-E1A44159B6ED}"/>
              </a:ext>
            </a:extLst>
          </p:cNvPr>
          <p:cNvCxnSpPr>
            <a:cxnSpLocks/>
            <a:stCxn id="28" idx="0"/>
            <a:endCxn id="26" idx="2"/>
          </p:cNvCxnSpPr>
          <p:nvPr/>
        </p:nvCxnSpPr>
        <p:spPr>
          <a:xfrm flipV="1">
            <a:off x="10469596" y="2488738"/>
            <a:ext cx="0" cy="4077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曲线 60">
            <a:extLst>
              <a:ext uri="{FF2B5EF4-FFF2-40B4-BE49-F238E27FC236}">
                <a16:creationId xmlns:a16="http://schemas.microsoft.com/office/drawing/2014/main" id="{DCA4CD71-72AC-7E24-8F50-85262E3DF570}"/>
              </a:ext>
            </a:extLst>
          </p:cNvPr>
          <p:cNvCxnSpPr>
            <a:cxnSpLocks/>
          </p:cNvCxnSpPr>
          <p:nvPr/>
        </p:nvCxnSpPr>
        <p:spPr>
          <a:xfrm flipH="1">
            <a:off x="11338960" y="3345137"/>
            <a:ext cx="918" cy="429146"/>
          </a:xfrm>
          <a:prstGeom prst="curvedConnector3">
            <a:avLst>
              <a:gd name="adj1" fmla="val -24901961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9F15C7FB-F7D5-D092-D68D-BE4A651A28F2}"/>
              </a:ext>
            </a:extLst>
          </p:cNvPr>
          <p:cNvCxnSpPr>
            <a:cxnSpLocks/>
          </p:cNvCxnSpPr>
          <p:nvPr/>
        </p:nvCxnSpPr>
        <p:spPr>
          <a:xfrm flipV="1">
            <a:off x="4217775" y="4804712"/>
            <a:ext cx="489850" cy="30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59326BF9-7C2F-E2CD-8318-FEC969217552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4591285" y="3834631"/>
            <a:ext cx="1142631" cy="3574677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曲线 63">
            <a:extLst>
              <a:ext uri="{FF2B5EF4-FFF2-40B4-BE49-F238E27FC236}">
                <a16:creationId xmlns:a16="http://schemas.microsoft.com/office/drawing/2014/main" id="{43D82D21-BF6B-CFB7-FB2A-1C37942AF10C}"/>
              </a:ext>
            </a:extLst>
          </p:cNvPr>
          <p:cNvCxnSpPr>
            <a:cxnSpLocks/>
          </p:cNvCxnSpPr>
          <p:nvPr/>
        </p:nvCxnSpPr>
        <p:spPr>
          <a:xfrm>
            <a:off x="11346284" y="4217077"/>
            <a:ext cx="12700" cy="1812938"/>
          </a:xfrm>
          <a:prstGeom prst="curvedConnector3">
            <a:avLst>
              <a:gd name="adj1" fmla="val 180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B0B2C5B5-EE16-A90A-B3AB-E5AD0545FCA2}"/>
              </a:ext>
            </a:extLst>
          </p:cNvPr>
          <p:cNvSpPr txBox="1"/>
          <p:nvPr/>
        </p:nvSpPr>
        <p:spPr>
          <a:xfrm>
            <a:off x="2152279" y="2876011"/>
            <a:ext cx="446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b="1" dirty="0">
                <a:latin typeface="Times New Roman" pitchFamily="18" charset="0"/>
                <a:sym typeface="Symbol" pitchFamily="18" charset="2"/>
              </a:rPr>
              <a:t></a:t>
            </a:r>
            <a:endParaRPr lang="en-US" altLang="zh-CN" b="1" dirty="0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067BD688-DB0F-A20F-6DE2-39CB5385B883}"/>
              </a:ext>
            </a:extLst>
          </p:cNvPr>
          <p:cNvGrpSpPr/>
          <p:nvPr/>
        </p:nvGrpSpPr>
        <p:grpSpPr>
          <a:xfrm>
            <a:off x="599990" y="1731902"/>
            <a:ext cx="1498650" cy="2266039"/>
            <a:chOff x="275126" y="1816126"/>
            <a:chExt cx="1498650" cy="2266039"/>
          </a:xfrm>
        </p:grpSpPr>
        <p:sp>
          <p:nvSpPr>
            <p:cNvPr id="68" name="Rectangle 37">
              <a:extLst>
                <a:ext uri="{FF2B5EF4-FFF2-40B4-BE49-F238E27FC236}">
                  <a16:creationId xmlns:a16="http://schemas.microsoft.com/office/drawing/2014/main" id="{6D1F3183-8E0B-980A-AB67-5B5566690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727" y="1816126"/>
              <a:ext cx="1497049" cy="2263037"/>
            </a:xfrm>
            <a:prstGeom prst="roundRect">
              <a:avLst>
                <a:gd name="adj" fmla="val 5415"/>
              </a:avLst>
            </a:prstGeom>
            <a:solidFill>
              <a:schemeClr val="bg1"/>
            </a:solidFill>
            <a:ln w="12700">
              <a:solidFill>
                <a:srgbClr val="0E7C7E"/>
              </a:solidFill>
            </a:ln>
            <a:effectLst>
              <a:outerShdw blurRad="50800" dist="50800" dir="2700000" algn="ctr" rotWithShape="0">
                <a:schemeClr val="tx1"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0) </a:t>
              </a: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S</a:t>
              </a:r>
              <a:r>
                <a:rPr kumimoji="0" lang="en-US" altLang="zh-CN" sz="16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′ </a:t>
              </a: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→S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1) S→L=R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2) S→R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3) L→*R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4) L→i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5) R→L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0" lang="en-US" altLang="zh-CN" sz="80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cs typeface="华文楷体" pitchFamily="2" charset="-122"/>
              </a:endParaRPr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6D829816-DC3F-5DDC-7839-0E916A5F6426}"/>
                </a:ext>
              </a:extLst>
            </p:cNvPr>
            <p:cNvSpPr/>
            <p:nvPr/>
          </p:nvSpPr>
          <p:spPr>
            <a:xfrm>
              <a:off x="275126" y="3789751"/>
              <a:ext cx="1494000" cy="292414"/>
            </a:xfrm>
            <a:custGeom>
              <a:avLst/>
              <a:gdLst>
                <a:gd name="connsiteX0" fmla="*/ 2895600 w 2895600"/>
                <a:gd name="connsiteY0" fmla="*/ 0 h 535860"/>
                <a:gd name="connsiteX1" fmla="*/ 2895600 w 2895600"/>
                <a:gd name="connsiteY1" fmla="*/ 396147 h 535860"/>
                <a:gd name="connsiteX2" fmla="*/ 2755887 w 2895600"/>
                <a:gd name="connsiteY2" fmla="*/ 535860 h 535860"/>
                <a:gd name="connsiteX3" fmla="*/ 139713 w 2895600"/>
                <a:gd name="connsiteY3" fmla="*/ 535860 h 535860"/>
                <a:gd name="connsiteX4" fmla="*/ 0 w 2895600"/>
                <a:gd name="connsiteY4" fmla="*/ 396147 h 535860"/>
                <a:gd name="connsiteX5" fmla="*/ 0 w 2895600"/>
                <a:gd name="connsiteY5" fmla="*/ 203266 h 535860"/>
                <a:gd name="connsiteX6" fmla="*/ 9301 w 2895600"/>
                <a:gd name="connsiteY6" fmla="*/ 207843 h 535860"/>
                <a:gd name="connsiteX7" fmla="*/ 1274905 w 2895600"/>
                <a:gd name="connsiteY7" fmla="*/ 453829 h 535860"/>
                <a:gd name="connsiteX8" fmla="*/ 2810218 w 2895600"/>
                <a:gd name="connsiteY8" fmla="*/ 61819 h 5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600" h="535860">
                  <a:moveTo>
                    <a:pt x="2895600" y="0"/>
                  </a:moveTo>
                  <a:lnTo>
                    <a:pt x="2895600" y="396147"/>
                  </a:lnTo>
                  <a:cubicBezTo>
                    <a:pt x="2895600" y="473308"/>
                    <a:pt x="2833048" y="535860"/>
                    <a:pt x="2755887" y="535860"/>
                  </a:cubicBezTo>
                  <a:lnTo>
                    <a:pt x="139713" y="535860"/>
                  </a:lnTo>
                  <a:cubicBezTo>
                    <a:pt x="62552" y="535860"/>
                    <a:pt x="0" y="473308"/>
                    <a:pt x="0" y="396147"/>
                  </a:cubicBezTo>
                  <a:lnTo>
                    <a:pt x="0" y="203266"/>
                  </a:lnTo>
                  <a:lnTo>
                    <a:pt x="9301" y="207843"/>
                  </a:lnTo>
                  <a:cubicBezTo>
                    <a:pt x="353230" y="361516"/>
                    <a:pt x="794156" y="453829"/>
                    <a:pt x="1274905" y="453829"/>
                  </a:cubicBezTo>
                  <a:cubicBezTo>
                    <a:pt x="1893011" y="453829"/>
                    <a:pt x="2445286" y="301229"/>
                    <a:pt x="2810218" y="61819"/>
                  </a:cubicBezTo>
                  <a:close/>
                </a:path>
              </a:pathLst>
            </a:custGeom>
            <a:solidFill>
              <a:srgbClr val="1996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B84814B-3F4F-60B8-3456-2E5310F46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3157746" cy="617641"/>
          </a:xfrm>
        </p:spPr>
        <p:txBody>
          <a:bodyPr/>
          <a:lstStyle/>
          <a:p>
            <a:r>
              <a:rPr lang="zh-CN" altLang="en-US" dirty="0"/>
              <a:t>构造自动机</a:t>
            </a:r>
          </a:p>
        </p:txBody>
      </p:sp>
    </p:spTree>
    <p:extLst>
      <p:ext uri="{BB962C8B-B14F-4D97-AF65-F5344CB8AC3E}">
        <p14:creationId xmlns:p14="http://schemas.microsoft.com/office/powerpoint/2010/main" val="1795575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4B70A-41A6-178C-1887-B16967FD9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B67DC88-688B-C5FD-A798-830532C5D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LR</a:t>
            </a:r>
            <a:r>
              <a:rPr lang="zh-CN" altLang="en-US" dirty="0"/>
              <a:t>分析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AEF7A830-552B-A24E-063A-2F2CADD30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2750" y="2896219"/>
            <a:ext cx="1685023" cy="215443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 t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+mn-ea"/>
              </a:rPr>
              <a:t>I</a:t>
            </a:r>
            <a:r>
              <a:rPr kumimoji="0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+mn-ea"/>
              </a:rPr>
              <a:t>0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  <a:cs typeface="Times New Roman" panose="02020603050405020304" pitchFamily="18" charset="0"/>
              </a:rPr>
              <a:t>S′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</a:rPr>
              <a:t>→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</a:rPr>
              <a:t>S</a:t>
            </a:r>
            <a:r>
              <a:rPr kumimoji="0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</a:rPr>
              <a:t>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</a:rPr>
              <a:t>, 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</a:rPr>
              <a:t>S→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</a:rPr>
              <a:t>L=R , 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</a:rPr>
              <a:t>S→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</a:rPr>
              <a:t>R , 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L→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*R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,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=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|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L→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</a:t>
            </a:r>
            <a:r>
              <a:rPr kumimoji="0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i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,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=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|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</a:t>
            </a:r>
            <a:r>
              <a:rPr kumimoji="0" lang="en-US" altLang="zh-CN" sz="18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R→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L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,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#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4CB48E79-5D0A-29F1-3044-2F105F103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9233" y="1761638"/>
            <a:ext cx="1684800" cy="70788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I</a:t>
            </a:r>
            <a:r>
              <a:rPr kumimoji="0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1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S′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rPr>
              <a:t>→S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 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,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rPr>
              <a:t> #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2211B2F-F460-5EAE-A319-5C0E63CF3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6511" y="2692855"/>
            <a:ext cx="1741231" cy="938719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2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S→L</a:t>
            </a:r>
            <a:r>
              <a:rPr kumimoji="1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=R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R→L</a:t>
            </a:r>
            <a:r>
              <a:rPr kumimoji="1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1153468D-9074-DF1F-1F91-D63ADFDE5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514" y="2789549"/>
            <a:ext cx="50319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L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66978460-BC93-0B4B-0904-92D0C2B6A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6511" y="3673930"/>
            <a:ext cx="1746927" cy="70788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3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S→R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11" name="Text Box 13">
            <a:extLst>
              <a:ext uri="{FF2B5EF4-FFF2-40B4-BE49-F238E27FC236}">
                <a16:creationId xmlns:a16="http://schemas.microsoft.com/office/drawing/2014/main" id="{C3885DF8-EED3-26EF-4364-04159C4B1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3668" y="3611225"/>
            <a:ext cx="60954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R</a:t>
            </a:r>
          </a:p>
        </p:txBody>
      </p:sp>
      <p:sp>
        <p:nvSpPr>
          <p:cNvPr id="12" name="Text Box 14">
            <a:extLst>
              <a:ext uri="{FF2B5EF4-FFF2-40B4-BE49-F238E27FC236}">
                <a16:creationId xmlns:a16="http://schemas.microsoft.com/office/drawing/2014/main" id="{20035217-6BA5-F47A-55CF-640436364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7623" y="4466093"/>
            <a:ext cx="1745147" cy="150297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4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L→*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R→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L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, =|#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*R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2D36BD97-B586-62C2-A0C2-7C04DD680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3758" y="5697477"/>
            <a:ext cx="1774800" cy="70788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5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L→i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644EACA2-B3BB-C664-08DA-1457EEDED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0938" y="4502800"/>
            <a:ext cx="27119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*</a:t>
            </a:r>
          </a:p>
        </p:txBody>
      </p:sp>
      <p:sp>
        <p:nvSpPr>
          <p:cNvPr id="15" name="Text Box 17">
            <a:extLst>
              <a:ext uri="{FF2B5EF4-FFF2-40B4-BE49-F238E27FC236}">
                <a16:creationId xmlns:a16="http://schemas.microsoft.com/office/drawing/2014/main" id="{E66358D6-E61E-D20D-ECAA-4DDC1264C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443" y="5194435"/>
            <a:ext cx="53335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6" name="Text Box 20">
            <a:extLst>
              <a:ext uri="{FF2B5EF4-FFF2-40B4-BE49-F238E27FC236}">
                <a16:creationId xmlns:a16="http://schemas.microsoft.com/office/drawing/2014/main" id="{40243A80-F3C3-1C13-CF3D-A6B6921B5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824" y="2817442"/>
            <a:ext cx="45715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=</a:t>
            </a:r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id="{E54C7385-B951-F1D9-2048-1648A4165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7607" y="3994939"/>
            <a:ext cx="1774975" cy="70788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7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L→*R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</a:p>
        </p:txBody>
      </p:sp>
      <p:sp>
        <p:nvSpPr>
          <p:cNvPr id="18" name="Text Box 24">
            <a:extLst>
              <a:ext uri="{FF2B5EF4-FFF2-40B4-BE49-F238E27FC236}">
                <a16:creationId xmlns:a16="http://schemas.microsoft.com/office/drawing/2014/main" id="{031DC7DA-FB5A-7441-CA60-C8419561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3838" y="4819481"/>
            <a:ext cx="1774800" cy="706437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8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R→L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19" name="Text Box 26">
            <a:extLst>
              <a:ext uri="{FF2B5EF4-FFF2-40B4-BE49-F238E27FC236}">
                <a16:creationId xmlns:a16="http://schemas.microsoft.com/office/drawing/2014/main" id="{EEE8CA05-90CC-38A4-DFA4-AB10285AB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2274" y="4794355"/>
            <a:ext cx="38096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L</a:t>
            </a:r>
          </a:p>
        </p:txBody>
      </p:sp>
      <p:sp>
        <p:nvSpPr>
          <p:cNvPr id="20" name="Text Box 27">
            <a:extLst>
              <a:ext uri="{FF2B5EF4-FFF2-40B4-BE49-F238E27FC236}">
                <a16:creationId xmlns:a16="http://schemas.microsoft.com/office/drawing/2014/main" id="{1769B99A-9FD0-EABC-299D-74118EAD9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55" y="1775665"/>
            <a:ext cx="1742400" cy="70788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9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S→L=R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21" name="Text Box 29">
            <a:extLst>
              <a:ext uri="{FF2B5EF4-FFF2-40B4-BE49-F238E27FC236}">
                <a16:creationId xmlns:a16="http://schemas.microsoft.com/office/drawing/2014/main" id="{8BA42287-6A5D-400F-5ABB-B9E3202C2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5884" y="1747832"/>
            <a:ext cx="4178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R</a:t>
            </a:r>
          </a:p>
        </p:txBody>
      </p:sp>
      <p:sp>
        <p:nvSpPr>
          <p:cNvPr id="22" name="Text Box 33">
            <a:extLst>
              <a:ext uri="{FF2B5EF4-FFF2-40B4-BE49-F238E27FC236}">
                <a16:creationId xmlns:a16="http://schemas.microsoft.com/office/drawing/2014/main" id="{DB2C212D-F5E0-E20E-5F63-E19A9810B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1278" y="2492448"/>
            <a:ext cx="53335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S</a:t>
            </a:r>
          </a:p>
        </p:txBody>
      </p:sp>
      <p:sp>
        <p:nvSpPr>
          <p:cNvPr id="23" name="Text Box 35">
            <a:extLst>
              <a:ext uri="{FF2B5EF4-FFF2-40B4-BE49-F238E27FC236}">
                <a16:creationId xmlns:a16="http://schemas.microsoft.com/office/drawing/2014/main" id="{E3E02B98-E199-6767-8BF9-53A1B362E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8145" y="5459270"/>
            <a:ext cx="53335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4" name="Text Box 40">
            <a:extLst>
              <a:ext uri="{FF2B5EF4-FFF2-40B4-BE49-F238E27FC236}">
                <a16:creationId xmlns:a16="http://schemas.microsoft.com/office/drawing/2014/main" id="{B0C78962-0FCB-4FF3-5DA2-D812610EF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7032" y="5080635"/>
            <a:ext cx="30454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*</a:t>
            </a:r>
          </a:p>
        </p:txBody>
      </p:sp>
      <p:sp>
        <p:nvSpPr>
          <p:cNvPr id="25" name="Text Box 32">
            <a:extLst>
              <a:ext uri="{FF2B5EF4-FFF2-40B4-BE49-F238E27FC236}">
                <a16:creationId xmlns:a16="http://schemas.microsoft.com/office/drawing/2014/main" id="{CE570E18-CB0E-6A77-ABF4-6999E88C8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6266" y="3640680"/>
            <a:ext cx="5032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6" name="Text Box 42">
            <a:extLst>
              <a:ext uri="{FF2B5EF4-FFF2-40B4-BE49-F238E27FC236}">
                <a16:creationId xmlns:a16="http://schemas.microsoft.com/office/drawing/2014/main" id="{F7350946-79CA-FCB2-14DA-65E031F21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7596" y="1833100"/>
            <a:ext cx="1764000" cy="655638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10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R→L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27" name="Text Box 44">
            <a:extLst>
              <a:ext uri="{FF2B5EF4-FFF2-40B4-BE49-F238E27FC236}">
                <a16:creationId xmlns:a16="http://schemas.microsoft.com/office/drawing/2014/main" id="{75FA2A1F-BF5B-2475-4D0F-CE0AFA1BD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6266" y="1822023"/>
            <a:ext cx="5334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L</a:t>
            </a:r>
          </a:p>
        </p:txBody>
      </p:sp>
      <p:sp>
        <p:nvSpPr>
          <p:cNvPr id="28" name="Text Box 45">
            <a:extLst>
              <a:ext uri="{FF2B5EF4-FFF2-40B4-BE49-F238E27FC236}">
                <a16:creationId xmlns:a16="http://schemas.microsoft.com/office/drawing/2014/main" id="{169F8D7A-4360-D3A9-4A2F-1112AB8A3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7596" y="2896474"/>
            <a:ext cx="1764000" cy="150297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11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L→*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#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R→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L, 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*R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29" name="Text Box 46">
            <a:extLst>
              <a:ext uri="{FF2B5EF4-FFF2-40B4-BE49-F238E27FC236}">
                <a16:creationId xmlns:a16="http://schemas.microsoft.com/office/drawing/2014/main" id="{D6CE1072-F4E9-8FCE-D09B-EE58DA480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2372" y="2945633"/>
            <a:ext cx="360370" cy="400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*</a:t>
            </a:r>
          </a:p>
        </p:txBody>
      </p:sp>
      <p:sp>
        <p:nvSpPr>
          <p:cNvPr id="30" name="Text Box 48">
            <a:extLst>
              <a:ext uri="{FF2B5EF4-FFF2-40B4-BE49-F238E27FC236}">
                <a16:creationId xmlns:a16="http://schemas.microsoft.com/office/drawing/2014/main" id="{5602AF27-4DAA-ED4C-9443-27BD19495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7596" y="4821693"/>
            <a:ext cx="1764000" cy="708025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12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L→i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31" name="Text Box 50">
            <a:extLst>
              <a:ext uri="{FF2B5EF4-FFF2-40B4-BE49-F238E27FC236}">
                <a16:creationId xmlns:a16="http://schemas.microsoft.com/office/drawing/2014/main" id="{2D765F90-49B3-E7A5-38D2-9CF697C0E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7596" y="5683030"/>
            <a:ext cx="1764000" cy="70788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13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L→*R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32" name="Text Box 52">
            <a:extLst>
              <a:ext uri="{FF2B5EF4-FFF2-40B4-BE49-F238E27FC236}">
                <a16:creationId xmlns:a16="http://schemas.microsoft.com/office/drawing/2014/main" id="{2198571F-74A8-E52B-592F-3C56EBDFC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72901" y="5016769"/>
            <a:ext cx="3107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R</a:t>
            </a:r>
          </a:p>
        </p:txBody>
      </p:sp>
      <p:sp>
        <p:nvSpPr>
          <p:cNvPr id="33" name="Text Box 54">
            <a:extLst>
              <a:ext uri="{FF2B5EF4-FFF2-40B4-BE49-F238E27FC236}">
                <a16:creationId xmlns:a16="http://schemas.microsoft.com/office/drawing/2014/main" id="{D97FB95A-DCC8-A2EB-5F62-0419927B1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8867" y="3240533"/>
            <a:ext cx="533414" cy="400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*</a:t>
            </a:r>
          </a:p>
        </p:txBody>
      </p:sp>
      <p:sp>
        <p:nvSpPr>
          <p:cNvPr id="34" name="Text Box 55">
            <a:extLst>
              <a:ext uri="{FF2B5EF4-FFF2-40B4-BE49-F238E27FC236}">
                <a16:creationId xmlns:a16="http://schemas.microsoft.com/office/drawing/2014/main" id="{E3680FB8-6D1C-823A-C97C-8CA8E0486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6077" y="2492379"/>
            <a:ext cx="3810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L</a:t>
            </a:r>
          </a:p>
        </p:txBody>
      </p:sp>
      <p:sp>
        <p:nvSpPr>
          <p:cNvPr id="35" name="Text Box 17">
            <a:extLst>
              <a:ext uri="{FF2B5EF4-FFF2-40B4-BE49-F238E27FC236}">
                <a16:creationId xmlns:a16="http://schemas.microsoft.com/office/drawing/2014/main" id="{EFB27BB3-C8F2-9356-BE46-78043EDE1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6077" y="4466063"/>
            <a:ext cx="5334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6" name="Text Box 18">
            <a:extLst>
              <a:ext uri="{FF2B5EF4-FFF2-40B4-BE49-F238E27FC236}">
                <a16:creationId xmlns:a16="http://schemas.microsoft.com/office/drawing/2014/main" id="{C804DA3B-8689-10B2-149A-F040CAA4F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3126" y="1841050"/>
            <a:ext cx="1774800" cy="1631950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6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S→L=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 , #</a:t>
            </a:r>
          </a:p>
          <a:p>
            <a:pPr marL="0" marR="0" lvl="0" indent="0" defTabSz="91440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R→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L , #</a:t>
            </a:r>
          </a:p>
          <a:p>
            <a:pPr marL="0" marR="0" lvl="0" indent="0" defTabSz="91440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*R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  <a:p>
            <a:pPr marL="0" marR="0" lvl="0" indent="0" defTabSz="91440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38" name="矩形 2">
            <a:extLst>
              <a:ext uri="{FF2B5EF4-FFF2-40B4-BE49-F238E27FC236}">
                <a16:creationId xmlns:a16="http://schemas.microsoft.com/office/drawing/2014/main" id="{7901345E-F56D-664C-D3FA-6F8F43ED9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060" y="1118400"/>
            <a:ext cx="18533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0E7C7E"/>
                </a:solidFill>
                <a:latin typeface="+mn-ea"/>
                <a:cs typeface="Times New Roman" panose="02020603050405020304" pitchFamily="18" charset="0"/>
              </a:rPr>
              <a:t>LR(1)</a:t>
            </a:r>
            <a:r>
              <a:rPr lang="zh-CN" altLang="en-US" dirty="0">
                <a:solidFill>
                  <a:srgbClr val="0E7C7E"/>
                </a:solidFill>
                <a:latin typeface="+mn-ea"/>
                <a:cs typeface="Times New Roman" panose="02020603050405020304" pitchFamily="18" charset="0"/>
              </a:rPr>
              <a:t>自动机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A5BF5B4C-E3D6-0E53-90B2-4AFD63C4E9CA}"/>
              </a:ext>
            </a:extLst>
          </p:cNvPr>
          <p:cNvCxnSpPr>
            <a:cxnSpLocks/>
          </p:cNvCxnSpPr>
          <p:nvPr/>
        </p:nvCxnSpPr>
        <p:spPr>
          <a:xfrm flipV="1">
            <a:off x="4217773" y="3152382"/>
            <a:ext cx="489850" cy="30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7F3FD769-C2EB-C61B-2DE1-2F809CA97781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H="1" flipV="1">
            <a:off x="3371633" y="2469524"/>
            <a:ext cx="3629" cy="4266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01ADE850-1DB6-2A73-EDAC-AFED56336FEA}"/>
              </a:ext>
            </a:extLst>
          </p:cNvPr>
          <p:cNvCxnSpPr>
            <a:cxnSpLocks/>
          </p:cNvCxnSpPr>
          <p:nvPr/>
        </p:nvCxnSpPr>
        <p:spPr>
          <a:xfrm flipV="1">
            <a:off x="4207331" y="4010632"/>
            <a:ext cx="489850" cy="30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连接符: 曲线 48">
            <a:extLst>
              <a:ext uri="{FF2B5EF4-FFF2-40B4-BE49-F238E27FC236}">
                <a16:creationId xmlns:a16="http://schemas.microsoft.com/office/drawing/2014/main" id="{E89E92E7-323D-A9EC-5483-A6DD4A9B519E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03585" y="5016769"/>
            <a:ext cx="918" cy="429146"/>
          </a:xfrm>
          <a:prstGeom prst="curvedConnector3">
            <a:avLst>
              <a:gd name="adj1" fmla="val 25001961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C9AA271-9AAA-D286-9128-D152761A7B26}"/>
              </a:ext>
            </a:extLst>
          </p:cNvPr>
          <p:cNvCxnSpPr>
            <a:cxnSpLocks/>
            <a:endCxn id="20" idx="3"/>
          </p:cNvCxnSpPr>
          <p:nvPr/>
        </p:nvCxnSpPr>
        <p:spPr>
          <a:xfrm flipH="1">
            <a:off x="6428755" y="2129608"/>
            <a:ext cx="56538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C9D564B9-F835-51C5-DF76-E5F6BCD52FB3}"/>
              </a:ext>
            </a:extLst>
          </p:cNvPr>
          <p:cNvCxnSpPr>
            <a:cxnSpLocks/>
          </p:cNvCxnSpPr>
          <p:nvPr/>
        </p:nvCxnSpPr>
        <p:spPr>
          <a:xfrm>
            <a:off x="6460698" y="3188272"/>
            <a:ext cx="53673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2C0CB5D7-0948-D862-779F-DF78A0659CEF}"/>
              </a:ext>
            </a:extLst>
          </p:cNvPr>
          <p:cNvCxnSpPr>
            <a:cxnSpLocks/>
          </p:cNvCxnSpPr>
          <p:nvPr/>
        </p:nvCxnSpPr>
        <p:spPr>
          <a:xfrm>
            <a:off x="6465428" y="4548153"/>
            <a:ext cx="52211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Box 23">
            <a:extLst>
              <a:ext uri="{FF2B5EF4-FFF2-40B4-BE49-F238E27FC236}">
                <a16:creationId xmlns:a16="http://schemas.microsoft.com/office/drawing/2014/main" id="{C1B1A052-B615-6E49-8912-E8F7E294E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7077" y="4201035"/>
            <a:ext cx="45715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R</a:t>
            </a: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7AAC094-E465-CB2D-CB2D-318C3E122A3B}"/>
              </a:ext>
            </a:extLst>
          </p:cNvPr>
          <p:cNvCxnSpPr>
            <a:cxnSpLocks/>
          </p:cNvCxnSpPr>
          <p:nvPr/>
        </p:nvCxnSpPr>
        <p:spPr>
          <a:xfrm>
            <a:off x="6457408" y="5165771"/>
            <a:ext cx="52211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0203D3CE-E64C-B926-D8AC-54C847D9AEBF}"/>
              </a:ext>
            </a:extLst>
          </p:cNvPr>
          <p:cNvCxnSpPr>
            <a:cxnSpLocks/>
          </p:cNvCxnSpPr>
          <p:nvPr/>
        </p:nvCxnSpPr>
        <p:spPr>
          <a:xfrm>
            <a:off x="6454212" y="5827194"/>
            <a:ext cx="522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F53EEE79-3E77-6360-E58A-826067A29D5F}"/>
              </a:ext>
            </a:extLst>
          </p:cNvPr>
          <p:cNvCxnSpPr>
            <a:cxnSpLocks/>
          </p:cNvCxnSpPr>
          <p:nvPr/>
        </p:nvCxnSpPr>
        <p:spPr>
          <a:xfrm>
            <a:off x="8813064" y="2160919"/>
            <a:ext cx="7904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6D3D811B-103E-1179-31CC-8214F3809C71}"/>
              </a:ext>
            </a:extLst>
          </p:cNvPr>
          <p:cNvCxnSpPr>
            <a:cxnSpLocks/>
          </p:cNvCxnSpPr>
          <p:nvPr/>
        </p:nvCxnSpPr>
        <p:spPr>
          <a:xfrm>
            <a:off x="8805044" y="3275839"/>
            <a:ext cx="7904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A23C80F1-3491-B69E-B539-761FDACD6825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8777926" y="3493792"/>
            <a:ext cx="809670" cy="168191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C81B54BE-A6EF-D23F-C78A-806B97C2E59F}"/>
              </a:ext>
            </a:extLst>
          </p:cNvPr>
          <p:cNvCxnSpPr>
            <a:cxnSpLocks/>
            <a:stCxn id="28" idx="2"/>
            <a:endCxn id="30" idx="0"/>
          </p:cNvCxnSpPr>
          <p:nvPr/>
        </p:nvCxnSpPr>
        <p:spPr>
          <a:xfrm>
            <a:off x="10469596" y="4399450"/>
            <a:ext cx="0" cy="42224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1BE4D535-1C13-BC76-F9DB-A5CE70645836}"/>
              </a:ext>
            </a:extLst>
          </p:cNvPr>
          <p:cNvCxnSpPr>
            <a:cxnSpLocks/>
            <a:stCxn id="28" idx="0"/>
            <a:endCxn id="26" idx="2"/>
          </p:cNvCxnSpPr>
          <p:nvPr/>
        </p:nvCxnSpPr>
        <p:spPr>
          <a:xfrm flipV="1">
            <a:off x="10469596" y="2488738"/>
            <a:ext cx="0" cy="4077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曲线 60">
            <a:extLst>
              <a:ext uri="{FF2B5EF4-FFF2-40B4-BE49-F238E27FC236}">
                <a16:creationId xmlns:a16="http://schemas.microsoft.com/office/drawing/2014/main" id="{86332B7C-09DB-F095-C4C0-5A97D7C44240}"/>
              </a:ext>
            </a:extLst>
          </p:cNvPr>
          <p:cNvCxnSpPr>
            <a:cxnSpLocks/>
          </p:cNvCxnSpPr>
          <p:nvPr/>
        </p:nvCxnSpPr>
        <p:spPr>
          <a:xfrm flipH="1">
            <a:off x="11338960" y="3345137"/>
            <a:ext cx="918" cy="429146"/>
          </a:xfrm>
          <a:prstGeom prst="curvedConnector3">
            <a:avLst>
              <a:gd name="adj1" fmla="val -24901961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EAF2B548-6656-12CC-AD7E-8D0D5E65E0B7}"/>
              </a:ext>
            </a:extLst>
          </p:cNvPr>
          <p:cNvCxnSpPr>
            <a:cxnSpLocks/>
          </p:cNvCxnSpPr>
          <p:nvPr/>
        </p:nvCxnSpPr>
        <p:spPr>
          <a:xfrm flipV="1">
            <a:off x="4217775" y="4804712"/>
            <a:ext cx="489850" cy="30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51C4027B-D4F8-326D-58A1-F590C329C828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4591285" y="3834631"/>
            <a:ext cx="1142631" cy="3574677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曲线 63">
            <a:extLst>
              <a:ext uri="{FF2B5EF4-FFF2-40B4-BE49-F238E27FC236}">
                <a16:creationId xmlns:a16="http://schemas.microsoft.com/office/drawing/2014/main" id="{55C79FA6-6611-CA30-7313-C67B3C3873A8}"/>
              </a:ext>
            </a:extLst>
          </p:cNvPr>
          <p:cNvCxnSpPr>
            <a:cxnSpLocks/>
          </p:cNvCxnSpPr>
          <p:nvPr/>
        </p:nvCxnSpPr>
        <p:spPr>
          <a:xfrm>
            <a:off x="11346284" y="4217077"/>
            <a:ext cx="12700" cy="1812938"/>
          </a:xfrm>
          <a:prstGeom prst="curvedConnector3">
            <a:avLst>
              <a:gd name="adj1" fmla="val 180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AB15CC73-8859-1D91-569D-D09A547F4564}"/>
              </a:ext>
            </a:extLst>
          </p:cNvPr>
          <p:cNvSpPr txBox="1"/>
          <p:nvPr/>
        </p:nvSpPr>
        <p:spPr>
          <a:xfrm>
            <a:off x="2152279" y="2876011"/>
            <a:ext cx="446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b="1" dirty="0">
                <a:latin typeface="Times New Roman" pitchFamily="18" charset="0"/>
                <a:sym typeface="Symbol" pitchFamily="18" charset="2"/>
              </a:rPr>
              <a:t></a:t>
            </a:r>
            <a:endParaRPr lang="en-US" altLang="zh-CN" b="1" dirty="0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B46CB2C1-F68D-4324-A5A5-7C799B5886B5}"/>
              </a:ext>
            </a:extLst>
          </p:cNvPr>
          <p:cNvGrpSpPr/>
          <p:nvPr/>
        </p:nvGrpSpPr>
        <p:grpSpPr>
          <a:xfrm>
            <a:off x="599990" y="1731902"/>
            <a:ext cx="1498650" cy="2266039"/>
            <a:chOff x="275126" y="1816126"/>
            <a:chExt cx="1498650" cy="2266039"/>
          </a:xfrm>
        </p:grpSpPr>
        <p:sp>
          <p:nvSpPr>
            <p:cNvPr id="68" name="Rectangle 37">
              <a:extLst>
                <a:ext uri="{FF2B5EF4-FFF2-40B4-BE49-F238E27FC236}">
                  <a16:creationId xmlns:a16="http://schemas.microsoft.com/office/drawing/2014/main" id="{752EB247-4178-3F27-960F-4D9E16722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727" y="1816126"/>
              <a:ext cx="1497049" cy="2263037"/>
            </a:xfrm>
            <a:prstGeom prst="roundRect">
              <a:avLst>
                <a:gd name="adj" fmla="val 5415"/>
              </a:avLst>
            </a:prstGeom>
            <a:solidFill>
              <a:schemeClr val="bg1"/>
            </a:solidFill>
            <a:ln w="12700">
              <a:solidFill>
                <a:srgbClr val="0E7C7E"/>
              </a:solidFill>
            </a:ln>
            <a:effectLst>
              <a:outerShdw blurRad="50800" dist="50800" dir="2700000" algn="ctr" rotWithShape="0">
                <a:schemeClr val="tx1"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0) </a:t>
              </a: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S</a:t>
              </a:r>
              <a:r>
                <a:rPr kumimoji="0" lang="en-US" altLang="zh-CN" sz="16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′ </a:t>
              </a: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→S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1) S→L=R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2) S→R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3) L→*R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4) L→i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5) R→L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0" lang="en-US" altLang="zh-CN" sz="80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cs typeface="华文楷体" pitchFamily="2" charset="-122"/>
              </a:endParaRPr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F240E205-5B32-E7CC-1814-6C69889E8332}"/>
                </a:ext>
              </a:extLst>
            </p:cNvPr>
            <p:cNvSpPr/>
            <p:nvPr/>
          </p:nvSpPr>
          <p:spPr>
            <a:xfrm>
              <a:off x="275126" y="3789751"/>
              <a:ext cx="1494000" cy="292414"/>
            </a:xfrm>
            <a:custGeom>
              <a:avLst/>
              <a:gdLst>
                <a:gd name="connsiteX0" fmla="*/ 2895600 w 2895600"/>
                <a:gd name="connsiteY0" fmla="*/ 0 h 535860"/>
                <a:gd name="connsiteX1" fmla="*/ 2895600 w 2895600"/>
                <a:gd name="connsiteY1" fmla="*/ 396147 h 535860"/>
                <a:gd name="connsiteX2" fmla="*/ 2755887 w 2895600"/>
                <a:gd name="connsiteY2" fmla="*/ 535860 h 535860"/>
                <a:gd name="connsiteX3" fmla="*/ 139713 w 2895600"/>
                <a:gd name="connsiteY3" fmla="*/ 535860 h 535860"/>
                <a:gd name="connsiteX4" fmla="*/ 0 w 2895600"/>
                <a:gd name="connsiteY4" fmla="*/ 396147 h 535860"/>
                <a:gd name="connsiteX5" fmla="*/ 0 w 2895600"/>
                <a:gd name="connsiteY5" fmla="*/ 203266 h 535860"/>
                <a:gd name="connsiteX6" fmla="*/ 9301 w 2895600"/>
                <a:gd name="connsiteY6" fmla="*/ 207843 h 535860"/>
                <a:gd name="connsiteX7" fmla="*/ 1274905 w 2895600"/>
                <a:gd name="connsiteY7" fmla="*/ 453829 h 535860"/>
                <a:gd name="connsiteX8" fmla="*/ 2810218 w 2895600"/>
                <a:gd name="connsiteY8" fmla="*/ 61819 h 5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600" h="535860">
                  <a:moveTo>
                    <a:pt x="2895600" y="0"/>
                  </a:moveTo>
                  <a:lnTo>
                    <a:pt x="2895600" y="396147"/>
                  </a:lnTo>
                  <a:cubicBezTo>
                    <a:pt x="2895600" y="473308"/>
                    <a:pt x="2833048" y="535860"/>
                    <a:pt x="2755887" y="535860"/>
                  </a:cubicBezTo>
                  <a:lnTo>
                    <a:pt x="139713" y="535860"/>
                  </a:lnTo>
                  <a:cubicBezTo>
                    <a:pt x="62552" y="535860"/>
                    <a:pt x="0" y="473308"/>
                    <a:pt x="0" y="396147"/>
                  </a:cubicBezTo>
                  <a:lnTo>
                    <a:pt x="0" y="203266"/>
                  </a:lnTo>
                  <a:lnTo>
                    <a:pt x="9301" y="207843"/>
                  </a:lnTo>
                  <a:cubicBezTo>
                    <a:pt x="353230" y="361516"/>
                    <a:pt x="794156" y="453829"/>
                    <a:pt x="1274905" y="453829"/>
                  </a:cubicBezTo>
                  <a:cubicBezTo>
                    <a:pt x="1893011" y="453829"/>
                    <a:pt x="2445286" y="301229"/>
                    <a:pt x="2810218" y="61819"/>
                  </a:cubicBezTo>
                  <a:close/>
                </a:path>
              </a:pathLst>
            </a:custGeom>
            <a:solidFill>
              <a:srgbClr val="1996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B3FBF4F-D2C3-EE82-CD8D-2B9B05F55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3157746" cy="617641"/>
          </a:xfrm>
        </p:spPr>
        <p:txBody>
          <a:bodyPr/>
          <a:lstStyle/>
          <a:p>
            <a:r>
              <a:rPr lang="zh-CN" altLang="en-US" dirty="0"/>
              <a:t>构造自动机</a:t>
            </a:r>
          </a:p>
        </p:txBody>
      </p:sp>
    </p:spTree>
    <p:extLst>
      <p:ext uri="{BB962C8B-B14F-4D97-AF65-F5344CB8AC3E}">
        <p14:creationId xmlns:p14="http://schemas.microsoft.com/office/powerpoint/2010/main" val="2083229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A57C12F-9ED5-AE8E-E61B-A6A89E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LR</a:t>
            </a:r>
            <a:r>
              <a:rPr lang="zh-CN" altLang="en-US" dirty="0"/>
              <a:t>分析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7DDD7C0-A86B-8B90-182C-92520FC73D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800833"/>
              </p:ext>
            </p:extLst>
          </p:nvPr>
        </p:nvGraphicFramePr>
        <p:xfrm>
          <a:off x="6776219" y="875255"/>
          <a:ext cx="5085313" cy="5486582"/>
        </p:xfrm>
        <a:graphic>
          <a:graphicData uri="http://schemas.openxmlformats.org/drawingml/2006/table">
            <a:tbl>
              <a:tblPr>
                <a:effectLst>
                  <a:outerShdw blurRad="50800" dist="50800" dir="2700000" algn="ctr" rotWithShape="0">
                    <a:schemeClr val="tx1">
                      <a:alpha val="40000"/>
                    </a:schemeClr>
                  </a:outerShdw>
                </a:effectLst>
              </a:tblPr>
              <a:tblGrid>
                <a:gridCol w="749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2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3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45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2025">
                <a:tc rowSpan="2"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en-US" altLang="zh-CN" sz="1800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  <a:p>
                      <a:pPr lvl="0" algn="l" eaLnBrk="1" hangingPunct="1">
                        <a:buNone/>
                      </a:pPr>
                      <a:r>
                        <a:rPr lang="zh-CN" altLang="en-US" sz="1800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状态</a:t>
                      </a:r>
                    </a:p>
                  </a:txBody>
                  <a:tcPr marL="91444" marR="91444" marT="34291" marB="34291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tc gridSpan="4"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ACTION</a:t>
                      </a:r>
                      <a:endParaRPr lang="zh-CN" altLang="en-US" sz="1800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GOTO</a:t>
                      </a:r>
                      <a:endParaRPr lang="zh-CN" altLang="en-US" sz="1800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02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800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</a:t>
                      </a:r>
                      <a:endParaRPr lang="zh-CN" altLang="en-US" sz="1800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=</a:t>
                      </a:r>
                      <a:endParaRPr lang="zh-CN" altLang="en-US" sz="1800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zh-CN" altLang="en-US" sz="1800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800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</a:t>
                      </a:r>
                      <a:endParaRPr lang="zh-CN" altLang="en-US" sz="1800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R</a:t>
                      </a:r>
                      <a:endParaRPr lang="zh-CN" altLang="en-US" sz="1800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025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8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s4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s5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2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1800" b="0" i="0" dirty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024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acc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 dirty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025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zh-CN" altLang="en-US" sz="1800" b="1" i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s6</a:t>
                      </a:r>
                      <a:endParaRPr lang="zh-CN" altLang="en-US" sz="1800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r5</a:t>
                      </a:r>
                      <a:endParaRPr lang="zh-CN" altLang="en-US" sz="1800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 dirty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024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zh-CN" altLang="en-US" sz="1800" b="1" i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r2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 dirty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025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zh-CN" altLang="en-US" sz="1800" b="1" i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s4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s5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8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7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024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zh-CN" altLang="en-US" sz="1800" b="1" i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r4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r4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 dirty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025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zh-CN" altLang="en-US" sz="18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s11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s12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10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 dirty="0">
                          <a:latin typeface="+mn-ea"/>
                          <a:ea typeface="+mn-ea"/>
                        </a:rPr>
                        <a:t>9</a:t>
                      </a:r>
                      <a:endParaRPr lang="zh-CN" altLang="en-US" sz="1800" b="0" i="0" dirty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024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zh-CN" altLang="en-US" sz="18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r3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r3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 dirty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2025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zh-CN" altLang="en-US" sz="18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r5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r5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 dirty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2024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zh-CN" altLang="en-US" sz="18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r1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 dirty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2025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zh-CN" altLang="en-US" sz="18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r5</a:t>
                      </a:r>
                      <a:endParaRPr lang="zh-CN" altLang="en-US" sz="1800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 dirty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2024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zh-CN" altLang="en-US" sz="18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s11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s12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>
                          <a:latin typeface="+mn-ea"/>
                          <a:ea typeface="+mn-ea"/>
                        </a:rPr>
                        <a:t>10</a:t>
                      </a: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 dirty="0">
                          <a:latin typeface="+mn-ea"/>
                          <a:ea typeface="+mn-ea"/>
                        </a:rPr>
                        <a:t>13</a:t>
                      </a:r>
                      <a:endParaRPr lang="zh-CN" altLang="en-US" sz="1800" b="0" i="0" dirty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2025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zh-CN" altLang="en-US" sz="18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r4</a:t>
                      </a:r>
                      <a:endParaRPr lang="zh-CN" altLang="en-US" sz="1800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 dirty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2024"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13</a:t>
                      </a:r>
                      <a:endParaRPr lang="zh-CN" altLang="en-US" sz="18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44" marR="91444" marT="34291" marB="34291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 dirty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800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r3</a:t>
                      </a:r>
                      <a:endParaRPr lang="zh-CN" altLang="en-US" sz="1800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endParaRPr lang="zh-CN" altLang="en-US" sz="1800" b="0" i="0" dirty="0">
                        <a:latin typeface="+mn-ea"/>
                        <a:ea typeface="+mn-ea"/>
                      </a:endParaRPr>
                    </a:p>
                  </a:txBody>
                  <a:tcPr marL="91446" marR="91446" marT="34296" marB="34296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A6DE7401-0A30-2FA3-F979-F8BAA554E6C0}"/>
              </a:ext>
            </a:extLst>
          </p:cNvPr>
          <p:cNvGrpSpPr/>
          <p:nvPr/>
        </p:nvGrpSpPr>
        <p:grpSpPr>
          <a:xfrm>
            <a:off x="4996296" y="875255"/>
            <a:ext cx="1498650" cy="2029636"/>
            <a:chOff x="275126" y="1816126"/>
            <a:chExt cx="1498650" cy="2029636"/>
          </a:xfrm>
        </p:grpSpPr>
        <p:sp>
          <p:nvSpPr>
            <p:cNvPr id="6" name="Rectangle 37">
              <a:extLst>
                <a:ext uri="{FF2B5EF4-FFF2-40B4-BE49-F238E27FC236}">
                  <a16:creationId xmlns:a16="http://schemas.microsoft.com/office/drawing/2014/main" id="{3C2FEE02-F1DC-376D-6436-FF4771646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727" y="1816126"/>
              <a:ext cx="1497049" cy="2029636"/>
            </a:xfrm>
            <a:prstGeom prst="roundRect">
              <a:avLst>
                <a:gd name="adj" fmla="val 5415"/>
              </a:avLst>
            </a:prstGeom>
            <a:solidFill>
              <a:schemeClr val="bg1"/>
            </a:solidFill>
            <a:ln w="12700">
              <a:solidFill>
                <a:srgbClr val="0E7C7E"/>
              </a:solidFill>
            </a:ln>
            <a:effectLst>
              <a:outerShdw blurRad="50800" dist="50800" dir="2700000" algn="ctr" rotWithShape="0">
                <a:schemeClr val="tx1"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zh-CN" sz="16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0) </a:t>
              </a:r>
              <a:r>
                <a:rPr kumimoji="0" lang="en-US" altLang="zh-CN" sz="16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S′ →S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6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1) S→L=R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6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2) S→R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6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3) L→*R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6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4) L→i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6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5) R→L</a:t>
              </a:r>
            </a:p>
            <a:p>
              <a:pPr marL="609600" marR="0" lvl="0" indent="-609600" defTabSz="914400" eaLnBrk="1" fontAlgn="base" latinLnBrk="0" hangingPunct="1">
                <a:lnSpc>
                  <a:spcPts val="8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0" lang="en-US" altLang="zh-CN" sz="60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cs typeface="华文楷体" pitchFamily="2" charset="-122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E05778A-996F-7D73-50CA-167B370E9D89}"/>
                </a:ext>
              </a:extLst>
            </p:cNvPr>
            <p:cNvSpPr/>
            <p:nvPr/>
          </p:nvSpPr>
          <p:spPr>
            <a:xfrm>
              <a:off x="275126" y="3549721"/>
              <a:ext cx="1494000" cy="292414"/>
            </a:xfrm>
            <a:custGeom>
              <a:avLst/>
              <a:gdLst>
                <a:gd name="connsiteX0" fmla="*/ 2895600 w 2895600"/>
                <a:gd name="connsiteY0" fmla="*/ 0 h 535860"/>
                <a:gd name="connsiteX1" fmla="*/ 2895600 w 2895600"/>
                <a:gd name="connsiteY1" fmla="*/ 396147 h 535860"/>
                <a:gd name="connsiteX2" fmla="*/ 2755887 w 2895600"/>
                <a:gd name="connsiteY2" fmla="*/ 535860 h 535860"/>
                <a:gd name="connsiteX3" fmla="*/ 139713 w 2895600"/>
                <a:gd name="connsiteY3" fmla="*/ 535860 h 535860"/>
                <a:gd name="connsiteX4" fmla="*/ 0 w 2895600"/>
                <a:gd name="connsiteY4" fmla="*/ 396147 h 535860"/>
                <a:gd name="connsiteX5" fmla="*/ 0 w 2895600"/>
                <a:gd name="connsiteY5" fmla="*/ 203266 h 535860"/>
                <a:gd name="connsiteX6" fmla="*/ 9301 w 2895600"/>
                <a:gd name="connsiteY6" fmla="*/ 207843 h 535860"/>
                <a:gd name="connsiteX7" fmla="*/ 1274905 w 2895600"/>
                <a:gd name="connsiteY7" fmla="*/ 453829 h 535860"/>
                <a:gd name="connsiteX8" fmla="*/ 2810218 w 2895600"/>
                <a:gd name="connsiteY8" fmla="*/ 61819 h 5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600" h="535860">
                  <a:moveTo>
                    <a:pt x="2895600" y="0"/>
                  </a:moveTo>
                  <a:lnTo>
                    <a:pt x="2895600" y="396147"/>
                  </a:lnTo>
                  <a:cubicBezTo>
                    <a:pt x="2895600" y="473308"/>
                    <a:pt x="2833048" y="535860"/>
                    <a:pt x="2755887" y="535860"/>
                  </a:cubicBezTo>
                  <a:lnTo>
                    <a:pt x="139713" y="535860"/>
                  </a:lnTo>
                  <a:cubicBezTo>
                    <a:pt x="62552" y="535860"/>
                    <a:pt x="0" y="473308"/>
                    <a:pt x="0" y="396147"/>
                  </a:cubicBezTo>
                  <a:lnTo>
                    <a:pt x="0" y="203266"/>
                  </a:lnTo>
                  <a:lnTo>
                    <a:pt x="9301" y="207843"/>
                  </a:lnTo>
                  <a:cubicBezTo>
                    <a:pt x="353230" y="361516"/>
                    <a:pt x="794156" y="453829"/>
                    <a:pt x="1274905" y="453829"/>
                  </a:cubicBezTo>
                  <a:cubicBezTo>
                    <a:pt x="1893011" y="453829"/>
                    <a:pt x="2445286" y="301229"/>
                    <a:pt x="2810218" y="61819"/>
                  </a:cubicBezTo>
                  <a:close/>
                </a:path>
              </a:pathLst>
            </a:custGeom>
            <a:solidFill>
              <a:srgbClr val="1996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" name="内容占位符 1">
            <a:extLst>
              <a:ext uri="{FF2B5EF4-FFF2-40B4-BE49-F238E27FC236}">
                <a16:creationId xmlns:a16="http://schemas.microsoft.com/office/drawing/2014/main" id="{EC6F6AC4-F30D-8D9E-5F48-AC579E9B8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3157746" cy="617641"/>
          </a:xfrm>
        </p:spPr>
        <p:txBody>
          <a:bodyPr/>
          <a:lstStyle/>
          <a:p>
            <a:r>
              <a:rPr lang="en-US" altLang="zh-CN" dirty="0"/>
              <a:t>LR(1)</a:t>
            </a:r>
            <a:r>
              <a:rPr lang="zh-CN" altLang="en-US" dirty="0"/>
              <a:t>分析表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C556D97-8F6D-E1D2-6F14-B2F3DED60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42" y="3167595"/>
            <a:ext cx="6476216" cy="319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593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AF4CDF1-6262-B4C8-4452-568D8C9A6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3602915" cy="806372"/>
          </a:xfrm>
        </p:spPr>
        <p:txBody>
          <a:bodyPr/>
          <a:lstStyle/>
          <a:p>
            <a:r>
              <a:rPr lang="zh-CN" altLang="en-US" dirty="0"/>
              <a:t>分析串</a:t>
            </a:r>
            <a:r>
              <a:rPr lang="en-US" altLang="zh-CN" dirty="0"/>
              <a:t>: a = *b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1B93087-5562-E4A5-9CFE-429A4E60D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LR</a:t>
            </a:r>
            <a:r>
              <a:rPr lang="zh-CN" altLang="en-US" dirty="0"/>
              <a:t>分析</a:t>
            </a:r>
          </a:p>
        </p:txBody>
      </p:sp>
      <p:graphicFrame>
        <p:nvGraphicFramePr>
          <p:cNvPr id="65" name="表格 64">
            <a:extLst>
              <a:ext uri="{FF2B5EF4-FFF2-40B4-BE49-F238E27FC236}">
                <a16:creationId xmlns:a16="http://schemas.microsoft.com/office/drawing/2014/main" id="{D4FFBD28-B5CE-25C5-8B4F-CBD85EC89B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354470"/>
              </p:ext>
            </p:extLst>
          </p:nvPr>
        </p:nvGraphicFramePr>
        <p:xfrm>
          <a:off x="5343469" y="1225814"/>
          <a:ext cx="6360709" cy="42096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2700000" algn="ctr" rotWithShape="0">
                    <a:schemeClr val="tx1">
                      <a:alpha val="40000"/>
                    </a:schemeClr>
                  </a:outerShdw>
                </a:effectLst>
                <a:tableStyleId>{5C22544A-7EE6-4342-B048-85BDC9FD1C3A}</a:tableStyleId>
              </a:tblPr>
              <a:tblGrid>
                <a:gridCol w="738811">
                  <a:extLst>
                    <a:ext uri="{9D8B030D-6E8A-4147-A177-3AD203B41FA5}">
                      <a16:colId xmlns:a16="http://schemas.microsoft.com/office/drawing/2014/main" val="4087475358"/>
                    </a:ext>
                  </a:extLst>
                </a:gridCol>
                <a:gridCol w="1065500">
                  <a:extLst>
                    <a:ext uri="{9D8B030D-6E8A-4147-A177-3AD203B41FA5}">
                      <a16:colId xmlns:a16="http://schemas.microsoft.com/office/drawing/2014/main" val="3493433615"/>
                    </a:ext>
                  </a:extLst>
                </a:gridCol>
                <a:gridCol w="1257641">
                  <a:extLst>
                    <a:ext uri="{9D8B030D-6E8A-4147-A177-3AD203B41FA5}">
                      <a16:colId xmlns:a16="http://schemas.microsoft.com/office/drawing/2014/main" val="2011962454"/>
                    </a:ext>
                  </a:extLst>
                </a:gridCol>
                <a:gridCol w="952754">
                  <a:extLst>
                    <a:ext uri="{9D8B030D-6E8A-4147-A177-3AD203B41FA5}">
                      <a16:colId xmlns:a16="http://schemas.microsoft.com/office/drawing/2014/main" val="3742598309"/>
                    </a:ext>
                  </a:extLst>
                </a:gridCol>
                <a:gridCol w="1479884">
                  <a:extLst>
                    <a:ext uri="{9D8B030D-6E8A-4147-A177-3AD203B41FA5}">
                      <a16:colId xmlns:a16="http://schemas.microsoft.com/office/drawing/2014/main" val="2728506516"/>
                    </a:ext>
                  </a:extLst>
                </a:gridCol>
                <a:gridCol w="866119">
                  <a:extLst>
                    <a:ext uri="{9D8B030D-6E8A-4147-A177-3AD203B41FA5}">
                      <a16:colId xmlns:a16="http://schemas.microsoft.com/office/drawing/2014/main" val="17743110"/>
                    </a:ext>
                  </a:extLst>
                </a:gridCol>
              </a:tblGrid>
              <a:tr h="402995">
                <a:tc>
                  <a:txBody>
                    <a:bodyPr/>
                    <a:lstStyle/>
                    <a:p>
                      <a:r>
                        <a:rPr lang="zh-CN" altLang="en-US" sz="1800" b="0" dirty="0"/>
                        <a:t>步骤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/>
                        <a:t>状态栈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/>
                        <a:t>符号栈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/>
                        <a:t>输入串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/>
                        <a:t>ACTION</a:t>
                      </a:r>
                      <a:endParaRPr lang="zh-CN" altLang="en-US" sz="1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/>
                        <a:t>GOTO</a:t>
                      </a:r>
                      <a:endParaRPr lang="zh-CN" altLang="en-US" sz="1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550696"/>
                  </a:ext>
                </a:extLst>
              </a:tr>
              <a:tr h="346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E7C7E"/>
                          </a:solidFill>
                        </a:rPr>
                        <a:t>0</a:t>
                      </a:r>
                      <a:endParaRPr lang="zh-CN" altLang="en-US" sz="1600" dirty="0">
                        <a:solidFill>
                          <a:srgbClr val="0E7C7E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#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 err="1"/>
                        <a:t>i</a:t>
                      </a:r>
                      <a:r>
                        <a:rPr lang="en-US" altLang="zh-CN" sz="1600" dirty="0"/>
                        <a:t>=*</a:t>
                      </a:r>
                      <a:r>
                        <a:rPr lang="en-US" altLang="zh-CN" sz="1600" dirty="0" err="1"/>
                        <a:t>i</a:t>
                      </a:r>
                      <a:r>
                        <a:rPr lang="en-US" altLang="zh-CN" sz="1600" dirty="0"/>
                        <a:t>#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S5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428029"/>
                  </a:ext>
                </a:extLst>
              </a:tr>
              <a:tr h="346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E7C7E"/>
                          </a:solidFill>
                        </a:rPr>
                        <a:t>1</a:t>
                      </a:r>
                      <a:endParaRPr lang="zh-CN" altLang="en-US" sz="1600" dirty="0">
                        <a:solidFill>
                          <a:srgbClr val="0E7C7E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05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#i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=*</a:t>
                      </a:r>
                      <a:r>
                        <a:rPr lang="en-US" altLang="zh-CN" sz="1600" dirty="0" err="1"/>
                        <a:t>i</a:t>
                      </a:r>
                      <a:r>
                        <a:rPr lang="en-US" altLang="zh-CN" sz="1600" dirty="0"/>
                        <a:t>#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r4:  </a:t>
                      </a:r>
                      <a:r>
                        <a:rPr lang="en-US" altLang="zh-CN" sz="1600" dirty="0" err="1"/>
                        <a:t>L→i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488074"/>
                  </a:ext>
                </a:extLst>
              </a:tr>
              <a:tr h="346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E7C7E"/>
                          </a:solidFill>
                        </a:rPr>
                        <a:t>2</a:t>
                      </a:r>
                      <a:endParaRPr lang="zh-CN" altLang="en-US" sz="1600" dirty="0">
                        <a:solidFill>
                          <a:srgbClr val="0E7C7E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#L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=*</a:t>
                      </a:r>
                      <a:r>
                        <a:rPr lang="en-US" altLang="zh-CN" sz="1600" dirty="0" err="1"/>
                        <a:t>i</a:t>
                      </a:r>
                      <a:r>
                        <a:rPr lang="en-US" altLang="zh-CN" sz="1600" dirty="0"/>
                        <a:t>#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S6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829382"/>
                  </a:ext>
                </a:extLst>
              </a:tr>
              <a:tr h="346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E7C7E"/>
                          </a:solidFill>
                        </a:rPr>
                        <a:t>3</a:t>
                      </a:r>
                      <a:endParaRPr lang="zh-CN" altLang="en-US" sz="1600" dirty="0">
                        <a:solidFill>
                          <a:srgbClr val="0E7C7E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026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#L=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*</a:t>
                      </a:r>
                      <a:r>
                        <a:rPr lang="en-US" altLang="zh-CN" sz="1600" dirty="0" err="1"/>
                        <a:t>i</a:t>
                      </a:r>
                      <a:r>
                        <a:rPr lang="en-US" altLang="zh-CN" sz="1600" dirty="0"/>
                        <a:t>#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S11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237902"/>
                  </a:ext>
                </a:extLst>
              </a:tr>
              <a:tr h="346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E7C7E"/>
                          </a:solidFill>
                        </a:rPr>
                        <a:t>4</a:t>
                      </a:r>
                      <a:endParaRPr lang="zh-CN" altLang="en-US" sz="1600" dirty="0">
                        <a:solidFill>
                          <a:srgbClr val="0E7C7E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026</a:t>
                      </a:r>
                      <a:r>
                        <a:rPr lang="en-US" altLang="zh-CN" sz="1600" u="sng" dirty="0">
                          <a:solidFill>
                            <a:srgbClr val="0000FF"/>
                          </a:solidFill>
                        </a:rPr>
                        <a:t>11</a:t>
                      </a:r>
                      <a:endParaRPr lang="zh-CN" altLang="en-US" sz="1600" u="sng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#L=*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 err="1"/>
                        <a:t>i</a:t>
                      </a:r>
                      <a:r>
                        <a:rPr lang="en-US" altLang="zh-CN" sz="1600" dirty="0"/>
                        <a:t>#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S12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534090"/>
                  </a:ext>
                </a:extLst>
              </a:tr>
              <a:tr h="346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E7C7E"/>
                          </a:solidFill>
                        </a:rPr>
                        <a:t>5</a:t>
                      </a:r>
                      <a:endParaRPr lang="zh-CN" altLang="en-US" sz="1600" dirty="0">
                        <a:solidFill>
                          <a:srgbClr val="0E7C7E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026</a:t>
                      </a:r>
                      <a:r>
                        <a:rPr lang="en-US" altLang="zh-CN" sz="1600" u="sng" dirty="0">
                          <a:solidFill>
                            <a:srgbClr val="0000FF"/>
                          </a:solidFill>
                        </a:rPr>
                        <a:t>11</a:t>
                      </a:r>
                      <a:r>
                        <a:rPr lang="en-US" altLang="zh-CN" sz="1600" u="wavyHeavy" baseline="0" dirty="0">
                          <a:solidFill>
                            <a:srgbClr val="FF0000"/>
                          </a:solidFill>
                        </a:rPr>
                        <a:t>12</a:t>
                      </a:r>
                      <a:endParaRPr lang="zh-CN" altLang="en-US" sz="1600" u="wavyHeavy" baseline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#L=*i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#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r4:  </a:t>
                      </a:r>
                      <a:r>
                        <a:rPr lang="en-US" altLang="zh-CN" sz="1600" dirty="0" err="1"/>
                        <a:t>L→i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6754733"/>
                  </a:ext>
                </a:extLst>
              </a:tr>
              <a:tr h="346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E7C7E"/>
                          </a:solidFill>
                        </a:rPr>
                        <a:t>6</a:t>
                      </a:r>
                      <a:endParaRPr lang="zh-CN" altLang="en-US" sz="1600" dirty="0">
                        <a:solidFill>
                          <a:srgbClr val="0E7C7E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026</a:t>
                      </a:r>
                      <a:r>
                        <a:rPr lang="en-US" altLang="zh-CN" sz="1600" u="sng" dirty="0">
                          <a:solidFill>
                            <a:srgbClr val="0000FF"/>
                          </a:solidFill>
                        </a:rPr>
                        <a:t>11</a:t>
                      </a:r>
                      <a:r>
                        <a:rPr lang="en-US" altLang="zh-CN" sz="1600" u="wavyHeavy" baseline="0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CN" altLang="en-US" sz="1600" u="wavyHeavy" baseline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#L=*L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#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r5: R→L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13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513245"/>
                  </a:ext>
                </a:extLst>
              </a:tr>
              <a:tr h="346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E7C7E"/>
                          </a:solidFill>
                        </a:rPr>
                        <a:t>7</a:t>
                      </a:r>
                      <a:endParaRPr lang="zh-CN" altLang="en-US" sz="1600" dirty="0">
                        <a:solidFill>
                          <a:srgbClr val="0E7C7E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026</a:t>
                      </a:r>
                      <a:r>
                        <a:rPr lang="en-US" altLang="zh-CN" sz="1600" u="sng" dirty="0">
                          <a:solidFill>
                            <a:srgbClr val="0000FF"/>
                          </a:solidFill>
                        </a:rPr>
                        <a:t>11</a:t>
                      </a:r>
                      <a:r>
                        <a:rPr lang="en-US" altLang="zh-CN" sz="1600" u="wavyHeavy" baseline="0" dirty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zh-CN" altLang="en-US" sz="1600" u="wavyHeavy" baseline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#L=*R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#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r3: L→*R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7798283"/>
                  </a:ext>
                </a:extLst>
              </a:tr>
              <a:tr h="346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E7C7E"/>
                          </a:solidFill>
                        </a:rPr>
                        <a:t>8</a:t>
                      </a:r>
                      <a:endParaRPr lang="zh-CN" altLang="en-US" sz="1600" dirty="0">
                        <a:solidFill>
                          <a:srgbClr val="0E7C7E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026</a:t>
                      </a:r>
                      <a:r>
                        <a:rPr lang="en-US" altLang="zh-CN" sz="1600" u="sng" dirty="0">
                          <a:solidFill>
                            <a:srgbClr val="0000FF"/>
                          </a:solidFill>
                        </a:rPr>
                        <a:t>10</a:t>
                      </a:r>
                      <a:endParaRPr lang="zh-CN" altLang="en-US" sz="1600" u="sng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#L=L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#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r5: R→L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021242"/>
                  </a:ext>
                </a:extLst>
              </a:tr>
              <a:tr h="346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E7C7E"/>
                          </a:solidFill>
                        </a:rPr>
                        <a:t>9</a:t>
                      </a:r>
                      <a:endParaRPr lang="zh-CN" altLang="en-US" sz="1600" dirty="0">
                        <a:solidFill>
                          <a:srgbClr val="0E7C7E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0269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#L=R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#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r1: S→L=R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362808"/>
                  </a:ext>
                </a:extLst>
              </a:tr>
              <a:tr h="346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0E7C7E"/>
                          </a:solidFill>
                        </a:rPr>
                        <a:t>10</a:t>
                      </a:r>
                      <a:endParaRPr lang="zh-CN" altLang="en-US" sz="1600" dirty="0">
                        <a:solidFill>
                          <a:srgbClr val="0E7C7E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01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#S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dirty="0"/>
                        <a:t>#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ACC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845975"/>
                  </a:ext>
                </a:extLst>
              </a:tr>
            </a:tbl>
          </a:graphicData>
        </a:graphic>
      </p:graphicFrame>
      <p:grpSp>
        <p:nvGrpSpPr>
          <p:cNvPr id="66" name="组合 65">
            <a:extLst>
              <a:ext uri="{FF2B5EF4-FFF2-40B4-BE49-F238E27FC236}">
                <a16:creationId xmlns:a16="http://schemas.microsoft.com/office/drawing/2014/main" id="{7D3DA00B-A6F0-923F-169C-1FEFE5496C1D}"/>
              </a:ext>
            </a:extLst>
          </p:cNvPr>
          <p:cNvGrpSpPr/>
          <p:nvPr/>
        </p:nvGrpSpPr>
        <p:grpSpPr>
          <a:xfrm>
            <a:off x="311232" y="1624263"/>
            <a:ext cx="1498650" cy="2266039"/>
            <a:chOff x="275126" y="1816126"/>
            <a:chExt cx="1498650" cy="2266039"/>
          </a:xfrm>
        </p:grpSpPr>
        <p:sp>
          <p:nvSpPr>
            <p:cNvPr id="67" name="Rectangle 37">
              <a:extLst>
                <a:ext uri="{FF2B5EF4-FFF2-40B4-BE49-F238E27FC236}">
                  <a16:creationId xmlns:a16="http://schemas.microsoft.com/office/drawing/2014/main" id="{0CC5075E-BF87-A57B-4655-E7DA8C038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727" y="1816126"/>
              <a:ext cx="1497049" cy="2263037"/>
            </a:xfrm>
            <a:prstGeom prst="roundRect">
              <a:avLst>
                <a:gd name="adj" fmla="val 5415"/>
              </a:avLst>
            </a:prstGeom>
            <a:solidFill>
              <a:schemeClr val="bg1"/>
            </a:solidFill>
            <a:ln w="12700">
              <a:solidFill>
                <a:srgbClr val="0E7C7E"/>
              </a:solidFill>
            </a:ln>
            <a:effectLst>
              <a:outerShdw blurRad="50800" dist="50800" dir="2700000" algn="ctr" rotWithShape="0">
                <a:schemeClr val="tx1"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0) </a:t>
              </a: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S</a:t>
              </a:r>
              <a:r>
                <a:rPr kumimoji="0" lang="en-US" altLang="zh-CN" sz="16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′ </a:t>
              </a: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→S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1) S→L=R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2) S→R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3) L→*R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4) L→i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5) R→L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0" lang="en-US" altLang="zh-CN" sz="80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cs typeface="华文楷体" pitchFamily="2" charset="-122"/>
              </a:endParaRPr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B29A99B6-2FFF-9167-0D89-347A50C05018}"/>
                </a:ext>
              </a:extLst>
            </p:cNvPr>
            <p:cNvSpPr/>
            <p:nvPr/>
          </p:nvSpPr>
          <p:spPr>
            <a:xfrm>
              <a:off x="275126" y="3789751"/>
              <a:ext cx="1494000" cy="292414"/>
            </a:xfrm>
            <a:custGeom>
              <a:avLst/>
              <a:gdLst>
                <a:gd name="connsiteX0" fmla="*/ 2895600 w 2895600"/>
                <a:gd name="connsiteY0" fmla="*/ 0 h 535860"/>
                <a:gd name="connsiteX1" fmla="*/ 2895600 w 2895600"/>
                <a:gd name="connsiteY1" fmla="*/ 396147 h 535860"/>
                <a:gd name="connsiteX2" fmla="*/ 2755887 w 2895600"/>
                <a:gd name="connsiteY2" fmla="*/ 535860 h 535860"/>
                <a:gd name="connsiteX3" fmla="*/ 139713 w 2895600"/>
                <a:gd name="connsiteY3" fmla="*/ 535860 h 535860"/>
                <a:gd name="connsiteX4" fmla="*/ 0 w 2895600"/>
                <a:gd name="connsiteY4" fmla="*/ 396147 h 535860"/>
                <a:gd name="connsiteX5" fmla="*/ 0 w 2895600"/>
                <a:gd name="connsiteY5" fmla="*/ 203266 h 535860"/>
                <a:gd name="connsiteX6" fmla="*/ 9301 w 2895600"/>
                <a:gd name="connsiteY6" fmla="*/ 207843 h 535860"/>
                <a:gd name="connsiteX7" fmla="*/ 1274905 w 2895600"/>
                <a:gd name="connsiteY7" fmla="*/ 453829 h 535860"/>
                <a:gd name="connsiteX8" fmla="*/ 2810218 w 2895600"/>
                <a:gd name="connsiteY8" fmla="*/ 61819 h 5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600" h="535860">
                  <a:moveTo>
                    <a:pt x="2895600" y="0"/>
                  </a:moveTo>
                  <a:lnTo>
                    <a:pt x="2895600" y="396147"/>
                  </a:lnTo>
                  <a:cubicBezTo>
                    <a:pt x="2895600" y="473308"/>
                    <a:pt x="2833048" y="535860"/>
                    <a:pt x="2755887" y="535860"/>
                  </a:cubicBezTo>
                  <a:lnTo>
                    <a:pt x="139713" y="535860"/>
                  </a:lnTo>
                  <a:cubicBezTo>
                    <a:pt x="62552" y="535860"/>
                    <a:pt x="0" y="473308"/>
                    <a:pt x="0" y="396147"/>
                  </a:cubicBezTo>
                  <a:lnTo>
                    <a:pt x="0" y="203266"/>
                  </a:lnTo>
                  <a:lnTo>
                    <a:pt x="9301" y="207843"/>
                  </a:lnTo>
                  <a:cubicBezTo>
                    <a:pt x="353230" y="361516"/>
                    <a:pt x="794156" y="453829"/>
                    <a:pt x="1274905" y="453829"/>
                  </a:cubicBezTo>
                  <a:cubicBezTo>
                    <a:pt x="1893011" y="453829"/>
                    <a:pt x="2445286" y="301229"/>
                    <a:pt x="2810218" y="61819"/>
                  </a:cubicBezTo>
                  <a:close/>
                </a:path>
              </a:pathLst>
            </a:custGeom>
            <a:solidFill>
              <a:srgbClr val="1996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B56AA2EE-9638-8177-46E2-476C17D4729E}"/>
              </a:ext>
            </a:extLst>
          </p:cNvPr>
          <p:cNvSpPr txBox="1"/>
          <p:nvPr/>
        </p:nvSpPr>
        <p:spPr>
          <a:xfrm>
            <a:off x="6350779" y="5785973"/>
            <a:ext cx="45268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看</a:t>
            </a:r>
            <a:r>
              <a:rPr lang="en-US" altLang="zh-CN" sz="2000" dirty="0">
                <a:solidFill>
                  <a:srgbClr val="FF0000"/>
                </a:solidFill>
              </a:rPr>
              <a:t>DFA</a:t>
            </a:r>
            <a:r>
              <a:rPr lang="zh-CN" altLang="en-US" sz="2000" dirty="0">
                <a:solidFill>
                  <a:srgbClr val="FF0000"/>
                </a:solidFill>
              </a:rPr>
              <a:t>填，或看分析表填，都一个样！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457357D9-C10E-7D66-486D-DF720B933D1B}"/>
              </a:ext>
            </a:extLst>
          </p:cNvPr>
          <p:cNvSpPr txBox="1"/>
          <p:nvPr/>
        </p:nvSpPr>
        <p:spPr>
          <a:xfrm>
            <a:off x="2165479" y="1952845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词法分析的输出：</a:t>
            </a:r>
            <a:endParaRPr lang="en-US" altLang="zh-CN" sz="2000" dirty="0"/>
          </a:p>
          <a:p>
            <a:r>
              <a:rPr lang="en-US" altLang="zh-CN" sz="2000" dirty="0" err="1"/>
              <a:t>i</a:t>
            </a:r>
            <a:r>
              <a:rPr lang="zh-CN" altLang="en-US" sz="2000" dirty="0"/>
              <a:t> </a:t>
            </a:r>
            <a:r>
              <a:rPr lang="en-US" altLang="zh-CN" sz="2000" dirty="0"/>
              <a:t>= * </a:t>
            </a:r>
            <a:r>
              <a:rPr lang="en-US" altLang="zh-CN" sz="2000" dirty="0" err="1"/>
              <a:t>i</a:t>
            </a:r>
            <a:endParaRPr lang="zh-CN" alt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04AC628-3634-FB06-76D1-E72587526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6" y="4058660"/>
            <a:ext cx="5297843" cy="261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695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A140B8-8652-D3ED-67D3-54AF7F641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LR</a:t>
            </a:r>
            <a:r>
              <a:rPr lang="zh-CN" altLang="en-US" dirty="0"/>
              <a:t>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1288AF-96A5-913B-1707-EE64AA2B4BB1}"/>
              </a:ext>
            </a:extLst>
          </p:cNvPr>
          <p:cNvSpPr/>
          <p:nvPr/>
        </p:nvSpPr>
        <p:spPr>
          <a:xfrm>
            <a:off x="6935220" y="4774571"/>
            <a:ext cx="1916470" cy="79382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dash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2D9B1DC5-B444-683E-3400-8156C554C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2750" y="2896219"/>
            <a:ext cx="1685023" cy="215443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 t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+mn-ea"/>
              </a:rPr>
              <a:t>I</a:t>
            </a:r>
            <a:r>
              <a:rPr kumimoji="0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+mn-ea"/>
              </a:rPr>
              <a:t>0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  <a:cs typeface="Times New Roman" panose="02020603050405020304" pitchFamily="18" charset="0"/>
              </a:rPr>
              <a:t>S′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</a:rPr>
              <a:t>→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</a:rPr>
              <a:t>S</a:t>
            </a:r>
            <a:r>
              <a:rPr kumimoji="0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</a:rPr>
              <a:t>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</a:rPr>
              <a:t>, 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</a:rPr>
              <a:t>S→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</a:rPr>
              <a:t>L=R , 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</a:rPr>
              <a:t>S→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</a:rPr>
              <a:t>R , 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L→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*R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,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=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|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L→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</a:t>
            </a:r>
            <a:r>
              <a:rPr kumimoji="0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i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,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=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|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</a:t>
            </a:r>
            <a:r>
              <a:rPr kumimoji="0" lang="en-US" altLang="zh-CN" sz="18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R→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L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,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#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BCC60750-FEE1-FB10-F9D1-2D7D8BBEA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9233" y="1761638"/>
            <a:ext cx="1684800" cy="70788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I</a:t>
            </a:r>
            <a:r>
              <a:rPr kumimoji="0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1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S′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rPr>
              <a:t>→S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 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,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rPr>
              <a:t> #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DD9DD839-07FB-F162-DC11-1D27BE987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6511" y="2692855"/>
            <a:ext cx="1741231" cy="938719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2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S→L</a:t>
            </a:r>
            <a:r>
              <a:rPr kumimoji="1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=R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R→L</a:t>
            </a:r>
            <a:r>
              <a:rPr kumimoji="1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C380EE7A-E692-1ABC-D079-041653DA8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514" y="2789549"/>
            <a:ext cx="50319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L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C1C2C123-07B4-52B1-E596-5AF40E135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6511" y="3673930"/>
            <a:ext cx="1746927" cy="70788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3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S→R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11" name="Text Box 13">
            <a:extLst>
              <a:ext uri="{FF2B5EF4-FFF2-40B4-BE49-F238E27FC236}">
                <a16:creationId xmlns:a16="http://schemas.microsoft.com/office/drawing/2014/main" id="{4EBBE05F-ED69-5A69-3156-4E7DE1977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3668" y="3611225"/>
            <a:ext cx="60954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R</a:t>
            </a:r>
          </a:p>
        </p:txBody>
      </p:sp>
      <p:sp>
        <p:nvSpPr>
          <p:cNvPr id="12" name="Text Box 14">
            <a:extLst>
              <a:ext uri="{FF2B5EF4-FFF2-40B4-BE49-F238E27FC236}">
                <a16:creationId xmlns:a16="http://schemas.microsoft.com/office/drawing/2014/main" id="{6917AF9A-6D0F-B8D5-EFE5-61753C252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7623" y="4466093"/>
            <a:ext cx="1745147" cy="150297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4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L→*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R→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L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, =|#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*R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2B3F7702-E17A-EBB1-6860-968825F6C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3758" y="5697477"/>
            <a:ext cx="1774800" cy="70788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5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L→i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7F7FC405-A4AC-CE20-DBA6-6893B858F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0938" y="4502800"/>
            <a:ext cx="27119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*</a:t>
            </a:r>
          </a:p>
        </p:txBody>
      </p:sp>
      <p:sp>
        <p:nvSpPr>
          <p:cNvPr id="15" name="Text Box 17">
            <a:extLst>
              <a:ext uri="{FF2B5EF4-FFF2-40B4-BE49-F238E27FC236}">
                <a16:creationId xmlns:a16="http://schemas.microsoft.com/office/drawing/2014/main" id="{8EB647B3-B5C9-8CCD-808F-FA6D2F797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443" y="5194435"/>
            <a:ext cx="53335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6" name="Text Box 20">
            <a:extLst>
              <a:ext uri="{FF2B5EF4-FFF2-40B4-BE49-F238E27FC236}">
                <a16:creationId xmlns:a16="http://schemas.microsoft.com/office/drawing/2014/main" id="{EBDC677C-8F90-88C1-4C23-4AC772E7E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8824" y="2817442"/>
            <a:ext cx="45715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=</a:t>
            </a:r>
          </a:p>
        </p:txBody>
      </p:sp>
      <p:sp>
        <p:nvSpPr>
          <p:cNvPr id="17" name="Text Box 21">
            <a:extLst>
              <a:ext uri="{FF2B5EF4-FFF2-40B4-BE49-F238E27FC236}">
                <a16:creationId xmlns:a16="http://schemas.microsoft.com/office/drawing/2014/main" id="{BEE9D649-00C5-620C-7BB8-5D536F65C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7607" y="3994939"/>
            <a:ext cx="1774975" cy="70788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7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L→*R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</a:p>
        </p:txBody>
      </p:sp>
      <p:sp>
        <p:nvSpPr>
          <p:cNvPr id="18" name="Text Box 24">
            <a:extLst>
              <a:ext uri="{FF2B5EF4-FFF2-40B4-BE49-F238E27FC236}">
                <a16:creationId xmlns:a16="http://schemas.microsoft.com/office/drawing/2014/main" id="{CA07857C-2A38-51BB-7A5E-981D27872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3838" y="4819481"/>
            <a:ext cx="1774800" cy="706437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8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R→L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19" name="Text Box 26">
            <a:extLst>
              <a:ext uri="{FF2B5EF4-FFF2-40B4-BE49-F238E27FC236}">
                <a16:creationId xmlns:a16="http://schemas.microsoft.com/office/drawing/2014/main" id="{E85BF306-1A4A-EBAF-72B7-824500EA9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2274" y="4794355"/>
            <a:ext cx="38096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L</a:t>
            </a:r>
          </a:p>
        </p:txBody>
      </p:sp>
      <p:sp>
        <p:nvSpPr>
          <p:cNvPr id="20" name="Text Box 27">
            <a:extLst>
              <a:ext uri="{FF2B5EF4-FFF2-40B4-BE49-F238E27FC236}">
                <a16:creationId xmlns:a16="http://schemas.microsoft.com/office/drawing/2014/main" id="{35848B88-126F-305C-A25E-BEDF5A140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55" y="1775665"/>
            <a:ext cx="1742400" cy="70788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9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S→L=R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21" name="Text Box 29">
            <a:extLst>
              <a:ext uri="{FF2B5EF4-FFF2-40B4-BE49-F238E27FC236}">
                <a16:creationId xmlns:a16="http://schemas.microsoft.com/office/drawing/2014/main" id="{C3CEA175-A95E-7AF1-0989-2CE2FC117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5884" y="1747832"/>
            <a:ext cx="4178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R</a:t>
            </a:r>
          </a:p>
        </p:txBody>
      </p:sp>
      <p:sp>
        <p:nvSpPr>
          <p:cNvPr id="22" name="Text Box 33">
            <a:extLst>
              <a:ext uri="{FF2B5EF4-FFF2-40B4-BE49-F238E27FC236}">
                <a16:creationId xmlns:a16="http://schemas.microsoft.com/office/drawing/2014/main" id="{15D0FCD8-F082-B25E-60FC-EB30B7A8A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1278" y="2492448"/>
            <a:ext cx="53335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S</a:t>
            </a:r>
          </a:p>
        </p:txBody>
      </p:sp>
      <p:sp>
        <p:nvSpPr>
          <p:cNvPr id="23" name="Text Box 35">
            <a:extLst>
              <a:ext uri="{FF2B5EF4-FFF2-40B4-BE49-F238E27FC236}">
                <a16:creationId xmlns:a16="http://schemas.microsoft.com/office/drawing/2014/main" id="{A77F3BFE-4DB5-EDE8-F7C4-9097B25C6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8145" y="5459270"/>
            <a:ext cx="53335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4" name="Text Box 40">
            <a:extLst>
              <a:ext uri="{FF2B5EF4-FFF2-40B4-BE49-F238E27FC236}">
                <a16:creationId xmlns:a16="http://schemas.microsoft.com/office/drawing/2014/main" id="{B30AB3F8-99F3-34E4-CBA4-8319E1D05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7032" y="5080635"/>
            <a:ext cx="30454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*</a:t>
            </a:r>
          </a:p>
        </p:txBody>
      </p:sp>
      <p:sp>
        <p:nvSpPr>
          <p:cNvPr id="25" name="Text Box 32">
            <a:extLst>
              <a:ext uri="{FF2B5EF4-FFF2-40B4-BE49-F238E27FC236}">
                <a16:creationId xmlns:a16="http://schemas.microsoft.com/office/drawing/2014/main" id="{B57BA0C5-6DEC-7EB2-9ADF-CA6C03280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6266" y="3640680"/>
            <a:ext cx="5032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6" name="Text Box 42">
            <a:extLst>
              <a:ext uri="{FF2B5EF4-FFF2-40B4-BE49-F238E27FC236}">
                <a16:creationId xmlns:a16="http://schemas.microsoft.com/office/drawing/2014/main" id="{0D856F89-E9DD-1A17-DD02-9B142F582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7596" y="1833100"/>
            <a:ext cx="1764000" cy="655638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10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R→L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27" name="Text Box 44">
            <a:extLst>
              <a:ext uri="{FF2B5EF4-FFF2-40B4-BE49-F238E27FC236}">
                <a16:creationId xmlns:a16="http://schemas.microsoft.com/office/drawing/2014/main" id="{F97DB19D-7182-05F0-23CF-82DAB08C0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6266" y="1822023"/>
            <a:ext cx="5334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L</a:t>
            </a:r>
          </a:p>
        </p:txBody>
      </p:sp>
      <p:sp>
        <p:nvSpPr>
          <p:cNvPr id="28" name="Text Box 45">
            <a:extLst>
              <a:ext uri="{FF2B5EF4-FFF2-40B4-BE49-F238E27FC236}">
                <a16:creationId xmlns:a16="http://schemas.microsoft.com/office/drawing/2014/main" id="{C70D10C6-C655-EDB0-9613-FB087AD12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7596" y="2896474"/>
            <a:ext cx="1764000" cy="150297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11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L→*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#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R→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</a:rPr>
              <a:t>L, 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*R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29" name="Text Box 46">
            <a:extLst>
              <a:ext uri="{FF2B5EF4-FFF2-40B4-BE49-F238E27FC236}">
                <a16:creationId xmlns:a16="http://schemas.microsoft.com/office/drawing/2014/main" id="{FF88598E-E149-9E20-B3E6-A82DA578A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2372" y="2945633"/>
            <a:ext cx="360370" cy="400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*</a:t>
            </a:r>
          </a:p>
        </p:txBody>
      </p:sp>
      <p:sp>
        <p:nvSpPr>
          <p:cNvPr id="30" name="Text Box 48">
            <a:extLst>
              <a:ext uri="{FF2B5EF4-FFF2-40B4-BE49-F238E27FC236}">
                <a16:creationId xmlns:a16="http://schemas.microsoft.com/office/drawing/2014/main" id="{6BC6A4EF-2B94-8B89-B147-BCA7A4ABD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7596" y="4821693"/>
            <a:ext cx="1764000" cy="708025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12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L→i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31" name="Text Box 50">
            <a:extLst>
              <a:ext uri="{FF2B5EF4-FFF2-40B4-BE49-F238E27FC236}">
                <a16:creationId xmlns:a16="http://schemas.microsoft.com/office/drawing/2014/main" id="{78DE6862-B766-E950-D310-2D3488BC6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7596" y="5683030"/>
            <a:ext cx="1764000" cy="707886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13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L→*R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32" name="Text Box 52">
            <a:extLst>
              <a:ext uri="{FF2B5EF4-FFF2-40B4-BE49-F238E27FC236}">
                <a16:creationId xmlns:a16="http://schemas.microsoft.com/office/drawing/2014/main" id="{F19CC269-D9C4-69AF-39A7-2DED0C424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72901" y="5016769"/>
            <a:ext cx="3107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R</a:t>
            </a:r>
          </a:p>
        </p:txBody>
      </p:sp>
      <p:sp>
        <p:nvSpPr>
          <p:cNvPr id="33" name="Text Box 54">
            <a:extLst>
              <a:ext uri="{FF2B5EF4-FFF2-40B4-BE49-F238E27FC236}">
                <a16:creationId xmlns:a16="http://schemas.microsoft.com/office/drawing/2014/main" id="{82678AB6-EEE2-1CD6-B358-776BA89FD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8867" y="3240533"/>
            <a:ext cx="533414" cy="400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*</a:t>
            </a:r>
          </a:p>
        </p:txBody>
      </p:sp>
      <p:sp>
        <p:nvSpPr>
          <p:cNvPr id="34" name="Text Box 55">
            <a:extLst>
              <a:ext uri="{FF2B5EF4-FFF2-40B4-BE49-F238E27FC236}">
                <a16:creationId xmlns:a16="http://schemas.microsoft.com/office/drawing/2014/main" id="{3392DA87-3409-731A-E020-FD815FA0E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6077" y="2492379"/>
            <a:ext cx="3810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L</a:t>
            </a:r>
          </a:p>
        </p:txBody>
      </p:sp>
      <p:sp>
        <p:nvSpPr>
          <p:cNvPr id="35" name="Text Box 17">
            <a:extLst>
              <a:ext uri="{FF2B5EF4-FFF2-40B4-BE49-F238E27FC236}">
                <a16:creationId xmlns:a16="http://schemas.microsoft.com/office/drawing/2014/main" id="{56C713A8-36B5-C7A9-4973-896F690FC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6077" y="4466063"/>
            <a:ext cx="5334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d</a:t>
            </a:r>
          </a:p>
        </p:txBody>
      </p:sp>
      <p:sp>
        <p:nvSpPr>
          <p:cNvPr id="36" name="Text Box 18">
            <a:extLst>
              <a:ext uri="{FF2B5EF4-FFF2-40B4-BE49-F238E27FC236}">
                <a16:creationId xmlns:a16="http://schemas.microsoft.com/office/drawing/2014/main" id="{D7842C5A-47F5-85D9-4A7F-621BE6F5E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3126" y="1841050"/>
            <a:ext cx="1774800" cy="1631950"/>
          </a:xfrm>
          <a:prstGeom prst="rect">
            <a:avLst/>
          </a:prstGeom>
          <a:solidFill>
            <a:schemeClr val="bg1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6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S→L=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 , #</a:t>
            </a:r>
          </a:p>
          <a:p>
            <a:pPr marL="0" marR="0" lvl="0" indent="0" defTabSz="91440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R→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L , #</a:t>
            </a:r>
          </a:p>
          <a:p>
            <a:pPr marL="0" marR="0" lvl="0" indent="0" defTabSz="91440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*R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  <a:p>
            <a:pPr marL="0" marR="0" lvl="0" indent="0" defTabSz="91440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E3B6572-DE9B-B2B8-D564-9BAABBFDA61B}"/>
              </a:ext>
            </a:extLst>
          </p:cNvPr>
          <p:cNvSpPr/>
          <p:nvPr/>
        </p:nvSpPr>
        <p:spPr>
          <a:xfrm>
            <a:off x="9528859" y="1787645"/>
            <a:ext cx="1884549" cy="72014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dash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38" name="矩形 2">
            <a:extLst>
              <a:ext uri="{FF2B5EF4-FFF2-40B4-BE49-F238E27FC236}">
                <a16:creationId xmlns:a16="http://schemas.microsoft.com/office/drawing/2014/main" id="{57B07193-3FB6-6270-5BCC-20D9421C3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060" y="1118400"/>
            <a:ext cx="18533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0E7C7E"/>
                </a:solidFill>
                <a:latin typeface="+mn-ea"/>
                <a:cs typeface="Times New Roman" panose="02020603050405020304" pitchFamily="18" charset="0"/>
              </a:rPr>
              <a:t>LR(1)</a:t>
            </a:r>
            <a:r>
              <a:rPr lang="zh-CN" altLang="en-US" dirty="0">
                <a:solidFill>
                  <a:srgbClr val="0E7C7E"/>
                </a:solidFill>
                <a:latin typeface="+mn-ea"/>
                <a:cs typeface="Times New Roman" panose="02020603050405020304" pitchFamily="18" charset="0"/>
              </a:rPr>
              <a:t>自动机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504B3DE-3A9E-0483-DA01-1D50C09C11C8}"/>
              </a:ext>
            </a:extLst>
          </p:cNvPr>
          <p:cNvSpPr/>
          <p:nvPr/>
        </p:nvSpPr>
        <p:spPr>
          <a:xfrm>
            <a:off x="9526938" y="2857120"/>
            <a:ext cx="1884550" cy="162401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dash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124FCA9-7190-8B68-1B4F-06AAB371CCAD}"/>
              </a:ext>
            </a:extLst>
          </p:cNvPr>
          <p:cNvSpPr/>
          <p:nvPr/>
        </p:nvSpPr>
        <p:spPr>
          <a:xfrm>
            <a:off x="4658057" y="4450098"/>
            <a:ext cx="1844891" cy="147637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dash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F0081D8-60DC-4A04-2610-91A7A8004455}"/>
              </a:ext>
            </a:extLst>
          </p:cNvPr>
          <p:cNvSpPr/>
          <p:nvPr/>
        </p:nvSpPr>
        <p:spPr>
          <a:xfrm>
            <a:off x="9560609" y="4782005"/>
            <a:ext cx="1850879" cy="79216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dash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8B96985-F781-2CAE-1450-FBD9D06636BD}"/>
              </a:ext>
            </a:extLst>
          </p:cNvPr>
          <p:cNvSpPr/>
          <p:nvPr/>
        </p:nvSpPr>
        <p:spPr>
          <a:xfrm>
            <a:off x="6949939" y="5655519"/>
            <a:ext cx="1916470" cy="76477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dash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AADE15F-649A-14E2-1B5C-E0D5FF532CDD}"/>
              </a:ext>
            </a:extLst>
          </p:cNvPr>
          <p:cNvSpPr/>
          <p:nvPr/>
        </p:nvSpPr>
        <p:spPr>
          <a:xfrm>
            <a:off x="9557434" y="5675182"/>
            <a:ext cx="1850879" cy="75247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dash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1567747-79DB-5CA6-1785-A2AE84DB17D8}"/>
              </a:ext>
            </a:extLst>
          </p:cNvPr>
          <p:cNvSpPr/>
          <p:nvPr/>
        </p:nvSpPr>
        <p:spPr>
          <a:xfrm>
            <a:off x="6933799" y="3978376"/>
            <a:ext cx="1916470" cy="753228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dash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5" name="Rectangle 66">
            <a:extLst>
              <a:ext uri="{FF2B5EF4-FFF2-40B4-BE49-F238E27FC236}">
                <a16:creationId xmlns:a16="http://schemas.microsoft.com/office/drawing/2014/main" id="{6323DBE8-30C7-869D-012A-550784900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195" y="4745554"/>
            <a:ext cx="1050925" cy="1323975"/>
          </a:xfrm>
          <a:prstGeom prst="rect">
            <a:avLst/>
          </a:prstGeom>
          <a:noFill/>
          <a:ln w="12700">
            <a:solidFill>
              <a:sysClr val="windowText" lastClr="000000"/>
            </a:solidFill>
            <a:miter lim="800000"/>
          </a:ln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1" i="1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I</a:t>
            </a:r>
            <a:r>
              <a:rPr kumimoji="0" lang="en-US" altLang="zh-CN" sz="2000" b="1" i="1" u="none" strike="noStrike" kern="0" cap="none" spc="0" normalizeH="0" baseline="-2500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10</a:t>
            </a:r>
            <a:r>
              <a:rPr kumimoji="0" lang="en-US" altLang="en-US" sz="2000" b="1" i="1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、</a:t>
            </a:r>
            <a:r>
              <a:rPr kumimoji="0" lang="en-US" altLang="zh-CN" sz="2000" b="1" i="1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 I</a:t>
            </a:r>
            <a:r>
              <a:rPr kumimoji="0" lang="en-US" altLang="zh-CN" sz="2000" b="1" i="1" u="none" strike="noStrike" kern="0" cap="none" spc="0" normalizeH="0" baseline="-2500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8</a:t>
            </a:r>
            <a:endParaRPr kumimoji="0" lang="en-US" altLang="zh-CN" sz="2000" b="1" i="1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Times New Roman" pitchFamily="18" charset="0"/>
              <a:cs typeface="华文楷体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1" i="1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I</a:t>
            </a:r>
            <a:r>
              <a:rPr kumimoji="0" lang="en-US" altLang="zh-CN" sz="2000" b="1" i="1" u="none" strike="noStrike" kern="0" cap="none" spc="0" normalizeH="0" baseline="-2500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11</a:t>
            </a:r>
            <a:r>
              <a:rPr kumimoji="0" lang="en-US" altLang="en-US" sz="2000" b="1" i="1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、</a:t>
            </a:r>
            <a:r>
              <a:rPr kumimoji="0" lang="en-US" altLang="zh-CN" sz="2000" b="1" i="1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 I</a:t>
            </a:r>
            <a:r>
              <a:rPr kumimoji="0" lang="en-US" altLang="zh-CN" sz="2000" b="1" i="1" u="none" strike="noStrike" kern="0" cap="none" spc="0" normalizeH="0" baseline="-2500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4</a:t>
            </a:r>
            <a:endParaRPr kumimoji="0" lang="en-US" altLang="zh-CN" sz="2000" b="1" i="1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Times New Roman" pitchFamily="18" charset="0"/>
              <a:cs typeface="华文楷体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1" i="1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I</a:t>
            </a:r>
            <a:r>
              <a:rPr kumimoji="0" lang="en-US" altLang="zh-CN" sz="2000" b="1" i="1" u="none" strike="noStrike" kern="0" cap="none" spc="0" normalizeH="0" baseline="-2500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12</a:t>
            </a:r>
            <a:r>
              <a:rPr kumimoji="0" lang="en-US" altLang="en-US" sz="2000" b="1" i="1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、</a:t>
            </a:r>
            <a:r>
              <a:rPr kumimoji="0" lang="en-US" altLang="zh-CN" sz="2000" b="1" i="1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 I</a:t>
            </a:r>
            <a:r>
              <a:rPr kumimoji="0" lang="en-US" altLang="zh-CN" sz="2000" b="1" i="1" u="none" strike="noStrike" kern="0" cap="none" spc="0" normalizeH="0" baseline="-2500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5</a:t>
            </a:r>
            <a:endParaRPr kumimoji="0" lang="en-US" altLang="zh-CN" sz="2000" b="1" i="1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Times New Roman" pitchFamily="18" charset="0"/>
              <a:cs typeface="华文楷体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1" i="1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I</a:t>
            </a:r>
            <a:r>
              <a:rPr kumimoji="0" lang="en-US" altLang="zh-CN" sz="2000" b="1" i="1" u="none" strike="noStrike" kern="0" cap="none" spc="0" normalizeH="0" baseline="-2500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13</a:t>
            </a:r>
            <a:r>
              <a:rPr kumimoji="0" lang="en-US" altLang="en-US" sz="2000" b="1" i="1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、</a:t>
            </a:r>
            <a:r>
              <a:rPr kumimoji="0" lang="en-US" altLang="zh-CN" sz="2000" b="1" i="1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 I</a:t>
            </a:r>
            <a:r>
              <a:rPr kumimoji="0" lang="en-US" altLang="zh-CN" sz="2000" b="1" i="1" u="none" strike="noStrike" kern="0" cap="none" spc="0" normalizeH="0" baseline="-2500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Times New Roman" pitchFamily="18" charset="0"/>
                <a:cs typeface="华文楷体" pitchFamily="2" charset="-122"/>
              </a:rPr>
              <a:t>7</a:t>
            </a:r>
            <a:endParaRPr kumimoji="0" lang="en-US" altLang="zh-CN" sz="2000" b="1" i="1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Times New Roman" pitchFamily="18" charset="0"/>
              <a:cs typeface="华文楷体" pitchFamily="2" charset="-122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49DCA0F0-4E78-FB53-12C0-BED2940E701E}"/>
              </a:ext>
            </a:extLst>
          </p:cNvPr>
          <p:cNvCxnSpPr>
            <a:cxnSpLocks/>
          </p:cNvCxnSpPr>
          <p:nvPr/>
        </p:nvCxnSpPr>
        <p:spPr>
          <a:xfrm flipV="1">
            <a:off x="4217773" y="3152382"/>
            <a:ext cx="489850" cy="30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25C52924-C5A0-FE78-525B-A37EAC40444B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H="1" flipV="1">
            <a:off x="3371633" y="2469524"/>
            <a:ext cx="3629" cy="4266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865CCE57-8DE3-2744-B3C3-8DD894480327}"/>
              </a:ext>
            </a:extLst>
          </p:cNvPr>
          <p:cNvCxnSpPr>
            <a:cxnSpLocks/>
          </p:cNvCxnSpPr>
          <p:nvPr/>
        </p:nvCxnSpPr>
        <p:spPr>
          <a:xfrm flipV="1">
            <a:off x="4207331" y="4010632"/>
            <a:ext cx="489850" cy="30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连接符: 曲线 48">
            <a:extLst>
              <a:ext uri="{FF2B5EF4-FFF2-40B4-BE49-F238E27FC236}">
                <a16:creationId xmlns:a16="http://schemas.microsoft.com/office/drawing/2014/main" id="{ED045E06-9889-724D-2C9C-E97F14788C39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03585" y="5016769"/>
            <a:ext cx="918" cy="429146"/>
          </a:xfrm>
          <a:prstGeom prst="curvedConnector3">
            <a:avLst>
              <a:gd name="adj1" fmla="val 25001961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CAF93263-A2A0-12FC-4626-69C65736A6C1}"/>
              </a:ext>
            </a:extLst>
          </p:cNvPr>
          <p:cNvCxnSpPr>
            <a:cxnSpLocks/>
            <a:endCxn id="20" idx="3"/>
          </p:cNvCxnSpPr>
          <p:nvPr/>
        </p:nvCxnSpPr>
        <p:spPr>
          <a:xfrm flipH="1">
            <a:off x="6428755" y="2129608"/>
            <a:ext cx="56538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83ECF38B-C0DC-449B-0C31-F19E4C187C01}"/>
              </a:ext>
            </a:extLst>
          </p:cNvPr>
          <p:cNvCxnSpPr>
            <a:cxnSpLocks/>
          </p:cNvCxnSpPr>
          <p:nvPr/>
        </p:nvCxnSpPr>
        <p:spPr>
          <a:xfrm>
            <a:off x="6460698" y="3188272"/>
            <a:ext cx="53673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1A042367-BABC-3B11-45DF-86CE03B5CBDF}"/>
              </a:ext>
            </a:extLst>
          </p:cNvPr>
          <p:cNvCxnSpPr>
            <a:cxnSpLocks/>
          </p:cNvCxnSpPr>
          <p:nvPr/>
        </p:nvCxnSpPr>
        <p:spPr>
          <a:xfrm>
            <a:off x="6465428" y="4548153"/>
            <a:ext cx="52211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Box 23">
            <a:extLst>
              <a:ext uri="{FF2B5EF4-FFF2-40B4-BE49-F238E27FC236}">
                <a16:creationId xmlns:a16="http://schemas.microsoft.com/office/drawing/2014/main" id="{471CE70A-FE94-3E80-79D8-36540A868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7077" y="4201035"/>
            <a:ext cx="45715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R</a:t>
            </a: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6DB5BB17-E4A0-F0BF-27B9-0112AC0796E2}"/>
              </a:ext>
            </a:extLst>
          </p:cNvPr>
          <p:cNvCxnSpPr>
            <a:cxnSpLocks/>
          </p:cNvCxnSpPr>
          <p:nvPr/>
        </p:nvCxnSpPr>
        <p:spPr>
          <a:xfrm>
            <a:off x="6457408" y="5165771"/>
            <a:ext cx="52211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20C70EF8-2BB3-2038-E2BD-E850EB6DAAE9}"/>
              </a:ext>
            </a:extLst>
          </p:cNvPr>
          <p:cNvCxnSpPr>
            <a:cxnSpLocks/>
          </p:cNvCxnSpPr>
          <p:nvPr/>
        </p:nvCxnSpPr>
        <p:spPr>
          <a:xfrm>
            <a:off x="6454212" y="5827194"/>
            <a:ext cx="522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0BA1A3D-5D4B-75A8-FF7E-AFFD455D4743}"/>
              </a:ext>
            </a:extLst>
          </p:cNvPr>
          <p:cNvCxnSpPr>
            <a:cxnSpLocks/>
          </p:cNvCxnSpPr>
          <p:nvPr/>
        </p:nvCxnSpPr>
        <p:spPr>
          <a:xfrm>
            <a:off x="8813064" y="2160919"/>
            <a:ext cx="7904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86829FB2-DC52-A0C9-0EB6-F405E8E5F3BB}"/>
              </a:ext>
            </a:extLst>
          </p:cNvPr>
          <p:cNvCxnSpPr>
            <a:cxnSpLocks/>
          </p:cNvCxnSpPr>
          <p:nvPr/>
        </p:nvCxnSpPr>
        <p:spPr>
          <a:xfrm>
            <a:off x="8805044" y="3275839"/>
            <a:ext cx="79040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398D1D7D-276B-D246-08E6-843A36619ECC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8777926" y="3493792"/>
            <a:ext cx="809670" cy="168191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250FED8D-31E1-9210-75E7-559765010F2B}"/>
              </a:ext>
            </a:extLst>
          </p:cNvPr>
          <p:cNvCxnSpPr>
            <a:cxnSpLocks/>
            <a:stCxn id="28" idx="2"/>
            <a:endCxn id="30" idx="0"/>
          </p:cNvCxnSpPr>
          <p:nvPr/>
        </p:nvCxnSpPr>
        <p:spPr>
          <a:xfrm>
            <a:off x="10469596" y="4399450"/>
            <a:ext cx="0" cy="42224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BC5BEA1A-0756-2695-D824-1FAE0BFEBFDC}"/>
              </a:ext>
            </a:extLst>
          </p:cNvPr>
          <p:cNvCxnSpPr>
            <a:cxnSpLocks/>
            <a:stCxn id="28" idx="0"/>
            <a:endCxn id="26" idx="2"/>
          </p:cNvCxnSpPr>
          <p:nvPr/>
        </p:nvCxnSpPr>
        <p:spPr>
          <a:xfrm flipV="1">
            <a:off x="10469596" y="2488738"/>
            <a:ext cx="0" cy="4077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曲线 60">
            <a:extLst>
              <a:ext uri="{FF2B5EF4-FFF2-40B4-BE49-F238E27FC236}">
                <a16:creationId xmlns:a16="http://schemas.microsoft.com/office/drawing/2014/main" id="{DFF7048A-157F-487C-1BAE-D653846FBCF4}"/>
              </a:ext>
            </a:extLst>
          </p:cNvPr>
          <p:cNvCxnSpPr>
            <a:cxnSpLocks/>
          </p:cNvCxnSpPr>
          <p:nvPr/>
        </p:nvCxnSpPr>
        <p:spPr>
          <a:xfrm flipH="1">
            <a:off x="11338960" y="3345137"/>
            <a:ext cx="918" cy="429146"/>
          </a:xfrm>
          <a:prstGeom prst="curvedConnector3">
            <a:avLst>
              <a:gd name="adj1" fmla="val -24901961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10620C88-38B7-6B0D-6018-B942B98A80FA}"/>
              </a:ext>
            </a:extLst>
          </p:cNvPr>
          <p:cNvCxnSpPr>
            <a:cxnSpLocks/>
          </p:cNvCxnSpPr>
          <p:nvPr/>
        </p:nvCxnSpPr>
        <p:spPr>
          <a:xfrm flipV="1">
            <a:off x="4217775" y="4804712"/>
            <a:ext cx="489850" cy="30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56855397-D877-430A-7F69-895C4C7B5DE7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4591285" y="3834631"/>
            <a:ext cx="1142631" cy="3574677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曲线 63">
            <a:extLst>
              <a:ext uri="{FF2B5EF4-FFF2-40B4-BE49-F238E27FC236}">
                <a16:creationId xmlns:a16="http://schemas.microsoft.com/office/drawing/2014/main" id="{5D4AFBEC-0144-59F1-2D07-7F032245BECA}"/>
              </a:ext>
            </a:extLst>
          </p:cNvPr>
          <p:cNvCxnSpPr>
            <a:cxnSpLocks/>
          </p:cNvCxnSpPr>
          <p:nvPr/>
        </p:nvCxnSpPr>
        <p:spPr>
          <a:xfrm>
            <a:off x="11346284" y="4217077"/>
            <a:ext cx="12700" cy="1812938"/>
          </a:xfrm>
          <a:prstGeom prst="curvedConnector3">
            <a:avLst>
              <a:gd name="adj1" fmla="val 180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9F678AD4-36AF-EBC6-CB0D-61C54C7B7D3A}"/>
              </a:ext>
            </a:extLst>
          </p:cNvPr>
          <p:cNvSpPr txBox="1"/>
          <p:nvPr/>
        </p:nvSpPr>
        <p:spPr>
          <a:xfrm>
            <a:off x="2152279" y="2876011"/>
            <a:ext cx="446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b="1" dirty="0">
                <a:latin typeface="Times New Roman" pitchFamily="18" charset="0"/>
                <a:sym typeface="Symbol" pitchFamily="18" charset="2"/>
              </a:rPr>
              <a:t></a:t>
            </a:r>
            <a:endParaRPr lang="en-US" altLang="zh-CN" b="1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41EFA09-1647-7323-0BF1-57F9A3799887}"/>
              </a:ext>
            </a:extLst>
          </p:cNvPr>
          <p:cNvSpPr txBox="1"/>
          <p:nvPr/>
        </p:nvSpPr>
        <p:spPr>
          <a:xfrm>
            <a:off x="982195" y="424051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同心集</a:t>
            </a: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4CD4DFD5-723F-EF44-9AC4-1A4C7275E8DC}"/>
              </a:ext>
            </a:extLst>
          </p:cNvPr>
          <p:cNvGrpSpPr/>
          <p:nvPr/>
        </p:nvGrpSpPr>
        <p:grpSpPr>
          <a:xfrm>
            <a:off x="599990" y="1731902"/>
            <a:ext cx="1498650" cy="2266039"/>
            <a:chOff x="275126" y="1816126"/>
            <a:chExt cx="1498650" cy="2266039"/>
          </a:xfrm>
        </p:grpSpPr>
        <p:sp>
          <p:nvSpPr>
            <p:cNvPr id="68" name="Rectangle 37">
              <a:extLst>
                <a:ext uri="{FF2B5EF4-FFF2-40B4-BE49-F238E27FC236}">
                  <a16:creationId xmlns:a16="http://schemas.microsoft.com/office/drawing/2014/main" id="{6FF44947-F82D-28F0-D1A8-EDD98086B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727" y="1816126"/>
              <a:ext cx="1497049" cy="2263037"/>
            </a:xfrm>
            <a:prstGeom prst="roundRect">
              <a:avLst>
                <a:gd name="adj" fmla="val 5415"/>
              </a:avLst>
            </a:prstGeom>
            <a:solidFill>
              <a:schemeClr val="bg1"/>
            </a:solidFill>
            <a:ln w="12700">
              <a:solidFill>
                <a:srgbClr val="0E7C7E"/>
              </a:solidFill>
            </a:ln>
            <a:effectLst>
              <a:outerShdw blurRad="50800" dist="50800" dir="2700000" algn="ctr" rotWithShape="0">
                <a:schemeClr val="tx1"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0) </a:t>
              </a: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S</a:t>
              </a:r>
              <a:r>
                <a:rPr kumimoji="0" lang="en-US" altLang="zh-CN" sz="16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′ </a:t>
              </a: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→S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1) S→L=R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2) S→R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3) L→*R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4) L→i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1800" u="none" strike="noStrike" kern="0" cap="none" spc="0" normalizeH="0" baseline="0" noProof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ea"/>
                  <a:cs typeface="华文楷体" pitchFamily="2" charset="-122"/>
                </a:rPr>
                <a:t>5) R→L</a:t>
              </a:r>
            </a:p>
            <a:p>
              <a:pPr marL="609600" marR="0" lvl="0" indent="-609600" defTabSz="914400" eaLnBrk="1" fontAlgn="base" latinLnBrk="0" hangingPunct="1">
                <a:lnSpc>
                  <a:spcPts val="2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endParaRPr kumimoji="0" lang="en-US" altLang="zh-CN" sz="800" u="none" strike="noStrike" kern="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cs typeface="华文楷体" pitchFamily="2" charset="-122"/>
              </a:endParaRPr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D2DC889F-7FBB-7022-C40A-9ABC3453993F}"/>
                </a:ext>
              </a:extLst>
            </p:cNvPr>
            <p:cNvSpPr/>
            <p:nvPr/>
          </p:nvSpPr>
          <p:spPr>
            <a:xfrm>
              <a:off x="275126" y="3789751"/>
              <a:ext cx="1494000" cy="292414"/>
            </a:xfrm>
            <a:custGeom>
              <a:avLst/>
              <a:gdLst>
                <a:gd name="connsiteX0" fmla="*/ 2895600 w 2895600"/>
                <a:gd name="connsiteY0" fmla="*/ 0 h 535860"/>
                <a:gd name="connsiteX1" fmla="*/ 2895600 w 2895600"/>
                <a:gd name="connsiteY1" fmla="*/ 396147 h 535860"/>
                <a:gd name="connsiteX2" fmla="*/ 2755887 w 2895600"/>
                <a:gd name="connsiteY2" fmla="*/ 535860 h 535860"/>
                <a:gd name="connsiteX3" fmla="*/ 139713 w 2895600"/>
                <a:gd name="connsiteY3" fmla="*/ 535860 h 535860"/>
                <a:gd name="connsiteX4" fmla="*/ 0 w 2895600"/>
                <a:gd name="connsiteY4" fmla="*/ 396147 h 535860"/>
                <a:gd name="connsiteX5" fmla="*/ 0 w 2895600"/>
                <a:gd name="connsiteY5" fmla="*/ 203266 h 535860"/>
                <a:gd name="connsiteX6" fmla="*/ 9301 w 2895600"/>
                <a:gd name="connsiteY6" fmla="*/ 207843 h 535860"/>
                <a:gd name="connsiteX7" fmla="*/ 1274905 w 2895600"/>
                <a:gd name="connsiteY7" fmla="*/ 453829 h 535860"/>
                <a:gd name="connsiteX8" fmla="*/ 2810218 w 2895600"/>
                <a:gd name="connsiteY8" fmla="*/ 61819 h 53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600" h="535860">
                  <a:moveTo>
                    <a:pt x="2895600" y="0"/>
                  </a:moveTo>
                  <a:lnTo>
                    <a:pt x="2895600" y="396147"/>
                  </a:lnTo>
                  <a:cubicBezTo>
                    <a:pt x="2895600" y="473308"/>
                    <a:pt x="2833048" y="535860"/>
                    <a:pt x="2755887" y="535860"/>
                  </a:cubicBezTo>
                  <a:lnTo>
                    <a:pt x="139713" y="535860"/>
                  </a:lnTo>
                  <a:cubicBezTo>
                    <a:pt x="62552" y="535860"/>
                    <a:pt x="0" y="473308"/>
                    <a:pt x="0" y="396147"/>
                  </a:cubicBezTo>
                  <a:lnTo>
                    <a:pt x="0" y="203266"/>
                  </a:lnTo>
                  <a:lnTo>
                    <a:pt x="9301" y="207843"/>
                  </a:lnTo>
                  <a:cubicBezTo>
                    <a:pt x="353230" y="361516"/>
                    <a:pt x="794156" y="453829"/>
                    <a:pt x="1274905" y="453829"/>
                  </a:cubicBezTo>
                  <a:cubicBezTo>
                    <a:pt x="1893011" y="453829"/>
                    <a:pt x="2445286" y="301229"/>
                    <a:pt x="2810218" y="61819"/>
                  </a:cubicBezTo>
                  <a:close/>
                </a:path>
              </a:pathLst>
            </a:custGeom>
            <a:solidFill>
              <a:srgbClr val="19968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2" name="内容占位符 1">
            <a:extLst>
              <a:ext uri="{FF2B5EF4-FFF2-40B4-BE49-F238E27FC236}">
                <a16:creationId xmlns:a16="http://schemas.microsoft.com/office/drawing/2014/main" id="{B0ED3DF6-D7F0-CBDB-2319-791F5C364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3602915" cy="806372"/>
          </a:xfrm>
        </p:spPr>
        <p:txBody>
          <a:bodyPr/>
          <a:lstStyle/>
          <a:p>
            <a:r>
              <a:rPr lang="zh-CN" altLang="en-US" dirty="0"/>
              <a:t>合并同心项目集</a:t>
            </a:r>
          </a:p>
        </p:txBody>
      </p:sp>
    </p:spTree>
    <p:extLst>
      <p:ext uri="{BB962C8B-B14F-4D97-AF65-F5344CB8AC3E}">
        <p14:creationId xmlns:p14="http://schemas.microsoft.com/office/powerpoint/2010/main" val="61171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37" grpId="0" animBg="1"/>
      <p:bldP spid="37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7669252-B00E-9718-68F2-3BBA17DFA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LR</a:t>
            </a:r>
            <a:r>
              <a:rPr lang="zh-CN" altLang="en-US" dirty="0"/>
              <a:t>分析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3A84B476-9318-4EA6-8981-D2FFA3EC7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2553" y="2908254"/>
            <a:ext cx="1685023" cy="2154436"/>
          </a:xfrm>
          <a:prstGeom prst="rect">
            <a:avLst/>
          </a:prstGeom>
          <a:solidFill>
            <a:srgbClr val="FFFFFF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 t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+mn-ea"/>
              </a:rPr>
              <a:t>I</a:t>
            </a:r>
            <a:r>
              <a:rPr kumimoji="0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+mn-ea"/>
              </a:rPr>
              <a:t>0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  <a:cs typeface="Times New Roman" panose="02020603050405020304" pitchFamily="18" charset="0"/>
              </a:rPr>
              <a:t>S′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</a:rPr>
              <a:t>→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</a:rPr>
              <a:t>S</a:t>
            </a:r>
            <a:r>
              <a:rPr kumimoji="0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</a:rPr>
              <a:t>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+mn-ea"/>
              </a:rPr>
              <a:t>, 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</a:rPr>
              <a:t>S→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</a:rPr>
              <a:t>L=R , 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</a:rPr>
              <a:t>S→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</a:rPr>
              <a:t>R , 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L→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*R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,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=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|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L→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</a:t>
            </a:r>
            <a:r>
              <a:rPr kumimoji="0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i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,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=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|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</a:t>
            </a:r>
            <a:r>
              <a:rPr kumimoji="0" lang="en-US" altLang="zh-CN" sz="18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#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R→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L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+mn-ea"/>
              </a:rPr>
              <a:t>,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+mn-ea"/>
              </a:rPr>
              <a:t> #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D2BD2D3B-AA12-5FF7-E4DD-1CC0B13B0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036" y="1773673"/>
            <a:ext cx="1684800" cy="707886"/>
          </a:xfrm>
          <a:prstGeom prst="rect">
            <a:avLst/>
          </a:prstGeom>
          <a:solidFill>
            <a:srgbClr val="FFFFFF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I</a:t>
            </a:r>
            <a:r>
              <a:rPr kumimoji="0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1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S′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rPr>
              <a:t>→S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sym typeface="Symbol" panose="05050102010706020507" pitchFamily="18" charset="2"/>
              </a:rPr>
              <a:t> 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</a:rPr>
              <a:t>,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</a:rPr>
              <a:t> #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8DA2336D-D54D-BEFF-A7FB-9F9066FFA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314" y="2704890"/>
            <a:ext cx="1741231" cy="938719"/>
          </a:xfrm>
          <a:prstGeom prst="rect">
            <a:avLst/>
          </a:prstGeom>
          <a:solidFill>
            <a:srgbClr val="FFFFFF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2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S→L</a:t>
            </a:r>
            <a:r>
              <a:rPr kumimoji="1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=R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R→L</a:t>
            </a:r>
            <a:r>
              <a:rPr kumimoji="1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609BCE5E-CEDC-495A-1429-AA0652F90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5317" y="2801584"/>
            <a:ext cx="50319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L</a:t>
            </a: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4662BD3A-5FD5-3064-6483-45EAAD8EE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314" y="3685965"/>
            <a:ext cx="1746927" cy="707886"/>
          </a:xfrm>
          <a:prstGeom prst="rect">
            <a:avLst/>
          </a:prstGeom>
          <a:solidFill>
            <a:srgbClr val="FFFFFF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3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S→R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9" name="Text Box 13">
            <a:extLst>
              <a:ext uri="{FF2B5EF4-FFF2-40B4-BE49-F238E27FC236}">
                <a16:creationId xmlns:a16="http://schemas.microsoft.com/office/drawing/2014/main" id="{63EAB8D4-CCAD-1915-5062-3ECBE5D39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3471" y="3623260"/>
            <a:ext cx="60954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R</a:t>
            </a:r>
          </a:p>
        </p:txBody>
      </p:sp>
      <p:sp>
        <p:nvSpPr>
          <p:cNvPr id="10" name="Text Box 14">
            <a:extLst>
              <a:ext uri="{FF2B5EF4-FFF2-40B4-BE49-F238E27FC236}">
                <a16:creationId xmlns:a16="http://schemas.microsoft.com/office/drawing/2014/main" id="{4415DDB7-4E59-5950-8FCB-C8DE300E0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7426" y="4478128"/>
            <a:ext cx="1745147" cy="1502976"/>
          </a:xfrm>
          <a:prstGeom prst="rect">
            <a:avLst/>
          </a:prstGeom>
          <a:solidFill>
            <a:srgbClr val="FFFFFF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4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L→*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R→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L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, =|#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*R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</a:p>
          <a:p>
            <a:pPr marL="0" marR="0" lvl="0" indent="0" defTabSz="914400" eaLnBrk="0" fontAlgn="base" latinLnBrk="0" hangingPunc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</a:p>
        </p:txBody>
      </p:sp>
      <p:sp>
        <p:nvSpPr>
          <p:cNvPr id="11" name="Text Box 15">
            <a:extLst>
              <a:ext uri="{FF2B5EF4-FFF2-40B4-BE49-F238E27FC236}">
                <a16:creationId xmlns:a16="http://schemas.microsoft.com/office/drawing/2014/main" id="{7B7AA584-EB69-FE35-2AB5-7EF542E93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3561" y="5709512"/>
            <a:ext cx="1774800" cy="707886"/>
          </a:xfrm>
          <a:prstGeom prst="rect">
            <a:avLst/>
          </a:prstGeom>
          <a:solidFill>
            <a:srgbClr val="FFFFFF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5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L→i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7DBC779A-CCC4-655B-9943-7C1421ECE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741" y="4514835"/>
            <a:ext cx="27119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*</a:t>
            </a:r>
          </a:p>
        </p:txBody>
      </p:sp>
      <p:sp>
        <p:nvSpPr>
          <p:cNvPr id="13" name="Text Box 17">
            <a:extLst>
              <a:ext uri="{FF2B5EF4-FFF2-40B4-BE49-F238E27FC236}">
                <a16:creationId xmlns:a16="http://schemas.microsoft.com/office/drawing/2014/main" id="{A8407082-9536-C0E5-8F68-E9BD7269F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246" y="5206470"/>
            <a:ext cx="53335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" name="Text Box 20">
            <a:extLst>
              <a:ext uri="{FF2B5EF4-FFF2-40B4-BE49-F238E27FC236}">
                <a16:creationId xmlns:a16="http://schemas.microsoft.com/office/drawing/2014/main" id="{BAB2BD28-53A6-C60A-5EC7-4F2CC7A2C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8627" y="2829477"/>
            <a:ext cx="45715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=</a:t>
            </a:r>
          </a:p>
        </p:txBody>
      </p:sp>
      <p:sp>
        <p:nvSpPr>
          <p:cNvPr id="15" name="Text Box 21">
            <a:extLst>
              <a:ext uri="{FF2B5EF4-FFF2-40B4-BE49-F238E27FC236}">
                <a16:creationId xmlns:a16="http://schemas.microsoft.com/office/drawing/2014/main" id="{11C50F74-766E-07D1-402C-0B3B01573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410" y="4006974"/>
            <a:ext cx="1774975" cy="707886"/>
          </a:xfrm>
          <a:prstGeom prst="rect">
            <a:avLst/>
          </a:prstGeom>
          <a:solidFill>
            <a:srgbClr val="FFFFFF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7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L→*R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#</a:t>
            </a:r>
          </a:p>
        </p:txBody>
      </p:sp>
      <p:sp>
        <p:nvSpPr>
          <p:cNvPr id="16" name="Text Box 24">
            <a:extLst>
              <a:ext uri="{FF2B5EF4-FFF2-40B4-BE49-F238E27FC236}">
                <a16:creationId xmlns:a16="http://schemas.microsoft.com/office/drawing/2014/main" id="{3B6EED98-0ABE-4A64-A684-9D701197A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3641" y="4831516"/>
            <a:ext cx="1774800" cy="706437"/>
          </a:xfrm>
          <a:prstGeom prst="rect">
            <a:avLst/>
          </a:prstGeom>
          <a:solidFill>
            <a:srgbClr val="FFFFFF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8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R→L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zh-CN" altLang="en-US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=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|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17" name="Text Box 26">
            <a:extLst>
              <a:ext uri="{FF2B5EF4-FFF2-40B4-BE49-F238E27FC236}">
                <a16:creationId xmlns:a16="http://schemas.microsoft.com/office/drawing/2014/main" id="{C1D1B63B-3218-AA69-1FD9-68307D7CF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2077" y="4806390"/>
            <a:ext cx="38096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L</a:t>
            </a:r>
          </a:p>
        </p:txBody>
      </p:sp>
      <p:sp>
        <p:nvSpPr>
          <p:cNvPr id="18" name="Text Box 27">
            <a:extLst>
              <a:ext uri="{FF2B5EF4-FFF2-40B4-BE49-F238E27FC236}">
                <a16:creationId xmlns:a16="http://schemas.microsoft.com/office/drawing/2014/main" id="{362CD109-26EA-7404-914D-F3C0A7967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6158" y="1787700"/>
            <a:ext cx="1742400" cy="707886"/>
          </a:xfrm>
          <a:prstGeom prst="rect">
            <a:avLst/>
          </a:prstGeom>
          <a:solidFill>
            <a:srgbClr val="FFFFFF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9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S→L=R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sp>
        <p:nvSpPr>
          <p:cNvPr id="19" name="Text Box 29">
            <a:extLst>
              <a:ext uri="{FF2B5EF4-FFF2-40B4-BE49-F238E27FC236}">
                <a16:creationId xmlns:a16="http://schemas.microsoft.com/office/drawing/2014/main" id="{793C1EB4-BBE3-C6A1-5173-0CA806857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5687" y="1759867"/>
            <a:ext cx="4178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R</a:t>
            </a:r>
          </a:p>
        </p:txBody>
      </p:sp>
      <p:sp>
        <p:nvSpPr>
          <p:cNvPr id="20" name="Text Box 33">
            <a:extLst>
              <a:ext uri="{FF2B5EF4-FFF2-40B4-BE49-F238E27FC236}">
                <a16:creationId xmlns:a16="http://schemas.microsoft.com/office/drawing/2014/main" id="{811126D5-0E3F-8F1C-0356-AEB90F0FA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081" y="2504483"/>
            <a:ext cx="53335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S</a:t>
            </a:r>
          </a:p>
        </p:txBody>
      </p:sp>
      <p:sp>
        <p:nvSpPr>
          <p:cNvPr id="21" name="Text Box 35">
            <a:extLst>
              <a:ext uri="{FF2B5EF4-FFF2-40B4-BE49-F238E27FC236}">
                <a16:creationId xmlns:a16="http://schemas.microsoft.com/office/drawing/2014/main" id="{B308356A-ABD9-C11B-2F82-B3211DD07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7948" y="5471305"/>
            <a:ext cx="53335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2" name="Text Box 40">
            <a:extLst>
              <a:ext uri="{FF2B5EF4-FFF2-40B4-BE49-F238E27FC236}">
                <a16:creationId xmlns:a16="http://schemas.microsoft.com/office/drawing/2014/main" id="{F3639F69-74F9-07D1-24BC-03FCDA182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6835" y="5092670"/>
            <a:ext cx="30454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*</a:t>
            </a:r>
          </a:p>
        </p:txBody>
      </p:sp>
      <p:sp>
        <p:nvSpPr>
          <p:cNvPr id="23" name="Text Box 18">
            <a:extLst>
              <a:ext uri="{FF2B5EF4-FFF2-40B4-BE49-F238E27FC236}">
                <a16:creationId xmlns:a16="http://schemas.microsoft.com/office/drawing/2014/main" id="{9BA4D2B2-0E06-A07C-DF8A-C551C3EFE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2929" y="1853085"/>
            <a:ext cx="1774800" cy="1631950"/>
          </a:xfrm>
          <a:prstGeom prst="rect">
            <a:avLst/>
          </a:prstGeom>
          <a:solidFill>
            <a:srgbClr val="FFFFFF"/>
          </a:solidFill>
          <a:ln w="12700">
            <a:solidFill>
              <a:sysClr val="windowText" lastClr="000000"/>
            </a:solidFill>
            <a:miter lim="800000"/>
            <a:headEnd type="none" w="sm" len="sm"/>
            <a:tailEnd type="none" w="sm" len="sm"/>
          </a:ln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6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:</a:t>
            </a:r>
          </a:p>
          <a:p>
            <a:pPr marL="0" marR="0" lvl="0" indent="0" defTabSz="91440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S→L=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R , #</a:t>
            </a:r>
          </a:p>
          <a:p>
            <a:pPr marL="0" marR="0" lvl="0" indent="0" defTabSz="91440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R→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L , #</a:t>
            </a:r>
          </a:p>
          <a:p>
            <a:pPr marL="0" marR="0" lvl="0" indent="0" defTabSz="91440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*R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  <a:p>
            <a:pPr marL="0" marR="0" lvl="0" indent="0" defTabSz="914400" eaLnBrk="0" fontAlgn="base" latinLnBrk="0" hangingPunct="0">
              <a:lnSpc>
                <a:spcPts val="2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L→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•</a:t>
            </a: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2000" u="none" strike="noStrike" kern="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i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1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ea"/>
                <a:ea typeface="+mn-ea"/>
              </a:rPr>
              <a:t> #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F20508B-CA24-2305-F856-D90BFBA510E2}"/>
              </a:ext>
            </a:extLst>
          </p:cNvPr>
          <p:cNvCxnSpPr>
            <a:cxnSpLocks/>
          </p:cNvCxnSpPr>
          <p:nvPr/>
        </p:nvCxnSpPr>
        <p:spPr>
          <a:xfrm flipV="1">
            <a:off x="2897576" y="3164417"/>
            <a:ext cx="489850" cy="30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2233534-B783-872E-9FE0-0FA503B5DE8C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H="1" flipV="1">
            <a:off x="2051436" y="2481559"/>
            <a:ext cx="3629" cy="4266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E0CC68D-E75E-E63B-D977-5CE0E0EF94D8}"/>
              </a:ext>
            </a:extLst>
          </p:cNvPr>
          <p:cNvCxnSpPr>
            <a:cxnSpLocks/>
          </p:cNvCxnSpPr>
          <p:nvPr/>
        </p:nvCxnSpPr>
        <p:spPr>
          <a:xfrm flipV="1">
            <a:off x="2887134" y="4022667"/>
            <a:ext cx="489850" cy="30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曲线 26">
            <a:extLst>
              <a:ext uri="{FF2B5EF4-FFF2-40B4-BE49-F238E27FC236}">
                <a16:creationId xmlns:a16="http://schemas.microsoft.com/office/drawing/2014/main" id="{66BEA877-4295-8D45-ECC0-9C9CCFC8458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83388" y="5028804"/>
            <a:ext cx="918" cy="429146"/>
          </a:xfrm>
          <a:prstGeom prst="curvedConnector3">
            <a:avLst>
              <a:gd name="adj1" fmla="val 25001961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2D24F86-7F8E-203D-DB1B-2BBCF056BF55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5108558" y="2141643"/>
            <a:ext cx="56538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3813FFB-651D-F75D-6DC3-FB3ABFFF3DFB}"/>
              </a:ext>
            </a:extLst>
          </p:cNvPr>
          <p:cNvCxnSpPr>
            <a:cxnSpLocks/>
          </p:cNvCxnSpPr>
          <p:nvPr/>
        </p:nvCxnSpPr>
        <p:spPr>
          <a:xfrm>
            <a:off x="5140501" y="3200307"/>
            <a:ext cx="53673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32483B2-0C57-E11A-0DAE-324DA89E394E}"/>
              </a:ext>
            </a:extLst>
          </p:cNvPr>
          <p:cNvCxnSpPr>
            <a:cxnSpLocks/>
          </p:cNvCxnSpPr>
          <p:nvPr/>
        </p:nvCxnSpPr>
        <p:spPr>
          <a:xfrm>
            <a:off x="5145231" y="4560188"/>
            <a:ext cx="52211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Box 23">
            <a:extLst>
              <a:ext uri="{FF2B5EF4-FFF2-40B4-BE49-F238E27FC236}">
                <a16:creationId xmlns:a16="http://schemas.microsoft.com/office/drawing/2014/main" id="{FE5BC4FF-2998-A7DB-BBA5-E23412E6F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6880" y="4213070"/>
            <a:ext cx="45715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R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86E1DDB-1952-EED5-B700-6DBEB911F91B}"/>
              </a:ext>
            </a:extLst>
          </p:cNvPr>
          <p:cNvCxnSpPr>
            <a:cxnSpLocks/>
          </p:cNvCxnSpPr>
          <p:nvPr/>
        </p:nvCxnSpPr>
        <p:spPr>
          <a:xfrm>
            <a:off x="5137211" y="5177806"/>
            <a:ext cx="52211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65365A9-6C27-8BEE-143A-3F14657F1A73}"/>
              </a:ext>
            </a:extLst>
          </p:cNvPr>
          <p:cNvCxnSpPr>
            <a:cxnSpLocks/>
          </p:cNvCxnSpPr>
          <p:nvPr/>
        </p:nvCxnSpPr>
        <p:spPr>
          <a:xfrm>
            <a:off x="5134015" y="5839229"/>
            <a:ext cx="522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90511897-4CDA-2F61-E8D7-441FDE05B0EA}"/>
              </a:ext>
            </a:extLst>
          </p:cNvPr>
          <p:cNvCxnSpPr>
            <a:cxnSpLocks/>
          </p:cNvCxnSpPr>
          <p:nvPr/>
        </p:nvCxnSpPr>
        <p:spPr>
          <a:xfrm flipV="1">
            <a:off x="2897578" y="4816747"/>
            <a:ext cx="489850" cy="30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960E296F-5028-D742-0359-ED72F0677B9E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3279801" y="3837954"/>
            <a:ext cx="1127449" cy="3576920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7717132B-7A1E-5C06-EF1D-95A7642B33F4}"/>
              </a:ext>
            </a:extLst>
          </p:cNvPr>
          <p:cNvCxnSpPr/>
          <p:nvPr/>
        </p:nvCxnSpPr>
        <p:spPr>
          <a:xfrm flipH="1">
            <a:off x="5111858" y="3498629"/>
            <a:ext cx="571288" cy="101620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Box 46">
            <a:extLst>
              <a:ext uri="{FF2B5EF4-FFF2-40B4-BE49-F238E27FC236}">
                <a16:creationId xmlns:a16="http://schemas.microsoft.com/office/drawing/2014/main" id="{68363480-DE00-8B93-ADA3-1620DC2C2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7177" y="3545096"/>
            <a:ext cx="360370" cy="400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*</a:t>
            </a:r>
          </a:p>
        </p:txBody>
      </p:sp>
      <p:cxnSp>
        <p:nvCxnSpPr>
          <p:cNvPr id="38" name="连接符: 曲线 37">
            <a:extLst>
              <a:ext uri="{FF2B5EF4-FFF2-40B4-BE49-F238E27FC236}">
                <a16:creationId xmlns:a16="http://schemas.microsoft.com/office/drawing/2014/main" id="{0A80EFA4-D290-7A6B-1D66-61237070BD73}"/>
              </a:ext>
            </a:extLst>
          </p:cNvPr>
          <p:cNvCxnSpPr>
            <a:cxnSpLocks/>
          </p:cNvCxnSpPr>
          <p:nvPr/>
        </p:nvCxnSpPr>
        <p:spPr>
          <a:xfrm>
            <a:off x="7445174" y="2369658"/>
            <a:ext cx="12700" cy="3718907"/>
          </a:xfrm>
          <a:prstGeom prst="curvedConnector3">
            <a:avLst>
              <a:gd name="adj1" fmla="val 3725079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曲线 38">
            <a:extLst>
              <a:ext uri="{FF2B5EF4-FFF2-40B4-BE49-F238E27FC236}">
                <a16:creationId xmlns:a16="http://schemas.microsoft.com/office/drawing/2014/main" id="{C2AFFBB3-163C-9C85-A537-DA3EECC4D50E}"/>
              </a:ext>
            </a:extLst>
          </p:cNvPr>
          <p:cNvCxnSpPr>
            <a:cxnSpLocks/>
          </p:cNvCxnSpPr>
          <p:nvPr/>
        </p:nvCxnSpPr>
        <p:spPr>
          <a:xfrm>
            <a:off x="7445810" y="2768819"/>
            <a:ext cx="12700" cy="2418194"/>
          </a:xfrm>
          <a:prstGeom prst="curvedConnector3">
            <a:avLst>
              <a:gd name="adj1" fmla="val 1574236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Box 44">
            <a:extLst>
              <a:ext uri="{FF2B5EF4-FFF2-40B4-BE49-F238E27FC236}">
                <a16:creationId xmlns:a16="http://schemas.microsoft.com/office/drawing/2014/main" id="{AE1ADE49-1296-ED3B-8343-15BDD202E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814" y="2687991"/>
            <a:ext cx="3593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L</a:t>
            </a:r>
          </a:p>
        </p:txBody>
      </p:sp>
      <p:sp>
        <p:nvSpPr>
          <p:cNvPr id="41" name="Text Box 32">
            <a:extLst>
              <a:ext uri="{FF2B5EF4-FFF2-40B4-BE49-F238E27FC236}">
                <a16:creationId xmlns:a16="http://schemas.microsoft.com/office/drawing/2014/main" id="{7C4FAB4B-8C20-D845-22CA-BD265C657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940" y="2095476"/>
            <a:ext cx="5032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i</a:t>
            </a:r>
            <a:endParaRPr kumimoji="0" lang="en-US" altLang="zh-C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2" name="矩形 2">
            <a:extLst>
              <a:ext uri="{FF2B5EF4-FFF2-40B4-BE49-F238E27FC236}">
                <a16:creationId xmlns:a16="http://schemas.microsoft.com/office/drawing/2014/main" id="{6008163D-E3E7-ADD6-9FD2-7A3881F6D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43" y="6138721"/>
            <a:ext cx="18934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2D83F4"/>
                </a:solidFill>
                <a:latin typeface="+mn-ea"/>
                <a:cs typeface="Times New Roman" panose="02020603050405020304" pitchFamily="18" charset="0"/>
              </a:rPr>
              <a:t>LALR(1)</a:t>
            </a:r>
            <a:r>
              <a:rPr lang="zh-CN" altLang="en-US" sz="2000" dirty="0">
                <a:solidFill>
                  <a:srgbClr val="2D83F4"/>
                </a:solidFill>
                <a:latin typeface="+mn-ea"/>
                <a:cs typeface="Times New Roman" panose="02020603050405020304" pitchFamily="18" charset="0"/>
              </a:rPr>
              <a:t>自动机</a:t>
            </a:r>
          </a:p>
        </p:txBody>
      </p:sp>
      <p:sp>
        <p:nvSpPr>
          <p:cNvPr id="43" name="矩形 48">
            <a:extLst>
              <a:ext uri="{FF2B5EF4-FFF2-40B4-BE49-F238E27FC236}">
                <a16:creationId xmlns:a16="http://schemas.microsoft.com/office/drawing/2014/main" id="{67FBEE42-B38D-4272-14BD-0F5DBE9D9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7318" y="1295250"/>
            <a:ext cx="18934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>
                <a:solidFill>
                  <a:schemeClr val="tx2"/>
                </a:solidFill>
                <a:latin typeface="Candara" panose="020E0502030303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>
                <a:solidFill>
                  <a:schemeClr val="tx2"/>
                </a:solidFill>
                <a:latin typeface="Candara" panose="020E0502030303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>
                <a:solidFill>
                  <a:schemeClr val="tx2"/>
                </a:solidFill>
                <a:latin typeface="Candara" panose="020E0502030303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>
                <a:solidFill>
                  <a:schemeClr val="tx2"/>
                </a:solidFill>
                <a:latin typeface="Candara" panose="020E0502030303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LALR(1)</a:t>
            </a:r>
            <a:r>
              <a:rPr lang="zh-CN" altLang="en-US" sz="20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分析表</a:t>
            </a:r>
            <a:endParaRPr lang="zh-CN" altLang="en-US" sz="2000" dirty="0">
              <a:solidFill>
                <a:prstClr val="black"/>
              </a:solidFill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44" name="表格 43">
            <a:extLst>
              <a:ext uri="{FF2B5EF4-FFF2-40B4-BE49-F238E27FC236}">
                <a16:creationId xmlns:a16="http://schemas.microsoft.com/office/drawing/2014/main" id="{ED1AF5A4-AF3A-6021-D89E-C421D1C4D9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6601883"/>
              </p:ext>
            </p:extLst>
          </p:nvPr>
        </p:nvGraphicFramePr>
        <p:xfrm>
          <a:off x="8170851" y="1748884"/>
          <a:ext cx="3160382" cy="3748752"/>
        </p:xfrm>
        <a:graphic>
          <a:graphicData uri="http://schemas.openxmlformats.org/drawingml/2006/table">
            <a:tbl>
              <a:tblPr>
                <a:effectLst>
                  <a:outerShdw blurRad="50800" dist="50800" dir="2700000" algn="ctr" rotWithShape="0">
                    <a:schemeClr val="tx1">
                      <a:alpha val="40000"/>
                    </a:schemeClr>
                  </a:outerShdw>
                </a:effectLst>
              </a:tblPr>
              <a:tblGrid>
                <a:gridCol w="292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2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8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66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5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66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2575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1600" b="0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状态</a:t>
                      </a: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ACTION</a:t>
                      </a:r>
                      <a:endParaRPr lang="zh-CN" altLang="en-US" sz="1600" b="0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GOTO</a:t>
                      </a:r>
                      <a:endParaRPr lang="zh-CN" altLang="en-US" sz="1600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0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</a:t>
                      </a:r>
                      <a:endParaRPr lang="zh-CN" altLang="en-US" sz="1600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=</a:t>
                      </a:r>
                      <a:endParaRPr lang="zh-CN" altLang="en-US" sz="1600" b="0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#</a:t>
                      </a:r>
                      <a:endParaRPr lang="zh-CN" altLang="en-US" sz="1600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0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</a:t>
                      </a:r>
                      <a:endParaRPr lang="zh-CN" altLang="en-US" sz="1600" b="0" i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R</a:t>
                      </a:r>
                      <a:endParaRPr lang="zh-CN" altLang="en-US" sz="1600" b="0" i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E7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 dirty="0">
                          <a:latin typeface="+mn-ea"/>
                          <a:ea typeface="+mn-ea"/>
                        </a:rPr>
                        <a:t>s4</a:t>
                      </a:r>
                      <a:endParaRPr lang="zh-CN" altLang="en-US" sz="1600" b="0" i="0" dirty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latin typeface="+mn-ea"/>
                          <a:ea typeface="+mn-ea"/>
                        </a:rPr>
                        <a:t>s5</a:t>
                      </a: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latin typeface="+mn-ea"/>
                          <a:ea typeface="+mn-ea"/>
                        </a:rPr>
                        <a:t>2</a:t>
                      </a: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1600" b="0" i="0" dirty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 dirty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latin typeface="+mn-ea"/>
                          <a:ea typeface="+mn-ea"/>
                        </a:rPr>
                        <a:t>acc</a:t>
                      </a: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 dirty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zh-CN" altLang="en-US" sz="16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latin typeface="+mn-ea"/>
                          <a:ea typeface="+mn-ea"/>
                        </a:rPr>
                        <a:t>s6</a:t>
                      </a: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latin typeface="+mn-ea"/>
                          <a:ea typeface="+mn-ea"/>
                        </a:rPr>
                        <a:t>r5</a:t>
                      </a: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 dirty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zh-CN" altLang="en-US" sz="16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latin typeface="+mn-ea"/>
                          <a:ea typeface="+mn-ea"/>
                        </a:rPr>
                        <a:t>r2</a:t>
                      </a: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 dirty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5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zh-CN" altLang="en-US" sz="16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latin typeface="+mn-ea"/>
                          <a:ea typeface="+mn-ea"/>
                        </a:rPr>
                        <a:t>s4</a:t>
                      </a: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latin typeface="+mn-ea"/>
                          <a:ea typeface="+mn-ea"/>
                        </a:rPr>
                        <a:t>s5</a:t>
                      </a: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latin typeface="+mn-ea"/>
                          <a:ea typeface="+mn-ea"/>
                        </a:rPr>
                        <a:t>8</a:t>
                      </a: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 dirty="0">
                          <a:latin typeface="+mn-ea"/>
                          <a:ea typeface="+mn-ea"/>
                        </a:rPr>
                        <a:t>7</a:t>
                      </a:r>
                      <a:endParaRPr lang="zh-CN" altLang="en-US" sz="1600" b="0" i="0" dirty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5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zh-CN" altLang="en-US" sz="16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latin typeface="+mn-ea"/>
                          <a:ea typeface="+mn-ea"/>
                        </a:rPr>
                        <a:t>r4</a:t>
                      </a: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latin typeface="+mn-ea"/>
                          <a:ea typeface="+mn-ea"/>
                        </a:rPr>
                        <a:t>r4</a:t>
                      </a: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 dirty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5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zh-CN" altLang="en-US" sz="16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s4</a:t>
                      </a:r>
                      <a:endParaRPr lang="zh-CN" altLang="en-US" sz="1600" b="0" i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s5</a:t>
                      </a:r>
                      <a:endParaRPr lang="zh-CN" altLang="en-US" sz="1600" b="0" i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zh-CN" altLang="en-US" sz="1600" b="0" i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 dirty="0">
                          <a:latin typeface="+mn-ea"/>
                          <a:ea typeface="+mn-ea"/>
                        </a:rPr>
                        <a:t>9</a:t>
                      </a:r>
                      <a:endParaRPr lang="zh-CN" altLang="en-US" sz="1600" b="0" i="0" dirty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5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zh-CN" altLang="en-US" sz="16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latin typeface="+mn-ea"/>
                          <a:ea typeface="+mn-ea"/>
                        </a:rPr>
                        <a:t>r3</a:t>
                      </a: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latin typeface="+mn-ea"/>
                          <a:ea typeface="+mn-ea"/>
                        </a:rPr>
                        <a:t>r3</a:t>
                      </a: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 dirty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5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zh-CN" altLang="en-US" sz="16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latin typeface="+mn-ea"/>
                          <a:ea typeface="+mn-ea"/>
                        </a:rPr>
                        <a:t>r5</a:t>
                      </a: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>
                          <a:latin typeface="+mn-ea"/>
                          <a:ea typeface="+mn-ea"/>
                        </a:rPr>
                        <a:t>r5</a:t>
                      </a: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 dirty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5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1" i="0" dirty="0">
                          <a:solidFill>
                            <a:srgbClr val="0E7C7E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zh-CN" altLang="en-US" sz="1600" b="1" i="0" dirty="0">
                        <a:solidFill>
                          <a:srgbClr val="0E7C7E"/>
                        </a:solidFill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 dirty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 dirty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1600" b="0" i="0" dirty="0">
                          <a:latin typeface="+mn-ea"/>
                          <a:ea typeface="+mn-ea"/>
                        </a:rPr>
                        <a:t>r1</a:t>
                      </a:r>
                      <a:endParaRPr lang="zh-CN" altLang="en-US" sz="1600" b="0" i="0" dirty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 dirty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ndara"/>
                        </a:defRPr>
                      </a:lvl9pPr>
                    </a:lstStyle>
                    <a:p>
                      <a:pPr lvl="0" algn="ctr" eaLnBrk="1" hangingPunct="1">
                        <a:buNone/>
                      </a:pPr>
                      <a:endParaRPr lang="zh-CN" altLang="en-US" sz="1600" b="0" i="0" dirty="0">
                        <a:latin typeface="+mn-ea"/>
                        <a:ea typeface="+mn-ea"/>
                      </a:endParaRPr>
                    </a:p>
                  </a:txBody>
                  <a:tcPr marL="91462" marR="91462" marT="34278" marB="34278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7" name="内容占位符 1">
            <a:extLst>
              <a:ext uri="{FF2B5EF4-FFF2-40B4-BE49-F238E27FC236}">
                <a16:creationId xmlns:a16="http://schemas.microsoft.com/office/drawing/2014/main" id="{CA287D0A-087E-6F33-AC99-BE1536297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7493368" cy="560565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合并同心项目集没有归约</a:t>
            </a:r>
            <a:r>
              <a:rPr lang="en-US" altLang="zh-CN" sz="2000" dirty="0"/>
              <a:t>-</a:t>
            </a:r>
            <a:r>
              <a:rPr lang="zh-CN" altLang="en-US" sz="2000" dirty="0"/>
              <a:t>归约冲突，是</a:t>
            </a:r>
            <a:r>
              <a:rPr lang="en-US" altLang="zh-CN" sz="2000" dirty="0"/>
              <a:t>LALR(1)</a:t>
            </a:r>
            <a:endParaRPr lang="zh-CN" altLang="en-US" sz="20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5F14A83-DFC2-33C6-9719-28EEBEBB3DFA}"/>
              </a:ext>
            </a:extLst>
          </p:cNvPr>
          <p:cNvSpPr txBox="1"/>
          <p:nvPr/>
        </p:nvSpPr>
        <p:spPr>
          <a:xfrm>
            <a:off x="8170851" y="5740289"/>
            <a:ext cx="34705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思考：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会不会发生 移进</a:t>
            </a:r>
            <a:r>
              <a:rPr lang="en-US" altLang="zh-CN" dirty="0"/>
              <a:t>-</a:t>
            </a:r>
            <a:r>
              <a:rPr lang="zh-CN" altLang="en-US" dirty="0"/>
              <a:t>归约冲突？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如果没有同心项目集呢？</a:t>
            </a:r>
          </a:p>
        </p:txBody>
      </p:sp>
    </p:spTree>
    <p:extLst>
      <p:ext uri="{BB962C8B-B14F-4D97-AF65-F5344CB8AC3E}">
        <p14:creationId xmlns:p14="http://schemas.microsoft.com/office/powerpoint/2010/main" val="69244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3B57AF-40F6-5C9F-5744-5F7B734DD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6-L</a:t>
            </a:r>
            <a:r>
              <a:rPr lang="zh-CN" altLang="en-US" dirty="0"/>
              <a:t>翻译模式与中间代码生成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77092D-A8E1-94DF-4D51-A02085AD5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b="0" dirty="0"/>
              <a:t>S</a:t>
            </a:r>
            <a:r>
              <a:rPr lang="zh-CN" altLang="en-US" sz="2800" b="0" dirty="0"/>
              <a:t>翻译模式与</a:t>
            </a:r>
            <a:r>
              <a:rPr lang="en-US" altLang="zh-CN" sz="2800" b="0" dirty="0"/>
              <a:t>L</a:t>
            </a:r>
            <a:r>
              <a:rPr lang="zh-CN" altLang="en-US" sz="2800" b="0" dirty="0"/>
              <a:t>翻译模式的识别</a:t>
            </a:r>
            <a:endParaRPr lang="en-US" altLang="zh-CN" sz="2800" b="0" dirty="0"/>
          </a:p>
          <a:p>
            <a:r>
              <a:rPr lang="zh-CN" altLang="en-US" sz="2800" b="0" dirty="0"/>
              <a:t>综合属性与继承属性</a:t>
            </a:r>
            <a:endParaRPr lang="en-US" altLang="zh-CN" sz="2800" b="0" dirty="0"/>
          </a:p>
          <a:p>
            <a:r>
              <a:rPr lang="zh-CN" altLang="en-US" sz="2800" b="0" dirty="0"/>
              <a:t>语法分析树和抽象语法树的构造</a:t>
            </a:r>
            <a:endParaRPr lang="en-US" altLang="zh-CN" sz="2800" b="0" dirty="0"/>
          </a:p>
          <a:p>
            <a:r>
              <a:rPr lang="zh-CN" altLang="en-US" sz="2800" b="0" dirty="0"/>
              <a:t>语法制导的</a:t>
            </a:r>
            <a:r>
              <a:rPr lang="en-US" altLang="zh-CN" sz="2800" b="0" dirty="0"/>
              <a:t>L-</a:t>
            </a:r>
            <a:r>
              <a:rPr lang="zh-CN" altLang="en-US" sz="2800" b="0" dirty="0"/>
              <a:t>翻译模式实现中间代码生成</a:t>
            </a:r>
            <a:endParaRPr lang="en-US" altLang="zh-CN" sz="2800" b="0" dirty="0"/>
          </a:p>
          <a:p>
            <a:pPr lvl="1"/>
            <a:r>
              <a:rPr lang="zh-CN" altLang="en-US" sz="2600" dirty="0">
                <a:solidFill>
                  <a:srgbClr val="0000FF"/>
                </a:solidFill>
              </a:rPr>
              <a:t>注：一个只有算术和逻辑表达式</a:t>
            </a:r>
            <a:r>
              <a:rPr lang="en-US" altLang="zh-CN" sz="2600" dirty="0">
                <a:solidFill>
                  <a:srgbClr val="0000FF"/>
                </a:solidFill>
              </a:rPr>
              <a:t>/</a:t>
            </a:r>
            <a:r>
              <a:rPr lang="zh-CN" altLang="en-US" sz="2600" dirty="0">
                <a:solidFill>
                  <a:srgbClr val="0000FF"/>
                </a:solidFill>
              </a:rPr>
              <a:t>赋值语句</a:t>
            </a:r>
            <a:r>
              <a:rPr lang="en-US" altLang="zh-CN" sz="2600" dirty="0">
                <a:solidFill>
                  <a:srgbClr val="0000FF"/>
                </a:solidFill>
              </a:rPr>
              <a:t>/if/while</a:t>
            </a:r>
            <a:r>
              <a:rPr lang="zh-CN" altLang="en-US" sz="2600" dirty="0">
                <a:solidFill>
                  <a:srgbClr val="0000FF"/>
                </a:solidFill>
              </a:rPr>
              <a:t>语句以及由以上语句构成的复合语句，只有</a:t>
            </a:r>
            <a:r>
              <a:rPr lang="en-US" altLang="zh-CN" sz="2600" dirty="0">
                <a:solidFill>
                  <a:srgbClr val="0000FF"/>
                </a:solidFill>
              </a:rPr>
              <a:t>int</a:t>
            </a:r>
            <a:r>
              <a:rPr lang="zh-CN" altLang="en-US" sz="2600" dirty="0">
                <a:solidFill>
                  <a:srgbClr val="0000FF"/>
                </a:solidFill>
              </a:rPr>
              <a:t>类型的小型语言系统。给定</a:t>
            </a:r>
            <a:r>
              <a:rPr lang="en-US" altLang="zh-CN" sz="2600" dirty="0">
                <a:solidFill>
                  <a:srgbClr val="0000FF"/>
                </a:solidFill>
              </a:rPr>
              <a:t>/</a:t>
            </a:r>
            <a:r>
              <a:rPr lang="zh-CN" altLang="en-US" sz="2600" dirty="0">
                <a:solidFill>
                  <a:srgbClr val="0000FF"/>
                </a:solidFill>
              </a:rPr>
              <a:t>设计翻译模式，能根据文法和翻译模式生成中间代码片断</a:t>
            </a:r>
          </a:p>
        </p:txBody>
      </p:sp>
    </p:spTree>
    <p:extLst>
      <p:ext uri="{BB962C8B-B14F-4D97-AF65-F5344CB8AC3E}">
        <p14:creationId xmlns:p14="http://schemas.microsoft.com/office/powerpoint/2010/main" val="1482169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B2FC3E2-68F2-7A63-2E73-AB138DFFA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L-</a:t>
            </a:r>
            <a:r>
              <a:rPr lang="zh-CN" altLang="en-US" dirty="0"/>
              <a:t>翻译模式与</a:t>
            </a:r>
            <a:r>
              <a:rPr lang="en-US" altLang="zh-CN" dirty="0"/>
              <a:t>IR</a:t>
            </a:r>
            <a:r>
              <a:rPr lang="zh-CN" altLang="en-US" dirty="0"/>
              <a:t>生成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2BEED9-E83E-22E6-3B80-F64C3003BCE2}"/>
              </a:ext>
            </a:extLst>
          </p:cNvPr>
          <p:cNvSpPr txBox="1"/>
          <p:nvPr/>
        </p:nvSpPr>
        <p:spPr>
          <a:xfrm>
            <a:off x="285385" y="1617617"/>
            <a:ext cx="11621230" cy="4801314"/>
          </a:xfrm>
          <a:prstGeom prst="rect">
            <a:avLst/>
          </a:prstGeom>
          <a:solidFill>
            <a:srgbClr val="FFFFFF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fr-FR" altLang="zh-CN" dirty="0"/>
              <a:t>S →'if' '(' </a:t>
            </a:r>
            <a:r>
              <a:rPr lang="fr-FR" altLang="zh-CN" dirty="0">
                <a:solidFill>
                  <a:srgbClr val="C00000"/>
                </a:solidFill>
              </a:rPr>
              <a:t>{ E.true :=newlabel;E.false :=S.next} </a:t>
            </a:r>
            <a:r>
              <a:rPr lang="fr-FR" altLang="zh-CN" dirty="0"/>
              <a:t>E ')' </a:t>
            </a:r>
            <a:r>
              <a:rPr lang="fr-FR" altLang="zh-CN" dirty="0">
                <a:solidFill>
                  <a:srgbClr val="C00000"/>
                </a:solidFill>
              </a:rPr>
              <a:t>{ S1.next := S.next } </a:t>
            </a:r>
            <a:r>
              <a:rPr lang="fr-FR" altLang="zh-CN" dirty="0"/>
              <a:t>S1 </a:t>
            </a:r>
          </a:p>
          <a:p>
            <a:r>
              <a:rPr lang="fr-FR" altLang="zh-CN" dirty="0">
                <a:solidFill>
                  <a:srgbClr val="0000FF"/>
                </a:solidFill>
              </a:rPr>
              <a:t>{ S.code := E.code|| gen(E.true ':') || S1.code}</a:t>
            </a:r>
          </a:p>
          <a:p>
            <a:r>
              <a:rPr lang="fr-FR" altLang="zh-CN" dirty="0"/>
              <a:t>S →'if' '(' </a:t>
            </a:r>
            <a:r>
              <a:rPr lang="fr-FR" altLang="zh-CN" dirty="0">
                <a:solidFill>
                  <a:srgbClr val="C00000"/>
                </a:solidFill>
              </a:rPr>
              <a:t>{ E.true :=newlabel;E.false :=newlabel}</a:t>
            </a:r>
            <a:r>
              <a:rPr lang="fr-FR" altLang="zh-CN" dirty="0"/>
              <a:t> E ')'   </a:t>
            </a:r>
            <a:r>
              <a:rPr lang="fr-FR" altLang="zh-CN" dirty="0">
                <a:solidFill>
                  <a:srgbClr val="C00000"/>
                </a:solidFill>
              </a:rPr>
              <a:t>{ S1.next := S.next }</a:t>
            </a:r>
            <a:r>
              <a:rPr lang="fr-FR" altLang="zh-CN" dirty="0"/>
              <a:t> S1 'else</a:t>
            </a:r>
            <a:r>
              <a:rPr lang="fr-FR" altLang="zh-CN" dirty="0">
                <a:solidFill>
                  <a:srgbClr val="C00000"/>
                </a:solidFill>
              </a:rPr>
              <a:t>'  { S2.next := S.next } </a:t>
            </a:r>
            <a:r>
              <a:rPr lang="fr-FR" altLang="zh-CN" dirty="0"/>
              <a:t>S2  </a:t>
            </a:r>
            <a:r>
              <a:rPr lang="fr-FR" altLang="zh-CN" dirty="0">
                <a:solidFill>
                  <a:srgbClr val="0000FF"/>
                </a:solidFill>
              </a:rPr>
              <a:t>{ S.code := E.code|| gen(E.true ':') || S1.code|| gen(‘goto’ S.next) || gen(E.false  ':') || S2.code}</a:t>
            </a:r>
          </a:p>
          <a:p>
            <a:r>
              <a:rPr lang="fr-FR" altLang="zh-CN" dirty="0"/>
              <a:t>S →'while' '(' { </a:t>
            </a:r>
            <a:r>
              <a:rPr lang="fr-FR" altLang="zh-CN" dirty="0">
                <a:solidFill>
                  <a:srgbClr val="C00000"/>
                </a:solidFill>
              </a:rPr>
              <a:t>E.true :=newlabel;E.false :=S.next}</a:t>
            </a:r>
            <a:r>
              <a:rPr lang="fr-FR" altLang="zh-CN" dirty="0"/>
              <a:t> E ')'  </a:t>
            </a:r>
            <a:r>
              <a:rPr lang="fr-FR" altLang="zh-CN" dirty="0">
                <a:solidFill>
                  <a:srgbClr val="C00000"/>
                </a:solidFill>
              </a:rPr>
              <a:t>{ S1.next := newlabel }</a:t>
            </a:r>
            <a:r>
              <a:rPr lang="fr-FR" altLang="zh-CN" dirty="0"/>
              <a:t> S1  </a:t>
            </a:r>
          </a:p>
          <a:p>
            <a:r>
              <a:rPr lang="fr-FR" altLang="zh-CN" dirty="0">
                <a:solidFill>
                  <a:srgbClr val="0000FF"/>
                </a:solidFill>
              </a:rPr>
              <a:t>{ S.code := gen(S1.next ‘:’)|| E.code || gen(E.true  ':')|| S1.code   || gen(‘goto’ S1.next)</a:t>
            </a:r>
            <a:r>
              <a:rPr lang="zh-CN" altLang="fr-FR" dirty="0">
                <a:solidFill>
                  <a:srgbClr val="0000FF"/>
                </a:solidFill>
              </a:rPr>
              <a:t>　</a:t>
            </a:r>
            <a:r>
              <a:rPr lang="fr-FR" altLang="zh-CN" dirty="0">
                <a:solidFill>
                  <a:srgbClr val="0000FF"/>
                </a:solidFill>
              </a:rPr>
              <a:t>}</a:t>
            </a:r>
          </a:p>
          <a:p>
            <a:r>
              <a:rPr lang="fr-FR" altLang="zh-CN" dirty="0"/>
              <a:t>S→ id '=' A ';' </a:t>
            </a:r>
            <a:r>
              <a:rPr lang="fr-FR" altLang="zh-CN" dirty="0">
                <a:solidFill>
                  <a:srgbClr val="0000FF"/>
                </a:solidFill>
              </a:rPr>
              <a:t>{ S.code := A.code || gen(id .place '=' A.place) } </a:t>
            </a:r>
          </a:p>
          <a:p>
            <a:r>
              <a:rPr lang="fr-FR" altLang="zh-CN" dirty="0"/>
              <a:t>A → id </a:t>
            </a:r>
            <a:r>
              <a:rPr lang="fr-FR" altLang="zh-CN" dirty="0">
                <a:solidFill>
                  <a:srgbClr val="0000FF"/>
                </a:solidFill>
              </a:rPr>
              <a:t>{A.place := id.place; A.code := “” } </a:t>
            </a:r>
          </a:p>
          <a:p>
            <a:r>
              <a:rPr lang="fr-FR" altLang="zh-CN" dirty="0"/>
              <a:t>A → NUMBER </a:t>
            </a:r>
            <a:r>
              <a:rPr lang="fr-FR" altLang="zh-CN" dirty="0">
                <a:solidFill>
                  <a:srgbClr val="0000FF"/>
                </a:solidFill>
              </a:rPr>
              <a:t>{A.place := newtemp; A.code := gen(A.place '=' NUMBER.lexeme) </a:t>
            </a:r>
            <a:r>
              <a:rPr lang="fr-FR" altLang="zh-CN" dirty="0"/>
              <a:t>}</a:t>
            </a:r>
          </a:p>
          <a:p>
            <a:r>
              <a:rPr lang="fr-FR" altLang="zh-CN" dirty="0"/>
              <a:t>A → A1 op A2 </a:t>
            </a:r>
          </a:p>
          <a:p>
            <a:r>
              <a:rPr lang="fr-FR" altLang="zh-CN" dirty="0">
                <a:solidFill>
                  <a:srgbClr val="0000FF"/>
                </a:solidFill>
              </a:rPr>
              <a:t>{ A.place := newtemp; A.code := A1.code || A2.code || gen (A.place '=' A1.place op A2.place) } </a:t>
            </a:r>
          </a:p>
          <a:p>
            <a:r>
              <a:rPr lang="fr-FR" altLang="zh-CN" dirty="0"/>
              <a:t>E → A1 rop </a:t>
            </a:r>
            <a:r>
              <a:rPr lang="fr-FR" altLang="zh-CN" dirty="0">
                <a:solidFill>
                  <a:srgbClr val="0000FF"/>
                </a:solidFill>
              </a:rPr>
              <a:t>A2  { E.code := A1.code||A2.code||gen (‘if’ A1.place rop A2.place ‘goto’ E.true ) || gen (‘goto’ E. false) } </a:t>
            </a:r>
          </a:p>
          <a:p>
            <a:r>
              <a:rPr lang="fr-FR" altLang="zh-CN" dirty="0"/>
              <a:t>E → </a:t>
            </a:r>
            <a:r>
              <a:rPr lang="fr-FR" altLang="zh-CN" dirty="0">
                <a:solidFill>
                  <a:srgbClr val="C00000"/>
                </a:solidFill>
              </a:rPr>
              <a:t>{ E1.true:=newlabel; E1.false := E.false }E</a:t>
            </a:r>
            <a:r>
              <a:rPr lang="fr-FR" altLang="zh-CN" dirty="0"/>
              <a:t>1  &amp;&amp; </a:t>
            </a:r>
            <a:r>
              <a:rPr lang="fr-FR" altLang="zh-CN" dirty="0">
                <a:solidFill>
                  <a:srgbClr val="C00000"/>
                </a:solidFill>
              </a:rPr>
              <a:t>{ E2.true := E.true; E2.false := E.false }</a:t>
            </a:r>
            <a:r>
              <a:rPr lang="fr-FR" altLang="zh-CN" dirty="0"/>
              <a:t> E2 </a:t>
            </a:r>
          </a:p>
          <a:p>
            <a:r>
              <a:rPr lang="fr-FR" altLang="zh-CN" dirty="0"/>
              <a:t> </a:t>
            </a:r>
            <a:r>
              <a:rPr lang="fr-FR" altLang="zh-CN" dirty="0">
                <a:solidFill>
                  <a:srgbClr val="0000FF"/>
                </a:solidFill>
              </a:rPr>
              <a:t>{ E.code := E1.code|| gen(E1.true ':' ) ||E2.code } </a:t>
            </a:r>
          </a:p>
          <a:p>
            <a:r>
              <a:rPr lang="fr-FR" altLang="zh-CN" dirty="0"/>
              <a:t>E → </a:t>
            </a:r>
            <a:r>
              <a:rPr lang="fr-FR" altLang="zh-CN" dirty="0">
                <a:solidFill>
                  <a:srgbClr val="C00000"/>
                </a:solidFill>
              </a:rPr>
              <a:t>{ E1.true:=E.true; E1.false := newlabel }</a:t>
            </a:r>
            <a:r>
              <a:rPr lang="fr-FR" altLang="zh-CN" dirty="0"/>
              <a:t>E1  || </a:t>
            </a:r>
            <a:r>
              <a:rPr lang="fr-FR" altLang="zh-CN" dirty="0">
                <a:solidFill>
                  <a:srgbClr val="C00000"/>
                </a:solidFill>
              </a:rPr>
              <a:t>{ E2.true := E.true; E2.false := E.false }</a:t>
            </a:r>
            <a:r>
              <a:rPr lang="fr-FR" altLang="zh-CN" dirty="0"/>
              <a:t> E2  </a:t>
            </a:r>
          </a:p>
          <a:p>
            <a:r>
              <a:rPr lang="fr-FR" altLang="zh-CN" dirty="0">
                <a:solidFill>
                  <a:srgbClr val="0000FF"/>
                </a:solidFill>
              </a:rPr>
              <a:t>{ E.code := E1.code|| gen(E1.</a:t>
            </a:r>
            <a:r>
              <a:rPr lang="en-US" altLang="zh-CN" dirty="0">
                <a:solidFill>
                  <a:srgbClr val="0000FF"/>
                </a:solidFill>
              </a:rPr>
              <a:t>false</a:t>
            </a:r>
            <a:r>
              <a:rPr lang="fr-FR" altLang="zh-CN" dirty="0">
                <a:solidFill>
                  <a:srgbClr val="0000FF"/>
                </a:solidFill>
              </a:rPr>
              <a:t> ':' ) ||E2.code } 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94A0A7-B7D1-F8ED-506F-78C80BCC5F2A}"/>
              </a:ext>
            </a:extLst>
          </p:cNvPr>
          <p:cNvSpPr txBox="1"/>
          <p:nvPr/>
        </p:nvSpPr>
        <p:spPr>
          <a:xfrm>
            <a:off x="321727" y="1061770"/>
            <a:ext cx="6955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考察重点：算术</a:t>
            </a:r>
            <a:r>
              <a:rPr lang="en-US" altLang="zh-CN" sz="2000" dirty="0"/>
              <a:t>/</a:t>
            </a:r>
            <a:r>
              <a:rPr lang="zh-CN" altLang="en-US" sz="2000" dirty="0"/>
              <a:t>逻辑表达式，</a:t>
            </a:r>
            <a:r>
              <a:rPr lang="en-US" altLang="zh-CN" sz="2000" dirty="0"/>
              <a:t>if/while</a:t>
            </a:r>
            <a:r>
              <a:rPr lang="zh-CN" altLang="en-US" sz="2000" dirty="0"/>
              <a:t>语句</a:t>
            </a:r>
            <a:r>
              <a:rPr lang="en-US" altLang="zh-CN" sz="2000" dirty="0"/>
              <a:t>/</a:t>
            </a:r>
            <a:r>
              <a:rPr lang="zh-CN" altLang="en-US" sz="2000" dirty="0"/>
              <a:t>赋值语句的翻译</a:t>
            </a:r>
          </a:p>
        </p:txBody>
      </p:sp>
    </p:spTree>
    <p:extLst>
      <p:ext uri="{BB962C8B-B14F-4D97-AF65-F5344CB8AC3E}">
        <p14:creationId xmlns:p14="http://schemas.microsoft.com/office/powerpoint/2010/main" val="2421148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B24CFA2-7F2D-3263-635F-74E92D6CD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3320972"/>
          </a:xfrm>
        </p:spPr>
        <p:txBody>
          <a:bodyPr>
            <a:normAutofit lnSpcReduction="10000"/>
          </a:bodyPr>
          <a:lstStyle/>
          <a:p>
            <a:r>
              <a:rPr lang="zh-CN" altLang="en-US" sz="2000" b="0" dirty="0"/>
              <a:t>继承属性   </a:t>
            </a:r>
            <a:r>
              <a:rPr lang="en-US" altLang="zh-CN" sz="2000" b="0" dirty="0" err="1"/>
              <a:t>S.next</a:t>
            </a:r>
            <a:r>
              <a:rPr lang="zh-CN" altLang="en-US" sz="2000" b="0" dirty="0"/>
              <a:t>   </a:t>
            </a:r>
            <a:r>
              <a:rPr lang="en-US" altLang="zh-CN" sz="2000" b="0" dirty="0" err="1"/>
              <a:t>E.true</a:t>
            </a:r>
            <a:r>
              <a:rPr lang="en-US" altLang="zh-CN" sz="2000" b="0" dirty="0"/>
              <a:t>   </a:t>
            </a:r>
            <a:r>
              <a:rPr lang="en-US" altLang="zh-CN" sz="2000" b="0" dirty="0" err="1"/>
              <a:t>E.false</a:t>
            </a:r>
            <a:endParaRPr lang="en-US" altLang="zh-CN" sz="2000" b="0" dirty="0"/>
          </a:p>
          <a:p>
            <a:r>
              <a:rPr lang="zh-CN" altLang="en-US" sz="2000" b="0" dirty="0"/>
              <a:t>综合属性</a:t>
            </a:r>
            <a:r>
              <a:rPr lang="en-US" altLang="zh-CN" sz="2000" b="0" dirty="0"/>
              <a:t>: </a:t>
            </a:r>
            <a:r>
              <a:rPr lang="en-US" altLang="zh-CN" sz="2000" b="0" dirty="0" err="1"/>
              <a:t>A.place</a:t>
            </a:r>
            <a:r>
              <a:rPr lang="en-US" altLang="zh-CN" sz="2000" b="0" dirty="0"/>
              <a:t>, </a:t>
            </a:r>
            <a:r>
              <a:rPr lang="en-US" altLang="zh-CN" sz="2000" b="0" dirty="0" err="1"/>
              <a:t>S.code</a:t>
            </a:r>
            <a:endParaRPr lang="en-US" altLang="zh-CN" sz="2000" b="0" dirty="0"/>
          </a:p>
          <a:p>
            <a:r>
              <a:rPr lang="en-US" altLang="zh-CN" sz="2000" b="0" dirty="0" err="1"/>
              <a:t>newtemp</a:t>
            </a:r>
            <a:r>
              <a:rPr lang="en-US" altLang="zh-CN" sz="2000" b="0" dirty="0"/>
              <a:t>() – </a:t>
            </a:r>
            <a:r>
              <a:rPr lang="zh-CN" altLang="en-US" sz="2000" b="0" dirty="0"/>
              <a:t>存放算术表达式的结果</a:t>
            </a:r>
            <a:r>
              <a:rPr lang="en-US" altLang="zh-CN" sz="2000" b="0" dirty="0"/>
              <a:t>/</a:t>
            </a:r>
            <a:r>
              <a:rPr lang="zh-CN" altLang="en-US" sz="2000" b="0" dirty="0"/>
              <a:t>常量</a:t>
            </a:r>
            <a:endParaRPr lang="en-US" altLang="zh-CN" sz="2000" b="0" dirty="0"/>
          </a:p>
          <a:p>
            <a:r>
              <a:rPr lang="en-US" altLang="zh-CN" sz="2000" b="0" dirty="0" err="1"/>
              <a:t>newtlabel</a:t>
            </a:r>
            <a:r>
              <a:rPr lang="en-US" altLang="zh-CN" sz="2000" b="0" dirty="0"/>
              <a:t>() – true/false</a:t>
            </a:r>
            <a:r>
              <a:rPr lang="zh-CN" altLang="en-US" sz="2000" b="0" dirty="0"/>
              <a:t>跳转标号</a:t>
            </a:r>
            <a:r>
              <a:rPr lang="en-US" altLang="zh-CN" sz="2000" b="0" dirty="0"/>
              <a:t>,</a:t>
            </a:r>
            <a:r>
              <a:rPr lang="zh-CN" altLang="en-US" sz="2000" b="0" dirty="0"/>
              <a:t>下条语句的标号。 要么继承，要么生成</a:t>
            </a:r>
            <a:endParaRPr lang="en-US" altLang="zh-CN" sz="2000" b="0" dirty="0"/>
          </a:p>
          <a:p>
            <a:r>
              <a:rPr lang="en-US" altLang="zh-CN" sz="2000" b="0" dirty="0"/>
              <a:t>||</a:t>
            </a:r>
          </a:p>
          <a:p>
            <a:r>
              <a:rPr lang="zh-CN" altLang="en-US" sz="2000" b="0" dirty="0"/>
              <a:t>先构造树，再</a:t>
            </a:r>
            <a:r>
              <a:rPr lang="en-US" altLang="zh-CN" sz="2000" b="0" dirty="0"/>
              <a:t>visit(root-node)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BB544E8-6E6E-CD2C-39D8-2C8D35DC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L-</a:t>
            </a:r>
            <a:r>
              <a:rPr lang="zh-CN" altLang="en-US" dirty="0"/>
              <a:t>翻译模式与</a:t>
            </a:r>
            <a:r>
              <a:rPr lang="en-US" altLang="zh-CN" dirty="0"/>
              <a:t>IR</a:t>
            </a:r>
            <a:r>
              <a:rPr lang="zh-CN" altLang="en-US" dirty="0"/>
              <a:t>生成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699B010-D701-0EC6-0828-FCBAE85531EE}"/>
              </a:ext>
            </a:extLst>
          </p:cNvPr>
          <p:cNvSpPr txBox="1"/>
          <p:nvPr/>
        </p:nvSpPr>
        <p:spPr>
          <a:xfrm>
            <a:off x="3227388" y="4463716"/>
            <a:ext cx="45464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For </a:t>
            </a:r>
            <a:r>
              <a:rPr lang="en-US" altLang="zh-CN" sz="2000" dirty="0" err="1"/>
              <a:t>n</a:t>
            </a:r>
            <a:r>
              <a:rPr lang="en-US" altLang="zh-CN" sz="2000" baseline="-25000" dirty="0" err="1"/>
              <a:t>i</a:t>
            </a:r>
            <a:r>
              <a:rPr lang="zh-CN" altLang="en-US" sz="2000" baseline="-25000" dirty="0"/>
              <a:t> 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 err="1"/>
              <a:t>n.children</a:t>
            </a:r>
            <a:r>
              <a:rPr lang="en-US" altLang="zh-CN" sz="2000" dirty="0"/>
              <a:t> </a:t>
            </a:r>
          </a:p>
          <a:p>
            <a:r>
              <a:rPr lang="en-US" altLang="zh-CN" sz="2000" dirty="0"/>
              <a:t>      </a:t>
            </a:r>
            <a:r>
              <a:rPr lang="zh-CN" altLang="en-US" sz="2000" dirty="0"/>
              <a:t>计算</a:t>
            </a:r>
            <a:r>
              <a:rPr lang="en-US" altLang="zh-CN" sz="2000" dirty="0" err="1"/>
              <a:t>n</a:t>
            </a:r>
            <a:r>
              <a:rPr lang="en-US" altLang="zh-CN" sz="2000" baseline="-25000" dirty="0" err="1"/>
              <a:t>i</a:t>
            </a:r>
            <a:r>
              <a:rPr lang="zh-CN" altLang="en-US" sz="2000" dirty="0"/>
              <a:t>的继承属性</a:t>
            </a:r>
            <a:r>
              <a:rPr lang="en-US" altLang="zh-CN" sz="2000" dirty="0"/>
              <a:t>(</a:t>
            </a:r>
            <a:r>
              <a:rPr lang="en-US" altLang="zh-CN" sz="2000" dirty="0" err="1"/>
              <a:t>next,true,false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  visit(</a:t>
            </a:r>
            <a:r>
              <a:rPr lang="en-US" altLang="zh-CN" sz="2000" dirty="0" err="1"/>
              <a:t>n</a:t>
            </a:r>
            <a:r>
              <a:rPr lang="en-US" altLang="zh-CN" sz="2000" baseline="-25000" dirty="0" err="1"/>
              <a:t>i</a:t>
            </a:r>
            <a:r>
              <a:rPr lang="en-US" altLang="zh-CN" sz="2000" dirty="0"/>
              <a:t>)</a:t>
            </a:r>
          </a:p>
          <a:p>
            <a:r>
              <a:rPr lang="en-US" altLang="zh-CN" sz="2000" dirty="0"/>
              <a:t>     </a:t>
            </a:r>
            <a:r>
              <a:rPr lang="zh-CN" altLang="en-US" sz="2000" dirty="0"/>
              <a:t>计算</a:t>
            </a:r>
            <a:r>
              <a:rPr lang="en-US" altLang="zh-CN" sz="2000" dirty="0" err="1"/>
              <a:t>n</a:t>
            </a:r>
            <a:r>
              <a:rPr lang="en-US" altLang="zh-CN" sz="2000" baseline="-25000" dirty="0" err="1"/>
              <a:t>i</a:t>
            </a:r>
            <a:r>
              <a:rPr lang="zh-CN" altLang="en-US" sz="2000" dirty="0"/>
              <a:t>的综合属性（</a:t>
            </a:r>
            <a:r>
              <a:rPr lang="en-US" altLang="zh-CN" sz="2000" dirty="0"/>
              <a:t>code</a:t>
            </a:r>
            <a:r>
              <a:rPr lang="zh-CN" altLang="en-US" sz="2000" dirty="0"/>
              <a:t>，</a:t>
            </a:r>
            <a:r>
              <a:rPr lang="en-US" altLang="zh-CN" sz="2000" dirty="0"/>
              <a:t>place)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195825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708AC9F-4285-8142-3BEB-12FCA26AA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617641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例</a:t>
            </a:r>
            <a:r>
              <a:rPr lang="en-US" altLang="zh-CN" sz="2000" dirty="0"/>
              <a:t>6  </a:t>
            </a:r>
            <a:r>
              <a:rPr lang="pt-BR" altLang="zh-CN" sz="2000" dirty="0"/>
              <a:t>if (n &gt; 9 &amp;&amp; n &lt; 100)  while (n &gt;= 13)  n = n – 13; else n = -1;</a:t>
            </a:r>
            <a:endParaRPr lang="zh-CN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BD258A6-2AA9-68C5-EDCD-01F69777F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L-</a:t>
            </a:r>
            <a:r>
              <a:rPr lang="zh-CN" altLang="en-US" dirty="0"/>
              <a:t>翻译模式与</a:t>
            </a:r>
            <a:r>
              <a:rPr lang="en-US" altLang="zh-CN" dirty="0"/>
              <a:t>IR</a:t>
            </a:r>
            <a:r>
              <a:rPr lang="zh-CN" altLang="en-US" dirty="0"/>
              <a:t>生成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4EE755-86B0-CAAC-A3EA-117423781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22" y="1878026"/>
            <a:ext cx="7795744" cy="3779489"/>
          </a:xfrm>
          <a:prstGeom prst="rect">
            <a:avLst/>
          </a:prstGeom>
          <a:noFill/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666A18E-06F7-1B67-028C-6D1128F838FA}"/>
              </a:ext>
            </a:extLst>
          </p:cNvPr>
          <p:cNvSpPr txBox="1"/>
          <p:nvPr/>
        </p:nvSpPr>
        <p:spPr>
          <a:xfrm>
            <a:off x="9215029" y="1634605"/>
            <a:ext cx="2087303" cy="4524315"/>
          </a:xfrm>
          <a:prstGeom prst="rect">
            <a:avLst/>
          </a:prstGeom>
          <a:solidFill>
            <a:srgbClr val="FFFFFF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+mn-ea"/>
              </a:rPr>
              <a:t>    </a:t>
            </a:r>
            <a:r>
              <a:rPr lang="zh-CN" altLang="zh-CN" sz="1600" dirty="0">
                <a:latin typeface="+mn-ea"/>
              </a:rPr>
              <a:t>t1 = 9</a:t>
            </a:r>
          </a:p>
          <a:p>
            <a:r>
              <a:rPr lang="zh-CN" altLang="zh-CN" sz="1600" dirty="0">
                <a:latin typeface="+mn-ea"/>
              </a:rPr>
              <a:t>     if n &gt; t1 goto L3</a:t>
            </a:r>
          </a:p>
          <a:p>
            <a:r>
              <a:rPr lang="zh-CN" altLang="zh-CN" sz="1600" dirty="0">
                <a:latin typeface="+mn-ea"/>
              </a:rPr>
              <a:t>     goto L2</a:t>
            </a:r>
          </a:p>
          <a:p>
            <a:r>
              <a:rPr lang="zh-CN" altLang="zh-CN" sz="1600" dirty="0">
                <a:latin typeface="+mn-ea"/>
              </a:rPr>
              <a:t>L3:  t2 = 100</a:t>
            </a:r>
          </a:p>
          <a:p>
            <a:r>
              <a:rPr lang="zh-CN" altLang="zh-CN" sz="1600" dirty="0">
                <a:latin typeface="+mn-ea"/>
              </a:rPr>
              <a:t>     if n &lt; t2 goto L1</a:t>
            </a:r>
          </a:p>
          <a:p>
            <a:r>
              <a:rPr lang="zh-CN" altLang="zh-CN" sz="1600" dirty="0">
                <a:latin typeface="+mn-ea"/>
              </a:rPr>
              <a:t>     goto L2</a:t>
            </a:r>
          </a:p>
          <a:p>
            <a:r>
              <a:rPr lang="zh-CN" altLang="zh-CN" sz="1600" dirty="0">
                <a:latin typeface="+mn-ea"/>
              </a:rPr>
              <a:t>L1:</a:t>
            </a:r>
          </a:p>
          <a:p>
            <a:r>
              <a:rPr lang="zh-CN" altLang="zh-CN" sz="1600" dirty="0">
                <a:latin typeface="+mn-ea"/>
              </a:rPr>
              <a:t>L5:  t3 = 13</a:t>
            </a:r>
          </a:p>
          <a:p>
            <a:r>
              <a:rPr lang="zh-CN" altLang="zh-CN" sz="1600" dirty="0">
                <a:latin typeface="+mn-ea"/>
              </a:rPr>
              <a:t>     if n &gt; t3 goto L4</a:t>
            </a:r>
          </a:p>
          <a:p>
            <a:r>
              <a:rPr lang="zh-CN" altLang="zh-CN" sz="1600" dirty="0">
                <a:latin typeface="+mn-ea"/>
              </a:rPr>
              <a:t>     goto L0</a:t>
            </a:r>
          </a:p>
          <a:p>
            <a:r>
              <a:rPr lang="zh-CN" altLang="zh-CN" sz="1600" dirty="0">
                <a:latin typeface="+mn-ea"/>
              </a:rPr>
              <a:t>L4:  t4 = 13</a:t>
            </a:r>
          </a:p>
          <a:p>
            <a:r>
              <a:rPr lang="zh-CN" altLang="zh-CN" sz="1600" dirty="0">
                <a:latin typeface="+mn-ea"/>
              </a:rPr>
              <a:t>     t5 = n - t4</a:t>
            </a:r>
          </a:p>
          <a:p>
            <a:r>
              <a:rPr lang="zh-CN" altLang="zh-CN" sz="1600" dirty="0">
                <a:latin typeface="+mn-ea"/>
              </a:rPr>
              <a:t>     n = t5</a:t>
            </a:r>
          </a:p>
          <a:p>
            <a:r>
              <a:rPr lang="zh-CN" altLang="zh-CN" sz="1600" dirty="0">
                <a:latin typeface="+mn-ea"/>
              </a:rPr>
              <a:t>     goto L5</a:t>
            </a:r>
          </a:p>
          <a:p>
            <a:r>
              <a:rPr lang="zh-CN" altLang="zh-CN" sz="1600" dirty="0">
                <a:latin typeface="+mn-ea"/>
              </a:rPr>
              <a:t>     goto L0</a:t>
            </a:r>
          </a:p>
          <a:p>
            <a:r>
              <a:rPr lang="zh-CN" altLang="zh-CN" sz="1600" dirty="0">
                <a:latin typeface="+mn-ea"/>
              </a:rPr>
              <a:t>L2:  t6 = -1</a:t>
            </a:r>
          </a:p>
          <a:p>
            <a:r>
              <a:rPr lang="zh-CN" altLang="zh-CN" sz="1600" dirty="0">
                <a:latin typeface="+mn-ea"/>
              </a:rPr>
              <a:t>     n = t6</a:t>
            </a:r>
          </a:p>
          <a:p>
            <a:r>
              <a:rPr lang="zh-CN" altLang="zh-CN" sz="1600" dirty="0">
                <a:latin typeface="+mn-ea"/>
              </a:rPr>
              <a:t>L0:</a:t>
            </a:r>
          </a:p>
        </p:txBody>
      </p:sp>
    </p:spTree>
    <p:extLst>
      <p:ext uri="{BB962C8B-B14F-4D97-AF65-F5344CB8AC3E}">
        <p14:creationId xmlns:p14="http://schemas.microsoft.com/office/powerpoint/2010/main" val="1513100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3B57AF-40F6-5C9F-5744-5F7B734DD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7-</a:t>
            </a:r>
            <a:r>
              <a:rPr lang="zh-CN" altLang="en-US" dirty="0"/>
              <a:t>运行时存储组组织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77092D-A8E1-94DF-4D51-A02085AD5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7196346" cy="5531380"/>
          </a:xfrm>
        </p:spPr>
        <p:txBody>
          <a:bodyPr>
            <a:normAutofit/>
          </a:bodyPr>
          <a:lstStyle/>
          <a:p>
            <a:r>
              <a:rPr lang="zh-CN" altLang="en-US" sz="3200" b="0" dirty="0"/>
              <a:t>运行时存储空间布局 </a:t>
            </a:r>
            <a:endParaRPr lang="en-US" altLang="zh-CN" sz="3200" b="0" dirty="0"/>
          </a:p>
          <a:p>
            <a:r>
              <a:rPr lang="zh-CN" altLang="en-US" sz="3200" b="0" dirty="0"/>
              <a:t>栈帧</a:t>
            </a:r>
            <a:r>
              <a:rPr lang="en-US" altLang="zh-CN" sz="3200" b="0" dirty="0"/>
              <a:t>(</a:t>
            </a:r>
            <a:r>
              <a:rPr lang="zh-CN" altLang="en-US" sz="3200" b="0" dirty="0"/>
              <a:t>活动记录</a:t>
            </a:r>
            <a:r>
              <a:rPr lang="en-US" altLang="zh-CN" sz="3200" b="0" dirty="0"/>
              <a:t>)</a:t>
            </a:r>
            <a:r>
              <a:rPr lang="zh-CN" altLang="en-US" sz="3200" b="0" dirty="0"/>
              <a:t>的布局</a:t>
            </a:r>
            <a:endParaRPr lang="en-US" altLang="zh-CN" sz="3200" b="0" dirty="0"/>
          </a:p>
          <a:p>
            <a:r>
              <a:rPr lang="zh-CN" altLang="en-US" sz="3200" b="0" dirty="0"/>
              <a:t>函数调用与参数传递</a:t>
            </a:r>
            <a:r>
              <a:rPr lang="en-US" altLang="zh-CN" sz="3200" b="0" dirty="0"/>
              <a:t>-</a:t>
            </a:r>
            <a:r>
              <a:rPr lang="zh-CN" altLang="en-US" sz="3200" b="0" dirty="0"/>
              <a:t>传值与传址</a:t>
            </a:r>
            <a:endParaRPr lang="en-US" altLang="zh-CN" sz="3200" b="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686C1EE-96AB-1BE3-77DE-B31CE9FD19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375648"/>
              </p:ext>
            </p:extLst>
          </p:nvPr>
        </p:nvGraphicFramePr>
        <p:xfrm>
          <a:off x="7684168" y="610449"/>
          <a:ext cx="2093495" cy="5285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3495">
                  <a:extLst>
                    <a:ext uri="{9D8B030D-6E8A-4147-A177-3AD203B41FA5}">
                      <a16:colId xmlns:a16="http://schemas.microsoft.com/office/drawing/2014/main" val="3151304247"/>
                    </a:ext>
                  </a:extLst>
                </a:gridCol>
              </a:tblGrid>
              <a:tr h="66490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高地址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605032"/>
                  </a:ext>
                </a:extLst>
              </a:tr>
              <a:tr h="664901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754394"/>
                  </a:ext>
                </a:extLst>
              </a:tr>
              <a:tr h="67413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栈空间</a:t>
                      </a:r>
                      <a:endParaRPr lang="en-US" altLang="zh-CN" dirty="0"/>
                    </a:p>
                    <a:p>
                      <a:pPr algn="ctr"/>
                      <a:r>
                        <a:rPr lang="en-US" alt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↓</a:t>
                      </a:r>
                    </a:p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en-US" altLang="zh-CN" dirty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↑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堆空间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630959"/>
                  </a:ext>
                </a:extLst>
              </a:tr>
              <a:tr h="67413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静态数据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421540"/>
                  </a:ext>
                </a:extLst>
              </a:tr>
              <a:tr h="67413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代码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317844"/>
                  </a:ext>
                </a:extLst>
              </a:tr>
              <a:tr h="470031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994521"/>
                  </a:ext>
                </a:extLst>
              </a:tr>
              <a:tr h="674136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/>
                        <a:t>低地址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203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332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15032EF-B4F8-5A4B-99C0-A25793966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866530"/>
          </a:xfrm>
        </p:spPr>
        <p:txBody>
          <a:bodyPr/>
          <a:lstStyle/>
          <a:p>
            <a:r>
              <a:rPr lang="zh-CN" altLang="en-US" dirty="0"/>
              <a:t>栈帧布局</a:t>
            </a:r>
            <a:r>
              <a:rPr lang="en-US" altLang="zh-CN" dirty="0"/>
              <a:t>-</a:t>
            </a:r>
            <a:r>
              <a:rPr lang="zh-CN" altLang="en-US" dirty="0"/>
              <a:t>以</a:t>
            </a:r>
            <a:r>
              <a:rPr lang="en-US" altLang="zh-CN" dirty="0"/>
              <a:t>aarch64</a:t>
            </a:r>
            <a:r>
              <a:rPr lang="zh-CN" altLang="en-US" dirty="0"/>
              <a:t>为例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69E4C18-E06D-DC23-7F92-1E7294811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7-</a:t>
            </a:r>
            <a:r>
              <a:rPr lang="zh-CN" altLang="en-US" dirty="0"/>
              <a:t>运行时存储组组织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E6837E4-9E7A-D971-8DCB-FC8D9FBED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649443"/>
              </p:ext>
            </p:extLst>
          </p:nvPr>
        </p:nvGraphicFramePr>
        <p:xfrm>
          <a:off x="704390" y="2075139"/>
          <a:ext cx="3013367" cy="3507516"/>
        </p:xfrm>
        <a:graphic>
          <a:graphicData uri="http://schemas.openxmlformats.org/drawingml/2006/table">
            <a:tbl>
              <a:tblPr/>
              <a:tblGrid>
                <a:gridCol w="1968799">
                  <a:extLst>
                    <a:ext uri="{9D8B030D-6E8A-4147-A177-3AD203B41FA5}">
                      <a16:colId xmlns:a16="http://schemas.microsoft.com/office/drawing/2014/main" val="265570555"/>
                    </a:ext>
                  </a:extLst>
                </a:gridCol>
                <a:gridCol w="1044568">
                  <a:extLst>
                    <a:ext uri="{9D8B030D-6E8A-4147-A177-3AD203B41FA5}">
                      <a16:colId xmlns:a16="http://schemas.microsoft.com/office/drawing/2014/main" val="4192725597"/>
                    </a:ext>
                  </a:extLst>
                </a:gridCol>
              </a:tblGrid>
              <a:tr h="3897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800" b="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局部变量1</a:t>
                      </a:r>
                      <a:endParaRPr lang="zh-CN" sz="1800" b="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9">
                  <a:txBody>
                    <a:bodyPr/>
                    <a:lstStyle/>
                    <a:p>
                      <a:pPr marL="0" marR="0" indent="200660" algn="just">
                        <a:buNone/>
                      </a:pPr>
                      <a:r>
                        <a:rPr lang="zh-CN" sz="1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高地址</a:t>
                      </a:r>
                      <a:endParaRPr lang="zh-CN" sz="1800" b="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200025" algn="just">
                        <a:buNone/>
                      </a:pPr>
                      <a:r>
                        <a:rPr lang="zh-CN" sz="1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b="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200660" algn="just">
                        <a:buNone/>
                      </a:pPr>
                      <a:r>
                        <a:rPr lang="zh-CN" sz="1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b="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200660" algn="just">
                        <a:buNone/>
                      </a:pPr>
                      <a:r>
                        <a:rPr lang="zh-CN" sz="1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b="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200660" algn="just">
                        <a:buNone/>
                      </a:pPr>
                      <a:r>
                        <a:rPr lang="zh-CN" sz="1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b="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200660" algn="just">
                        <a:buNone/>
                      </a:pPr>
                      <a:r>
                        <a:rPr lang="zh-CN" sz="1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b="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200660" algn="just">
                        <a:buNone/>
                      </a:pPr>
                      <a:r>
                        <a:rPr lang="zh-CN" sz="1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b="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just">
                        <a:buNone/>
                      </a:pPr>
                      <a:r>
                        <a:rPr lang="zh-CN" sz="1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b="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200660" algn="just">
                        <a:buNone/>
                      </a:pPr>
                      <a:endParaRPr lang="en-US" altLang="zh-CN" sz="1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indent="200660" algn="just">
                        <a:buNone/>
                      </a:pPr>
                      <a:endParaRPr lang="en-US" altLang="zh-CN" sz="1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indent="200660" algn="just">
                        <a:buNone/>
                      </a:pPr>
                      <a:endParaRPr lang="en-US" altLang="zh-CN" sz="1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indent="200660" algn="just">
                        <a:buNone/>
                      </a:pPr>
                      <a:r>
                        <a:rPr lang="zh-CN" sz="1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低地址</a:t>
                      </a:r>
                      <a:endParaRPr lang="zh-CN" sz="1800" b="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346026"/>
                  </a:ext>
                </a:extLst>
              </a:tr>
              <a:tr h="3897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800" b="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……</a:t>
                      </a:r>
                      <a:endParaRPr lang="zh-CN" sz="1800" b="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385864"/>
                  </a:ext>
                </a:extLst>
              </a:tr>
              <a:tr h="3897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800" b="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局部变量m</a:t>
                      </a:r>
                      <a:endParaRPr lang="zh-CN" sz="1800" b="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859023"/>
                  </a:ext>
                </a:extLst>
              </a:tr>
              <a:tr h="3897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800" b="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……</a:t>
                      </a:r>
                      <a:endParaRPr lang="zh-CN" sz="1800" b="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72537"/>
                  </a:ext>
                </a:extLst>
              </a:tr>
              <a:tr h="3897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800" b="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参数1</a:t>
                      </a:r>
                      <a:endParaRPr lang="zh-CN" sz="1800" b="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052234"/>
                  </a:ext>
                </a:extLst>
              </a:tr>
              <a:tr h="3897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800" b="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……</a:t>
                      </a:r>
                      <a:endParaRPr lang="zh-CN" sz="1800" b="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757326"/>
                  </a:ext>
                </a:extLst>
              </a:tr>
              <a:tr h="3897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800" b="0" kern="10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参数ｎ</a:t>
                      </a:r>
                      <a:endParaRPr lang="zh-CN" sz="1800" b="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430513"/>
                  </a:ext>
                </a:extLst>
              </a:tr>
              <a:tr h="3897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保存</a:t>
                      </a:r>
                      <a:r>
                        <a:rPr lang="zh-CN" altLang="en-US" sz="1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的</a:t>
                      </a:r>
                      <a:r>
                        <a:rPr lang="zh-CN" sz="1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x30(lr)</a:t>
                      </a:r>
                      <a:endParaRPr lang="zh-CN" sz="1800" b="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121808"/>
                  </a:ext>
                </a:extLst>
              </a:tr>
              <a:tr h="38972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保存</a:t>
                      </a:r>
                      <a:r>
                        <a:rPr lang="zh-CN" altLang="en-US" sz="1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的</a:t>
                      </a:r>
                      <a:r>
                        <a:rPr lang="zh-CN" sz="1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x29(fp)</a:t>
                      </a:r>
                      <a:endParaRPr lang="zh-CN" sz="1800" b="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102421"/>
                  </a:ext>
                </a:extLst>
              </a:tr>
            </a:tbl>
          </a:graphicData>
        </a:graphic>
      </p:graphicFrame>
      <p:pic>
        <p:nvPicPr>
          <p:cNvPr id="5" name="Picture 1">
            <a:extLst>
              <a:ext uri="{FF2B5EF4-FFF2-40B4-BE49-F238E27FC236}">
                <a16:creationId xmlns:a16="http://schemas.microsoft.com/office/drawing/2014/main" id="{658316E3-D9ED-5A02-746F-6D6B62A54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116" y="2749313"/>
            <a:ext cx="132872" cy="2159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365EDD9-6F41-E234-8493-6061A4033FCD}"/>
              </a:ext>
            </a:extLst>
          </p:cNvPr>
          <p:cNvSpPr txBox="1"/>
          <p:nvPr/>
        </p:nvSpPr>
        <p:spPr>
          <a:xfrm>
            <a:off x="5112627" y="875255"/>
            <a:ext cx="6406273" cy="5355312"/>
          </a:xfrm>
          <a:prstGeom prst="rect">
            <a:avLst/>
          </a:prstGeom>
          <a:solidFill>
            <a:srgbClr val="FFFFFF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fr-FR" altLang="zh-CN" dirty="0"/>
              <a:t>func_name:</a:t>
            </a:r>
          </a:p>
          <a:p>
            <a:r>
              <a:rPr lang="fr-FR" altLang="zh-CN" dirty="0"/>
              <a:t>    </a:t>
            </a:r>
            <a:r>
              <a:rPr lang="en-US" altLang="zh-CN" dirty="0"/>
              <a:t>;</a:t>
            </a:r>
            <a:r>
              <a:rPr lang="zh-CN" altLang="en-US" dirty="0"/>
              <a:t> </a:t>
            </a:r>
            <a:r>
              <a:rPr lang="fr-FR" altLang="zh-CN" dirty="0"/>
              <a:t>Prologue </a:t>
            </a:r>
            <a:r>
              <a:rPr lang="zh-CN" altLang="en-US" dirty="0">
                <a:solidFill>
                  <a:srgbClr val="0000FF"/>
                </a:solidFill>
              </a:rPr>
              <a:t>函数序曲</a:t>
            </a:r>
            <a:endParaRPr lang="fr-FR" altLang="zh-CN" dirty="0">
              <a:solidFill>
                <a:srgbClr val="0000FF"/>
              </a:solidFill>
            </a:endParaRPr>
          </a:p>
          <a:p>
            <a:r>
              <a:rPr lang="fr-FR" altLang="zh-CN" dirty="0"/>
              <a:t>    ; Step 1: </a:t>
            </a:r>
            <a:r>
              <a:rPr lang="zh-CN" altLang="en-US" dirty="0"/>
              <a:t>预留栈空间并保存</a:t>
            </a:r>
            <a:r>
              <a:rPr lang="fr-FR" altLang="zh-CN" dirty="0"/>
              <a:t>FP/LR</a:t>
            </a:r>
          </a:p>
          <a:p>
            <a:r>
              <a:rPr lang="fr-FR" altLang="zh-CN" dirty="0"/>
              <a:t>    stp     x29, x30, [sp, #-32]!   ; 1. </a:t>
            </a:r>
            <a:r>
              <a:rPr lang="zh-CN" altLang="en-US" dirty="0"/>
              <a:t>压栈</a:t>
            </a:r>
            <a:r>
              <a:rPr lang="fr-FR" altLang="zh-CN" dirty="0"/>
              <a:t>FP+LR</a:t>
            </a:r>
            <a:r>
              <a:rPr lang="zh-CN" altLang="fr-FR" dirty="0"/>
              <a:t>，</a:t>
            </a:r>
            <a:r>
              <a:rPr lang="fr-FR" altLang="zh-CN" dirty="0"/>
              <a:t>SP-32</a:t>
            </a:r>
          </a:p>
          <a:p>
            <a:r>
              <a:rPr lang="fr-FR" altLang="zh-CN" dirty="0"/>
              <a:t>    </a:t>
            </a:r>
          </a:p>
          <a:p>
            <a:r>
              <a:rPr lang="fr-FR" altLang="zh-CN" dirty="0"/>
              <a:t>    ; Step 2: </a:t>
            </a:r>
            <a:r>
              <a:rPr lang="zh-CN" altLang="en-US" dirty="0"/>
              <a:t>设置新的</a:t>
            </a:r>
            <a:r>
              <a:rPr lang="fr-FR" altLang="zh-CN" dirty="0"/>
              <a:t>FP</a:t>
            </a:r>
          </a:p>
          <a:p>
            <a:r>
              <a:rPr lang="fr-FR" altLang="zh-CN" dirty="0"/>
              <a:t>    mov     x29, sp                  ; 2. FP = SP</a:t>
            </a:r>
          </a:p>
          <a:p>
            <a:r>
              <a:rPr lang="fr-FR" altLang="zh-CN" dirty="0"/>
              <a:t>    </a:t>
            </a:r>
          </a:p>
          <a:p>
            <a:r>
              <a:rPr lang="fr-FR" altLang="zh-CN" dirty="0"/>
              <a:t>    ; Step 3: </a:t>
            </a:r>
            <a:r>
              <a:rPr lang="zh-CN" altLang="en-US" dirty="0"/>
              <a:t>保存需要使用的被调用者保存寄存器</a:t>
            </a:r>
          </a:p>
          <a:p>
            <a:r>
              <a:rPr lang="fr-FR" altLang="zh-CN" dirty="0"/>
              <a:t>    ; Step 4: </a:t>
            </a:r>
            <a:r>
              <a:rPr lang="zh-CN" altLang="en-US" dirty="0"/>
              <a:t>函数体</a:t>
            </a:r>
            <a:r>
              <a:rPr lang="en-US" altLang="zh-CN" dirty="0"/>
              <a:t>...</a:t>
            </a:r>
          </a:p>
          <a:p>
            <a:endParaRPr lang="en-US" altLang="zh-CN" dirty="0"/>
          </a:p>
          <a:p>
            <a:r>
              <a:rPr lang="en-US" altLang="zh-CN" dirty="0"/>
              <a:t>    ; Epilogue </a:t>
            </a:r>
            <a:r>
              <a:rPr lang="zh-CN" altLang="en-US" dirty="0">
                <a:solidFill>
                  <a:srgbClr val="0000FF"/>
                </a:solidFill>
              </a:rPr>
              <a:t>函数尾声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/>
              <a:t>    ; Step 1: </a:t>
            </a:r>
            <a:r>
              <a:rPr lang="zh-CN" altLang="en-US" dirty="0"/>
              <a:t>恢复被调用者保存寄存器</a:t>
            </a:r>
          </a:p>
          <a:p>
            <a:r>
              <a:rPr lang="en-US" altLang="zh-CN" dirty="0"/>
              <a:t>    </a:t>
            </a:r>
          </a:p>
          <a:p>
            <a:r>
              <a:rPr lang="en-US" altLang="zh-CN" dirty="0"/>
              <a:t>    ; Step 2: </a:t>
            </a:r>
            <a:r>
              <a:rPr lang="zh-CN" altLang="en-US" dirty="0"/>
              <a:t>恢复</a:t>
            </a:r>
            <a:r>
              <a:rPr lang="en-US" altLang="zh-CN" dirty="0"/>
              <a:t>FP</a:t>
            </a:r>
            <a:r>
              <a:rPr lang="zh-CN" altLang="en-US" dirty="0"/>
              <a:t>和</a:t>
            </a:r>
            <a:r>
              <a:rPr lang="en-US" altLang="zh-CN" dirty="0"/>
              <a:t>LR</a:t>
            </a:r>
            <a:r>
              <a:rPr lang="zh-CN" altLang="en-US" dirty="0"/>
              <a:t>，释放栈空间</a:t>
            </a:r>
          </a:p>
          <a:p>
            <a:r>
              <a:rPr lang="zh-CN" altLang="en-US" dirty="0"/>
              <a:t>    </a:t>
            </a:r>
            <a:r>
              <a:rPr lang="en-US" altLang="zh-CN" dirty="0" err="1"/>
              <a:t>ldp</a:t>
            </a:r>
            <a:r>
              <a:rPr lang="en-US" altLang="zh-CN" dirty="0"/>
              <a:t>     x29, x30, [</a:t>
            </a:r>
            <a:r>
              <a:rPr lang="en-US" altLang="zh-CN" dirty="0" err="1"/>
              <a:t>sp</a:t>
            </a:r>
            <a:r>
              <a:rPr lang="en-US" altLang="zh-CN" dirty="0"/>
              <a:t>], #32      ; 2. </a:t>
            </a:r>
            <a:r>
              <a:rPr lang="zh-CN" altLang="en-US" dirty="0"/>
              <a:t>弹出</a:t>
            </a:r>
            <a:r>
              <a:rPr lang="en-US" altLang="zh-CN" dirty="0"/>
              <a:t>FP+LR</a:t>
            </a:r>
            <a:r>
              <a:rPr lang="zh-CN" altLang="en-US" dirty="0"/>
              <a:t>，</a:t>
            </a:r>
            <a:r>
              <a:rPr lang="en-US" altLang="zh-CN" dirty="0"/>
              <a:t>SP+32</a:t>
            </a:r>
          </a:p>
          <a:p>
            <a:r>
              <a:rPr lang="en-US" altLang="zh-CN" dirty="0"/>
              <a:t>    </a:t>
            </a:r>
          </a:p>
          <a:p>
            <a:r>
              <a:rPr lang="en-US" altLang="zh-CN" dirty="0"/>
              <a:t>    ; Step 3: </a:t>
            </a:r>
            <a:r>
              <a:rPr lang="zh-CN" altLang="en-US" dirty="0"/>
              <a:t>返回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ret 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F94FF97-C8F9-C150-A825-40D80072AD9F}"/>
              </a:ext>
            </a:extLst>
          </p:cNvPr>
          <p:cNvSpPr txBox="1"/>
          <p:nvPr/>
        </p:nvSpPr>
        <p:spPr>
          <a:xfrm>
            <a:off x="1080950" y="5735076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16</a:t>
            </a:r>
            <a:r>
              <a:rPr lang="zh-CN" altLang="en-US" dirty="0">
                <a:solidFill>
                  <a:srgbClr val="0000FF"/>
                </a:solidFill>
              </a:rPr>
              <a:t>字节对齐</a:t>
            </a:r>
            <a:r>
              <a:rPr lang="en-US" altLang="zh-CN" dirty="0">
                <a:solidFill>
                  <a:srgbClr val="0000FF"/>
                </a:solidFill>
              </a:rPr>
              <a:t>(16</a:t>
            </a:r>
            <a:r>
              <a:rPr lang="zh-CN" altLang="en-US" dirty="0">
                <a:solidFill>
                  <a:srgbClr val="0000FF"/>
                </a:solidFill>
              </a:rPr>
              <a:t>的倍数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266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F3880-755C-0A2C-B2FA-F4D26A557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D847509-D2DA-7D28-26F9-DA1F339D5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866530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7 </a:t>
            </a:r>
            <a:r>
              <a:rPr lang="zh-CN" altLang="en-US" dirty="0"/>
              <a:t>栈帧布局</a:t>
            </a:r>
            <a:r>
              <a:rPr lang="en-US" altLang="zh-CN" dirty="0"/>
              <a:t>(aarch64)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EFA59A1-DE34-04D4-DA43-F3F1E0DBD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7-</a:t>
            </a:r>
            <a:r>
              <a:rPr lang="zh-CN" altLang="en-US" dirty="0"/>
              <a:t>运行时存储组组织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016CF80-9E5D-5CED-2A18-2C6A63661FBF}"/>
              </a:ext>
            </a:extLst>
          </p:cNvPr>
          <p:cNvSpPr txBox="1"/>
          <p:nvPr/>
        </p:nvSpPr>
        <p:spPr>
          <a:xfrm>
            <a:off x="5911891" y="1867689"/>
            <a:ext cx="3951831" cy="3139321"/>
          </a:xfrm>
          <a:prstGeom prst="rect">
            <a:avLst/>
          </a:prstGeom>
          <a:solidFill>
            <a:srgbClr val="FFFFFF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fr-FR" altLang="zh-CN" dirty="0"/>
              <a:t>swap:</a:t>
            </a:r>
          </a:p>
          <a:p>
            <a:r>
              <a:rPr lang="fr-FR" altLang="zh-CN" dirty="0"/>
              <a:t>        sub     sp, sp, #32</a:t>
            </a:r>
          </a:p>
          <a:p>
            <a:r>
              <a:rPr lang="fr-FR" altLang="zh-CN" dirty="0"/>
              <a:t>        ...</a:t>
            </a:r>
          </a:p>
          <a:p>
            <a:r>
              <a:rPr lang="fr-FR" altLang="zh-CN" dirty="0"/>
              <a:t>        add     sp, sp, 32</a:t>
            </a:r>
          </a:p>
          <a:p>
            <a:r>
              <a:rPr lang="fr-FR" altLang="zh-CN" dirty="0"/>
              <a:t>        ret</a:t>
            </a:r>
          </a:p>
          <a:p>
            <a:r>
              <a:rPr lang="fr-FR" altLang="zh-CN" dirty="0"/>
              <a:t>main:</a:t>
            </a:r>
          </a:p>
          <a:p>
            <a:r>
              <a:rPr lang="fr-FR" altLang="zh-CN" dirty="0"/>
              <a:t>        stp     x29, x30, [sp, -32]!</a:t>
            </a:r>
          </a:p>
          <a:p>
            <a:r>
              <a:rPr lang="fr-FR" altLang="zh-CN" dirty="0"/>
              <a:t>        mov     x29, sp</a:t>
            </a:r>
          </a:p>
          <a:p>
            <a:r>
              <a:rPr lang="fr-FR" altLang="zh-CN" dirty="0"/>
              <a:t>        ...</a:t>
            </a:r>
          </a:p>
          <a:p>
            <a:r>
              <a:rPr lang="fr-FR" altLang="zh-CN" dirty="0"/>
              <a:t>        ldp     x29, x30, [sp], 32</a:t>
            </a:r>
          </a:p>
          <a:p>
            <a:r>
              <a:rPr lang="fr-FR" altLang="zh-CN" dirty="0"/>
              <a:t>        ret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0A2488-EE8A-A1C7-696E-7F3E813B80AE}"/>
              </a:ext>
            </a:extLst>
          </p:cNvPr>
          <p:cNvSpPr txBox="1"/>
          <p:nvPr/>
        </p:nvSpPr>
        <p:spPr>
          <a:xfrm>
            <a:off x="5827294" y="5564470"/>
            <a:ext cx="3422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FF"/>
                </a:solidFill>
              </a:rPr>
              <a:t>注：叶例程不用保存</a:t>
            </a:r>
            <a:r>
              <a:rPr lang="en-US" altLang="zh-CN" dirty="0">
                <a:solidFill>
                  <a:srgbClr val="0000FF"/>
                </a:solidFill>
              </a:rPr>
              <a:t>x29/x30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DD542F2-033B-F684-6E43-B55869F5B134}"/>
              </a:ext>
            </a:extLst>
          </p:cNvPr>
          <p:cNvSpPr txBox="1"/>
          <p:nvPr/>
        </p:nvSpPr>
        <p:spPr>
          <a:xfrm>
            <a:off x="929983" y="1660358"/>
            <a:ext cx="3037973" cy="4801314"/>
          </a:xfrm>
          <a:prstGeom prst="rect">
            <a:avLst/>
          </a:prstGeom>
          <a:solidFill>
            <a:srgbClr val="FFFFFF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fr-FR" altLang="zh-CN" dirty="0"/>
              <a:t>int m = 1, n = 2;</a:t>
            </a:r>
          </a:p>
          <a:p>
            <a:r>
              <a:rPr lang="fr-FR" altLang="zh-CN" dirty="0"/>
              <a:t>int a[3] = {17, 33, 49};</a:t>
            </a:r>
          </a:p>
          <a:p>
            <a:endParaRPr lang="fr-FR" altLang="zh-CN" dirty="0"/>
          </a:p>
          <a:p>
            <a:r>
              <a:rPr lang="fr-FR" altLang="zh-CN" dirty="0"/>
              <a:t>void swap(int *x, int *y) {</a:t>
            </a:r>
          </a:p>
          <a:p>
            <a:r>
              <a:rPr lang="fr-FR" altLang="zh-CN" dirty="0"/>
              <a:t>    int t = *x;</a:t>
            </a:r>
          </a:p>
          <a:p>
            <a:r>
              <a:rPr lang="fr-FR" altLang="zh-CN" dirty="0"/>
              <a:t>    *x = *y;</a:t>
            </a:r>
          </a:p>
          <a:p>
            <a:r>
              <a:rPr lang="fr-FR" altLang="zh-CN" dirty="0"/>
              <a:t>    *y = t;</a:t>
            </a:r>
          </a:p>
          <a:p>
            <a:r>
              <a:rPr lang="fr-FR" altLang="zh-CN" dirty="0"/>
              <a:t>     </a:t>
            </a:r>
            <a:r>
              <a:rPr lang="fr-FR" altLang="zh-CN" dirty="0">
                <a:solidFill>
                  <a:srgbClr val="FF0000"/>
                </a:solidFill>
              </a:rPr>
              <a:t>// </a:t>
            </a:r>
            <a:r>
              <a:rPr lang="zh-CN" altLang="en-US" dirty="0">
                <a:solidFill>
                  <a:srgbClr val="FF0000"/>
                </a:solidFill>
              </a:rPr>
              <a:t>观察点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</a:t>
            </a:r>
            <a:r>
              <a:rPr lang="en-US" altLang="zh-CN" dirty="0"/>
              <a:t>return;</a:t>
            </a:r>
            <a:endParaRPr lang="fr-FR" altLang="zh-CN" dirty="0"/>
          </a:p>
          <a:p>
            <a:r>
              <a:rPr lang="fr-FR" altLang="zh-CN" dirty="0"/>
              <a:t>}</a:t>
            </a:r>
          </a:p>
          <a:p>
            <a:endParaRPr lang="fr-FR" altLang="zh-CN" dirty="0"/>
          </a:p>
          <a:p>
            <a:r>
              <a:rPr lang="fr-FR" altLang="zh-CN" dirty="0"/>
              <a:t>int main() {</a:t>
            </a:r>
          </a:p>
          <a:p>
            <a:r>
              <a:rPr lang="fr-FR" altLang="zh-CN" dirty="0"/>
              <a:t>    int i, j;</a:t>
            </a:r>
          </a:p>
          <a:p>
            <a:r>
              <a:rPr lang="fr-FR" altLang="zh-CN" dirty="0"/>
              <a:t>    i = m; j = n;</a:t>
            </a:r>
          </a:p>
          <a:p>
            <a:r>
              <a:rPr lang="fr-FR" altLang="zh-CN" dirty="0"/>
              <a:t>    swap(&amp;a[i], &amp;a[j]);</a:t>
            </a:r>
          </a:p>
          <a:p>
            <a:r>
              <a:rPr lang="fr-FR" altLang="zh-CN" dirty="0"/>
              <a:t>    return 0;</a:t>
            </a:r>
          </a:p>
          <a:p>
            <a:r>
              <a:rPr lang="fr-FR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719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529A4-EA77-CFC9-5F13-CCCF0C980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328F1B8-5DE0-0C26-FE3B-6D842E3A4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866530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7 </a:t>
            </a:r>
            <a:r>
              <a:rPr lang="zh-CN" altLang="en-US" dirty="0"/>
              <a:t>栈帧布局</a:t>
            </a:r>
            <a:r>
              <a:rPr lang="en-US" altLang="zh-CN" dirty="0"/>
              <a:t>(aarch64)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79A3064-DD2C-301E-661A-44D2610C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7-</a:t>
            </a:r>
            <a:r>
              <a:rPr lang="zh-CN" altLang="en-US" dirty="0"/>
              <a:t>运行时存储组组织</a:t>
            </a:r>
          </a:p>
        </p:txBody>
      </p:sp>
      <p:graphicFrame>
        <p:nvGraphicFramePr>
          <p:cNvPr id="4" name="表格 9">
            <a:extLst>
              <a:ext uri="{FF2B5EF4-FFF2-40B4-BE49-F238E27FC236}">
                <a16:creationId xmlns:a16="http://schemas.microsoft.com/office/drawing/2014/main" id="{61651D36-C308-2378-DEFC-A0AF3AFB3A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5973027"/>
              </p:ext>
            </p:extLst>
          </p:nvPr>
        </p:nvGraphicFramePr>
        <p:xfrm>
          <a:off x="4918050" y="89488"/>
          <a:ext cx="7093470" cy="644446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2700000" algn="ctr" rotWithShape="0">
                    <a:schemeClr val="tx1">
                      <a:alpha val="40000"/>
                    </a:schemeClr>
                  </a:outerShdw>
                </a:effectLst>
                <a:tableStyleId>{5C22544A-7EE6-4342-B048-85BDC9FD1C3A}</a:tableStyleId>
              </a:tblPr>
              <a:tblGrid>
                <a:gridCol w="1900533">
                  <a:extLst>
                    <a:ext uri="{9D8B030D-6E8A-4147-A177-3AD203B41FA5}">
                      <a16:colId xmlns:a16="http://schemas.microsoft.com/office/drawing/2014/main" val="1459157444"/>
                    </a:ext>
                  </a:extLst>
                </a:gridCol>
                <a:gridCol w="1603997">
                  <a:extLst>
                    <a:ext uri="{9D8B030D-6E8A-4147-A177-3AD203B41FA5}">
                      <a16:colId xmlns:a16="http://schemas.microsoft.com/office/drawing/2014/main" val="19227201"/>
                    </a:ext>
                  </a:extLst>
                </a:gridCol>
                <a:gridCol w="1794470">
                  <a:extLst>
                    <a:ext uri="{9D8B030D-6E8A-4147-A177-3AD203B41FA5}">
                      <a16:colId xmlns:a16="http://schemas.microsoft.com/office/drawing/2014/main" val="2326964399"/>
                    </a:ext>
                  </a:extLst>
                </a:gridCol>
                <a:gridCol w="1794470">
                  <a:extLst>
                    <a:ext uri="{9D8B030D-6E8A-4147-A177-3AD203B41FA5}">
                      <a16:colId xmlns:a16="http://schemas.microsoft.com/office/drawing/2014/main" val="3841124368"/>
                    </a:ext>
                  </a:extLst>
                </a:gridCol>
              </a:tblGrid>
              <a:tr h="4123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0xfffffffff04c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变量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main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的栈帧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350950"/>
                  </a:ext>
                </a:extLst>
              </a:tr>
              <a:tr h="4123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0xfffffffff048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变量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743071"/>
                  </a:ext>
                </a:extLst>
              </a:tr>
              <a:tr h="412346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对齐区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90458"/>
                  </a:ext>
                </a:extLst>
              </a:tr>
              <a:tr h="4123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0xfffffffff038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0xe7ffffe1b000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保存的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x30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228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0xfffffffff030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0xfffffffff150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保存的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x29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258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0xfffffffff02c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33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变量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swap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的栈帧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22775"/>
                  </a:ext>
                </a:extLst>
              </a:tr>
              <a:tr h="43644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对齐区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435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0xfffffffff018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0x420034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参数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091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0xfffffffff010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0x420038 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参数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000928"/>
                  </a:ext>
                </a:extLst>
              </a:tr>
              <a:tr h="216836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……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静态数据区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227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0x420038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33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a[2]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961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0x420034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49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a[1]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358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0x420030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a[0]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644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0x42002c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变量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254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0x420028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变量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380019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……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246537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51D3A242-1FE3-C82A-5778-1FD6383697F8}"/>
              </a:ext>
            </a:extLst>
          </p:cNvPr>
          <p:cNvSpPr txBox="1"/>
          <p:nvPr/>
        </p:nvSpPr>
        <p:spPr>
          <a:xfrm>
            <a:off x="929983" y="1660358"/>
            <a:ext cx="3037973" cy="4801314"/>
          </a:xfrm>
          <a:prstGeom prst="rect">
            <a:avLst/>
          </a:prstGeom>
          <a:solidFill>
            <a:srgbClr val="FFFFFF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fr-FR" altLang="zh-CN" dirty="0"/>
              <a:t>int m = 1, n = 2;</a:t>
            </a:r>
          </a:p>
          <a:p>
            <a:r>
              <a:rPr lang="fr-FR" altLang="zh-CN" dirty="0"/>
              <a:t>int a[3] = {17, 33, 49};</a:t>
            </a:r>
          </a:p>
          <a:p>
            <a:endParaRPr lang="fr-FR" altLang="zh-CN" dirty="0"/>
          </a:p>
          <a:p>
            <a:r>
              <a:rPr lang="fr-FR" altLang="zh-CN" dirty="0"/>
              <a:t>void swap(int *x, int *y) {</a:t>
            </a:r>
          </a:p>
          <a:p>
            <a:r>
              <a:rPr lang="fr-FR" altLang="zh-CN" dirty="0"/>
              <a:t>    int t = *x;</a:t>
            </a:r>
          </a:p>
          <a:p>
            <a:r>
              <a:rPr lang="fr-FR" altLang="zh-CN" dirty="0"/>
              <a:t>    *x = *y;</a:t>
            </a:r>
          </a:p>
          <a:p>
            <a:r>
              <a:rPr lang="fr-FR" altLang="zh-CN" dirty="0"/>
              <a:t>    *y = t;</a:t>
            </a:r>
          </a:p>
          <a:p>
            <a:r>
              <a:rPr lang="fr-FR" altLang="zh-CN" dirty="0"/>
              <a:t>     </a:t>
            </a:r>
            <a:r>
              <a:rPr lang="fr-FR" altLang="zh-CN" dirty="0">
                <a:solidFill>
                  <a:srgbClr val="FF0000"/>
                </a:solidFill>
              </a:rPr>
              <a:t>// </a:t>
            </a:r>
            <a:r>
              <a:rPr lang="zh-CN" altLang="en-US" dirty="0">
                <a:solidFill>
                  <a:srgbClr val="FF0000"/>
                </a:solidFill>
              </a:rPr>
              <a:t>观察点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</a:t>
            </a:r>
            <a:r>
              <a:rPr lang="en-US" altLang="zh-CN" dirty="0"/>
              <a:t>return;</a:t>
            </a:r>
            <a:endParaRPr lang="fr-FR" altLang="zh-CN" dirty="0"/>
          </a:p>
          <a:p>
            <a:r>
              <a:rPr lang="fr-FR" altLang="zh-CN" dirty="0"/>
              <a:t>}</a:t>
            </a:r>
          </a:p>
          <a:p>
            <a:endParaRPr lang="fr-FR" altLang="zh-CN" dirty="0"/>
          </a:p>
          <a:p>
            <a:r>
              <a:rPr lang="fr-FR" altLang="zh-CN" dirty="0"/>
              <a:t>int main() {</a:t>
            </a:r>
          </a:p>
          <a:p>
            <a:r>
              <a:rPr lang="fr-FR" altLang="zh-CN" dirty="0"/>
              <a:t>    int i, j;</a:t>
            </a:r>
          </a:p>
          <a:p>
            <a:r>
              <a:rPr lang="fr-FR" altLang="zh-CN" dirty="0"/>
              <a:t>    i = m; j = n;</a:t>
            </a:r>
          </a:p>
          <a:p>
            <a:r>
              <a:rPr lang="fr-FR" altLang="zh-CN" dirty="0"/>
              <a:t>    swap(&amp;a[i], &amp;a[j]);</a:t>
            </a:r>
          </a:p>
          <a:p>
            <a:r>
              <a:rPr lang="fr-FR" altLang="zh-CN" dirty="0"/>
              <a:t>    return 0;</a:t>
            </a:r>
          </a:p>
          <a:p>
            <a:r>
              <a:rPr lang="fr-FR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00746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AAE25-B3E9-D79F-9568-E4F8CD0A0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D56AE35-7F0F-2FCF-B571-64AE9F267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866530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7 </a:t>
            </a:r>
            <a:r>
              <a:rPr lang="zh-CN" altLang="en-US" dirty="0"/>
              <a:t>栈帧布局</a:t>
            </a:r>
            <a:r>
              <a:rPr lang="en-US" altLang="zh-CN" dirty="0"/>
              <a:t>(aarch64)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6DA1063-2D39-096E-05F8-38D313DD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7-</a:t>
            </a:r>
            <a:r>
              <a:rPr lang="zh-CN" altLang="en-US" dirty="0"/>
              <a:t>运行时存储组组织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BF188E-E91A-8E32-BC4A-D967A87788D4}"/>
              </a:ext>
            </a:extLst>
          </p:cNvPr>
          <p:cNvSpPr txBox="1"/>
          <p:nvPr/>
        </p:nvSpPr>
        <p:spPr>
          <a:xfrm>
            <a:off x="929983" y="1660358"/>
            <a:ext cx="3037973" cy="4801314"/>
          </a:xfrm>
          <a:prstGeom prst="rect">
            <a:avLst/>
          </a:prstGeom>
          <a:solidFill>
            <a:srgbClr val="FFFFFF"/>
          </a:solidFill>
          <a:ln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fr-FR" altLang="zh-CN" dirty="0"/>
              <a:t>int m = 1, n = 2;</a:t>
            </a:r>
          </a:p>
          <a:p>
            <a:r>
              <a:rPr lang="fr-FR" altLang="zh-CN" dirty="0"/>
              <a:t>int a[3] = {17, 33, 49};</a:t>
            </a:r>
          </a:p>
          <a:p>
            <a:endParaRPr lang="fr-FR" altLang="zh-CN" dirty="0"/>
          </a:p>
          <a:p>
            <a:r>
              <a:rPr lang="fr-FR" altLang="zh-CN" dirty="0"/>
              <a:t>void swap(int *x, int *y) {</a:t>
            </a:r>
          </a:p>
          <a:p>
            <a:r>
              <a:rPr lang="fr-FR" altLang="zh-CN" dirty="0"/>
              <a:t>    int t = *x;</a:t>
            </a:r>
          </a:p>
          <a:p>
            <a:r>
              <a:rPr lang="fr-FR" altLang="zh-CN" dirty="0"/>
              <a:t>    *x = *y;</a:t>
            </a:r>
          </a:p>
          <a:p>
            <a:r>
              <a:rPr lang="fr-FR" altLang="zh-CN" dirty="0"/>
              <a:t>    *y = t;</a:t>
            </a:r>
          </a:p>
          <a:p>
            <a:r>
              <a:rPr lang="fr-FR" altLang="zh-CN" dirty="0"/>
              <a:t>     </a:t>
            </a:r>
            <a:r>
              <a:rPr lang="fr-FR" altLang="zh-CN" dirty="0">
                <a:solidFill>
                  <a:srgbClr val="FF0000"/>
                </a:solidFill>
              </a:rPr>
              <a:t>// </a:t>
            </a:r>
            <a:r>
              <a:rPr lang="zh-CN" altLang="en-US" dirty="0">
                <a:solidFill>
                  <a:srgbClr val="FF0000"/>
                </a:solidFill>
              </a:rPr>
              <a:t>观察点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    </a:t>
            </a:r>
            <a:r>
              <a:rPr lang="en-US" altLang="zh-CN" dirty="0"/>
              <a:t>return;</a:t>
            </a:r>
            <a:endParaRPr lang="fr-FR" altLang="zh-CN" dirty="0"/>
          </a:p>
          <a:p>
            <a:r>
              <a:rPr lang="fr-FR" altLang="zh-CN" dirty="0"/>
              <a:t>}</a:t>
            </a:r>
          </a:p>
          <a:p>
            <a:endParaRPr lang="fr-FR" altLang="zh-CN" dirty="0"/>
          </a:p>
          <a:p>
            <a:r>
              <a:rPr lang="fr-FR" altLang="zh-CN" dirty="0"/>
              <a:t>int main() {</a:t>
            </a:r>
          </a:p>
          <a:p>
            <a:r>
              <a:rPr lang="fr-FR" altLang="zh-CN" dirty="0"/>
              <a:t>    int i, j;</a:t>
            </a:r>
          </a:p>
          <a:p>
            <a:r>
              <a:rPr lang="fr-FR" altLang="zh-CN" dirty="0"/>
              <a:t>    i = m; j = n;</a:t>
            </a:r>
          </a:p>
          <a:p>
            <a:r>
              <a:rPr lang="fr-FR" altLang="zh-CN" dirty="0"/>
              <a:t>    swap(&amp;a[i], &amp;a[j]);</a:t>
            </a:r>
          </a:p>
          <a:p>
            <a:r>
              <a:rPr lang="fr-FR" altLang="zh-CN" dirty="0"/>
              <a:t>    return 0;</a:t>
            </a:r>
          </a:p>
          <a:p>
            <a:r>
              <a:rPr lang="fr-FR" altLang="zh-CN" dirty="0"/>
              <a:t>}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BC8A4F-7889-1BF4-0160-E0E9CBD99A66}"/>
              </a:ext>
            </a:extLst>
          </p:cNvPr>
          <p:cNvSpPr txBox="1"/>
          <p:nvPr/>
        </p:nvSpPr>
        <p:spPr>
          <a:xfrm>
            <a:off x="5561436" y="1622031"/>
            <a:ext cx="4801314" cy="2797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程序的运行地址空间是不确定的。</a:t>
            </a: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存储空间布局是确定的</a:t>
            </a: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栈帧格局是确定的</a:t>
            </a: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传值与传址的区别</a:t>
            </a: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数组的存储顺序</a:t>
            </a:r>
            <a:r>
              <a:rPr lang="en-US" altLang="zh-CN" sz="2400" dirty="0"/>
              <a:t>(</a:t>
            </a:r>
            <a:r>
              <a:rPr lang="zh-CN" altLang="en-US" sz="2400" dirty="0"/>
              <a:t>行优先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385608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3B57AF-40F6-5C9F-5744-5F7B734DD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8-</a:t>
            </a:r>
            <a:r>
              <a:rPr lang="zh-CN" altLang="en-US" dirty="0"/>
              <a:t>代码优化</a:t>
            </a:r>
            <a:r>
              <a:rPr lang="en-US" altLang="zh-CN" dirty="0"/>
              <a:t>(</a:t>
            </a:r>
            <a:r>
              <a:rPr lang="zh-CN" altLang="en-US" dirty="0"/>
              <a:t>中间代码优化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77092D-A8E1-94DF-4D51-A02085AD5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sz="3200" b="0" dirty="0"/>
              <a:t>基本块的划分和控制流图</a:t>
            </a:r>
            <a:endParaRPr lang="en-US" altLang="zh-CN" sz="3200" b="0" dirty="0"/>
          </a:p>
          <a:p>
            <a:r>
              <a:rPr lang="zh-CN" altLang="en-US" sz="3200" b="0" dirty="0"/>
              <a:t>必经集点集，回边，自然循环的识别</a:t>
            </a:r>
            <a:endParaRPr lang="en-US" altLang="zh-CN" sz="3200" b="0" dirty="0"/>
          </a:p>
          <a:p>
            <a:r>
              <a:rPr lang="zh-CN" altLang="en-US" sz="3200" b="0" dirty="0"/>
              <a:t>数据流分析：到达定值分析，活跃变量分析，</a:t>
            </a:r>
            <a:r>
              <a:rPr lang="en-US" altLang="zh-CN" sz="3200" b="0" dirty="0"/>
              <a:t>UD</a:t>
            </a:r>
            <a:r>
              <a:rPr lang="zh-CN" altLang="en-US" sz="3200" b="0" dirty="0"/>
              <a:t>链与</a:t>
            </a:r>
            <a:r>
              <a:rPr lang="en-US" altLang="zh-CN" sz="3200" b="0" dirty="0"/>
              <a:t>DU</a:t>
            </a:r>
            <a:r>
              <a:rPr lang="zh-CN" altLang="en-US" sz="3200" b="0" dirty="0"/>
              <a:t>链</a:t>
            </a:r>
            <a:endParaRPr lang="en-US" altLang="zh-CN" sz="3200" b="0" dirty="0"/>
          </a:p>
          <a:p>
            <a:r>
              <a:rPr lang="zh-CN" altLang="en-US" sz="3200" b="0" dirty="0"/>
              <a:t>循环优化：循环不变计算的识别，循环不变计算外提，归纳变量计算的强度削弱，基本归纳变量的删除</a:t>
            </a:r>
            <a:endParaRPr lang="en-US" altLang="zh-CN" sz="3200" b="0" dirty="0"/>
          </a:p>
          <a:p>
            <a:r>
              <a:rPr lang="zh-CN" altLang="en-US" sz="3200" b="0" dirty="0"/>
              <a:t>其它优化：公共子表达式删除，常量合并与传播，复写传播，死代码删除</a:t>
            </a:r>
            <a:endParaRPr lang="en-US" altLang="zh-CN" sz="3200" b="0" dirty="0"/>
          </a:p>
        </p:txBody>
      </p:sp>
    </p:spTree>
    <p:extLst>
      <p:ext uri="{BB962C8B-B14F-4D97-AF65-F5344CB8AC3E}">
        <p14:creationId xmlns:p14="http://schemas.microsoft.com/office/powerpoint/2010/main" val="11568628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DA5EF-9027-E8AA-886A-8E0EE19E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3DE8B-4919-19A9-E5C6-CAC1EA1AA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8-</a:t>
            </a:r>
            <a:r>
              <a:rPr lang="zh-CN" altLang="en-US" dirty="0"/>
              <a:t>代码优化</a:t>
            </a:r>
            <a:r>
              <a:rPr lang="en-US" altLang="zh-CN" dirty="0"/>
              <a:t>(</a:t>
            </a:r>
            <a:r>
              <a:rPr lang="zh-CN" altLang="en-US" dirty="0"/>
              <a:t>中间代码优化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DB3169-D5B1-EBB7-C341-F20BFB486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4311650" cy="890593"/>
          </a:xfrm>
        </p:spPr>
        <p:txBody>
          <a:bodyPr>
            <a:normAutofit/>
          </a:bodyPr>
          <a:lstStyle/>
          <a:p>
            <a:r>
              <a:rPr lang="zh-CN" altLang="en-US" sz="2400" b="0" dirty="0"/>
              <a:t>例</a:t>
            </a:r>
            <a:r>
              <a:rPr lang="en-US" altLang="zh-CN" sz="2400" b="0" dirty="0"/>
              <a:t>8 </a:t>
            </a:r>
            <a:r>
              <a:rPr lang="zh-CN" altLang="en-US" sz="2400" b="0" dirty="0"/>
              <a:t>数据流分析</a:t>
            </a:r>
            <a:endParaRPr lang="en-US" altLang="zh-CN" sz="2400" b="0" dirty="0"/>
          </a:p>
          <a:p>
            <a:endParaRPr lang="en-US" altLang="zh-CN" sz="2400" b="0" dirty="0"/>
          </a:p>
        </p:txBody>
      </p:sp>
      <p:grpSp>
        <p:nvGrpSpPr>
          <p:cNvPr id="4" name="组合 3" descr="P697#y1">
            <a:extLst>
              <a:ext uri="{FF2B5EF4-FFF2-40B4-BE49-F238E27FC236}">
                <a16:creationId xmlns:a16="http://schemas.microsoft.com/office/drawing/2014/main" id="{3544C2E2-4B71-3BA0-4D4B-8827EF97C18E}"/>
              </a:ext>
            </a:extLst>
          </p:cNvPr>
          <p:cNvGrpSpPr/>
          <p:nvPr/>
        </p:nvGrpSpPr>
        <p:grpSpPr>
          <a:xfrm>
            <a:off x="378551" y="1715784"/>
            <a:ext cx="4511947" cy="4621269"/>
            <a:chOff x="-25400" y="0"/>
            <a:chExt cx="4406900" cy="4470181"/>
          </a:xfrm>
        </p:grpSpPr>
        <p:sp>
          <p:nvSpPr>
            <p:cNvPr id="5" name="Text Box 9" descr="P491TB4#y1">
              <a:extLst>
                <a:ext uri="{FF2B5EF4-FFF2-40B4-BE49-F238E27FC236}">
                  <a16:creationId xmlns:a16="http://schemas.microsoft.com/office/drawing/2014/main" id="{F29DEADC-17DA-9BF6-6353-C636DBE6A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4089" y="0"/>
              <a:ext cx="1352550" cy="32385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vert="horz" wrap="square" lIns="36000" tIns="0" rIns="0" bIns="0" numCol="1" anchor="ctr" anchorCtr="0" compatLnSpc="1">
              <a:noAutofit/>
            </a:bodyPr>
            <a:lstStyle/>
            <a:p>
              <a:pPr algn="just"/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1: reversed = 0</a:t>
              </a:r>
            </a:p>
          </p:txBody>
        </p:sp>
        <p:sp>
          <p:nvSpPr>
            <p:cNvPr id="6" name="Text Box 9" descr="P491TB4#y1">
              <a:extLst>
                <a:ext uri="{FF2B5EF4-FFF2-40B4-BE49-F238E27FC236}">
                  <a16:creationId xmlns:a16="http://schemas.microsoft.com/office/drawing/2014/main" id="{F022F18D-02F0-336F-C71B-39FF58D79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544" y="1135117"/>
              <a:ext cx="1638300" cy="123825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vert="horz" wrap="square" lIns="36000" tIns="0" rIns="0" bIns="0" numCol="1" anchor="ctr" anchorCtr="0" compatLnSpc="1">
              <a:noAutofit/>
            </a:bodyPr>
            <a:lstStyle/>
            <a:p>
              <a:pPr algn="just"/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3: t1 = reversed * 10</a:t>
              </a:r>
            </a:p>
            <a:p>
              <a:pPr algn="just"/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4: t2 = n % 10</a:t>
              </a:r>
            </a:p>
            <a:p>
              <a:pPr algn="just"/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5: reversed = t1 + t2</a:t>
              </a:r>
            </a:p>
            <a:p>
              <a:pPr algn="just"/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6: t3 = n / 10</a:t>
              </a:r>
            </a:p>
            <a:p>
              <a:pPr algn="just"/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7: n = t3</a:t>
              </a:r>
            </a:p>
            <a:p>
              <a:pPr algn="just"/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8: goto B2</a:t>
              </a:r>
              <a:endParaRPr lang="en-US" altLang="zh-CN" sz="1000" b="1" kern="1200">
                <a:solidFill>
                  <a:srgbClr val="000000"/>
                </a:solidFill>
                <a:latin typeface="宋体"/>
                <a:ea typeface="宋体"/>
                <a:cs typeface="Times New Roman"/>
                <a:sym typeface="Times New Roman"/>
              </a:endParaRPr>
            </a:p>
          </p:txBody>
        </p:sp>
        <p:sp>
          <p:nvSpPr>
            <p:cNvPr id="7" name="Text Box 9" descr="P491TB4#y1">
              <a:extLst>
                <a:ext uri="{FF2B5EF4-FFF2-40B4-BE49-F238E27FC236}">
                  <a16:creationId xmlns:a16="http://schemas.microsoft.com/office/drawing/2014/main" id="{078844DD-C902-256A-45A5-DF53DBFD8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8896" y="2554014"/>
              <a:ext cx="2006600" cy="38735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vert="horz" wrap="square" lIns="36000" tIns="0" rIns="0" bIns="0" numCol="1" anchor="ctr" anchorCtr="0" compatLnSpc="1">
              <a:noAutofit/>
            </a:bodyPr>
            <a:lstStyle/>
            <a:p>
              <a:pPr algn="just" eaLnBrk="0" fontAlgn="base" hangingPunct="0">
                <a:lnSpc>
                  <a:spcPts val="1200"/>
                </a:lnSpc>
              </a:pPr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10: t4 = reversed / 10</a:t>
              </a:r>
            </a:p>
            <a:p>
              <a:pPr algn="just" eaLnBrk="0" fontAlgn="base" hangingPunct="0">
                <a:lnSpc>
                  <a:spcPts val="1200"/>
                </a:lnSpc>
              </a:pPr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11: if n == t4 goto B7</a:t>
              </a:r>
              <a:endParaRPr lang="en-US" altLang="zh-CN" sz="1000" b="1" kern="1200">
                <a:solidFill>
                  <a:srgbClr val="000000"/>
                </a:solidFill>
                <a:latin typeface="宋体"/>
                <a:ea typeface="宋体"/>
                <a:cs typeface="Times New Roman"/>
                <a:sym typeface="Times New Roman"/>
              </a:endParaRPr>
            </a:p>
          </p:txBody>
        </p:sp>
        <p:sp>
          <p:nvSpPr>
            <p:cNvPr id="8" name="Text Box 9" descr="P491TB4#y1">
              <a:extLst>
                <a:ext uri="{FF2B5EF4-FFF2-40B4-BE49-F238E27FC236}">
                  <a16:creationId xmlns:a16="http://schemas.microsoft.com/office/drawing/2014/main" id="{AA7F0993-F736-EB35-D06D-49A98C1083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3294993"/>
              <a:ext cx="1085850" cy="32385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vert="horz" wrap="square" lIns="36000" tIns="0" rIns="0" bIns="0" numCol="1" anchor="ctr" anchorCtr="0" compatLnSpc="1">
              <a:noAutofit/>
            </a:bodyPr>
            <a:lstStyle/>
            <a:p>
              <a:pPr algn="just" eaLnBrk="0" fontAlgn="base" hangingPunct="0">
                <a:lnSpc>
                  <a:spcPts val="1200"/>
                </a:lnSpc>
              </a:pPr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14:ans = 1</a:t>
              </a:r>
              <a:endParaRPr lang="en-US" altLang="zh-CN" sz="1000" b="1" kern="1200">
                <a:solidFill>
                  <a:srgbClr val="000000"/>
                </a:solidFill>
                <a:latin typeface="宋体"/>
                <a:ea typeface="宋体"/>
                <a:cs typeface="Times New Roman"/>
                <a:sym typeface="Times New Roman"/>
              </a:endParaRPr>
            </a:p>
          </p:txBody>
        </p:sp>
        <p:sp>
          <p:nvSpPr>
            <p:cNvPr id="9" name="Text Box 9" descr="P491TB4#y1">
              <a:extLst>
                <a:ext uri="{FF2B5EF4-FFF2-40B4-BE49-F238E27FC236}">
                  <a16:creationId xmlns:a16="http://schemas.microsoft.com/office/drawing/2014/main" id="{243DCFAB-140E-A06F-650B-59595BFC84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4469" y="4146331"/>
              <a:ext cx="1085850" cy="32385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vert="horz" wrap="square" lIns="36000" tIns="0" rIns="0" bIns="0" numCol="1" anchor="ctr" anchorCtr="0" compatLnSpc="1">
              <a:noAutofit/>
            </a:bodyPr>
            <a:lstStyle/>
            <a:p>
              <a:pPr algn="just" eaLnBrk="0" fontAlgn="base" hangingPunct="0">
                <a:lnSpc>
                  <a:spcPts val="1200"/>
                </a:lnSpc>
              </a:pPr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15: return ans</a:t>
              </a:r>
              <a:endParaRPr lang="en-US" altLang="zh-CN" sz="1000" b="1" kern="1200">
                <a:solidFill>
                  <a:srgbClr val="000000"/>
                </a:solidFill>
                <a:latin typeface="宋体"/>
                <a:ea typeface="宋体"/>
                <a:cs typeface="Times New Roman"/>
                <a:sym typeface="Times New Roman"/>
              </a:endParaRPr>
            </a:p>
          </p:txBody>
        </p:sp>
        <p:sp>
          <p:nvSpPr>
            <p:cNvPr id="10" name="Text Box 9" descr="P491TB4#y1">
              <a:extLst>
                <a:ext uri="{FF2B5EF4-FFF2-40B4-BE49-F238E27FC236}">
                  <a16:creationId xmlns:a16="http://schemas.microsoft.com/office/drawing/2014/main" id="{EB39EE96-1ABC-F4E9-D599-C89C8B00CA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0427" y="3279228"/>
              <a:ext cx="1066800" cy="3683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vert="horz" wrap="square" lIns="36000" tIns="0" rIns="0" bIns="0" numCol="1" anchor="ctr" anchorCtr="0" compatLnSpc="1">
              <a:noAutofit/>
            </a:bodyPr>
            <a:lstStyle/>
            <a:p>
              <a:pPr algn="just" eaLnBrk="0" fontAlgn="base" hangingPunct="0">
                <a:lnSpc>
                  <a:spcPts val="1200"/>
                </a:lnSpc>
              </a:pPr>
              <a:r>
                <a:rPr lang="en-US" altLang="zh-CN" sz="1050" kern="1200">
                  <a:solidFill>
                    <a:srgbClr val="000000"/>
                  </a:solidFill>
                  <a:latin typeface="宋体"/>
                  <a:ea typeface="宋体"/>
                  <a:cs typeface="Times New Roman"/>
                  <a:sym typeface="Times New Roman"/>
                </a:rPr>
                <a:t>12: ans = 0</a:t>
              </a:r>
            </a:p>
            <a:p>
              <a:pPr algn="just" eaLnBrk="0" fontAlgn="base" hangingPunct="0">
                <a:lnSpc>
                  <a:spcPts val="1200"/>
                </a:lnSpc>
              </a:pPr>
              <a:r>
                <a:rPr lang="en-US" altLang="zh-CN" sz="1050" kern="1200">
                  <a:solidFill>
                    <a:srgbClr val="000000"/>
                  </a:solidFill>
                  <a:latin typeface="宋体"/>
                  <a:ea typeface="宋体"/>
                  <a:cs typeface="Times New Roman"/>
                  <a:sym typeface="Times New Roman"/>
                </a:rPr>
                <a:t>13: goto B8</a:t>
              </a:r>
            </a:p>
            <a:p>
              <a:pPr algn="just" eaLnBrk="0" fontAlgn="base" hangingPunct="0">
                <a:lnSpc>
                  <a:spcPts val="1200"/>
                </a:lnSpc>
              </a:pPr>
              <a:r>
                <a:rPr lang="en-US" altLang="zh-CN" sz="1000" b="1" kern="1200">
                  <a:solidFill>
                    <a:srgbClr val="000000"/>
                  </a:solidFill>
                  <a:latin typeface="宋体"/>
                  <a:ea typeface="宋体"/>
                  <a:cs typeface="Times New Roman"/>
                  <a:sym typeface="Times New Roman"/>
                </a:rPr>
                <a:t> </a:t>
              </a:r>
            </a:p>
          </p:txBody>
        </p:sp>
        <p:sp>
          <p:nvSpPr>
            <p:cNvPr id="11" name="文本框 17">
              <a:extLst>
                <a:ext uri="{FF2B5EF4-FFF2-40B4-BE49-F238E27FC236}">
                  <a16:creationId xmlns:a16="http://schemas.microsoft.com/office/drawing/2014/main" id="{5C8A7423-C921-7374-2A4B-85B17AE3189A}"/>
                </a:ext>
              </a:extLst>
            </p:cNvPr>
            <p:cNvSpPr txBox="1"/>
            <p:nvPr/>
          </p:nvSpPr>
          <p:spPr>
            <a:xfrm>
              <a:off x="882753" y="598866"/>
              <a:ext cx="1929765" cy="311150"/>
            </a:xfrm>
            <a:prstGeom prst="rect">
              <a:avLst/>
            </a:prstGeom>
            <a:solidFill>
              <a:sysClr val="window" lastClr="FFFFFF"/>
            </a:solidFill>
            <a:ln w="12700">
              <a:solidFill>
                <a:prstClr val="black"/>
              </a:solidFill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2:if n &lt;= reversed goto B4</a:t>
              </a:r>
            </a:p>
          </p:txBody>
        </p:sp>
        <p:cxnSp>
          <p:nvCxnSpPr>
            <p:cNvPr id="12" name="连接符: 肘形 11">
              <a:extLst>
                <a:ext uri="{FF2B5EF4-FFF2-40B4-BE49-F238E27FC236}">
                  <a16:creationId xmlns:a16="http://schemas.microsoft.com/office/drawing/2014/main" id="{D757A4D2-4DAC-D024-FE84-4A7EBEC603E7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2812518" y="754441"/>
              <a:ext cx="512823" cy="640369"/>
            </a:xfrm>
            <a:prstGeom prst="bentConnector2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5C86AEF-2776-D5F3-BCA7-7017FEC5099B}"/>
                </a:ext>
              </a:extLst>
            </p:cNvPr>
            <p:cNvSpPr/>
            <p:nvPr/>
          </p:nvSpPr>
          <p:spPr>
            <a:xfrm>
              <a:off x="2427728" y="1403000"/>
              <a:ext cx="1953772" cy="31750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just"/>
              <a:r>
                <a:rPr lang="en-US" altLang="zh-CN" sz="1050" kern="100">
                  <a:solidFill>
                    <a:srgbClr val="000000"/>
                  </a:solidFill>
                  <a:latin typeface="宋体"/>
                  <a:ea typeface="宋体"/>
                  <a:cs typeface="Times New Roman"/>
                  <a:sym typeface="Times New Roman"/>
                </a:rPr>
                <a:t>9: if n==reversed goto B7</a:t>
              </a:r>
            </a:p>
            <a:p>
              <a:pPr algn="ctr"/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 </a:t>
              </a: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CB1A883D-8414-2A40-A969-24C434D85A78}"/>
                </a:ext>
              </a:extLst>
            </p:cNvPr>
            <p:cNvCxnSpPr/>
            <p:nvPr/>
          </p:nvCxnSpPr>
          <p:spPr>
            <a:xfrm>
              <a:off x="3777812" y="1734207"/>
              <a:ext cx="19050" cy="155575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42DC983B-6F17-1FC7-2BA5-7839ECA87F1D}"/>
                </a:ext>
              </a:extLst>
            </p:cNvPr>
            <p:cNvCxnSpPr/>
            <p:nvPr/>
          </p:nvCxnSpPr>
          <p:spPr>
            <a:xfrm>
              <a:off x="2891658" y="1718441"/>
              <a:ext cx="12700" cy="84455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D66C2C10-BCDC-B682-DD0C-C3DA8349438F}"/>
                </a:ext>
              </a:extLst>
            </p:cNvPr>
            <p:cNvCxnSpPr/>
            <p:nvPr/>
          </p:nvCxnSpPr>
          <p:spPr>
            <a:xfrm flipH="1">
              <a:off x="2056086" y="2948152"/>
              <a:ext cx="342900" cy="3175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BB95D5A0-9626-F6E8-E57B-C9A22596884D}"/>
                </a:ext>
              </a:extLst>
            </p:cNvPr>
            <p:cNvCxnSpPr/>
            <p:nvPr/>
          </p:nvCxnSpPr>
          <p:spPr>
            <a:xfrm>
              <a:off x="2948151" y="2948152"/>
              <a:ext cx="539750" cy="32385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7D71FF59-49AC-434A-6D93-1C2B36D39AA4}"/>
                </a:ext>
              </a:extLst>
            </p:cNvPr>
            <p:cNvCxnSpPr/>
            <p:nvPr/>
          </p:nvCxnSpPr>
          <p:spPr>
            <a:xfrm>
              <a:off x="2081048" y="3641835"/>
              <a:ext cx="723900" cy="4826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B54B02D7-64FA-5F07-CECB-E0B5F2554D9A}"/>
                </a:ext>
              </a:extLst>
            </p:cNvPr>
            <p:cNvCxnSpPr/>
            <p:nvPr/>
          </p:nvCxnSpPr>
          <p:spPr>
            <a:xfrm flipH="1">
              <a:off x="2986251" y="3626069"/>
              <a:ext cx="717550" cy="48895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0E04FE44-2CEB-CB87-CA61-F5E1F81F5782}"/>
                </a:ext>
              </a:extLst>
            </p:cNvPr>
            <p:cNvCxnSpPr/>
            <p:nvPr/>
          </p:nvCxnSpPr>
          <p:spPr>
            <a:xfrm flipH="1">
              <a:off x="1924925" y="315310"/>
              <a:ext cx="0" cy="25146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8326A5A4-4BF7-E6D5-FCB0-D10BC3F2215E}"/>
                </a:ext>
              </a:extLst>
            </p:cNvPr>
            <p:cNvCxnSpPr/>
            <p:nvPr/>
          </p:nvCxnSpPr>
          <p:spPr>
            <a:xfrm flipH="1">
              <a:off x="1006365" y="914400"/>
              <a:ext cx="0" cy="207645"/>
            </a:xfrm>
            <a:prstGeom prst="straightConnector1">
              <a:avLst/>
            </a:prstGeom>
            <a:noFill/>
            <a:ln w="635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389F04AB-E87B-59BC-7ED2-7E79B9305813}"/>
                </a:ext>
              </a:extLst>
            </p:cNvPr>
            <p:cNvCxnSpPr/>
            <p:nvPr/>
          </p:nvCxnSpPr>
          <p:spPr>
            <a:xfrm flipH="1">
              <a:off x="1006365" y="2380593"/>
              <a:ext cx="0" cy="207645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3" name="连接符: 肘形 22">
              <a:extLst>
                <a:ext uri="{FF2B5EF4-FFF2-40B4-BE49-F238E27FC236}">
                  <a16:creationId xmlns:a16="http://schemas.microsoft.com/office/drawing/2014/main" id="{C2066624-794F-E224-DD2D-0B88B6AB6265}"/>
                </a:ext>
              </a:extLst>
            </p:cNvPr>
            <p:cNvCxnSpPr/>
            <p:nvPr/>
          </p:nvCxnSpPr>
          <p:spPr>
            <a:xfrm flipV="1">
              <a:off x="1000453" y="457200"/>
              <a:ext cx="171450" cy="2127250"/>
            </a:xfrm>
            <a:prstGeom prst="bentConnector3">
              <a:avLst>
                <a:gd name="adj1" fmla="val -604871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C8F5755F-EDAB-2DF7-30E6-8C8B300114D1}"/>
                </a:ext>
              </a:extLst>
            </p:cNvPr>
            <p:cNvCxnSpPr/>
            <p:nvPr/>
          </p:nvCxnSpPr>
          <p:spPr>
            <a:xfrm>
              <a:off x="1176720" y="457200"/>
              <a:ext cx="0" cy="127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25" name="文本框 29">
              <a:extLst>
                <a:ext uri="{FF2B5EF4-FFF2-40B4-BE49-F238E27FC236}">
                  <a16:creationId xmlns:a16="http://schemas.microsoft.com/office/drawing/2014/main" id="{12F4B465-272A-A400-C1D9-37E5E1A8D76A}"/>
                </a:ext>
              </a:extLst>
            </p:cNvPr>
            <p:cNvSpPr txBox="1"/>
            <p:nvPr/>
          </p:nvSpPr>
          <p:spPr>
            <a:xfrm>
              <a:off x="902721" y="0"/>
              <a:ext cx="323215" cy="2476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B1</a:t>
              </a:r>
            </a:p>
          </p:txBody>
        </p:sp>
        <p:sp>
          <p:nvSpPr>
            <p:cNvPr id="26" name="文本框 29">
              <a:extLst>
                <a:ext uri="{FF2B5EF4-FFF2-40B4-BE49-F238E27FC236}">
                  <a16:creationId xmlns:a16="http://schemas.microsoft.com/office/drawing/2014/main" id="{D3C79D09-9714-FA81-8B09-D18250CD1EBE}"/>
                </a:ext>
              </a:extLst>
            </p:cNvPr>
            <p:cNvSpPr txBox="1"/>
            <p:nvPr/>
          </p:nvSpPr>
          <p:spPr>
            <a:xfrm>
              <a:off x="558252" y="598922"/>
              <a:ext cx="323215" cy="2476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B2</a:t>
              </a:r>
            </a:p>
          </p:txBody>
        </p:sp>
        <p:sp>
          <p:nvSpPr>
            <p:cNvPr id="27" name="文本框 29">
              <a:extLst>
                <a:ext uri="{FF2B5EF4-FFF2-40B4-BE49-F238E27FC236}">
                  <a16:creationId xmlns:a16="http://schemas.microsoft.com/office/drawing/2014/main" id="{49D8A335-C272-D5F8-7500-3EDF64DE374C}"/>
                </a:ext>
              </a:extLst>
            </p:cNvPr>
            <p:cNvSpPr txBox="1"/>
            <p:nvPr/>
          </p:nvSpPr>
          <p:spPr>
            <a:xfrm>
              <a:off x="-25400" y="1087720"/>
              <a:ext cx="323215" cy="2476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B3</a:t>
              </a:r>
            </a:p>
          </p:txBody>
        </p:sp>
        <p:sp>
          <p:nvSpPr>
            <p:cNvPr id="28" name="文本框 29">
              <a:extLst>
                <a:ext uri="{FF2B5EF4-FFF2-40B4-BE49-F238E27FC236}">
                  <a16:creationId xmlns:a16="http://schemas.microsoft.com/office/drawing/2014/main" id="{E6B830F8-5E6A-367B-B211-7EBC5B372E1C}"/>
                </a:ext>
              </a:extLst>
            </p:cNvPr>
            <p:cNvSpPr txBox="1"/>
            <p:nvPr/>
          </p:nvSpPr>
          <p:spPr>
            <a:xfrm>
              <a:off x="2099961" y="1403131"/>
              <a:ext cx="323215" cy="2476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B4</a:t>
              </a:r>
            </a:p>
          </p:txBody>
        </p:sp>
        <p:sp>
          <p:nvSpPr>
            <p:cNvPr id="29" name="文本框 29">
              <a:extLst>
                <a:ext uri="{FF2B5EF4-FFF2-40B4-BE49-F238E27FC236}">
                  <a16:creationId xmlns:a16="http://schemas.microsoft.com/office/drawing/2014/main" id="{68B2F12D-5145-2F4B-82A6-49B40F35532B}"/>
                </a:ext>
              </a:extLst>
            </p:cNvPr>
            <p:cNvSpPr txBox="1"/>
            <p:nvPr/>
          </p:nvSpPr>
          <p:spPr>
            <a:xfrm>
              <a:off x="1087748" y="2506484"/>
              <a:ext cx="323215" cy="2476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B5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3A87956-3E21-0DAA-302E-990502CE8795}"/>
                </a:ext>
              </a:extLst>
            </p:cNvPr>
            <p:cNvSpPr txBox="1"/>
            <p:nvPr/>
          </p:nvSpPr>
          <p:spPr>
            <a:xfrm>
              <a:off x="1116213" y="3206452"/>
              <a:ext cx="323215" cy="24701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B6</a:t>
              </a:r>
            </a:p>
          </p:txBody>
        </p:sp>
        <p:sp>
          <p:nvSpPr>
            <p:cNvPr id="31" name="文本框 29">
              <a:extLst>
                <a:ext uri="{FF2B5EF4-FFF2-40B4-BE49-F238E27FC236}">
                  <a16:creationId xmlns:a16="http://schemas.microsoft.com/office/drawing/2014/main" id="{2AA46C3D-1B6B-B081-B162-A273377F1371}"/>
                </a:ext>
              </a:extLst>
            </p:cNvPr>
            <p:cNvSpPr txBox="1"/>
            <p:nvPr/>
          </p:nvSpPr>
          <p:spPr>
            <a:xfrm>
              <a:off x="2869356" y="3247395"/>
              <a:ext cx="323215" cy="2476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B7</a:t>
              </a:r>
            </a:p>
          </p:txBody>
        </p:sp>
        <p:sp>
          <p:nvSpPr>
            <p:cNvPr id="32" name="文本框 29">
              <a:extLst>
                <a:ext uri="{FF2B5EF4-FFF2-40B4-BE49-F238E27FC236}">
                  <a16:creationId xmlns:a16="http://schemas.microsoft.com/office/drawing/2014/main" id="{F6AE0156-3BB6-9FD1-E456-F11C6726B7D4}"/>
                </a:ext>
              </a:extLst>
            </p:cNvPr>
            <p:cNvSpPr txBox="1"/>
            <p:nvPr/>
          </p:nvSpPr>
          <p:spPr>
            <a:xfrm>
              <a:off x="1926772" y="4145945"/>
              <a:ext cx="323215" cy="2476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sz="1050" kern="100">
                  <a:latin typeface="宋体"/>
                  <a:ea typeface="宋体"/>
                  <a:cs typeface="Times New Roman"/>
                  <a:sym typeface="Times New Roman"/>
                </a:rPr>
                <a:t>B8</a:t>
              </a: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96D2D63C-8D44-BAC6-DD33-EF3E708EDF14}"/>
              </a:ext>
            </a:extLst>
          </p:cNvPr>
          <p:cNvSpPr txBox="1"/>
          <p:nvPr/>
        </p:nvSpPr>
        <p:spPr>
          <a:xfrm>
            <a:off x="5045495" y="2390204"/>
            <a:ext cx="7034661" cy="21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(1) </a:t>
            </a:r>
            <a:r>
              <a:rPr lang="zh-CN" altLang="en-US" dirty="0"/>
              <a:t>能到达基本块</a:t>
            </a:r>
            <a:r>
              <a:rPr lang="en-US" altLang="zh-CN" dirty="0"/>
              <a:t>B3</a:t>
            </a:r>
            <a:r>
              <a:rPr lang="zh-CN" altLang="en-US" dirty="0"/>
              <a:t>出口的定值点集合</a:t>
            </a:r>
            <a:r>
              <a:rPr lang="en-US" altLang="zh-CN" dirty="0"/>
              <a:t>Out[B3]={  3, 4, 5, 6, 7    };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基本块</a:t>
            </a:r>
            <a:r>
              <a:rPr lang="en-US" altLang="zh-CN" dirty="0"/>
              <a:t>B3</a:t>
            </a:r>
            <a:r>
              <a:rPr lang="zh-CN" altLang="en-US" dirty="0"/>
              <a:t>出口处的活跃变量集合</a:t>
            </a:r>
            <a:r>
              <a:rPr lang="en-US" altLang="zh-CN" dirty="0" err="1"/>
              <a:t>LiveOut</a:t>
            </a:r>
            <a:r>
              <a:rPr lang="en-US" altLang="zh-CN" dirty="0"/>
              <a:t>[B3]={   </a:t>
            </a:r>
            <a:r>
              <a:rPr lang="en-US" altLang="zh-CN" dirty="0" err="1"/>
              <a:t>n,reversed</a:t>
            </a:r>
            <a:r>
              <a:rPr lang="en-US" altLang="zh-CN" dirty="0"/>
              <a:t>  };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(3) </a:t>
            </a:r>
            <a:r>
              <a:rPr lang="zh-CN" altLang="en-US" dirty="0"/>
              <a:t>变量</a:t>
            </a:r>
            <a:r>
              <a:rPr lang="en-US" altLang="zh-CN" dirty="0"/>
              <a:t>n</a:t>
            </a:r>
            <a:r>
              <a:rPr lang="zh-CN" altLang="en-US" dirty="0"/>
              <a:t>在定值点</a:t>
            </a:r>
            <a:r>
              <a:rPr lang="en-US" altLang="zh-CN" dirty="0"/>
              <a:t>7</a:t>
            </a:r>
            <a:r>
              <a:rPr lang="zh-CN" altLang="en-US" dirty="0"/>
              <a:t>的</a:t>
            </a:r>
            <a:r>
              <a:rPr lang="en-US" altLang="zh-CN" dirty="0"/>
              <a:t>DU</a:t>
            </a:r>
            <a:r>
              <a:rPr lang="zh-CN" altLang="en-US" dirty="0"/>
              <a:t>链</a:t>
            </a:r>
            <a:r>
              <a:rPr lang="en-US" altLang="zh-CN" dirty="0"/>
              <a:t>= { 2, 4, 6, 9, 11  };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(4) </a:t>
            </a:r>
            <a:r>
              <a:rPr lang="zh-CN" altLang="en-US" dirty="0"/>
              <a:t>变量</a:t>
            </a:r>
            <a:r>
              <a:rPr lang="en-US" altLang="zh-CN" dirty="0"/>
              <a:t>reversed</a:t>
            </a:r>
            <a:r>
              <a:rPr lang="zh-CN" altLang="en-US" dirty="0"/>
              <a:t>在引用点</a:t>
            </a:r>
            <a:r>
              <a:rPr lang="en-US" altLang="zh-CN" dirty="0"/>
              <a:t>3</a:t>
            </a:r>
            <a:r>
              <a:rPr lang="zh-CN" altLang="en-US" dirty="0"/>
              <a:t>的</a:t>
            </a:r>
            <a:r>
              <a:rPr lang="en-US" altLang="zh-CN" dirty="0"/>
              <a:t>UD</a:t>
            </a:r>
            <a:r>
              <a:rPr lang="zh-CN" altLang="en-US" dirty="0"/>
              <a:t>链</a:t>
            </a:r>
            <a:r>
              <a:rPr lang="en-US" altLang="zh-CN" dirty="0"/>
              <a:t>={    1, 5       };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(5) B8</a:t>
            </a:r>
            <a:r>
              <a:rPr lang="zh-CN" altLang="en-US" dirty="0"/>
              <a:t>的支配</a:t>
            </a:r>
            <a:r>
              <a:rPr lang="en-US" altLang="zh-CN" dirty="0"/>
              <a:t>(</a:t>
            </a:r>
            <a:r>
              <a:rPr lang="zh-CN" altLang="en-US" dirty="0"/>
              <a:t>必经</a:t>
            </a:r>
            <a:r>
              <a:rPr lang="en-US" altLang="zh-CN" dirty="0"/>
              <a:t>)</a:t>
            </a:r>
            <a:r>
              <a:rPr lang="zh-CN" altLang="en-US" dirty="0"/>
              <a:t>结点集合</a:t>
            </a:r>
            <a:r>
              <a:rPr lang="en-US" altLang="zh-CN" dirty="0"/>
              <a:t>={    B1, B2, B4, B8       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77678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17285-54B5-A13B-6D50-CC1FFBA74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D796ED-6C10-499F-1A45-406908CD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8-</a:t>
            </a:r>
            <a:r>
              <a:rPr lang="zh-CN" altLang="en-US" dirty="0"/>
              <a:t>代码优化</a:t>
            </a:r>
            <a:r>
              <a:rPr lang="en-US" altLang="zh-CN" dirty="0"/>
              <a:t>(</a:t>
            </a:r>
            <a:r>
              <a:rPr lang="zh-CN" altLang="en-US" dirty="0"/>
              <a:t>中间代码优化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E3BD3F-6408-F4C8-2DFF-3A772C209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4311650" cy="890593"/>
          </a:xfrm>
        </p:spPr>
        <p:txBody>
          <a:bodyPr>
            <a:normAutofit/>
          </a:bodyPr>
          <a:lstStyle/>
          <a:p>
            <a:r>
              <a:rPr lang="zh-CN" altLang="en-US" sz="2400" b="0" dirty="0"/>
              <a:t>例</a:t>
            </a:r>
            <a:r>
              <a:rPr lang="en-US" altLang="zh-CN" sz="2400" b="0" dirty="0"/>
              <a:t>9 </a:t>
            </a:r>
            <a:r>
              <a:rPr lang="zh-CN" altLang="en-US" sz="2400" b="0" dirty="0"/>
              <a:t>基本块，流图与循环</a:t>
            </a:r>
            <a:endParaRPr lang="en-US" altLang="zh-CN" sz="2400" b="0" dirty="0"/>
          </a:p>
        </p:txBody>
      </p: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FB774FFD-6039-360D-383C-3AD2C6DC6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246791"/>
              </p:ext>
            </p:extLst>
          </p:nvPr>
        </p:nvGraphicFramePr>
        <p:xfrm>
          <a:off x="618389" y="1966669"/>
          <a:ext cx="4963795" cy="2574163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163891">
                  <a:extLst>
                    <a:ext uri="{9D8B030D-6E8A-4147-A177-3AD203B41FA5}">
                      <a16:colId xmlns:a16="http://schemas.microsoft.com/office/drawing/2014/main" val="3516565043"/>
                    </a:ext>
                  </a:extLst>
                </a:gridCol>
                <a:gridCol w="2799904">
                  <a:extLst>
                    <a:ext uri="{9D8B030D-6E8A-4147-A177-3AD203B41FA5}">
                      <a16:colId xmlns:a16="http://schemas.microsoft.com/office/drawing/2014/main" val="3790651992"/>
                    </a:ext>
                  </a:extLst>
                </a:gridCol>
              </a:tblGrid>
              <a:tr h="2459487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1: i = 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algn="just">
                        <a:buNone/>
                      </a:pP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2: sum = 0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3: len = 100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4: 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size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= 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: if i &gt;= len goto 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algn="just">
                        <a:buNone/>
                      </a:pP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6: j = i 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algn="just">
                        <a:buNone/>
                      </a:pP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: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t1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= 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: 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t2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= 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 * size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algn="l">
                        <a:lnSpc>
                          <a:spcPct val="114000"/>
                        </a:lnSpc>
                        <a:buNone/>
                        <a:tabLst>
                          <a:tab pos="3638550" algn="l"/>
                          <a:tab pos="3638550" algn="l"/>
                        </a:tabLst>
                      </a:pPr>
                      <a:r>
                        <a:rPr lang="zh-CN" sz="1800" b="0" kern="100" dirty="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9: t3 = t1 + t2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algn="just">
                        <a:buNone/>
                      </a:pP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: 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t4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= *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t3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algn="just">
                        <a:buNone/>
                      </a:pP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11: t5 = j * size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algn="just">
                        <a:buNone/>
                      </a:pP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: 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t6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= 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t4 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 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t5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algn="just">
                        <a:buNone/>
                      </a:pP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: sum = sum + 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t6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algn="just">
                        <a:buNone/>
                      </a:pP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: i = i + 1</a:t>
                      </a:r>
                    </a:p>
                    <a:p>
                      <a:pPr marL="0" marR="0" algn="just">
                        <a:buNone/>
                      </a:pP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: goto 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algn="just">
                        <a:buNone/>
                      </a:pP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: </a:t>
                      </a:r>
                      <a:r>
                        <a:rPr lang="zh-CN" sz="1800" b="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return sum</a:t>
                      </a:r>
                      <a:endParaRPr lang="zh-CN" sz="18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algn="l">
                        <a:lnSpc>
                          <a:spcPct val="114000"/>
                        </a:lnSpc>
                        <a:buNone/>
                        <a:tabLst>
                          <a:tab pos="3638550" algn="l"/>
                          <a:tab pos="3638550" algn="l"/>
                        </a:tabLst>
                      </a:pPr>
                      <a:r>
                        <a:rPr lang="zh-CN" sz="1800" b="0" kern="100" dirty="0">
                          <a:solidFill>
                            <a:srgbClr val="EE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800" b="0" kern="100" dirty="0">
                        <a:solidFill>
                          <a:srgbClr val="EE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233287"/>
                  </a:ext>
                </a:extLst>
              </a:tr>
            </a:tbl>
          </a:graphicData>
        </a:graphic>
      </p:graphicFrame>
      <p:grpSp>
        <p:nvGrpSpPr>
          <p:cNvPr id="34" name="组合 33" descr="P748#y1">
            <a:extLst>
              <a:ext uri="{FF2B5EF4-FFF2-40B4-BE49-F238E27FC236}">
                <a16:creationId xmlns:a16="http://schemas.microsoft.com/office/drawing/2014/main" id="{5922534E-3984-202A-1C44-7F429BD82849}"/>
              </a:ext>
            </a:extLst>
          </p:cNvPr>
          <p:cNvGrpSpPr/>
          <p:nvPr/>
        </p:nvGrpSpPr>
        <p:grpSpPr>
          <a:xfrm>
            <a:off x="6644132" y="943158"/>
            <a:ext cx="4834088" cy="5303206"/>
            <a:chOff x="0" y="0"/>
            <a:chExt cx="2994939" cy="3748633"/>
          </a:xfrm>
          <a:solidFill>
            <a:schemeClr val="bg1"/>
          </a:solidFill>
        </p:grpSpPr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214EF324-2B32-9A06-F5EC-AF52C534AB92}"/>
                </a:ext>
              </a:extLst>
            </p:cNvPr>
            <p:cNvCxnSpPr/>
            <p:nvPr/>
          </p:nvCxnSpPr>
          <p:spPr>
            <a:xfrm>
              <a:off x="880241" y="819807"/>
              <a:ext cx="0" cy="267856"/>
            </a:xfrm>
            <a:prstGeom prst="straightConnector1">
              <a:avLst/>
            </a:prstGeom>
            <a:grp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37" name="文本框 1569089809">
              <a:extLst>
                <a:ext uri="{FF2B5EF4-FFF2-40B4-BE49-F238E27FC236}">
                  <a16:creationId xmlns:a16="http://schemas.microsoft.com/office/drawing/2014/main" id="{19992DFA-C292-D6ED-AD2C-16E312A8539C}"/>
                </a:ext>
              </a:extLst>
            </p:cNvPr>
            <p:cNvSpPr txBox="1"/>
            <p:nvPr/>
          </p:nvSpPr>
          <p:spPr>
            <a:xfrm>
              <a:off x="204952" y="0"/>
              <a:ext cx="1362710" cy="819150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1: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= 0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2: sum = 0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3: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len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= 100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4: size = 4</a:t>
              </a:r>
              <a:endParaRPr lang="en-US" altLang="zh-CN" kern="100" baseline="-250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  <a:sym typeface="Times New Roman"/>
              </a:endParaRPr>
            </a:p>
          </p:txBody>
        </p:sp>
        <p:sp>
          <p:nvSpPr>
            <p:cNvPr id="38" name="文本框 1298739773">
              <a:extLst>
                <a:ext uri="{FF2B5EF4-FFF2-40B4-BE49-F238E27FC236}">
                  <a16:creationId xmlns:a16="http://schemas.microsoft.com/office/drawing/2014/main" id="{79A5957F-2649-FCC9-3B61-A1AC584DAEA9}"/>
                </a:ext>
              </a:extLst>
            </p:cNvPr>
            <p:cNvSpPr txBox="1"/>
            <p:nvPr/>
          </p:nvSpPr>
          <p:spPr>
            <a:xfrm>
              <a:off x="204952" y="1103586"/>
              <a:ext cx="1362710" cy="289068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5: if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&gt;=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len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goto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  <a:r>
                <a:rPr lang="en-US" altLang="zh-CN" kern="100" dirty="0">
                  <a:solidFill>
                    <a:srgbClr val="0000FF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B4</a:t>
              </a:r>
            </a:p>
          </p:txBody>
        </p:sp>
        <p:cxnSp>
          <p:nvCxnSpPr>
            <p:cNvPr id="39" name="连接符: 肘形 38">
              <a:extLst>
                <a:ext uri="{FF2B5EF4-FFF2-40B4-BE49-F238E27FC236}">
                  <a16:creationId xmlns:a16="http://schemas.microsoft.com/office/drawing/2014/main" id="{711FB088-B211-8640-AED7-CA2998008E42}"/>
                </a:ext>
              </a:extLst>
            </p:cNvPr>
            <p:cNvCxnSpPr/>
            <p:nvPr/>
          </p:nvCxnSpPr>
          <p:spPr>
            <a:xfrm>
              <a:off x="1576552" y="1308538"/>
              <a:ext cx="831850" cy="442452"/>
            </a:xfrm>
            <a:prstGeom prst="bentConnector3">
              <a:avLst>
                <a:gd name="adj1" fmla="val 99643"/>
              </a:avLst>
            </a:prstGeom>
            <a:grp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40" name="文本框 2136727996">
              <a:extLst>
                <a:ext uri="{FF2B5EF4-FFF2-40B4-BE49-F238E27FC236}">
                  <a16:creationId xmlns:a16="http://schemas.microsoft.com/office/drawing/2014/main" id="{2B83E77E-4764-0769-BB51-1534E718AF78}"/>
                </a:ext>
              </a:extLst>
            </p:cNvPr>
            <p:cNvSpPr txBox="1"/>
            <p:nvPr/>
          </p:nvSpPr>
          <p:spPr>
            <a:xfrm>
              <a:off x="204952" y="1545021"/>
              <a:ext cx="1362710" cy="1996075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6: j =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7: t1 = a 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8: t2 = j * size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9: t3 = t1 + t2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10: t4 = *t3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11: t5 = j * size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12: t6 = t4 + t5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13: sum = sum + t6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14: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=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+ 1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15: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goto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  <a:r>
                <a:rPr lang="en-US" altLang="zh-CN" kern="100" dirty="0">
                  <a:solidFill>
                    <a:srgbClr val="0000FF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B2</a:t>
              </a:r>
              <a:endParaRPr lang="en-US" altLang="zh-CN" kern="100" baseline="-25000" dirty="0">
                <a:solidFill>
                  <a:srgbClr val="0000FF"/>
                </a:solidFill>
                <a:latin typeface="Times New Roman"/>
                <a:ea typeface="宋体"/>
                <a:cs typeface="Times New Roman"/>
                <a:sym typeface="Times New Roman"/>
              </a:endParaRPr>
            </a:p>
          </p:txBody>
        </p:sp>
        <p:sp>
          <p:nvSpPr>
            <p:cNvPr id="41" name="文本框 779518300">
              <a:extLst>
                <a:ext uri="{FF2B5EF4-FFF2-40B4-BE49-F238E27FC236}">
                  <a16:creationId xmlns:a16="http://schemas.microsoft.com/office/drawing/2014/main" id="{20925522-4809-B915-B8E2-D72AA1575FEC}"/>
                </a:ext>
              </a:extLst>
            </p:cNvPr>
            <p:cNvSpPr txBox="1"/>
            <p:nvPr/>
          </p:nvSpPr>
          <p:spPr>
            <a:xfrm>
              <a:off x="1844565" y="1545021"/>
              <a:ext cx="1150374" cy="284480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latin typeface="Times New Roman"/>
                  <a:ea typeface="宋体"/>
                  <a:cs typeface="Times New Roman"/>
                  <a:sym typeface="Times New Roman"/>
                </a:rPr>
                <a:t>16: return sum</a:t>
              </a:r>
              <a:endParaRPr lang="en-US" altLang="zh-CN" kern="100" baseline="-25000">
                <a:solidFill>
                  <a:srgbClr val="FF0000"/>
                </a:solidFill>
                <a:latin typeface="Times New Roman"/>
                <a:ea typeface="宋体"/>
                <a:cs typeface="Times New Roman"/>
                <a:sym typeface="Times New Roman"/>
              </a:endParaRPr>
            </a:p>
          </p:txBody>
        </p:sp>
        <p:sp>
          <p:nvSpPr>
            <p:cNvPr id="42" name="文本框 47529692">
              <a:extLst>
                <a:ext uri="{FF2B5EF4-FFF2-40B4-BE49-F238E27FC236}">
                  <a16:creationId xmlns:a16="http://schemas.microsoft.com/office/drawing/2014/main" id="{4E3CD986-3E30-3D38-FC49-8C7B96EA1468}"/>
                </a:ext>
              </a:extLst>
            </p:cNvPr>
            <p:cNvSpPr txBox="1"/>
            <p:nvPr/>
          </p:nvSpPr>
          <p:spPr>
            <a:xfrm>
              <a:off x="0" y="0"/>
              <a:ext cx="162560" cy="269875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B1</a:t>
              </a:r>
            </a:p>
          </p:txBody>
        </p:sp>
        <p:sp>
          <p:nvSpPr>
            <p:cNvPr id="43" name="文本框 1525837990">
              <a:extLst>
                <a:ext uri="{FF2B5EF4-FFF2-40B4-BE49-F238E27FC236}">
                  <a16:creationId xmlns:a16="http://schemas.microsoft.com/office/drawing/2014/main" id="{428FF28A-5BE3-1909-1B5C-CB12645E9C8B}"/>
                </a:ext>
              </a:extLst>
            </p:cNvPr>
            <p:cNvSpPr txBox="1"/>
            <p:nvPr/>
          </p:nvSpPr>
          <p:spPr>
            <a:xfrm>
              <a:off x="1639614" y="1560786"/>
              <a:ext cx="162560" cy="269875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B4</a:t>
              </a:r>
            </a:p>
          </p:txBody>
        </p:sp>
        <p:sp>
          <p:nvSpPr>
            <p:cNvPr id="44" name="文本框 1326120636">
              <a:extLst>
                <a:ext uri="{FF2B5EF4-FFF2-40B4-BE49-F238E27FC236}">
                  <a16:creationId xmlns:a16="http://schemas.microsoft.com/office/drawing/2014/main" id="{4E3545FB-3AF5-4374-0703-E1BA365732DD}"/>
                </a:ext>
              </a:extLst>
            </p:cNvPr>
            <p:cNvSpPr txBox="1"/>
            <p:nvPr/>
          </p:nvSpPr>
          <p:spPr>
            <a:xfrm>
              <a:off x="15765" y="1560786"/>
              <a:ext cx="162560" cy="269240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B3</a:t>
              </a:r>
            </a:p>
          </p:txBody>
        </p:sp>
        <p:sp>
          <p:nvSpPr>
            <p:cNvPr id="45" name="文本框 506616842">
              <a:extLst>
                <a:ext uri="{FF2B5EF4-FFF2-40B4-BE49-F238E27FC236}">
                  <a16:creationId xmlns:a16="http://schemas.microsoft.com/office/drawing/2014/main" id="{7F2F2F81-7361-0420-9149-62432880DDD5}"/>
                </a:ext>
              </a:extLst>
            </p:cNvPr>
            <p:cNvSpPr txBox="1"/>
            <p:nvPr/>
          </p:nvSpPr>
          <p:spPr>
            <a:xfrm>
              <a:off x="0" y="1103586"/>
              <a:ext cx="162560" cy="269875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B2</a:t>
              </a:r>
            </a:p>
          </p:txBody>
        </p: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9D802E38-E670-F9AB-F441-CF3B6A8FCAEB}"/>
                </a:ext>
              </a:extLst>
            </p:cNvPr>
            <p:cNvGrpSpPr/>
            <p:nvPr/>
          </p:nvGrpSpPr>
          <p:grpSpPr>
            <a:xfrm>
              <a:off x="582010" y="961697"/>
              <a:ext cx="281031" cy="2786936"/>
              <a:chOff x="0" y="0"/>
              <a:chExt cx="281031" cy="2786936"/>
            </a:xfrm>
            <a:grpFill/>
          </p:grpSpPr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4799D32B-58E7-973F-6A69-5EFA92144B36}"/>
                  </a:ext>
                </a:extLst>
              </p:cNvPr>
              <p:cNvGrpSpPr/>
              <p:nvPr/>
            </p:nvGrpSpPr>
            <p:grpSpPr>
              <a:xfrm>
                <a:off x="1747" y="0"/>
                <a:ext cx="279284" cy="2786936"/>
                <a:chOff x="0" y="0"/>
                <a:chExt cx="279284" cy="2786936"/>
              </a:xfrm>
              <a:grpFill/>
            </p:grpSpPr>
            <p:cxnSp>
              <p:nvCxnSpPr>
                <p:cNvPr id="50" name="直接箭头连接符 49">
                  <a:extLst>
                    <a:ext uri="{FF2B5EF4-FFF2-40B4-BE49-F238E27FC236}">
                      <a16:creationId xmlns:a16="http://schemas.microsoft.com/office/drawing/2014/main" id="{D1AEA150-766E-4168-7BC2-9D210B0894D0}"/>
                    </a:ext>
                  </a:extLst>
                </p:cNvPr>
                <p:cNvCxnSpPr/>
                <p:nvPr/>
              </p:nvCxnSpPr>
              <p:spPr>
                <a:xfrm>
                  <a:off x="279284" y="2571226"/>
                  <a:ext cx="0" cy="215710"/>
                </a:xfrm>
                <a:prstGeom prst="straightConnector1">
                  <a:avLst/>
                </a:prstGeom>
                <a:grpFill/>
                <a:ln w="6350" cap="flat" cmpd="sng" algn="ctr">
                  <a:solidFill>
                    <a:srgbClr val="4472C4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51" name="连接符: 肘形 50">
                  <a:extLst>
                    <a:ext uri="{FF2B5EF4-FFF2-40B4-BE49-F238E27FC236}">
                      <a16:creationId xmlns:a16="http://schemas.microsoft.com/office/drawing/2014/main" id="{31AC6CF1-C1BF-E66C-549C-83A5F47FBE0C}"/>
                    </a:ext>
                  </a:extLst>
                </p:cNvPr>
                <p:cNvCxnSpPr/>
                <p:nvPr/>
              </p:nvCxnSpPr>
              <p:spPr>
                <a:xfrm flipH="1" flipV="1">
                  <a:off x="0" y="0"/>
                  <a:ext cx="269875" cy="2774950"/>
                </a:xfrm>
                <a:prstGeom prst="bentConnector3">
                  <a:avLst>
                    <a:gd name="adj1" fmla="val 363354"/>
                  </a:avLst>
                </a:prstGeom>
                <a:grpFill/>
                <a:ln w="6350" cap="flat" cmpd="sng" algn="ctr">
                  <a:solidFill>
                    <a:srgbClr val="4472C4"/>
                  </a:solidFill>
                  <a:prstDash val="solid"/>
                  <a:miter lim="800000"/>
                  <a:tailEnd type="none"/>
                </a:ln>
                <a:effectLst/>
              </p:spPr>
            </p:cxnSp>
          </p:grpSp>
          <p:cxnSp>
            <p:nvCxnSpPr>
              <p:cNvPr id="49" name="直接箭头连接符 48">
                <a:extLst>
                  <a:ext uri="{FF2B5EF4-FFF2-40B4-BE49-F238E27FC236}">
                    <a16:creationId xmlns:a16="http://schemas.microsoft.com/office/drawing/2014/main" id="{AFA7983F-B8BB-CBD8-5383-BDF5670DDA70}"/>
                  </a:ext>
                </a:extLst>
              </p:cNvPr>
              <p:cNvCxnSpPr/>
              <p:nvPr/>
            </p:nvCxnSpPr>
            <p:spPr>
              <a:xfrm>
                <a:off x="0" y="0"/>
                <a:ext cx="4445" cy="145893"/>
              </a:xfrm>
              <a:prstGeom prst="straightConnector1">
                <a:avLst/>
              </a:prstGeom>
              <a:grpFill/>
              <a:ln w="6350" cap="flat" cmpd="sng" algn="ctr">
                <a:solidFill>
                  <a:srgbClr val="4472C4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161BD508-3C66-8D36-3219-5E6EA0BC7EB4}"/>
                </a:ext>
              </a:extLst>
            </p:cNvPr>
            <p:cNvCxnSpPr/>
            <p:nvPr/>
          </p:nvCxnSpPr>
          <p:spPr>
            <a:xfrm>
              <a:off x="880241" y="1387365"/>
              <a:ext cx="4445" cy="145415"/>
            </a:xfrm>
            <a:prstGeom prst="straightConnector1">
              <a:avLst/>
            </a:prstGeom>
            <a:grp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52" name="文本框 51">
            <a:extLst>
              <a:ext uri="{FF2B5EF4-FFF2-40B4-BE49-F238E27FC236}">
                <a16:creationId xmlns:a16="http://schemas.microsoft.com/office/drawing/2014/main" id="{0281289F-E145-CBA2-1883-504F11B28887}"/>
              </a:ext>
            </a:extLst>
          </p:cNvPr>
          <p:cNvSpPr txBox="1"/>
          <p:nvPr/>
        </p:nvSpPr>
        <p:spPr>
          <a:xfrm>
            <a:off x="713475" y="5262914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注意：基本块划分后，跳转标号改成基本块标号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F38A2F8-16D0-690D-E9E6-8206336B202F}"/>
              </a:ext>
            </a:extLst>
          </p:cNvPr>
          <p:cNvSpPr txBox="1"/>
          <p:nvPr/>
        </p:nvSpPr>
        <p:spPr>
          <a:xfrm>
            <a:off x="9552995" y="4970056"/>
            <a:ext cx="1782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循环： </a:t>
            </a:r>
            <a:r>
              <a:rPr lang="en-US" altLang="zh-CN" dirty="0"/>
              <a:t>{B2, B3}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5909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8B8AE3B-8047-3B74-8A66-4AA81F29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8-</a:t>
            </a:r>
            <a:r>
              <a:rPr lang="zh-CN" altLang="en-US" dirty="0"/>
              <a:t>代码优化</a:t>
            </a:r>
            <a:r>
              <a:rPr lang="en-US" altLang="zh-CN" dirty="0"/>
              <a:t>(</a:t>
            </a:r>
            <a:r>
              <a:rPr lang="zh-CN" altLang="en-US" dirty="0"/>
              <a:t>中间代码优化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07D6EAC-A88B-0395-1823-5371DCADD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4311650" cy="890593"/>
          </a:xfrm>
        </p:spPr>
        <p:txBody>
          <a:bodyPr>
            <a:normAutofit/>
          </a:bodyPr>
          <a:lstStyle/>
          <a:p>
            <a:r>
              <a:rPr lang="zh-CN" altLang="en-US" sz="2400" b="0" dirty="0"/>
              <a:t>例</a:t>
            </a:r>
            <a:r>
              <a:rPr lang="en-US" altLang="zh-CN" sz="2400" b="0" dirty="0"/>
              <a:t>10 </a:t>
            </a:r>
            <a:r>
              <a:rPr lang="zh-CN" altLang="en-US" sz="2400" b="0" dirty="0"/>
              <a:t>优化</a:t>
            </a:r>
            <a:endParaRPr lang="en-US" altLang="zh-CN" sz="2400" b="0" dirty="0"/>
          </a:p>
        </p:txBody>
      </p:sp>
      <p:grpSp>
        <p:nvGrpSpPr>
          <p:cNvPr id="5" name="组合 4" descr="P748#y1">
            <a:extLst>
              <a:ext uri="{FF2B5EF4-FFF2-40B4-BE49-F238E27FC236}">
                <a16:creationId xmlns:a16="http://schemas.microsoft.com/office/drawing/2014/main" id="{0E794CCC-FCD3-8C11-210B-CFCF3F522DC2}"/>
              </a:ext>
            </a:extLst>
          </p:cNvPr>
          <p:cNvGrpSpPr/>
          <p:nvPr/>
        </p:nvGrpSpPr>
        <p:grpSpPr>
          <a:xfrm>
            <a:off x="2558442" y="1188895"/>
            <a:ext cx="4834088" cy="5303206"/>
            <a:chOff x="0" y="0"/>
            <a:chExt cx="2994939" cy="3748633"/>
          </a:xfrm>
          <a:solidFill>
            <a:schemeClr val="bg1"/>
          </a:solidFill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E05F89FD-4829-26CF-2526-1D3D6E371CF4}"/>
                </a:ext>
              </a:extLst>
            </p:cNvPr>
            <p:cNvCxnSpPr/>
            <p:nvPr/>
          </p:nvCxnSpPr>
          <p:spPr>
            <a:xfrm>
              <a:off x="880241" y="819807"/>
              <a:ext cx="0" cy="267856"/>
            </a:xfrm>
            <a:prstGeom prst="straightConnector1">
              <a:avLst/>
            </a:prstGeom>
            <a:grp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7" name="文本框 1569089809">
              <a:extLst>
                <a:ext uri="{FF2B5EF4-FFF2-40B4-BE49-F238E27FC236}">
                  <a16:creationId xmlns:a16="http://schemas.microsoft.com/office/drawing/2014/main" id="{E9234D0E-8E72-DD68-7FEB-2D6990E758DD}"/>
                </a:ext>
              </a:extLst>
            </p:cNvPr>
            <p:cNvSpPr txBox="1"/>
            <p:nvPr/>
          </p:nvSpPr>
          <p:spPr>
            <a:xfrm>
              <a:off x="204952" y="0"/>
              <a:ext cx="1362710" cy="819150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1: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= 0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2: sum = 0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3: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len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= 100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4: size = 4</a:t>
              </a:r>
              <a:endParaRPr lang="en-US" altLang="zh-CN" kern="100" baseline="-250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  <a:sym typeface="Times New Roman"/>
              </a:endParaRPr>
            </a:p>
          </p:txBody>
        </p:sp>
        <p:sp>
          <p:nvSpPr>
            <p:cNvPr id="8" name="文本框 1298739773">
              <a:extLst>
                <a:ext uri="{FF2B5EF4-FFF2-40B4-BE49-F238E27FC236}">
                  <a16:creationId xmlns:a16="http://schemas.microsoft.com/office/drawing/2014/main" id="{6100B0D1-1028-435B-2015-A0CD9087C61C}"/>
                </a:ext>
              </a:extLst>
            </p:cNvPr>
            <p:cNvSpPr txBox="1"/>
            <p:nvPr/>
          </p:nvSpPr>
          <p:spPr>
            <a:xfrm>
              <a:off x="204952" y="1103586"/>
              <a:ext cx="1362710" cy="289068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5: if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&gt;=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len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goto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  <a:r>
                <a:rPr lang="en-US" altLang="zh-CN" kern="100" dirty="0">
                  <a:solidFill>
                    <a:srgbClr val="0000FF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B4</a:t>
              </a:r>
            </a:p>
          </p:txBody>
        </p:sp>
        <p:cxnSp>
          <p:nvCxnSpPr>
            <p:cNvPr id="9" name="连接符: 肘形 8">
              <a:extLst>
                <a:ext uri="{FF2B5EF4-FFF2-40B4-BE49-F238E27FC236}">
                  <a16:creationId xmlns:a16="http://schemas.microsoft.com/office/drawing/2014/main" id="{02E525D0-338D-1771-7401-117F1EADF3DC}"/>
                </a:ext>
              </a:extLst>
            </p:cNvPr>
            <p:cNvCxnSpPr/>
            <p:nvPr/>
          </p:nvCxnSpPr>
          <p:spPr>
            <a:xfrm>
              <a:off x="1576552" y="1308538"/>
              <a:ext cx="831850" cy="442452"/>
            </a:xfrm>
            <a:prstGeom prst="bentConnector3">
              <a:avLst>
                <a:gd name="adj1" fmla="val 99643"/>
              </a:avLst>
            </a:prstGeom>
            <a:grp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0" name="文本框 2136727996">
              <a:extLst>
                <a:ext uri="{FF2B5EF4-FFF2-40B4-BE49-F238E27FC236}">
                  <a16:creationId xmlns:a16="http://schemas.microsoft.com/office/drawing/2014/main" id="{1EBA3864-137C-6C3F-4B8F-0E0780DC0896}"/>
                </a:ext>
              </a:extLst>
            </p:cNvPr>
            <p:cNvSpPr txBox="1"/>
            <p:nvPr/>
          </p:nvSpPr>
          <p:spPr>
            <a:xfrm>
              <a:off x="204952" y="1545021"/>
              <a:ext cx="1362710" cy="1996075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6: j =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7: t1 = a 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8: t2 = j * size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9: t3 = t1 + t2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10: t4 = *t3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11: t5 = j * size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12: t6 = t4 + t5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13: sum = sum + t6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14: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=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+ 1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15: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goto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  <a:r>
                <a:rPr lang="en-US" altLang="zh-CN" kern="100" dirty="0">
                  <a:solidFill>
                    <a:srgbClr val="0000FF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B2</a:t>
              </a:r>
              <a:endParaRPr lang="en-US" altLang="zh-CN" kern="100" baseline="-25000" dirty="0">
                <a:solidFill>
                  <a:srgbClr val="0000FF"/>
                </a:solidFill>
                <a:latin typeface="Times New Roman"/>
                <a:ea typeface="宋体"/>
                <a:cs typeface="Times New Roman"/>
                <a:sym typeface="Times New Roman"/>
              </a:endParaRPr>
            </a:p>
          </p:txBody>
        </p:sp>
        <p:sp>
          <p:nvSpPr>
            <p:cNvPr id="11" name="文本框 779518300">
              <a:extLst>
                <a:ext uri="{FF2B5EF4-FFF2-40B4-BE49-F238E27FC236}">
                  <a16:creationId xmlns:a16="http://schemas.microsoft.com/office/drawing/2014/main" id="{8AA50312-D106-9CE6-F3E3-314344E55264}"/>
                </a:ext>
              </a:extLst>
            </p:cNvPr>
            <p:cNvSpPr txBox="1"/>
            <p:nvPr/>
          </p:nvSpPr>
          <p:spPr>
            <a:xfrm>
              <a:off x="1844565" y="1545021"/>
              <a:ext cx="1150374" cy="284480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latin typeface="Times New Roman"/>
                  <a:ea typeface="宋体"/>
                  <a:cs typeface="Times New Roman"/>
                  <a:sym typeface="Times New Roman"/>
                </a:rPr>
                <a:t>16: return sum</a:t>
              </a:r>
              <a:endParaRPr lang="en-US" altLang="zh-CN" kern="100" baseline="-25000">
                <a:solidFill>
                  <a:srgbClr val="FF0000"/>
                </a:solidFill>
                <a:latin typeface="Times New Roman"/>
                <a:ea typeface="宋体"/>
                <a:cs typeface="Times New Roman"/>
                <a:sym typeface="Times New Roman"/>
              </a:endParaRPr>
            </a:p>
          </p:txBody>
        </p:sp>
        <p:sp>
          <p:nvSpPr>
            <p:cNvPr id="12" name="文本框 47529692">
              <a:extLst>
                <a:ext uri="{FF2B5EF4-FFF2-40B4-BE49-F238E27FC236}">
                  <a16:creationId xmlns:a16="http://schemas.microsoft.com/office/drawing/2014/main" id="{16F799A4-85E7-2F44-3EEB-ADB542888553}"/>
                </a:ext>
              </a:extLst>
            </p:cNvPr>
            <p:cNvSpPr txBox="1"/>
            <p:nvPr/>
          </p:nvSpPr>
          <p:spPr>
            <a:xfrm>
              <a:off x="0" y="0"/>
              <a:ext cx="162560" cy="269875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B1</a:t>
              </a:r>
            </a:p>
          </p:txBody>
        </p:sp>
        <p:sp>
          <p:nvSpPr>
            <p:cNvPr id="13" name="文本框 1525837990">
              <a:extLst>
                <a:ext uri="{FF2B5EF4-FFF2-40B4-BE49-F238E27FC236}">
                  <a16:creationId xmlns:a16="http://schemas.microsoft.com/office/drawing/2014/main" id="{B98579ED-24E5-C79C-1675-18A6F2719741}"/>
                </a:ext>
              </a:extLst>
            </p:cNvPr>
            <p:cNvSpPr txBox="1"/>
            <p:nvPr/>
          </p:nvSpPr>
          <p:spPr>
            <a:xfrm>
              <a:off x="1639614" y="1560786"/>
              <a:ext cx="162560" cy="269875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B4</a:t>
              </a:r>
            </a:p>
          </p:txBody>
        </p:sp>
        <p:sp>
          <p:nvSpPr>
            <p:cNvPr id="14" name="文本框 1326120636">
              <a:extLst>
                <a:ext uri="{FF2B5EF4-FFF2-40B4-BE49-F238E27FC236}">
                  <a16:creationId xmlns:a16="http://schemas.microsoft.com/office/drawing/2014/main" id="{F6F9A4A0-A0E7-E6A9-D897-AE08F0A0B3FB}"/>
                </a:ext>
              </a:extLst>
            </p:cNvPr>
            <p:cNvSpPr txBox="1"/>
            <p:nvPr/>
          </p:nvSpPr>
          <p:spPr>
            <a:xfrm>
              <a:off x="15765" y="1560786"/>
              <a:ext cx="162560" cy="269240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B3</a:t>
              </a:r>
            </a:p>
          </p:txBody>
        </p:sp>
        <p:sp>
          <p:nvSpPr>
            <p:cNvPr id="15" name="文本框 506616842">
              <a:extLst>
                <a:ext uri="{FF2B5EF4-FFF2-40B4-BE49-F238E27FC236}">
                  <a16:creationId xmlns:a16="http://schemas.microsoft.com/office/drawing/2014/main" id="{B9566CD7-4C7B-A5FA-3869-37E8EB606ED1}"/>
                </a:ext>
              </a:extLst>
            </p:cNvPr>
            <p:cNvSpPr txBox="1"/>
            <p:nvPr/>
          </p:nvSpPr>
          <p:spPr>
            <a:xfrm>
              <a:off x="0" y="1103586"/>
              <a:ext cx="162560" cy="269875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B2</a:t>
              </a: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58C3374F-ED4B-3F19-EF32-375B04539E3E}"/>
                </a:ext>
              </a:extLst>
            </p:cNvPr>
            <p:cNvGrpSpPr/>
            <p:nvPr/>
          </p:nvGrpSpPr>
          <p:grpSpPr>
            <a:xfrm>
              <a:off x="582010" y="961697"/>
              <a:ext cx="281031" cy="2786936"/>
              <a:chOff x="0" y="0"/>
              <a:chExt cx="281031" cy="2786936"/>
            </a:xfrm>
            <a:grpFill/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A8D9E9C4-C8BB-6D89-397B-C0E00B9F2F77}"/>
                  </a:ext>
                </a:extLst>
              </p:cNvPr>
              <p:cNvGrpSpPr/>
              <p:nvPr/>
            </p:nvGrpSpPr>
            <p:grpSpPr>
              <a:xfrm>
                <a:off x="1747" y="0"/>
                <a:ext cx="279284" cy="2786936"/>
                <a:chOff x="0" y="0"/>
                <a:chExt cx="279284" cy="2786936"/>
              </a:xfrm>
              <a:grpFill/>
            </p:grpSpPr>
            <p:cxnSp>
              <p:nvCxnSpPr>
                <p:cNvPr id="20" name="直接箭头连接符 19">
                  <a:extLst>
                    <a:ext uri="{FF2B5EF4-FFF2-40B4-BE49-F238E27FC236}">
                      <a16:creationId xmlns:a16="http://schemas.microsoft.com/office/drawing/2014/main" id="{F75FD620-FF63-9B94-F29C-09E7D46E4F91}"/>
                    </a:ext>
                  </a:extLst>
                </p:cNvPr>
                <p:cNvCxnSpPr/>
                <p:nvPr/>
              </p:nvCxnSpPr>
              <p:spPr>
                <a:xfrm>
                  <a:off x="279284" y="2571226"/>
                  <a:ext cx="0" cy="215710"/>
                </a:xfrm>
                <a:prstGeom prst="straightConnector1">
                  <a:avLst/>
                </a:prstGeom>
                <a:grpFill/>
                <a:ln w="6350" cap="flat" cmpd="sng" algn="ctr">
                  <a:solidFill>
                    <a:srgbClr val="4472C4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21" name="连接符: 肘形 20">
                  <a:extLst>
                    <a:ext uri="{FF2B5EF4-FFF2-40B4-BE49-F238E27FC236}">
                      <a16:creationId xmlns:a16="http://schemas.microsoft.com/office/drawing/2014/main" id="{4770D27A-9436-550F-0732-D5022E39022A}"/>
                    </a:ext>
                  </a:extLst>
                </p:cNvPr>
                <p:cNvCxnSpPr/>
                <p:nvPr/>
              </p:nvCxnSpPr>
              <p:spPr>
                <a:xfrm flipH="1" flipV="1">
                  <a:off x="0" y="0"/>
                  <a:ext cx="269875" cy="2774950"/>
                </a:xfrm>
                <a:prstGeom prst="bentConnector3">
                  <a:avLst>
                    <a:gd name="adj1" fmla="val 363354"/>
                  </a:avLst>
                </a:prstGeom>
                <a:grpFill/>
                <a:ln w="6350" cap="flat" cmpd="sng" algn="ctr">
                  <a:solidFill>
                    <a:srgbClr val="4472C4"/>
                  </a:solidFill>
                  <a:prstDash val="solid"/>
                  <a:miter lim="800000"/>
                  <a:tailEnd type="none"/>
                </a:ln>
                <a:effectLst/>
              </p:spPr>
            </p:cxnSp>
          </p:grp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A3AFF484-BA80-B028-7A94-A4671E592A68}"/>
                  </a:ext>
                </a:extLst>
              </p:cNvPr>
              <p:cNvCxnSpPr/>
              <p:nvPr/>
            </p:nvCxnSpPr>
            <p:spPr>
              <a:xfrm>
                <a:off x="0" y="0"/>
                <a:ext cx="4445" cy="145893"/>
              </a:xfrm>
              <a:prstGeom prst="straightConnector1">
                <a:avLst/>
              </a:prstGeom>
              <a:grpFill/>
              <a:ln w="6350" cap="flat" cmpd="sng" algn="ctr">
                <a:solidFill>
                  <a:srgbClr val="4472C4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022516AC-69CD-A998-A322-C6CDE59CA6EE}"/>
                </a:ext>
              </a:extLst>
            </p:cNvPr>
            <p:cNvCxnSpPr/>
            <p:nvPr/>
          </p:nvCxnSpPr>
          <p:spPr>
            <a:xfrm>
              <a:off x="880241" y="1387365"/>
              <a:ext cx="4445" cy="145415"/>
            </a:xfrm>
            <a:prstGeom prst="straightConnector1">
              <a:avLst/>
            </a:prstGeom>
            <a:grp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ABE29281-2289-8B74-CFA6-86904DA4FA2F}"/>
              </a:ext>
            </a:extLst>
          </p:cNvPr>
          <p:cNvSpPr txBox="1"/>
          <p:nvPr/>
        </p:nvSpPr>
        <p:spPr>
          <a:xfrm>
            <a:off x="7392530" y="2528787"/>
            <a:ext cx="43133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常量传播</a:t>
            </a:r>
            <a:r>
              <a:rPr lang="en-US" altLang="zh-CN" dirty="0"/>
              <a:t>: </a:t>
            </a:r>
            <a:r>
              <a:rPr lang="fr-FR" altLang="zh-CN" dirty="0"/>
              <a:t>len,size</a:t>
            </a:r>
            <a:r>
              <a:rPr lang="zh-CN" altLang="en-US" dirty="0"/>
              <a:t>为常量，且是引用点</a:t>
            </a:r>
            <a:r>
              <a:rPr lang="en-US" altLang="zh-CN" dirty="0"/>
              <a:t>5,8,11</a:t>
            </a:r>
            <a:r>
              <a:rPr lang="zh-CN" altLang="en-US" dirty="0"/>
              <a:t>的唯一定值点，可代入常量；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170CAF4-8005-0986-4582-FBFF25B8E81D}"/>
              </a:ext>
            </a:extLst>
          </p:cNvPr>
          <p:cNvSpPr txBox="1"/>
          <p:nvPr/>
        </p:nvSpPr>
        <p:spPr>
          <a:xfrm>
            <a:off x="8363707" y="962117"/>
            <a:ext cx="441246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dirty="0"/>
              <a:t>常量折叠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9A56C55-6464-7473-0349-69E2D74C4F35}"/>
              </a:ext>
            </a:extLst>
          </p:cNvPr>
          <p:cNvSpPr txBox="1"/>
          <p:nvPr/>
        </p:nvSpPr>
        <p:spPr>
          <a:xfrm>
            <a:off x="9302748" y="962118"/>
            <a:ext cx="430037" cy="1200329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dirty="0"/>
              <a:t>常量传播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BD42CFD-F5E9-C8B5-1F6B-B45818F1708E}"/>
              </a:ext>
            </a:extLst>
          </p:cNvPr>
          <p:cNvCxnSpPr>
            <a:stCxn id="2" idx="3"/>
            <a:endCxn id="22" idx="1"/>
          </p:cNvCxnSpPr>
          <p:nvPr/>
        </p:nvCxnSpPr>
        <p:spPr>
          <a:xfrm>
            <a:off x="8804953" y="1562282"/>
            <a:ext cx="49779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901AC3FC-F02B-CA15-B9E2-1D95AE1F20ED}"/>
              </a:ext>
            </a:extLst>
          </p:cNvPr>
          <p:cNvCxnSpPr>
            <a:stCxn id="22" idx="3"/>
            <a:endCxn id="2" idx="1"/>
          </p:cNvCxnSpPr>
          <p:nvPr/>
        </p:nvCxnSpPr>
        <p:spPr>
          <a:xfrm flipH="1" flipV="1">
            <a:off x="8363707" y="1562282"/>
            <a:ext cx="1369078" cy="1"/>
          </a:xfrm>
          <a:prstGeom prst="bentConnector5">
            <a:avLst>
              <a:gd name="adj1" fmla="val -16697"/>
              <a:gd name="adj2" fmla="val 82876600000"/>
              <a:gd name="adj3" fmla="val 11669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FBF1629-E297-D6C2-1FB7-262C3181E117}"/>
              </a:ext>
            </a:extLst>
          </p:cNvPr>
          <p:cNvCxnSpPr>
            <a:stCxn id="22" idx="3"/>
          </p:cNvCxnSpPr>
          <p:nvPr/>
        </p:nvCxnSpPr>
        <p:spPr>
          <a:xfrm>
            <a:off x="9732785" y="1562283"/>
            <a:ext cx="737095" cy="84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A0761FF6-9B49-A335-C4C9-5ADE4DC447CB}"/>
              </a:ext>
            </a:extLst>
          </p:cNvPr>
          <p:cNvCxnSpPr/>
          <p:nvPr/>
        </p:nvCxnSpPr>
        <p:spPr>
          <a:xfrm>
            <a:off x="7623159" y="1555055"/>
            <a:ext cx="737095" cy="84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24193C1-B566-3D36-01AB-D55370088473}"/>
              </a:ext>
            </a:extLst>
          </p:cNvPr>
          <p:cNvSpPr txBox="1"/>
          <p:nvPr/>
        </p:nvSpPr>
        <p:spPr>
          <a:xfrm>
            <a:off x="7392530" y="4183697"/>
            <a:ext cx="4313331" cy="1289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常量折叠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FF0000"/>
                </a:solidFill>
              </a:rPr>
              <a:t>常量传播</a:t>
            </a:r>
            <a:r>
              <a:rPr lang="zh-CN" altLang="en-US" dirty="0"/>
              <a:t>为</a:t>
            </a:r>
            <a:r>
              <a:rPr lang="en-US" altLang="zh-CN" dirty="0">
                <a:solidFill>
                  <a:srgbClr val="FF0000"/>
                </a:solidFill>
              </a:rPr>
              <a:t>DCE</a:t>
            </a:r>
            <a:r>
              <a:rPr lang="zh-CN" altLang="en-US" dirty="0"/>
              <a:t>优化带来机会，</a:t>
            </a:r>
            <a:r>
              <a:rPr lang="en-US" altLang="zh-CN" dirty="0">
                <a:solidFill>
                  <a:srgbClr val="FF0000"/>
                </a:solidFill>
              </a:rPr>
              <a:t>CSE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复写传播</a:t>
            </a:r>
            <a:r>
              <a:rPr lang="zh-CN" altLang="en-US" dirty="0"/>
              <a:t>也会带来</a:t>
            </a:r>
            <a:r>
              <a:rPr lang="en-US" altLang="zh-CN" dirty="0"/>
              <a:t>DCE</a:t>
            </a:r>
            <a:r>
              <a:rPr lang="zh-CN" altLang="en-US" dirty="0"/>
              <a:t>的机会，稍后一起作。</a:t>
            </a:r>
          </a:p>
        </p:txBody>
      </p:sp>
    </p:spTree>
    <p:extLst>
      <p:ext uri="{BB962C8B-B14F-4D97-AF65-F5344CB8AC3E}">
        <p14:creationId xmlns:p14="http://schemas.microsoft.com/office/powerpoint/2010/main" val="2107784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E205C-3EB1-414E-FECC-177015E98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21771B2-AC52-4971-E000-27A991206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8-</a:t>
            </a:r>
            <a:r>
              <a:rPr lang="zh-CN" altLang="en-US" dirty="0"/>
              <a:t>代码优化</a:t>
            </a:r>
            <a:r>
              <a:rPr lang="en-US" altLang="zh-CN" dirty="0"/>
              <a:t>(</a:t>
            </a:r>
            <a:r>
              <a:rPr lang="zh-CN" altLang="en-US" dirty="0"/>
              <a:t>中间代码优化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CD6178F-517E-E547-B666-0218EF02B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4311650" cy="890593"/>
          </a:xfrm>
        </p:spPr>
        <p:txBody>
          <a:bodyPr>
            <a:normAutofit/>
          </a:bodyPr>
          <a:lstStyle/>
          <a:p>
            <a:r>
              <a:rPr lang="zh-CN" altLang="en-US" sz="2400" b="0" dirty="0"/>
              <a:t>例</a:t>
            </a:r>
            <a:r>
              <a:rPr lang="en-US" altLang="zh-CN" sz="2400" b="0" dirty="0"/>
              <a:t>10 </a:t>
            </a:r>
            <a:r>
              <a:rPr lang="zh-CN" altLang="en-US" sz="2400" b="0" dirty="0"/>
              <a:t>优化</a:t>
            </a:r>
            <a:endParaRPr lang="en-US" altLang="zh-CN" sz="2400" b="0" dirty="0"/>
          </a:p>
        </p:txBody>
      </p:sp>
      <p:grpSp>
        <p:nvGrpSpPr>
          <p:cNvPr id="5" name="组合 4" descr="P748#y1">
            <a:extLst>
              <a:ext uri="{FF2B5EF4-FFF2-40B4-BE49-F238E27FC236}">
                <a16:creationId xmlns:a16="http://schemas.microsoft.com/office/drawing/2014/main" id="{627CA206-F8D2-AA6B-C82D-538BD28C6CFF}"/>
              </a:ext>
            </a:extLst>
          </p:cNvPr>
          <p:cNvGrpSpPr/>
          <p:nvPr/>
        </p:nvGrpSpPr>
        <p:grpSpPr>
          <a:xfrm>
            <a:off x="2558442" y="1188895"/>
            <a:ext cx="4834088" cy="5303206"/>
            <a:chOff x="0" y="0"/>
            <a:chExt cx="2994939" cy="3748633"/>
          </a:xfrm>
          <a:solidFill>
            <a:schemeClr val="bg1"/>
          </a:solidFill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4E403711-74A4-536F-A8A8-DA066EB94F44}"/>
                </a:ext>
              </a:extLst>
            </p:cNvPr>
            <p:cNvCxnSpPr/>
            <p:nvPr/>
          </p:nvCxnSpPr>
          <p:spPr>
            <a:xfrm>
              <a:off x="880241" y="819807"/>
              <a:ext cx="0" cy="267856"/>
            </a:xfrm>
            <a:prstGeom prst="straightConnector1">
              <a:avLst/>
            </a:prstGeom>
            <a:grp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7" name="文本框 1569089809">
              <a:extLst>
                <a:ext uri="{FF2B5EF4-FFF2-40B4-BE49-F238E27FC236}">
                  <a16:creationId xmlns:a16="http://schemas.microsoft.com/office/drawing/2014/main" id="{402D0CC3-A735-E2C5-953F-2EA005E2628D}"/>
                </a:ext>
              </a:extLst>
            </p:cNvPr>
            <p:cNvSpPr txBox="1"/>
            <p:nvPr/>
          </p:nvSpPr>
          <p:spPr>
            <a:xfrm>
              <a:off x="204952" y="0"/>
              <a:ext cx="1362710" cy="819150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1: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= 0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2: sum = 0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3: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len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= 100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4: size = 4</a:t>
              </a:r>
              <a:endParaRPr lang="en-US" altLang="zh-CN" kern="100" baseline="-25000" dirty="0">
                <a:solidFill>
                  <a:srgbClr val="FF0000"/>
                </a:solidFill>
                <a:latin typeface="Times New Roman"/>
                <a:ea typeface="宋体"/>
                <a:cs typeface="Times New Roman"/>
                <a:sym typeface="Times New Roman"/>
              </a:endParaRPr>
            </a:p>
          </p:txBody>
        </p:sp>
        <p:sp>
          <p:nvSpPr>
            <p:cNvPr id="8" name="文本框 1298739773">
              <a:extLst>
                <a:ext uri="{FF2B5EF4-FFF2-40B4-BE49-F238E27FC236}">
                  <a16:creationId xmlns:a16="http://schemas.microsoft.com/office/drawing/2014/main" id="{B4DD78ED-B55A-4672-9B79-F9B2B3D67EA0}"/>
                </a:ext>
              </a:extLst>
            </p:cNvPr>
            <p:cNvSpPr txBox="1"/>
            <p:nvPr/>
          </p:nvSpPr>
          <p:spPr>
            <a:xfrm>
              <a:off x="204952" y="1103586"/>
              <a:ext cx="1362710" cy="289068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5: if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&gt;= </a:t>
              </a:r>
              <a:r>
                <a:rPr lang="en-US" altLang="zh-CN" kern="100" dirty="0">
                  <a:solidFill>
                    <a:srgbClr val="C0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100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goto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  <a:r>
                <a:rPr lang="en-US" altLang="zh-CN" kern="100" dirty="0">
                  <a:solidFill>
                    <a:srgbClr val="0000FF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B4</a:t>
              </a:r>
            </a:p>
          </p:txBody>
        </p:sp>
        <p:cxnSp>
          <p:nvCxnSpPr>
            <p:cNvPr id="9" name="连接符: 肘形 8">
              <a:extLst>
                <a:ext uri="{FF2B5EF4-FFF2-40B4-BE49-F238E27FC236}">
                  <a16:creationId xmlns:a16="http://schemas.microsoft.com/office/drawing/2014/main" id="{3026EF9D-4E52-CD06-C244-CFCD6FC9BCB7}"/>
                </a:ext>
              </a:extLst>
            </p:cNvPr>
            <p:cNvCxnSpPr/>
            <p:nvPr/>
          </p:nvCxnSpPr>
          <p:spPr>
            <a:xfrm>
              <a:off x="1576552" y="1308538"/>
              <a:ext cx="831850" cy="442452"/>
            </a:xfrm>
            <a:prstGeom prst="bentConnector3">
              <a:avLst>
                <a:gd name="adj1" fmla="val 99643"/>
              </a:avLst>
            </a:prstGeom>
            <a:grp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0" name="文本框 2136727996">
              <a:extLst>
                <a:ext uri="{FF2B5EF4-FFF2-40B4-BE49-F238E27FC236}">
                  <a16:creationId xmlns:a16="http://schemas.microsoft.com/office/drawing/2014/main" id="{4949E69E-AC38-502A-426E-B9E9ECA7E0C6}"/>
                </a:ext>
              </a:extLst>
            </p:cNvPr>
            <p:cNvSpPr txBox="1"/>
            <p:nvPr/>
          </p:nvSpPr>
          <p:spPr>
            <a:xfrm>
              <a:off x="204952" y="1545021"/>
              <a:ext cx="1362710" cy="1996075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6: j =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7: t1 = a 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8: t2 = j * </a:t>
              </a:r>
              <a:r>
                <a:rPr lang="en-US" altLang="zh-CN" kern="100" dirty="0">
                  <a:solidFill>
                    <a:srgbClr val="C0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4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9: t3 = t1 + t2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10: t4 = *t3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11: t5 = j * </a:t>
              </a:r>
              <a:r>
                <a:rPr lang="en-US" altLang="zh-CN" kern="100" dirty="0">
                  <a:solidFill>
                    <a:srgbClr val="C0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4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12: t6 = t4 + t5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13: sum = sum + t6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14: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=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+ 1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15: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goto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  <a:r>
                <a:rPr lang="en-US" altLang="zh-CN" kern="100" dirty="0">
                  <a:solidFill>
                    <a:srgbClr val="0000FF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B2</a:t>
              </a:r>
              <a:endParaRPr lang="en-US" altLang="zh-CN" kern="100" baseline="-25000" dirty="0">
                <a:solidFill>
                  <a:srgbClr val="0000FF"/>
                </a:solidFill>
                <a:latin typeface="Times New Roman"/>
                <a:ea typeface="宋体"/>
                <a:cs typeface="Times New Roman"/>
                <a:sym typeface="Times New Roman"/>
              </a:endParaRPr>
            </a:p>
          </p:txBody>
        </p:sp>
        <p:sp>
          <p:nvSpPr>
            <p:cNvPr id="11" name="文本框 779518300">
              <a:extLst>
                <a:ext uri="{FF2B5EF4-FFF2-40B4-BE49-F238E27FC236}">
                  <a16:creationId xmlns:a16="http://schemas.microsoft.com/office/drawing/2014/main" id="{533DF017-E804-CBDE-DD78-F1FD582D5AAF}"/>
                </a:ext>
              </a:extLst>
            </p:cNvPr>
            <p:cNvSpPr txBox="1"/>
            <p:nvPr/>
          </p:nvSpPr>
          <p:spPr>
            <a:xfrm>
              <a:off x="1844565" y="1545021"/>
              <a:ext cx="1150374" cy="284480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latin typeface="Times New Roman"/>
                  <a:ea typeface="宋体"/>
                  <a:cs typeface="Times New Roman"/>
                  <a:sym typeface="Times New Roman"/>
                </a:rPr>
                <a:t>16: return sum</a:t>
              </a:r>
              <a:endParaRPr lang="en-US" altLang="zh-CN" kern="100" baseline="-25000">
                <a:solidFill>
                  <a:srgbClr val="FF0000"/>
                </a:solidFill>
                <a:latin typeface="Times New Roman"/>
                <a:ea typeface="宋体"/>
                <a:cs typeface="Times New Roman"/>
                <a:sym typeface="Times New Roman"/>
              </a:endParaRPr>
            </a:p>
          </p:txBody>
        </p:sp>
        <p:sp>
          <p:nvSpPr>
            <p:cNvPr id="12" name="文本框 47529692">
              <a:extLst>
                <a:ext uri="{FF2B5EF4-FFF2-40B4-BE49-F238E27FC236}">
                  <a16:creationId xmlns:a16="http://schemas.microsoft.com/office/drawing/2014/main" id="{9A97FA2A-BC67-0EE4-7024-987366ED75E9}"/>
                </a:ext>
              </a:extLst>
            </p:cNvPr>
            <p:cNvSpPr txBox="1"/>
            <p:nvPr/>
          </p:nvSpPr>
          <p:spPr>
            <a:xfrm>
              <a:off x="0" y="0"/>
              <a:ext cx="162560" cy="269875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B1</a:t>
              </a:r>
            </a:p>
          </p:txBody>
        </p:sp>
        <p:sp>
          <p:nvSpPr>
            <p:cNvPr id="13" name="文本框 1525837990">
              <a:extLst>
                <a:ext uri="{FF2B5EF4-FFF2-40B4-BE49-F238E27FC236}">
                  <a16:creationId xmlns:a16="http://schemas.microsoft.com/office/drawing/2014/main" id="{07BDD809-9503-EB0E-5D01-94DFA67ED017}"/>
                </a:ext>
              </a:extLst>
            </p:cNvPr>
            <p:cNvSpPr txBox="1"/>
            <p:nvPr/>
          </p:nvSpPr>
          <p:spPr>
            <a:xfrm>
              <a:off x="1639614" y="1560786"/>
              <a:ext cx="162560" cy="269875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B4</a:t>
              </a:r>
            </a:p>
          </p:txBody>
        </p:sp>
        <p:sp>
          <p:nvSpPr>
            <p:cNvPr id="14" name="文本框 1326120636">
              <a:extLst>
                <a:ext uri="{FF2B5EF4-FFF2-40B4-BE49-F238E27FC236}">
                  <a16:creationId xmlns:a16="http://schemas.microsoft.com/office/drawing/2014/main" id="{050E6B61-4CAB-DFBE-1D0C-DE1567422971}"/>
                </a:ext>
              </a:extLst>
            </p:cNvPr>
            <p:cNvSpPr txBox="1"/>
            <p:nvPr/>
          </p:nvSpPr>
          <p:spPr>
            <a:xfrm>
              <a:off x="15765" y="1560786"/>
              <a:ext cx="162560" cy="269240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B3</a:t>
              </a:r>
            </a:p>
          </p:txBody>
        </p:sp>
        <p:sp>
          <p:nvSpPr>
            <p:cNvPr id="15" name="文本框 506616842">
              <a:extLst>
                <a:ext uri="{FF2B5EF4-FFF2-40B4-BE49-F238E27FC236}">
                  <a16:creationId xmlns:a16="http://schemas.microsoft.com/office/drawing/2014/main" id="{E5AD90FF-C719-7698-16D6-E6052B8BD73B}"/>
                </a:ext>
              </a:extLst>
            </p:cNvPr>
            <p:cNvSpPr txBox="1"/>
            <p:nvPr/>
          </p:nvSpPr>
          <p:spPr>
            <a:xfrm>
              <a:off x="0" y="1103586"/>
              <a:ext cx="162560" cy="269875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B2</a:t>
              </a: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B9EFF04-5E31-B85E-0E20-3047B18EBF12}"/>
                </a:ext>
              </a:extLst>
            </p:cNvPr>
            <p:cNvGrpSpPr/>
            <p:nvPr/>
          </p:nvGrpSpPr>
          <p:grpSpPr>
            <a:xfrm>
              <a:off x="582010" y="961697"/>
              <a:ext cx="281031" cy="2786936"/>
              <a:chOff x="0" y="0"/>
              <a:chExt cx="281031" cy="2786936"/>
            </a:xfrm>
            <a:grpFill/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E252CA42-97FE-A1A3-3D27-CC9109FA8088}"/>
                  </a:ext>
                </a:extLst>
              </p:cNvPr>
              <p:cNvGrpSpPr/>
              <p:nvPr/>
            </p:nvGrpSpPr>
            <p:grpSpPr>
              <a:xfrm>
                <a:off x="1747" y="0"/>
                <a:ext cx="279284" cy="2786936"/>
                <a:chOff x="0" y="0"/>
                <a:chExt cx="279284" cy="2786936"/>
              </a:xfrm>
              <a:grpFill/>
            </p:grpSpPr>
            <p:cxnSp>
              <p:nvCxnSpPr>
                <p:cNvPr id="20" name="直接箭头连接符 19">
                  <a:extLst>
                    <a:ext uri="{FF2B5EF4-FFF2-40B4-BE49-F238E27FC236}">
                      <a16:creationId xmlns:a16="http://schemas.microsoft.com/office/drawing/2014/main" id="{A57478AD-E7FB-AB90-FF94-F421125AD68D}"/>
                    </a:ext>
                  </a:extLst>
                </p:cNvPr>
                <p:cNvCxnSpPr/>
                <p:nvPr/>
              </p:nvCxnSpPr>
              <p:spPr>
                <a:xfrm>
                  <a:off x="279284" y="2571226"/>
                  <a:ext cx="0" cy="215710"/>
                </a:xfrm>
                <a:prstGeom prst="straightConnector1">
                  <a:avLst/>
                </a:prstGeom>
                <a:grpFill/>
                <a:ln w="6350" cap="flat" cmpd="sng" algn="ctr">
                  <a:solidFill>
                    <a:srgbClr val="4472C4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21" name="连接符: 肘形 20">
                  <a:extLst>
                    <a:ext uri="{FF2B5EF4-FFF2-40B4-BE49-F238E27FC236}">
                      <a16:creationId xmlns:a16="http://schemas.microsoft.com/office/drawing/2014/main" id="{2879FE07-DA37-EEF6-3539-7C39059C4020}"/>
                    </a:ext>
                  </a:extLst>
                </p:cNvPr>
                <p:cNvCxnSpPr/>
                <p:nvPr/>
              </p:nvCxnSpPr>
              <p:spPr>
                <a:xfrm flipH="1" flipV="1">
                  <a:off x="0" y="0"/>
                  <a:ext cx="269875" cy="2774950"/>
                </a:xfrm>
                <a:prstGeom prst="bentConnector3">
                  <a:avLst>
                    <a:gd name="adj1" fmla="val 363354"/>
                  </a:avLst>
                </a:prstGeom>
                <a:grpFill/>
                <a:ln w="6350" cap="flat" cmpd="sng" algn="ctr">
                  <a:solidFill>
                    <a:srgbClr val="4472C4"/>
                  </a:solidFill>
                  <a:prstDash val="solid"/>
                  <a:miter lim="800000"/>
                  <a:tailEnd type="none"/>
                </a:ln>
                <a:effectLst/>
              </p:spPr>
            </p:cxnSp>
          </p:grp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084E3106-6AF8-6EAE-0D16-B3C89D212203}"/>
                  </a:ext>
                </a:extLst>
              </p:cNvPr>
              <p:cNvCxnSpPr/>
              <p:nvPr/>
            </p:nvCxnSpPr>
            <p:spPr>
              <a:xfrm>
                <a:off x="0" y="0"/>
                <a:ext cx="4445" cy="145893"/>
              </a:xfrm>
              <a:prstGeom prst="straightConnector1">
                <a:avLst/>
              </a:prstGeom>
              <a:grpFill/>
              <a:ln w="6350" cap="flat" cmpd="sng" algn="ctr">
                <a:solidFill>
                  <a:srgbClr val="4472C4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A42CA95D-C8F4-B66B-6803-3FC05FBE7BD0}"/>
                </a:ext>
              </a:extLst>
            </p:cNvPr>
            <p:cNvCxnSpPr/>
            <p:nvPr/>
          </p:nvCxnSpPr>
          <p:spPr>
            <a:xfrm>
              <a:off x="880241" y="1387365"/>
              <a:ext cx="4445" cy="145415"/>
            </a:xfrm>
            <a:prstGeom prst="straightConnector1">
              <a:avLst/>
            </a:prstGeom>
            <a:grp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E868B43A-7DD9-8FAB-C941-F50F1DF4898F}"/>
              </a:ext>
            </a:extLst>
          </p:cNvPr>
          <p:cNvSpPr txBox="1"/>
          <p:nvPr/>
        </p:nvSpPr>
        <p:spPr>
          <a:xfrm>
            <a:off x="7642092" y="1407566"/>
            <a:ext cx="406208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按以下顺序优化。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CSE</a:t>
            </a:r>
            <a:r>
              <a:rPr lang="en-US" altLang="zh-CN" dirty="0"/>
              <a:t>: </a:t>
            </a:r>
          </a:p>
          <a:p>
            <a:r>
              <a:rPr lang="en-US" altLang="zh-CN" dirty="0"/>
              <a:t>j*4</a:t>
            </a:r>
            <a:r>
              <a:rPr lang="zh-CN" altLang="en-US" dirty="0"/>
              <a:t>是公共子表达式，不用重复计算：</a:t>
            </a:r>
            <a:endParaRPr lang="en-US" altLang="zh-CN" dirty="0"/>
          </a:p>
          <a:p>
            <a:r>
              <a:rPr lang="en-US" altLang="zh-CN" dirty="0"/>
              <a:t>11</a:t>
            </a:r>
            <a:r>
              <a:rPr lang="zh-CN" altLang="en-US" dirty="0"/>
              <a:t>：</a:t>
            </a:r>
            <a:r>
              <a:rPr lang="en-US" altLang="zh-CN" dirty="0"/>
              <a:t>t5=t2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复写传播</a:t>
            </a:r>
            <a:r>
              <a:rPr lang="zh-CN" altLang="en-US" dirty="0"/>
              <a:t>：</a:t>
            </a:r>
            <a:r>
              <a:rPr lang="en-US" altLang="zh-CN" dirty="0"/>
              <a:t>6,7,11</a:t>
            </a:r>
            <a:r>
              <a:rPr lang="zh-CN" altLang="en-US" dirty="0"/>
              <a:t>是复写指令；</a:t>
            </a:r>
            <a:endParaRPr lang="en-US" altLang="zh-CN" dirty="0"/>
          </a:p>
          <a:p>
            <a:r>
              <a:rPr lang="en-US" altLang="zh-CN" dirty="0"/>
              <a:t>8</a:t>
            </a:r>
            <a:r>
              <a:rPr lang="zh-CN" altLang="en-US" dirty="0"/>
              <a:t>中的</a:t>
            </a:r>
            <a:r>
              <a:rPr lang="en-US" altLang="zh-CN" dirty="0"/>
              <a:t>j</a:t>
            </a:r>
            <a:r>
              <a:rPr lang="zh-CN" altLang="en-US" dirty="0"/>
              <a:t>改引用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9</a:t>
            </a:r>
            <a:r>
              <a:rPr lang="zh-CN" altLang="en-US" dirty="0"/>
              <a:t>中的</a:t>
            </a:r>
            <a:r>
              <a:rPr lang="en-US" altLang="zh-CN" dirty="0"/>
              <a:t>t1</a:t>
            </a:r>
            <a:r>
              <a:rPr lang="zh-CN" altLang="en-US" dirty="0"/>
              <a:t>改引用</a:t>
            </a:r>
            <a:r>
              <a:rPr lang="en-US" altLang="zh-CN" dirty="0"/>
              <a:t>a;</a:t>
            </a:r>
          </a:p>
          <a:p>
            <a:r>
              <a:rPr lang="en-US" altLang="zh-CN" dirty="0"/>
              <a:t>12</a:t>
            </a:r>
            <a:r>
              <a:rPr lang="zh-CN" altLang="en-US" dirty="0"/>
              <a:t>中的</a:t>
            </a:r>
            <a:r>
              <a:rPr lang="en-US" altLang="zh-CN" dirty="0"/>
              <a:t>t5</a:t>
            </a:r>
            <a:r>
              <a:rPr lang="zh-CN" altLang="en-US" dirty="0"/>
              <a:t>改引用</a:t>
            </a:r>
            <a:r>
              <a:rPr lang="en-US" altLang="zh-CN" dirty="0"/>
              <a:t>t2</a:t>
            </a:r>
          </a:p>
          <a:p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DCE:</a:t>
            </a:r>
          </a:p>
          <a:p>
            <a:r>
              <a:rPr lang="zh-CN" altLang="en-US" dirty="0"/>
              <a:t>经以上优化后，</a:t>
            </a:r>
            <a:r>
              <a:rPr lang="en-US" altLang="zh-CN" dirty="0"/>
              <a:t>3,4,6,</a:t>
            </a:r>
            <a:r>
              <a:rPr lang="zh-CN" altLang="en-US" dirty="0"/>
              <a:t>７</a:t>
            </a:r>
            <a:r>
              <a:rPr lang="en-US" altLang="zh-CN" dirty="0"/>
              <a:t>,11</a:t>
            </a:r>
            <a:r>
              <a:rPr lang="zh-CN" altLang="en-US" dirty="0"/>
              <a:t>成为死代码</a:t>
            </a:r>
            <a:r>
              <a:rPr lang="en-US" altLang="zh-CN" dirty="0"/>
              <a:t>,</a:t>
            </a:r>
            <a:r>
              <a:rPr lang="zh-CN" altLang="en-US" dirty="0"/>
              <a:t>删除。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02783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44451-B1B9-4F4B-C232-9BF537B01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1BC255F-BDCA-5C7E-2803-CC5359B97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8-</a:t>
            </a:r>
            <a:r>
              <a:rPr lang="zh-CN" altLang="en-US" dirty="0"/>
              <a:t>代码优化</a:t>
            </a:r>
            <a:r>
              <a:rPr lang="en-US" altLang="zh-CN" dirty="0"/>
              <a:t>(</a:t>
            </a:r>
            <a:r>
              <a:rPr lang="zh-CN" altLang="en-US" dirty="0"/>
              <a:t>中间代码优化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C7C0A08-31AF-D661-1CA7-D67EC74DA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4311650" cy="890593"/>
          </a:xfrm>
        </p:spPr>
        <p:txBody>
          <a:bodyPr>
            <a:normAutofit/>
          </a:bodyPr>
          <a:lstStyle/>
          <a:p>
            <a:r>
              <a:rPr lang="zh-CN" altLang="en-US" sz="2400" b="0" dirty="0"/>
              <a:t>例</a:t>
            </a:r>
            <a:r>
              <a:rPr lang="en-US" altLang="zh-CN" sz="2400" b="0" dirty="0"/>
              <a:t>10 </a:t>
            </a:r>
            <a:r>
              <a:rPr lang="zh-CN" altLang="en-US" sz="2400" b="0" dirty="0"/>
              <a:t>优化</a:t>
            </a:r>
            <a:endParaRPr lang="en-US" altLang="zh-CN" sz="2400" b="0" dirty="0"/>
          </a:p>
        </p:txBody>
      </p:sp>
      <p:grpSp>
        <p:nvGrpSpPr>
          <p:cNvPr id="5" name="组合 4" descr="P748#y1">
            <a:extLst>
              <a:ext uri="{FF2B5EF4-FFF2-40B4-BE49-F238E27FC236}">
                <a16:creationId xmlns:a16="http://schemas.microsoft.com/office/drawing/2014/main" id="{625A4F4C-31ED-D058-0ECD-5E35CF95CADC}"/>
              </a:ext>
            </a:extLst>
          </p:cNvPr>
          <p:cNvGrpSpPr/>
          <p:nvPr/>
        </p:nvGrpSpPr>
        <p:grpSpPr>
          <a:xfrm>
            <a:off x="2558442" y="1188895"/>
            <a:ext cx="4834088" cy="5303206"/>
            <a:chOff x="0" y="0"/>
            <a:chExt cx="2994939" cy="3748633"/>
          </a:xfrm>
          <a:solidFill>
            <a:schemeClr val="bg1"/>
          </a:solidFill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025C9D5B-722B-FCFF-C289-2FDF1FDCD318}"/>
                </a:ext>
              </a:extLst>
            </p:cNvPr>
            <p:cNvCxnSpPr/>
            <p:nvPr/>
          </p:nvCxnSpPr>
          <p:spPr>
            <a:xfrm>
              <a:off x="880241" y="819807"/>
              <a:ext cx="0" cy="267856"/>
            </a:xfrm>
            <a:prstGeom prst="straightConnector1">
              <a:avLst/>
            </a:prstGeom>
            <a:grp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7" name="文本框 1569089809">
              <a:extLst>
                <a:ext uri="{FF2B5EF4-FFF2-40B4-BE49-F238E27FC236}">
                  <a16:creationId xmlns:a16="http://schemas.microsoft.com/office/drawing/2014/main" id="{C47B92B6-0AEC-FBC6-B275-965EAEE65FFF}"/>
                </a:ext>
              </a:extLst>
            </p:cNvPr>
            <p:cNvSpPr txBox="1"/>
            <p:nvPr/>
          </p:nvSpPr>
          <p:spPr>
            <a:xfrm>
              <a:off x="204952" y="0"/>
              <a:ext cx="1362710" cy="819150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1: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= 0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2: sum = 0</a:t>
              </a:r>
            </a:p>
          </p:txBody>
        </p:sp>
        <p:sp>
          <p:nvSpPr>
            <p:cNvPr id="8" name="文本框 1298739773">
              <a:extLst>
                <a:ext uri="{FF2B5EF4-FFF2-40B4-BE49-F238E27FC236}">
                  <a16:creationId xmlns:a16="http://schemas.microsoft.com/office/drawing/2014/main" id="{73D64B25-7EF1-FB7F-3C5A-E210E850568D}"/>
                </a:ext>
              </a:extLst>
            </p:cNvPr>
            <p:cNvSpPr txBox="1"/>
            <p:nvPr/>
          </p:nvSpPr>
          <p:spPr>
            <a:xfrm>
              <a:off x="204952" y="1103586"/>
              <a:ext cx="1362710" cy="289068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5: if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&gt;= </a:t>
              </a:r>
              <a:r>
                <a:rPr lang="en-US" altLang="zh-CN" kern="100" dirty="0">
                  <a:solidFill>
                    <a:srgbClr val="C0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100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goto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  <a:r>
                <a:rPr lang="en-US" altLang="zh-CN" kern="100" dirty="0">
                  <a:solidFill>
                    <a:srgbClr val="0000FF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B4</a:t>
              </a:r>
            </a:p>
          </p:txBody>
        </p:sp>
        <p:cxnSp>
          <p:nvCxnSpPr>
            <p:cNvPr id="9" name="连接符: 肘形 8">
              <a:extLst>
                <a:ext uri="{FF2B5EF4-FFF2-40B4-BE49-F238E27FC236}">
                  <a16:creationId xmlns:a16="http://schemas.microsoft.com/office/drawing/2014/main" id="{567683B3-C428-878E-825A-DD9398108493}"/>
                </a:ext>
              </a:extLst>
            </p:cNvPr>
            <p:cNvCxnSpPr/>
            <p:nvPr/>
          </p:nvCxnSpPr>
          <p:spPr>
            <a:xfrm>
              <a:off x="1576552" y="1308538"/>
              <a:ext cx="831850" cy="442452"/>
            </a:xfrm>
            <a:prstGeom prst="bentConnector3">
              <a:avLst>
                <a:gd name="adj1" fmla="val 99643"/>
              </a:avLst>
            </a:prstGeom>
            <a:grp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0" name="文本框 2136727996">
              <a:extLst>
                <a:ext uri="{FF2B5EF4-FFF2-40B4-BE49-F238E27FC236}">
                  <a16:creationId xmlns:a16="http://schemas.microsoft.com/office/drawing/2014/main" id="{4F0C8548-4CA1-25B2-3496-D32AE0AB91C2}"/>
                </a:ext>
              </a:extLst>
            </p:cNvPr>
            <p:cNvSpPr txBox="1"/>
            <p:nvPr/>
          </p:nvSpPr>
          <p:spPr>
            <a:xfrm>
              <a:off x="204952" y="1545021"/>
              <a:ext cx="1362710" cy="1996075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8: t2 = </a:t>
              </a:r>
              <a:r>
                <a:rPr lang="en-US" altLang="zh-CN" kern="100" dirty="0" err="1">
                  <a:solidFill>
                    <a:srgbClr val="C0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* </a:t>
              </a:r>
              <a:r>
                <a:rPr lang="en-US" altLang="zh-CN" kern="100" dirty="0">
                  <a:solidFill>
                    <a:srgbClr val="C0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4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9: t3 = a + t2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10: t4 = *t3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12: t6 = t4 + </a:t>
              </a:r>
              <a:r>
                <a:rPr lang="en-US" altLang="zh-CN" kern="100" dirty="0">
                  <a:solidFill>
                    <a:srgbClr val="C0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t2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13: sum = sum + t6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14: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=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i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+ 1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15: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goto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  <a:r>
                <a:rPr lang="en-US" altLang="zh-CN" kern="100" dirty="0">
                  <a:solidFill>
                    <a:srgbClr val="0000FF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B2</a:t>
              </a:r>
              <a:endParaRPr lang="en-US" altLang="zh-CN" kern="100" baseline="-25000" dirty="0">
                <a:solidFill>
                  <a:srgbClr val="0000FF"/>
                </a:solidFill>
                <a:latin typeface="Times New Roman"/>
                <a:ea typeface="宋体"/>
                <a:cs typeface="Times New Roman"/>
                <a:sym typeface="Times New Roman"/>
              </a:endParaRPr>
            </a:p>
          </p:txBody>
        </p:sp>
        <p:sp>
          <p:nvSpPr>
            <p:cNvPr id="11" name="文本框 779518300">
              <a:extLst>
                <a:ext uri="{FF2B5EF4-FFF2-40B4-BE49-F238E27FC236}">
                  <a16:creationId xmlns:a16="http://schemas.microsoft.com/office/drawing/2014/main" id="{E28F5406-3275-8E30-89E2-22378248E015}"/>
                </a:ext>
              </a:extLst>
            </p:cNvPr>
            <p:cNvSpPr txBox="1"/>
            <p:nvPr/>
          </p:nvSpPr>
          <p:spPr>
            <a:xfrm>
              <a:off x="1844565" y="1545021"/>
              <a:ext cx="1150374" cy="284480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latin typeface="Times New Roman"/>
                  <a:ea typeface="宋体"/>
                  <a:cs typeface="Times New Roman"/>
                  <a:sym typeface="Times New Roman"/>
                </a:rPr>
                <a:t>16: return sum</a:t>
              </a:r>
              <a:endParaRPr lang="en-US" altLang="zh-CN" kern="100" baseline="-25000">
                <a:solidFill>
                  <a:srgbClr val="FF0000"/>
                </a:solidFill>
                <a:latin typeface="Times New Roman"/>
                <a:ea typeface="宋体"/>
                <a:cs typeface="Times New Roman"/>
                <a:sym typeface="Times New Roman"/>
              </a:endParaRPr>
            </a:p>
          </p:txBody>
        </p:sp>
        <p:sp>
          <p:nvSpPr>
            <p:cNvPr id="12" name="文本框 47529692">
              <a:extLst>
                <a:ext uri="{FF2B5EF4-FFF2-40B4-BE49-F238E27FC236}">
                  <a16:creationId xmlns:a16="http://schemas.microsoft.com/office/drawing/2014/main" id="{DBA9DA66-5794-2B59-BF6C-99D83FB4E52A}"/>
                </a:ext>
              </a:extLst>
            </p:cNvPr>
            <p:cNvSpPr txBox="1"/>
            <p:nvPr/>
          </p:nvSpPr>
          <p:spPr>
            <a:xfrm>
              <a:off x="0" y="0"/>
              <a:ext cx="162560" cy="269875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 dirty="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B1</a:t>
              </a:r>
            </a:p>
          </p:txBody>
        </p:sp>
        <p:sp>
          <p:nvSpPr>
            <p:cNvPr id="13" name="文本框 1525837990">
              <a:extLst>
                <a:ext uri="{FF2B5EF4-FFF2-40B4-BE49-F238E27FC236}">
                  <a16:creationId xmlns:a16="http://schemas.microsoft.com/office/drawing/2014/main" id="{82D85BDE-C9E2-6D48-3C79-CE6AED7CA0BB}"/>
                </a:ext>
              </a:extLst>
            </p:cNvPr>
            <p:cNvSpPr txBox="1"/>
            <p:nvPr/>
          </p:nvSpPr>
          <p:spPr>
            <a:xfrm>
              <a:off x="1639614" y="1560786"/>
              <a:ext cx="162560" cy="269875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B4</a:t>
              </a:r>
            </a:p>
          </p:txBody>
        </p:sp>
        <p:sp>
          <p:nvSpPr>
            <p:cNvPr id="14" name="文本框 1326120636">
              <a:extLst>
                <a:ext uri="{FF2B5EF4-FFF2-40B4-BE49-F238E27FC236}">
                  <a16:creationId xmlns:a16="http://schemas.microsoft.com/office/drawing/2014/main" id="{8864C3B6-0888-BF9D-F485-83D5D392C614}"/>
                </a:ext>
              </a:extLst>
            </p:cNvPr>
            <p:cNvSpPr txBox="1"/>
            <p:nvPr/>
          </p:nvSpPr>
          <p:spPr>
            <a:xfrm>
              <a:off x="15765" y="1560786"/>
              <a:ext cx="162560" cy="269240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B3</a:t>
              </a:r>
            </a:p>
          </p:txBody>
        </p:sp>
        <p:sp>
          <p:nvSpPr>
            <p:cNvPr id="15" name="文本框 506616842">
              <a:extLst>
                <a:ext uri="{FF2B5EF4-FFF2-40B4-BE49-F238E27FC236}">
                  <a16:creationId xmlns:a16="http://schemas.microsoft.com/office/drawing/2014/main" id="{4F4CAAAD-F6A6-9BCA-0D94-FEF154D67A51}"/>
                </a:ext>
              </a:extLst>
            </p:cNvPr>
            <p:cNvSpPr txBox="1"/>
            <p:nvPr/>
          </p:nvSpPr>
          <p:spPr>
            <a:xfrm>
              <a:off x="0" y="1103586"/>
              <a:ext cx="162560" cy="269875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B2</a:t>
              </a: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0130C6D0-4C31-B5C8-7B15-579F7E32B4F9}"/>
                </a:ext>
              </a:extLst>
            </p:cNvPr>
            <p:cNvGrpSpPr/>
            <p:nvPr/>
          </p:nvGrpSpPr>
          <p:grpSpPr>
            <a:xfrm>
              <a:off x="582010" y="961697"/>
              <a:ext cx="281031" cy="2786936"/>
              <a:chOff x="0" y="0"/>
              <a:chExt cx="281031" cy="2786936"/>
            </a:xfrm>
            <a:grpFill/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06DAA586-8693-702E-87D6-66BE04D77BFB}"/>
                  </a:ext>
                </a:extLst>
              </p:cNvPr>
              <p:cNvGrpSpPr/>
              <p:nvPr/>
            </p:nvGrpSpPr>
            <p:grpSpPr>
              <a:xfrm>
                <a:off x="1747" y="0"/>
                <a:ext cx="279284" cy="2786936"/>
                <a:chOff x="0" y="0"/>
                <a:chExt cx="279284" cy="2786936"/>
              </a:xfrm>
              <a:grpFill/>
            </p:grpSpPr>
            <p:cxnSp>
              <p:nvCxnSpPr>
                <p:cNvPr id="20" name="直接箭头连接符 19">
                  <a:extLst>
                    <a:ext uri="{FF2B5EF4-FFF2-40B4-BE49-F238E27FC236}">
                      <a16:creationId xmlns:a16="http://schemas.microsoft.com/office/drawing/2014/main" id="{5C2E2A2F-2B84-6DD6-F542-6A87F95C58F2}"/>
                    </a:ext>
                  </a:extLst>
                </p:cNvPr>
                <p:cNvCxnSpPr/>
                <p:nvPr/>
              </p:nvCxnSpPr>
              <p:spPr>
                <a:xfrm>
                  <a:off x="279284" y="2571226"/>
                  <a:ext cx="0" cy="215710"/>
                </a:xfrm>
                <a:prstGeom prst="straightConnector1">
                  <a:avLst/>
                </a:prstGeom>
                <a:grpFill/>
                <a:ln w="6350" cap="flat" cmpd="sng" algn="ctr">
                  <a:solidFill>
                    <a:srgbClr val="4472C4"/>
                  </a:solidFill>
                  <a:prstDash val="solid"/>
                  <a:miter lim="800000"/>
                  <a:tailEnd type="triangle"/>
                </a:ln>
                <a:effectLst/>
              </p:spPr>
            </p:cxnSp>
            <p:cxnSp>
              <p:nvCxnSpPr>
                <p:cNvPr id="21" name="连接符: 肘形 20">
                  <a:extLst>
                    <a:ext uri="{FF2B5EF4-FFF2-40B4-BE49-F238E27FC236}">
                      <a16:creationId xmlns:a16="http://schemas.microsoft.com/office/drawing/2014/main" id="{31F72845-D022-F8A2-F9E5-8A1F02A4ED1E}"/>
                    </a:ext>
                  </a:extLst>
                </p:cNvPr>
                <p:cNvCxnSpPr/>
                <p:nvPr/>
              </p:nvCxnSpPr>
              <p:spPr>
                <a:xfrm flipH="1" flipV="1">
                  <a:off x="0" y="0"/>
                  <a:ext cx="269875" cy="2774950"/>
                </a:xfrm>
                <a:prstGeom prst="bentConnector3">
                  <a:avLst>
                    <a:gd name="adj1" fmla="val 363354"/>
                  </a:avLst>
                </a:prstGeom>
                <a:grpFill/>
                <a:ln w="6350" cap="flat" cmpd="sng" algn="ctr">
                  <a:solidFill>
                    <a:srgbClr val="4472C4"/>
                  </a:solidFill>
                  <a:prstDash val="solid"/>
                  <a:miter lim="800000"/>
                  <a:tailEnd type="none"/>
                </a:ln>
                <a:effectLst/>
              </p:spPr>
            </p:cxnSp>
          </p:grp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8B1487B2-FB5B-5994-178B-B948947CE74A}"/>
                  </a:ext>
                </a:extLst>
              </p:cNvPr>
              <p:cNvCxnSpPr/>
              <p:nvPr/>
            </p:nvCxnSpPr>
            <p:spPr>
              <a:xfrm>
                <a:off x="0" y="0"/>
                <a:ext cx="4445" cy="145893"/>
              </a:xfrm>
              <a:prstGeom prst="straightConnector1">
                <a:avLst/>
              </a:prstGeom>
              <a:grpFill/>
              <a:ln w="6350" cap="flat" cmpd="sng" algn="ctr">
                <a:solidFill>
                  <a:srgbClr val="4472C4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D6BAB6DC-441B-DB62-8F55-42022502C6B9}"/>
                </a:ext>
              </a:extLst>
            </p:cNvPr>
            <p:cNvCxnSpPr/>
            <p:nvPr/>
          </p:nvCxnSpPr>
          <p:spPr>
            <a:xfrm>
              <a:off x="880241" y="1387365"/>
              <a:ext cx="4445" cy="145415"/>
            </a:xfrm>
            <a:prstGeom prst="straightConnector1">
              <a:avLst/>
            </a:prstGeom>
            <a:grp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4D506FE8-2C29-AF7D-2C3E-82C9504C5484}"/>
              </a:ext>
            </a:extLst>
          </p:cNvPr>
          <p:cNvSpPr txBox="1"/>
          <p:nvPr/>
        </p:nvSpPr>
        <p:spPr>
          <a:xfrm>
            <a:off x="7642092" y="1407566"/>
            <a:ext cx="406208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/*</a:t>
            </a:r>
            <a:r>
              <a:rPr lang="zh-CN" altLang="en-US" dirty="0">
                <a:solidFill>
                  <a:srgbClr val="C00000"/>
                </a:solidFill>
              </a:rPr>
              <a:t>若未删除</a:t>
            </a:r>
            <a:r>
              <a:rPr lang="en-US" altLang="zh-CN" dirty="0">
                <a:solidFill>
                  <a:srgbClr val="C00000"/>
                </a:solidFill>
              </a:rPr>
              <a:t>7</a:t>
            </a:r>
            <a:r>
              <a:rPr lang="zh-CN" altLang="en-US" dirty="0">
                <a:solidFill>
                  <a:srgbClr val="C00000"/>
                </a:solidFill>
              </a:rPr>
              <a:t>，或先作</a:t>
            </a:r>
            <a:r>
              <a:rPr lang="en-US" altLang="zh-CN" dirty="0">
                <a:solidFill>
                  <a:srgbClr val="C00000"/>
                </a:solidFill>
              </a:rPr>
              <a:t>LICM</a:t>
            </a:r>
            <a:r>
              <a:rPr lang="zh-CN" altLang="en-US" dirty="0">
                <a:solidFill>
                  <a:srgbClr val="C00000"/>
                </a:solidFill>
              </a:rPr>
              <a:t>，可外提</a:t>
            </a:r>
            <a:r>
              <a:rPr lang="en-US" altLang="zh-CN" dirty="0">
                <a:solidFill>
                  <a:srgbClr val="C00000"/>
                </a:solidFill>
              </a:rPr>
              <a:t>7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LICM</a:t>
            </a:r>
            <a:r>
              <a:rPr lang="en-US" altLang="zh-CN" dirty="0"/>
              <a:t>: </a:t>
            </a:r>
          </a:p>
          <a:p>
            <a:r>
              <a:rPr lang="en-US" altLang="zh-CN" dirty="0"/>
              <a:t>7</a:t>
            </a:r>
            <a:r>
              <a:rPr lang="zh-CN" altLang="en-US" dirty="0"/>
              <a:t>是不变计算，外提。</a:t>
            </a:r>
            <a:r>
              <a:rPr lang="en-US" altLang="zh-CN" dirty="0"/>
              <a:t>*/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归纳变量强度削弱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 err="1"/>
              <a:t>i</a:t>
            </a:r>
            <a:r>
              <a:rPr lang="zh-CN" altLang="en-US" dirty="0"/>
              <a:t>是基本归纳变量；</a:t>
            </a:r>
            <a:r>
              <a:rPr lang="en-US" altLang="zh-CN" dirty="0"/>
              <a:t>t2,t3</a:t>
            </a:r>
            <a:r>
              <a:rPr lang="zh-CN" altLang="en-US" dirty="0"/>
              <a:t>是归纳变量。</a:t>
            </a:r>
            <a:endParaRPr lang="en-US" altLang="zh-CN" dirty="0"/>
          </a:p>
          <a:p>
            <a:r>
              <a:rPr lang="en-US" altLang="zh-CN" dirty="0"/>
              <a:t>8</a:t>
            </a:r>
            <a:r>
              <a:rPr lang="zh-CN" altLang="en-US" dirty="0"/>
              <a:t>改成</a:t>
            </a:r>
            <a:r>
              <a:rPr lang="en-US" altLang="zh-CN" dirty="0"/>
              <a:t>: t2 = t2 + 4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9</a:t>
            </a:r>
            <a:r>
              <a:rPr lang="zh-CN" altLang="en-US" dirty="0"/>
              <a:t>改成 </a:t>
            </a:r>
            <a:r>
              <a:rPr lang="en-US" altLang="zh-CN" dirty="0"/>
              <a:t>t3 = t3 + 4;</a:t>
            </a:r>
          </a:p>
          <a:p>
            <a:r>
              <a:rPr lang="zh-CN" altLang="en-US" dirty="0"/>
              <a:t>将</a:t>
            </a:r>
            <a:r>
              <a:rPr lang="en-US" altLang="zh-CN" dirty="0"/>
              <a:t>8/9</a:t>
            </a:r>
            <a:r>
              <a:rPr lang="zh-CN" altLang="en-US" dirty="0"/>
              <a:t>移至基本归纳变量</a:t>
            </a:r>
            <a:r>
              <a:rPr lang="en-US" altLang="zh-CN" dirty="0" err="1"/>
              <a:t>i</a:t>
            </a:r>
            <a:r>
              <a:rPr lang="zh-CN" altLang="en-US" dirty="0"/>
              <a:t>变化后。</a:t>
            </a:r>
            <a:endParaRPr lang="en-US" altLang="zh-CN" dirty="0"/>
          </a:p>
          <a:p>
            <a:r>
              <a:rPr lang="zh-CN" altLang="en-US" dirty="0"/>
              <a:t>同时在</a:t>
            </a:r>
            <a:r>
              <a:rPr lang="en-US" altLang="zh-CN" dirty="0"/>
              <a:t>B1</a:t>
            </a:r>
            <a:r>
              <a:rPr lang="zh-CN" altLang="en-US" dirty="0"/>
              <a:t>尾部对</a:t>
            </a:r>
            <a:r>
              <a:rPr lang="en-US" altLang="zh-CN" dirty="0"/>
              <a:t>t2,t3</a:t>
            </a:r>
            <a:r>
              <a:rPr lang="zh-CN" altLang="en-US" dirty="0"/>
              <a:t>初始化：</a:t>
            </a:r>
            <a:endParaRPr lang="en-US" altLang="zh-CN" dirty="0"/>
          </a:p>
          <a:p>
            <a:r>
              <a:rPr lang="en-US" altLang="zh-CN" dirty="0"/>
              <a:t>t2=0</a:t>
            </a:r>
          </a:p>
          <a:p>
            <a:r>
              <a:rPr lang="en-US" altLang="zh-CN" dirty="0"/>
              <a:t>t3=a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删除基本归纳变量：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改变循环控制条件：</a:t>
            </a:r>
            <a:r>
              <a:rPr lang="en-US" altLang="zh-CN" dirty="0"/>
              <a:t>t2 &gt;= 400,</a:t>
            </a:r>
          </a:p>
          <a:p>
            <a:r>
              <a:rPr lang="zh-CN" altLang="en-US" dirty="0"/>
              <a:t>删除指令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14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51382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B527A-219E-DDDB-9F10-F7BACF63D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91D5F25-DD6B-A51C-6CF9-94D90B630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8-</a:t>
            </a:r>
            <a:r>
              <a:rPr lang="zh-CN" altLang="en-US" dirty="0"/>
              <a:t>代码优化</a:t>
            </a:r>
            <a:r>
              <a:rPr lang="en-US" altLang="zh-CN" dirty="0"/>
              <a:t>(</a:t>
            </a:r>
            <a:r>
              <a:rPr lang="zh-CN" altLang="en-US" dirty="0"/>
              <a:t>中间代码优化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5E7BE2E-BB8C-69BA-E4EE-0DF85CC88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4311650" cy="890593"/>
          </a:xfrm>
        </p:spPr>
        <p:txBody>
          <a:bodyPr>
            <a:normAutofit/>
          </a:bodyPr>
          <a:lstStyle/>
          <a:p>
            <a:r>
              <a:rPr lang="zh-CN" altLang="en-US" sz="2400" b="0" dirty="0"/>
              <a:t>例</a:t>
            </a:r>
            <a:r>
              <a:rPr lang="en-US" altLang="zh-CN" sz="2400" b="0" dirty="0"/>
              <a:t>10 </a:t>
            </a:r>
            <a:r>
              <a:rPr lang="zh-CN" altLang="en-US" sz="2400" b="0" dirty="0"/>
              <a:t>优化</a:t>
            </a:r>
            <a:endParaRPr lang="en-US" altLang="zh-CN" sz="2400" b="0" dirty="0"/>
          </a:p>
        </p:txBody>
      </p:sp>
      <p:grpSp>
        <p:nvGrpSpPr>
          <p:cNvPr id="5" name="组合 4" descr="P748#y1">
            <a:extLst>
              <a:ext uri="{FF2B5EF4-FFF2-40B4-BE49-F238E27FC236}">
                <a16:creationId xmlns:a16="http://schemas.microsoft.com/office/drawing/2014/main" id="{8F39DE0A-A7BC-8961-9A04-530792CF7695}"/>
              </a:ext>
            </a:extLst>
          </p:cNvPr>
          <p:cNvGrpSpPr/>
          <p:nvPr/>
        </p:nvGrpSpPr>
        <p:grpSpPr>
          <a:xfrm>
            <a:off x="5024916" y="2345510"/>
            <a:ext cx="4834088" cy="3840301"/>
            <a:chOff x="0" y="119070"/>
            <a:chExt cx="2994939" cy="2714561"/>
          </a:xfrm>
          <a:solidFill>
            <a:schemeClr val="bg1"/>
          </a:solidFill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139D3F67-8506-7F98-F477-BF8C827C46C8}"/>
                </a:ext>
              </a:extLst>
            </p:cNvPr>
            <p:cNvCxnSpPr/>
            <p:nvPr/>
          </p:nvCxnSpPr>
          <p:spPr>
            <a:xfrm>
              <a:off x="880241" y="819807"/>
              <a:ext cx="0" cy="267856"/>
            </a:xfrm>
            <a:prstGeom prst="straightConnector1">
              <a:avLst/>
            </a:prstGeom>
            <a:grp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7" name="文本框 1569089809">
              <a:extLst>
                <a:ext uri="{FF2B5EF4-FFF2-40B4-BE49-F238E27FC236}">
                  <a16:creationId xmlns:a16="http://schemas.microsoft.com/office/drawing/2014/main" id="{FDCBCDD5-7268-544B-F063-B0A4F1B95A52}"/>
                </a:ext>
              </a:extLst>
            </p:cNvPr>
            <p:cNvSpPr txBox="1"/>
            <p:nvPr/>
          </p:nvSpPr>
          <p:spPr>
            <a:xfrm>
              <a:off x="204952" y="127576"/>
              <a:ext cx="1362710" cy="667440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2: sum = 0</a:t>
              </a:r>
            </a:p>
            <a:p>
              <a:pPr algn="just"/>
              <a:r>
                <a:rPr lang="en-US" altLang="zh-CN" kern="100" dirty="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t2</a:t>
              </a:r>
              <a:r>
                <a:rPr lang="zh-CN" altLang="en-US" kern="100" dirty="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  <a:r>
                <a:rPr lang="en-US" altLang="zh-CN" kern="100" dirty="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=</a:t>
              </a:r>
              <a:r>
                <a:rPr lang="zh-CN" altLang="en-US" kern="100" dirty="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  <a:r>
                <a:rPr lang="en-US" altLang="zh-CN" kern="100" dirty="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0</a:t>
              </a:r>
            </a:p>
            <a:p>
              <a:pPr algn="just"/>
              <a:r>
                <a:rPr lang="en-US" altLang="zh-CN" kern="100" dirty="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t3 = a</a:t>
              </a:r>
            </a:p>
          </p:txBody>
        </p:sp>
        <p:sp>
          <p:nvSpPr>
            <p:cNvPr id="8" name="文本框 1298739773">
              <a:extLst>
                <a:ext uri="{FF2B5EF4-FFF2-40B4-BE49-F238E27FC236}">
                  <a16:creationId xmlns:a16="http://schemas.microsoft.com/office/drawing/2014/main" id="{F16761C4-B4BA-8B6E-EDAA-ABBB32534AD2}"/>
                </a:ext>
              </a:extLst>
            </p:cNvPr>
            <p:cNvSpPr txBox="1"/>
            <p:nvPr/>
          </p:nvSpPr>
          <p:spPr>
            <a:xfrm>
              <a:off x="204952" y="1103586"/>
              <a:ext cx="1362710" cy="289068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5: if </a:t>
              </a:r>
              <a:r>
                <a:rPr lang="en-US" altLang="zh-CN" kern="100" dirty="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t2&gt;= 40</a:t>
              </a:r>
              <a:r>
                <a:rPr lang="en-US" altLang="zh-CN" kern="100" dirty="0">
                  <a:solidFill>
                    <a:srgbClr val="C0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0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goto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  <a:r>
                <a:rPr lang="en-US" altLang="zh-CN" kern="100" dirty="0">
                  <a:solidFill>
                    <a:srgbClr val="0000FF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B4</a:t>
              </a:r>
            </a:p>
          </p:txBody>
        </p:sp>
        <p:cxnSp>
          <p:nvCxnSpPr>
            <p:cNvPr id="9" name="连接符: 肘形 8">
              <a:extLst>
                <a:ext uri="{FF2B5EF4-FFF2-40B4-BE49-F238E27FC236}">
                  <a16:creationId xmlns:a16="http://schemas.microsoft.com/office/drawing/2014/main" id="{DCA52948-8D50-214A-AC9F-07D2C046D09A}"/>
                </a:ext>
              </a:extLst>
            </p:cNvPr>
            <p:cNvCxnSpPr/>
            <p:nvPr/>
          </p:nvCxnSpPr>
          <p:spPr>
            <a:xfrm>
              <a:off x="1576552" y="1308538"/>
              <a:ext cx="831850" cy="442452"/>
            </a:xfrm>
            <a:prstGeom prst="bentConnector3">
              <a:avLst>
                <a:gd name="adj1" fmla="val 99643"/>
              </a:avLst>
            </a:prstGeom>
            <a:grp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0" name="文本框 2136727996">
              <a:extLst>
                <a:ext uri="{FF2B5EF4-FFF2-40B4-BE49-F238E27FC236}">
                  <a16:creationId xmlns:a16="http://schemas.microsoft.com/office/drawing/2014/main" id="{0BE798CA-4529-3B2B-CD72-BBEB9192B64D}"/>
                </a:ext>
              </a:extLst>
            </p:cNvPr>
            <p:cNvSpPr txBox="1"/>
            <p:nvPr/>
          </p:nvSpPr>
          <p:spPr>
            <a:xfrm>
              <a:off x="204952" y="1545021"/>
              <a:ext cx="1362710" cy="1288609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10: t4 = *t3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12: t6 = t4 + </a:t>
              </a:r>
              <a:r>
                <a:rPr lang="en-US" altLang="zh-CN" kern="100" dirty="0">
                  <a:solidFill>
                    <a:srgbClr val="C0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t2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13: sum = sum + t6</a:t>
              </a:r>
            </a:p>
            <a:p>
              <a:pPr algn="just"/>
              <a:r>
                <a:rPr lang="en-US" altLang="zh-CN" kern="100" dirty="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8: t2 = t2 + 4</a:t>
              </a:r>
            </a:p>
            <a:p>
              <a:pPr algn="just"/>
              <a:r>
                <a:rPr lang="en-US" altLang="zh-CN" kern="100" dirty="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9: t3 = t3 + 4</a:t>
              </a:r>
            </a:p>
            <a:p>
              <a:pPr algn="just"/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15: </a:t>
              </a:r>
              <a:r>
                <a:rPr lang="en-US" altLang="zh-CN" kern="100" dirty="0" err="1">
                  <a:latin typeface="Times New Roman"/>
                  <a:ea typeface="宋体"/>
                  <a:cs typeface="Times New Roman"/>
                  <a:sym typeface="Times New Roman"/>
                </a:rPr>
                <a:t>goto</a:t>
              </a:r>
              <a:r>
                <a:rPr lang="en-US" altLang="zh-CN" kern="100" dirty="0">
                  <a:latin typeface="Times New Roman"/>
                  <a:ea typeface="宋体"/>
                  <a:cs typeface="Times New Roman"/>
                  <a:sym typeface="Times New Roman"/>
                </a:rPr>
                <a:t> </a:t>
              </a:r>
              <a:r>
                <a:rPr lang="en-US" altLang="zh-CN" kern="100" dirty="0">
                  <a:solidFill>
                    <a:srgbClr val="0000FF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B2</a:t>
              </a:r>
              <a:endParaRPr lang="en-US" altLang="zh-CN" kern="100" baseline="-25000" dirty="0">
                <a:solidFill>
                  <a:srgbClr val="0000FF"/>
                </a:solidFill>
                <a:latin typeface="Times New Roman"/>
                <a:ea typeface="宋体"/>
                <a:cs typeface="Times New Roman"/>
                <a:sym typeface="Times New Roman"/>
              </a:endParaRPr>
            </a:p>
          </p:txBody>
        </p:sp>
        <p:sp>
          <p:nvSpPr>
            <p:cNvPr id="11" name="文本框 779518300">
              <a:extLst>
                <a:ext uri="{FF2B5EF4-FFF2-40B4-BE49-F238E27FC236}">
                  <a16:creationId xmlns:a16="http://schemas.microsoft.com/office/drawing/2014/main" id="{738DDBD2-3989-01F6-6DD6-170FBD3F8DC0}"/>
                </a:ext>
              </a:extLst>
            </p:cNvPr>
            <p:cNvSpPr txBox="1"/>
            <p:nvPr/>
          </p:nvSpPr>
          <p:spPr>
            <a:xfrm>
              <a:off x="1844565" y="1545021"/>
              <a:ext cx="1150374" cy="284480"/>
            </a:xfrm>
            <a:prstGeom prst="rect">
              <a:avLst/>
            </a:prstGeom>
            <a:grpFill/>
            <a:ln w="6350">
              <a:solidFill>
                <a:prstClr val="black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latin typeface="Times New Roman"/>
                  <a:ea typeface="宋体"/>
                  <a:cs typeface="Times New Roman"/>
                  <a:sym typeface="Times New Roman"/>
                </a:rPr>
                <a:t>16: return sum</a:t>
              </a:r>
              <a:endParaRPr lang="en-US" altLang="zh-CN" kern="100" baseline="-25000">
                <a:solidFill>
                  <a:srgbClr val="FF0000"/>
                </a:solidFill>
                <a:latin typeface="Times New Roman"/>
                <a:ea typeface="宋体"/>
                <a:cs typeface="Times New Roman"/>
                <a:sym typeface="Times New Roman"/>
              </a:endParaRPr>
            </a:p>
          </p:txBody>
        </p:sp>
        <p:sp>
          <p:nvSpPr>
            <p:cNvPr id="12" name="文本框 47529692">
              <a:extLst>
                <a:ext uri="{FF2B5EF4-FFF2-40B4-BE49-F238E27FC236}">
                  <a16:creationId xmlns:a16="http://schemas.microsoft.com/office/drawing/2014/main" id="{B0ABCAA2-0373-543F-958C-4D5B8E3949C4}"/>
                </a:ext>
              </a:extLst>
            </p:cNvPr>
            <p:cNvSpPr txBox="1"/>
            <p:nvPr/>
          </p:nvSpPr>
          <p:spPr>
            <a:xfrm>
              <a:off x="0" y="119070"/>
              <a:ext cx="162560" cy="269875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 dirty="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B1</a:t>
              </a:r>
            </a:p>
          </p:txBody>
        </p:sp>
        <p:sp>
          <p:nvSpPr>
            <p:cNvPr id="13" name="文本框 1525837990">
              <a:extLst>
                <a:ext uri="{FF2B5EF4-FFF2-40B4-BE49-F238E27FC236}">
                  <a16:creationId xmlns:a16="http://schemas.microsoft.com/office/drawing/2014/main" id="{4CFD80EF-AB95-2781-FFD0-3BDE3F517E78}"/>
                </a:ext>
              </a:extLst>
            </p:cNvPr>
            <p:cNvSpPr txBox="1"/>
            <p:nvPr/>
          </p:nvSpPr>
          <p:spPr>
            <a:xfrm>
              <a:off x="1639614" y="1560786"/>
              <a:ext cx="162560" cy="269875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B4</a:t>
              </a:r>
            </a:p>
          </p:txBody>
        </p:sp>
        <p:sp>
          <p:nvSpPr>
            <p:cNvPr id="14" name="文本框 1326120636">
              <a:extLst>
                <a:ext uri="{FF2B5EF4-FFF2-40B4-BE49-F238E27FC236}">
                  <a16:creationId xmlns:a16="http://schemas.microsoft.com/office/drawing/2014/main" id="{90C00FAA-37CA-D2F2-1EE0-FDAEC4E234FB}"/>
                </a:ext>
              </a:extLst>
            </p:cNvPr>
            <p:cNvSpPr txBox="1"/>
            <p:nvPr/>
          </p:nvSpPr>
          <p:spPr>
            <a:xfrm>
              <a:off x="15765" y="1560786"/>
              <a:ext cx="162560" cy="269240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B3</a:t>
              </a:r>
            </a:p>
          </p:txBody>
        </p:sp>
        <p:sp>
          <p:nvSpPr>
            <p:cNvPr id="15" name="文本框 506616842">
              <a:extLst>
                <a:ext uri="{FF2B5EF4-FFF2-40B4-BE49-F238E27FC236}">
                  <a16:creationId xmlns:a16="http://schemas.microsoft.com/office/drawing/2014/main" id="{BA25186B-413B-D0DC-CB67-5A11540B30CA}"/>
                </a:ext>
              </a:extLst>
            </p:cNvPr>
            <p:cNvSpPr txBox="1"/>
            <p:nvPr/>
          </p:nvSpPr>
          <p:spPr>
            <a:xfrm>
              <a:off x="0" y="1103586"/>
              <a:ext cx="162560" cy="269875"/>
            </a:xfrm>
            <a:prstGeom prst="rect">
              <a:avLst/>
            </a:prstGeom>
            <a:grpFill/>
            <a:ln w="6350">
              <a:noFill/>
            </a:ln>
          </p:spPr>
          <p:txBody>
            <a:bodyPr rot="0" spcFirstLastPara="0" vert="horz" wrap="none" lIns="0" tIns="0" rIns="0" bIns="0" numCol="1" spcCol="0" rtlCol="0" fromWordArt="0" anchor="t" anchorCtr="0" forceAA="0" compatLnSpc="1">
              <a:noAutofit/>
            </a:bodyPr>
            <a:lstStyle/>
            <a:p>
              <a:pPr algn="just"/>
              <a:r>
                <a:rPr lang="en-US" altLang="zh-CN" kern="100">
                  <a:solidFill>
                    <a:srgbClr val="FF0000"/>
                  </a:solidFill>
                  <a:latin typeface="Times New Roman"/>
                  <a:ea typeface="宋体"/>
                  <a:cs typeface="Times New Roman"/>
                  <a:sym typeface="Times New Roman"/>
                </a:rPr>
                <a:t>B2</a:t>
              </a: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A546D9C6-DB39-7706-04A8-17A8469A3E59}"/>
                </a:ext>
              </a:extLst>
            </p:cNvPr>
            <p:cNvGrpSpPr/>
            <p:nvPr/>
          </p:nvGrpSpPr>
          <p:grpSpPr>
            <a:xfrm>
              <a:off x="582010" y="961697"/>
              <a:ext cx="304297" cy="1871934"/>
              <a:chOff x="0" y="0"/>
              <a:chExt cx="304297" cy="1871934"/>
            </a:xfrm>
            <a:grpFill/>
          </p:grpSpPr>
          <p:cxnSp>
            <p:nvCxnSpPr>
              <p:cNvPr id="21" name="连接符: 肘形 20">
                <a:extLst>
                  <a:ext uri="{FF2B5EF4-FFF2-40B4-BE49-F238E27FC236}">
                    <a16:creationId xmlns:a16="http://schemas.microsoft.com/office/drawing/2014/main" id="{11941890-2E87-41B2-D494-B0AE892BC561}"/>
                  </a:ext>
                </a:extLst>
              </p:cNvPr>
              <p:cNvCxnSpPr>
                <a:cxnSpLocks/>
                <a:stCxn id="10" idx="2"/>
              </p:cNvCxnSpPr>
              <p:nvPr/>
            </p:nvCxnSpPr>
            <p:spPr>
              <a:xfrm rot="5400000" flipH="1">
                <a:off x="-782944" y="784692"/>
                <a:ext cx="1871932" cy="302551"/>
              </a:xfrm>
              <a:prstGeom prst="bentConnector5">
                <a:avLst>
                  <a:gd name="adj1" fmla="val -8632"/>
                  <a:gd name="adj2" fmla="val 323755"/>
                  <a:gd name="adj3" fmla="val 99866"/>
                </a:avLst>
              </a:prstGeom>
              <a:grpFill/>
              <a:ln w="6350" cap="flat" cmpd="sng" algn="ctr">
                <a:solidFill>
                  <a:srgbClr val="4472C4"/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C317D133-44FF-C572-9EFE-1810ACBF1503}"/>
                  </a:ext>
                </a:extLst>
              </p:cNvPr>
              <p:cNvCxnSpPr/>
              <p:nvPr/>
            </p:nvCxnSpPr>
            <p:spPr>
              <a:xfrm>
                <a:off x="0" y="0"/>
                <a:ext cx="4445" cy="145893"/>
              </a:xfrm>
              <a:prstGeom prst="straightConnector1">
                <a:avLst/>
              </a:prstGeom>
              <a:grpFill/>
              <a:ln w="6350" cap="flat" cmpd="sng" algn="ctr">
                <a:solidFill>
                  <a:srgbClr val="4472C4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2A056543-E6E7-3CF5-9F77-914BFDFA63B1}"/>
                </a:ext>
              </a:extLst>
            </p:cNvPr>
            <p:cNvCxnSpPr/>
            <p:nvPr/>
          </p:nvCxnSpPr>
          <p:spPr>
            <a:xfrm>
              <a:off x="880241" y="1387365"/>
              <a:ext cx="4445" cy="145415"/>
            </a:xfrm>
            <a:prstGeom prst="straightConnector1">
              <a:avLst/>
            </a:prstGeom>
            <a:grp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1E654C33-D5E9-EBF2-E08E-8BEF14523ECF}"/>
              </a:ext>
            </a:extLst>
          </p:cNvPr>
          <p:cNvSpPr txBox="1"/>
          <p:nvPr/>
        </p:nvSpPr>
        <p:spPr>
          <a:xfrm>
            <a:off x="805810" y="1713739"/>
            <a:ext cx="4062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优化后的流图。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可在优化说明后，直接给出优化后的</a:t>
            </a:r>
            <a:r>
              <a:rPr lang="en-US" altLang="zh-CN" dirty="0">
                <a:solidFill>
                  <a:srgbClr val="C00000"/>
                </a:solidFill>
              </a:rPr>
              <a:t>IR</a:t>
            </a:r>
            <a:r>
              <a:rPr lang="zh-CN" altLang="en-US" dirty="0">
                <a:solidFill>
                  <a:srgbClr val="C00000"/>
                </a:solidFill>
              </a:rPr>
              <a:t>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71512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68AED51-8EB7-9D80-1910-B8CCBD2A5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22" y="962270"/>
            <a:ext cx="11031078" cy="2262193"/>
          </a:xfrm>
        </p:spPr>
        <p:txBody>
          <a:bodyPr>
            <a:normAutofit/>
          </a:bodyPr>
          <a:lstStyle/>
          <a:p>
            <a:r>
              <a:rPr lang="zh-CN" altLang="en-US" dirty="0"/>
              <a:t>学生社团收集的题库：</a:t>
            </a:r>
            <a:endParaRPr lang="fr-FR" altLang="zh-CN" dirty="0"/>
          </a:p>
          <a:p>
            <a:pPr marL="0" indent="0">
              <a:buNone/>
            </a:pPr>
            <a:r>
              <a:rPr lang="fr-FR" altLang="zh-CN" sz="2000" dirty="0">
                <a:hlinkClick r:id="rId2"/>
              </a:rPr>
              <a:t>https://docs.qq.com/aio/DR0hGeWd2dkhTckJj?p=ulG2ZO2hW7gsBjHmaXGyUQ</a:t>
            </a:r>
            <a:endParaRPr lang="fr-FR" altLang="zh-CN" sz="2000" dirty="0"/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EF06B64-58E0-B4EB-7E98-64EA0F53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刷题</a:t>
            </a:r>
          </a:p>
        </p:txBody>
      </p:sp>
    </p:spTree>
    <p:extLst>
      <p:ext uri="{BB962C8B-B14F-4D97-AF65-F5344CB8AC3E}">
        <p14:creationId xmlns:p14="http://schemas.microsoft.com/office/powerpoint/2010/main" val="32315993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8" descr="图片包含 食物, 游戏机, 钟表&#10;&#10;描述已自动生成">
            <a:extLst>
              <a:ext uri="{FF2B5EF4-FFF2-40B4-BE49-F238E27FC236}">
                <a16:creationId xmlns:a16="http://schemas.microsoft.com/office/drawing/2014/main" id="{A5E0859A-C2E2-3E17-E81B-72ADEF2A20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2872" y="-11429"/>
            <a:ext cx="12214872" cy="6865036"/>
          </a:xfrm>
          <a:effectLst>
            <a:outerShdw blurRad="50800" dist="50800" dir="2700000" algn="ctr" rotWithShape="0">
              <a:schemeClr val="tx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36541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自定义 27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5F90"/>
      </a:accent1>
      <a:accent2>
        <a:srgbClr val="0099C5"/>
      </a:accent2>
      <a:accent3>
        <a:srgbClr val="E1CEAB"/>
      </a:accent3>
      <a:accent4>
        <a:srgbClr val="C7A25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4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19714</TotalTime>
  <Words>5279</Words>
  <Application>Microsoft Office PowerPoint</Application>
  <PresentationFormat>宽屏</PresentationFormat>
  <Paragraphs>1141</Paragraphs>
  <Slides>38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50" baseType="lpstr">
      <vt:lpstr>Microsoft YaHei UI</vt:lpstr>
      <vt:lpstr>等线</vt:lpstr>
      <vt:lpstr>等线 Light</vt:lpstr>
      <vt:lpstr>宋体</vt:lpstr>
      <vt:lpstr>微软雅黑</vt:lpstr>
      <vt:lpstr>Arial</vt:lpstr>
      <vt:lpstr>Candara</vt:lpstr>
      <vt:lpstr>Segoe UI</vt:lpstr>
      <vt:lpstr>Times New Roman</vt:lpstr>
      <vt:lpstr>Wingdings</vt:lpstr>
      <vt:lpstr>Office 主题​​</vt:lpstr>
      <vt:lpstr>1_Office 主题​​</vt:lpstr>
      <vt:lpstr>PowerPoint 演示文稿</vt:lpstr>
      <vt:lpstr>内容</vt:lpstr>
      <vt:lpstr>1 引论</vt:lpstr>
      <vt:lpstr>2 文法与语言</vt:lpstr>
      <vt:lpstr>例1 给定语言，构造正则文法</vt:lpstr>
      <vt:lpstr>例2 推导，语法树，句柄</vt:lpstr>
      <vt:lpstr>3 词法分析</vt:lpstr>
      <vt:lpstr>例3  NFA-&gt;DFA</vt:lpstr>
      <vt:lpstr>４ LL(1)语法分析</vt:lpstr>
      <vt:lpstr>例4 LL(1)分析</vt:lpstr>
      <vt:lpstr>LL(1)</vt:lpstr>
      <vt:lpstr>LL(1)</vt:lpstr>
      <vt:lpstr>5 LR语法分析</vt:lpstr>
      <vt:lpstr>例5 LR(1)分析</vt:lpstr>
      <vt:lpstr>LR分析</vt:lpstr>
      <vt:lpstr>LR分析</vt:lpstr>
      <vt:lpstr>LR分析</vt:lpstr>
      <vt:lpstr>LR分析</vt:lpstr>
      <vt:lpstr>LR分析</vt:lpstr>
      <vt:lpstr>LR分析</vt:lpstr>
      <vt:lpstr>6-L翻译模式与中间代码生成</vt:lpstr>
      <vt:lpstr>L-翻译模式与IR生成</vt:lpstr>
      <vt:lpstr>L-翻译模式与IR生成</vt:lpstr>
      <vt:lpstr>L-翻译模式与IR生成</vt:lpstr>
      <vt:lpstr>7-运行时存储组组织</vt:lpstr>
      <vt:lpstr>7-运行时存储组组织</vt:lpstr>
      <vt:lpstr>7-运行时存储组组织</vt:lpstr>
      <vt:lpstr>7-运行时存储组组织</vt:lpstr>
      <vt:lpstr>7-运行时存储组组织</vt:lpstr>
      <vt:lpstr>8-代码优化(中间代码优化)</vt:lpstr>
      <vt:lpstr>8-代码优化(中间代码优化)</vt:lpstr>
      <vt:lpstr>8-代码优化(中间代码优化)</vt:lpstr>
      <vt:lpstr>8-代码优化(中间代码优化)</vt:lpstr>
      <vt:lpstr>8-代码优化(中间代码优化)</vt:lpstr>
      <vt:lpstr>8-代码优化(中间代码优化)</vt:lpstr>
      <vt:lpstr>8-代码优化(中间代码优化)</vt:lpstr>
      <vt:lpstr>刷题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QZ7420</dc:creator>
  <cp:lastModifiedBy>茂林 杨</cp:lastModifiedBy>
  <cp:revision>701</cp:revision>
  <cp:lastPrinted>2022-10-13T02:21:01Z</cp:lastPrinted>
  <dcterms:created xsi:type="dcterms:W3CDTF">2022-06-03T05:02:51Z</dcterms:created>
  <dcterms:modified xsi:type="dcterms:W3CDTF">2026-06-04T00:58:08Z</dcterms:modified>
</cp:coreProperties>
</file>