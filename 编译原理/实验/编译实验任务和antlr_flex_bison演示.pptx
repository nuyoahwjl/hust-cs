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6"/>
  </p:notesMasterIdLst>
  <p:sldIdLst>
    <p:sldId id="7913" r:id="rId3"/>
    <p:sldId id="7912" r:id="rId4"/>
    <p:sldId id="7883" r:id="rId5"/>
    <p:sldId id="7915" r:id="rId6"/>
    <p:sldId id="7831" r:id="rId7"/>
    <p:sldId id="7914" r:id="rId8"/>
    <p:sldId id="7881" r:id="rId9"/>
    <p:sldId id="7916" r:id="rId10"/>
    <p:sldId id="714" r:id="rId11"/>
    <p:sldId id="7906" r:id="rId12"/>
    <p:sldId id="7907" r:id="rId13"/>
    <p:sldId id="7905" r:id="rId14"/>
    <p:sldId id="7917" r:id="rId15"/>
    <p:sldId id="7977" r:id="rId16"/>
    <p:sldId id="2257" r:id="rId17"/>
    <p:sldId id="7903" r:id="rId18"/>
    <p:sldId id="7904" r:id="rId19"/>
    <p:sldId id="7978" r:id="rId20"/>
    <p:sldId id="7908" r:id="rId21"/>
    <p:sldId id="7979" r:id="rId22"/>
    <p:sldId id="7918" r:id="rId23"/>
    <p:sldId id="7967" r:id="rId24"/>
    <p:sldId id="7966" r:id="rId25"/>
    <p:sldId id="7968" r:id="rId26"/>
    <p:sldId id="7969" r:id="rId27"/>
    <p:sldId id="7970" r:id="rId28"/>
    <p:sldId id="7971" r:id="rId29"/>
    <p:sldId id="7972" r:id="rId30"/>
    <p:sldId id="7973" r:id="rId31"/>
    <p:sldId id="7974" r:id="rId32"/>
    <p:sldId id="7975" r:id="rId33"/>
    <p:sldId id="7876" r:id="rId34"/>
    <p:sldId id="7895" r:id="rId35"/>
  </p:sldIdLst>
  <p:sldSz cx="12192000" cy="6858000"/>
  <p:notesSz cx="7099300" cy="10234295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序曲" id="{840728DA-CBF5-4864-8534-6E1284E11977}">
          <p14:sldIdLst>
            <p14:sldId id="7913"/>
            <p14:sldId id="7912"/>
            <p14:sldId id="7883"/>
            <p14:sldId id="7915"/>
            <p14:sldId id="7831"/>
            <p14:sldId id="7914"/>
            <p14:sldId id="7881"/>
            <p14:sldId id="7916"/>
            <p14:sldId id="714"/>
            <p14:sldId id="7906"/>
            <p14:sldId id="7907"/>
            <p14:sldId id="7905"/>
            <p14:sldId id="7917"/>
            <p14:sldId id="7977"/>
            <p14:sldId id="2257"/>
            <p14:sldId id="7903"/>
            <p14:sldId id="7904"/>
            <p14:sldId id="7978"/>
            <p14:sldId id="7908"/>
            <p14:sldId id="7979"/>
            <p14:sldId id="7918"/>
            <p14:sldId id="7967"/>
            <p14:sldId id="7966"/>
            <p14:sldId id="7968"/>
            <p14:sldId id="7969"/>
            <p14:sldId id="7970"/>
            <p14:sldId id="7971"/>
            <p14:sldId id="7972"/>
            <p14:sldId id="7973"/>
            <p14:sldId id="7974"/>
            <p14:sldId id="7975"/>
            <p14:sldId id="7876"/>
            <p14:sldId id="78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430" userDrawn="1">
          <p15:clr>
            <a:srgbClr val="A4A3A4"/>
          </p15:clr>
        </p15:guide>
        <p15:guide id="2" pos="3870" userDrawn="1">
          <p15:clr>
            <a:srgbClr val="A4A3A4"/>
          </p15:clr>
        </p15:guide>
        <p15:guide id="3" pos="432" userDrawn="1">
          <p15:clr>
            <a:srgbClr val="A4A3A4"/>
          </p15:clr>
        </p15:guide>
        <p15:guide id="5" orient="horz" pos="958" userDrawn="1">
          <p15:clr>
            <a:srgbClr val="A4A3A4"/>
          </p15:clr>
        </p15:guide>
        <p15:guide id="6" orient="horz" pos="731" userDrawn="1">
          <p15:clr>
            <a:srgbClr val="A4A3A4"/>
          </p15:clr>
        </p15:guide>
        <p15:guide id="8" orient="horz" pos="3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7C7E"/>
    <a:srgbClr val="19968B"/>
    <a:srgbClr val="148E42"/>
    <a:srgbClr val="0033CC"/>
    <a:srgbClr val="00FF00"/>
    <a:srgbClr val="3333FF"/>
    <a:srgbClr val="21C9B9"/>
    <a:srgbClr val="3B78FF"/>
    <a:srgbClr val="0C0C0C"/>
    <a:srgbClr val="3B68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710" autoAdjust="0"/>
    <p:restoredTop sz="95961" autoAdjust="0"/>
  </p:normalViewPr>
  <p:slideViewPr>
    <p:cSldViewPr snapToGrid="0" showGuides="1">
      <p:cViewPr varScale="1">
        <p:scale>
          <a:sx n="62" d="100"/>
          <a:sy n="62" d="100"/>
        </p:scale>
        <p:origin x="456" y="48"/>
      </p:cViewPr>
      <p:guideLst>
        <p:guide orient="horz" pos="3430"/>
        <p:guide pos="3870"/>
        <p:guide pos="432"/>
        <p:guide orient="horz" pos="958"/>
        <p:guide orient="horz" pos="731"/>
        <p:guide orient="horz" pos="3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gs" Target="tags/tag1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2800" b="0" i="0" u="none" strike="noStrike" kern="1200" spc="0" baseline="0">
                <a:solidFill>
                  <a:srgbClr val="244B61"/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2800" dirty="0">
                <a:solidFill>
                  <a:srgbClr val="244B61"/>
                </a:solidFill>
              </a:rPr>
              <a:t>成绩评定</a:t>
            </a:r>
            <a:endParaRPr lang="zh-CN" altLang="en-US" sz="2800" dirty="0">
              <a:solidFill>
                <a:srgbClr val="244B61"/>
              </a:solidFill>
            </a:endParaRPr>
          </a:p>
        </c:rich>
      </c:tx>
      <c:layout>
        <c:manualLayout>
          <c:xMode val="edge"/>
          <c:yMode val="edge"/>
          <c:x val="0.0134608622533741"/>
          <c:y val="0.025258323765786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成绩评定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0611073506801454"/>
                  <c:y val="-0.066514369400725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fld id="{7f89cd83-3837-45a6-bfc0-4c27684d01c8}" type="SERIESNAME">
                      <a:t>[SERIES NAME]</a:t>
                    </a:fld>
                    <a:r>
                      <a:t>,</a:t>
                    </a:r>
                    <a:fld id="{a017a63c-569b-4361-a0b3-7118879180b9}" type="VALUE">
                      <a:t>[VALUE]</a:t>
                    </a:fld>
                    <a:endParaRPr lang="zh-CN" altLang="en-US" sz="2400" b="0" i="0" u="none" strike="noStrike" baseline="0" dirty="0">
                      <a:solidFill>
                        <a:srgbClr val="0E7C7E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zh-CN" sz="2400" b="0" i="0" u="none" strike="noStrike" kern="1200" baseline="0">
                      <a:solidFill>
                        <a:srgbClr val="0E7C7E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9625854493349"/>
                      <c:h val="0.111458094144661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-0.00345373450680535"/>
                  <c:y val="0.0085987687245179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fld id="{89edf5e3-f23f-402c-9ce8-548cc6e2455f}" type="SERIESNAME">
                      <a:t>[SERIES NAME]</a:t>
                    </a:fld>
                    <a:r>
                      <a:t>,</a:t>
                    </a:r>
                    <a:fld id="{1b6f94dd-dc4f-4c8a-a073-74893ebc2661}" type="VALUE">
                      <a:t>[VALUE]</a:t>
                    </a:fld>
                    <a:endParaRPr lang="zh-CN" altLang="en-US" sz="2400" b="0" i="0" u="none" strike="noStrike" baseline="0" dirty="0">
                      <a:solidFill>
                        <a:srgbClr val="0E7C7E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zh-CN" sz="2400" b="0" i="0" u="none" strike="noStrike" kern="1200" baseline="0">
                      <a:solidFill>
                        <a:srgbClr val="0E7C7E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70959858086865"/>
                      <c:h val="0.077497129735935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.00741773335846129"/>
                  <c:y val="-0.0353190739217299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lang="zh-CN" sz="2400" b="0" i="0" u="none" strike="noStrike" kern="1200" baseline="0">
                        <a:solidFill>
                          <a:srgbClr val="0E7C7F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zh-CN" altLang="en-US" sz="2400" dirty="0">
                        <a:solidFill>
                          <a:srgbClr val="0E7C7F"/>
                        </a:solidFill>
                      </a:rPr>
                      <a:t>节点进度  </a:t>
                    </a:r>
                    <a:r>
                      <a:rPr lang="en-US" altLang="zh-CN" sz="2400" dirty="0">
                        <a:solidFill>
                          <a:srgbClr val="0E7C7F"/>
                        </a:solidFill>
                      </a:rPr>
                      <a:t>10</a:t>
                    </a:r>
                    <a:endParaRPr lang="en-US" altLang="zh-CN" sz="2400" dirty="0">
                      <a:solidFill>
                        <a:srgbClr val="0E7C7F"/>
                      </a:solid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2400" b="0" i="0" u="none" strike="noStrike" kern="1200" baseline="0">
                      <a:solidFill>
                        <a:srgbClr val="0E7C7F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6736217265101"/>
                      <c:h val="0.101435222434165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0"/>
            <c:showSerName val="1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实训评测</c:v>
                </c:pt>
                <c:pt idx="1">
                  <c:v>实验报告</c:v>
                </c:pt>
                <c:pt idx="2">
                  <c:v>节点进度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20</c:v>
                </c:pt>
                <c:pt idx="2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cad86f6-f285-48d1-90fe-f77eab7ab16d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DDD9FAD-0514-4934-AF60-548DC807C5C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B110F8FE-5AB9-4B43-AF23-42F879C7071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1182D"/>
              </a:clrFrom>
              <a:clrTo>
                <a:srgbClr val="01182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6" t="50499"/>
          <a:stretch>
            <a:fillRect/>
          </a:stretch>
        </p:blipFill>
        <p:spPr>
          <a:xfrm>
            <a:off x="6561" y="3618316"/>
            <a:ext cx="12192000" cy="3401364"/>
          </a:xfrm>
          <a:prstGeom prst="rect">
            <a:avLst/>
          </a:prstGeom>
        </p:spPr>
      </p:pic>
      <p:sp>
        <p:nvSpPr>
          <p:cNvPr id="17" name="矩形 16"/>
          <p:cNvSpPr/>
          <p:nvPr userDrawn="1"/>
        </p:nvSpPr>
        <p:spPr>
          <a:xfrm>
            <a:off x="6561" y="3239684"/>
            <a:ext cx="12192000" cy="345279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553138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2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812800" indent="-3556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2400">
                <a:solidFill>
                  <a:srgbClr val="1897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0585" y="364350"/>
            <a:ext cx="1554844" cy="353947"/>
          </a:xfrm>
          <a:prstGeom prst="rect">
            <a:avLst/>
          </a:prstGeom>
        </p:spPr>
      </p:pic>
      <p:sp>
        <p:nvSpPr>
          <p:cNvPr id="15" name="椭圆 14"/>
          <p:cNvSpPr/>
          <p:nvPr userDrawn="1"/>
        </p:nvSpPr>
        <p:spPr>
          <a:xfrm>
            <a:off x="11290928" y="6595549"/>
            <a:ext cx="246888" cy="246888"/>
          </a:xfrm>
          <a:prstGeom prst="ellipse">
            <a:avLst/>
          </a:prstGeom>
          <a:solidFill>
            <a:srgbClr val="18978B"/>
          </a:solidFill>
          <a:ln>
            <a:solidFill>
              <a:srgbClr val="138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7822" y="257614"/>
            <a:ext cx="10515600" cy="617641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244B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11430" y="6692474"/>
            <a:ext cx="12180570" cy="169469"/>
          </a:xfrm>
          <a:prstGeom prst="rect">
            <a:avLst/>
          </a:prstGeom>
          <a:solidFill>
            <a:srgbClr val="189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-1270" y="6692474"/>
            <a:ext cx="759220" cy="169469"/>
          </a:xfrm>
          <a:prstGeom prst="rect">
            <a:avLst/>
          </a:prstGeom>
          <a:solidFill>
            <a:srgbClr val="244B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 userDrawn="1"/>
        </p:nvSpPr>
        <p:spPr>
          <a:xfrm flipV="1">
            <a:off x="326571" y="359908"/>
            <a:ext cx="1386789" cy="432000"/>
          </a:xfrm>
          <a:custGeom>
            <a:avLst/>
            <a:gdLst>
              <a:gd name="connsiteX0" fmla="*/ 167822 w 1386790"/>
              <a:gd name="connsiteY0" fmla="*/ 524933 h 524933"/>
              <a:gd name="connsiteX1" fmla="*/ 168846 w 1386790"/>
              <a:gd name="connsiteY1" fmla="*/ 524933 h 524933"/>
              <a:gd name="connsiteX2" fmla="*/ 168846 w 1386790"/>
              <a:gd name="connsiteY2" fmla="*/ 14598 h 524933"/>
              <a:gd name="connsiteX3" fmla="*/ 1386790 w 1386790"/>
              <a:gd name="connsiteY3" fmla="*/ 14598 h 524933"/>
              <a:gd name="connsiteX4" fmla="*/ 1386790 w 1386790"/>
              <a:gd name="connsiteY4" fmla="*/ 0 h 524933"/>
              <a:gd name="connsiteX5" fmla="*/ 167822 w 1386790"/>
              <a:gd name="connsiteY5" fmla="*/ 0 h 524933"/>
              <a:gd name="connsiteX6" fmla="*/ 152999 w 1386790"/>
              <a:gd name="connsiteY6" fmla="*/ 0 h 524933"/>
              <a:gd name="connsiteX7" fmla="*/ 152999 w 1386790"/>
              <a:gd name="connsiteY7" fmla="*/ 507260 h 524933"/>
              <a:gd name="connsiteX8" fmla="*/ 107280 w 1386790"/>
              <a:gd name="connsiteY8" fmla="*/ 507260 h 524933"/>
              <a:gd name="connsiteX9" fmla="*/ 107280 w 1386790"/>
              <a:gd name="connsiteY9" fmla="*/ 0 h 524933"/>
              <a:gd name="connsiteX10" fmla="*/ 0 w 1386790"/>
              <a:gd name="connsiteY10" fmla="*/ 0 h 524933"/>
              <a:gd name="connsiteX11" fmla="*/ 0 w 1386790"/>
              <a:gd name="connsiteY11" fmla="*/ 524932 h 524933"/>
              <a:gd name="connsiteX12" fmla="*/ 33834 w 1386790"/>
              <a:gd name="connsiteY12" fmla="*/ 524932 h 524933"/>
              <a:gd name="connsiteX13" fmla="*/ 33834 w 1386790"/>
              <a:gd name="connsiteY13" fmla="*/ 23810 h 524933"/>
              <a:gd name="connsiteX14" fmla="*/ 79553 w 1386790"/>
              <a:gd name="connsiteY14" fmla="*/ 23810 h 524933"/>
              <a:gd name="connsiteX15" fmla="*/ 79553 w 1386790"/>
              <a:gd name="connsiteY15" fmla="*/ 524932 h 524933"/>
              <a:gd name="connsiteX16" fmla="*/ 167822 w 1386790"/>
              <a:gd name="connsiteY16" fmla="*/ 524932 h 52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189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1" name="灯片编号占位符 3"/>
          <p:cNvSpPr txBox="1"/>
          <p:nvPr userDrawn="1"/>
        </p:nvSpPr>
        <p:spPr>
          <a:xfrm>
            <a:off x="11268341" y="6589899"/>
            <a:ext cx="292061" cy="283147"/>
          </a:xfrm>
          <a:prstGeom prst="rect">
            <a:avLst/>
          </a:prstGeom>
        </p:spPr>
        <p:txBody>
          <a:bodyPr vert="horz" wrap="square" lIns="0" tIns="0" rIns="0" bIns="0" rtlCol="0" anchor="ctr" anchorCtr="1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183D58-648D-4475-BEF8-624F48514A30}" type="slidenum">
              <a:rPr lang="zh-CN" altLang="en-US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</a:fld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CCF1B-7B1A-C644-B031-CDCF7AE9481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B76-6D4A-D043-9FCE-C1FDFE2F9D3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​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539495" y="1435608"/>
            <a:ext cx="6669687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dirty="0"/>
              <a:t>二级</a:t>
            </a:r>
            <a:endParaRPr lang="zh-CN" altLang="en-US" dirty="0"/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dirty="0"/>
              <a:t>三级</a:t>
            </a:r>
            <a:endParaRPr lang="zh-CN" altLang="en-US" dirty="0"/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dirty="0"/>
              <a:t>四级</a:t>
            </a:r>
            <a:endParaRPr lang="zh-CN" altLang="en-US" dirty="0"/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2"/>
          </p:nvPr>
        </p:nvSpPr>
        <p:spPr>
          <a:xfrm>
            <a:off x="539496" y="631825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6646B47-A73D-4F6F-AD82-C99F4E62F746}" type="datetime2">
              <a:rPr lang="zh-CN" altLang="en-US" smtClean="0"/>
            </a:fld>
            <a:endParaRPr lang="en-US" dirty="0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48200" y="631825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8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371925" y="6318256"/>
            <a:ext cx="3558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860EDB8-5305-433F-BE41-D7A86D811DB3}" type="slidenum">
              <a:rPr lang="en-US" smtClean="0"/>
            </a:fld>
            <a:endParaRPr lang="en-US" dirty="0"/>
          </a:p>
        </p:txBody>
      </p:sp>
      <p:pic>
        <p:nvPicPr>
          <p:cNvPr id="9" name="图片 8" descr="徽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2213" y="84409"/>
            <a:ext cx="1323996" cy="10058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>
          <a:xfrm>
            <a:off x="8737600" y="6172200"/>
            <a:ext cx="28448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352E73-6586-482C-B492-E6FD81B4877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2B2F23B-AF66-41A9-897D-44609AD9DF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2F030DD-4EA3-4D16-8C1C-D1952208EE9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www.educoder.net/classrooms/VHDQX2CZ" TargetMode="External"/><Relationship Id="rId2" Type="http://schemas.openxmlformats.org/officeDocument/2006/relationships/hyperlink" Target="https://www.educoder.net/paths/r72isgp8" TargetMode="Externa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6" Type="http://schemas.openxmlformats.org/officeDocument/2006/relationships/hyperlink" Target="https://gitlab.eduxiji.net/educg-group-26172-2487152" TargetMode="External"/><Relationship Id="rId5" Type="http://schemas.openxmlformats.org/officeDocument/2006/relationships/hyperlink" Target="https://gitlab.eduxiji.net/educg-group-26173-2487151" TargetMode="External"/><Relationship Id="rId4" Type="http://schemas.openxmlformats.org/officeDocument/2006/relationships/hyperlink" Target="https://compiler.educg.net/#/oldDetail?name=2023%E5%85%A8%E5%9B%BD%E5%A4%A7%E5%AD%A6%E7%94%9F%E8%AE%A1%E7%AE%97%E6%9C%BA%E7%B3%BB%E7%BB%9F%E8%83%BD%E5%8A%9B%E5%A4%A7%E8%B5%9B%E7%BC%96%E8%AF%91%E7%B3%BB%E7%BB%9F%E8%AE%BE%E8%AE%A1%E8%B5%9B" TargetMode="External"/><Relationship Id="rId3" Type="http://schemas.openxmlformats.org/officeDocument/2006/relationships/hyperlink" Target="https://gitlab.eduxiji.net/csc1/nscscc/compiler2025" TargetMode="External"/><Relationship Id="rId2" Type="http://schemas.openxmlformats.org/officeDocument/2006/relationships/hyperlink" Target="https://compiler.educg.net/" TargetMode="Externa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gitlab.eduxiji.net/educg-group-26173-2487151/T202410003203847-1935" TargetMode="External"/><Relationship Id="rId2" Type="http://schemas.openxmlformats.org/officeDocument/2006/relationships/hyperlink" Target="https://gitlab.eduxiji.net/educg-group-36291-2935673/T202510614205974-2563" TargetMode="External"/><Relationship Id="rId1" Type="http://schemas.openxmlformats.org/officeDocument/2006/relationships/hyperlink" Target="https://github.com/WyW2357/sysy-compiler" TargetMode="Externa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hyperlink" Target="https://en.wikipedia.org/wiki/Help:IPA/English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educoder.net/classrooms/VHDQX2CZ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jpe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www.llvm.org/" TargetMode="External"/><Relationship Id="rId3" Type="http://schemas.openxmlformats.org/officeDocument/2006/relationships/hyperlink" Target="https://www.antlr.org/" TargetMode="External"/><Relationship Id="rId2" Type="http://schemas.openxmlformats.org/officeDocument/2006/relationships/hyperlink" Target="https://godbolt.org/" TargetMode="External"/><Relationship Id="rId1" Type="http://schemas.openxmlformats.org/officeDocument/2006/relationships/hyperlink" Target="https://www.educoder.ne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77457" y="1962363"/>
            <a:ext cx="51090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/>
              <a:t>编译实验任务说明</a:t>
            </a:r>
            <a:endParaRPr lang="zh-CN" altLang="en-US" sz="4800" dirty="0"/>
          </a:p>
        </p:txBody>
      </p:sp>
      <p:sp>
        <p:nvSpPr>
          <p:cNvPr id="3" name="文本框 2"/>
          <p:cNvSpPr txBox="1"/>
          <p:nvPr/>
        </p:nvSpPr>
        <p:spPr>
          <a:xfrm>
            <a:off x="4859533" y="4064641"/>
            <a:ext cx="1705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2026</a:t>
            </a:r>
            <a:r>
              <a:rPr lang="zh-CN" altLang="en-US" sz="2400" dirty="0"/>
              <a:t>年</a:t>
            </a:r>
            <a:r>
              <a:rPr lang="en-US" altLang="zh-CN" sz="2400" dirty="0"/>
              <a:t>4</a:t>
            </a:r>
            <a:r>
              <a:rPr lang="zh-CN" altLang="en-US" sz="2400" dirty="0"/>
              <a:t>月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87822" y="951996"/>
            <a:ext cx="11031078" cy="3363150"/>
          </a:xfrm>
        </p:spPr>
        <p:txBody>
          <a:bodyPr/>
          <a:lstStyle/>
          <a:p>
            <a:r>
              <a:rPr lang="zh-CN" altLang="en-US" dirty="0"/>
              <a:t>实现一个</a:t>
            </a:r>
            <a:r>
              <a:rPr lang="en-US" altLang="zh-CN" dirty="0"/>
              <a:t>SYSY</a:t>
            </a:r>
            <a:r>
              <a:rPr lang="zh-CN" altLang="en-US" dirty="0"/>
              <a:t>语言的编译器，并完成实验报告</a:t>
            </a:r>
            <a:endParaRPr lang="en-US" altLang="zh-CN" dirty="0"/>
          </a:p>
          <a:p>
            <a:r>
              <a:rPr lang="zh-CN" altLang="en-US" dirty="0"/>
              <a:t>途径</a:t>
            </a:r>
            <a:endParaRPr lang="en-US" altLang="zh-CN" dirty="0"/>
          </a:p>
          <a:p>
            <a:pPr lvl="1"/>
            <a:r>
              <a:rPr lang="zh-CN" altLang="en-US" dirty="0"/>
              <a:t>头歌平台在线</a:t>
            </a:r>
            <a:r>
              <a:rPr lang="en-US" altLang="zh-CN" dirty="0"/>
              <a:t>6</a:t>
            </a:r>
            <a:r>
              <a:rPr lang="zh-CN" altLang="en-US" dirty="0"/>
              <a:t>个实验，分阶段完成，自动评测</a:t>
            </a:r>
            <a:endParaRPr lang="en-US" altLang="zh-CN" dirty="0"/>
          </a:p>
          <a:p>
            <a:pPr lvl="1"/>
            <a:r>
              <a:rPr lang="zh-CN" altLang="en-US" dirty="0"/>
              <a:t>线下实现一个完整编译器，手工评测，工具，语言，目标平台自选</a:t>
            </a:r>
            <a:endParaRPr lang="en-US" altLang="zh-CN" dirty="0"/>
          </a:p>
          <a:p>
            <a:pPr lvl="1"/>
            <a:r>
              <a:rPr lang="zh-CN" altLang="en-US" dirty="0"/>
              <a:t>特别招募：</a:t>
            </a:r>
            <a:r>
              <a:rPr lang="en-US" altLang="zh-CN" dirty="0"/>
              <a:t>RUST</a:t>
            </a:r>
            <a:r>
              <a:rPr lang="zh-CN" altLang="en-US" dirty="0"/>
              <a:t>语言， 鲲鹏架构</a:t>
            </a:r>
            <a:r>
              <a:rPr lang="en-US" altLang="zh-CN" dirty="0"/>
              <a:t>(aarch64</a:t>
            </a:r>
            <a:r>
              <a:rPr lang="zh-CN" altLang="en-US" dirty="0"/>
              <a:t>兼容</a:t>
            </a:r>
            <a:r>
              <a:rPr lang="en-US" altLang="zh-CN" dirty="0"/>
              <a:t>)</a:t>
            </a:r>
            <a:r>
              <a:rPr lang="zh-CN" altLang="en-US" dirty="0"/>
              <a:t>，手工评测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325366" y="4391887"/>
            <a:ext cx="86442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Rust</a:t>
            </a:r>
            <a:r>
              <a:rPr lang="zh-CN" altLang="en-US" sz="2000" dirty="0"/>
              <a:t>基金会的白金创始成员之一（谷歌、微软、亚马逊等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r>
              <a:rPr lang="zh-CN" altLang="en-US" sz="2000" dirty="0"/>
              <a:t>国内唯一的创始成员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内容占位符 5"/>
          <p:cNvGraphicFramePr>
            <a:graphicFrameLocks noGrp="1"/>
          </p:cNvGraphicFramePr>
          <p:nvPr>
            <p:ph idx="1"/>
          </p:nvPr>
        </p:nvGraphicFramePr>
        <p:xfrm>
          <a:off x="487822" y="1069536"/>
          <a:ext cx="11031537" cy="5530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成绩评定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389370" y="1543050"/>
            <a:ext cx="31566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每迟交一个实验代码扣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分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287366" y="1251850"/>
          <a:ext cx="9388253" cy="217715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523360"/>
                <a:gridCol w="1807377"/>
                <a:gridCol w="1714201"/>
                <a:gridCol w="1488559"/>
                <a:gridCol w="1388648"/>
                <a:gridCol w="1466108"/>
              </a:tblGrid>
              <a:tr h="113940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altLang="en-US" sz="20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评分项目</a:t>
                      </a:r>
                      <a:endParaRPr lang="zh-CN" alt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zh-CN" altLang="en-US" sz="20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（分值）</a:t>
                      </a:r>
                      <a:endParaRPr lang="zh-CN" alt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altLang="en-US" sz="2000" kern="1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课程目标</a:t>
                      </a:r>
                      <a:r>
                        <a:rPr lang="en-US" altLang="zh-CN" sz="2000" kern="1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zh-CN" altLang="en-US" sz="20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20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zh-CN" altLang="en-US" sz="20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分）</a:t>
                      </a:r>
                      <a:endParaRPr lang="zh-CN" alt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alt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课程目标</a:t>
                      </a:r>
                      <a:r>
                        <a:rPr lang="en-US" alt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zh-CN" altLang="en-US" sz="2000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2000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40</a:t>
                      </a:r>
                      <a:r>
                        <a:rPr lang="zh-CN" altLang="en-US" sz="2000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分）</a:t>
                      </a:r>
                      <a:endParaRPr lang="zh-CN" altLang="en-US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altLang="en-US" sz="2000" kern="1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课程目标</a:t>
                      </a:r>
                      <a:r>
                        <a:rPr lang="en-US" altLang="zh-CN" sz="2000" kern="1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zh-CN" altLang="en-US" sz="20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20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30</a:t>
                      </a:r>
                      <a:r>
                        <a:rPr lang="zh-CN" altLang="en-US" sz="20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分）</a:t>
                      </a:r>
                      <a:endParaRPr lang="zh-CN" alt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altLang="en-US" sz="2000" kern="1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课程目标</a:t>
                      </a:r>
                      <a:r>
                        <a:rPr lang="en-US" altLang="zh-CN" sz="2000" kern="1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zh-CN" altLang="en-US" sz="20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20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zh-CN" altLang="en-US" sz="20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分）</a:t>
                      </a:r>
                      <a:endParaRPr lang="zh-CN" alt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altLang="en-US" sz="2000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最终评定</a:t>
                      </a:r>
                      <a:endParaRPr lang="zh-CN" altLang="en-US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zh-CN" altLang="en-US" sz="2000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2000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zh-CN" altLang="en-US" sz="2000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分）</a:t>
                      </a:r>
                      <a:endParaRPr lang="zh-CN" altLang="en-US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3774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altLang="en-US" sz="20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得分</a:t>
                      </a:r>
                      <a:endParaRPr lang="zh-CN" alt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fr-FR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fr-FR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fr-FR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fr-FR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fr-FR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综合评价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559299" y="3805595"/>
          <a:ext cx="6116320" cy="2745391"/>
        </p:xfrm>
        <a:graphic>
          <a:graphicData uri="http://schemas.openxmlformats.org/drawingml/2006/table">
            <a:tbl>
              <a:tblPr/>
              <a:tblGrid>
                <a:gridCol w="1239145"/>
                <a:gridCol w="4877175"/>
              </a:tblGrid>
              <a:tr h="303562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CN" altLang="en-US" sz="1050" b="1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课程目标</a:t>
                      </a:r>
                      <a:endParaRPr lang="zh-CN" altLang="en-US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CN" altLang="en-US" sz="1050" b="1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支撑的毕业要求二级指标点</a:t>
                      </a:r>
                      <a:endParaRPr lang="zh-CN" altLang="en-US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6"/>
                    </a:solidFill>
                  </a:tcPr>
                </a:tc>
              </a:tr>
              <a:tr h="521417">
                <a:tc>
                  <a:txBody>
                    <a:bodyPr/>
                    <a:lstStyle/>
                    <a:p>
                      <a:pPr indent="2540" algn="ctr"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CN" altLang="en-US" sz="1050" b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课程目标</a:t>
                      </a:r>
                      <a:r>
                        <a:rPr lang="en-US" altLang="zh-CN" sz="1050" b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indent="-6350" algn="just"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zh-CN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3.3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能为计算机复杂工程问题解决方案进行软、硬件系统和应用系统设计，并能在设计中体现创新意识。</a:t>
                      </a:r>
                      <a:endParaRPr lang="zh-CN" altLang="en-US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2502">
                <a:tc>
                  <a:txBody>
                    <a:bodyPr/>
                    <a:lstStyle/>
                    <a:p>
                      <a:pPr indent="2540" algn="ctr"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CN" altLang="en-US" sz="1050" b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课程目标</a:t>
                      </a:r>
                      <a:r>
                        <a:rPr lang="en-US" altLang="zh-CN" sz="1050" b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indent="-6350" algn="just"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zh-CN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4.3</a:t>
                      </a:r>
                      <a:r>
                        <a:rPr lang="zh-CN" altLang="en-US" sz="11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能对实验结果进行理论分析，对实验现象进行解释，并能通过信息综合得到合理有效的结论。</a:t>
                      </a:r>
                      <a:endParaRPr lang="zh-CN" altLang="en-US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9490">
                <a:tc>
                  <a:txBody>
                    <a:bodyPr/>
                    <a:lstStyle/>
                    <a:p>
                      <a:pPr indent="2540" algn="ctr"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CN" altLang="en-US" sz="1050" b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课程目标</a:t>
                      </a:r>
                      <a:r>
                        <a:rPr lang="en-US" altLang="zh-CN" sz="1050" b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zh-CN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5.2</a:t>
                      </a:r>
                      <a:r>
                        <a:rPr lang="zh-CN" altLang="en-US" sz="11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能根据计算机领域复杂工程问题解决方案的特定对象特征，选择研究路线，设计实验方案、构建实验系统，并进行实验和正确采集实验数据</a:t>
                      </a:r>
                      <a:endParaRPr lang="zh-CN" altLang="en-US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8420">
                <a:tc>
                  <a:txBody>
                    <a:bodyPr/>
                    <a:lstStyle/>
                    <a:p>
                      <a:pPr indent="2540" algn="ctr"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CN" altLang="en-US" sz="1050" b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课程目标</a:t>
                      </a:r>
                      <a:r>
                        <a:rPr lang="en-US" altLang="zh-CN" sz="1050" b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zh-CN" sz="105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r>
                        <a:rPr lang="en-US" altLang="zh-CN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05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05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能就专业问题，以口头、文稿、图表等方式，准确表达自己的观点，回应质疑</a:t>
                      </a:r>
                      <a:r>
                        <a:rPr lang="en-US" altLang="zh-CN" sz="105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,</a:t>
                      </a:r>
                      <a:r>
                        <a:rPr lang="zh-CN" altLang="en-US" sz="105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理解与同行和社会公众等不同对象及不同方式交流的差异性</a:t>
                      </a:r>
                      <a:endParaRPr lang="zh-CN" altLang="en-US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366" y="3805594"/>
            <a:ext cx="1941375" cy="27453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头歌平台</a:t>
            </a:r>
            <a:endParaRPr lang="zh-CN" altLang="en-US" dirty="0"/>
          </a:p>
        </p:txBody>
      </p:sp>
      <p:pic>
        <p:nvPicPr>
          <p:cNvPr id="4" name="图片 3" descr="徽标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8980" y="118656"/>
            <a:ext cx="895555" cy="8955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2447" y="1189355"/>
            <a:ext cx="11447106" cy="1538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buClr>
                <a:srgbClr val="0E7C7F"/>
              </a:buClr>
            </a:pPr>
            <a:r>
              <a:rPr lang="zh-CN" altLang="en-US" sz="2400" dirty="0">
                <a:solidFill>
                  <a:srgbClr val="19968B"/>
                </a:solidFill>
                <a:latin typeface="+mn-ea"/>
                <a:sym typeface="Arial" panose="020B0604020202020204" pitchFamily="34" charset="0"/>
              </a:rPr>
              <a:t>编译原理</a:t>
            </a:r>
            <a:r>
              <a:rPr lang="en-US" altLang="zh-CN" sz="2400" dirty="0">
                <a:solidFill>
                  <a:srgbClr val="19968B"/>
                </a:solidFill>
                <a:latin typeface="+mn-ea"/>
                <a:sym typeface="Arial" panose="020B0604020202020204" pitchFamily="34" charset="0"/>
              </a:rPr>
              <a:t>:</a:t>
            </a:r>
            <a:r>
              <a:rPr lang="zh-CN" altLang="en-US" sz="2400" dirty="0">
                <a:solidFill>
                  <a:srgbClr val="19968B"/>
                </a:solidFill>
                <a:latin typeface="+mn-ea"/>
                <a:sym typeface="Arial" panose="020B0604020202020204" pitchFamily="34" charset="0"/>
              </a:rPr>
              <a:t>   </a:t>
            </a:r>
            <a:r>
              <a:rPr lang="fr-FR" altLang="zh-CN" sz="2400" dirty="0">
                <a:solidFill>
                  <a:srgbClr val="19968B"/>
                </a:solidFill>
                <a:latin typeface="+mn-ea"/>
                <a:sym typeface="Arial" panose="020B0604020202020204" pitchFamily="34" charset="0"/>
                <a:hlinkClick r:id="rId2"/>
              </a:rPr>
              <a:t>https://www.educoder.net/paths/r72isgp8</a:t>
            </a:r>
            <a:endParaRPr lang="fr-FR" altLang="zh-CN" sz="2400" dirty="0">
              <a:solidFill>
                <a:srgbClr val="19968B"/>
              </a:solidFill>
              <a:latin typeface="+mn-ea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Clr>
                <a:srgbClr val="0E7C7F"/>
              </a:buClr>
            </a:pPr>
            <a:r>
              <a:rPr lang="zh-CN" altLang="en-US" sz="2400" dirty="0">
                <a:solidFill>
                  <a:srgbClr val="19968B"/>
                </a:solidFill>
                <a:latin typeface="+mn-ea"/>
                <a:sym typeface="Arial" panose="020B0604020202020204" pitchFamily="34" charset="0"/>
              </a:rPr>
              <a:t>编译原理实验课堂：</a:t>
            </a:r>
            <a:r>
              <a:rPr lang="fr-FR" altLang="zh-CN" sz="2400" dirty="0">
                <a:solidFill>
                  <a:srgbClr val="19968B"/>
                </a:solidFill>
                <a:latin typeface="+mn-ea"/>
                <a:sym typeface="Arial" panose="020B0604020202020204" pitchFamily="34" charset="0"/>
                <a:hlinkClick r:id="rId3"/>
              </a:rPr>
              <a:t>https://www.educoder.net/classrooms/VHDQX2CZ</a:t>
            </a:r>
            <a:endParaRPr lang="fr-FR" altLang="zh-CN" sz="2400" dirty="0">
              <a:solidFill>
                <a:srgbClr val="19968B"/>
              </a:solidFill>
              <a:latin typeface="+mn-ea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Clr>
                <a:srgbClr val="0E7C7F"/>
              </a:buClr>
            </a:pPr>
            <a:r>
              <a:rPr lang="zh-CN" altLang="en-US" sz="2400" dirty="0">
                <a:solidFill>
                  <a:srgbClr val="19968B"/>
                </a:solidFill>
                <a:latin typeface="+mn-ea"/>
                <a:sym typeface="Arial" panose="020B0604020202020204" pitchFamily="34" charset="0"/>
              </a:rPr>
              <a:t>实验分班</a:t>
            </a:r>
            <a:r>
              <a:rPr lang="en-US" altLang="zh-CN" sz="2400" dirty="0">
                <a:solidFill>
                  <a:srgbClr val="19968B"/>
                </a:solidFill>
                <a:latin typeface="+mn-ea"/>
                <a:sym typeface="Arial" panose="020B0604020202020204" pitchFamily="34" charset="0"/>
              </a:rPr>
              <a:t>:</a:t>
            </a:r>
            <a:r>
              <a:rPr lang="fr-FR" altLang="zh-CN" sz="2400" dirty="0">
                <a:solidFill>
                  <a:srgbClr val="19968B"/>
                </a:solidFill>
                <a:latin typeface="+mn-ea"/>
                <a:sym typeface="Arial" panose="020B0604020202020204" pitchFamily="34" charset="0"/>
              </a:rPr>
              <a:t> </a:t>
            </a:r>
            <a:endParaRPr lang="fr-FR" altLang="zh-CN" sz="2400" dirty="0">
              <a:solidFill>
                <a:srgbClr val="19968B"/>
              </a:solidFill>
              <a:latin typeface="+mn-ea"/>
              <a:sym typeface="Arial" panose="020B0604020202020204" pitchFamily="34" charset="0"/>
            </a:endParaRPr>
          </a:p>
        </p:txBody>
      </p:sp>
      <p:graphicFrame>
        <p:nvGraphicFramePr>
          <p:cNvPr id="5" name="表格 49"/>
          <p:cNvGraphicFramePr>
            <a:graphicFrameLocks noGrp="1"/>
          </p:cNvGraphicFramePr>
          <p:nvPr/>
        </p:nvGraphicFramePr>
        <p:xfrm>
          <a:off x="1909200" y="2902741"/>
          <a:ext cx="3409809" cy="2380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459"/>
                <a:gridCol w="1657350"/>
              </a:tblGrid>
              <a:tr h="340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6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班级</a:t>
                      </a:r>
                      <a:endParaRPr kumimoji="1" lang="zh-CN" altLang="en-US" sz="16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6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邀请码</a:t>
                      </a:r>
                      <a:endParaRPr kumimoji="1" lang="zh-CN" altLang="en-US" sz="16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</a:tr>
              <a:tr h="340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计算机</a:t>
                      </a:r>
                      <a:r>
                        <a:rPr kumimoji="1" lang="en-US" altLang="zh-CN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2301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WJDCBT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计算机</a:t>
                      </a:r>
                      <a:r>
                        <a:rPr kumimoji="1" lang="en-US" altLang="zh-CN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2302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NKQ3FJ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计算机</a:t>
                      </a:r>
                      <a:r>
                        <a:rPr kumimoji="1" lang="en-US" altLang="zh-CN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2303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RDNGXJ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计算机</a:t>
                      </a:r>
                      <a:r>
                        <a:rPr kumimoji="1" lang="en-US" altLang="zh-CN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2304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NJ5PLD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计算机</a:t>
                      </a:r>
                      <a:r>
                        <a:rPr kumimoji="1" lang="en-US" altLang="zh-CN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2305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8UG9T5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计算机</a:t>
                      </a:r>
                      <a:r>
                        <a:rPr kumimoji="1" lang="en-US" altLang="zh-CN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2306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VOURGT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49"/>
          <p:cNvGraphicFramePr>
            <a:graphicFrameLocks noGrp="1"/>
          </p:cNvGraphicFramePr>
          <p:nvPr/>
        </p:nvGraphicFramePr>
        <p:xfrm>
          <a:off x="5666954" y="2902741"/>
          <a:ext cx="4068939" cy="139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1296"/>
                <a:gridCol w="1627643"/>
              </a:tblGrid>
              <a:tr h="3227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6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班级</a:t>
                      </a:r>
                      <a:endParaRPr kumimoji="1" lang="zh-CN" altLang="en-US" sz="16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6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邀请码</a:t>
                      </a:r>
                      <a:endParaRPr kumimoji="1" lang="zh-CN" altLang="en-US" sz="16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</a:tr>
              <a:tr h="353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计算机</a:t>
                      </a:r>
                      <a:r>
                        <a:rPr kumimoji="1" lang="en-US" altLang="zh-CN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2307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KJBZSY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计卓</a:t>
                      </a:r>
                      <a:r>
                        <a:rPr kumimoji="1" lang="en-US" altLang="zh-CN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2301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LN75CT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本硕博贯通</a:t>
                      </a:r>
                      <a:r>
                        <a:rPr lang="en-US" altLang="zh-CN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2301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NZPMJ5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实验进度安排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052387" y="1063048"/>
          <a:ext cx="9725203" cy="511483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089545"/>
                <a:gridCol w="3470405"/>
                <a:gridCol w="746541"/>
                <a:gridCol w="1049192"/>
                <a:gridCol w="1735202"/>
                <a:gridCol w="1634318"/>
              </a:tblGrid>
              <a:tr h="2764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实验内容</a:t>
                      </a:r>
                      <a:endParaRPr lang="zh-CN" alt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分值 </a:t>
                      </a:r>
                      <a:endParaRPr lang="zh-CN" alt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时间分配</a:t>
                      </a:r>
                      <a:endParaRPr lang="zh-CN" alt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说明</a:t>
                      </a:r>
                      <a:endParaRPr lang="zh-CN" alt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截止日期</a:t>
                      </a:r>
                      <a:endParaRPr lang="zh-CN" alt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</a:tr>
              <a:tr h="294263">
                <a:tc rowSpan="5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实验一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工具、语言与平台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1W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1-3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与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1-4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任选一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2026/5/10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429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1-1 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编译工具链的使用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276429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1-2 SysY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语言及运行时库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276429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1-3 ARM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平台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276429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1-4 RISCV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平台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294263">
                <a:tc rowSpan="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实验二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词法分析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1W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任选一个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2026/5/17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429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2-1 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基于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flex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的词法分析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(C++)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276429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2-2 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基于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ANTLR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的词法分析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(C++)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26490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2-3 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基于</a:t>
                      </a: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ANTLR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的词法分析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JAVA)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294263"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实验三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语法分析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1W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任选一个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2026/5/24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429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3-1 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基于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flex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的语法分析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(C++)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276429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3-2 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基于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ANTLR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的语法分析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(C++)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2942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实验四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静态语义检查 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2W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2026/6/7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2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实验五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中间代码生成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2W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2026/6/21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263"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实验六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目标代码生成</a:t>
                      </a:r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基于</a:t>
                      </a:r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LLVM)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1W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任选一个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2026/6/28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429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6-1 arm32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代码生成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285345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6-2 riscv64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代码生成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267204" y="2718555"/>
            <a:ext cx="3024707" cy="3691055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大赛时刻</a:t>
            </a:r>
            <a:endParaRPr lang="en-US" altLang="zh-CN" sz="1600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大赛章程与技术方案</a:t>
            </a:r>
            <a:endParaRPr lang="en-US" altLang="zh-CN" sz="1600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大赛要求与比赛内容</a:t>
            </a:r>
            <a:endParaRPr lang="en-US" altLang="zh-CN" sz="1600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提交方式</a:t>
            </a:r>
            <a:endParaRPr lang="en-US" altLang="zh-CN" sz="1600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优秀作品开源</a:t>
            </a:r>
            <a:endParaRPr lang="en-US" altLang="zh-CN" sz="1600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技术报告</a:t>
            </a:r>
            <a:endParaRPr lang="en-US" altLang="zh-CN" sz="1600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技术支持</a:t>
            </a:r>
            <a:endParaRPr lang="en-US" altLang="zh-CN" sz="1600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等级评定标准</a:t>
            </a:r>
            <a:endParaRPr lang="en-US" altLang="zh-CN" sz="1600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技术参考</a:t>
            </a:r>
            <a:endParaRPr lang="en-US" altLang="zh-CN" sz="1600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常见问题</a:t>
            </a:r>
            <a:endParaRPr lang="zh-CN" altLang="en-US" sz="1600" b="0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全国大学生计算系统能力大赛编译系统设计赛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38" y="1185462"/>
            <a:ext cx="4439478" cy="97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161838" y="2169675"/>
            <a:ext cx="35126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hlinkClick r:id="rId2"/>
              </a:rPr>
              <a:t>https://compiler.educg.net</a:t>
            </a:r>
            <a:endParaRPr lang="zh-CN" altLang="en-US" sz="2000" dirty="0"/>
          </a:p>
        </p:txBody>
      </p:sp>
      <p:sp>
        <p:nvSpPr>
          <p:cNvPr id="3" name="文本框 2"/>
          <p:cNvSpPr txBox="1"/>
          <p:nvPr/>
        </p:nvSpPr>
        <p:spPr>
          <a:xfrm>
            <a:off x="3184944" y="3491838"/>
            <a:ext cx="819265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+mn-ea"/>
              </a:rPr>
              <a:t>Sysy</a:t>
            </a:r>
            <a:r>
              <a:rPr lang="zh-CN" altLang="en-US" dirty="0">
                <a:latin typeface="+mn-ea"/>
              </a:rPr>
              <a:t>语言定义、测试用例和运行时库：</a:t>
            </a:r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  <a:hlinkClick r:id="rId3"/>
              </a:rPr>
              <a:t>https://gitlab.eduxiji.net/csc1/nscscc/compiler2025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两个赛道的优秀作品开源：</a:t>
            </a:r>
            <a:endParaRPr lang="fr-FR" altLang="zh-CN" dirty="0">
              <a:latin typeface="+mn-ea"/>
            </a:endParaRPr>
          </a:p>
          <a:p>
            <a:r>
              <a:rPr lang="fr-FR" altLang="zh-CN" dirty="0">
                <a:solidFill>
                  <a:srgbClr val="0033CC"/>
                </a:solidFill>
                <a:hlinkClick r:id="rId4"/>
              </a:rPr>
              <a:t>https://compiler.educg.net/#/oldDetail?name=2025</a:t>
            </a:r>
            <a:r>
              <a:rPr lang="zh-CN" altLang="en-US" dirty="0">
                <a:solidFill>
                  <a:srgbClr val="0033CC"/>
                </a:solidFill>
                <a:hlinkClick r:id="rId4"/>
              </a:rPr>
              <a:t>全国大学生计算机系统能力大赛编译系统设计赛</a:t>
            </a:r>
            <a:endParaRPr lang="en-US" altLang="zh-CN" dirty="0">
              <a:solidFill>
                <a:srgbClr val="0033CC"/>
              </a:solidFill>
            </a:endParaRPr>
          </a:p>
          <a:p>
            <a:endParaRPr lang="en-US" altLang="zh-CN" dirty="0">
              <a:solidFill>
                <a:srgbClr val="0033CC"/>
              </a:solidFill>
            </a:endParaRPr>
          </a:p>
          <a:p>
            <a:r>
              <a:rPr lang="en-US" altLang="zh-CN" dirty="0"/>
              <a:t>2024</a:t>
            </a:r>
            <a:r>
              <a:rPr lang="zh-CN" altLang="en-US" dirty="0"/>
              <a:t>决赛作品：</a:t>
            </a:r>
            <a:endParaRPr lang="en-US" altLang="zh-CN" dirty="0"/>
          </a:p>
          <a:p>
            <a:r>
              <a:rPr lang="en-US" altLang="zh-CN" dirty="0">
                <a:solidFill>
                  <a:srgbClr val="0033CC"/>
                </a:solidFill>
              </a:rPr>
              <a:t>RISCV </a:t>
            </a:r>
            <a:r>
              <a:rPr lang="en-US" altLang="zh-CN" dirty="0">
                <a:solidFill>
                  <a:srgbClr val="0033CC"/>
                </a:solidFill>
                <a:hlinkClick r:id="rId5"/>
              </a:rPr>
              <a:t>https://gitlab.eduxiji.net/educg-group-26173-2487151</a:t>
            </a:r>
            <a:endParaRPr lang="en-US" altLang="zh-CN" dirty="0">
              <a:solidFill>
                <a:srgbClr val="0033CC"/>
              </a:solidFill>
            </a:endParaRPr>
          </a:p>
          <a:p>
            <a:r>
              <a:rPr lang="en-US" altLang="zh-CN" dirty="0">
                <a:solidFill>
                  <a:srgbClr val="0033CC"/>
                </a:solidFill>
              </a:rPr>
              <a:t>ARM   </a:t>
            </a:r>
            <a:r>
              <a:rPr lang="en-US" altLang="zh-CN" dirty="0">
                <a:solidFill>
                  <a:srgbClr val="0033CC"/>
                </a:solidFill>
                <a:hlinkClick r:id="rId6"/>
              </a:rPr>
              <a:t>https://gitlab.eduxiji.net/educg-group-26172-2487152</a:t>
            </a:r>
            <a:endParaRPr lang="en-US" altLang="zh-CN" dirty="0">
              <a:solidFill>
                <a:srgbClr val="0033CC"/>
              </a:solidFill>
            </a:endParaRPr>
          </a:p>
          <a:p>
            <a:endParaRPr lang="en-US" altLang="zh-CN" dirty="0">
              <a:solidFill>
                <a:srgbClr val="0033CC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328" y="1031203"/>
            <a:ext cx="4099214" cy="22773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RUST</a:t>
            </a:r>
            <a:r>
              <a:rPr lang="zh-CN" altLang="en-US" dirty="0"/>
              <a:t>语言，</a:t>
            </a:r>
            <a:r>
              <a:rPr lang="en-US" altLang="zh-CN" dirty="0"/>
              <a:t>ARM64</a:t>
            </a:r>
            <a:r>
              <a:rPr lang="zh-CN" altLang="en-US" dirty="0"/>
              <a:t>后端 </a:t>
            </a:r>
            <a:endParaRPr lang="en-US" altLang="zh-CN" dirty="0"/>
          </a:p>
          <a:p>
            <a:pPr lvl="1"/>
            <a:r>
              <a:rPr lang="zh-CN" altLang="en-US" dirty="0"/>
              <a:t>教学版</a:t>
            </a:r>
            <a:endParaRPr lang="en-US" altLang="zh-CN" dirty="0"/>
          </a:p>
          <a:p>
            <a:pPr marL="469900" lvl="1" indent="0">
              <a:buNone/>
            </a:pPr>
            <a:r>
              <a:rPr lang="fr-FR" altLang="zh-CN" sz="2100" dirty="0">
                <a:hlinkClick r:id="rId1"/>
              </a:rPr>
              <a:t> https://github.com/WyW2357/sysy-compiler</a:t>
            </a:r>
            <a:endParaRPr lang="fr-FR" altLang="zh-CN" sz="2100" dirty="0"/>
          </a:p>
          <a:p>
            <a:pPr lvl="1"/>
            <a:r>
              <a:rPr lang="en-US" altLang="zh-CN" dirty="0"/>
              <a:t>2025</a:t>
            </a:r>
            <a:r>
              <a:rPr lang="zh-CN" altLang="en-US" dirty="0"/>
              <a:t>编译赛 电子科技大学</a:t>
            </a:r>
            <a:endParaRPr lang="en-US" altLang="zh-CN" dirty="0"/>
          </a:p>
          <a:p>
            <a:pPr marL="457200" lvl="1" indent="0">
              <a:buNone/>
            </a:pPr>
            <a:r>
              <a:rPr lang="fr-FR" altLang="zh-CN" sz="2000" dirty="0">
                <a:hlinkClick r:id="rId2"/>
              </a:rPr>
              <a:t>https://gitlab.eduxiji.net/educg-group-36291-2935673/T202510614205974-2563</a:t>
            </a:r>
            <a:endParaRPr lang="fr-FR" altLang="zh-CN" sz="2000" dirty="0"/>
          </a:p>
          <a:p>
            <a:pPr marL="444500" indent="-457200"/>
            <a:r>
              <a:rPr lang="en-US" altLang="zh-CN" dirty="0"/>
              <a:t>RUST</a:t>
            </a:r>
            <a:r>
              <a:rPr lang="zh-CN" altLang="en-US" dirty="0"/>
              <a:t>语言，</a:t>
            </a:r>
            <a:r>
              <a:rPr lang="en-US" altLang="zh-CN" dirty="0"/>
              <a:t>RISCV64</a:t>
            </a:r>
            <a:r>
              <a:rPr lang="zh-CN" altLang="en-US" dirty="0"/>
              <a:t>后端</a:t>
            </a:r>
            <a:endParaRPr lang="en-US" altLang="zh-CN" dirty="0"/>
          </a:p>
          <a:p>
            <a:pPr lvl="1"/>
            <a:r>
              <a:rPr lang="en-US" altLang="zh-CN" dirty="0"/>
              <a:t>2024</a:t>
            </a:r>
            <a:r>
              <a:rPr lang="zh-CN" altLang="en-US" dirty="0"/>
              <a:t>编译赛南开大学</a:t>
            </a:r>
            <a:endParaRPr lang="en-US" altLang="zh-CN" dirty="0"/>
          </a:p>
          <a:p>
            <a:pPr marL="469900" lvl="1" indent="-12700">
              <a:buNone/>
            </a:pPr>
            <a:r>
              <a:rPr lang="en-US" altLang="zh-CN" sz="1800" dirty="0">
                <a:hlinkClick r:id="rId2"/>
              </a:rPr>
              <a:t>https://gitlab.eduxiji.net/educg-group-36291-2935673/T202510614205974-2563</a:t>
            </a:r>
            <a:endParaRPr lang="en-US" altLang="zh-CN" sz="1800" dirty="0"/>
          </a:p>
          <a:p>
            <a:pPr lvl="1"/>
            <a:r>
              <a:rPr lang="en-US" altLang="zh-CN" dirty="0"/>
              <a:t>2024</a:t>
            </a:r>
            <a:r>
              <a:rPr lang="zh-CN" altLang="en-US" dirty="0"/>
              <a:t>编译赛清华大学</a:t>
            </a:r>
            <a:endParaRPr lang="en-US" altLang="zh-CN" dirty="0"/>
          </a:p>
          <a:p>
            <a:pPr marL="469900" lvl="1" indent="-12700">
              <a:buNone/>
            </a:pPr>
            <a:r>
              <a:rPr lang="en-US" altLang="zh-CN" sz="2200" dirty="0">
                <a:hlinkClick r:id="rId3"/>
              </a:rPr>
              <a:t>https://gitlab.eduxiji.net/educg-group-26173-2487151/T202410003203847-1935</a:t>
            </a:r>
            <a:endParaRPr lang="en-US" altLang="zh-CN" sz="2200" dirty="0"/>
          </a:p>
          <a:p>
            <a:pPr marL="0" indent="-12700">
              <a:buNone/>
            </a:pPr>
            <a:endParaRPr lang="en-US" altLang="zh-CN" dirty="0"/>
          </a:p>
          <a:p>
            <a:pPr marL="0" indent="-12700">
              <a:buNone/>
            </a:pPr>
            <a:endParaRPr lang="en-US" altLang="zh-CN" dirty="0"/>
          </a:p>
          <a:p>
            <a:pPr marL="0" indent="-12700">
              <a:buNone/>
            </a:pPr>
            <a:endParaRPr lang="en-US" altLang="zh-CN" dirty="0"/>
          </a:p>
          <a:p>
            <a:pPr marL="0" indent="-12700">
              <a:buNone/>
            </a:pPr>
            <a:endParaRPr lang="en-US" altLang="zh-CN" dirty="0"/>
          </a:p>
          <a:p>
            <a:pPr marL="0" indent="-12700">
              <a:buNone/>
            </a:pPr>
            <a:endParaRPr lang="fr-FR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Win10/11</a:t>
            </a:r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如何搭建线下平台，准备环境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703016" y="1690604"/>
            <a:ext cx="11031077" cy="4666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Microsoft Store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Ubuntu(</a:t>
            </a:r>
            <a:r>
              <a:rPr lang="fr-FR" altLang="zh-CN" sz="2400" b="0" i="0" u="sng" dirty="0">
                <a:effectLst/>
                <a:latin typeface="-apple-system"/>
                <a:hlinkClick r:id="rId1"/>
              </a:rPr>
              <a:t> ʊˈbʊntuː/ </a:t>
            </a:r>
            <a:r>
              <a:rPr lang="fr-FR" altLang="zh-CN" sz="2400" b="0" i="0" u="sng" dirty="0">
                <a:effectLst/>
                <a:latin typeface="-apple-system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WSL2,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安装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Ubuntu 18/22/24 LTS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安装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编译基础设施：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ts val="36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C | C++ | java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ts val="36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Flex+Bison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|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Antlr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ts val="36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arm-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linux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gnueabihf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ts val="36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riscv64-gnu-toolchain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ts val="36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loongarch64-unknown-linux-gnu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ts val="36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qemu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-arm/qemu-riscv64/…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ts val="36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LLVM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 descr="图形用户界面, 应用程序, Teams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602" y="2519471"/>
            <a:ext cx="4681298" cy="375284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475" y="2159221"/>
            <a:ext cx="2095089" cy="4882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7822" y="962270"/>
            <a:ext cx="1659477" cy="617641"/>
          </a:xfrm>
        </p:spPr>
        <p:txBody>
          <a:bodyPr/>
          <a:lstStyle/>
          <a:p>
            <a:r>
              <a:rPr lang="en-US" altLang="zh-CN" b="0" dirty="0"/>
              <a:t>ARM</a:t>
            </a:r>
            <a:endParaRPr lang="zh-CN" altLang="en-US" b="0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如何搭建线下平台，准备环境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418148" y="3165541"/>
            <a:ext cx="11355704" cy="2308324"/>
          </a:xfrm>
          <a:prstGeom prst="rect">
            <a:avLst/>
          </a:prstGeom>
          <a:solidFill>
            <a:schemeClr val="bg1"/>
          </a:solidFill>
          <a:ln w="12700">
            <a:solidFill>
              <a:srgbClr val="0E7C7E"/>
            </a:solidFill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E7C7E"/>
                </a:solidFill>
              </a:rPr>
              <a:t>kylin@Lenovokylin</a:t>
            </a:r>
            <a:r>
              <a:rPr lang="en-US" altLang="zh-CN" sz="1600" dirty="0">
                <a:solidFill>
                  <a:srgbClr val="0E7C7E"/>
                </a:solidFill>
              </a:rPr>
              <a:t>:</a:t>
            </a:r>
            <a:r>
              <a:rPr lang="en-US" altLang="zh-CN" sz="1600" dirty="0">
                <a:solidFill>
                  <a:srgbClr val="3333FF"/>
                </a:solidFill>
              </a:rPr>
              <a:t>~/</a:t>
            </a:r>
            <a:r>
              <a:rPr lang="en-US" altLang="zh-CN" sz="1600" dirty="0" err="1">
                <a:solidFill>
                  <a:srgbClr val="3333FF"/>
                </a:solidFill>
              </a:rPr>
              <a:t>src</a:t>
            </a:r>
            <a:r>
              <a:rPr lang="en-US" altLang="zh-CN" sz="1600" dirty="0">
                <a:solidFill>
                  <a:srgbClr val="3333FF"/>
                </a:solidFill>
              </a:rPr>
              <a:t>/c$ </a:t>
            </a:r>
            <a:r>
              <a:rPr lang="en-US" altLang="zh-CN" sz="1600" dirty="0"/>
              <a:t>arm-</a:t>
            </a:r>
            <a:r>
              <a:rPr lang="en-US" altLang="zh-CN" sz="1600" dirty="0" err="1"/>
              <a:t>linux</a:t>
            </a:r>
            <a:r>
              <a:rPr lang="en-US" altLang="zh-CN" sz="1600" dirty="0"/>
              <a:t>-</a:t>
            </a:r>
            <a:r>
              <a:rPr lang="en-US" altLang="zh-CN" sz="1600" dirty="0" err="1"/>
              <a:t>gnueabihf-gcc</a:t>
            </a:r>
            <a:r>
              <a:rPr lang="en-US" altLang="zh-CN" sz="1600" dirty="0"/>
              <a:t> -S -O2 </a:t>
            </a:r>
            <a:r>
              <a:rPr lang="en-US" altLang="zh-CN" sz="1600" dirty="0" err="1"/>
              <a:t>sort.c</a:t>
            </a:r>
            <a:r>
              <a:rPr lang="en-US" altLang="zh-CN" sz="1600" dirty="0"/>
              <a:t> -o </a:t>
            </a:r>
            <a:r>
              <a:rPr lang="en-US" altLang="zh-CN" sz="1600" dirty="0" err="1"/>
              <a:t>sort.arm.s</a:t>
            </a:r>
            <a:endParaRPr lang="en-US" altLang="zh-CN" sz="1600" dirty="0"/>
          </a:p>
          <a:p>
            <a:r>
              <a:rPr lang="en-US" altLang="zh-CN" sz="1600" dirty="0" err="1">
                <a:solidFill>
                  <a:srgbClr val="0E7C7E"/>
                </a:solidFill>
              </a:rPr>
              <a:t>kylin@Lenovokylin</a:t>
            </a:r>
            <a:r>
              <a:rPr lang="en-US" altLang="zh-CN" sz="1600" dirty="0">
                <a:solidFill>
                  <a:srgbClr val="3333FF"/>
                </a:solidFill>
              </a:rPr>
              <a:t>:~/</a:t>
            </a:r>
            <a:r>
              <a:rPr lang="en-US" altLang="zh-CN" sz="1600" dirty="0" err="1">
                <a:solidFill>
                  <a:srgbClr val="3333FF"/>
                </a:solidFill>
              </a:rPr>
              <a:t>src</a:t>
            </a:r>
            <a:r>
              <a:rPr lang="en-US" altLang="zh-CN" sz="1600" dirty="0">
                <a:solidFill>
                  <a:srgbClr val="3333FF"/>
                </a:solidFill>
              </a:rPr>
              <a:t>/c$ </a:t>
            </a:r>
            <a:r>
              <a:rPr lang="en-US" altLang="zh-CN" sz="1600" dirty="0"/>
              <a:t>arm-</a:t>
            </a:r>
            <a:r>
              <a:rPr lang="en-US" altLang="zh-CN" sz="1600" dirty="0" err="1"/>
              <a:t>linux</a:t>
            </a:r>
            <a:r>
              <a:rPr lang="en-US" altLang="zh-CN" sz="1600" dirty="0"/>
              <a:t>-</a:t>
            </a:r>
            <a:r>
              <a:rPr lang="en-US" altLang="zh-CN" sz="1600" dirty="0" err="1"/>
              <a:t>gnueabihf-gcc</a:t>
            </a:r>
            <a:r>
              <a:rPr lang="en-US" altLang="zh-CN" sz="1600" dirty="0"/>
              <a:t> </a:t>
            </a:r>
            <a:r>
              <a:rPr lang="en-US" altLang="zh-CN" sz="1600" dirty="0" err="1"/>
              <a:t>sort.arm.s</a:t>
            </a:r>
            <a:r>
              <a:rPr lang="en-US" altLang="zh-CN" sz="1600" dirty="0"/>
              <a:t> -o </a:t>
            </a:r>
            <a:r>
              <a:rPr lang="en-US" altLang="zh-CN" sz="1600" dirty="0" err="1"/>
              <a:t>sort.arm</a:t>
            </a:r>
            <a:endParaRPr lang="en-US" altLang="zh-CN" sz="1600" dirty="0"/>
          </a:p>
          <a:p>
            <a:r>
              <a:rPr lang="en-US" altLang="zh-CN" sz="1600" dirty="0" err="1">
                <a:solidFill>
                  <a:srgbClr val="0E7C7E"/>
                </a:solidFill>
              </a:rPr>
              <a:t>kylin@Lenovokylin</a:t>
            </a:r>
            <a:r>
              <a:rPr lang="en-US" altLang="zh-CN" sz="1600" dirty="0">
                <a:solidFill>
                  <a:srgbClr val="3333FF"/>
                </a:solidFill>
              </a:rPr>
              <a:t>:~/</a:t>
            </a:r>
            <a:r>
              <a:rPr lang="en-US" altLang="zh-CN" sz="1600" dirty="0" err="1">
                <a:solidFill>
                  <a:srgbClr val="3333FF"/>
                </a:solidFill>
              </a:rPr>
              <a:t>src</a:t>
            </a:r>
            <a:r>
              <a:rPr lang="en-US" altLang="zh-CN" sz="1600" dirty="0">
                <a:solidFill>
                  <a:srgbClr val="3333FF"/>
                </a:solidFill>
              </a:rPr>
              <a:t>/c$ </a:t>
            </a:r>
            <a:r>
              <a:rPr lang="sv-SE" altLang="zh-CN" sz="1600" dirty="0"/>
              <a:t>qemu-arm -L $ARM sort.arm</a:t>
            </a:r>
            <a:endParaRPr lang="en-US" altLang="zh-CN" sz="1600" dirty="0"/>
          </a:p>
          <a:p>
            <a:r>
              <a:rPr lang="en-US" altLang="zh-CN" sz="1600" dirty="0" err="1">
                <a:solidFill>
                  <a:srgbClr val="0E7C7E"/>
                </a:solidFill>
              </a:rPr>
              <a:t>kylin@Lenovokylin</a:t>
            </a:r>
            <a:r>
              <a:rPr lang="en-US" altLang="zh-CN" sz="1600" dirty="0"/>
              <a:t>:</a:t>
            </a:r>
            <a:r>
              <a:rPr lang="en-US" altLang="zh-CN" sz="1600" dirty="0">
                <a:solidFill>
                  <a:srgbClr val="3333FF"/>
                </a:solidFill>
              </a:rPr>
              <a:t>~/</a:t>
            </a:r>
            <a:r>
              <a:rPr lang="en-US" altLang="zh-CN" sz="1600" dirty="0" err="1">
                <a:solidFill>
                  <a:srgbClr val="3333FF"/>
                </a:solidFill>
              </a:rPr>
              <a:t>src</a:t>
            </a:r>
            <a:r>
              <a:rPr lang="en-US" altLang="zh-CN" sz="1600" dirty="0">
                <a:solidFill>
                  <a:srgbClr val="3333FF"/>
                </a:solidFill>
              </a:rPr>
              <a:t>/c$</a:t>
            </a:r>
            <a:endParaRPr lang="en-US" altLang="zh-CN" sz="1600" dirty="0">
              <a:solidFill>
                <a:srgbClr val="3333FF"/>
              </a:solidFill>
            </a:endParaRPr>
          </a:p>
          <a:p>
            <a:r>
              <a:rPr lang="en-US" altLang="zh-CN" sz="1600" dirty="0" err="1">
                <a:solidFill>
                  <a:srgbClr val="0E7C7E"/>
                </a:solidFill>
              </a:rPr>
              <a:t>kylin@Lenovokylin</a:t>
            </a:r>
            <a:r>
              <a:rPr lang="en-US" altLang="zh-CN" sz="1600" dirty="0"/>
              <a:t>:</a:t>
            </a:r>
            <a:r>
              <a:rPr lang="en-US" altLang="zh-CN" sz="1600" dirty="0">
                <a:solidFill>
                  <a:srgbClr val="3333FF"/>
                </a:solidFill>
              </a:rPr>
              <a:t>~/</a:t>
            </a:r>
            <a:r>
              <a:rPr lang="en-US" altLang="zh-CN" sz="1600" dirty="0" err="1">
                <a:solidFill>
                  <a:srgbClr val="3333FF"/>
                </a:solidFill>
              </a:rPr>
              <a:t>src</a:t>
            </a:r>
            <a:r>
              <a:rPr lang="en-US" altLang="zh-CN" sz="1600" dirty="0">
                <a:solidFill>
                  <a:srgbClr val="3333FF"/>
                </a:solidFill>
              </a:rPr>
              <a:t>/c$ </a:t>
            </a:r>
            <a:r>
              <a:rPr lang="en-US" altLang="zh-CN" sz="1600" dirty="0"/>
              <a:t>echo $?</a:t>
            </a:r>
            <a:endParaRPr lang="en-US" altLang="zh-CN" sz="1600" dirty="0"/>
          </a:p>
          <a:p>
            <a:r>
              <a:rPr lang="en-US" altLang="zh-CN" sz="1600" dirty="0"/>
              <a:t>89</a:t>
            </a:r>
            <a:endParaRPr lang="en-US" altLang="zh-CN" sz="1600" dirty="0"/>
          </a:p>
          <a:p>
            <a:endParaRPr lang="en-US" altLang="zh-CN" sz="1600" dirty="0">
              <a:solidFill>
                <a:srgbClr val="3333FF"/>
              </a:solidFill>
            </a:endParaRPr>
          </a:p>
          <a:p>
            <a:r>
              <a:rPr lang="en-US" altLang="zh-CN" sz="1600" dirty="0" err="1">
                <a:solidFill>
                  <a:srgbClr val="0E7C7E"/>
                </a:solidFill>
              </a:rPr>
              <a:t>kylin@Lenovokylin</a:t>
            </a:r>
            <a:r>
              <a:rPr lang="en-US" altLang="zh-CN" sz="1600" dirty="0"/>
              <a:t>:</a:t>
            </a:r>
            <a:r>
              <a:rPr lang="en-US" altLang="zh-CN" sz="1600" dirty="0">
                <a:solidFill>
                  <a:srgbClr val="3333FF"/>
                </a:solidFill>
              </a:rPr>
              <a:t>~/</a:t>
            </a:r>
            <a:r>
              <a:rPr lang="en-US" altLang="zh-CN" sz="1600" dirty="0" err="1">
                <a:solidFill>
                  <a:srgbClr val="3333FF"/>
                </a:solidFill>
              </a:rPr>
              <a:t>src</a:t>
            </a:r>
            <a:r>
              <a:rPr lang="en-US" altLang="zh-CN" sz="1600" dirty="0">
                <a:solidFill>
                  <a:srgbClr val="3333FF"/>
                </a:solidFill>
              </a:rPr>
              <a:t>/c$ </a:t>
            </a:r>
            <a:r>
              <a:rPr lang="en-US" altLang="zh-CN" sz="1600" dirty="0"/>
              <a:t>echo $ARM</a:t>
            </a:r>
            <a:endParaRPr lang="en-US" altLang="zh-CN" sz="1600" dirty="0"/>
          </a:p>
          <a:p>
            <a:r>
              <a:rPr lang="fr-FR" altLang="zh-CN" sz="1600" dirty="0"/>
              <a:t>/usr/arm-linux-gnueabihf/</a:t>
            </a:r>
            <a:endParaRPr lang="zh-CN" altLang="en-US" sz="1600" dirty="0"/>
          </a:p>
        </p:txBody>
      </p:sp>
      <p:sp>
        <p:nvSpPr>
          <p:cNvPr id="10" name="文本框 9"/>
          <p:cNvSpPr txBox="1"/>
          <p:nvPr/>
        </p:nvSpPr>
        <p:spPr>
          <a:xfrm>
            <a:off x="2442352" y="1271090"/>
            <a:ext cx="6097904" cy="1117357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34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6147" y="1829768"/>
            <a:ext cx="2587379" cy="95345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83180" y="5881627"/>
            <a:ext cx="59257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ARM64: aarch64-linux-gnu-gcc, qemu-aarch64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7822" y="962270"/>
            <a:ext cx="1659477" cy="617641"/>
          </a:xfrm>
        </p:spPr>
        <p:txBody>
          <a:bodyPr/>
          <a:lstStyle/>
          <a:p>
            <a:r>
              <a:rPr lang="en-US" altLang="zh-CN" b="0" dirty="0"/>
              <a:t>RISCV</a:t>
            </a:r>
            <a:endParaRPr lang="zh-CN" altLang="en-US" b="0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如何搭建线下平台，准备环境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418148" y="3165541"/>
            <a:ext cx="11355704" cy="2062103"/>
          </a:xfrm>
          <a:prstGeom prst="rect">
            <a:avLst/>
          </a:prstGeom>
          <a:solidFill>
            <a:schemeClr val="bg1"/>
          </a:solidFill>
          <a:ln w="12700">
            <a:solidFill>
              <a:srgbClr val="0E7C7E"/>
            </a:solidFill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E7C7E"/>
                </a:solidFill>
              </a:rPr>
              <a:t>kylin@Lenovokylin</a:t>
            </a:r>
            <a:r>
              <a:rPr lang="en-US" altLang="zh-CN" sz="1600" dirty="0">
                <a:solidFill>
                  <a:srgbClr val="0E7C7E"/>
                </a:solidFill>
              </a:rPr>
              <a:t>:</a:t>
            </a:r>
            <a:r>
              <a:rPr lang="en-US" altLang="zh-CN" sz="1600" dirty="0">
                <a:solidFill>
                  <a:srgbClr val="3333FF"/>
                </a:solidFill>
              </a:rPr>
              <a:t>~/</a:t>
            </a:r>
            <a:r>
              <a:rPr lang="en-US" altLang="zh-CN" sz="1600" dirty="0" err="1">
                <a:solidFill>
                  <a:srgbClr val="3333FF"/>
                </a:solidFill>
              </a:rPr>
              <a:t>src</a:t>
            </a:r>
            <a:r>
              <a:rPr lang="en-US" altLang="zh-CN" sz="1600" dirty="0">
                <a:solidFill>
                  <a:srgbClr val="3333FF"/>
                </a:solidFill>
              </a:rPr>
              <a:t>/c$ </a:t>
            </a:r>
            <a:r>
              <a:rPr lang="pt-BR" altLang="zh-CN" sz="1600" dirty="0"/>
              <a:t>riscv64-linux-gnu-gcc -S -O2 sort1.c -o sort.riscv.s</a:t>
            </a:r>
            <a:endParaRPr lang="pt-BR" altLang="zh-CN" sz="1600" dirty="0"/>
          </a:p>
          <a:p>
            <a:r>
              <a:rPr lang="en-US" altLang="zh-CN" sz="1600" dirty="0" err="1">
                <a:solidFill>
                  <a:srgbClr val="0E7C7E"/>
                </a:solidFill>
              </a:rPr>
              <a:t>kylin@Lenovokylin</a:t>
            </a:r>
            <a:r>
              <a:rPr lang="en-US" altLang="zh-CN" sz="1600" dirty="0">
                <a:solidFill>
                  <a:srgbClr val="3333FF"/>
                </a:solidFill>
              </a:rPr>
              <a:t>:~/</a:t>
            </a:r>
            <a:r>
              <a:rPr lang="en-US" altLang="zh-CN" sz="1600" dirty="0" err="1">
                <a:solidFill>
                  <a:srgbClr val="3333FF"/>
                </a:solidFill>
              </a:rPr>
              <a:t>src</a:t>
            </a:r>
            <a:r>
              <a:rPr lang="en-US" altLang="zh-CN" sz="1600" dirty="0">
                <a:solidFill>
                  <a:srgbClr val="3333FF"/>
                </a:solidFill>
              </a:rPr>
              <a:t>/c$ </a:t>
            </a:r>
            <a:r>
              <a:rPr lang="en-US" altLang="zh-CN" sz="1600" dirty="0"/>
              <a:t>riscv64-linux-gnu-gcc </a:t>
            </a:r>
            <a:r>
              <a:rPr lang="en-US" altLang="zh-CN" sz="1600" dirty="0" err="1"/>
              <a:t>sort.riscv.s</a:t>
            </a:r>
            <a:r>
              <a:rPr lang="en-US" altLang="zh-CN" sz="1600" dirty="0"/>
              <a:t> -o </a:t>
            </a:r>
            <a:r>
              <a:rPr lang="en-US" altLang="zh-CN" sz="1600" dirty="0" err="1"/>
              <a:t>sort.riscv</a:t>
            </a:r>
            <a:endParaRPr lang="en-US" altLang="zh-CN" sz="1600" dirty="0"/>
          </a:p>
          <a:p>
            <a:r>
              <a:rPr lang="en-US" altLang="zh-CN" sz="1600" dirty="0" err="1">
                <a:solidFill>
                  <a:srgbClr val="0E7C7E"/>
                </a:solidFill>
              </a:rPr>
              <a:t>kylin@Lenovokylin</a:t>
            </a:r>
            <a:r>
              <a:rPr lang="en-US" altLang="zh-CN" sz="1600" dirty="0">
                <a:solidFill>
                  <a:srgbClr val="3333FF"/>
                </a:solidFill>
              </a:rPr>
              <a:t>:~/</a:t>
            </a:r>
            <a:r>
              <a:rPr lang="en-US" altLang="zh-CN" sz="1600" dirty="0" err="1">
                <a:solidFill>
                  <a:srgbClr val="3333FF"/>
                </a:solidFill>
              </a:rPr>
              <a:t>src</a:t>
            </a:r>
            <a:r>
              <a:rPr lang="en-US" altLang="zh-CN" sz="1600" dirty="0">
                <a:solidFill>
                  <a:srgbClr val="3333FF"/>
                </a:solidFill>
              </a:rPr>
              <a:t>/c$ </a:t>
            </a:r>
            <a:r>
              <a:rPr lang="sv-SE" altLang="zh-CN" sz="1600" dirty="0"/>
              <a:t>qemu-riscv64 -L $RISCV sort.riscv</a:t>
            </a:r>
            <a:endParaRPr lang="en-US" altLang="zh-CN" sz="1600" dirty="0"/>
          </a:p>
          <a:p>
            <a:r>
              <a:rPr lang="en-US" altLang="zh-CN" sz="1600" dirty="0" err="1">
                <a:solidFill>
                  <a:srgbClr val="0E7C7E"/>
                </a:solidFill>
              </a:rPr>
              <a:t>kylin@Lenovokylin</a:t>
            </a:r>
            <a:r>
              <a:rPr lang="en-US" altLang="zh-CN" sz="1600" dirty="0"/>
              <a:t>:</a:t>
            </a:r>
            <a:r>
              <a:rPr lang="en-US" altLang="zh-CN" sz="1600" dirty="0">
                <a:solidFill>
                  <a:srgbClr val="3333FF"/>
                </a:solidFill>
              </a:rPr>
              <a:t>~/</a:t>
            </a:r>
            <a:r>
              <a:rPr lang="en-US" altLang="zh-CN" sz="1600" dirty="0" err="1">
                <a:solidFill>
                  <a:srgbClr val="3333FF"/>
                </a:solidFill>
              </a:rPr>
              <a:t>src</a:t>
            </a:r>
            <a:r>
              <a:rPr lang="en-US" altLang="zh-CN" sz="1600" dirty="0">
                <a:solidFill>
                  <a:srgbClr val="3333FF"/>
                </a:solidFill>
              </a:rPr>
              <a:t>/c$ </a:t>
            </a:r>
            <a:r>
              <a:rPr lang="en-US" altLang="zh-CN" sz="1600" dirty="0"/>
              <a:t>echo $?</a:t>
            </a:r>
            <a:endParaRPr lang="en-US" altLang="zh-CN" sz="1600" dirty="0"/>
          </a:p>
          <a:p>
            <a:r>
              <a:rPr lang="en-US" altLang="zh-CN" sz="1600" dirty="0"/>
              <a:t>89</a:t>
            </a:r>
            <a:endParaRPr lang="en-US" altLang="zh-CN" sz="1600" dirty="0"/>
          </a:p>
          <a:p>
            <a:endParaRPr lang="en-US" altLang="zh-CN" sz="1600" dirty="0">
              <a:solidFill>
                <a:srgbClr val="3333FF"/>
              </a:solidFill>
            </a:endParaRPr>
          </a:p>
          <a:p>
            <a:r>
              <a:rPr lang="en-US" altLang="zh-CN" sz="1600" dirty="0" err="1">
                <a:solidFill>
                  <a:srgbClr val="0E7C7E"/>
                </a:solidFill>
              </a:rPr>
              <a:t>kylin@Lenovokylin</a:t>
            </a:r>
            <a:r>
              <a:rPr lang="en-US" altLang="zh-CN" sz="1600" dirty="0"/>
              <a:t>:</a:t>
            </a:r>
            <a:r>
              <a:rPr lang="en-US" altLang="zh-CN" sz="1600" dirty="0">
                <a:solidFill>
                  <a:srgbClr val="3333FF"/>
                </a:solidFill>
              </a:rPr>
              <a:t>~/</a:t>
            </a:r>
            <a:r>
              <a:rPr lang="en-US" altLang="zh-CN" sz="1600" dirty="0" err="1">
                <a:solidFill>
                  <a:srgbClr val="3333FF"/>
                </a:solidFill>
              </a:rPr>
              <a:t>src</a:t>
            </a:r>
            <a:r>
              <a:rPr lang="en-US" altLang="zh-CN" sz="1600" dirty="0">
                <a:solidFill>
                  <a:srgbClr val="3333FF"/>
                </a:solidFill>
              </a:rPr>
              <a:t>/c$ </a:t>
            </a:r>
            <a:r>
              <a:rPr lang="en-US" altLang="zh-CN" sz="1600" dirty="0"/>
              <a:t>echo $RISCV</a:t>
            </a:r>
            <a:endParaRPr lang="en-US" altLang="zh-CN" sz="1600" dirty="0"/>
          </a:p>
          <a:p>
            <a:r>
              <a:rPr lang="fr-FR" altLang="zh-CN" sz="1600" dirty="0"/>
              <a:t>/usr/riscv64-linux-gnu/</a:t>
            </a:r>
            <a:endParaRPr lang="zh-CN" altLang="en-US" sz="1600" dirty="0"/>
          </a:p>
        </p:txBody>
      </p:sp>
      <p:sp>
        <p:nvSpPr>
          <p:cNvPr id="10" name="文本框 9"/>
          <p:cNvSpPr txBox="1"/>
          <p:nvPr/>
        </p:nvSpPr>
        <p:spPr>
          <a:xfrm>
            <a:off x="3391042" y="1475509"/>
            <a:ext cx="6097904" cy="1117357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34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图片 8" descr="画着卡通图案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822" y="1732571"/>
            <a:ext cx="2445893" cy="48634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47299" y="5774155"/>
            <a:ext cx="78324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头歌平台上的交叉编译器是  </a:t>
            </a:r>
            <a:r>
              <a:rPr lang="fr-FR" altLang="zh-CN" sz="2000" dirty="0"/>
              <a:t>riscv64-unknown-elf-gcc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7822" y="962270"/>
            <a:ext cx="1659477" cy="617641"/>
          </a:xfrm>
        </p:spPr>
        <p:txBody>
          <a:bodyPr/>
          <a:lstStyle/>
          <a:p>
            <a:r>
              <a:rPr lang="zh-CN" altLang="en-US" b="0" dirty="0"/>
              <a:t>龙芯</a:t>
            </a:r>
            <a:endParaRPr lang="zh-CN" altLang="en-US" b="0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如何搭建线下平台，准备环境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487822" y="4319971"/>
            <a:ext cx="11355704" cy="2062103"/>
          </a:xfrm>
          <a:prstGeom prst="rect">
            <a:avLst/>
          </a:prstGeom>
          <a:solidFill>
            <a:schemeClr val="bg1"/>
          </a:solidFill>
          <a:ln w="12700">
            <a:solidFill>
              <a:srgbClr val="0E7C7E"/>
            </a:solidFill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E7C7E"/>
                </a:solidFill>
              </a:rPr>
              <a:t>kylin@Lenovokylin</a:t>
            </a:r>
            <a:r>
              <a:rPr lang="en-US" altLang="zh-CN" sz="1600" dirty="0">
                <a:solidFill>
                  <a:srgbClr val="0E7C7E"/>
                </a:solidFill>
              </a:rPr>
              <a:t>:</a:t>
            </a:r>
            <a:r>
              <a:rPr lang="en-US" altLang="zh-CN" sz="1600" dirty="0">
                <a:solidFill>
                  <a:srgbClr val="3333FF"/>
                </a:solidFill>
              </a:rPr>
              <a:t>~/</a:t>
            </a:r>
            <a:r>
              <a:rPr lang="en-US" altLang="zh-CN" sz="1600" dirty="0" err="1">
                <a:solidFill>
                  <a:srgbClr val="3333FF"/>
                </a:solidFill>
              </a:rPr>
              <a:t>src</a:t>
            </a:r>
            <a:r>
              <a:rPr lang="en-US" altLang="zh-CN" sz="1600" dirty="0">
                <a:solidFill>
                  <a:srgbClr val="3333FF"/>
                </a:solidFill>
              </a:rPr>
              <a:t>/c$ </a:t>
            </a:r>
            <a:r>
              <a:rPr lang="en-US" altLang="zh-CN" sz="1600" dirty="0"/>
              <a:t>loongarch64-unknown-linux-gnu-gcc -S -O2 </a:t>
            </a:r>
            <a:r>
              <a:rPr lang="en-US" altLang="zh-CN" sz="1600" dirty="0" err="1"/>
              <a:t>sort.c</a:t>
            </a:r>
            <a:r>
              <a:rPr lang="en-US" altLang="zh-CN" sz="1600" dirty="0"/>
              <a:t> -o </a:t>
            </a:r>
            <a:r>
              <a:rPr lang="en-US" altLang="zh-CN" sz="1600" dirty="0" err="1"/>
              <a:t>sort.loongarch.s</a:t>
            </a:r>
            <a:endParaRPr lang="en-US" altLang="zh-CN" sz="1600" dirty="0"/>
          </a:p>
          <a:p>
            <a:r>
              <a:rPr lang="en-US" altLang="zh-CN" sz="1600" dirty="0" err="1">
                <a:solidFill>
                  <a:srgbClr val="0E7C7E"/>
                </a:solidFill>
              </a:rPr>
              <a:t>kylin@Lenovokylin</a:t>
            </a:r>
            <a:r>
              <a:rPr lang="en-US" altLang="zh-CN" sz="1600" dirty="0">
                <a:solidFill>
                  <a:srgbClr val="3333FF"/>
                </a:solidFill>
              </a:rPr>
              <a:t>:~/</a:t>
            </a:r>
            <a:r>
              <a:rPr lang="en-US" altLang="zh-CN" sz="1600" dirty="0" err="1">
                <a:solidFill>
                  <a:srgbClr val="3333FF"/>
                </a:solidFill>
              </a:rPr>
              <a:t>src</a:t>
            </a:r>
            <a:r>
              <a:rPr lang="en-US" altLang="zh-CN" sz="1600" dirty="0">
                <a:solidFill>
                  <a:srgbClr val="3333FF"/>
                </a:solidFill>
              </a:rPr>
              <a:t>/c$ </a:t>
            </a:r>
            <a:r>
              <a:rPr lang="en-US" altLang="zh-CN" sz="1600" dirty="0"/>
              <a:t>loongarch64-unknown-linux-gnu-gcc -static </a:t>
            </a:r>
            <a:r>
              <a:rPr lang="en-US" altLang="zh-CN" sz="1600" dirty="0" err="1"/>
              <a:t>sort.loongarch.s</a:t>
            </a:r>
            <a:r>
              <a:rPr lang="en-US" altLang="zh-CN" sz="1600" dirty="0"/>
              <a:t> –o </a:t>
            </a:r>
            <a:r>
              <a:rPr lang="en-US" altLang="zh-CN" sz="1600" dirty="0" err="1"/>
              <a:t>sort.loongarch</a:t>
            </a:r>
            <a:endParaRPr lang="en-US" altLang="zh-CN" sz="1600" dirty="0"/>
          </a:p>
          <a:p>
            <a:r>
              <a:rPr lang="en-US" altLang="zh-CN" sz="1600" dirty="0" err="1">
                <a:solidFill>
                  <a:srgbClr val="0E7C7E"/>
                </a:solidFill>
              </a:rPr>
              <a:t>kylin@Lenovokylin</a:t>
            </a:r>
            <a:r>
              <a:rPr lang="en-US" altLang="zh-CN" sz="1600" dirty="0">
                <a:solidFill>
                  <a:srgbClr val="3333FF"/>
                </a:solidFill>
              </a:rPr>
              <a:t>:~/</a:t>
            </a:r>
            <a:r>
              <a:rPr lang="en-US" altLang="zh-CN" sz="1600" dirty="0" err="1">
                <a:solidFill>
                  <a:srgbClr val="3333FF"/>
                </a:solidFill>
              </a:rPr>
              <a:t>src</a:t>
            </a:r>
            <a:r>
              <a:rPr lang="en-US" altLang="zh-CN" sz="1600" dirty="0">
                <a:solidFill>
                  <a:srgbClr val="3333FF"/>
                </a:solidFill>
              </a:rPr>
              <a:t>/c$ </a:t>
            </a:r>
            <a:r>
              <a:rPr lang="en-US" altLang="zh-CN" sz="1600" dirty="0"/>
              <a:t>qemu-loongarch64 </a:t>
            </a:r>
            <a:r>
              <a:rPr lang="en-US" altLang="zh-CN" sz="1600" dirty="0" err="1"/>
              <a:t>sort.loongarch</a:t>
            </a:r>
            <a:endParaRPr lang="en-US" altLang="zh-CN" sz="1600" dirty="0"/>
          </a:p>
          <a:p>
            <a:r>
              <a:rPr lang="zh-CN" altLang="en-US" sz="1600" dirty="0"/>
              <a:t>未排序数组</a:t>
            </a:r>
            <a:r>
              <a:rPr lang="en-US" altLang="zh-CN" sz="1600" dirty="0"/>
              <a:t>: </a:t>
            </a:r>
            <a:endParaRPr lang="en-US" altLang="zh-CN" sz="1600" dirty="0"/>
          </a:p>
          <a:p>
            <a:r>
              <a:rPr lang="en-US" altLang="zh-CN" sz="1600" dirty="0"/>
              <a:t>64 34 25 12 22 11 90 </a:t>
            </a:r>
            <a:endParaRPr lang="en-US" altLang="zh-CN" sz="1600" dirty="0"/>
          </a:p>
          <a:p>
            <a:r>
              <a:rPr lang="zh-CN" altLang="en-US" sz="1600" dirty="0"/>
              <a:t>排序后数组</a:t>
            </a:r>
            <a:r>
              <a:rPr lang="en-US" altLang="zh-CN" sz="1600" dirty="0"/>
              <a:t>: </a:t>
            </a:r>
            <a:endParaRPr lang="en-US" altLang="zh-CN" sz="1600" dirty="0"/>
          </a:p>
          <a:p>
            <a:r>
              <a:rPr lang="en-US" altLang="zh-CN" sz="1600" dirty="0"/>
              <a:t>11 12 22 25 34 64 90 </a:t>
            </a:r>
            <a:endParaRPr lang="en-US" altLang="zh-CN" sz="1600" dirty="0"/>
          </a:p>
          <a:p>
            <a:r>
              <a:rPr lang="en-US" altLang="zh-CN" sz="1600" dirty="0" err="1">
                <a:solidFill>
                  <a:srgbClr val="0E7C7E"/>
                </a:solidFill>
              </a:rPr>
              <a:t>kylin@Lenovokylin</a:t>
            </a:r>
            <a:r>
              <a:rPr lang="en-US" altLang="zh-CN" sz="1600" dirty="0"/>
              <a:t>:</a:t>
            </a:r>
            <a:r>
              <a:rPr lang="en-US" altLang="zh-CN" sz="1600" dirty="0">
                <a:solidFill>
                  <a:srgbClr val="3333FF"/>
                </a:solidFill>
              </a:rPr>
              <a:t>~/</a:t>
            </a:r>
            <a:r>
              <a:rPr lang="en-US" altLang="zh-CN" sz="1600" dirty="0" err="1">
                <a:solidFill>
                  <a:srgbClr val="3333FF"/>
                </a:solidFill>
              </a:rPr>
              <a:t>src</a:t>
            </a:r>
            <a:r>
              <a:rPr lang="en-US" altLang="zh-CN" sz="1600" dirty="0">
                <a:solidFill>
                  <a:srgbClr val="3333FF"/>
                </a:solidFill>
              </a:rPr>
              <a:t>/c$</a:t>
            </a:r>
            <a:endParaRPr lang="zh-CN" altLang="en-US" sz="1600" dirty="0"/>
          </a:p>
        </p:txBody>
      </p:sp>
      <p:sp>
        <p:nvSpPr>
          <p:cNvPr id="10" name="文本框 9"/>
          <p:cNvSpPr txBox="1"/>
          <p:nvPr/>
        </p:nvSpPr>
        <p:spPr>
          <a:xfrm>
            <a:off x="2442352" y="1271090"/>
            <a:ext cx="6097904" cy="2862322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fr-FR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  <a:endParaRPr lang="fr-FR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fr-FR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fr-F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34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  <a:endParaRPr lang="fr-FR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r-FR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]);</a:t>
            </a:r>
            <a:endParaRPr lang="fr-FR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未排序数组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fr-FR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fr-FR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endParaRPr lang="fr-FR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printArray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endParaRPr lang="fr-FR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bubbleSort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endParaRPr lang="fr-FR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排序后数组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fr-FR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fr-FR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endParaRPr lang="fr-FR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printArray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endParaRPr lang="fr-FR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endParaRPr lang="fr-FR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图片 4" descr="画里面的卡通人物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8168" y="2337435"/>
            <a:ext cx="2666222" cy="7258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763660"/>
          </a:xfrm>
        </p:spPr>
        <p:txBody>
          <a:bodyPr/>
          <a:lstStyle/>
          <a:p>
            <a:r>
              <a:rPr lang="zh-CN" altLang="en-US" dirty="0"/>
              <a:t>所有实验都开放了命令行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Clone</a:t>
            </a:r>
            <a:r>
              <a:rPr lang="zh-CN" altLang="en-US" dirty="0"/>
              <a:t>头歌平台代码到本地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85670" y="2240280"/>
            <a:ext cx="95267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头歌服务器：</a:t>
            </a:r>
            <a:endParaRPr lang="en-US" altLang="zh-CN" sz="2000" dirty="0"/>
          </a:p>
          <a:p>
            <a:r>
              <a:rPr lang="en-US" altLang="zh-CN" sz="2000" dirty="0" err="1">
                <a:solidFill>
                  <a:srgbClr val="0033CC"/>
                </a:solidFill>
              </a:rPr>
              <a:t>root@educoder</a:t>
            </a:r>
            <a:r>
              <a:rPr lang="en-US" altLang="zh-CN" sz="2000" dirty="0">
                <a:solidFill>
                  <a:srgbClr val="0033CC"/>
                </a:solidFill>
              </a:rPr>
              <a:t>:/data/workspace/</a:t>
            </a:r>
            <a:r>
              <a:rPr lang="en-US" altLang="zh-CN" sz="2000" dirty="0" err="1">
                <a:solidFill>
                  <a:srgbClr val="0033CC"/>
                </a:solidFill>
              </a:rPr>
              <a:t>myshixun</a:t>
            </a:r>
            <a:r>
              <a:rPr lang="en-US" altLang="zh-CN" sz="2000" dirty="0"/>
              <a:t># git remote get-</a:t>
            </a:r>
            <a:r>
              <a:rPr lang="en-US" altLang="zh-CN" sz="2000" dirty="0" err="1"/>
              <a:t>url</a:t>
            </a:r>
            <a:r>
              <a:rPr lang="en-US" altLang="zh-CN" sz="2000" dirty="0"/>
              <a:t> origin</a:t>
            </a:r>
            <a:endParaRPr lang="en-US" altLang="zh-CN" sz="2000" dirty="0"/>
          </a:p>
          <a:p>
            <a:r>
              <a:rPr lang="en-US" altLang="zh-CN" sz="2000" dirty="0"/>
              <a:t>https://git.educoder.net/prxpafhei/frcwhqxtla20230508210723.git</a:t>
            </a:r>
            <a:endParaRPr lang="en-US" altLang="zh-CN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675396" y="3690141"/>
            <a:ext cx="10937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本地：</a:t>
            </a:r>
            <a:endParaRPr lang="en-US" altLang="zh-CN" sz="2000" dirty="0"/>
          </a:p>
          <a:p>
            <a:r>
              <a:rPr lang="en-US" altLang="zh-CN" sz="2000" dirty="0"/>
              <a:t>$git clone  https://git.educoder.net/prxpafhei/frcwhqxtla20230508210723.git </a:t>
            </a:r>
            <a:endParaRPr lang="zh-CN" altLang="en-US" sz="2000" dirty="0"/>
          </a:p>
        </p:txBody>
      </p:sp>
      <p:sp>
        <p:nvSpPr>
          <p:cNvPr id="6" name="文本框 5"/>
          <p:cNvSpPr txBox="1"/>
          <p:nvPr/>
        </p:nvSpPr>
        <p:spPr>
          <a:xfrm>
            <a:off x="685670" y="5249399"/>
            <a:ext cx="81462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头歌平台演示：</a:t>
            </a:r>
            <a:r>
              <a:rPr lang="fr-FR" altLang="zh-CN" sz="2000" dirty="0">
                <a:hlinkClick r:id="rId1"/>
              </a:rPr>
              <a:t>https://www.educoder.net/classrooms/VHDQX2CZ</a:t>
            </a:r>
            <a:br>
              <a:rPr lang="fr-FR" altLang="zh-CN" sz="2000" dirty="0"/>
            </a:br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685670" y="5957285"/>
            <a:ext cx="1867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实验</a:t>
            </a:r>
            <a:r>
              <a:rPr lang="en-US" altLang="zh-CN" dirty="0"/>
              <a:t>1~3</a:t>
            </a:r>
            <a:r>
              <a:rPr lang="zh-CN" altLang="en-US" dirty="0"/>
              <a:t>说明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594610" y="2811359"/>
            <a:ext cx="8252460" cy="617641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ANTLR</a:t>
            </a:r>
            <a:r>
              <a:rPr lang="zh-CN" altLang="en-US" sz="3600" dirty="0"/>
              <a:t>：词法和语法分析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实战演练：</a:t>
            </a:r>
            <a:r>
              <a:rPr lang="en-US" altLang="zh-CN" dirty="0"/>
              <a:t>ANTLR4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7822" y="942764"/>
            <a:ext cx="11266373" cy="5637024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给定文法</a:t>
            </a:r>
            <a:endParaRPr lang="en-US" altLang="zh-CN" sz="2800" dirty="0"/>
          </a:p>
          <a:p>
            <a:pPr marL="457200" lvl="1" indent="0">
              <a:buNone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(1) 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S→AaS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	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SELECT(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= { 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rPr>
              <a:t>a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} 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lvl="1" indent="0"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(2) 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S→BbS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SELECT(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= { 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rPr>
              <a:t>b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, 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rPr>
              <a:t>c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}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lvl="1" indent="0"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(3) 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S→d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	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SELECT(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= { 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rPr>
              <a:t>d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}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lvl="1" indent="0"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(4) A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→a		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SELECT(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= { 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rPr>
              <a:t>a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}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lvl="1" indent="0"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(5) B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→Ɛ		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SELECT(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= { 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rPr>
              <a:t>b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}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lvl="1" indent="0"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(6) B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→c		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SELECT(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= { 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rPr>
              <a:t>c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}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实战演练：</a:t>
            </a:r>
            <a:r>
              <a:rPr lang="en-US" altLang="zh-CN" dirty="0"/>
              <a:t>ANTLR4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7822" y="942764"/>
            <a:ext cx="11266373" cy="752472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Demo.g4</a:t>
            </a:r>
            <a:endParaRPr lang="en-US" altLang="zh-CN" sz="2800" dirty="0"/>
          </a:p>
          <a:p>
            <a:pPr marL="0" indent="0">
              <a:buNone/>
            </a:pP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368211" y="2199181"/>
            <a:ext cx="4583986" cy="440120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grammar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Demo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b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A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: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'a'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B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: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'b'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C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: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'c'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D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: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'd'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b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root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: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s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EOF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b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s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: 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a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A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|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b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B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|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b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a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: 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D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b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b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: 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C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|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;</a:t>
            </a: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7822" y="1842982"/>
            <a:ext cx="2343364" cy="2585451"/>
          </a:xfrm>
          <a:prstGeom prst="rect">
            <a:avLst/>
          </a:prstGeom>
          <a:solidFill>
            <a:schemeClr val="bg1"/>
          </a:solidFill>
          <a:ln>
            <a:solidFill>
              <a:srgbClr val="0E7C7E"/>
            </a:solidFill>
          </a:ln>
          <a:effectLst>
            <a:outerShdw blurRad="50800" dist="50800" dir="2700000" algn="ctr" rotWithShape="0">
              <a:srgbClr val="00000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(1)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S→AaS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(2)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S→BbS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(3)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S→d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(4)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A→a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(5) B→Ɛ	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(6)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B→c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19244" y="135036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命名一致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" name="直接箭头连接符 7"/>
          <p:cNvCxnSpPr>
            <a:stCxn id="4" idx="1"/>
          </p:cNvCxnSpPr>
          <p:nvPr/>
        </p:nvCxnSpPr>
        <p:spPr>
          <a:xfrm flipH="1">
            <a:off x="2640458" y="1550415"/>
            <a:ext cx="107878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4" idx="2"/>
          </p:cNvCxnSpPr>
          <p:nvPr/>
        </p:nvCxnSpPr>
        <p:spPr>
          <a:xfrm>
            <a:off x="4324538" y="1750470"/>
            <a:ext cx="226914" cy="3934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8342718" y="3000055"/>
            <a:ext cx="316625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枚举词法规则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终结符大写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添加新的文法起始符号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约定非终结符小写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用意义的命名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注意空规则的表达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实战演练：</a:t>
            </a:r>
            <a:r>
              <a:rPr lang="en-US" altLang="zh-CN" dirty="0"/>
              <a:t>ANTLR4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7822" y="942764"/>
            <a:ext cx="11266373" cy="752472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Demo.g4 </a:t>
            </a:r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→Demo .java</a:t>
            </a:r>
            <a:endParaRPr lang="en-US" altLang="zh-CN" sz="2800" dirty="0"/>
          </a:p>
          <a:p>
            <a:pPr marL="0" indent="0">
              <a:buNone/>
            </a:pP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80089" y="1695236"/>
            <a:ext cx="10423333" cy="40011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java -cp lib\antlr-4.13.1-complete.jar org.antlr.v4.Tool demo.g4 -o src\</a:t>
            </a: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089" y="2447708"/>
            <a:ext cx="1908726" cy="1787435"/>
          </a:xfrm>
          <a:prstGeom prst="rect">
            <a:avLst/>
          </a:prstGeom>
        </p:spPr>
      </p:pic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3565251" y="2282298"/>
            <a:ext cx="7438171" cy="410881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public class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Main {</a:t>
            </a: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public static void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main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(String[] args)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throws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IOException {</a:t>
            </a: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final int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EOF=-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1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, 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A=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1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,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B=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2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,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Whitespace=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3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,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Newline=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4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String[] tokenNames =  {  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null,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"A"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,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"B"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,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"WS"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,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"NewLine“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}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if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(args.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length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&lt;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1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) {</a:t>
            </a: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    System.</a:t>
            </a:r>
            <a:r>
              <a:rPr kumimoji="0" lang="zh-CN" altLang="zh-CN" sz="900" b="0" i="1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out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.println(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"Source file not given!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\n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"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)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    return;</a:t>
            </a: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}</a:t>
            </a: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CharStream input = CharStreams.</a:t>
            </a:r>
            <a:r>
              <a:rPr kumimoji="0" lang="zh-CN" altLang="zh-CN" sz="900" b="0" i="1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fromFileName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(args[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0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])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DemoLexer lexer =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new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DemoLexer(input)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BufferedTokenStream tokens =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new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BufferedTokenStream(lexer)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tokens.fill()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for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(Token token : tokens.getTokens()) {</a:t>
            </a: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   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int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token_type = token.getType()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    if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(token_type != -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1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)</a:t>
            </a: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        System.</a:t>
            </a:r>
            <a:r>
              <a:rPr kumimoji="0" lang="zh-CN" altLang="zh-CN" sz="900" b="0" i="1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out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.println(token.getText() +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" : "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+ tokenNames[token.getType()])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}</a:t>
            </a: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DemoParser parser =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new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DemoParser(tokens)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ParseTree tree = parser.root()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// begin parsing at init rule</a:t>
            </a: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System.</a:t>
            </a:r>
            <a:r>
              <a:rPr kumimoji="0" lang="zh-CN" altLang="zh-CN" sz="900" b="0" i="1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out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.println(tree.toStringTree(parser))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//output parser tree</a:t>
            </a: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</a:t>
            </a: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}</a:t>
            </a:r>
            <a:b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}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实战演练：</a:t>
            </a:r>
            <a:r>
              <a:rPr lang="en-US" altLang="zh-CN" dirty="0"/>
              <a:t>ANTLR4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2814" y="875255"/>
            <a:ext cx="2556834" cy="506978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Main.java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462814" y="1382233"/>
            <a:ext cx="10952811" cy="526297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public class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Main {</a:t>
            </a:r>
            <a:b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b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public static void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main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(String[] args)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throws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IOException {</a:t>
            </a:r>
            <a:b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b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b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CharStream input = CharStreams.</a:t>
            </a:r>
            <a:r>
              <a:rPr kumimoji="0" lang="zh-CN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fromFileName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(args[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0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])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DemoLexer lexer =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new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DemoLexer(input)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BufferedTokenStream tokens =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new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BufferedTokenStream(lexer)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tokens.fill()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b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for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(Token token : tokens.getTokens()) {</a:t>
            </a:r>
            <a:b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   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int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token_type = token.getType()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    if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(token_type != -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1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)</a:t>
            </a:r>
            <a:b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        System.</a:t>
            </a:r>
            <a:r>
              <a:rPr kumimoji="0" lang="zh-CN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out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.println(token.getText() +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" : "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+ tokenNames[token.getType()])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}</a:t>
            </a:r>
            <a:b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b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DemoParser parser =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new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DemoParser(tokens)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</a:t>
            </a:r>
            <a:b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ParseTree tree = parser.root()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// begin parsing at init rule</a:t>
            </a:r>
            <a:b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   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System.</a:t>
            </a:r>
            <a:r>
              <a:rPr kumimoji="0" lang="zh-CN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out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.println(tree.toStringTree(parser))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;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//output parser tree</a:t>
            </a:r>
            <a:b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   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}</a:t>
            </a:r>
            <a:b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</a:b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Arial Unicode MS"/>
                <a:ea typeface="JetBrains Mono"/>
                <a:cs typeface="+mn-cs"/>
              </a:rPr>
              <a:t>}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20857" y="1382233"/>
            <a:ext cx="3794768" cy="92333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import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org.antlr.v4.runtime.*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import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org.antlr.v4.runtime.tree.*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A9B7C6"/>
              </a:solidFill>
              <a:effectLst/>
              <a:uLnTx/>
              <a:uFillTx/>
              <a:latin typeface="JetBrains Mono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实战演练：</a:t>
            </a:r>
            <a:r>
              <a:rPr lang="en-US" altLang="zh-CN" dirty="0"/>
              <a:t>ANTLR4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2814" y="875255"/>
            <a:ext cx="2556834" cy="506978"/>
          </a:xfrm>
        </p:spPr>
        <p:txBody>
          <a:bodyPr>
            <a:normAutofit fontScale="92500"/>
          </a:bodyPr>
          <a:lstStyle/>
          <a:p>
            <a:r>
              <a:rPr lang="en-US" altLang="zh-CN" sz="2000" dirty="0"/>
              <a:t>DemoParser.java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1310" y="1574820"/>
            <a:ext cx="6097712" cy="34163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public final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RootContext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root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()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throws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RecognitionException {</a:t>
            </a:r>
            <a:b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RootContext _localctx =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new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RootContext(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_ctx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,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getState())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enterRule(_localctx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,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0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, </a:t>
            </a:r>
            <a:r>
              <a:rPr kumimoji="0" lang="fr-FR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RULE_root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try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{</a:t>
            </a:r>
            <a:b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enterOuterAlt(_localctx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,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{</a:t>
            </a:r>
            <a:b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setState(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8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s()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setState(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9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match(</a:t>
            </a:r>
            <a:r>
              <a:rPr kumimoji="0" lang="fr-FR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EOF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}</a:t>
            </a:r>
            <a:b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}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A9B7C6"/>
              </a:solidFill>
              <a:effectLst/>
              <a:uLnTx/>
              <a:uFillTx/>
              <a:latin typeface="JetBrains Mono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88301" y="257614"/>
            <a:ext cx="5242389" cy="624786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public final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SContext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s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()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throws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RecognitionException {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case </a:t>
            </a:r>
            <a:r>
              <a:rPr kumimoji="0" lang="fr-FR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A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: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   enterOuterAlt(_localctx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,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  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{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   setState(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11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  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a()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  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setState(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12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  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match(</a:t>
            </a:r>
            <a:r>
              <a:rPr kumimoji="0" lang="fr-FR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A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  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setState(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13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  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s()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  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}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  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break;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case </a:t>
            </a:r>
            <a:r>
              <a:rPr kumimoji="0" lang="fr-FR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B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: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case </a:t>
            </a:r>
            <a:r>
              <a:rPr kumimoji="0" lang="fr-FR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C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: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   enterOuterAlt(_localctx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,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  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{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   setState(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15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  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b()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  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setState(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16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  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match(</a:t>
            </a:r>
            <a:r>
              <a:rPr kumimoji="0" lang="fr-FR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B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  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setState(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17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  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s()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;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  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}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   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break;</a:t>
            </a:r>
            <a:b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       case </a:t>
            </a:r>
            <a:r>
              <a:rPr kumimoji="0" lang="fr-FR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D</a:t>
            </a:r>
            <a:r>
              <a:rPr kumimoji="0" lang="fr-FR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:</a:t>
            </a:r>
            <a:endParaRPr kumimoji="0" lang="fr-FR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A9B7C6"/>
              </a:solidFill>
              <a:effectLst/>
              <a:uLnTx/>
              <a:uFillTx/>
              <a:latin typeface="JetBrains Mono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2814" y="5283180"/>
            <a:ext cx="60977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(1)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S→AaS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SELECT(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 { a }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(2)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S→BbS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SELECT(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 { b, c }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(3)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S→d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	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SELECT(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 { d }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2466730"/>
          </a:xfrm>
        </p:spPr>
        <p:txBody>
          <a:bodyPr/>
          <a:lstStyle/>
          <a:p>
            <a:r>
              <a:rPr lang="zh-CN" altLang="en-US" dirty="0"/>
              <a:t>指定生成代码的语言，指定代码存放位置，</a:t>
            </a:r>
            <a:r>
              <a:rPr lang="en-US" altLang="zh-CN" dirty="0"/>
              <a:t>…</a:t>
            </a:r>
            <a:endParaRPr lang="en-US" altLang="zh-CN" dirty="0"/>
          </a:p>
          <a:p>
            <a:r>
              <a:rPr lang="zh-CN" altLang="en-US" dirty="0"/>
              <a:t>需安装</a:t>
            </a:r>
            <a:r>
              <a:rPr lang="en-US" altLang="zh-CN" dirty="0"/>
              <a:t>ANTLR </a:t>
            </a:r>
            <a:r>
              <a:rPr lang="zh-CN" altLang="en-US" dirty="0"/>
              <a:t>运行时库</a:t>
            </a:r>
            <a:endParaRPr lang="en-US" altLang="zh-CN" dirty="0"/>
          </a:p>
          <a:p>
            <a:r>
              <a:rPr lang="en-US" altLang="zh-CN" dirty="0"/>
              <a:t>include</a:t>
            </a:r>
            <a:r>
              <a:rPr lang="zh-CN" altLang="en-US" dirty="0"/>
              <a:t>头文件</a:t>
            </a:r>
            <a:r>
              <a:rPr lang="en-US" altLang="zh-CN" dirty="0"/>
              <a:t>,</a:t>
            </a:r>
            <a:r>
              <a:rPr lang="zh-CN" altLang="en-US" dirty="0"/>
              <a:t>链接时指定运行时库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？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87822" y="3750941"/>
            <a:ext cx="11031078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  <a:t>java -cp "/usr/local/lib/antlr-4.9.3-complete.jar:$CLASSPATH" org.antlr.v4.Tool Sysy.g4 -Dlanguage=Cpp -listener -visitor -o src/</a:t>
            </a:r>
            <a:b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JetBrains Mono"/>
                <a:ea typeface="微软雅黑" panose="020B0503020204020204" pitchFamily="34" charset="-122"/>
                <a:cs typeface="+mn-cs"/>
              </a:rPr>
            </a:b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A9B7C6"/>
              </a:solidFill>
              <a:effectLst/>
              <a:uLnTx/>
              <a:uFillTx/>
              <a:latin typeface="JetBrains Mono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491740" y="2811359"/>
            <a:ext cx="8252460" cy="617641"/>
          </a:xfrm>
        </p:spPr>
        <p:txBody>
          <a:bodyPr>
            <a:noAutofit/>
          </a:bodyPr>
          <a:lstStyle/>
          <a:p>
            <a:r>
              <a:rPr lang="en-US" altLang="zh-CN" sz="3600" dirty="0" err="1"/>
              <a:t>Flex+bison</a:t>
            </a:r>
            <a:r>
              <a:rPr lang="zh-CN" altLang="en-US" sz="3600" dirty="0"/>
              <a:t>：词法和语法分析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712418"/>
          </a:xfrm>
        </p:spPr>
        <p:txBody>
          <a:bodyPr/>
          <a:lstStyle/>
          <a:p>
            <a:r>
              <a:rPr lang="zh-CN" altLang="en-US" dirty="0"/>
              <a:t>给定文法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自底向上语法分析器的自动生成</a:t>
            </a:r>
            <a:r>
              <a:rPr lang="en-US" altLang="zh-CN" dirty="0"/>
              <a:t>(flex + bison)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829930" y="1898319"/>
            <a:ext cx="1498650" cy="1875627"/>
            <a:chOff x="275126" y="1816126"/>
            <a:chExt cx="1498650" cy="1875627"/>
          </a:xfrm>
        </p:grpSpPr>
        <p:sp>
          <p:nvSpPr>
            <p:cNvPr id="5" name="Rectangle 37"/>
            <p:cNvSpPr>
              <a:spLocks noChangeArrowheads="1"/>
            </p:cNvSpPr>
            <p:nvPr/>
          </p:nvSpPr>
          <p:spPr bwMode="auto">
            <a:xfrm>
              <a:off x="276727" y="1816126"/>
              <a:ext cx="1497049" cy="1873294"/>
            </a:xfrm>
            <a:prstGeom prst="roundRect">
              <a:avLst>
                <a:gd name="adj" fmla="val 5415"/>
              </a:avLst>
            </a:prstGeom>
            <a:solidFill>
              <a:schemeClr val="bg1"/>
            </a:solidFill>
            <a:ln w="12700">
              <a:solidFill>
                <a:srgbClr val="0E7C7E"/>
              </a:solidFill>
            </a:ln>
            <a:effectLst>
              <a:outerShdw blurRad="50800" dist="50800" dir="2700000" algn="ctr" rotWithShape="0">
                <a:schemeClr val="tx1"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1) S→L=R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2) S→R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3) L→*R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4) L→id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5) R→L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en-US" altLang="zh-CN" sz="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275126" y="3399339"/>
              <a:ext cx="1494000" cy="292414"/>
            </a:xfrm>
            <a:custGeom>
              <a:avLst/>
              <a:gdLst>
                <a:gd name="connsiteX0" fmla="*/ 2895600 w 2895600"/>
                <a:gd name="connsiteY0" fmla="*/ 0 h 535860"/>
                <a:gd name="connsiteX1" fmla="*/ 2895600 w 2895600"/>
                <a:gd name="connsiteY1" fmla="*/ 396147 h 535860"/>
                <a:gd name="connsiteX2" fmla="*/ 2755887 w 2895600"/>
                <a:gd name="connsiteY2" fmla="*/ 535860 h 535860"/>
                <a:gd name="connsiteX3" fmla="*/ 139713 w 2895600"/>
                <a:gd name="connsiteY3" fmla="*/ 535860 h 535860"/>
                <a:gd name="connsiteX4" fmla="*/ 0 w 2895600"/>
                <a:gd name="connsiteY4" fmla="*/ 396147 h 535860"/>
                <a:gd name="connsiteX5" fmla="*/ 0 w 2895600"/>
                <a:gd name="connsiteY5" fmla="*/ 203266 h 535860"/>
                <a:gd name="connsiteX6" fmla="*/ 9301 w 2895600"/>
                <a:gd name="connsiteY6" fmla="*/ 207843 h 535860"/>
                <a:gd name="connsiteX7" fmla="*/ 1274905 w 2895600"/>
                <a:gd name="connsiteY7" fmla="*/ 453829 h 535860"/>
                <a:gd name="connsiteX8" fmla="*/ 2810218 w 2895600"/>
                <a:gd name="connsiteY8" fmla="*/ 61819 h 5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600" h="535860">
                  <a:moveTo>
                    <a:pt x="2895600" y="0"/>
                  </a:moveTo>
                  <a:lnTo>
                    <a:pt x="2895600" y="396147"/>
                  </a:lnTo>
                  <a:cubicBezTo>
                    <a:pt x="2895600" y="473308"/>
                    <a:pt x="2833048" y="535860"/>
                    <a:pt x="2755887" y="535860"/>
                  </a:cubicBezTo>
                  <a:lnTo>
                    <a:pt x="139713" y="535860"/>
                  </a:lnTo>
                  <a:cubicBezTo>
                    <a:pt x="62552" y="535860"/>
                    <a:pt x="0" y="473308"/>
                    <a:pt x="0" y="396147"/>
                  </a:cubicBezTo>
                  <a:lnTo>
                    <a:pt x="0" y="203266"/>
                  </a:lnTo>
                  <a:lnTo>
                    <a:pt x="9301" y="207843"/>
                  </a:lnTo>
                  <a:cubicBezTo>
                    <a:pt x="353230" y="361516"/>
                    <a:pt x="794156" y="453829"/>
                    <a:pt x="1274905" y="453829"/>
                  </a:cubicBezTo>
                  <a:cubicBezTo>
                    <a:pt x="1893011" y="453829"/>
                    <a:pt x="2445286" y="301229"/>
                    <a:pt x="2810218" y="61819"/>
                  </a:cubicBezTo>
                  <a:close/>
                </a:path>
              </a:pathLst>
            </a:custGeom>
            <a:solidFill>
              <a:srgbClr val="1996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829930" y="4255018"/>
            <a:ext cx="102784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S: start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L: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R: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id:ID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15019" y="2209339"/>
            <a:ext cx="5380835" cy="2554545"/>
          </a:xfrm>
          <a:prstGeom prst="rect">
            <a:avLst/>
          </a:prstGeom>
          <a:solidFill>
            <a:srgbClr val="FFFFFF"/>
          </a:solidFill>
          <a:ln>
            <a:solidFill>
              <a:srgbClr val="0E7C7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tokens.l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词法规则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parser.y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语法规则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main.cpp       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主程序入口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flex-bison.sh   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分析器代码生成脚本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MAKEFILE       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项目构建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makefile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gen-graph.sh  # LR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自动机图转换脚本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└──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test.txt           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测试输入文件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55258" y="171118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项目文件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15019" y="5070626"/>
            <a:ext cx="203478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value = *address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ptr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= data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simple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 j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= j = k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712418"/>
          </a:xfrm>
        </p:spPr>
        <p:txBody>
          <a:bodyPr/>
          <a:lstStyle/>
          <a:p>
            <a:r>
              <a:rPr lang="en-US" altLang="zh-CN" dirty="0" err="1"/>
              <a:t>tokens.l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自底向上语法分析器的自动生成</a:t>
            </a:r>
            <a:r>
              <a:rPr lang="en-US" altLang="zh-CN" dirty="0"/>
              <a:t>(flex + bison)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829930" y="1898319"/>
            <a:ext cx="1498650" cy="1875627"/>
            <a:chOff x="275126" y="1816126"/>
            <a:chExt cx="1498650" cy="1875627"/>
          </a:xfrm>
        </p:grpSpPr>
        <p:sp>
          <p:nvSpPr>
            <p:cNvPr id="5" name="Rectangle 37"/>
            <p:cNvSpPr>
              <a:spLocks noChangeArrowheads="1"/>
            </p:cNvSpPr>
            <p:nvPr/>
          </p:nvSpPr>
          <p:spPr bwMode="auto">
            <a:xfrm>
              <a:off x="276727" y="1816126"/>
              <a:ext cx="1497049" cy="1873294"/>
            </a:xfrm>
            <a:prstGeom prst="roundRect">
              <a:avLst>
                <a:gd name="adj" fmla="val 5415"/>
              </a:avLst>
            </a:prstGeom>
            <a:solidFill>
              <a:schemeClr val="bg1"/>
            </a:solidFill>
            <a:ln w="12700">
              <a:solidFill>
                <a:srgbClr val="0E7C7E"/>
              </a:solidFill>
            </a:ln>
            <a:effectLst>
              <a:outerShdw blurRad="50800" dist="50800" dir="2700000" algn="ctr" rotWithShape="0">
                <a:schemeClr val="tx1"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1) S→L=R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2) S→R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3) L→*R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4) L→id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5) R→L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en-US" altLang="zh-CN" sz="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275126" y="3399339"/>
              <a:ext cx="1494000" cy="292414"/>
            </a:xfrm>
            <a:custGeom>
              <a:avLst/>
              <a:gdLst>
                <a:gd name="connsiteX0" fmla="*/ 2895600 w 2895600"/>
                <a:gd name="connsiteY0" fmla="*/ 0 h 535860"/>
                <a:gd name="connsiteX1" fmla="*/ 2895600 w 2895600"/>
                <a:gd name="connsiteY1" fmla="*/ 396147 h 535860"/>
                <a:gd name="connsiteX2" fmla="*/ 2755887 w 2895600"/>
                <a:gd name="connsiteY2" fmla="*/ 535860 h 535860"/>
                <a:gd name="connsiteX3" fmla="*/ 139713 w 2895600"/>
                <a:gd name="connsiteY3" fmla="*/ 535860 h 535860"/>
                <a:gd name="connsiteX4" fmla="*/ 0 w 2895600"/>
                <a:gd name="connsiteY4" fmla="*/ 396147 h 535860"/>
                <a:gd name="connsiteX5" fmla="*/ 0 w 2895600"/>
                <a:gd name="connsiteY5" fmla="*/ 203266 h 535860"/>
                <a:gd name="connsiteX6" fmla="*/ 9301 w 2895600"/>
                <a:gd name="connsiteY6" fmla="*/ 207843 h 535860"/>
                <a:gd name="connsiteX7" fmla="*/ 1274905 w 2895600"/>
                <a:gd name="connsiteY7" fmla="*/ 453829 h 535860"/>
                <a:gd name="connsiteX8" fmla="*/ 2810218 w 2895600"/>
                <a:gd name="connsiteY8" fmla="*/ 61819 h 5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600" h="535860">
                  <a:moveTo>
                    <a:pt x="2895600" y="0"/>
                  </a:moveTo>
                  <a:lnTo>
                    <a:pt x="2895600" y="396147"/>
                  </a:lnTo>
                  <a:cubicBezTo>
                    <a:pt x="2895600" y="473308"/>
                    <a:pt x="2833048" y="535860"/>
                    <a:pt x="2755887" y="535860"/>
                  </a:cubicBezTo>
                  <a:lnTo>
                    <a:pt x="139713" y="535860"/>
                  </a:lnTo>
                  <a:cubicBezTo>
                    <a:pt x="62552" y="535860"/>
                    <a:pt x="0" y="473308"/>
                    <a:pt x="0" y="396147"/>
                  </a:cubicBezTo>
                  <a:lnTo>
                    <a:pt x="0" y="203266"/>
                  </a:lnTo>
                  <a:lnTo>
                    <a:pt x="9301" y="207843"/>
                  </a:lnTo>
                  <a:cubicBezTo>
                    <a:pt x="353230" y="361516"/>
                    <a:pt x="794156" y="453829"/>
                    <a:pt x="1274905" y="453829"/>
                  </a:cubicBezTo>
                  <a:cubicBezTo>
                    <a:pt x="1893011" y="453829"/>
                    <a:pt x="2445286" y="301229"/>
                    <a:pt x="2810218" y="61819"/>
                  </a:cubicBezTo>
                  <a:close/>
                </a:path>
              </a:pathLst>
            </a:custGeom>
            <a:solidFill>
              <a:srgbClr val="1996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808346" y="4255018"/>
            <a:ext cx="10278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S: start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L: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R: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id:ID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08962" y="816958"/>
            <a:ext cx="8160391" cy="5632311"/>
          </a:xfrm>
          <a:prstGeom prst="rect">
            <a:avLst/>
          </a:prstGeom>
          <a:solidFill>
            <a:srgbClr val="FFFFFF"/>
          </a:solidFill>
          <a:ln>
            <a:solidFill>
              <a:srgbClr val="0E7C7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%option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noyywrap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%option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yylineno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%{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#include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&lt;string&gt;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#include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&lt;iostream&gt;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#include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"parser.hpp"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yycolumn=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#define YY_USER_ACTION {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…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     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%}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ID [a-z_A-Z][a-z_A-Z0-9]*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WHITESPACE  [ \t]+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%%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11F3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WHITESPACE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 {}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11F3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{ID}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       { yylval.str = strdup(yytext);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return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ID;}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11F3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[\n]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       {yycolumn=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return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NEWLINE;}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11F3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          {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return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yytext[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];}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712418"/>
          </a:xfrm>
        </p:spPr>
        <p:txBody>
          <a:bodyPr/>
          <a:lstStyle/>
          <a:p>
            <a:r>
              <a:rPr lang="en-US" altLang="zh-CN" dirty="0" err="1"/>
              <a:t>parser.y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自底向上语法分析器的自动生成</a:t>
            </a:r>
            <a:r>
              <a:rPr lang="en-US" altLang="zh-CN" dirty="0"/>
              <a:t>(flex + bison)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829930" y="1898319"/>
            <a:ext cx="1498650" cy="1875627"/>
            <a:chOff x="275126" y="1816126"/>
            <a:chExt cx="1498650" cy="1875627"/>
          </a:xfrm>
        </p:grpSpPr>
        <p:sp>
          <p:nvSpPr>
            <p:cNvPr id="5" name="Rectangle 37"/>
            <p:cNvSpPr>
              <a:spLocks noChangeArrowheads="1"/>
            </p:cNvSpPr>
            <p:nvPr/>
          </p:nvSpPr>
          <p:spPr bwMode="auto">
            <a:xfrm>
              <a:off x="276727" y="1816126"/>
              <a:ext cx="1497049" cy="1873294"/>
            </a:xfrm>
            <a:prstGeom prst="roundRect">
              <a:avLst>
                <a:gd name="adj" fmla="val 5415"/>
              </a:avLst>
            </a:prstGeom>
            <a:solidFill>
              <a:schemeClr val="bg1"/>
            </a:solidFill>
            <a:ln w="12700">
              <a:solidFill>
                <a:srgbClr val="0E7C7E"/>
              </a:solidFill>
            </a:ln>
            <a:effectLst>
              <a:outerShdw blurRad="50800" dist="50800" dir="2700000" algn="ctr" rotWithShape="0">
                <a:schemeClr val="tx1"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1) S→L=R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2) S→R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3) L→*R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4) L→id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5) R→L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en-US" altLang="zh-CN" sz="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275126" y="3399339"/>
              <a:ext cx="1494000" cy="292414"/>
            </a:xfrm>
            <a:custGeom>
              <a:avLst/>
              <a:gdLst>
                <a:gd name="connsiteX0" fmla="*/ 2895600 w 2895600"/>
                <a:gd name="connsiteY0" fmla="*/ 0 h 535860"/>
                <a:gd name="connsiteX1" fmla="*/ 2895600 w 2895600"/>
                <a:gd name="connsiteY1" fmla="*/ 396147 h 535860"/>
                <a:gd name="connsiteX2" fmla="*/ 2755887 w 2895600"/>
                <a:gd name="connsiteY2" fmla="*/ 535860 h 535860"/>
                <a:gd name="connsiteX3" fmla="*/ 139713 w 2895600"/>
                <a:gd name="connsiteY3" fmla="*/ 535860 h 535860"/>
                <a:gd name="connsiteX4" fmla="*/ 0 w 2895600"/>
                <a:gd name="connsiteY4" fmla="*/ 396147 h 535860"/>
                <a:gd name="connsiteX5" fmla="*/ 0 w 2895600"/>
                <a:gd name="connsiteY5" fmla="*/ 203266 h 535860"/>
                <a:gd name="connsiteX6" fmla="*/ 9301 w 2895600"/>
                <a:gd name="connsiteY6" fmla="*/ 207843 h 535860"/>
                <a:gd name="connsiteX7" fmla="*/ 1274905 w 2895600"/>
                <a:gd name="connsiteY7" fmla="*/ 453829 h 535860"/>
                <a:gd name="connsiteX8" fmla="*/ 2810218 w 2895600"/>
                <a:gd name="connsiteY8" fmla="*/ 61819 h 5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600" h="535860">
                  <a:moveTo>
                    <a:pt x="2895600" y="0"/>
                  </a:moveTo>
                  <a:lnTo>
                    <a:pt x="2895600" y="396147"/>
                  </a:lnTo>
                  <a:cubicBezTo>
                    <a:pt x="2895600" y="473308"/>
                    <a:pt x="2833048" y="535860"/>
                    <a:pt x="2755887" y="535860"/>
                  </a:cubicBezTo>
                  <a:lnTo>
                    <a:pt x="139713" y="535860"/>
                  </a:lnTo>
                  <a:cubicBezTo>
                    <a:pt x="62552" y="535860"/>
                    <a:pt x="0" y="473308"/>
                    <a:pt x="0" y="396147"/>
                  </a:cubicBezTo>
                  <a:lnTo>
                    <a:pt x="0" y="203266"/>
                  </a:lnTo>
                  <a:lnTo>
                    <a:pt x="9301" y="207843"/>
                  </a:lnTo>
                  <a:cubicBezTo>
                    <a:pt x="353230" y="361516"/>
                    <a:pt x="794156" y="453829"/>
                    <a:pt x="1274905" y="453829"/>
                  </a:cubicBezTo>
                  <a:cubicBezTo>
                    <a:pt x="1893011" y="453829"/>
                    <a:pt x="2445286" y="301229"/>
                    <a:pt x="2810218" y="61819"/>
                  </a:cubicBezTo>
                  <a:close/>
                </a:path>
              </a:pathLst>
            </a:custGeom>
            <a:solidFill>
              <a:srgbClr val="1996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808346" y="4255018"/>
            <a:ext cx="10278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S: start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L: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R: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id:ID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05768" y="1015286"/>
            <a:ext cx="8160391" cy="5632311"/>
          </a:xfrm>
          <a:prstGeom prst="rect">
            <a:avLst/>
          </a:prstGeom>
          <a:solidFill>
            <a:srgbClr val="FFFFFF"/>
          </a:solidFill>
          <a:ln>
            <a:solidFill>
              <a:srgbClr val="0E7C7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%define parse.error verbose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%locations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%{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#include &lt;memory&gt;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#include &lt;cstring&gt;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#include &lt;stdarg.h&gt;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using namespace std;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extern int yylineno;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extern int yylex();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extern void yyerror(const char *s);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extern void initFileName(char *name);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char filename[100];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%}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%union {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char* str;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712418"/>
          </a:xfrm>
        </p:spPr>
        <p:txBody>
          <a:bodyPr/>
          <a:lstStyle/>
          <a:p>
            <a:r>
              <a:rPr lang="en-US" altLang="zh-CN" dirty="0" err="1"/>
              <a:t>parser.y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自底向上语法分析器的自动生成</a:t>
            </a:r>
            <a:r>
              <a:rPr lang="en-US" altLang="zh-CN" dirty="0"/>
              <a:t>(flex + bison)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829930" y="1898319"/>
            <a:ext cx="1498650" cy="1875627"/>
            <a:chOff x="275126" y="1816126"/>
            <a:chExt cx="1498650" cy="1875627"/>
          </a:xfrm>
        </p:grpSpPr>
        <p:sp>
          <p:nvSpPr>
            <p:cNvPr id="5" name="Rectangle 37"/>
            <p:cNvSpPr>
              <a:spLocks noChangeArrowheads="1"/>
            </p:cNvSpPr>
            <p:nvPr/>
          </p:nvSpPr>
          <p:spPr bwMode="auto">
            <a:xfrm>
              <a:off x="276727" y="1816126"/>
              <a:ext cx="1497049" cy="1873294"/>
            </a:xfrm>
            <a:prstGeom prst="roundRect">
              <a:avLst>
                <a:gd name="adj" fmla="val 5415"/>
              </a:avLst>
            </a:prstGeom>
            <a:solidFill>
              <a:schemeClr val="bg1"/>
            </a:solidFill>
            <a:ln w="12700">
              <a:solidFill>
                <a:srgbClr val="0E7C7E"/>
              </a:solidFill>
            </a:ln>
            <a:effectLst>
              <a:outerShdw blurRad="50800" dist="50800" dir="2700000" algn="ctr" rotWithShape="0">
                <a:schemeClr val="tx1"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1) S→L=R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2) S→R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3) L→*R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4) L→id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5) R→L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en-US" altLang="zh-CN" sz="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275126" y="3399339"/>
              <a:ext cx="1494000" cy="292414"/>
            </a:xfrm>
            <a:custGeom>
              <a:avLst/>
              <a:gdLst>
                <a:gd name="connsiteX0" fmla="*/ 2895600 w 2895600"/>
                <a:gd name="connsiteY0" fmla="*/ 0 h 535860"/>
                <a:gd name="connsiteX1" fmla="*/ 2895600 w 2895600"/>
                <a:gd name="connsiteY1" fmla="*/ 396147 h 535860"/>
                <a:gd name="connsiteX2" fmla="*/ 2755887 w 2895600"/>
                <a:gd name="connsiteY2" fmla="*/ 535860 h 535860"/>
                <a:gd name="connsiteX3" fmla="*/ 139713 w 2895600"/>
                <a:gd name="connsiteY3" fmla="*/ 535860 h 535860"/>
                <a:gd name="connsiteX4" fmla="*/ 0 w 2895600"/>
                <a:gd name="connsiteY4" fmla="*/ 396147 h 535860"/>
                <a:gd name="connsiteX5" fmla="*/ 0 w 2895600"/>
                <a:gd name="connsiteY5" fmla="*/ 203266 h 535860"/>
                <a:gd name="connsiteX6" fmla="*/ 9301 w 2895600"/>
                <a:gd name="connsiteY6" fmla="*/ 207843 h 535860"/>
                <a:gd name="connsiteX7" fmla="*/ 1274905 w 2895600"/>
                <a:gd name="connsiteY7" fmla="*/ 453829 h 535860"/>
                <a:gd name="connsiteX8" fmla="*/ 2810218 w 2895600"/>
                <a:gd name="connsiteY8" fmla="*/ 61819 h 5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600" h="535860">
                  <a:moveTo>
                    <a:pt x="2895600" y="0"/>
                  </a:moveTo>
                  <a:lnTo>
                    <a:pt x="2895600" y="396147"/>
                  </a:lnTo>
                  <a:cubicBezTo>
                    <a:pt x="2895600" y="473308"/>
                    <a:pt x="2833048" y="535860"/>
                    <a:pt x="2755887" y="535860"/>
                  </a:cubicBezTo>
                  <a:lnTo>
                    <a:pt x="139713" y="535860"/>
                  </a:lnTo>
                  <a:cubicBezTo>
                    <a:pt x="62552" y="535860"/>
                    <a:pt x="0" y="473308"/>
                    <a:pt x="0" y="396147"/>
                  </a:cubicBezTo>
                  <a:lnTo>
                    <a:pt x="0" y="203266"/>
                  </a:lnTo>
                  <a:lnTo>
                    <a:pt x="9301" y="207843"/>
                  </a:lnTo>
                  <a:cubicBezTo>
                    <a:pt x="353230" y="361516"/>
                    <a:pt x="794156" y="453829"/>
                    <a:pt x="1274905" y="453829"/>
                  </a:cubicBezTo>
                  <a:cubicBezTo>
                    <a:pt x="1893011" y="453829"/>
                    <a:pt x="2445286" y="301229"/>
                    <a:pt x="2810218" y="61819"/>
                  </a:cubicBezTo>
                  <a:close/>
                </a:path>
              </a:pathLst>
            </a:custGeom>
            <a:solidFill>
              <a:srgbClr val="1996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808346" y="4255018"/>
            <a:ext cx="10278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S: start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L: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R: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id:ID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23263" y="1061006"/>
            <a:ext cx="8160391" cy="5324535"/>
          </a:xfrm>
          <a:prstGeom prst="rect">
            <a:avLst/>
          </a:prstGeom>
          <a:solidFill>
            <a:srgbClr val="FFFFFF"/>
          </a:solidFill>
          <a:ln>
            <a:solidFill>
              <a:srgbClr val="0E7C7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%token '='  '*'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%token &lt;str&gt; ID NEWLINE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%type &lt;str&gt; lval rval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%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start start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%%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start: lval '=' rval 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 		} 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| rval 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   }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	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lval: '*' rval 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    }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| ID 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        }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rval: lval 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   } 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%%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712418"/>
          </a:xfrm>
        </p:spPr>
        <p:txBody>
          <a:bodyPr/>
          <a:lstStyle/>
          <a:p>
            <a:r>
              <a:rPr lang="en-US" altLang="zh-CN" dirty="0" err="1"/>
              <a:t>parser.y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自底向上语法分析器的自动生成</a:t>
            </a:r>
            <a:r>
              <a:rPr lang="en-US" altLang="zh-CN" dirty="0"/>
              <a:t>(flex + bison)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829930" y="1898319"/>
            <a:ext cx="1498650" cy="1875627"/>
            <a:chOff x="275126" y="1816126"/>
            <a:chExt cx="1498650" cy="1875627"/>
          </a:xfrm>
        </p:grpSpPr>
        <p:sp>
          <p:nvSpPr>
            <p:cNvPr id="5" name="Rectangle 37"/>
            <p:cNvSpPr>
              <a:spLocks noChangeArrowheads="1"/>
            </p:cNvSpPr>
            <p:nvPr/>
          </p:nvSpPr>
          <p:spPr bwMode="auto">
            <a:xfrm>
              <a:off x="276727" y="1816126"/>
              <a:ext cx="1497049" cy="1873294"/>
            </a:xfrm>
            <a:prstGeom prst="roundRect">
              <a:avLst>
                <a:gd name="adj" fmla="val 5415"/>
              </a:avLst>
            </a:prstGeom>
            <a:solidFill>
              <a:schemeClr val="bg1"/>
            </a:solidFill>
            <a:ln w="12700">
              <a:solidFill>
                <a:srgbClr val="0E7C7E"/>
              </a:solidFill>
            </a:ln>
            <a:effectLst>
              <a:outerShdw blurRad="50800" dist="50800" dir="2700000" algn="ctr" rotWithShape="0">
                <a:schemeClr val="tx1"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1) S→L=R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2) S→R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3) L→*R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4) L→id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5) R→L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en-US" altLang="zh-CN" sz="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275126" y="3399339"/>
              <a:ext cx="1494000" cy="292414"/>
            </a:xfrm>
            <a:custGeom>
              <a:avLst/>
              <a:gdLst>
                <a:gd name="connsiteX0" fmla="*/ 2895600 w 2895600"/>
                <a:gd name="connsiteY0" fmla="*/ 0 h 535860"/>
                <a:gd name="connsiteX1" fmla="*/ 2895600 w 2895600"/>
                <a:gd name="connsiteY1" fmla="*/ 396147 h 535860"/>
                <a:gd name="connsiteX2" fmla="*/ 2755887 w 2895600"/>
                <a:gd name="connsiteY2" fmla="*/ 535860 h 535860"/>
                <a:gd name="connsiteX3" fmla="*/ 139713 w 2895600"/>
                <a:gd name="connsiteY3" fmla="*/ 535860 h 535860"/>
                <a:gd name="connsiteX4" fmla="*/ 0 w 2895600"/>
                <a:gd name="connsiteY4" fmla="*/ 396147 h 535860"/>
                <a:gd name="connsiteX5" fmla="*/ 0 w 2895600"/>
                <a:gd name="connsiteY5" fmla="*/ 203266 h 535860"/>
                <a:gd name="connsiteX6" fmla="*/ 9301 w 2895600"/>
                <a:gd name="connsiteY6" fmla="*/ 207843 h 535860"/>
                <a:gd name="connsiteX7" fmla="*/ 1274905 w 2895600"/>
                <a:gd name="connsiteY7" fmla="*/ 453829 h 535860"/>
                <a:gd name="connsiteX8" fmla="*/ 2810218 w 2895600"/>
                <a:gd name="connsiteY8" fmla="*/ 61819 h 5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600" h="535860">
                  <a:moveTo>
                    <a:pt x="2895600" y="0"/>
                  </a:moveTo>
                  <a:lnTo>
                    <a:pt x="2895600" y="396147"/>
                  </a:lnTo>
                  <a:cubicBezTo>
                    <a:pt x="2895600" y="473308"/>
                    <a:pt x="2833048" y="535860"/>
                    <a:pt x="2755887" y="535860"/>
                  </a:cubicBezTo>
                  <a:lnTo>
                    <a:pt x="139713" y="535860"/>
                  </a:lnTo>
                  <a:cubicBezTo>
                    <a:pt x="62552" y="535860"/>
                    <a:pt x="0" y="473308"/>
                    <a:pt x="0" y="396147"/>
                  </a:cubicBezTo>
                  <a:lnTo>
                    <a:pt x="0" y="203266"/>
                  </a:lnTo>
                  <a:lnTo>
                    <a:pt x="9301" y="207843"/>
                  </a:lnTo>
                  <a:cubicBezTo>
                    <a:pt x="353230" y="361516"/>
                    <a:pt x="794156" y="453829"/>
                    <a:pt x="1274905" y="453829"/>
                  </a:cubicBezTo>
                  <a:cubicBezTo>
                    <a:pt x="1893011" y="453829"/>
                    <a:pt x="2445286" y="301229"/>
                    <a:pt x="2810218" y="61819"/>
                  </a:cubicBezTo>
                  <a:close/>
                </a:path>
              </a:pathLst>
            </a:custGeom>
            <a:solidFill>
              <a:srgbClr val="1996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808346" y="4255018"/>
            <a:ext cx="10278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S: start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L: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R: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id:ID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23263" y="1232456"/>
            <a:ext cx="8160391" cy="2554545"/>
          </a:xfrm>
          <a:prstGeom prst="rect">
            <a:avLst/>
          </a:prstGeom>
          <a:solidFill>
            <a:srgbClr val="FFFFFF"/>
          </a:solidFill>
          <a:ln>
            <a:solidFill>
              <a:srgbClr val="0E7C7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 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initFileName(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char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*name)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strcpy(filename, name);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yyerror(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const char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 fmt) 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printf(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"%s: line %d "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filename, yylloc.first_line);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printf(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"%s\n"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fmt);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712418"/>
          </a:xfrm>
        </p:spPr>
        <p:txBody>
          <a:bodyPr/>
          <a:lstStyle/>
          <a:p>
            <a:r>
              <a:rPr lang="en-US" altLang="zh-CN" dirty="0"/>
              <a:t>main.cpp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自底向上语法分析器的自动生成</a:t>
            </a:r>
            <a:r>
              <a:rPr lang="en-US" altLang="zh-CN" dirty="0"/>
              <a:t>(flex + bison)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829930" y="1898319"/>
            <a:ext cx="1498650" cy="1875627"/>
            <a:chOff x="275126" y="1816126"/>
            <a:chExt cx="1498650" cy="1875627"/>
          </a:xfrm>
        </p:grpSpPr>
        <p:sp>
          <p:nvSpPr>
            <p:cNvPr id="5" name="Rectangle 37"/>
            <p:cNvSpPr>
              <a:spLocks noChangeArrowheads="1"/>
            </p:cNvSpPr>
            <p:nvPr/>
          </p:nvSpPr>
          <p:spPr bwMode="auto">
            <a:xfrm>
              <a:off x="276727" y="1816126"/>
              <a:ext cx="1497049" cy="1873294"/>
            </a:xfrm>
            <a:prstGeom prst="roundRect">
              <a:avLst>
                <a:gd name="adj" fmla="val 5415"/>
              </a:avLst>
            </a:prstGeom>
            <a:solidFill>
              <a:schemeClr val="bg1"/>
            </a:solidFill>
            <a:ln w="12700">
              <a:solidFill>
                <a:srgbClr val="0E7C7E"/>
              </a:solidFill>
            </a:ln>
            <a:effectLst>
              <a:outerShdw blurRad="50800" dist="50800" dir="2700000" algn="ctr" rotWithShape="0">
                <a:schemeClr val="tx1"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1) S→L=R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2) S→R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3) L→*R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4) L→id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5) R→L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en-US" altLang="zh-CN" sz="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275126" y="3399339"/>
              <a:ext cx="1494000" cy="292414"/>
            </a:xfrm>
            <a:custGeom>
              <a:avLst/>
              <a:gdLst>
                <a:gd name="connsiteX0" fmla="*/ 2895600 w 2895600"/>
                <a:gd name="connsiteY0" fmla="*/ 0 h 535860"/>
                <a:gd name="connsiteX1" fmla="*/ 2895600 w 2895600"/>
                <a:gd name="connsiteY1" fmla="*/ 396147 h 535860"/>
                <a:gd name="connsiteX2" fmla="*/ 2755887 w 2895600"/>
                <a:gd name="connsiteY2" fmla="*/ 535860 h 535860"/>
                <a:gd name="connsiteX3" fmla="*/ 139713 w 2895600"/>
                <a:gd name="connsiteY3" fmla="*/ 535860 h 535860"/>
                <a:gd name="connsiteX4" fmla="*/ 0 w 2895600"/>
                <a:gd name="connsiteY4" fmla="*/ 396147 h 535860"/>
                <a:gd name="connsiteX5" fmla="*/ 0 w 2895600"/>
                <a:gd name="connsiteY5" fmla="*/ 203266 h 535860"/>
                <a:gd name="connsiteX6" fmla="*/ 9301 w 2895600"/>
                <a:gd name="connsiteY6" fmla="*/ 207843 h 535860"/>
                <a:gd name="connsiteX7" fmla="*/ 1274905 w 2895600"/>
                <a:gd name="connsiteY7" fmla="*/ 453829 h 535860"/>
                <a:gd name="connsiteX8" fmla="*/ 2810218 w 2895600"/>
                <a:gd name="connsiteY8" fmla="*/ 61819 h 5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600" h="535860">
                  <a:moveTo>
                    <a:pt x="2895600" y="0"/>
                  </a:moveTo>
                  <a:lnTo>
                    <a:pt x="2895600" y="396147"/>
                  </a:lnTo>
                  <a:cubicBezTo>
                    <a:pt x="2895600" y="473308"/>
                    <a:pt x="2833048" y="535860"/>
                    <a:pt x="2755887" y="535860"/>
                  </a:cubicBezTo>
                  <a:lnTo>
                    <a:pt x="139713" y="535860"/>
                  </a:lnTo>
                  <a:cubicBezTo>
                    <a:pt x="62552" y="535860"/>
                    <a:pt x="0" y="473308"/>
                    <a:pt x="0" y="396147"/>
                  </a:cubicBezTo>
                  <a:lnTo>
                    <a:pt x="0" y="203266"/>
                  </a:lnTo>
                  <a:lnTo>
                    <a:pt x="9301" y="207843"/>
                  </a:lnTo>
                  <a:cubicBezTo>
                    <a:pt x="353230" y="361516"/>
                    <a:pt x="794156" y="453829"/>
                    <a:pt x="1274905" y="453829"/>
                  </a:cubicBezTo>
                  <a:cubicBezTo>
                    <a:pt x="1893011" y="453829"/>
                    <a:pt x="2445286" y="301229"/>
                    <a:pt x="2810218" y="61819"/>
                  </a:cubicBezTo>
                  <a:close/>
                </a:path>
              </a:pathLst>
            </a:custGeom>
            <a:solidFill>
              <a:srgbClr val="1996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808346" y="4255018"/>
            <a:ext cx="10278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S: start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L: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R: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id:ID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23263" y="1232456"/>
            <a:ext cx="8160391" cy="4708981"/>
          </a:xfrm>
          <a:prstGeom prst="rect">
            <a:avLst/>
          </a:prstGeom>
          <a:solidFill>
            <a:srgbClr val="FFFFFF"/>
          </a:solidFill>
          <a:ln>
            <a:solidFill>
              <a:srgbClr val="0E7C7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#include &lt;fstream&gt;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#include &lt;iostream&gt;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#include &lt;cassert&gt;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#include &lt;string&gt;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#include &lt;cstring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extern int yyparse();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extern void initFileName(char *);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extern FILE *yyin;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 main(int argc, char **argv) {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if (argc &lt; 2) {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std::cerr &lt;&lt; "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用法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" &lt;&lt; 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argv[0] &lt;&lt; " &lt;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文件名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&gt;" &lt;&lt; 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std::endl;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return 1;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}        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712418"/>
          </a:xfrm>
        </p:spPr>
        <p:txBody>
          <a:bodyPr/>
          <a:lstStyle/>
          <a:p>
            <a:r>
              <a:rPr lang="en-US" altLang="zh-CN" dirty="0"/>
              <a:t>main.cpp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自底向上语法分析器的自动生成</a:t>
            </a:r>
            <a:r>
              <a:rPr lang="en-US" altLang="zh-CN" dirty="0"/>
              <a:t>(flex + bison)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829930" y="1898319"/>
            <a:ext cx="1498650" cy="1875627"/>
            <a:chOff x="275126" y="1816126"/>
            <a:chExt cx="1498650" cy="1875627"/>
          </a:xfrm>
        </p:grpSpPr>
        <p:sp>
          <p:nvSpPr>
            <p:cNvPr id="5" name="Rectangle 37"/>
            <p:cNvSpPr>
              <a:spLocks noChangeArrowheads="1"/>
            </p:cNvSpPr>
            <p:nvPr/>
          </p:nvSpPr>
          <p:spPr bwMode="auto">
            <a:xfrm>
              <a:off x="276727" y="1816126"/>
              <a:ext cx="1497049" cy="1873294"/>
            </a:xfrm>
            <a:prstGeom prst="roundRect">
              <a:avLst>
                <a:gd name="adj" fmla="val 5415"/>
              </a:avLst>
            </a:prstGeom>
            <a:solidFill>
              <a:schemeClr val="bg1"/>
            </a:solidFill>
            <a:ln w="12700">
              <a:solidFill>
                <a:srgbClr val="0E7C7E"/>
              </a:solidFill>
            </a:ln>
            <a:effectLst>
              <a:outerShdw blurRad="50800" dist="50800" dir="2700000" algn="ctr" rotWithShape="0">
                <a:schemeClr val="tx1"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1) S→L=R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2) S→R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3) L→*R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4) L→id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5) R→L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en-US" altLang="zh-CN" sz="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275126" y="3399339"/>
              <a:ext cx="1494000" cy="292414"/>
            </a:xfrm>
            <a:custGeom>
              <a:avLst/>
              <a:gdLst>
                <a:gd name="connsiteX0" fmla="*/ 2895600 w 2895600"/>
                <a:gd name="connsiteY0" fmla="*/ 0 h 535860"/>
                <a:gd name="connsiteX1" fmla="*/ 2895600 w 2895600"/>
                <a:gd name="connsiteY1" fmla="*/ 396147 h 535860"/>
                <a:gd name="connsiteX2" fmla="*/ 2755887 w 2895600"/>
                <a:gd name="connsiteY2" fmla="*/ 535860 h 535860"/>
                <a:gd name="connsiteX3" fmla="*/ 139713 w 2895600"/>
                <a:gd name="connsiteY3" fmla="*/ 535860 h 535860"/>
                <a:gd name="connsiteX4" fmla="*/ 0 w 2895600"/>
                <a:gd name="connsiteY4" fmla="*/ 396147 h 535860"/>
                <a:gd name="connsiteX5" fmla="*/ 0 w 2895600"/>
                <a:gd name="connsiteY5" fmla="*/ 203266 h 535860"/>
                <a:gd name="connsiteX6" fmla="*/ 9301 w 2895600"/>
                <a:gd name="connsiteY6" fmla="*/ 207843 h 535860"/>
                <a:gd name="connsiteX7" fmla="*/ 1274905 w 2895600"/>
                <a:gd name="connsiteY7" fmla="*/ 453829 h 535860"/>
                <a:gd name="connsiteX8" fmla="*/ 2810218 w 2895600"/>
                <a:gd name="connsiteY8" fmla="*/ 61819 h 5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600" h="535860">
                  <a:moveTo>
                    <a:pt x="2895600" y="0"/>
                  </a:moveTo>
                  <a:lnTo>
                    <a:pt x="2895600" y="396147"/>
                  </a:lnTo>
                  <a:cubicBezTo>
                    <a:pt x="2895600" y="473308"/>
                    <a:pt x="2833048" y="535860"/>
                    <a:pt x="2755887" y="535860"/>
                  </a:cubicBezTo>
                  <a:lnTo>
                    <a:pt x="139713" y="535860"/>
                  </a:lnTo>
                  <a:cubicBezTo>
                    <a:pt x="62552" y="535860"/>
                    <a:pt x="0" y="473308"/>
                    <a:pt x="0" y="396147"/>
                  </a:cubicBezTo>
                  <a:lnTo>
                    <a:pt x="0" y="203266"/>
                  </a:lnTo>
                  <a:lnTo>
                    <a:pt x="9301" y="207843"/>
                  </a:lnTo>
                  <a:cubicBezTo>
                    <a:pt x="353230" y="361516"/>
                    <a:pt x="794156" y="453829"/>
                    <a:pt x="1274905" y="453829"/>
                  </a:cubicBezTo>
                  <a:cubicBezTo>
                    <a:pt x="1893011" y="453829"/>
                    <a:pt x="2445286" y="301229"/>
                    <a:pt x="2810218" y="61819"/>
                  </a:cubicBezTo>
                  <a:close/>
                </a:path>
              </a:pathLst>
            </a:custGeom>
            <a:solidFill>
              <a:srgbClr val="1996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808346" y="4255018"/>
            <a:ext cx="10278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S: start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L: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R: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id:ID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23263" y="1232456"/>
            <a:ext cx="8160391" cy="5324535"/>
          </a:xfrm>
          <a:prstGeom prst="rect">
            <a:avLst/>
          </a:prstGeom>
          <a:solidFill>
            <a:srgbClr val="FFFFFF"/>
          </a:solidFill>
          <a:ln>
            <a:solidFill>
              <a:srgbClr val="0E7C7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FILE* file = fopen(argv[1], "r");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if (!file) {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std::cerr &lt;&lt; "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错误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无法打开文件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 &lt;&lt; 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argv[1] &lt;&lt; std::endl;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return 1;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}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yyin = file;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initFileName(argv[1]);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int result = yyparse();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fclose(file);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if (result == 0) {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std::cout &lt;&lt; "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语法分析完成，未发现错误。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 &lt;&lt; </a:t>
            </a: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std::endl;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} 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return result;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  <a:endParaRPr kumimoji="0" lang="fr-FR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712418"/>
          </a:xfrm>
        </p:spPr>
        <p:txBody>
          <a:bodyPr/>
          <a:lstStyle/>
          <a:p>
            <a:r>
              <a:rPr lang="zh-CN" altLang="en-US" dirty="0"/>
              <a:t>分析器代码自动生成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自底向上语法分析器的自动生成</a:t>
            </a:r>
            <a:r>
              <a:rPr lang="en-US" altLang="zh-CN" dirty="0"/>
              <a:t>(flex + bison)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829930" y="1898319"/>
            <a:ext cx="1498650" cy="1875627"/>
            <a:chOff x="275126" y="1816126"/>
            <a:chExt cx="1498650" cy="1875627"/>
          </a:xfrm>
        </p:grpSpPr>
        <p:sp>
          <p:nvSpPr>
            <p:cNvPr id="5" name="Rectangle 37"/>
            <p:cNvSpPr>
              <a:spLocks noChangeArrowheads="1"/>
            </p:cNvSpPr>
            <p:nvPr/>
          </p:nvSpPr>
          <p:spPr bwMode="auto">
            <a:xfrm>
              <a:off x="276727" y="1816126"/>
              <a:ext cx="1497049" cy="1873294"/>
            </a:xfrm>
            <a:prstGeom prst="roundRect">
              <a:avLst>
                <a:gd name="adj" fmla="val 5415"/>
              </a:avLst>
            </a:prstGeom>
            <a:solidFill>
              <a:schemeClr val="bg1"/>
            </a:solidFill>
            <a:ln w="12700">
              <a:solidFill>
                <a:srgbClr val="0E7C7E"/>
              </a:solidFill>
            </a:ln>
            <a:effectLst>
              <a:outerShdw blurRad="50800" dist="50800" dir="2700000" algn="ctr" rotWithShape="0">
                <a:schemeClr val="tx1"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1) S→L=R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2) S→R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3) L→*R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4) L→id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5) R→L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en-US" altLang="zh-CN" sz="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275126" y="3399339"/>
              <a:ext cx="1494000" cy="292414"/>
            </a:xfrm>
            <a:custGeom>
              <a:avLst/>
              <a:gdLst>
                <a:gd name="connsiteX0" fmla="*/ 2895600 w 2895600"/>
                <a:gd name="connsiteY0" fmla="*/ 0 h 535860"/>
                <a:gd name="connsiteX1" fmla="*/ 2895600 w 2895600"/>
                <a:gd name="connsiteY1" fmla="*/ 396147 h 535860"/>
                <a:gd name="connsiteX2" fmla="*/ 2755887 w 2895600"/>
                <a:gd name="connsiteY2" fmla="*/ 535860 h 535860"/>
                <a:gd name="connsiteX3" fmla="*/ 139713 w 2895600"/>
                <a:gd name="connsiteY3" fmla="*/ 535860 h 535860"/>
                <a:gd name="connsiteX4" fmla="*/ 0 w 2895600"/>
                <a:gd name="connsiteY4" fmla="*/ 396147 h 535860"/>
                <a:gd name="connsiteX5" fmla="*/ 0 w 2895600"/>
                <a:gd name="connsiteY5" fmla="*/ 203266 h 535860"/>
                <a:gd name="connsiteX6" fmla="*/ 9301 w 2895600"/>
                <a:gd name="connsiteY6" fmla="*/ 207843 h 535860"/>
                <a:gd name="connsiteX7" fmla="*/ 1274905 w 2895600"/>
                <a:gd name="connsiteY7" fmla="*/ 453829 h 535860"/>
                <a:gd name="connsiteX8" fmla="*/ 2810218 w 2895600"/>
                <a:gd name="connsiteY8" fmla="*/ 61819 h 5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600" h="535860">
                  <a:moveTo>
                    <a:pt x="2895600" y="0"/>
                  </a:moveTo>
                  <a:lnTo>
                    <a:pt x="2895600" y="396147"/>
                  </a:lnTo>
                  <a:cubicBezTo>
                    <a:pt x="2895600" y="473308"/>
                    <a:pt x="2833048" y="535860"/>
                    <a:pt x="2755887" y="535860"/>
                  </a:cubicBezTo>
                  <a:lnTo>
                    <a:pt x="139713" y="535860"/>
                  </a:lnTo>
                  <a:cubicBezTo>
                    <a:pt x="62552" y="535860"/>
                    <a:pt x="0" y="473308"/>
                    <a:pt x="0" y="396147"/>
                  </a:cubicBezTo>
                  <a:lnTo>
                    <a:pt x="0" y="203266"/>
                  </a:lnTo>
                  <a:lnTo>
                    <a:pt x="9301" y="207843"/>
                  </a:lnTo>
                  <a:cubicBezTo>
                    <a:pt x="353230" y="361516"/>
                    <a:pt x="794156" y="453829"/>
                    <a:pt x="1274905" y="453829"/>
                  </a:cubicBezTo>
                  <a:cubicBezTo>
                    <a:pt x="1893011" y="453829"/>
                    <a:pt x="2445286" y="301229"/>
                    <a:pt x="2810218" y="61819"/>
                  </a:cubicBezTo>
                  <a:close/>
                </a:path>
              </a:pathLst>
            </a:custGeom>
            <a:solidFill>
              <a:srgbClr val="1996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808346" y="4255018"/>
            <a:ext cx="10278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S: start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L: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R: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id:ID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26296" y="2093729"/>
            <a:ext cx="80751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bison –d -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</a:t>
            </a:r>
            <a:r>
              <a:rPr kumimoji="0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-o parser.cpp --graph=parser.dot parser.y</a:t>
            </a:r>
            <a:endParaRPr kumimoji="0" lang="fr-FR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flex -o tokens.cpp tokens.l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402371" y="3771613"/>
            <a:ext cx="7119706" cy="28079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-d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生成头文件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-v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生成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parser.output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报告，说明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DFA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状态，移进归约动作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--graph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自动机图形描述文件（文本文件）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-o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指定生成的词法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语法分析程序文件名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可以用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dot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将图形描述文件转换成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SVG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或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PNG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526296" y="2972180"/>
            <a:ext cx="6097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dot -Tpng -oparser.png parser.dot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712418"/>
          </a:xfrm>
        </p:spPr>
        <p:txBody>
          <a:bodyPr/>
          <a:lstStyle/>
          <a:p>
            <a:r>
              <a:rPr lang="zh-CN" altLang="en-US" dirty="0"/>
              <a:t>分析器代码自动生成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自底向上语法分析器的自动生成</a:t>
            </a:r>
            <a:r>
              <a:rPr lang="en-US" altLang="zh-CN" dirty="0"/>
              <a:t>(flex + bison)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829930" y="1898319"/>
            <a:ext cx="1498650" cy="1875627"/>
            <a:chOff x="275126" y="1816126"/>
            <a:chExt cx="1498650" cy="1875627"/>
          </a:xfrm>
        </p:grpSpPr>
        <p:sp>
          <p:nvSpPr>
            <p:cNvPr id="5" name="Rectangle 37"/>
            <p:cNvSpPr>
              <a:spLocks noChangeArrowheads="1"/>
            </p:cNvSpPr>
            <p:nvPr/>
          </p:nvSpPr>
          <p:spPr bwMode="auto">
            <a:xfrm>
              <a:off x="276727" y="1816126"/>
              <a:ext cx="1497049" cy="1873294"/>
            </a:xfrm>
            <a:prstGeom prst="roundRect">
              <a:avLst>
                <a:gd name="adj" fmla="val 5415"/>
              </a:avLst>
            </a:prstGeom>
            <a:solidFill>
              <a:schemeClr val="bg1"/>
            </a:solidFill>
            <a:ln w="12700">
              <a:solidFill>
                <a:srgbClr val="0E7C7E"/>
              </a:solidFill>
            </a:ln>
            <a:effectLst>
              <a:outerShdw blurRad="50800" dist="50800" dir="2700000" algn="ctr" rotWithShape="0">
                <a:schemeClr val="tx1"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1) S→L=R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2) S→R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3) L→*R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4) L→id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5) R→L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en-US" altLang="zh-CN" sz="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275126" y="3399339"/>
              <a:ext cx="1494000" cy="292414"/>
            </a:xfrm>
            <a:custGeom>
              <a:avLst/>
              <a:gdLst>
                <a:gd name="connsiteX0" fmla="*/ 2895600 w 2895600"/>
                <a:gd name="connsiteY0" fmla="*/ 0 h 535860"/>
                <a:gd name="connsiteX1" fmla="*/ 2895600 w 2895600"/>
                <a:gd name="connsiteY1" fmla="*/ 396147 h 535860"/>
                <a:gd name="connsiteX2" fmla="*/ 2755887 w 2895600"/>
                <a:gd name="connsiteY2" fmla="*/ 535860 h 535860"/>
                <a:gd name="connsiteX3" fmla="*/ 139713 w 2895600"/>
                <a:gd name="connsiteY3" fmla="*/ 535860 h 535860"/>
                <a:gd name="connsiteX4" fmla="*/ 0 w 2895600"/>
                <a:gd name="connsiteY4" fmla="*/ 396147 h 535860"/>
                <a:gd name="connsiteX5" fmla="*/ 0 w 2895600"/>
                <a:gd name="connsiteY5" fmla="*/ 203266 h 535860"/>
                <a:gd name="connsiteX6" fmla="*/ 9301 w 2895600"/>
                <a:gd name="connsiteY6" fmla="*/ 207843 h 535860"/>
                <a:gd name="connsiteX7" fmla="*/ 1274905 w 2895600"/>
                <a:gd name="connsiteY7" fmla="*/ 453829 h 535860"/>
                <a:gd name="connsiteX8" fmla="*/ 2810218 w 2895600"/>
                <a:gd name="connsiteY8" fmla="*/ 61819 h 5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600" h="535860">
                  <a:moveTo>
                    <a:pt x="2895600" y="0"/>
                  </a:moveTo>
                  <a:lnTo>
                    <a:pt x="2895600" y="396147"/>
                  </a:lnTo>
                  <a:cubicBezTo>
                    <a:pt x="2895600" y="473308"/>
                    <a:pt x="2833048" y="535860"/>
                    <a:pt x="2755887" y="535860"/>
                  </a:cubicBezTo>
                  <a:lnTo>
                    <a:pt x="139713" y="535860"/>
                  </a:lnTo>
                  <a:cubicBezTo>
                    <a:pt x="62552" y="535860"/>
                    <a:pt x="0" y="473308"/>
                    <a:pt x="0" y="396147"/>
                  </a:cubicBezTo>
                  <a:lnTo>
                    <a:pt x="0" y="203266"/>
                  </a:lnTo>
                  <a:lnTo>
                    <a:pt x="9301" y="207843"/>
                  </a:lnTo>
                  <a:cubicBezTo>
                    <a:pt x="353230" y="361516"/>
                    <a:pt x="794156" y="453829"/>
                    <a:pt x="1274905" y="453829"/>
                  </a:cubicBezTo>
                  <a:cubicBezTo>
                    <a:pt x="1893011" y="453829"/>
                    <a:pt x="2445286" y="301229"/>
                    <a:pt x="2810218" y="61819"/>
                  </a:cubicBezTo>
                  <a:close/>
                </a:path>
              </a:pathLst>
            </a:custGeom>
            <a:solidFill>
              <a:srgbClr val="1996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808346" y="4255018"/>
            <a:ext cx="10278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S: start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L: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R: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id:ID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9818" y="1318479"/>
            <a:ext cx="7302457" cy="509629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413508" y="5895730"/>
            <a:ext cx="1346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parser.png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712418"/>
          </a:xfrm>
        </p:spPr>
        <p:txBody>
          <a:bodyPr/>
          <a:lstStyle/>
          <a:p>
            <a:r>
              <a:rPr lang="zh-CN" altLang="en-US" dirty="0"/>
              <a:t>分析器代码自动生成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自底向上语法分析器的自动生成</a:t>
            </a:r>
            <a:r>
              <a:rPr lang="en-US" altLang="zh-CN" dirty="0"/>
              <a:t>(flex + bison)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829930" y="1898319"/>
            <a:ext cx="1498650" cy="1875627"/>
            <a:chOff x="275126" y="1816126"/>
            <a:chExt cx="1498650" cy="1875627"/>
          </a:xfrm>
        </p:grpSpPr>
        <p:sp>
          <p:nvSpPr>
            <p:cNvPr id="5" name="Rectangle 37"/>
            <p:cNvSpPr>
              <a:spLocks noChangeArrowheads="1"/>
            </p:cNvSpPr>
            <p:nvPr/>
          </p:nvSpPr>
          <p:spPr bwMode="auto">
            <a:xfrm>
              <a:off x="276727" y="1816126"/>
              <a:ext cx="1497049" cy="1873294"/>
            </a:xfrm>
            <a:prstGeom prst="roundRect">
              <a:avLst>
                <a:gd name="adj" fmla="val 5415"/>
              </a:avLst>
            </a:prstGeom>
            <a:solidFill>
              <a:schemeClr val="bg1"/>
            </a:solidFill>
            <a:ln w="12700">
              <a:solidFill>
                <a:srgbClr val="0E7C7E"/>
              </a:solidFill>
            </a:ln>
            <a:effectLst>
              <a:outerShdw blurRad="50800" dist="50800" dir="2700000" algn="ctr" rotWithShape="0">
                <a:schemeClr val="tx1"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1) S→L=R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2) S→R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3) L→*R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4) L→id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华文楷体" panose="02010600040101010101" pitchFamily="2" charset="-122"/>
                </a:rPr>
                <a:t>5) R→L</a:t>
              </a:r>
              <a:endParaRPr kumimoji="0" lang="en-US" altLang="zh-CN" sz="1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  <a:p>
              <a:pPr marL="609600" marR="0" lvl="0" indent="-609600" algn="l" defTabSz="914400" rtl="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en-US" altLang="zh-CN" sz="800" b="0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pitchFamily="2" charset="-122"/>
              </a:endParaRPr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275126" y="3399339"/>
              <a:ext cx="1494000" cy="292414"/>
            </a:xfrm>
            <a:custGeom>
              <a:avLst/>
              <a:gdLst>
                <a:gd name="connsiteX0" fmla="*/ 2895600 w 2895600"/>
                <a:gd name="connsiteY0" fmla="*/ 0 h 535860"/>
                <a:gd name="connsiteX1" fmla="*/ 2895600 w 2895600"/>
                <a:gd name="connsiteY1" fmla="*/ 396147 h 535860"/>
                <a:gd name="connsiteX2" fmla="*/ 2755887 w 2895600"/>
                <a:gd name="connsiteY2" fmla="*/ 535860 h 535860"/>
                <a:gd name="connsiteX3" fmla="*/ 139713 w 2895600"/>
                <a:gd name="connsiteY3" fmla="*/ 535860 h 535860"/>
                <a:gd name="connsiteX4" fmla="*/ 0 w 2895600"/>
                <a:gd name="connsiteY4" fmla="*/ 396147 h 535860"/>
                <a:gd name="connsiteX5" fmla="*/ 0 w 2895600"/>
                <a:gd name="connsiteY5" fmla="*/ 203266 h 535860"/>
                <a:gd name="connsiteX6" fmla="*/ 9301 w 2895600"/>
                <a:gd name="connsiteY6" fmla="*/ 207843 h 535860"/>
                <a:gd name="connsiteX7" fmla="*/ 1274905 w 2895600"/>
                <a:gd name="connsiteY7" fmla="*/ 453829 h 535860"/>
                <a:gd name="connsiteX8" fmla="*/ 2810218 w 2895600"/>
                <a:gd name="connsiteY8" fmla="*/ 61819 h 5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600" h="535860">
                  <a:moveTo>
                    <a:pt x="2895600" y="0"/>
                  </a:moveTo>
                  <a:lnTo>
                    <a:pt x="2895600" y="396147"/>
                  </a:lnTo>
                  <a:cubicBezTo>
                    <a:pt x="2895600" y="473308"/>
                    <a:pt x="2833048" y="535860"/>
                    <a:pt x="2755887" y="535860"/>
                  </a:cubicBezTo>
                  <a:lnTo>
                    <a:pt x="139713" y="535860"/>
                  </a:lnTo>
                  <a:cubicBezTo>
                    <a:pt x="62552" y="535860"/>
                    <a:pt x="0" y="473308"/>
                    <a:pt x="0" y="396147"/>
                  </a:cubicBezTo>
                  <a:lnTo>
                    <a:pt x="0" y="203266"/>
                  </a:lnTo>
                  <a:lnTo>
                    <a:pt x="9301" y="207843"/>
                  </a:lnTo>
                  <a:cubicBezTo>
                    <a:pt x="353230" y="361516"/>
                    <a:pt x="794156" y="453829"/>
                    <a:pt x="1274905" y="453829"/>
                  </a:cubicBezTo>
                  <a:cubicBezTo>
                    <a:pt x="1893011" y="453829"/>
                    <a:pt x="2445286" y="301229"/>
                    <a:pt x="2810218" y="61819"/>
                  </a:cubicBezTo>
                  <a:close/>
                </a:path>
              </a:pathLst>
            </a:custGeom>
            <a:solidFill>
              <a:srgbClr val="1996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808346" y="4255018"/>
            <a:ext cx="10278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S: start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L: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R: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rval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id:ID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07355" y="1093957"/>
            <a:ext cx="6097604" cy="5355312"/>
          </a:xfrm>
          <a:prstGeom prst="rect">
            <a:avLst/>
          </a:prstGeom>
          <a:solidFill>
            <a:schemeClr val="bg1"/>
          </a:solidFill>
          <a:ln>
            <a:solidFill>
              <a:srgbClr val="0E7C7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Makefile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flex-bison.sh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gen-graph.sh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llvm-cfg.sh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main.cpp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main.o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parser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parser.cpp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parser.dot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parser.hpp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parser.o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parser.output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parser.png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parser.y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test.txt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tokens.cpp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├── tokens.l</a:t>
            </a:r>
            <a:endParaRPr kumimoji="0" lang="fr-FR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└── tokens.o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23930" y="6079937"/>
            <a:ext cx="1909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./parser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test.txt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蓝色的天空和建筑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9"/>
            <a:ext cx="12192000" cy="68567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978B">
              <a:alpha val="81000"/>
            </a:srgbClr>
          </a:solidFill>
          <a:ln>
            <a:noFill/>
          </a:ln>
          <a:effectLst/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 dirty="0"/>
          </a:p>
        </p:txBody>
      </p:sp>
      <p:pic>
        <p:nvPicPr>
          <p:cNvPr id="7" name="图片 6" descr="卡通人物&#10;&#10;中度可信度描述已自动生成"/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906751" y="1030288"/>
            <a:ext cx="5560235" cy="1051053"/>
          </a:xfrm>
          <a:prstGeom prst="rect">
            <a:avLst/>
          </a:prstGeom>
        </p:spPr>
      </p:pic>
      <p:pic>
        <p:nvPicPr>
          <p:cNvPr id="9" name="图片 8" descr="文本, QR 代码&#10;&#10;描述已自动生成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8770002" y="1030288"/>
            <a:ext cx="3267186" cy="154825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388948" y="1711881"/>
            <a:ext cx="2084225" cy="415498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1050" b="1" dirty="0">
                <a:solidFill>
                  <a:schemeClr val="bg2">
                    <a:alpha val="22000"/>
                  </a:schemeClr>
                </a:solidFill>
              </a:rPr>
              <a:t>SEIZE THE DAY</a:t>
            </a:r>
            <a:endParaRPr lang="en-US" altLang="zh-CN" sz="1050" b="1" dirty="0">
              <a:solidFill>
                <a:schemeClr val="bg2">
                  <a:alpha val="22000"/>
                </a:schemeClr>
              </a:solidFill>
            </a:endParaRPr>
          </a:p>
          <a:p>
            <a:r>
              <a:rPr lang="en-US" altLang="zh-CN" sz="1050" b="1" dirty="0">
                <a:solidFill>
                  <a:schemeClr val="bg2">
                    <a:alpha val="22000"/>
                  </a:schemeClr>
                </a:solidFill>
              </a:rPr>
              <a:t>AND LIVE UP TO THE TIMES</a:t>
            </a:r>
            <a:endParaRPr lang="zh-CN" altLang="en-US" sz="1050" b="1" dirty="0">
              <a:solidFill>
                <a:schemeClr val="bg2">
                  <a:alpha val="22000"/>
                </a:schemeClr>
              </a:solidFill>
            </a:endParaRPr>
          </a:p>
        </p:txBody>
      </p:sp>
      <p:sp>
        <p:nvSpPr>
          <p:cNvPr id="8" name="文本框 4"/>
          <p:cNvSpPr txBox="1"/>
          <p:nvPr/>
        </p:nvSpPr>
        <p:spPr>
          <a:xfrm>
            <a:off x="3227608" y="2762004"/>
            <a:ext cx="57367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9600" dirty="0">
                <a:solidFill>
                  <a:schemeClr val="bg1"/>
                </a:solidFill>
                <a:latin typeface="上首标榜体（非商用）" panose="02010609000101010101" pitchFamily="49" charset="-122"/>
                <a:ea typeface="上首标榜体（非商用）" panose="02010609000101010101" pitchFamily="49" charset="-122"/>
                <a:cs typeface="微软雅黑" panose="020B0503020204020204" pitchFamily="34" charset="-122"/>
              </a:rPr>
              <a:t>再见</a:t>
            </a:r>
            <a:endParaRPr kumimoji="1" lang="zh-CN" altLang="en-US" sz="9600" dirty="0">
              <a:solidFill>
                <a:schemeClr val="bg1"/>
              </a:solidFill>
              <a:latin typeface="上首标榜体（非商用）" panose="02010609000101010101" pitchFamily="49" charset="-122"/>
              <a:ea typeface="上首标榜体（非商用）" panose="02010609000101010101" pitchFamily="49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3232540"/>
          </a:xfrm>
        </p:spPr>
        <p:txBody>
          <a:bodyPr/>
          <a:lstStyle/>
          <a:p>
            <a:r>
              <a:rPr lang="fr-FR" altLang="zh-CN" dirty="0">
                <a:hlinkClick r:id="rId1"/>
              </a:rPr>
              <a:t>https://www.educoder.net/</a:t>
            </a:r>
            <a:endParaRPr lang="fr-FR" altLang="zh-CN" dirty="0"/>
          </a:p>
          <a:p>
            <a:r>
              <a:rPr lang="fr-FR" altLang="zh-CN" dirty="0">
                <a:hlinkClick r:id="rId2"/>
              </a:rPr>
              <a:t>https://godbolt.org</a:t>
            </a:r>
            <a:endParaRPr lang="fr-FR" altLang="zh-CN" dirty="0"/>
          </a:p>
          <a:p>
            <a:r>
              <a:rPr lang="fr-FR" altLang="zh-CN" dirty="0">
                <a:hlinkClick r:id="rId3"/>
              </a:rPr>
              <a:t>https://www.antlr.org</a:t>
            </a:r>
            <a:endParaRPr lang="fr-FR" altLang="zh-CN" dirty="0"/>
          </a:p>
          <a:p>
            <a:r>
              <a:rPr lang="fr-FR" altLang="zh-CN" dirty="0">
                <a:hlinkClick r:id="rId4"/>
              </a:rPr>
              <a:t>https://www.llvm.org/</a:t>
            </a:r>
            <a:endParaRPr lang="fr-FR" altLang="zh-CN" dirty="0"/>
          </a:p>
          <a:p>
            <a:pPr marL="0" indent="0">
              <a:buNone/>
            </a:pPr>
            <a:endParaRPr lang="fr-FR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常用网址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4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11053</Words>
  <Application>WPS 演示</Application>
  <PresentationFormat>宽屏</PresentationFormat>
  <Paragraphs>879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53" baseType="lpstr">
      <vt:lpstr>Arial</vt:lpstr>
      <vt:lpstr>宋体</vt:lpstr>
      <vt:lpstr>Wingdings</vt:lpstr>
      <vt:lpstr>微软雅黑</vt:lpstr>
      <vt:lpstr>Segoe UI</vt:lpstr>
      <vt:lpstr>楷体</vt:lpstr>
      <vt:lpstr>Times New Roman</vt:lpstr>
      <vt:lpstr>黑体</vt:lpstr>
      <vt:lpstr>等线</vt:lpstr>
      <vt:lpstr>-apple-system</vt:lpstr>
      <vt:lpstr>Segoe Print</vt:lpstr>
      <vt:lpstr>Consolas</vt:lpstr>
      <vt:lpstr>Arial Unicode MS</vt:lpstr>
      <vt:lpstr>Arial Unicode MS</vt:lpstr>
      <vt:lpstr>JetBrains Mono</vt:lpstr>
      <vt:lpstr>微软雅黑 Light</vt:lpstr>
      <vt:lpstr>华文楷体</vt:lpstr>
      <vt:lpstr>上首标榜体（非商用）</vt:lpstr>
      <vt:lpstr>Calibri</vt:lpstr>
      <vt:lpstr>1_Office 主题​​</vt:lpstr>
      <vt:lpstr>PowerPoint 演示文稿</vt:lpstr>
      <vt:lpstr>任务</vt:lpstr>
      <vt:lpstr>成绩评定</vt:lpstr>
      <vt:lpstr>综合评价</vt:lpstr>
      <vt:lpstr>头歌平台</vt:lpstr>
      <vt:lpstr>实验进度安排</vt:lpstr>
      <vt:lpstr>全国大学生计算系统能力大赛编译系统设计赛</vt:lpstr>
      <vt:lpstr>参考代码</vt:lpstr>
      <vt:lpstr>如何搭建线下平台，准备环境</vt:lpstr>
      <vt:lpstr>如何搭建线下平台，准备环境</vt:lpstr>
      <vt:lpstr>如何搭建线下平台，准备环境</vt:lpstr>
      <vt:lpstr>如何搭建线下平台，准备环境</vt:lpstr>
      <vt:lpstr>Clone头歌平台代码到本地</vt:lpstr>
      <vt:lpstr>ANTLR：词法和语法分析</vt:lpstr>
      <vt:lpstr>实战演练：ANTLR4</vt:lpstr>
      <vt:lpstr>实战演练：ANTLR4</vt:lpstr>
      <vt:lpstr>实战演练：ANTLR4</vt:lpstr>
      <vt:lpstr>实战演练：ANTLR4</vt:lpstr>
      <vt:lpstr>实战演练：ANTLR4</vt:lpstr>
      <vt:lpstr>C++？</vt:lpstr>
      <vt:lpstr>Flex+bison：词法和语法分析</vt:lpstr>
      <vt:lpstr>自底向上语法分析器的自动生成(flex + bison)</vt:lpstr>
      <vt:lpstr>自底向上语法分析器的自动生成(flex + bison)</vt:lpstr>
      <vt:lpstr>自底向上语法分析器的自动生成(flex + bison)</vt:lpstr>
      <vt:lpstr>自底向上语法分析器的自动生成(flex + bison)</vt:lpstr>
      <vt:lpstr>自底向上语法分析器的自动生成(flex + bison)</vt:lpstr>
      <vt:lpstr>自底向上语法分析器的自动生成(flex + bison)</vt:lpstr>
      <vt:lpstr>自底向上语法分析器的自动生成(flex + bison)</vt:lpstr>
      <vt:lpstr>自底向上语法分析器的自动生成(flex + bison)</vt:lpstr>
      <vt:lpstr>自底向上语法分析器的自动生成(flex + bison)</vt:lpstr>
      <vt:lpstr>自底向上语法分析器的自动生成(flex + bison)</vt:lpstr>
      <vt:lpstr>PowerPoint 演示文稿</vt:lpstr>
      <vt:lpstr>常用网址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QZ7420</dc:creator>
  <cp:lastModifiedBy>王家乐</cp:lastModifiedBy>
  <cp:revision>739</cp:revision>
  <cp:lastPrinted>2022-10-13T02:21:00Z</cp:lastPrinted>
  <dcterms:created xsi:type="dcterms:W3CDTF">2022-06-03T05:02:00Z</dcterms:created>
  <dcterms:modified xsi:type="dcterms:W3CDTF">2026-04-29T11:00:12Z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69B5187E142740DFB48335832C66F9F8_12</vt:lpwstr>
  </property>
  <property fmtid="{D5CDD505-2E9C-101B-9397-08002B2CF9AE}" pid="3" name="KSOProductBuildVer">
    <vt:lpwstr>2052-12.1.0.21541</vt:lpwstr>
  </property>
</Properties>
</file>