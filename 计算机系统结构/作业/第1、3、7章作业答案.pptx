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64"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83" r:id="rId22"/>
    <p:sldId id="284"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0" Type="http://schemas.openxmlformats.org/officeDocument/2006/relationships/tableStyles" Target="tableStyles.xml"/><Relationship Id="rId4" Type="http://schemas.openxmlformats.org/officeDocument/2006/relationships/slide" Target="slides/slide2.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notesMaster" Target="notesMasters/notesMaster1.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1.w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7.xml"/><Relationship Id="rId6" Type="http://schemas.openxmlformats.org/officeDocument/2006/relationships/image" Target="../media/image7.wmf"/><Relationship Id="rId5" Type="http://schemas.openxmlformats.org/officeDocument/2006/relationships/oleObject" Target="../embeddings/oleObject3.bin"/><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1.wmf"/><Relationship Id="rId7" Type="http://schemas.openxmlformats.org/officeDocument/2006/relationships/oleObject" Target="../embeddings/oleObject7.bin"/><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wmf"/><Relationship Id="rId3" Type="http://schemas.openxmlformats.org/officeDocument/2006/relationships/oleObject" Target="../embeddings/oleObject5.bin"/><Relationship Id="rId2" Type="http://schemas.openxmlformats.org/officeDocument/2006/relationships/image" Target="../media/image8.wmf"/><Relationship Id="rId10" Type="http://schemas.openxmlformats.org/officeDocument/2006/relationships/vmlDrawing" Target="../drawings/vmlDrawing2.vml"/><Relationship Id="rId1"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22.emf"/><Relationship Id="rId1" Type="http://schemas.openxmlformats.org/officeDocument/2006/relationships/oleObject" Target="../embeddings/oleObject8.bin"/></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6.xml"/><Relationship Id="rId1"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67.xml"/><Relationship Id="rId1"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8.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69.xml"/><Relationship Id="rId4" Type="http://schemas.openxmlformats.org/officeDocument/2006/relationships/image" Target="../media/image28.png"/><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0.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5.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6.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8.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79.xml"/><Relationship Id="rId2" Type="http://schemas.openxmlformats.org/officeDocument/2006/relationships/image" Target="../media/image31.pn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0.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1.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38619"/>
            <a:ext cx="7775919" cy="1257992"/>
            <a:chOff x="0" y="-82343"/>
            <a:chExt cx="7775919"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7054" y="14427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rPr>
                <a:t>习题</a:t>
              </a:r>
              <a:r>
                <a:rPr lang="en-US" altLang="zh-CN" sz="3600" b="1" dirty="0">
                  <a:solidFill>
                    <a:schemeClr val="accent1"/>
                  </a:solidFill>
                  <a:latin typeface="+mn-ea"/>
                </a:rPr>
                <a:t>1.7</a:t>
              </a:r>
              <a:endParaRPr lang="zh-CN" altLang="en-US" sz="3600" b="1" dirty="0">
                <a:solidFill>
                  <a:schemeClr val="accent1"/>
                </a:solidFill>
                <a:latin typeface="+mn-ea"/>
                <a:sym typeface="+mn-ea"/>
              </a:endParaRPr>
            </a:p>
          </p:txBody>
        </p:sp>
      </p:grpSp>
      <p:sp>
        <p:nvSpPr>
          <p:cNvPr id="17" name="Rectangle 3"/>
          <p:cNvSpPr txBox="1">
            <a:spLocks noChangeArrowheads="1"/>
          </p:cNvSpPr>
          <p:nvPr/>
        </p:nvSpPr>
        <p:spPr bwMode="auto">
          <a:xfrm>
            <a:off x="728489" y="1620895"/>
            <a:ext cx="9958342"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lnSpc>
                <a:spcPct val="90000"/>
              </a:lnSpc>
              <a:buClr>
                <a:schemeClr val="hlink"/>
              </a:buClr>
              <a:buSzTx/>
              <a:buFontTx/>
              <a:buNone/>
            </a:pPr>
            <a:r>
              <a:rPr lang="zh-CN" altLang="en-US" sz="1800" dirty="0">
                <a:latin typeface="+mn-ea"/>
                <a:ea typeface="+mn-ea"/>
              </a:rPr>
              <a:t>对于一台</a:t>
            </a:r>
            <a:r>
              <a:rPr lang="en-US" altLang="zh-CN" sz="1800" dirty="0">
                <a:latin typeface="+mn-ea"/>
                <a:ea typeface="+mn-ea"/>
              </a:rPr>
              <a:t>400MHz</a:t>
            </a:r>
            <a:r>
              <a:rPr lang="zh-CN" altLang="en-US" sz="1800" dirty="0">
                <a:latin typeface="+mn-ea"/>
                <a:ea typeface="+mn-ea"/>
              </a:rPr>
              <a:t>计算机执行标准测试程序，程序中指令类型，执行数量和平均时钟周期数如下：</a:t>
            </a:r>
            <a:endParaRPr lang="zh-CN" altLang="en-US" sz="1800" dirty="0">
              <a:latin typeface="+mn-ea"/>
              <a:ea typeface="+mn-ea"/>
            </a:endParaRPr>
          </a:p>
          <a:p>
            <a:pPr eaLnBrk="1" hangingPunct="1">
              <a:lnSpc>
                <a:spcPct val="90000"/>
              </a:lnSpc>
              <a:buClr>
                <a:schemeClr val="hlink"/>
              </a:buClr>
              <a:buSzTx/>
              <a:buFont typeface="Wingdings" panose="05000000000000000000" pitchFamily="2" charset="2"/>
              <a:buChar char="v"/>
            </a:pPr>
            <a:endParaRPr lang="zh-CN" altLang="en-US" sz="2000" dirty="0">
              <a:latin typeface="+mn-ea"/>
              <a:ea typeface="+mn-ea"/>
            </a:endParaRPr>
          </a:p>
          <a:p>
            <a:pPr eaLnBrk="1" hangingPunct="1">
              <a:lnSpc>
                <a:spcPct val="90000"/>
              </a:lnSpc>
              <a:buClr>
                <a:schemeClr val="hlink"/>
              </a:buClr>
              <a:buSzTx/>
              <a:buFont typeface="Wingdings" panose="05000000000000000000" pitchFamily="2" charset="2"/>
              <a:buChar char="v"/>
            </a:pPr>
            <a:endParaRPr lang="zh-CN" altLang="en-US" sz="2000" dirty="0">
              <a:latin typeface="+mn-ea"/>
              <a:ea typeface="+mn-ea"/>
            </a:endParaRPr>
          </a:p>
          <a:p>
            <a:pPr eaLnBrk="1" hangingPunct="1">
              <a:lnSpc>
                <a:spcPct val="90000"/>
              </a:lnSpc>
              <a:buClr>
                <a:schemeClr val="hlink"/>
              </a:buClr>
              <a:buSzTx/>
              <a:buFont typeface="Wingdings" panose="05000000000000000000" pitchFamily="2" charset="2"/>
              <a:buChar char="v"/>
            </a:pPr>
            <a:endParaRPr lang="zh-CN" altLang="en-US" sz="2000" dirty="0">
              <a:latin typeface="+mn-ea"/>
              <a:ea typeface="+mn-ea"/>
            </a:endParaRPr>
          </a:p>
          <a:p>
            <a:pPr eaLnBrk="1" hangingPunct="1">
              <a:lnSpc>
                <a:spcPct val="90000"/>
              </a:lnSpc>
              <a:buClr>
                <a:schemeClr val="hlink"/>
              </a:buClr>
              <a:buSzTx/>
              <a:buFont typeface="Wingdings" panose="05000000000000000000" pitchFamily="2" charset="2"/>
              <a:buChar char="v"/>
            </a:pPr>
            <a:endParaRPr lang="zh-CN" altLang="en-US" sz="2000" dirty="0">
              <a:latin typeface="+mn-ea"/>
              <a:ea typeface="+mn-ea"/>
            </a:endParaRPr>
          </a:p>
          <a:p>
            <a:pPr eaLnBrk="1" hangingPunct="1">
              <a:lnSpc>
                <a:spcPct val="90000"/>
              </a:lnSpc>
              <a:buClr>
                <a:schemeClr val="hlink"/>
              </a:buClr>
              <a:buSzTx/>
              <a:buFontTx/>
              <a:buNone/>
            </a:pPr>
            <a:endParaRPr lang="zh-CN" altLang="en-US" sz="2000" dirty="0">
              <a:latin typeface="+mn-ea"/>
              <a:ea typeface="+mn-ea"/>
            </a:endParaRPr>
          </a:p>
        </p:txBody>
      </p:sp>
      <p:sp>
        <p:nvSpPr>
          <p:cNvPr id="19" name="Rectangle 120"/>
          <p:cNvSpPr>
            <a:spLocks noChangeArrowheads="1"/>
          </p:cNvSpPr>
          <p:nvPr/>
        </p:nvSpPr>
        <p:spPr bwMode="auto">
          <a:xfrm>
            <a:off x="1072433" y="4061689"/>
            <a:ext cx="621354"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a:latin typeface="+mn-ea"/>
                <a:ea typeface="+mn-ea"/>
                <a:cs typeface="Times New Roman" panose="02020603050405020304" pitchFamily="18" charset="0"/>
              </a:rPr>
              <a:t>解：</a:t>
            </a:r>
            <a:endParaRPr lang="zh-CN" altLang="en-US" sz="2000">
              <a:latin typeface="+mn-ea"/>
              <a:ea typeface="+mn-ea"/>
              <a:cs typeface="Times New Roman" panose="02020603050405020304" pitchFamily="18" charset="0"/>
            </a:endParaRPr>
          </a:p>
        </p:txBody>
      </p:sp>
      <p:pic>
        <p:nvPicPr>
          <p:cNvPr id="2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418510" y="2115413"/>
            <a:ext cx="6883348" cy="149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图片 2"/>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91643" y="4464125"/>
            <a:ext cx="8208713"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图片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51983" y="5170564"/>
            <a:ext cx="4625952"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图片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71031" y="5956375"/>
            <a:ext cx="537556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文本框 7"/>
          <p:cNvSpPr txBox="1">
            <a:spLocks noChangeArrowheads="1"/>
          </p:cNvSpPr>
          <p:nvPr/>
        </p:nvSpPr>
        <p:spPr bwMode="auto">
          <a:xfrm>
            <a:off x="801514" y="3652721"/>
            <a:ext cx="6269119"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zh-CN" altLang="en-US" sz="1800" dirty="0">
                <a:latin typeface="+mn-ea"/>
                <a:ea typeface="+mn-ea"/>
              </a:rPr>
              <a:t>求该计算机的有效</a:t>
            </a:r>
            <a:r>
              <a:rPr lang="en-US" altLang="zh-CN" sz="1800" dirty="0">
                <a:latin typeface="+mn-ea"/>
                <a:ea typeface="+mn-ea"/>
              </a:rPr>
              <a:t>CPI</a:t>
            </a:r>
            <a:r>
              <a:rPr lang="zh-CN" altLang="en-US" sz="1800" dirty="0">
                <a:latin typeface="+mn-ea"/>
                <a:ea typeface="+mn-ea"/>
              </a:rPr>
              <a:t>、</a:t>
            </a:r>
            <a:r>
              <a:rPr lang="en-US" altLang="zh-CN" sz="1800" dirty="0">
                <a:latin typeface="+mn-ea"/>
                <a:ea typeface="+mn-ea"/>
              </a:rPr>
              <a:t>MIPS</a:t>
            </a:r>
            <a:r>
              <a:rPr lang="zh-CN" altLang="en-US" sz="1800" dirty="0">
                <a:latin typeface="+mn-ea"/>
                <a:ea typeface="+mn-ea"/>
              </a:rPr>
              <a:t>和程序执行时间</a:t>
            </a:r>
            <a:r>
              <a:rPr lang="zh-CN" altLang="en-US" sz="2400" dirty="0">
                <a:latin typeface="+mn-ea"/>
                <a:ea typeface="+mn-ea"/>
              </a:rPr>
              <a:t>。</a:t>
            </a:r>
            <a:endParaRPr lang="zh-CN" altLang="en-US" sz="2400" dirty="0">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118268"/>
    </mc:Choice>
    <mc:Fallback>
      <p:transition spd="slow" advTm="11826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38619"/>
            <a:ext cx="7775919" cy="1257992"/>
            <a:chOff x="0" y="-82343"/>
            <a:chExt cx="7775919"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7054" y="14427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rPr>
                <a:t>习题</a:t>
              </a:r>
              <a:r>
                <a:rPr lang="en-US" altLang="zh-CN" sz="3600" b="1" dirty="0">
                  <a:solidFill>
                    <a:schemeClr val="accent1"/>
                  </a:solidFill>
                  <a:latin typeface="+mn-ea"/>
                </a:rPr>
                <a:t>1.10</a:t>
              </a:r>
              <a:endParaRPr lang="zh-CN" altLang="en-US" sz="3600" b="1" dirty="0">
                <a:solidFill>
                  <a:schemeClr val="accent1"/>
                </a:solidFill>
                <a:latin typeface="+mn-ea"/>
                <a:sym typeface="+mn-ea"/>
              </a:endParaRPr>
            </a:p>
          </p:txBody>
        </p:sp>
      </p:grpSp>
      <p:sp>
        <p:nvSpPr>
          <p:cNvPr id="27" name="内容占位符 5"/>
          <p:cNvSpPr txBox="1"/>
          <p:nvPr/>
        </p:nvSpPr>
        <p:spPr>
          <a:xfrm>
            <a:off x="360772" y="1525369"/>
            <a:ext cx="11392613" cy="2303463"/>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93980">
              <a:lnSpc>
                <a:spcPct val="150000"/>
              </a:lnSpc>
              <a:spcBef>
                <a:spcPts val="300"/>
              </a:spcBef>
              <a:buClr>
                <a:srgbClr val="FFFFFF"/>
              </a:buClr>
              <a:buFont typeface="Georgia" panose="02040502050405020303" pitchFamily="18" charset="0"/>
              <a:buChar char="•"/>
            </a:pPr>
            <a:r>
              <a:rPr lang="zh-CN" altLang="en-US" sz="2000" dirty="0">
                <a:latin typeface="+mn-ea"/>
              </a:rPr>
              <a:t>计算机系统有三个部件可以改进，这三个部件的加速比如下：部件加速比</a:t>
            </a:r>
            <a:r>
              <a:rPr lang="en-US" altLang="zh-CN" sz="2000" dirty="0">
                <a:latin typeface="+mn-ea"/>
              </a:rPr>
              <a:t>1</a:t>
            </a:r>
            <a:r>
              <a:rPr lang="zh-CN" altLang="en-US" sz="2000" dirty="0">
                <a:latin typeface="+mn-ea"/>
              </a:rPr>
              <a:t>＝</a:t>
            </a:r>
            <a:r>
              <a:rPr lang="en-US" altLang="zh-CN" sz="2000" dirty="0">
                <a:latin typeface="+mn-ea"/>
              </a:rPr>
              <a:t>30</a:t>
            </a:r>
            <a:r>
              <a:rPr lang="zh-CN" altLang="en-US" sz="2000" dirty="0">
                <a:latin typeface="+mn-ea"/>
              </a:rPr>
              <a:t>；部件加速比</a:t>
            </a:r>
            <a:r>
              <a:rPr lang="en-US" altLang="zh-CN" sz="2000" dirty="0">
                <a:latin typeface="+mn-ea"/>
              </a:rPr>
              <a:t>2</a:t>
            </a:r>
            <a:r>
              <a:rPr lang="zh-CN" altLang="en-US" sz="2000" dirty="0">
                <a:latin typeface="+mn-ea"/>
              </a:rPr>
              <a:t>＝</a:t>
            </a:r>
            <a:r>
              <a:rPr lang="en-US" altLang="zh-CN" sz="2000" dirty="0">
                <a:latin typeface="+mn-ea"/>
              </a:rPr>
              <a:t>20</a:t>
            </a:r>
            <a:r>
              <a:rPr lang="zh-CN" altLang="en-US" sz="2000" dirty="0">
                <a:latin typeface="+mn-ea"/>
              </a:rPr>
              <a:t>；部件加速比</a:t>
            </a:r>
            <a:r>
              <a:rPr lang="en-US" altLang="zh-CN" sz="2000" dirty="0">
                <a:latin typeface="+mn-ea"/>
              </a:rPr>
              <a:t>3</a:t>
            </a:r>
            <a:r>
              <a:rPr lang="zh-CN" altLang="en-US" sz="2000" dirty="0">
                <a:latin typeface="+mn-ea"/>
              </a:rPr>
              <a:t>＝</a:t>
            </a:r>
            <a:r>
              <a:rPr lang="en-US" altLang="zh-CN" sz="2000" dirty="0">
                <a:latin typeface="+mn-ea"/>
              </a:rPr>
              <a:t>10</a:t>
            </a:r>
            <a:r>
              <a:rPr lang="zh-CN" altLang="en-US" sz="2000" dirty="0">
                <a:latin typeface="+mn-ea"/>
              </a:rPr>
              <a:t>；</a:t>
            </a:r>
            <a:endParaRPr lang="en-US" altLang="zh-CN" sz="2000" dirty="0">
              <a:latin typeface="+mn-ea"/>
            </a:endParaRPr>
          </a:p>
          <a:p>
            <a:pPr marL="0" indent="93980">
              <a:lnSpc>
                <a:spcPct val="150000"/>
              </a:lnSpc>
              <a:spcBef>
                <a:spcPts val="300"/>
              </a:spcBef>
              <a:buClr>
                <a:srgbClr val="FFFFFF"/>
              </a:buClr>
              <a:buFont typeface="Georgia" panose="02040502050405020303" pitchFamily="18" charset="0"/>
              <a:buChar char="•"/>
            </a:pPr>
            <a:r>
              <a:rPr lang="zh-CN" altLang="en-US" sz="2000" dirty="0">
                <a:latin typeface="+mn-ea"/>
              </a:rPr>
              <a:t>（</a:t>
            </a:r>
            <a:r>
              <a:rPr lang="en-US" altLang="zh-CN" sz="2000" dirty="0">
                <a:latin typeface="+mn-ea"/>
              </a:rPr>
              <a:t>1</a:t>
            </a:r>
            <a:r>
              <a:rPr lang="zh-CN" altLang="en-US" sz="2000" dirty="0">
                <a:latin typeface="+mn-ea"/>
              </a:rPr>
              <a:t>）如果部件</a:t>
            </a:r>
            <a:r>
              <a:rPr lang="en-US" altLang="zh-CN" sz="2000" dirty="0">
                <a:latin typeface="+mn-ea"/>
              </a:rPr>
              <a:t>1</a:t>
            </a:r>
            <a:r>
              <a:rPr lang="zh-CN" altLang="en-US" sz="2000" dirty="0">
                <a:latin typeface="+mn-ea"/>
              </a:rPr>
              <a:t>和部件</a:t>
            </a:r>
            <a:r>
              <a:rPr lang="en-US" altLang="zh-CN" sz="2000" dirty="0">
                <a:latin typeface="+mn-ea"/>
              </a:rPr>
              <a:t>2</a:t>
            </a:r>
            <a:r>
              <a:rPr lang="zh-CN" altLang="en-US" sz="2000" dirty="0">
                <a:latin typeface="+mn-ea"/>
              </a:rPr>
              <a:t>的可改进比例为</a:t>
            </a:r>
            <a:r>
              <a:rPr lang="en-US" altLang="zh-CN" sz="2000" dirty="0">
                <a:latin typeface="+mn-ea"/>
              </a:rPr>
              <a:t>30</a:t>
            </a:r>
            <a:r>
              <a:rPr lang="zh-CN" altLang="en-US" sz="2000" dirty="0">
                <a:latin typeface="+mn-ea"/>
              </a:rPr>
              <a:t>％，那么当部件</a:t>
            </a:r>
            <a:r>
              <a:rPr lang="en-US" altLang="zh-CN" sz="2000" dirty="0">
                <a:latin typeface="+mn-ea"/>
              </a:rPr>
              <a:t>3</a:t>
            </a:r>
            <a:r>
              <a:rPr lang="zh-CN" altLang="en-US" sz="2000" dirty="0">
                <a:latin typeface="+mn-ea"/>
              </a:rPr>
              <a:t>的可改进比例为多少时，系统的加速比才可以达到</a:t>
            </a:r>
            <a:r>
              <a:rPr lang="en-US" altLang="zh-CN" sz="2000" dirty="0">
                <a:latin typeface="+mn-ea"/>
              </a:rPr>
              <a:t>10</a:t>
            </a:r>
            <a:r>
              <a:rPr lang="zh-CN" altLang="en-US" sz="2000" dirty="0">
                <a:latin typeface="+mn-ea"/>
              </a:rPr>
              <a:t>？</a:t>
            </a:r>
            <a:endParaRPr lang="en-US" altLang="zh-CN" sz="2000" dirty="0">
              <a:latin typeface="+mn-ea"/>
            </a:endParaRPr>
          </a:p>
          <a:p>
            <a:pPr marL="0" indent="93980">
              <a:lnSpc>
                <a:spcPct val="150000"/>
              </a:lnSpc>
              <a:spcBef>
                <a:spcPts val="300"/>
              </a:spcBef>
              <a:buClr>
                <a:srgbClr val="FFFFFF"/>
              </a:buClr>
              <a:buFont typeface="Georgia" panose="02040502050405020303" pitchFamily="18" charset="0"/>
              <a:buChar char="•"/>
            </a:pPr>
            <a:r>
              <a:rPr lang="zh-CN" altLang="en-US" sz="2000" dirty="0">
                <a:latin typeface="+mn-ea"/>
              </a:rPr>
              <a:t>（</a:t>
            </a:r>
            <a:r>
              <a:rPr lang="en-US" altLang="zh-CN" sz="2000" dirty="0">
                <a:latin typeface="+mn-ea"/>
              </a:rPr>
              <a:t>2</a:t>
            </a:r>
            <a:r>
              <a:rPr lang="zh-CN" altLang="en-US" sz="2000" dirty="0">
                <a:latin typeface="+mn-ea"/>
              </a:rPr>
              <a:t>）如果三个部件的可改进比例为</a:t>
            </a:r>
            <a:r>
              <a:rPr lang="en-US" altLang="zh-CN" sz="2000" dirty="0">
                <a:latin typeface="+mn-ea"/>
              </a:rPr>
              <a:t>30</a:t>
            </a:r>
            <a:r>
              <a:rPr lang="zh-CN" altLang="en-US" sz="2000" dirty="0">
                <a:latin typeface="+mn-ea"/>
              </a:rPr>
              <a:t>％、</a:t>
            </a:r>
            <a:r>
              <a:rPr lang="en-US" altLang="zh-CN" sz="2000" dirty="0">
                <a:latin typeface="+mn-ea"/>
              </a:rPr>
              <a:t>30</a:t>
            </a:r>
            <a:r>
              <a:rPr lang="zh-CN" altLang="en-US" sz="2000" dirty="0">
                <a:latin typeface="+mn-ea"/>
              </a:rPr>
              <a:t>％和</a:t>
            </a:r>
            <a:r>
              <a:rPr lang="en-US" altLang="zh-CN" sz="2000" dirty="0">
                <a:latin typeface="+mn-ea"/>
              </a:rPr>
              <a:t>20</a:t>
            </a:r>
            <a:r>
              <a:rPr lang="zh-CN" altLang="en-US" sz="2000" dirty="0">
                <a:latin typeface="+mn-ea"/>
              </a:rPr>
              <a:t>％，三个部件同时改进，那么系统中不可加速部分的执行时间在总执行时间中占的比例是多少？</a:t>
            </a:r>
            <a:endParaRPr lang="zh-CN" altLang="en-US" sz="2000" dirty="0">
              <a:latin typeface="+mn-ea"/>
            </a:endParaRPr>
          </a:p>
          <a:p>
            <a:pPr marL="0" indent="93980"/>
            <a:endParaRPr lang="zh-CN" altLang="en-US" dirty="0">
              <a:ea typeface="宋体" panose="02010600030101010101" pitchFamily="2" charset="-122"/>
            </a:endParaRPr>
          </a:p>
        </p:txBody>
      </p:sp>
      <p:graphicFrame>
        <p:nvGraphicFramePr>
          <p:cNvPr id="28" name="对象 6"/>
          <p:cNvGraphicFramePr>
            <a:graphicFrameLocks noChangeAspect="1"/>
          </p:cNvGraphicFramePr>
          <p:nvPr/>
        </p:nvGraphicFramePr>
        <p:xfrm>
          <a:off x="1092947" y="4871501"/>
          <a:ext cx="2966539" cy="1245221"/>
        </p:xfrm>
        <a:graphic>
          <a:graphicData uri="http://schemas.openxmlformats.org/presentationml/2006/ole">
            <mc:AlternateContent xmlns:mc="http://schemas.openxmlformats.org/markup-compatibility/2006">
              <mc:Choice xmlns:v="urn:schemas-microsoft-com:vml" Requires="v">
                <p:oleObj spid="_x0000_s72888" name="公式" r:id="rId1" imgW="22602825" imgH="8334375" progId="Equation.3">
                  <p:embed/>
                </p:oleObj>
              </mc:Choice>
              <mc:Fallback>
                <p:oleObj name="公式" r:id="rId1" imgW="22602825" imgH="8334375" progId="Equation.3">
                  <p:embed/>
                  <p:pic>
                    <p:nvPicPr>
                      <p:cNvPr id="0" name="对象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2947" y="4871501"/>
                        <a:ext cx="2966539" cy="1245221"/>
                      </a:xfrm>
                      <a:prstGeom prst="rect">
                        <a:avLst/>
                      </a:prstGeom>
                      <a:noFill/>
                      <a:ln>
                        <a:noFill/>
                      </a:ln>
                    </p:spPr>
                  </p:pic>
                </p:oleObj>
              </mc:Fallback>
            </mc:AlternateContent>
          </a:graphicData>
        </a:graphic>
      </p:graphicFrame>
      <p:graphicFrame>
        <p:nvGraphicFramePr>
          <p:cNvPr id="29" name="对象 7"/>
          <p:cNvGraphicFramePr>
            <a:graphicFrameLocks noChangeAspect="1"/>
          </p:cNvGraphicFramePr>
          <p:nvPr/>
        </p:nvGraphicFramePr>
        <p:xfrm>
          <a:off x="4884234" y="4725287"/>
          <a:ext cx="2174488" cy="1455876"/>
        </p:xfrm>
        <a:graphic>
          <a:graphicData uri="http://schemas.openxmlformats.org/presentationml/2006/ole">
            <mc:AlternateContent xmlns:mc="http://schemas.openxmlformats.org/markup-compatibility/2006">
              <mc:Choice xmlns:v="urn:schemas-microsoft-com:vml" Requires="v">
                <p:oleObj spid="_x0000_s72889" name="公式" r:id="rId3" imgW="17992725" imgH="10753725" progId="Equation.3">
                  <p:embed/>
                </p:oleObj>
              </mc:Choice>
              <mc:Fallback>
                <p:oleObj name="公式" r:id="rId3" imgW="17992725" imgH="10753725" progId="Equation.3">
                  <p:embed/>
                  <p:pic>
                    <p:nvPicPr>
                      <p:cNvPr id="0"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234" y="4725287"/>
                        <a:ext cx="2174488" cy="1455876"/>
                      </a:xfrm>
                      <a:prstGeom prst="rect">
                        <a:avLst/>
                      </a:prstGeom>
                      <a:noFill/>
                      <a:ln>
                        <a:noFill/>
                      </a:ln>
                    </p:spPr>
                  </p:pic>
                </p:oleObj>
              </mc:Fallback>
            </mc:AlternateContent>
          </a:graphicData>
        </a:graphic>
      </p:graphicFrame>
      <p:graphicFrame>
        <p:nvGraphicFramePr>
          <p:cNvPr id="30" name="对象 8"/>
          <p:cNvGraphicFramePr>
            <a:graphicFrameLocks noChangeAspect="1"/>
          </p:cNvGraphicFramePr>
          <p:nvPr/>
        </p:nvGraphicFramePr>
        <p:xfrm>
          <a:off x="7775919" y="4725287"/>
          <a:ext cx="2850153" cy="1416588"/>
        </p:xfrm>
        <a:graphic>
          <a:graphicData uri="http://schemas.openxmlformats.org/presentationml/2006/ole">
            <mc:AlternateContent xmlns:mc="http://schemas.openxmlformats.org/markup-compatibility/2006">
              <mc:Choice xmlns:v="urn:schemas-microsoft-com:vml" Requires="v">
                <p:oleObj spid="_x0000_s72890" name="公式" r:id="rId5" imgW="23917275" imgH="10753725" progId="Equation.3">
                  <p:embed/>
                </p:oleObj>
              </mc:Choice>
              <mc:Fallback>
                <p:oleObj name="公式" r:id="rId5" imgW="23917275" imgH="10753725" progId="Equation.3">
                  <p:embed/>
                  <p:pic>
                    <p:nvPicPr>
                      <p:cNvPr id="0" name="对象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5919" y="4725287"/>
                        <a:ext cx="2850153" cy="1416588"/>
                      </a:xfrm>
                      <a:prstGeom prst="rect">
                        <a:avLst/>
                      </a:prstGeom>
                      <a:noFill/>
                      <a:ln>
                        <a:noFill/>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18268"/>
    </mc:Choice>
    <mc:Fallback>
      <p:transition spd="slow" advTm="11826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38619"/>
            <a:ext cx="7775919" cy="1257992"/>
            <a:chOff x="0" y="-82343"/>
            <a:chExt cx="7775919"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7054" y="14427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rPr>
                <a:t>习题</a:t>
              </a:r>
              <a:r>
                <a:rPr lang="en-US" altLang="zh-CN" sz="3600" b="1" dirty="0">
                  <a:solidFill>
                    <a:schemeClr val="accent1"/>
                  </a:solidFill>
                  <a:latin typeface="+mn-ea"/>
                </a:rPr>
                <a:t>1.10</a:t>
              </a:r>
              <a:endParaRPr lang="zh-CN" altLang="en-US" sz="3600" b="1" dirty="0">
                <a:solidFill>
                  <a:schemeClr val="accent1"/>
                </a:solidFill>
                <a:latin typeface="+mn-ea"/>
                <a:sym typeface="+mn-ea"/>
              </a:endParaRPr>
            </a:p>
          </p:txBody>
        </p:sp>
      </p:grpSp>
      <p:graphicFrame>
        <p:nvGraphicFramePr>
          <p:cNvPr id="17" name="对象 3"/>
          <p:cNvGraphicFramePr>
            <a:graphicFrameLocks noChangeAspect="1"/>
          </p:cNvGraphicFramePr>
          <p:nvPr/>
        </p:nvGraphicFramePr>
        <p:xfrm>
          <a:off x="1367883" y="1525369"/>
          <a:ext cx="4114800" cy="835025"/>
        </p:xfrm>
        <a:graphic>
          <a:graphicData uri="http://schemas.openxmlformats.org/presentationml/2006/ole">
            <mc:AlternateContent xmlns:mc="http://schemas.openxmlformats.org/markup-compatibility/2006">
              <mc:Choice xmlns:v="urn:schemas-microsoft-com:vml" Requires="v">
                <p:oleObj spid="_x0000_s73973" name="公式" r:id="rId1" imgW="43005375" imgH="8772525" progId="Equation.3">
                  <p:embed/>
                </p:oleObj>
              </mc:Choice>
              <mc:Fallback>
                <p:oleObj name="公式" r:id="rId1" imgW="43005375" imgH="8772525"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7883" y="1525369"/>
                        <a:ext cx="411480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4"/>
          <p:cNvGraphicFramePr>
            <a:graphicFrameLocks noChangeAspect="1"/>
          </p:cNvGraphicFramePr>
          <p:nvPr/>
        </p:nvGraphicFramePr>
        <p:xfrm>
          <a:off x="1161509" y="2438181"/>
          <a:ext cx="5834063" cy="850900"/>
        </p:xfrm>
        <a:graphic>
          <a:graphicData uri="http://schemas.openxmlformats.org/presentationml/2006/ole">
            <mc:AlternateContent xmlns:mc="http://schemas.openxmlformats.org/markup-compatibility/2006">
              <mc:Choice xmlns:v="urn:schemas-microsoft-com:vml" Requires="v">
                <p:oleObj spid="_x0000_s73974" name="公式" r:id="rId3" imgW="58588275" imgH="8553450" progId="Equation.3">
                  <p:embed/>
                </p:oleObj>
              </mc:Choice>
              <mc:Fallback>
                <p:oleObj name="公式" r:id="rId3" imgW="58588275" imgH="855345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1509" y="2438181"/>
                        <a:ext cx="5834063"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5"/>
          <p:cNvGraphicFramePr>
            <a:graphicFrameLocks noChangeAspect="1"/>
          </p:cNvGraphicFramePr>
          <p:nvPr/>
        </p:nvGraphicFramePr>
        <p:xfrm>
          <a:off x="7282908" y="2577881"/>
          <a:ext cx="2103438" cy="711200"/>
        </p:xfrm>
        <a:graphic>
          <a:graphicData uri="http://schemas.openxmlformats.org/presentationml/2006/ole">
            <mc:AlternateContent xmlns:mc="http://schemas.openxmlformats.org/markup-compatibility/2006">
              <mc:Choice xmlns:v="urn:schemas-microsoft-com:vml" Requires="v">
                <p:oleObj spid="_x0000_s73975" name="公式" r:id="rId5" imgW="17116425" imgH="6800850" progId="Equation.3">
                  <p:embed/>
                </p:oleObj>
              </mc:Choice>
              <mc:Fallback>
                <p:oleObj name="公式" r:id="rId5" imgW="17116425" imgH="6800850"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2908" y="2577881"/>
                        <a:ext cx="210343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6"/>
          <p:cNvGraphicFramePr>
            <a:graphicFrameLocks noChangeAspect="1"/>
          </p:cNvGraphicFramePr>
          <p:nvPr/>
        </p:nvGraphicFramePr>
        <p:xfrm>
          <a:off x="1391697" y="3366868"/>
          <a:ext cx="3455987" cy="3035300"/>
        </p:xfrm>
        <a:graphic>
          <a:graphicData uri="http://schemas.openxmlformats.org/presentationml/2006/ole">
            <mc:AlternateContent xmlns:mc="http://schemas.openxmlformats.org/markup-compatibility/2006">
              <mc:Choice xmlns:v="urn:schemas-microsoft-com:vml" Requires="v">
                <p:oleObj spid="_x0000_s73976" name="公式" r:id="rId7" imgW="33575625" imgH="37738050" progId="Equation.3">
                  <p:embed/>
                </p:oleObj>
              </mc:Choice>
              <mc:Fallback>
                <p:oleObj name="公式" r:id="rId7" imgW="33575625" imgH="37738050" progId="Equation.3">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1697" y="3366868"/>
                        <a:ext cx="3455987"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118268"/>
    </mc:Choice>
    <mc:Fallback>
      <p:transition spd="slow" advTm="11826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38619"/>
            <a:ext cx="7775919" cy="1257992"/>
            <a:chOff x="0" y="-82343"/>
            <a:chExt cx="7775919"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7054" y="14427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rPr>
                <a:t>习题</a:t>
              </a:r>
              <a:r>
                <a:rPr lang="en-US" altLang="zh-CN" sz="3600" b="1" dirty="0">
                  <a:solidFill>
                    <a:schemeClr val="accent1"/>
                  </a:solidFill>
                  <a:latin typeface="+mn-ea"/>
                </a:rPr>
                <a:t>1.11</a:t>
              </a:r>
              <a:endParaRPr lang="zh-CN" altLang="en-US" sz="3600" b="1" dirty="0">
                <a:solidFill>
                  <a:schemeClr val="accent1"/>
                </a:solidFill>
                <a:latin typeface="+mn-ea"/>
                <a:sym typeface="+mn-ea"/>
              </a:endParaRPr>
            </a:p>
          </p:txBody>
        </p:sp>
      </p:grpSp>
      <p:sp>
        <p:nvSpPr>
          <p:cNvPr id="24" name="内容占位符 2"/>
          <p:cNvSpPr txBox="1"/>
          <p:nvPr/>
        </p:nvSpPr>
        <p:spPr>
          <a:xfrm>
            <a:off x="531185" y="1397913"/>
            <a:ext cx="11151219" cy="585787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7950" indent="0">
              <a:lnSpc>
                <a:spcPct val="110000"/>
              </a:lnSpc>
              <a:spcBef>
                <a:spcPts val="300"/>
              </a:spcBef>
              <a:buClr>
                <a:srgbClr val="A04DA3"/>
              </a:buClr>
              <a:buFont typeface="Arial" panose="020B0604020202020204" pitchFamily="34" charset="0"/>
              <a:buNone/>
            </a:pPr>
            <a:r>
              <a:rPr lang="zh-CN" altLang="en-US" sz="1800" dirty="0">
                <a:latin typeface="+mn-ea"/>
              </a:rPr>
              <a:t>假设浮点数指令FP指令的比例为30%，</a:t>
            </a:r>
            <a:r>
              <a:rPr lang="zh-CN" altLang="en-US" sz="1800" b="1" dirty="0">
                <a:solidFill>
                  <a:srgbClr val="FF9933"/>
                </a:solidFill>
                <a:latin typeface="+mn-ea"/>
              </a:rPr>
              <a:t>其中</a:t>
            </a:r>
            <a:r>
              <a:rPr lang="zh-CN" altLang="en-US" sz="1800" dirty="0">
                <a:latin typeface="+mn-ea"/>
              </a:rPr>
              <a:t>浮点数平方根FPSQR占全部指令的比例为4%，FP操作的CPI为5，FPSQR操作的CPI为20，其他指令的平均CPI为1.25。</a:t>
            </a:r>
            <a:endParaRPr lang="zh-CN" altLang="en-US" sz="1800" dirty="0">
              <a:latin typeface="+mn-ea"/>
            </a:endParaRPr>
          </a:p>
          <a:p>
            <a:pPr marL="107950" indent="0">
              <a:lnSpc>
                <a:spcPct val="110000"/>
              </a:lnSpc>
              <a:spcBef>
                <a:spcPts val="300"/>
              </a:spcBef>
              <a:buClr>
                <a:srgbClr val="A04DA3"/>
              </a:buClr>
              <a:buFont typeface="Arial" panose="020B0604020202020204" pitchFamily="34" charset="0"/>
              <a:buNone/>
            </a:pPr>
            <a:r>
              <a:rPr lang="zh-CN" altLang="en-US" sz="1800" dirty="0">
                <a:latin typeface="+mn-ea"/>
              </a:rPr>
              <a:t>现有两种改进方案：（</a:t>
            </a:r>
            <a:r>
              <a:rPr lang="en-US" altLang="zh-CN" sz="1800" dirty="0">
                <a:latin typeface="+mn-ea"/>
              </a:rPr>
              <a:t>1</a:t>
            </a:r>
            <a:r>
              <a:rPr lang="zh-CN" altLang="en-US" sz="1800" dirty="0">
                <a:latin typeface="+mn-ea"/>
              </a:rPr>
              <a:t>）把FPSQR操作的CPI减至3；（</a:t>
            </a:r>
            <a:r>
              <a:rPr lang="en-US" altLang="zh-CN" sz="1800" dirty="0">
                <a:latin typeface="+mn-ea"/>
              </a:rPr>
              <a:t>2</a:t>
            </a:r>
            <a:r>
              <a:rPr lang="zh-CN" altLang="en-US" sz="1800" dirty="0">
                <a:latin typeface="+mn-ea"/>
              </a:rPr>
              <a:t>）把所有的FP操作的CPI减至3</a:t>
            </a:r>
            <a:endParaRPr lang="zh-CN" altLang="en-US" sz="1800" dirty="0">
              <a:latin typeface="+mn-ea"/>
            </a:endParaRPr>
          </a:p>
          <a:p>
            <a:pPr marL="457200" lvl="1" indent="0">
              <a:lnSpc>
                <a:spcPct val="110000"/>
              </a:lnSpc>
              <a:spcBef>
                <a:spcPts val="300"/>
              </a:spcBef>
              <a:buClr>
                <a:srgbClr val="A04DA3"/>
              </a:buClr>
              <a:buFont typeface="Arial" panose="020B0604020202020204" pitchFamily="34" charset="0"/>
              <a:buNone/>
            </a:pPr>
            <a:r>
              <a:rPr lang="zh-CN" altLang="en-US" sz="1800" dirty="0">
                <a:latin typeface="+mn-ea"/>
              </a:rPr>
              <a:t>试比较两种方案对系统性能的提高程度。</a:t>
            </a:r>
            <a:endParaRPr lang="zh-CN" altLang="en-US" sz="1800" dirty="0">
              <a:latin typeface="+mn-ea"/>
            </a:endParaRPr>
          </a:p>
          <a:p>
            <a:pPr marL="107950" indent="0">
              <a:lnSpc>
                <a:spcPct val="110000"/>
              </a:lnSpc>
              <a:buFont typeface="Arial" panose="020B0604020202020204" pitchFamily="34" charset="0"/>
              <a:buNone/>
            </a:pPr>
            <a:r>
              <a:rPr lang="zh-CN" altLang="en-US" sz="1800" dirty="0">
                <a:solidFill>
                  <a:srgbClr val="FF0000"/>
                </a:solidFill>
                <a:latin typeface="+mn-ea"/>
              </a:rPr>
              <a:t>解法</a:t>
            </a:r>
            <a:r>
              <a:rPr lang="en-US" altLang="zh-CN" sz="1800" dirty="0">
                <a:solidFill>
                  <a:srgbClr val="FF0000"/>
                </a:solidFill>
                <a:latin typeface="+mn-ea"/>
              </a:rPr>
              <a:t>1</a:t>
            </a:r>
            <a:r>
              <a:rPr lang="zh-CN" altLang="en-US" sz="1800" dirty="0">
                <a:solidFill>
                  <a:srgbClr val="FF0000"/>
                </a:solidFill>
                <a:latin typeface="+mn-ea"/>
              </a:rPr>
              <a:t>：</a:t>
            </a:r>
            <a:endParaRPr lang="zh-CN" altLang="en-US" sz="1800" dirty="0">
              <a:solidFill>
                <a:srgbClr val="FF0000"/>
              </a:solidFill>
              <a:latin typeface="+mn-ea"/>
            </a:endParaRPr>
          </a:p>
          <a:p>
            <a:pPr marL="107950" indent="0">
              <a:lnSpc>
                <a:spcPct val="110000"/>
              </a:lnSpc>
              <a:buFont typeface="Arial" panose="020B0604020202020204" pitchFamily="34" charset="0"/>
              <a:buNone/>
            </a:pPr>
            <a:r>
              <a:rPr lang="zh-CN" altLang="en-US" sz="1800" dirty="0">
                <a:latin typeface="+mn-ea"/>
              </a:rPr>
              <a:t>利用原始CPI的唯一性，先使用已知条件求出原始CPI，再求出除去FPSQR指令外其他指令的平均CPI，最后比较改进后的CPI大小。</a:t>
            </a:r>
            <a:endParaRPr lang="zh-CN" altLang="en-US" sz="1800" dirty="0">
              <a:latin typeface="+mn-ea"/>
            </a:endParaRPr>
          </a:p>
          <a:p>
            <a:pPr marL="107950" indent="0">
              <a:lnSpc>
                <a:spcPct val="110000"/>
              </a:lnSpc>
              <a:buFont typeface="Arial" panose="020B0604020202020204" pitchFamily="34" charset="0"/>
              <a:buNone/>
            </a:pPr>
            <a:r>
              <a:rPr lang="zh-CN" altLang="en-US" sz="1800" dirty="0">
                <a:latin typeface="+mn-ea"/>
              </a:rPr>
              <a:t>原始CPI = 5 </a:t>
            </a:r>
            <a:r>
              <a:rPr lang="zh-CN" altLang="en-US" sz="1800" dirty="0">
                <a:latin typeface="+mn-ea"/>
                <a:sym typeface="Arial" panose="020B0604020202020204" pitchFamily="34" charset="0"/>
              </a:rPr>
              <a:t>× 30% + 1.25 × (1 - 30%) = 2.375</a:t>
            </a:r>
            <a:endParaRPr lang="zh-CN" altLang="en-US" sz="1800" dirty="0">
              <a:latin typeface="+mn-ea"/>
              <a:sym typeface="Arial" panose="020B0604020202020204" pitchFamily="34" charset="0"/>
            </a:endParaRPr>
          </a:p>
          <a:p>
            <a:pPr marL="107950" indent="0">
              <a:lnSpc>
                <a:spcPct val="110000"/>
              </a:lnSpc>
              <a:buFont typeface="Arial" panose="020B0604020202020204" pitchFamily="34" charset="0"/>
              <a:buNone/>
            </a:pPr>
            <a:r>
              <a:rPr lang="zh-CN" altLang="en-US" sz="1800" dirty="0">
                <a:latin typeface="+mn-ea"/>
                <a:sym typeface="Arial" panose="020B0604020202020204" pitchFamily="34" charset="0"/>
              </a:rPr>
              <a:t>设除FPSQR外其余指令的平均CPI为X</a:t>
            </a:r>
            <a:endParaRPr lang="zh-CN" altLang="en-US" sz="1800" dirty="0">
              <a:latin typeface="+mn-ea"/>
              <a:sym typeface="Arial" panose="020B0604020202020204" pitchFamily="34" charset="0"/>
            </a:endParaRPr>
          </a:p>
          <a:p>
            <a:pPr marL="107950" indent="0">
              <a:lnSpc>
                <a:spcPct val="110000"/>
              </a:lnSpc>
              <a:buFont typeface="Arial" panose="020B0604020202020204" pitchFamily="34" charset="0"/>
              <a:buNone/>
            </a:pPr>
            <a:r>
              <a:rPr lang="zh-CN" altLang="en-US" sz="1800" dirty="0">
                <a:latin typeface="+mn-ea"/>
                <a:sym typeface="Arial" panose="020B0604020202020204" pitchFamily="34" charset="0"/>
              </a:rPr>
              <a:t>	    则 2.375 = 20 × 4% + (1 - 4%)X ，解出X = 1.640625</a:t>
            </a:r>
            <a:endParaRPr lang="zh-CN" altLang="en-US" sz="1800" dirty="0">
              <a:latin typeface="+mn-ea"/>
              <a:sym typeface="Arial" panose="020B0604020202020204" pitchFamily="34" charset="0"/>
            </a:endParaRPr>
          </a:p>
          <a:p>
            <a:pPr marL="107950" indent="0">
              <a:lnSpc>
                <a:spcPct val="110000"/>
              </a:lnSpc>
              <a:buFont typeface="Arial" panose="020B0604020202020204" pitchFamily="34" charset="0"/>
              <a:buNone/>
            </a:pPr>
            <a:r>
              <a:rPr lang="zh-CN" altLang="en-US" sz="1800" dirty="0">
                <a:latin typeface="+mn-ea"/>
              </a:rPr>
              <a:t>方案1：	CPI</a:t>
            </a:r>
            <a:r>
              <a:rPr lang="zh-CN" altLang="en-US" sz="1800" baseline="-25000" dirty="0">
                <a:latin typeface="+mn-ea"/>
              </a:rPr>
              <a:t>1 </a:t>
            </a:r>
            <a:r>
              <a:rPr lang="zh-CN" altLang="en-US" sz="1800" dirty="0">
                <a:latin typeface="+mn-ea"/>
              </a:rPr>
              <a:t>= 3 </a:t>
            </a:r>
            <a:r>
              <a:rPr lang="zh-CN" altLang="en-US" sz="1800" dirty="0">
                <a:latin typeface="+mn-ea"/>
                <a:sym typeface="Arial" panose="020B0604020202020204" pitchFamily="34" charset="0"/>
              </a:rPr>
              <a:t>× 4% + 1.640625 × (1 - 4%) = 1.695</a:t>
            </a:r>
            <a:endParaRPr lang="zh-CN" altLang="en-US" sz="1800" dirty="0">
              <a:latin typeface="+mn-ea"/>
              <a:sym typeface="Arial" panose="020B0604020202020204" pitchFamily="34" charset="0"/>
            </a:endParaRPr>
          </a:p>
          <a:p>
            <a:pPr marL="107950" indent="0">
              <a:lnSpc>
                <a:spcPct val="110000"/>
              </a:lnSpc>
              <a:buFont typeface="Arial" panose="020B0604020202020204" pitchFamily="34" charset="0"/>
              <a:buNone/>
            </a:pPr>
            <a:r>
              <a:rPr lang="zh-CN" altLang="en-US" sz="1800" dirty="0">
                <a:latin typeface="+mn-ea"/>
                <a:sym typeface="Arial" panose="020B0604020202020204" pitchFamily="34" charset="0"/>
              </a:rPr>
              <a:t>方案2：	</a:t>
            </a:r>
            <a:r>
              <a:rPr lang="zh-CN" altLang="en-US" sz="1800" dirty="0">
                <a:latin typeface="+mn-ea"/>
              </a:rPr>
              <a:t>CPI</a:t>
            </a:r>
            <a:r>
              <a:rPr lang="zh-CN" altLang="en-US" sz="1800" baseline="-25000" dirty="0">
                <a:latin typeface="+mn-ea"/>
              </a:rPr>
              <a:t>2</a:t>
            </a:r>
            <a:r>
              <a:rPr lang="zh-CN" altLang="en-US" sz="1800" dirty="0">
                <a:latin typeface="+mn-ea"/>
              </a:rPr>
              <a:t> = 3 </a:t>
            </a:r>
            <a:r>
              <a:rPr lang="zh-CN" altLang="en-US" sz="1800" dirty="0">
                <a:latin typeface="+mn-ea"/>
                <a:sym typeface="Arial" panose="020B0604020202020204" pitchFamily="34" charset="0"/>
              </a:rPr>
              <a:t>× 30% + 1.25 × (1 - 30%) = 1.775</a:t>
            </a:r>
            <a:endParaRPr lang="zh-CN" altLang="en-US" sz="1800" dirty="0">
              <a:latin typeface="+mn-ea"/>
              <a:sym typeface="Arial" panose="020B0604020202020204" pitchFamily="34" charset="0"/>
            </a:endParaRPr>
          </a:p>
          <a:p>
            <a:pPr marL="107950" indent="0">
              <a:lnSpc>
                <a:spcPct val="110000"/>
              </a:lnSpc>
              <a:buFont typeface="Arial" panose="020B0604020202020204" pitchFamily="34" charset="0"/>
              <a:buNone/>
            </a:pPr>
            <a:r>
              <a:rPr lang="zh-CN" altLang="en-US" sz="1800" dirty="0">
                <a:latin typeface="+mn-ea"/>
                <a:sym typeface="Arial" panose="020B0604020202020204" pitchFamily="34" charset="0"/>
              </a:rPr>
              <a:t>结论：	</a:t>
            </a:r>
            <a:r>
              <a:rPr lang="zh-CN" altLang="en-US" sz="1800" dirty="0">
                <a:solidFill>
                  <a:srgbClr val="CC6600"/>
                </a:solidFill>
                <a:latin typeface="+mn-ea"/>
                <a:sym typeface="Arial" panose="020B0604020202020204" pitchFamily="34" charset="0"/>
              </a:rPr>
              <a:t>方案1导致的新CPI更小，性能更好</a:t>
            </a:r>
            <a:endParaRPr lang="zh-CN" altLang="en-US" sz="1800" dirty="0">
              <a:solidFill>
                <a:srgbClr val="CC6600"/>
              </a:solidFill>
              <a:latin typeface="+mn-ea"/>
              <a:sym typeface="Arial" panose="020B0604020202020204" pitchFamily="34" charset="0"/>
            </a:endParaRPr>
          </a:p>
          <a:p>
            <a:pPr marL="107950" indent="0">
              <a:lnSpc>
                <a:spcPct val="110000"/>
              </a:lnSpc>
            </a:pPr>
            <a:endParaRPr lang="zh-CN" altLang="en-US" sz="1800" dirty="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18268"/>
    </mc:Choice>
    <mc:Fallback>
      <p:transition spd="slow" advTm="11826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38619"/>
            <a:ext cx="7775919" cy="1257992"/>
            <a:chOff x="0" y="-82343"/>
            <a:chExt cx="7775919"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7054" y="14427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rPr>
                <a:t>习题</a:t>
              </a:r>
              <a:r>
                <a:rPr lang="en-US" altLang="zh-CN" sz="3600" b="1" dirty="0">
                  <a:solidFill>
                    <a:schemeClr val="accent1"/>
                  </a:solidFill>
                  <a:latin typeface="+mn-ea"/>
                </a:rPr>
                <a:t>1.11</a:t>
              </a:r>
              <a:endParaRPr lang="zh-CN" altLang="en-US" sz="3600" b="1" dirty="0">
                <a:solidFill>
                  <a:schemeClr val="accent1"/>
                </a:solidFill>
                <a:latin typeface="+mn-ea"/>
                <a:sym typeface="+mn-ea"/>
              </a:endParaRPr>
            </a:p>
          </p:txBody>
        </p:sp>
      </p:grpSp>
      <p:sp>
        <p:nvSpPr>
          <p:cNvPr id="12" name="内容占位符 2"/>
          <p:cNvSpPr txBox="1"/>
          <p:nvPr/>
        </p:nvSpPr>
        <p:spPr>
          <a:xfrm>
            <a:off x="814039" y="1494828"/>
            <a:ext cx="10392935" cy="559117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CN" altLang="en-US" sz="1800" dirty="0">
                <a:solidFill>
                  <a:srgbClr val="FF9933"/>
                </a:solidFill>
                <a:latin typeface="+mn-ea"/>
              </a:rPr>
              <a:t>解法</a:t>
            </a:r>
            <a:r>
              <a:rPr lang="en-US" altLang="zh-CN" sz="1800" dirty="0">
                <a:solidFill>
                  <a:srgbClr val="FF9933"/>
                </a:solidFill>
                <a:latin typeface="+mn-ea"/>
              </a:rPr>
              <a:t>2</a:t>
            </a:r>
            <a:r>
              <a:rPr lang="zh-CN" altLang="en-US" sz="1800" dirty="0">
                <a:solidFill>
                  <a:srgbClr val="FF9933"/>
                </a:solidFill>
                <a:latin typeface="+mn-ea"/>
              </a:rPr>
              <a:t>：</a:t>
            </a:r>
            <a:endParaRPr lang="zh-CN" altLang="en-US" sz="1800" dirty="0">
              <a:solidFill>
                <a:srgbClr val="FF9933"/>
              </a:solidFill>
              <a:latin typeface="+mn-ea"/>
            </a:endParaRPr>
          </a:p>
          <a:p>
            <a:pPr marL="0" indent="0">
              <a:buFont typeface="Arial" panose="020B0604020202020204" pitchFamily="34" charset="0"/>
              <a:buNone/>
            </a:pPr>
            <a:r>
              <a:rPr lang="zh-CN" altLang="en-US" sz="1800" dirty="0">
                <a:solidFill>
                  <a:srgbClr val="FF9933"/>
                </a:solidFill>
                <a:latin typeface="+mn-ea"/>
              </a:rPr>
              <a:t>   </a:t>
            </a:r>
            <a:r>
              <a:rPr lang="zh-CN" altLang="en-US" sz="1800" dirty="0">
                <a:latin typeface="+mn-ea"/>
              </a:rPr>
              <a:t>用Amdahl公式求。记指令总条数=M，时钟周期长度=CYCLE。</a:t>
            </a:r>
            <a:endParaRPr lang="zh-CN" altLang="en-US" sz="1800" dirty="0">
              <a:latin typeface="+mn-ea"/>
            </a:endParaRPr>
          </a:p>
          <a:p>
            <a:pPr marL="0" indent="0">
              <a:buFont typeface="Arial" panose="020B0604020202020204" pitchFamily="34" charset="0"/>
              <a:buNone/>
            </a:pPr>
            <a:endParaRPr lang="zh-CN" altLang="en-US" sz="1800" dirty="0">
              <a:latin typeface="+mn-ea"/>
            </a:endParaRPr>
          </a:p>
          <a:p>
            <a:pPr marL="0" indent="0">
              <a:buFont typeface="Arial" panose="020B0604020202020204" pitchFamily="34" charset="0"/>
              <a:buNone/>
            </a:pPr>
            <a:r>
              <a:rPr lang="zh-CN" altLang="en-US" sz="1800" dirty="0">
                <a:latin typeface="+mn-ea"/>
              </a:rPr>
              <a:t>原始总时间T</a:t>
            </a:r>
            <a:r>
              <a:rPr lang="zh-CN" altLang="en-US" sz="1800" baseline="-25000" dirty="0">
                <a:latin typeface="+mn-ea"/>
              </a:rPr>
              <a:t>old</a:t>
            </a:r>
            <a:r>
              <a:rPr lang="zh-CN" altLang="en-US" sz="1800" dirty="0">
                <a:latin typeface="+mn-ea"/>
              </a:rPr>
              <a:t> = 0.3M </a:t>
            </a:r>
            <a:r>
              <a:rPr lang="zh-CN" altLang="en-US" sz="1800" dirty="0">
                <a:latin typeface="+mn-ea"/>
                <a:sym typeface="Arial" panose="020B0604020202020204" pitchFamily="34" charset="0"/>
              </a:rPr>
              <a:t>× 5 × CYCLE + 0.7M × 1.25 × CYCLE </a:t>
            </a:r>
            <a:endParaRPr lang="en-US" altLang="zh-CN" sz="1800" dirty="0">
              <a:latin typeface="+mn-ea"/>
              <a:sym typeface="Arial" panose="020B0604020202020204" pitchFamily="34" charset="0"/>
            </a:endParaRPr>
          </a:p>
          <a:p>
            <a:pPr marL="0" indent="0">
              <a:buFont typeface="Arial" panose="020B0604020202020204" pitchFamily="34" charset="0"/>
              <a:buNone/>
            </a:pPr>
            <a:r>
              <a:rPr lang="zh-CN" altLang="en-US" sz="1800" dirty="0">
                <a:latin typeface="+mn-ea"/>
                <a:sym typeface="Arial" panose="020B0604020202020204" pitchFamily="34" charset="0"/>
              </a:rPr>
              <a:t>                         = M × 2.375 × CYCLE</a:t>
            </a:r>
            <a:endParaRPr lang="zh-CN" altLang="en-US" sz="1800" dirty="0">
              <a:latin typeface="+mn-ea"/>
              <a:sym typeface="Arial" panose="020B0604020202020204" pitchFamily="34" charset="0"/>
            </a:endParaRPr>
          </a:p>
          <a:p>
            <a:pPr marL="0" indent="0">
              <a:buFont typeface="Arial" panose="020B0604020202020204" pitchFamily="34" charset="0"/>
              <a:buNone/>
            </a:pPr>
            <a:r>
              <a:rPr lang="zh-CN" altLang="en-US" sz="1800" dirty="0">
                <a:latin typeface="+mn-ea"/>
              </a:rPr>
              <a:t>T</a:t>
            </a:r>
            <a:r>
              <a:rPr lang="zh-CN" altLang="en-US" sz="1800" baseline="-25000" dirty="0">
                <a:latin typeface="+mn-ea"/>
              </a:rPr>
              <a:t>FP</a:t>
            </a:r>
            <a:r>
              <a:rPr lang="zh-CN" altLang="en-US" sz="1800" dirty="0">
                <a:latin typeface="+mn-ea"/>
              </a:rPr>
              <a:t> = 0.3M </a:t>
            </a:r>
            <a:r>
              <a:rPr lang="zh-CN" altLang="en-US" sz="1800" dirty="0">
                <a:latin typeface="+mn-ea"/>
                <a:sym typeface="Arial" panose="020B0604020202020204" pitchFamily="34" charset="0"/>
              </a:rPr>
              <a:t>× 5 × CYCLE = M × 1.5 × CYCLE，</a:t>
            </a:r>
            <a:endParaRPr lang="en-US" altLang="zh-CN" sz="1800" dirty="0">
              <a:latin typeface="+mn-ea"/>
              <a:sym typeface="Arial" panose="020B0604020202020204" pitchFamily="34" charset="0"/>
            </a:endParaRPr>
          </a:p>
          <a:p>
            <a:pPr marL="0" indent="0">
              <a:buFont typeface="Arial" panose="020B0604020202020204" pitchFamily="34" charset="0"/>
              <a:buNone/>
            </a:pPr>
            <a:r>
              <a:rPr lang="zh-CN" altLang="en-US" sz="1800" dirty="0">
                <a:latin typeface="+mn-ea"/>
                <a:sym typeface="Arial" panose="020B0604020202020204" pitchFamily="34" charset="0"/>
              </a:rPr>
              <a:t>   所占比例为1.5/2.375 ≈ 63%</a:t>
            </a:r>
            <a:endParaRPr lang="zh-CN" altLang="en-US" sz="1800" dirty="0">
              <a:latin typeface="+mn-ea"/>
              <a:sym typeface="Arial" panose="020B0604020202020204" pitchFamily="34" charset="0"/>
            </a:endParaRPr>
          </a:p>
          <a:p>
            <a:pPr marL="0" indent="0">
              <a:buFont typeface="Arial" panose="020B0604020202020204" pitchFamily="34" charset="0"/>
              <a:buNone/>
            </a:pPr>
            <a:r>
              <a:rPr lang="zh-CN" altLang="en-US" sz="1800" dirty="0">
                <a:latin typeface="+mn-ea"/>
              </a:rPr>
              <a:t>T</a:t>
            </a:r>
            <a:r>
              <a:rPr lang="zh-CN" altLang="en-US" sz="1800" baseline="-25000" dirty="0">
                <a:latin typeface="+mn-ea"/>
              </a:rPr>
              <a:t>FPSQR</a:t>
            </a:r>
            <a:r>
              <a:rPr lang="zh-CN" altLang="en-US" sz="1800" dirty="0">
                <a:latin typeface="+mn-ea"/>
              </a:rPr>
              <a:t> = 0.04M </a:t>
            </a:r>
            <a:r>
              <a:rPr lang="zh-CN" altLang="en-US" sz="1800" dirty="0">
                <a:latin typeface="+mn-ea"/>
                <a:sym typeface="Arial" panose="020B0604020202020204" pitchFamily="34" charset="0"/>
              </a:rPr>
              <a:t>× 20 × CYCLE = M × 0.8 × CYCLE，</a:t>
            </a:r>
            <a:endParaRPr lang="en-US" altLang="zh-CN" sz="1800" dirty="0">
              <a:latin typeface="+mn-ea"/>
              <a:sym typeface="Arial" panose="020B0604020202020204" pitchFamily="34" charset="0"/>
            </a:endParaRPr>
          </a:p>
          <a:p>
            <a:pPr marL="0" indent="0">
              <a:buFont typeface="Arial" panose="020B0604020202020204" pitchFamily="34" charset="0"/>
              <a:buNone/>
            </a:pPr>
            <a:r>
              <a:rPr lang="zh-CN" altLang="en-US" sz="1800" dirty="0">
                <a:latin typeface="+mn-ea"/>
                <a:sym typeface="Arial" panose="020B0604020202020204" pitchFamily="34" charset="0"/>
              </a:rPr>
              <a:t>   所占比例为0.8/2.375 ≈ 34%</a:t>
            </a:r>
            <a:endParaRPr lang="zh-CN" altLang="en-US" sz="1800" dirty="0">
              <a:latin typeface="+mn-ea"/>
              <a:sym typeface="Arial" panose="020B0604020202020204" pitchFamily="34" charset="0"/>
            </a:endParaRPr>
          </a:p>
          <a:p>
            <a:pPr marL="0" indent="0">
              <a:buFont typeface="Arial" panose="020B0604020202020204" pitchFamily="34" charset="0"/>
              <a:buNone/>
            </a:pPr>
            <a:endParaRPr lang="zh-CN" altLang="en-US" sz="1800" dirty="0">
              <a:latin typeface="+mn-ea"/>
              <a:sym typeface="Arial" panose="020B0604020202020204" pitchFamily="34" charset="0"/>
            </a:endParaRPr>
          </a:p>
          <a:p>
            <a:pPr marL="0" indent="0">
              <a:buFont typeface="Arial" panose="020B0604020202020204" pitchFamily="34" charset="0"/>
              <a:buNone/>
            </a:pPr>
            <a:r>
              <a:rPr lang="zh-CN" altLang="en-US" sz="1800" dirty="0">
                <a:latin typeface="+mn-ea"/>
              </a:rPr>
              <a:t>方案1：Se = 20/3，Fe </a:t>
            </a:r>
            <a:r>
              <a:rPr lang="zh-CN" altLang="en-US" sz="1800" dirty="0">
                <a:latin typeface="+mn-ea"/>
                <a:sym typeface="Arial" panose="020B0604020202020204" pitchFamily="34" charset="0"/>
              </a:rPr>
              <a:t>≈ 34%，Sn</a:t>
            </a:r>
            <a:r>
              <a:rPr lang="zh-CN" altLang="en-US" sz="1800" baseline="-25000" dirty="0">
                <a:latin typeface="+mn-ea"/>
              </a:rPr>
              <a:t>1 </a:t>
            </a:r>
            <a:r>
              <a:rPr lang="zh-CN" altLang="en-US" sz="1800" dirty="0">
                <a:latin typeface="+mn-ea"/>
              </a:rPr>
              <a:t>= 1 / [</a:t>
            </a:r>
            <a:r>
              <a:rPr lang="zh-CN" altLang="en-US" sz="1800" dirty="0">
                <a:latin typeface="+mn-ea"/>
                <a:sym typeface="Arial" panose="020B0604020202020204" pitchFamily="34" charset="0"/>
              </a:rPr>
              <a:t> (1 - Fe) + Fe / Se ] ≈ 1.4</a:t>
            </a:r>
            <a:endParaRPr lang="zh-CN" altLang="en-US" sz="1800" dirty="0">
              <a:latin typeface="+mn-ea"/>
              <a:sym typeface="Arial" panose="020B0604020202020204" pitchFamily="34" charset="0"/>
            </a:endParaRPr>
          </a:p>
          <a:p>
            <a:pPr marL="0" indent="0">
              <a:buFont typeface="Arial" panose="020B0604020202020204" pitchFamily="34" charset="0"/>
              <a:buNone/>
            </a:pPr>
            <a:r>
              <a:rPr lang="zh-CN" altLang="en-US" sz="1800" dirty="0">
                <a:latin typeface="+mn-ea"/>
                <a:sym typeface="Arial" panose="020B0604020202020204" pitchFamily="34" charset="0"/>
              </a:rPr>
              <a:t>方案2：</a:t>
            </a:r>
            <a:r>
              <a:rPr lang="zh-CN" altLang="en-US" sz="1800" dirty="0">
                <a:latin typeface="+mn-ea"/>
              </a:rPr>
              <a:t>Se = 5/3，Fe </a:t>
            </a:r>
            <a:r>
              <a:rPr lang="zh-CN" altLang="en-US" sz="1800" dirty="0">
                <a:latin typeface="+mn-ea"/>
                <a:sym typeface="Arial" panose="020B0604020202020204" pitchFamily="34" charset="0"/>
              </a:rPr>
              <a:t>≈ 63%，Sn</a:t>
            </a:r>
            <a:r>
              <a:rPr lang="zh-CN" altLang="en-US" sz="1800" baseline="-25000" dirty="0">
                <a:latin typeface="+mn-ea"/>
                <a:sym typeface="Arial" panose="020B0604020202020204" pitchFamily="34" charset="0"/>
              </a:rPr>
              <a:t>2</a:t>
            </a:r>
            <a:r>
              <a:rPr lang="zh-CN" altLang="en-US" sz="1800" dirty="0">
                <a:latin typeface="+mn-ea"/>
              </a:rPr>
              <a:t> = 1 / [</a:t>
            </a:r>
            <a:r>
              <a:rPr lang="zh-CN" altLang="en-US" sz="1800" dirty="0">
                <a:latin typeface="+mn-ea"/>
                <a:sym typeface="Arial" panose="020B0604020202020204" pitchFamily="34" charset="0"/>
              </a:rPr>
              <a:t> (1 - Fe) + Fe / Se ] ≈ 1.3</a:t>
            </a:r>
            <a:endParaRPr lang="zh-CN" altLang="en-US" sz="1800" dirty="0">
              <a:latin typeface="+mn-ea"/>
              <a:sym typeface="Arial" panose="020B0604020202020204" pitchFamily="34" charset="0"/>
            </a:endParaRPr>
          </a:p>
          <a:p>
            <a:pPr marL="0" indent="0">
              <a:buFont typeface="Arial" panose="020B0604020202020204" pitchFamily="34" charset="0"/>
              <a:buNone/>
            </a:pPr>
            <a:endParaRPr lang="zh-CN" altLang="en-US" sz="1800" dirty="0">
              <a:latin typeface="+mn-ea"/>
              <a:sym typeface="Arial" panose="020B0604020202020204" pitchFamily="34" charset="0"/>
            </a:endParaRPr>
          </a:p>
          <a:p>
            <a:pPr marL="0" indent="0">
              <a:buFont typeface="Arial" panose="020B0604020202020204" pitchFamily="34" charset="0"/>
              <a:buNone/>
            </a:pPr>
            <a:r>
              <a:rPr lang="zh-CN" altLang="en-US" sz="1800" dirty="0">
                <a:latin typeface="+mn-ea"/>
                <a:sym typeface="Arial" panose="020B0604020202020204" pitchFamily="34" charset="0"/>
              </a:rPr>
              <a:t>结论：	</a:t>
            </a:r>
            <a:r>
              <a:rPr lang="zh-CN" altLang="en-US" sz="1800" dirty="0">
                <a:solidFill>
                  <a:srgbClr val="CC6600"/>
                </a:solidFill>
                <a:latin typeface="+mn-ea"/>
                <a:sym typeface="Arial" panose="020B0604020202020204" pitchFamily="34" charset="0"/>
              </a:rPr>
              <a:t>方案1导致加速比更大，性能更好</a:t>
            </a:r>
            <a:endParaRPr lang="zh-CN" altLang="en-US" sz="18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118268"/>
    </mc:Choice>
    <mc:Fallback>
      <p:transition spd="slow" advTm="118268"/>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38619"/>
            <a:ext cx="776965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lgn="l">
                <a:lnSpc>
                  <a:spcPct val="100000"/>
                </a:lnSpc>
              </a:pPr>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3.8</a:t>
              </a:r>
              <a:r>
                <a:rPr lang="zh-CN" altLang="en-US" sz="3600" b="1" dirty="0">
                  <a:solidFill>
                    <a:schemeClr val="accent1"/>
                  </a:solidFill>
                  <a:latin typeface="+mn-ea"/>
                  <a:sym typeface="+mn-ea"/>
                </a:rPr>
                <a:t>（时空图、性能指标）</a:t>
              </a:r>
              <a:endParaRPr lang="zh-CN" altLang="en-US" sz="3600" b="1" dirty="0">
                <a:solidFill>
                  <a:schemeClr val="accent1"/>
                </a:solidFill>
                <a:latin typeface="+mn-ea"/>
                <a:sym typeface="+mn-ea"/>
              </a:endParaRPr>
            </a:p>
          </p:txBody>
        </p:sp>
      </p:grpSp>
      <p:grpSp>
        <p:nvGrpSpPr>
          <p:cNvPr id="4" name="组合 3"/>
          <p:cNvGrpSpPr/>
          <p:nvPr/>
        </p:nvGrpSpPr>
        <p:grpSpPr>
          <a:xfrm>
            <a:off x="506891" y="1609347"/>
            <a:ext cx="11199808" cy="2243050"/>
            <a:chOff x="461361" y="1615790"/>
            <a:chExt cx="11199808" cy="2243050"/>
          </a:xfrm>
        </p:grpSpPr>
        <p:sp>
          <p:nvSpPr>
            <p:cNvPr id="13" name="矩形 3"/>
            <p:cNvSpPr>
              <a:spLocks noChangeArrowheads="1"/>
            </p:cNvSpPr>
            <p:nvPr/>
          </p:nvSpPr>
          <p:spPr bwMode="auto">
            <a:xfrm>
              <a:off x="461361" y="1615790"/>
              <a:ext cx="11199808" cy="22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en-US" altLang="zh-CN" sz="2400" dirty="0">
                  <a:latin typeface="+mn-ea"/>
                  <a:ea typeface="+mn-ea"/>
                </a:rPr>
                <a:t>3.8</a:t>
              </a:r>
              <a:r>
                <a:rPr lang="zh-CN" altLang="en-US" sz="2400" dirty="0">
                  <a:latin typeface="+mn-ea"/>
                  <a:ea typeface="+mn-ea"/>
                </a:rPr>
                <a:t>   有一条</a:t>
              </a:r>
              <a:r>
                <a:rPr lang="zh-CN" altLang="en-US" sz="2400" b="1" dirty="0">
                  <a:solidFill>
                    <a:schemeClr val="accent1">
                      <a:lumMod val="75000"/>
                    </a:schemeClr>
                  </a:solidFill>
                  <a:latin typeface="+mn-ea"/>
                  <a:ea typeface="+mn-ea"/>
                </a:rPr>
                <a:t>动态</a:t>
              </a:r>
              <a:r>
                <a:rPr lang="zh-CN" altLang="en-US" sz="2400" dirty="0">
                  <a:latin typeface="+mn-ea"/>
                  <a:ea typeface="+mn-ea"/>
                </a:rPr>
                <a:t>多功能流水线由</a:t>
              </a:r>
              <a:r>
                <a:rPr lang="en-US" altLang="zh-CN" sz="2400" dirty="0">
                  <a:latin typeface="+mn-ea"/>
                  <a:ea typeface="+mn-ea"/>
                </a:rPr>
                <a:t>5</a:t>
              </a:r>
              <a:r>
                <a:rPr lang="zh-CN" altLang="en-US" sz="2400" dirty="0">
                  <a:latin typeface="+mn-ea"/>
                  <a:ea typeface="+mn-ea"/>
                </a:rPr>
                <a:t>段组成，加法用</a:t>
              </a:r>
              <a:r>
                <a:rPr lang="en-US" altLang="zh-CN" sz="2400" dirty="0">
                  <a:latin typeface="+mn-ea"/>
                  <a:ea typeface="+mn-ea"/>
                </a:rPr>
                <a:t>1</a:t>
              </a:r>
              <a:r>
                <a:rPr lang="zh-CN" altLang="en-US" sz="2400" dirty="0">
                  <a:latin typeface="+mn-ea"/>
                  <a:ea typeface="+mn-ea"/>
                </a:rPr>
                <a:t>、</a:t>
              </a:r>
              <a:r>
                <a:rPr lang="en-US" altLang="zh-CN" sz="2400" dirty="0">
                  <a:latin typeface="+mn-ea"/>
                  <a:ea typeface="+mn-ea"/>
                </a:rPr>
                <a:t>3</a:t>
              </a:r>
              <a:r>
                <a:rPr lang="zh-CN" altLang="en-US" sz="2400" dirty="0">
                  <a:latin typeface="+mn-ea"/>
                  <a:ea typeface="+mn-ea"/>
                </a:rPr>
                <a:t>、</a:t>
              </a:r>
              <a:r>
                <a:rPr lang="en-US" altLang="zh-CN" sz="2400" dirty="0">
                  <a:latin typeface="+mn-ea"/>
                  <a:ea typeface="+mn-ea"/>
                </a:rPr>
                <a:t>4</a:t>
              </a:r>
              <a:r>
                <a:rPr lang="zh-CN" altLang="en-US" sz="2400" dirty="0">
                  <a:latin typeface="+mn-ea"/>
                  <a:ea typeface="+mn-ea"/>
                </a:rPr>
                <a:t>、</a:t>
              </a:r>
              <a:r>
                <a:rPr lang="en-US" altLang="zh-CN" sz="2400" dirty="0">
                  <a:latin typeface="+mn-ea"/>
                  <a:ea typeface="+mn-ea"/>
                </a:rPr>
                <a:t>5</a:t>
              </a:r>
              <a:r>
                <a:rPr lang="zh-CN" altLang="en-US" sz="2400" dirty="0">
                  <a:latin typeface="+mn-ea"/>
                  <a:ea typeface="+mn-ea"/>
                </a:rPr>
                <a:t>段，乘法用</a:t>
              </a:r>
              <a:r>
                <a:rPr lang="en-US" altLang="zh-CN" sz="2400" dirty="0">
                  <a:latin typeface="+mn-ea"/>
                  <a:ea typeface="+mn-ea"/>
                </a:rPr>
                <a:t>1</a:t>
              </a:r>
              <a:r>
                <a:rPr lang="zh-CN" altLang="en-US" sz="2400" dirty="0">
                  <a:latin typeface="+mn-ea"/>
                  <a:ea typeface="+mn-ea"/>
                </a:rPr>
                <a:t>、</a:t>
              </a:r>
              <a:r>
                <a:rPr lang="en-US" altLang="zh-CN" sz="2400" dirty="0">
                  <a:latin typeface="+mn-ea"/>
                  <a:ea typeface="+mn-ea"/>
                </a:rPr>
                <a:t>2</a:t>
              </a:r>
              <a:r>
                <a:rPr lang="zh-CN" altLang="en-US" sz="2400" dirty="0">
                  <a:latin typeface="+mn-ea"/>
                  <a:ea typeface="+mn-ea"/>
                </a:rPr>
                <a:t>、</a:t>
              </a:r>
              <a:r>
                <a:rPr lang="en-US" altLang="zh-CN" sz="2400" dirty="0">
                  <a:latin typeface="+mn-ea"/>
                  <a:ea typeface="+mn-ea"/>
                </a:rPr>
                <a:t>5 </a:t>
              </a:r>
              <a:r>
                <a:rPr lang="zh-CN" altLang="en-US" sz="2400" dirty="0">
                  <a:latin typeface="+mn-ea"/>
                  <a:ea typeface="+mn-ea"/>
                </a:rPr>
                <a:t>段，第</a:t>
              </a:r>
              <a:r>
                <a:rPr lang="en-US" altLang="zh-CN" sz="2400" dirty="0">
                  <a:latin typeface="+mn-ea"/>
                  <a:ea typeface="+mn-ea"/>
                </a:rPr>
                <a:t>2 </a:t>
              </a:r>
              <a:r>
                <a:rPr lang="zh-CN" altLang="en-US" sz="2400" dirty="0">
                  <a:latin typeface="+mn-ea"/>
                  <a:ea typeface="+mn-ea"/>
                </a:rPr>
                <a:t>段的时间为</a:t>
              </a:r>
              <a:r>
                <a:rPr lang="en-US" altLang="zh-CN" sz="2400" dirty="0">
                  <a:latin typeface="+mn-ea"/>
                  <a:ea typeface="+mn-ea"/>
                </a:rPr>
                <a:t>2</a:t>
              </a:r>
              <a:r>
                <a:rPr lang="zh-CN" altLang="en-US" sz="2400" dirty="0">
                  <a:latin typeface="+mn-ea"/>
                  <a:ea typeface="+mn-ea"/>
                </a:rPr>
                <a:t>△</a:t>
              </a:r>
              <a:r>
                <a:rPr lang="en-US" altLang="zh-CN" sz="2400" dirty="0">
                  <a:latin typeface="+mn-ea"/>
                  <a:ea typeface="+mn-ea"/>
                </a:rPr>
                <a:t>t</a:t>
              </a:r>
              <a:r>
                <a:rPr lang="zh-CN" altLang="en-US" sz="2400" dirty="0">
                  <a:latin typeface="+mn-ea"/>
                  <a:ea typeface="+mn-ea"/>
                </a:rPr>
                <a:t>，其余各段的时间均为△</a:t>
              </a:r>
              <a:r>
                <a:rPr lang="en-US" altLang="zh-CN" sz="2400" dirty="0">
                  <a:latin typeface="+mn-ea"/>
                  <a:ea typeface="+mn-ea"/>
                </a:rPr>
                <a:t>t</a:t>
              </a:r>
              <a:r>
                <a:rPr lang="zh-CN" altLang="en-US" sz="2400" dirty="0">
                  <a:latin typeface="+mn-ea"/>
                  <a:ea typeface="+mn-ea"/>
                </a:rPr>
                <a:t>，而且流水线的输出可以直接返回输入端或暂存于相应的流水寄存器中。现要在该流水线上计算              ，画出其时空图，并计算其吞吐率、加速比和效率。</a:t>
              </a:r>
              <a:endParaRPr lang="zh-CN" altLang="en-US" sz="2400" dirty="0">
                <a:latin typeface="+mn-ea"/>
                <a:ea typeface="+mn-ea"/>
              </a:endParaRPr>
            </a:p>
          </p:txBody>
        </p:sp>
        <p:pic>
          <p:nvPicPr>
            <p:cNvPr id="14"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9052722" y="2737315"/>
              <a:ext cx="1349375"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 name="组合 6"/>
          <p:cNvGrpSpPr/>
          <p:nvPr/>
        </p:nvGrpSpPr>
        <p:grpSpPr bwMode="auto">
          <a:xfrm>
            <a:off x="2524874" y="3997932"/>
            <a:ext cx="6840538" cy="2589272"/>
            <a:chOff x="900113" y="4119563"/>
            <a:chExt cx="6840537" cy="2589272"/>
          </a:xfrm>
        </p:grpSpPr>
        <p:sp>
          <p:nvSpPr>
            <p:cNvPr id="19" name="矩形 18"/>
            <p:cNvSpPr/>
            <p:nvPr/>
          </p:nvSpPr>
          <p:spPr>
            <a:xfrm>
              <a:off x="1235076" y="4938713"/>
              <a:ext cx="457200" cy="908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bg1"/>
                  </a:solidFill>
                  <a:latin typeface="+mn-ea"/>
                </a:rPr>
                <a:t>1</a:t>
              </a:r>
              <a:endParaRPr lang="zh-CN" altLang="en-US" sz="2000" dirty="0">
                <a:solidFill>
                  <a:schemeClr val="bg1"/>
                </a:solidFill>
                <a:latin typeface="+mn-ea"/>
              </a:endParaRPr>
            </a:p>
          </p:txBody>
        </p:sp>
        <p:sp>
          <p:nvSpPr>
            <p:cNvPr id="22" name="矩形 21"/>
            <p:cNvSpPr/>
            <p:nvPr/>
          </p:nvSpPr>
          <p:spPr>
            <a:xfrm>
              <a:off x="2608263" y="4938713"/>
              <a:ext cx="457200" cy="908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bg1"/>
                  </a:solidFill>
                  <a:latin typeface="+mn-ea"/>
                </a:rPr>
                <a:t>2</a:t>
              </a:r>
              <a:endParaRPr lang="zh-CN" altLang="en-US" sz="2000" dirty="0">
                <a:solidFill>
                  <a:schemeClr val="bg1"/>
                </a:solidFill>
                <a:latin typeface="+mn-ea"/>
              </a:endParaRPr>
            </a:p>
          </p:txBody>
        </p:sp>
        <p:sp>
          <p:nvSpPr>
            <p:cNvPr id="23" name="矩形 22"/>
            <p:cNvSpPr/>
            <p:nvPr/>
          </p:nvSpPr>
          <p:spPr>
            <a:xfrm>
              <a:off x="3983038" y="4938713"/>
              <a:ext cx="457200" cy="908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bg1"/>
                  </a:solidFill>
                  <a:latin typeface="+mn-ea"/>
                </a:rPr>
                <a:t>3</a:t>
              </a:r>
              <a:endParaRPr lang="zh-CN" altLang="en-US" sz="2000" dirty="0">
                <a:solidFill>
                  <a:schemeClr val="bg1"/>
                </a:solidFill>
                <a:latin typeface="+mn-ea"/>
              </a:endParaRPr>
            </a:p>
          </p:txBody>
        </p:sp>
        <p:sp>
          <p:nvSpPr>
            <p:cNvPr id="24" name="矩形 23"/>
            <p:cNvSpPr/>
            <p:nvPr/>
          </p:nvSpPr>
          <p:spPr>
            <a:xfrm>
              <a:off x="5357812" y="4938713"/>
              <a:ext cx="457200" cy="908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bg1"/>
                  </a:solidFill>
                  <a:latin typeface="+mn-ea"/>
                </a:rPr>
                <a:t>4</a:t>
              </a:r>
              <a:endParaRPr lang="zh-CN" altLang="en-US" sz="2000" dirty="0">
                <a:solidFill>
                  <a:schemeClr val="bg1"/>
                </a:solidFill>
                <a:latin typeface="+mn-ea"/>
              </a:endParaRPr>
            </a:p>
          </p:txBody>
        </p:sp>
        <p:sp>
          <p:nvSpPr>
            <p:cNvPr id="25" name="矩形 24"/>
            <p:cNvSpPr/>
            <p:nvPr/>
          </p:nvSpPr>
          <p:spPr>
            <a:xfrm>
              <a:off x="6732587" y="4938713"/>
              <a:ext cx="457200" cy="908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dirty="0">
                  <a:solidFill>
                    <a:schemeClr val="bg1"/>
                  </a:solidFill>
                  <a:latin typeface="+mn-ea"/>
                </a:rPr>
                <a:t>5</a:t>
              </a:r>
              <a:endParaRPr lang="zh-CN" altLang="en-US" sz="2000" dirty="0">
                <a:solidFill>
                  <a:schemeClr val="bg1"/>
                </a:solidFill>
                <a:latin typeface="+mn-ea"/>
              </a:endParaRPr>
            </a:p>
          </p:txBody>
        </p:sp>
        <p:cxnSp>
          <p:nvCxnSpPr>
            <p:cNvPr id="26" name="直接箭头连接符 15"/>
            <p:cNvCxnSpPr/>
            <p:nvPr/>
          </p:nvCxnSpPr>
          <p:spPr>
            <a:xfrm>
              <a:off x="900113" y="5157788"/>
              <a:ext cx="32385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7" name="直接箭头连接符 16"/>
            <p:cNvCxnSpPr/>
            <p:nvPr/>
          </p:nvCxnSpPr>
          <p:spPr>
            <a:xfrm>
              <a:off x="911226" y="5643563"/>
              <a:ext cx="32385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8" name="直接箭头连接符 17"/>
            <p:cNvCxnSpPr/>
            <p:nvPr/>
          </p:nvCxnSpPr>
          <p:spPr>
            <a:xfrm>
              <a:off x="4440237" y="5167313"/>
              <a:ext cx="91757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9" name="直接箭头连接符 20"/>
            <p:cNvCxnSpPr/>
            <p:nvPr/>
          </p:nvCxnSpPr>
          <p:spPr>
            <a:xfrm>
              <a:off x="5815012" y="5199063"/>
              <a:ext cx="91757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0" name="直接箭头连接符 21"/>
            <p:cNvCxnSpPr/>
            <p:nvPr/>
          </p:nvCxnSpPr>
          <p:spPr>
            <a:xfrm>
              <a:off x="7189787" y="5183188"/>
              <a:ext cx="550863"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1" name="直接箭头连接符 22"/>
            <p:cNvCxnSpPr/>
            <p:nvPr/>
          </p:nvCxnSpPr>
          <p:spPr>
            <a:xfrm>
              <a:off x="7189787" y="5643563"/>
              <a:ext cx="550863"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2" name="直接箭头连接符 23"/>
            <p:cNvCxnSpPr/>
            <p:nvPr/>
          </p:nvCxnSpPr>
          <p:spPr>
            <a:xfrm>
              <a:off x="1692276" y="5643563"/>
              <a:ext cx="915987"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33" name="肘形连接符 32"/>
            <p:cNvCxnSpPr/>
            <p:nvPr/>
          </p:nvCxnSpPr>
          <p:spPr>
            <a:xfrm>
              <a:off x="2844801" y="4581526"/>
              <a:ext cx="1138237" cy="576262"/>
            </a:xfrm>
            <a:prstGeom prst="bentConnector3">
              <a:avLst>
                <a:gd name="adj1" fmla="val 50000"/>
              </a:avLst>
            </a:prstGeom>
            <a:ln>
              <a:tailEnd type="arrow"/>
            </a:ln>
          </p:spPr>
          <p:style>
            <a:lnRef idx="2">
              <a:schemeClr val="dk1"/>
            </a:lnRef>
            <a:fillRef idx="0">
              <a:schemeClr val="dk1"/>
            </a:fillRef>
            <a:effectRef idx="1">
              <a:schemeClr val="dk1"/>
            </a:effectRef>
            <a:fontRef idx="minor">
              <a:schemeClr val="tx1"/>
            </a:fontRef>
          </p:style>
        </p:cxnSp>
        <p:cxnSp>
          <p:nvCxnSpPr>
            <p:cNvPr id="34" name="肘形连接符 33"/>
            <p:cNvCxnSpPr/>
            <p:nvPr/>
          </p:nvCxnSpPr>
          <p:spPr>
            <a:xfrm flipV="1">
              <a:off x="1692276" y="4581526"/>
              <a:ext cx="1152525" cy="576262"/>
            </a:xfrm>
            <a:prstGeom prst="bentConnector3">
              <a:avLst/>
            </a:prstGeom>
          </p:spPr>
          <p:style>
            <a:lnRef idx="2">
              <a:schemeClr val="dk1"/>
            </a:lnRef>
            <a:fillRef idx="0">
              <a:schemeClr val="dk1"/>
            </a:fillRef>
            <a:effectRef idx="1">
              <a:schemeClr val="dk1"/>
            </a:effectRef>
            <a:fontRef idx="minor">
              <a:schemeClr val="tx1"/>
            </a:fontRef>
          </p:style>
        </p:cxnSp>
        <p:cxnSp>
          <p:nvCxnSpPr>
            <p:cNvPr id="35" name="肘形连接符 34"/>
            <p:cNvCxnSpPr/>
            <p:nvPr/>
          </p:nvCxnSpPr>
          <p:spPr>
            <a:xfrm flipV="1">
              <a:off x="4211638" y="5643563"/>
              <a:ext cx="2520950" cy="522288"/>
            </a:xfrm>
            <a:prstGeom prst="bentConnector3">
              <a:avLst>
                <a:gd name="adj1" fmla="val 77771"/>
              </a:avLst>
            </a:prstGeom>
            <a:ln>
              <a:tailEnd type="arrow"/>
            </a:ln>
          </p:spPr>
          <p:style>
            <a:lnRef idx="2">
              <a:schemeClr val="dk1"/>
            </a:lnRef>
            <a:fillRef idx="0">
              <a:schemeClr val="dk1"/>
            </a:fillRef>
            <a:effectRef idx="1">
              <a:schemeClr val="dk1"/>
            </a:effectRef>
            <a:fontRef idx="minor">
              <a:schemeClr val="tx1"/>
            </a:fontRef>
          </p:style>
        </p:cxnSp>
        <p:cxnSp>
          <p:nvCxnSpPr>
            <p:cNvPr id="36" name="肘形连接符 35"/>
            <p:cNvCxnSpPr/>
            <p:nvPr/>
          </p:nvCxnSpPr>
          <p:spPr>
            <a:xfrm>
              <a:off x="3065463" y="5643563"/>
              <a:ext cx="1146175" cy="522288"/>
            </a:xfrm>
            <a:prstGeom prst="bentConnector3">
              <a:avLst/>
            </a:prstGeom>
          </p:spPr>
          <p:style>
            <a:lnRef idx="2">
              <a:schemeClr val="dk1"/>
            </a:lnRef>
            <a:fillRef idx="0">
              <a:schemeClr val="dk1"/>
            </a:fillRef>
            <a:effectRef idx="1">
              <a:schemeClr val="dk1"/>
            </a:effectRef>
            <a:fontRef idx="minor">
              <a:schemeClr val="tx1"/>
            </a:fontRef>
          </p:style>
        </p:cxnSp>
        <p:sp>
          <p:nvSpPr>
            <p:cNvPr id="37" name="TextBox 64"/>
            <p:cNvSpPr txBox="1">
              <a:spLocks noChangeArrowheads="1"/>
            </p:cNvSpPr>
            <p:nvPr/>
          </p:nvSpPr>
          <p:spPr bwMode="auto">
            <a:xfrm>
              <a:off x="4576763" y="6308725"/>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dirty="0">
                  <a:solidFill>
                    <a:srgbClr val="0070C0"/>
                  </a:solidFill>
                  <a:latin typeface="+mn-ea"/>
                  <a:ea typeface="+mn-ea"/>
                </a:rPr>
                <a:t>乘法</a:t>
              </a:r>
              <a:endParaRPr lang="zh-CN" altLang="en-US" sz="2000" dirty="0">
                <a:solidFill>
                  <a:srgbClr val="0070C0"/>
                </a:solidFill>
                <a:latin typeface="+mn-ea"/>
                <a:ea typeface="+mn-ea"/>
              </a:endParaRPr>
            </a:p>
          </p:txBody>
        </p:sp>
        <p:sp>
          <p:nvSpPr>
            <p:cNvPr id="38" name="TextBox 65"/>
            <p:cNvSpPr txBox="1">
              <a:spLocks noChangeArrowheads="1"/>
            </p:cNvSpPr>
            <p:nvPr/>
          </p:nvSpPr>
          <p:spPr bwMode="auto">
            <a:xfrm>
              <a:off x="2514600" y="4119563"/>
              <a:ext cx="69762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2000" dirty="0">
                  <a:solidFill>
                    <a:srgbClr val="0070C0"/>
                  </a:solidFill>
                  <a:latin typeface="+mn-ea"/>
                  <a:ea typeface="+mn-ea"/>
                </a:rPr>
                <a:t>加法</a:t>
              </a:r>
              <a:endParaRPr lang="zh-CN" altLang="en-US" sz="2000" dirty="0">
                <a:solidFill>
                  <a:srgbClr val="0070C0"/>
                </a:solidFill>
                <a:latin typeface="+mn-ea"/>
                <a:ea typeface="+mn-ea"/>
              </a:endParaRPr>
            </a:p>
          </p:txBody>
        </p:sp>
        <p:sp>
          <p:nvSpPr>
            <p:cNvPr id="39" name="TextBox 66"/>
            <p:cNvSpPr txBox="1">
              <a:spLocks noChangeArrowheads="1"/>
            </p:cNvSpPr>
            <p:nvPr/>
          </p:nvSpPr>
          <p:spPr bwMode="auto">
            <a:xfrm>
              <a:off x="1235075" y="5956300"/>
              <a:ext cx="4619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0070C0"/>
                  </a:solidFill>
                  <a:latin typeface="+mn-ea"/>
                  <a:ea typeface="+mn-ea"/>
                </a:rPr>
                <a:t>∆</a:t>
              </a:r>
              <a:r>
                <a:rPr lang="en-US" altLang="zh-CN" sz="2000" i="1">
                  <a:solidFill>
                    <a:srgbClr val="0070C0"/>
                  </a:solidFill>
                  <a:latin typeface="+mn-ea"/>
                  <a:ea typeface="+mn-ea"/>
                </a:rPr>
                <a:t>t</a:t>
              </a:r>
              <a:endParaRPr lang="zh-CN" altLang="en-US" sz="2000">
                <a:solidFill>
                  <a:srgbClr val="0070C0"/>
                </a:solidFill>
                <a:latin typeface="+mn-ea"/>
                <a:ea typeface="+mn-ea"/>
              </a:endParaRPr>
            </a:p>
          </p:txBody>
        </p:sp>
        <p:sp>
          <p:nvSpPr>
            <p:cNvPr id="44" name="TextBox 67"/>
            <p:cNvSpPr txBox="1">
              <a:spLocks noChangeArrowheads="1"/>
            </p:cNvSpPr>
            <p:nvPr/>
          </p:nvSpPr>
          <p:spPr bwMode="auto">
            <a:xfrm>
              <a:off x="2654300" y="5940425"/>
              <a:ext cx="6126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0070C0"/>
                  </a:solidFill>
                  <a:latin typeface="+mn-ea"/>
                  <a:ea typeface="+mn-ea"/>
                </a:rPr>
                <a:t>2∆</a:t>
              </a:r>
              <a:r>
                <a:rPr lang="en-US" altLang="zh-CN" sz="2000" i="1">
                  <a:solidFill>
                    <a:srgbClr val="0070C0"/>
                  </a:solidFill>
                  <a:latin typeface="+mn-ea"/>
                  <a:ea typeface="+mn-ea"/>
                </a:rPr>
                <a:t>t</a:t>
              </a:r>
              <a:endParaRPr lang="zh-CN" altLang="en-US" sz="2000">
                <a:solidFill>
                  <a:srgbClr val="0070C0"/>
                </a:solidFill>
                <a:latin typeface="+mn-ea"/>
                <a:ea typeface="+mn-ea"/>
              </a:endParaRPr>
            </a:p>
          </p:txBody>
        </p:sp>
        <p:sp>
          <p:nvSpPr>
            <p:cNvPr id="45" name="TextBox 68"/>
            <p:cNvSpPr txBox="1">
              <a:spLocks noChangeArrowheads="1"/>
            </p:cNvSpPr>
            <p:nvPr/>
          </p:nvSpPr>
          <p:spPr bwMode="auto">
            <a:xfrm>
              <a:off x="5391150" y="4395788"/>
              <a:ext cx="4619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0070C0"/>
                  </a:solidFill>
                  <a:latin typeface="+mn-ea"/>
                  <a:ea typeface="+mn-ea"/>
                </a:rPr>
                <a:t>∆</a:t>
              </a:r>
              <a:r>
                <a:rPr lang="en-US" altLang="zh-CN" sz="2000" i="1">
                  <a:solidFill>
                    <a:srgbClr val="0070C0"/>
                  </a:solidFill>
                  <a:latin typeface="+mn-ea"/>
                  <a:ea typeface="+mn-ea"/>
                </a:rPr>
                <a:t>t</a:t>
              </a:r>
              <a:endParaRPr lang="zh-CN" altLang="en-US" sz="2000">
                <a:solidFill>
                  <a:srgbClr val="0070C0"/>
                </a:solidFill>
                <a:latin typeface="+mn-ea"/>
                <a:ea typeface="+mn-ea"/>
              </a:endParaRPr>
            </a:p>
          </p:txBody>
        </p:sp>
        <p:sp>
          <p:nvSpPr>
            <p:cNvPr id="46" name="TextBox 69"/>
            <p:cNvSpPr txBox="1">
              <a:spLocks noChangeArrowheads="1"/>
            </p:cNvSpPr>
            <p:nvPr/>
          </p:nvSpPr>
          <p:spPr bwMode="auto">
            <a:xfrm>
              <a:off x="6734175" y="4395788"/>
              <a:ext cx="4619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a:solidFill>
                    <a:srgbClr val="0070C0"/>
                  </a:solidFill>
                  <a:latin typeface="+mn-ea"/>
                  <a:ea typeface="+mn-ea"/>
                </a:rPr>
                <a:t>∆</a:t>
              </a:r>
              <a:r>
                <a:rPr lang="en-US" altLang="zh-CN" sz="2000" i="1">
                  <a:solidFill>
                    <a:srgbClr val="0070C0"/>
                  </a:solidFill>
                  <a:latin typeface="+mn-ea"/>
                  <a:ea typeface="+mn-ea"/>
                </a:rPr>
                <a:t>t</a:t>
              </a:r>
              <a:endParaRPr lang="zh-CN" altLang="en-US" sz="2000">
                <a:solidFill>
                  <a:srgbClr val="0070C0"/>
                </a:solidFill>
                <a:latin typeface="+mn-ea"/>
                <a:ea typeface="+mn-ea"/>
              </a:endParaRPr>
            </a:p>
          </p:txBody>
        </p:sp>
        <p:sp>
          <p:nvSpPr>
            <p:cNvPr id="47" name="TextBox 70"/>
            <p:cNvSpPr txBox="1">
              <a:spLocks noChangeArrowheads="1"/>
            </p:cNvSpPr>
            <p:nvPr/>
          </p:nvSpPr>
          <p:spPr bwMode="auto">
            <a:xfrm>
              <a:off x="3978275" y="4395788"/>
              <a:ext cx="4619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2000" dirty="0">
                  <a:solidFill>
                    <a:srgbClr val="0070C0"/>
                  </a:solidFill>
                  <a:latin typeface="+mn-ea"/>
                  <a:ea typeface="+mn-ea"/>
                </a:rPr>
                <a:t>∆</a:t>
              </a:r>
              <a:r>
                <a:rPr lang="en-US" altLang="zh-CN" sz="2000" i="1" dirty="0">
                  <a:solidFill>
                    <a:srgbClr val="0070C0"/>
                  </a:solidFill>
                  <a:latin typeface="+mn-ea"/>
                  <a:ea typeface="+mn-ea"/>
                </a:rPr>
                <a:t>t</a:t>
              </a:r>
              <a:endParaRPr lang="zh-CN" altLang="en-US" sz="2000" dirty="0">
                <a:solidFill>
                  <a:srgbClr val="0070C0"/>
                </a:solidFill>
                <a:latin typeface="+mn-ea"/>
                <a:ea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118268"/>
    </mc:Choice>
    <mc:Fallback>
      <p:transition spd="slow" advTm="11826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217741" y="26705"/>
            <a:ext cx="776965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lgn="l">
                <a:lnSpc>
                  <a:spcPct val="100000"/>
                </a:lnSpc>
              </a:pPr>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3.8</a:t>
              </a:r>
              <a:r>
                <a:rPr lang="zh-CN" altLang="en-US" sz="3600" b="1" dirty="0">
                  <a:solidFill>
                    <a:schemeClr val="accent1"/>
                  </a:solidFill>
                  <a:latin typeface="+mn-ea"/>
                  <a:sym typeface="+mn-ea"/>
                </a:rPr>
                <a:t>（时空图、性能指标）</a:t>
              </a:r>
              <a:endParaRPr lang="zh-CN" altLang="en-US" sz="3600" b="1" dirty="0">
                <a:solidFill>
                  <a:schemeClr val="accent1"/>
                </a:solidFill>
                <a:latin typeface="+mn-ea"/>
                <a:sym typeface="+mn-ea"/>
              </a:endParaRPr>
            </a:p>
          </p:txBody>
        </p:sp>
      </p:grpSp>
      <p:sp>
        <p:nvSpPr>
          <p:cNvPr id="13" name="矩形 3"/>
          <p:cNvSpPr>
            <a:spLocks noChangeArrowheads="1"/>
          </p:cNvSpPr>
          <p:nvPr/>
        </p:nvSpPr>
        <p:spPr bwMode="auto">
          <a:xfrm>
            <a:off x="506891" y="1609347"/>
            <a:ext cx="11199808" cy="49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None/>
            </a:pPr>
            <a:r>
              <a:rPr lang="zh-CN" altLang="en-US" sz="2000" dirty="0">
                <a:latin typeface="+mn-ea"/>
                <a:ea typeface="+mn-ea"/>
              </a:rPr>
              <a:t>解：</a:t>
            </a:r>
            <a:r>
              <a:rPr lang="zh-CN" altLang="en-US" sz="2000" dirty="0">
                <a:latin typeface="+mn-ea"/>
                <a:ea typeface="+mn-ea"/>
                <a:sym typeface="Wingdings" panose="05000000000000000000" pitchFamily="2" charset="2"/>
              </a:rPr>
              <a:t>（</a:t>
            </a:r>
            <a:r>
              <a:rPr lang="en-US" altLang="zh-CN" sz="2000" dirty="0">
                <a:latin typeface="+mn-ea"/>
                <a:ea typeface="+mn-ea"/>
                <a:sym typeface="Wingdings" panose="05000000000000000000" pitchFamily="2" charset="2"/>
              </a:rPr>
              <a:t>1</a:t>
            </a:r>
            <a:r>
              <a:rPr lang="zh-CN" altLang="en-US" sz="2000" dirty="0">
                <a:latin typeface="+mn-ea"/>
                <a:ea typeface="+mn-ea"/>
                <a:sym typeface="Wingdings" panose="05000000000000000000" pitchFamily="2" charset="2"/>
              </a:rPr>
              <a:t>）</a:t>
            </a:r>
            <a:r>
              <a:rPr lang="zh-CN" altLang="en-US" sz="2000" dirty="0">
                <a:latin typeface="+mn-ea"/>
                <a:ea typeface="+mn-ea"/>
              </a:rPr>
              <a:t>提高流水线效率， 减少切换次数， 根据最小二叉树，选择适合于流水线调度的计算策略；</a:t>
            </a:r>
            <a:endParaRPr lang="zh-CN" altLang="en-US" sz="2400" dirty="0">
              <a:latin typeface="+mn-ea"/>
              <a:ea typeface="+mn-ea"/>
            </a:endParaRPr>
          </a:p>
        </p:txBody>
      </p:sp>
      <p:sp>
        <p:nvSpPr>
          <p:cNvPr id="2" name="文本框 1"/>
          <p:cNvSpPr txBox="1"/>
          <p:nvPr/>
        </p:nvSpPr>
        <p:spPr>
          <a:xfrm>
            <a:off x="1446156" y="2608180"/>
            <a:ext cx="544530" cy="369332"/>
          </a:xfrm>
          <a:prstGeom prst="rect">
            <a:avLst/>
          </a:prstGeom>
          <a:solidFill>
            <a:schemeClr val="accent5">
              <a:lumMod val="20000"/>
              <a:lumOff val="8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A1</a:t>
            </a:r>
            <a:endParaRPr kumimoji="1" lang="zh-CN" altLang="en-US" dirty="0"/>
          </a:p>
        </p:txBody>
      </p:sp>
      <p:sp>
        <p:nvSpPr>
          <p:cNvPr id="14" name="文本框 13"/>
          <p:cNvSpPr txBox="1"/>
          <p:nvPr/>
        </p:nvSpPr>
        <p:spPr>
          <a:xfrm>
            <a:off x="2420489" y="2608180"/>
            <a:ext cx="544530" cy="369332"/>
          </a:xfrm>
          <a:prstGeom prst="rect">
            <a:avLst/>
          </a:prstGeom>
          <a:solidFill>
            <a:schemeClr val="accent5">
              <a:lumMod val="20000"/>
              <a:lumOff val="8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B1</a:t>
            </a:r>
            <a:endParaRPr kumimoji="1" lang="zh-CN" altLang="en-US" dirty="0"/>
          </a:p>
        </p:txBody>
      </p:sp>
      <p:sp>
        <p:nvSpPr>
          <p:cNvPr id="17" name="文本框 16"/>
          <p:cNvSpPr txBox="1"/>
          <p:nvPr/>
        </p:nvSpPr>
        <p:spPr>
          <a:xfrm>
            <a:off x="3394822" y="2608180"/>
            <a:ext cx="544530" cy="369332"/>
          </a:xfrm>
          <a:prstGeom prst="rect">
            <a:avLst/>
          </a:prstGeom>
          <a:solidFill>
            <a:schemeClr val="accent5">
              <a:lumMod val="20000"/>
              <a:lumOff val="8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A2</a:t>
            </a:r>
            <a:endParaRPr kumimoji="1" lang="zh-CN" altLang="en-US" dirty="0"/>
          </a:p>
        </p:txBody>
      </p:sp>
      <p:sp>
        <p:nvSpPr>
          <p:cNvPr id="19" name="文本框 18"/>
          <p:cNvSpPr txBox="1"/>
          <p:nvPr/>
        </p:nvSpPr>
        <p:spPr>
          <a:xfrm>
            <a:off x="4369155" y="2608180"/>
            <a:ext cx="544530" cy="369332"/>
          </a:xfrm>
          <a:prstGeom prst="rect">
            <a:avLst/>
          </a:prstGeom>
          <a:solidFill>
            <a:schemeClr val="accent5">
              <a:lumMod val="20000"/>
              <a:lumOff val="8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B2</a:t>
            </a:r>
            <a:endParaRPr kumimoji="1" lang="zh-CN" altLang="en-US" dirty="0"/>
          </a:p>
        </p:txBody>
      </p:sp>
      <p:sp>
        <p:nvSpPr>
          <p:cNvPr id="22" name="文本框 21"/>
          <p:cNvSpPr txBox="1"/>
          <p:nvPr/>
        </p:nvSpPr>
        <p:spPr>
          <a:xfrm>
            <a:off x="5333215" y="2608180"/>
            <a:ext cx="544530" cy="369332"/>
          </a:xfrm>
          <a:prstGeom prst="rect">
            <a:avLst/>
          </a:prstGeom>
          <a:solidFill>
            <a:schemeClr val="accent5">
              <a:lumMod val="20000"/>
              <a:lumOff val="8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A3</a:t>
            </a:r>
            <a:endParaRPr kumimoji="1" lang="zh-CN" altLang="en-US" dirty="0"/>
          </a:p>
        </p:txBody>
      </p:sp>
      <p:sp>
        <p:nvSpPr>
          <p:cNvPr id="23" name="文本框 22"/>
          <p:cNvSpPr txBox="1"/>
          <p:nvPr/>
        </p:nvSpPr>
        <p:spPr>
          <a:xfrm>
            <a:off x="6307548" y="2608180"/>
            <a:ext cx="544530" cy="369332"/>
          </a:xfrm>
          <a:prstGeom prst="rect">
            <a:avLst/>
          </a:prstGeom>
          <a:solidFill>
            <a:schemeClr val="accent5">
              <a:lumMod val="20000"/>
              <a:lumOff val="8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B3</a:t>
            </a:r>
            <a:endParaRPr kumimoji="1" lang="zh-CN" altLang="en-US" dirty="0"/>
          </a:p>
        </p:txBody>
      </p:sp>
      <p:sp>
        <p:nvSpPr>
          <p:cNvPr id="24" name="文本框 23"/>
          <p:cNvSpPr txBox="1"/>
          <p:nvPr/>
        </p:nvSpPr>
        <p:spPr>
          <a:xfrm>
            <a:off x="7281881" y="2608180"/>
            <a:ext cx="544530" cy="369332"/>
          </a:xfrm>
          <a:prstGeom prst="rect">
            <a:avLst/>
          </a:prstGeom>
          <a:solidFill>
            <a:schemeClr val="accent5">
              <a:lumMod val="20000"/>
              <a:lumOff val="8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A4</a:t>
            </a:r>
            <a:endParaRPr kumimoji="1" lang="zh-CN" altLang="en-US" dirty="0"/>
          </a:p>
        </p:txBody>
      </p:sp>
      <p:sp>
        <p:nvSpPr>
          <p:cNvPr id="25" name="文本框 24"/>
          <p:cNvSpPr txBox="1"/>
          <p:nvPr/>
        </p:nvSpPr>
        <p:spPr>
          <a:xfrm>
            <a:off x="8256214" y="2608180"/>
            <a:ext cx="544530" cy="369332"/>
          </a:xfrm>
          <a:prstGeom prst="rect">
            <a:avLst/>
          </a:prstGeom>
          <a:solidFill>
            <a:schemeClr val="accent5">
              <a:lumMod val="20000"/>
              <a:lumOff val="8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B4</a:t>
            </a:r>
            <a:endParaRPr kumimoji="1" lang="zh-CN" altLang="en-US" dirty="0"/>
          </a:p>
        </p:txBody>
      </p:sp>
      <p:sp>
        <p:nvSpPr>
          <p:cNvPr id="3" name="文本框 2"/>
          <p:cNvSpPr txBox="1"/>
          <p:nvPr/>
        </p:nvSpPr>
        <p:spPr>
          <a:xfrm>
            <a:off x="444427" y="3698058"/>
            <a:ext cx="750013" cy="369332"/>
          </a:xfrm>
          <a:prstGeom prst="rect">
            <a:avLst/>
          </a:prstGeom>
          <a:noFill/>
        </p:spPr>
        <p:txBody>
          <a:bodyPr wrap="square" rtlCol="0">
            <a:spAutoFit/>
          </a:bodyPr>
          <a:lstStyle/>
          <a:p>
            <a:r>
              <a:rPr kumimoji="1" lang="zh-CN" altLang="en-US" dirty="0"/>
              <a:t>乘法</a:t>
            </a:r>
            <a:endParaRPr kumimoji="1" lang="zh-CN" altLang="en-US" dirty="0"/>
          </a:p>
        </p:txBody>
      </p:sp>
      <p:cxnSp>
        <p:nvCxnSpPr>
          <p:cNvPr id="11" name="直线连接符 10"/>
          <p:cNvCxnSpPr/>
          <p:nvPr/>
        </p:nvCxnSpPr>
        <p:spPr>
          <a:xfrm>
            <a:off x="2692754" y="2987786"/>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6" name="直线连接符 25"/>
          <p:cNvCxnSpPr/>
          <p:nvPr/>
        </p:nvCxnSpPr>
        <p:spPr>
          <a:xfrm>
            <a:off x="2185895" y="3341840"/>
            <a:ext cx="50685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2" name="直线连接符 31"/>
          <p:cNvCxnSpPr/>
          <p:nvPr/>
        </p:nvCxnSpPr>
        <p:spPr>
          <a:xfrm>
            <a:off x="1720134" y="2987786"/>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p:nvCxnSpPr>
        <p:spPr>
          <a:xfrm>
            <a:off x="1737256" y="3341840"/>
            <a:ext cx="57192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6" name="直线连接符 35"/>
          <p:cNvCxnSpPr/>
          <p:nvPr/>
        </p:nvCxnSpPr>
        <p:spPr>
          <a:xfrm>
            <a:off x="2238980" y="3341840"/>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1966715" y="3698058"/>
            <a:ext cx="544530" cy="369332"/>
          </a:xfrm>
          <a:prstGeom prst="rect">
            <a:avLst/>
          </a:prstGeom>
          <a:solidFill>
            <a:schemeClr val="accent4">
              <a:lumMod val="40000"/>
              <a:lumOff val="6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1</a:t>
            </a:r>
            <a:endParaRPr kumimoji="1" lang="zh-CN" altLang="en-US" dirty="0"/>
          </a:p>
        </p:txBody>
      </p:sp>
      <p:cxnSp>
        <p:nvCxnSpPr>
          <p:cNvPr id="38" name="直线连接符 37"/>
          <p:cNvCxnSpPr/>
          <p:nvPr/>
        </p:nvCxnSpPr>
        <p:spPr>
          <a:xfrm>
            <a:off x="4665391" y="2991295"/>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9" name="直线连接符 38"/>
          <p:cNvCxnSpPr/>
          <p:nvPr/>
        </p:nvCxnSpPr>
        <p:spPr>
          <a:xfrm>
            <a:off x="4158532" y="3345349"/>
            <a:ext cx="50685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直线连接符 43"/>
          <p:cNvCxnSpPr/>
          <p:nvPr/>
        </p:nvCxnSpPr>
        <p:spPr>
          <a:xfrm>
            <a:off x="3692771" y="2991295"/>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5" name="直线连接符 44"/>
          <p:cNvCxnSpPr/>
          <p:nvPr/>
        </p:nvCxnSpPr>
        <p:spPr>
          <a:xfrm>
            <a:off x="3709893" y="3345349"/>
            <a:ext cx="57192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6" name="直线连接符 45"/>
          <p:cNvCxnSpPr/>
          <p:nvPr/>
        </p:nvCxnSpPr>
        <p:spPr>
          <a:xfrm>
            <a:off x="4211617" y="3345349"/>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39352" y="3698058"/>
            <a:ext cx="544530" cy="369332"/>
          </a:xfrm>
          <a:prstGeom prst="rect">
            <a:avLst/>
          </a:prstGeom>
          <a:solidFill>
            <a:schemeClr val="accent4">
              <a:lumMod val="40000"/>
              <a:lumOff val="6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2</a:t>
            </a:r>
            <a:endParaRPr kumimoji="1" lang="zh-CN" altLang="en-US" dirty="0"/>
          </a:p>
        </p:txBody>
      </p:sp>
      <p:cxnSp>
        <p:nvCxnSpPr>
          <p:cNvPr id="49" name="直线连接符 48"/>
          <p:cNvCxnSpPr/>
          <p:nvPr/>
        </p:nvCxnSpPr>
        <p:spPr>
          <a:xfrm>
            <a:off x="6603784" y="2991295"/>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直线连接符 49"/>
          <p:cNvCxnSpPr/>
          <p:nvPr/>
        </p:nvCxnSpPr>
        <p:spPr>
          <a:xfrm>
            <a:off x="6096925" y="3345349"/>
            <a:ext cx="50685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1" name="直线连接符 50"/>
          <p:cNvCxnSpPr/>
          <p:nvPr/>
        </p:nvCxnSpPr>
        <p:spPr>
          <a:xfrm>
            <a:off x="5631164" y="2991295"/>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2" name="直线连接符 51"/>
          <p:cNvCxnSpPr/>
          <p:nvPr/>
        </p:nvCxnSpPr>
        <p:spPr>
          <a:xfrm>
            <a:off x="5648286" y="3345349"/>
            <a:ext cx="57192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3" name="直线连接符 52"/>
          <p:cNvCxnSpPr/>
          <p:nvPr/>
        </p:nvCxnSpPr>
        <p:spPr>
          <a:xfrm>
            <a:off x="6150010" y="3345349"/>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5877745" y="3698058"/>
            <a:ext cx="544530" cy="369332"/>
          </a:xfrm>
          <a:prstGeom prst="rect">
            <a:avLst/>
          </a:prstGeom>
          <a:solidFill>
            <a:schemeClr val="accent4">
              <a:lumMod val="40000"/>
              <a:lumOff val="6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3</a:t>
            </a:r>
            <a:endParaRPr kumimoji="1" lang="zh-CN" altLang="en-US" dirty="0"/>
          </a:p>
        </p:txBody>
      </p:sp>
      <p:cxnSp>
        <p:nvCxnSpPr>
          <p:cNvPr id="55" name="直线连接符 54"/>
          <p:cNvCxnSpPr/>
          <p:nvPr/>
        </p:nvCxnSpPr>
        <p:spPr>
          <a:xfrm>
            <a:off x="8542176" y="2991295"/>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6" name="直线连接符 55"/>
          <p:cNvCxnSpPr/>
          <p:nvPr/>
        </p:nvCxnSpPr>
        <p:spPr>
          <a:xfrm>
            <a:off x="8035317" y="3345349"/>
            <a:ext cx="50685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7" name="直线连接符 56"/>
          <p:cNvCxnSpPr/>
          <p:nvPr/>
        </p:nvCxnSpPr>
        <p:spPr>
          <a:xfrm>
            <a:off x="7569556" y="2991295"/>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8" name="直线连接符 57"/>
          <p:cNvCxnSpPr/>
          <p:nvPr/>
        </p:nvCxnSpPr>
        <p:spPr>
          <a:xfrm>
            <a:off x="7586678" y="3345349"/>
            <a:ext cx="57192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9" name="直线连接符 58"/>
          <p:cNvCxnSpPr/>
          <p:nvPr/>
        </p:nvCxnSpPr>
        <p:spPr>
          <a:xfrm>
            <a:off x="8098676" y="3345349"/>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7816137" y="3698058"/>
            <a:ext cx="544530" cy="369332"/>
          </a:xfrm>
          <a:prstGeom prst="rect">
            <a:avLst/>
          </a:prstGeom>
          <a:solidFill>
            <a:schemeClr val="accent4">
              <a:lumMod val="40000"/>
              <a:lumOff val="60000"/>
            </a:schemeClr>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4</a:t>
            </a:r>
            <a:endParaRPr kumimoji="1" lang="zh-CN" altLang="en-US" dirty="0"/>
          </a:p>
        </p:txBody>
      </p:sp>
      <p:cxnSp>
        <p:nvCxnSpPr>
          <p:cNvPr id="61" name="直线连接符 60"/>
          <p:cNvCxnSpPr/>
          <p:nvPr/>
        </p:nvCxnSpPr>
        <p:spPr>
          <a:xfrm>
            <a:off x="4203059" y="4067390"/>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2" name="直线连接符 61"/>
          <p:cNvCxnSpPr/>
          <p:nvPr/>
        </p:nvCxnSpPr>
        <p:spPr>
          <a:xfrm>
            <a:off x="3696200" y="4421444"/>
            <a:ext cx="50685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3" name="直线连接符 62"/>
          <p:cNvCxnSpPr/>
          <p:nvPr/>
        </p:nvCxnSpPr>
        <p:spPr>
          <a:xfrm>
            <a:off x="2238980" y="4067390"/>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4" name="直线连接符 63"/>
          <p:cNvCxnSpPr/>
          <p:nvPr/>
        </p:nvCxnSpPr>
        <p:spPr>
          <a:xfrm>
            <a:off x="2238980" y="4421444"/>
            <a:ext cx="158051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5" name="直线连接符 64"/>
          <p:cNvCxnSpPr/>
          <p:nvPr/>
        </p:nvCxnSpPr>
        <p:spPr>
          <a:xfrm>
            <a:off x="3235578" y="4421444"/>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6" name="直线连接符 65"/>
          <p:cNvCxnSpPr/>
          <p:nvPr/>
        </p:nvCxnSpPr>
        <p:spPr>
          <a:xfrm>
            <a:off x="8136353" y="4067390"/>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7" name="直线连接符 66"/>
          <p:cNvCxnSpPr/>
          <p:nvPr/>
        </p:nvCxnSpPr>
        <p:spPr>
          <a:xfrm>
            <a:off x="7629494" y="4421444"/>
            <a:ext cx="506859"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8" name="直线连接符 67"/>
          <p:cNvCxnSpPr/>
          <p:nvPr/>
        </p:nvCxnSpPr>
        <p:spPr>
          <a:xfrm>
            <a:off x="6172274" y="4067390"/>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直线连接符 68"/>
          <p:cNvCxnSpPr/>
          <p:nvPr/>
        </p:nvCxnSpPr>
        <p:spPr>
          <a:xfrm>
            <a:off x="6172274" y="4421444"/>
            <a:ext cx="158051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0" name="直线连接符 69"/>
          <p:cNvCxnSpPr/>
          <p:nvPr/>
        </p:nvCxnSpPr>
        <p:spPr>
          <a:xfrm>
            <a:off x="7168872" y="4421444"/>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a:xfrm>
            <a:off x="2963313" y="4775498"/>
            <a:ext cx="544530" cy="369332"/>
          </a:xfrm>
          <a:prstGeom prst="rect">
            <a:avLst/>
          </a:prstGeom>
          <a:solidFill>
            <a:srgbClr val="C4F5E8"/>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5</a:t>
            </a:r>
            <a:endParaRPr kumimoji="1" lang="zh-CN" altLang="en-US" dirty="0"/>
          </a:p>
        </p:txBody>
      </p:sp>
      <p:sp>
        <p:nvSpPr>
          <p:cNvPr id="72" name="文本框 71"/>
          <p:cNvSpPr txBox="1"/>
          <p:nvPr/>
        </p:nvSpPr>
        <p:spPr>
          <a:xfrm>
            <a:off x="6896607" y="4775498"/>
            <a:ext cx="544530" cy="369332"/>
          </a:xfrm>
          <a:prstGeom prst="rect">
            <a:avLst/>
          </a:prstGeom>
          <a:solidFill>
            <a:srgbClr val="C4F5E8"/>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6</a:t>
            </a:r>
            <a:endParaRPr kumimoji="1" lang="zh-CN" altLang="en-US" dirty="0"/>
          </a:p>
        </p:txBody>
      </p:sp>
      <p:sp>
        <p:nvSpPr>
          <p:cNvPr id="73" name="文本框 72"/>
          <p:cNvSpPr txBox="1"/>
          <p:nvPr/>
        </p:nvSpPr>
        <p:spPr>
          <a:xfrm>
            <a:off x="435868" y="4745224"/>
            <a:ext cx="750013" cy="369332"/>
          </a:xfrm>
          <a:prstGeom prst="rect">
            <a:avLst/>
          </a:prstGeom>
          <a:noFill/>
        </p:spPr>
        <p:txBody>
          <a:bodyPr wrap="square" rtlCol="0">
            <a:spAutoFit/>
          </a:bodyPr>
          <a:lstStyle/>
          <a:p>
            <a:r>
              <a:rPr kumimoji="1" lang="zh-CN" altLang="en-US" dirty="0"/>
              <a:t>加法</a:t>
            </a:r>
            <a:endParaRPr kumimoji="1" lang="zh-CN" altLang="en-US" dirty="0"/>
          </a:p>
        </p:txBody>
      </p:sp>
      <p:cxnSp>
        <p:nvCxnSpPr>
          <p:cNvPr id="74" name="直线连接符 73"/>
          <p:cNvCxnSpPr/>
          <p:nvPr/>
        </p:nvCxnSpPr>
        <p:spPr>
          <a:xfrm>
            <a:off x="7168872" y="5146129"/>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5" name="直线连接符 74"/>
          <p:cNvCxnSpPr/>
          <p:nvPr/>
        </p:nvCxnSpPr>
        <p:spPr>
          <a:xfrm>
            <a:off x="4691081" y="5498884"/>
            <a:ext cx="2477791"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6" name="直线连接符 75"/>
          <p:cNvCxnSpPr/>
          <p:nvPr/>
        </p:nvCxnSpPr>
        <p:spPr>
          <a:xfrm>
            <a:off x="3233861" y="5144830"/>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直线连接符 76"/>
          <p:cNvCxnSpPr/>
          <p:nvPr/>
        </p:nvCxnSpPr>
        <p:spPr>
          <a:xfrm>
            <a:off x="3233861" y="5498884"/>
            <a:ext cx="1580510"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8" name="直线连接符 77"/>
          <p:cNvCxnSpPr/>
          <p:nvPr/>
        </p:nvCxnSpPr>
        <p:spPr>
          <a:xfrm>
            <a:off x="5175681" y="5498884"/>
            <a:ext cx="0" cy="354054"/>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4903416" y="5851640"/>
            <a:ext cx="544530" cy="369332"/>
          </a:xfrm>
          <a:prstGeom prst="rect">
            <a:avLst/>
          </a:prstGeom>
          <a:solidFill>
            <a:srgbClr val="C4F5E8"/>
          </a:solidFill>
          <a:ln>
            <a:solidFill>
              <a:schemeClr val="accent5">
                <a:lumMod val="40000"/>
                <a:lumOff val="60000"/>
              </a:schemeClr>
            </a:solidFill>
          </a:ln>
        </p:spPr>
        <p:txBody>
          <a:bodyPr wrap="square" rtlCol="0">
            <a:spAutoFit/>
          </a:bodyPr>
          <a:lstStyle/>
          <a:p>
            <a:r>
              <a:rPr kumimoji="1" lang="zh-CN" altLang="en-US" dirty="0"/>
              <a:t>  </a:t>
            </a:r>
            <a:r>
              <a:rPr kumimoji="1" lang="en-US" altLang="zh-CN" dirty="0"/>
              <a:t>7</a:t>
            </a:r>
            <a:endParaRPr kumimoji="1" lang="zh-CN" altLang="en-US" dirty="0"/>
          </a:p>
        </p:txBody>
      </p:sp>
      <p:sp>
        <p:nvSpPr>
          <p:cNvPr id="80" name="文本框 79"/>
          <p:cNvSpPr txBox="1"/>
          <p:nvPr/>
        </p:nvSpPr>
        <p:spPr>
          <a:xfrm>
            <a:off x="444427" y="5716758"/>
            <a:ext cx="750013" cy="369332"/>
          </a:xfrm>
          <a:prstGeom prst="rect">
            <a:avLst/>
          </a:prstGeom>
          <a:noFill/>
        </p:spPr>
        <p:txBody>
          <a:bodyPr wrap="square" rtlCol="0">
            <a:spAutoFit/>
          </a:bodyPr>
          <a:lstStyle/>
          <a:p>
            <a:r>
              <a:rPr kumimoji="1" lang="zh-CN" altLang="en-US" dirty="0"/>
              <a:t>加法</a:t>
            </a:r>
            <a:endParaRPr kumimoji="1" lang="zh-CN" altLang="en-US" dirty="0"/>
          </a:p>
        </p:txBody>
      </p:sp>
      <p:sp>
        <p:nvSpPr>
          <p:cNvPr id="34" name="矩形 33"/>
          <p:cNvSpPr/>
          <p:nvPr/>
        </p:nvSpPr>
        <p:spPr>
          <a:xfrm>
            <a:off x="8824715" y="3079386"/>
            <a:ext cx="3198963" cy="961225"/>
          </a:xfrm>
          <a:prstGeom prst="rect">
            <a:avLst/>
          </a:prstGeom>
          <a:solidFill>
            <a:schemeClr val="accent5">
              <a:lumMod val="60000"/>
              <a:lumOff val="40000"/>
            </a:schemeClr>
          </a:solidFill>
        </p:spPr>
        <p:txBody>
          <a:bodyPr wrap="square">
            <a:spAutoFit/>
          </a:bodyPr>
          <a:lstStyle/>
          <a:p>
            <a:pPr>
              <a:lnSpc>
                <a:spcPct val="150000"/>
              </a:lnSpc>
            </a:pPr>
            <a:r>
              <a:rPr lang="zh-CN" altLang="en-US" sz="2000" dirty="0">
                <a:solidFill>
                  <a:srgbClr val="0070C0"/>
                </a:solidFill>
                <a:latin typeface="+mn-ea"/>
              </a:rPr>
              <a:t>计算乘法</a:t>
            </a:r>
            <a:r>
              <a:rPr lang="en-US" altLang="zh-CN" sz="2000" dirty="0">
                <a:solidFill>
                  <a:srgbClr val="0070C0"/>
                </a:solidFill>
                <a:latin typeface="+mn-ea"/>
              </a:rPr>
              <a:t>A1×B1</a:t>
            </a:r>
            <a:r>
              <a:rPr lang="zh-CN" altLang="en-US" sz="2000" dirty="0">
                <a:solidFill>
                  <a:srgbClr val="0070C0"/>
                </a:solidFill>
                <a:latin typeface="+mn-ea"/>
              </a:rPr>
              <a:t>、</a:t>
            </a:r>
            <a:r>
              <a:rPr lang="en-US" altLang="zh-CN" sz="2000" dirty="0">
                <a:solidFill>
                  <a:srgbClr val="0070C0"/>
                </a:solidFill>
                <a:latin typeface="+mn-ea"/>
              </a:rPr>
              <a:t>A2×B2</a:t>
            </a:r>
            <a:r>
              <a:rPr lang="zh-CN" altLang="en-US" sz="2000" dirty="0">
                <a:solidFill>
                  <a:srgbClr val="0070C0"/>
                </a:solidFill>
                <a:latin typeface="+mn-ea"/>
              </a:rPr>
              <a:t>、</a:t>
            </a:r>
            <a:endParaRPr lang="en-US" altLang="zh-CN" sz="2000" dirty="0">
              <a:solidFill>
                <a:srgbClr val="0070C0"/>
              </a:solidFill>
              <a:latin typeface="+mn-ea"/>
            </a:endParaRPr>
          </a:p>
          <a:p>
            <a:pPr>
              <a:lnSpc>
                <a:spcPct val="150000"/>
              </a:lnSpc>
            </a:pPr>
            <a:r>
              <a:rPr lang="zh-CN" altLang="en-US" sz="2000" dirty="0">
                <a:solidFill>
                  <a:srgbClr val="0070C0"/>
                </a:solidFill>
                <a:latin typeface="+mn-ea"/>
              </a:rPr>
              <a:t>              </a:t>
            </a:r>
            <a:r>
              <a:rPr lang="en-US" altLang="zh-CN" sz="2000" dirty="0">
                <a:solidFill>
                  <a:srgbClr val="0070C0"/>
                </a:solidFill>
                <a:latin typeface="+mn-ea"/>
              </a:rPr>
              <a:t>A3×B3</a:t>
            </a:r>
            <a:r>
              <a:rPr lang="zh-CN" altLang="en-US" sz="2000" dirty="0">
                <a:solidFill>
                  <a:srgbClr val="0070C0"/>
                </a:solidFill>
                <a:latin typeface="+mn-ea"/>
              </a:rPr>
              <a:t>、</a:t>
            </a:r>
            <a:r>
              <a:rPr lang="en-US" altLang="zh-CN" sz="2000" dirty="0">
                <a:solidFill>
                  <a:srgbClr val="0070C0"/>
                </a:solidFill>
                <a:latin typeface="+mn-ea"/>
              </a:rPr>
              <a:t>A4×B4</a:t>
            </a:r>
            <a:endParaRPr lang="zh-CN" altLang="en-US" sz="2000" dirty="0">
              <a:solidFill>
                <a:srgbClr val="0070C0"/>
              </a:solidFill>
              <a:latin typeface="+mn-ea"/>
            </a:endParaRPr>
          </a:p>
        </p:txBody>
      </p:sp>
      <p:sp>
        <p:nvSpPr>
          <p:cNvPr id="81" name="矩形 80"/>
          <p:cNvSpPr/>
          <p:nvPr/>
        </p:nvSpPr>
        <p:spPr>
          <a:xfrm>
            <a:off x="7954840" y="4479551"/>
            <a:ext cx="4068838" cy="961225"/>
          </a:xfrm>
          <a:prstGeom prst="rect">
            <a:avLst/>
          </a:prstGeom>
          <a:solidFill>
            <a:schemeClr val="accent5">
              <a:lumMod val="60000"/>
              <a:lumOff val="40000"/>
            </a:schemeClr>
          </a:solidFill>
        </p:spPr>
        <p:txBody>
          <a:bodyPr wrap="square">
            <a:spAutoFit/>
          </a:bodyPr>
          <a:lstStyle/>
          <a:p>
            <a:pPr>
              <a:lnSpc>
                <a:spcPct val="150000"/>
              </a:lnSpc>
            </a:pPr>
            <a:r>
              <a:rPr lang="zh-CN" altLang="en-US" sz="2000" dirty="0">
                <a:solidFill>
                  <a:srgbClr val="0070C0"/>
                </a:solidFill>
                <a:latin typeface="+mn-ea"/>
              </a:rPr>
              <a:t>计算加法（</a:t>
            </a:r>
            <a:r>
              <a:rPr lang="en-US" altLang="zh-CN" sz="2000" dirty="0">
                <a:solidFill>
                  <a:srgbClr val="0070C0"/>
                </a:solidFill>
                <a:latin typeface="+mn-ea"/>
              </a:rPr>
              <a:t>A1×B1</a:t>
            </a:r>
            <a:r>
              <a:rPr lang="zh-CN" altLang="en-US" sz="2000" dirty="0">
                <a:solidFill>
                  <a:srgbClr val="0070C0"/>
                </a:solidFill>
                <a:latin typeface="+mn-ea"/>
              </a:rPr>
              <a:t>）</a:t>
            </a:r>
            <a:r>
              <a:rPr lang="en-US" altLang="zh-CN" sz="2000" dirty="0">
                <a:solidFill>
                  <a:srgbClr val="0070C0"/>
                </a:solidFill>
                <a:latin typeface="+mn-ea"/>
              </a:rPr>
              <a:t>+</a:t>
            </a:r>
            <a:r>
              <a:rPr lang="zh-CN" altLang="en-US" sz="2000" dirty="0">
                <a:solidFill>
                  <a:srgbClr val="0070C0"/>
                </a:solidFill>
                <a:latin typeface="+mn-ea"/>
              </a:rPr>
              <a:t>（</a:t>
            </a:r>
            <a:r>
              <a:rPr lang="en-US" altLang="zh-CN" sz="2000" dirty="0">
                <a:solidFill>
                  <a:srgbClr val="0070C0"/>
                </a:solidFill>
                <a:latin typeface="+mn-ea"/>
              </a:rPr>
              <a:t>A2×B2</a:t>
            </a:r>
            <a:r>
              <a:rPr lang="zh-CN" altLang="en-US" sz="2000" dirty="0">
                <a:solidFill>
                  <a:srgbClr val="0070C0"/>
                </a:solidFill>
                <a:latin typeface="+mn-ea"/>
              </a:rPr>
              <a:t>）</a:t>
            </a:r>
            <a:endParaRPr lang="en-US" altLang="zh-CN" sz="2000" dirty="0">
              <a:solidFill>
                <a:srgbClr val="0070C0"/>
              </a:solidFill>
              <a:latin typeface="+mn-ea"/>
            </a:endParaRPr>
          </a:p>
          <a:p>
            <a:pPr>
              <a:lnSpc>
                <a:spcPct val="150000"/>
              </a:lnSpc>
            </a:pPr>
            <a:r>
              <a:rPr lang="zh-CN" altLang="en-US" sz="2000" dirty="0">
                <a:solidFill>
                  <a:srgbClr val="0070C0"/>
                </a:solidFill>
                <a:latin typeface="+mn-ea"/>
              </a:rPr>
              <a:t>              （</a:t>
            </a:r>
            <a:r>
              <a:rPr lang="en-US" altLang="zh-CN" sz="2000" dirty="0">
                <a:solidFill>
                  <a:srgbClr val="0070C0"/>
                </a:solidFill>
                <a:latin typeface="+mn-ea"/>
              </a:rPr>
              <a:t>A3×B3</a:t>
            </a:r>
            <a:r>
              <a:rPr lang="zh-CN" altLang="en-US" sz="2000" dirty="0">
                <a:solidFill>
                  <a:srgbClr val="0070C0"/>
                </a:solidFill>
                <a:latin typeface="+mn-ea"/>
              </a:rPr>
              <a:t>）</a:t>
            </a:r>
            <a:r>
              <a:rPr lang="en-US" altLang="zh-CN" sz="2000" dirty="0">
                <a:solidFill>
                  <a:srgbClr val="0070C0"/>
                </a:solidFill>
                <a:latin typeface="+mn-ea"/>
              </a:rPr>
              <a:t>+</a:t>
            </a:r>
            <a:r>
              <a:rPr lang="zh-CN" altLang="en-US" sz="2000" dirty="0">
                <a:solidFill>
                  <a:srgbClr val="0070C0"/>
                </a:solidFill>
                <a:latin typeface="+mn-ea"/>
              </a:rPr>
              <a:t>（</a:t>
            </a:r>
            <a:r>
              <a:rPr lang="en-US" altLang="zh-CN" sz="2000" dirty="0">
                <a:solidFill>
                  <a:srgbClr val="0070C0"/>
                </a:solidFill>
                <a:latin typeface="+mn-ea"/>
              </a:rPr>
              <a:t>A4×B4</a:t>
            </a:r>
            <a:r>
              <a:rPr lang="zh-CN" altLang="en-US" sz="2000" dirty="0">
                <a:solidFill>
                  <a:srgbClr val="0070C0"/>
                </a:solidFill>
                <a:latin typeface="+mn-ea"/>
              </a:rPr>
              <a:t>）</a:t>
            </a:r>
            <a:endParaRPr lang="zh-CN" altLang="en-US" sz="2000" dirty="0">
              <a:solidFill>
                <a:srgbClr val="0070C0"/>
              </a:solidFill>
              <a:latin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69489"/>
    </mc:Choice>
    <mc:Fallback>
      <p:transition spd="slow" advTm="16948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6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7"/>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6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7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1"/>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7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76"/>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77"/>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7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7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7" grpId="0" bldLvl="0" animBg="1"/>
      <p:bldP spid="47" grpId="0" bldLvl="0" animBg="1"/>
      <p:bldP spid="54" grpId="0" bldLvl="0" animBg="1"/>
      <p:bldP spid="60" grpId="0" bldLvl="0" animBg="1"/>
      <p:bldP spid="71" grpId="0" bldLvl="0" animBg="1"/>
      <p:bldP spid="72" grpId="0" bldLvl="0" animBg="1"/>
      <p:bldP spid="73" grpId="0"/>
      <p:bldP spid="79" grpId="0" bldLvl="0" animBg="1"/>
      <p:bldP spid="80" grpId="0"/>
      <p:bldP spid="34" grpId="0" bldLvl="0" animBg="1"/>
      <p:bldP spid="81"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22559" y="40711"/>
            <a:ext cx="776965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lgn="l">
                <a:lnSpc>
                  <a:spcPct val="100000"/>
                </a:lnSpc>
              </a:pPr>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3.8</a:t>
              </a:r>
              <a:r>
                <a:rPr lang="zh-CN" altLang="en-US" sz="3600" b="1" dirty="0">
                  <a:solidFill>
                    <a:schemeClr val="accent1"/>
                  </a:solidFill>
                  <a:latin typeface="+mn-ea"/>
                  <a:sym typeface="+mn-ea"/>
                </a:rPr>
                <a:t>（时空图、性能指标）</a:t>
              </a:r>
              <a:endParaRPr lang="zh-CN" altLang="en-US" sz="3600" b="1" dirty="0">
                <a:solidFill>
                  <a:schemeClr val="accent1"/>
                </a:solidFill>
                <a:latin typeface="+mn-ea"/>
                <a:sym typeface="+mn-ea"/>
              </a:endParaRPr>
            </a:p>
          </p:txBody>
        </p:sp>
      </p:grpSp>
      <p:sp>
        <p:nvSpPr>
          <p:cNvPr id="13" name="矩形 3"/>
          <p:cNvSpPr>
            <a:spLocks noChangeArrowheads="1"/>
          </p:cNvSpPr>
          <p:nvPr/>
        </p:nvSpPr>
        <p:spPr bwMode="auto">
          <a:xfrm>
            <a:off x="506891" y="1609347"/>
            <a:ext cx="11199808" cy="49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None/>
            </a:pPr>
            <a:r>
              <a:rPr lang="zh-CN" altLang="en-US" sz="2000" dirty="0">
                <a:latin typeface="+mn-ea"/>
                <a:ea typeface="+mn-ea"/>
              </a:rPr>
              <a:t>解：</a:t>
            </a:r>
            <a:r>
              <a:rPr lang="zh-CN" altLang="en-US" sz="2000" dirty="0">
                <a:latin typeface="+mn-ea"/>
                <a:ea typeface="+mn-ea"/>
                <a:sym typeface="Wingdings" panose="05000000000000000000" pitchFamily="2" charset="2"/>
              </a:rPr>
              <a:t>（</a:t>
            </a:r>
            <a:r>
              <a:rPr lang="en-US" altLang="zh-CN" sz="2000" dirty="0">
                <a:latin typeface="+mn-ea"/>
                <a:ea typeface="+mn-ea"/>
                <a:sym typeface="Wingdings" panose="05000000000000000000" pitchFamily="2" charset="2"/>
              </a:rPr>
              <a:t>2</a:t>
            </a:r>
            <a:r>
              <a:rPr lang="zh-CN" altLang="en-US" sz="2000" dirty="0">
                <a:latin typeface="+mn-ea"/>
                <a:ea typeface="+mn-ea"/>
                <a:sym typeface="Wingdings" panose="05000000000000000000" pitchFamily="2" charset="2"/>
              </a:rPr>
              <a:t>）</a:t>
            </a:r>
            <a:r>
              <a:rPr lang="zh-CN" altLang="en-US" sz="2000" dirty="0">
                <a:latin typeface="+mn-ea"/>
                <a:ea typeface="+mn-ea"/>
              </a:rPr>
              <a:t>画出流水线时空图</a:t>
            </a:r>
            <a:endParaRPr lang="zh-CN" altLang="en-US" sz="2400" dirty="0">
              <a:latin typeface="+mn-ea"/>
              <a:ea typeface="+mn-ea"/>
            </a:endParaRPr>
          </a:p>
        </p:txBody>
      </p:sp>
      <p:cxnSp>
        <p:nvCxnSpPr>
          <p:cNvPr id="5" name="直线箭头连接符 4"/>
          <p:cNvCxnSpPr/>
          <p:nvPr/>
        </p:nvCxnSpPr>
        <p:spPr>
          <a:xfrm>
            <a:off x="439513" y="5969020"/>
            <a:ext cx="1166934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线箭头连接符 6"/>
          <p:cNvCxnSpPr/>
          <p:nvPr/>
        </p:nvCxnSpPr>
        <p:spPr>
          <a:xfrm flipV="1">
            <a:off x="354841" y="2568524"/>
            <a:ext cx="0" cy="34119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368489" y="5341168"/>
            <a:ext cx="612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1</a:t>
            </a:r>
            <a:endParaRPr kumimoji="1" lang="zh-CN" altLang="en-US" sz="2000" dirty="0"/>
          </a:p>
        </p:txBody>
      </p:sp>
      <p:sp>
        <p:nvSpPr>
          <p:cNvPr id="105" name="文本框 104"/>
          <p:cNvSpPr txBox="1"/>
          <p:nvPr/>
        </p:nvSpPr>
        <p:spPr>
          <a:xfrm>
            <a:off x="980489" y="4729168"/>
            <a:ext cx="1224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1</a:t>
            </a:r>
            <a:endParaRPr kumimoji="1" lang="zh-CN" altLang="en-US" sz="2000" dirty="0"/>
          </a:p>
        </p:txBody>
      </p:sp>
      <p:sp>
        <p:nvSpPr>
          <p:cNvPr id="106" name="文本框 105"/>
          <p:cNvSpPr txBox="1"/>
          <p:nvPr/>
        </p:nvSpPr>
        <p:spPr>
          <a:xfrm>
            <a:off x="2204489" y="4728883"/>
            <a:ext cx="1224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2</a:t>
            </a:r>
            <a:endParaRPr kumimoji="1" lang="zh-CN" altLang="en-US" sz="2000" dirty="0"/>
          </a:p>
        </p:txBody>
      </p:sp>
      <p:sp>
        <p:nvSpPr>
          <p:cNvPr id="107" name="文本框 106"/>
          <p:cNvSpPr txBox="1"/>
          <p:nvPr/>
        </p:nvSpPr>
        <p:spPr>
          <a:xfrm>
            <a:off x="3425465" y="4725341"/>
            <a:ext cx="1224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3</a:t>
            </a:r>
            <a:endParaRPr kumimoji="1" lang="zh-CN" altLang="en-US" sz="2000" dirty="0"/>
          </a:p>
        </p:txBody>
      </p:sp>
      <p:sp>
        <p:nvSpPr>
          <p:cNvPr id="108" name="文本框 107"/>
          <p:cNvSpPr txBox="1"/>
          <p:nvPr/>
        </p:nvSpPr>
        <p:spPr>
          <a:xfrm>
            <a:off x="4649465" y="4729168"/>
            <a:ext cx="1224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4</a:t>
            </a:r>
            <a:endParaRPr kumimoji="1" lang="zh-CN" altLang="en-US" sz="2000" dirty="0"/>
          </a:p>
        </p:txBody>
      </p:sp>
      <p:sp>
        <p:nvSpPr>
          <p:cNvPr id="109" name="文本框 108"/>
          <p:cNvSpPr txBox="1"/>
          <p:nvPr/>
        </p:nvSpPr>
        <p:spPr>
          <a:xfrm>
            <a:off x="1588321" y="5335419"/>
            <a:ext cx="612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2</a:t>
            </a:r>
            <a:endParaRPr kumimoji="1" lang="zh-CN" altLang="en-US" sz="2000" dirty="0"/>
          </a:p>
        </p:txBody>
      </p:sp>
      <p:sp>
        <p:nvSpPr>
          <p:cNvPr id="110" name="文本框 109"/>
          <p:cNvSpPr txBox="1"/>
          <p:nvPr/>
        </p:nvSpPr>
        <p:spPr>
          <a:xfrm>
            <a:off x="2813465" y="5341169"/>
            <a:ext cx="612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3</a:t>
            </a:r>
            <a:endParaRPr kumimoji="1" lang="zh-CN" altLang="en-US" sz="2000" dirty="0"/>
          </a:p>
        </p:txBody>
      </p:sp>
      <p:sp>
        <p:nvSpPr>
          <p:cNvPr id="111" name="文本框 110"/>
          <p:cNvSpPr txBox="1"/>
          <p:nvPr/>
        </p:nvSpPr>
        <p:spPr>
          <a:xfrm>
            <a:off x="4046945" y="5349068"/>
            <a:ext cx="612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4</a:t>
            </a:r>
            <a:endParaRPr kumimoji="1" lang="zh-CN" altLang="en-US" sz="2000" dirty="0"/>
          </a:p>
        </p:txBody>
      </p:sp>
      <p:sp>
        <p:nvSpPr>
          <p:cNvPr id="120" name="文本框 119"/>
          <p:cNvSpPr txBox="1"/>
          <p:nvPr/>
        </p:nvSpPr>
        <p:spPr>
          <a:xfrm>
            <a:off x="2205633" y="2889155"/>
            <a:ext cx="612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1</a:t>
            </a:r>
            <a:endParaRPr kumimoji="1" lang="zh-CN" altLang="en-US" sz="2000" dirty="0"/>
          </a:p>
        </p:txBody>
      </p:sp>
      <p:sp>
        <p:nvSpPr>
          <p:cNvPr id="121" name="文本框 120"/>
          <p:cNvSpPr txBox="1"/>
          <p:nvPr/>
        </p:nvSpPr>
        <p:spPr>
          <a:xfrm>
            <a:off x="3425465" y="2883406"/>
            <a:ext cx="612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2</a:t>
            </a:r>
            <a:endParaRPr kumimoji="1" lang="zh-CN" altLang="en-US" sz="2000" dirty="0"/>
          </a:p>
        </p:txBody>
      </p:sp>
      <p:sp>
        <p:nvSpPr>
          <p:cNvPr id="122" name="文本框 121"/>
          <p:cNvSpPr txBox="1"/>
          <p:nvPr/>
        </p:nvSpPr>
        <p:spPr>
          <a:xfrm>
            <a:off x="4650609" y="2889156"/>
            <a:ext cx="612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3</a:t>
            </a:r>
            <a:endParaRPr kumimoji="1" lang="zh-CN" altLang="en-US" sz="2000" dirty="0"/>
          </a:p>
        </p:txBody>
      </p:sp>
      <p:sp>
        <p:nvSpPr>
          <p:cNvPr id="123" name="文本框 122"/>
          <p:cNvSpPr txBox="1"/>
          <p:nvPr/>
        </p:nvSpPr>
        <p:spPr>
          <a:xfrm>
            <a:off x="5870441" y="2869758"/>
            <a:ext cx="612000" cy="612000"/>
          </a:xfrm>
          <a:prstGeom prst="rect">
            <a:avLst/>
          </a:prstGeom>
          <a:solidFill>
            <a:schemeClr val="accent4">
              <a:lumMod val="40000"/>
              <a:lumOff val="60000"/>
            </a:schemeClr>
          </a:solidFill>
          <a:ln w="28575">
            <a:solidFill>
              <a:schemeClr val="accent4">
                <a:lumMod val="60000"/>
                <a:lumOff val="40000"/>
              </a:schemeClr>
            </a:solidFill>
          </a:ln>
        </p:spPr>
        <p:txBody>
          <a:bodyPr wrap="square" tIns="108000" rtlCol="0">
            <a:spAutoFit/>
          </a:bodyPr>
          <a:lstStyle/>
          <a:p>
            <a:pPr algn="ctr"/>
            <a:r>
              <a:rPr kumimoji="1" lang="zh-CN" altLang="en-US" dirty="0"/>
              <a:t> </a:t>
            </a:r>
            <a:r>
              <a:rPr kumimoji="1" lang="en-US" altLang="zh-CN" sz="2000" dirty="0"/>
              <a:t>4</a:t>
            </a:r>
            <a:endParaRPr kumimoji="1" lang="zh-CN" altLang="en-US" sz="2000" dirty="0"/>
          </a:p>
        </p:txBody>
      </p:sp>
      <p:sp>
        <p:nvSpPr>
          <p:cNvPr id="124" name="文本框 123"/>
          <p:cNvSpPr txBox="1"/>
          <p:nvPr/>
        </p:nvSpPr>
        <p:spPr>
          <a:xfrm>
            <a:off x="4649465" y="5341169"/>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5</a:t>
            </a:r>
            <a:endParaRPr kumimoji="1" lang="zh-CN" altLang="en-US" sz="2000" dirty="0"/>
          </a:p>
        </p:txBody>
      </p:sp>
      <p:sp>
        <p:nvSpPr>
          <p:cNvPr id="125" name="文本框 124"/>
          <p:cNvSpPr txBox="1"/>
          <p:nvPr/>
        </p:nvSpPr>
        <p:spPr>
          <a:xfrm>
            <a:off x="5261464" y="4117037"/>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5</a:t>
            </a:r>
            <a:endParaRPr kumimoji="1" lang="zh-CN" altLang="en-US" sz="2000" dirty="0"/>
          </a:p>
        </p:txBody>
      </p:sp>
      <p:sp>
        <p:nvSpPr>
          <p:cNvPr id="126" name="文本框 125"/>
          <p:cNvSpPr txBox="1"/>
          <p:nvPr/>
        </p:nvSpPr>
        <p:spPr>
          <a:xfrm>
            <a:off x="5870441" y="3477741"/>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5</a:t>
            </a:r>
            <a:endParaRPr kumimoji="1" lang="zh-CN" altLang="en-US" sz="2000" dirty="0"/>
          </a:p>
        </p:txBody>
      </p:sp>
      <p:sp>
        <p:nvSpPr>
          <p:cNvPr id="127" name="文本框 126"/>
          <p:cNvSpPr txBox="1"/>
          <p:nvPr/>
        </p:nvSpPr>
        <p:spPr>
          <a:xfrm>
            <a:off x="6501400" y="2860926"/>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5</a:t>
            </a:r>
            <a:endParaRPr kumimoji="1" lang="zh-CN" altLang="en-US" sz="2000" dirty="0"/>
          </a:p>
        </p:txBody>
      </p:sp>
      <p:sp>
        <p:nvSpPr>
          <p:cNvPr id="128" name="文本框 127"/>
          <p:cNvSpPr txBox="1"/>
          <p:nvPr/>
        </p:nvSpPr>
        <p:spPr>
          <a:xfrm>
            <a:off x="6491921" y="5343318"/>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6</a:t>
            </a:r>
            <a:endParaRPr kumimoji="1" lang="zh-CN" altLang="en-US" sz="2000" dirty="0"/>
          </a:p>
        </p:txBody>
      </p:sp>
      <p:sp>
        <p:nvSpPr>
          <p:cNvPr id="129" name="文本框 128"/>
          <p:cNvSpPr txBox="1"/>
          <p:nvPr/>
        </p:nvSpPr>
        <p:spPr>
          <a:xfrm>
            <a:off x="7094439" y="4086261"/>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6</a:t>
            </a:r>
            <a:endParaRPr kumimoji="1" lang="zh-CN" altLang="en-US" sz="2000" dirty="0"/>
          </a:p>
        </p:txBody>
      </p:sp>
      <p:sp>
        <p:nvSpPr>
          <p:cNvPr id="130" name="文本框 129"/>
          <p:cNvSpPr txBox="1"/>
          <p:nvPr/>
        </p:nvSpPr>
        <p:spPr>
          <a:xfrm>
            <a:off x="7708847" y="3474576"/>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6</a:t>
            </a:r>
            <a:endParaRPr kumimoji="1" lang="zh-CN" altLang="en-US" sz="2000" dirty="0"/>
          </a:p>
        </p:txBody>
      </p:sp>
      <p:sp>
        <p:nvSpPr>
          <p:cNvPr id="131" name="文本框 130"/>
          <p:cNvSpPr txBox="1"/>
          <p:nvPr/>
        </p:nvSpPr>
        <p:spPr>
          <a:xfrm>
            <a:off x="8324895" y="2835734"/>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6</a:t>
            </a:r>
            <a:endParaRPr kumimoji="1" lang="zh-CN" altLang="en-US" sz="2000" dirty="0"/>
          </a:p>
        </p:txBody>
      </p:sp>
      <p:sp>
        <p:nvSpPr>
          <p:cNvPr id="132" name="文本框 131"/>
          <p:cNvSpPr txBox="1"/>
          <p:nvPr/>
        </p:nvSpPr>
        <p:spPr>
          <a:xfrm>
            <a:off x="8936895" y="5354817"/>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7</a:t>
            </a:r>
            <a:endParaRPr kumimoji="1" lang="zh-CN" altLang="en-US" sz="2000" dirty="0"/>
          </a:p>
        </p:txBody>
      </p:sp>
      <p:sp>
        <p:nvSpPr>
          <p:cNvPr id="133" name="文本框 132"/>
          <p:cNvSpPr txBox="1"/>
          <p:nvPr/>
        </p:nvSpPr>
        <p:spPr>
          <a:xfrm>
            <a:off x="9548895" y="4106611"/>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7</a:t>
            </a:r>
            <a:endParaRPr kumimoji="1" lang="zh-CN" altLang="en-US" sz="2000" dirty="0"/>
          </a:p>
        </p:txBody>
      </p:sp>
      <p:sp>
        <p:nvSpPr>
          <p:cNvPr id="134" name="文本框 133"/>
          <p:cNvSpPr txBox="1"/>
          <p:nvPr/>
        </p:nvSpPr>
        <p:spPr>
          <a:xfrm>
            <a:off x="10160895" y="3484245"/>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7</a:t>
            </a:r>
            <a:endParaRPr kumimoji="1" lang="zh-CN" altLang="en-US" sz="2000" dirty="0"/>
          </a:p>
        </p:txBody>
      </p:sp>
      <p:sp>
        <p:nvSpPr>
          <p:cNvPr id="135" name="文本框 134"/>
          <p:cNvSpPr txBox="1"/>
          <p:nvPr/>
        </p:nvSpPr>
        <p:spPr>
          <a:xfrm>
            <a:off x="10769871" y="2859672"/>
            <a:ext cx="612000" cy="612000"/>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en-US" altLang="zh-CN" sz="2000" dirty="0"/>
              <a:t>7</a:t>
            </a:r>
            <a:endParaRPr kumimoji="1" lang="zh-CN" altLang="en-US" sz="2000" dirty="0"/>
          </a:p>
        </p:txBody>
      </p:sp>
      <p:sp>
        <p:nvSpPr>
          <p:cNvPr id="148" name="文本框 147"/>
          <p:cNvSpPr txBox="1"/>
          <p:nvPr/>
        </p:nvSpPr>
        <p:spPr>
          <a:xfrm>
            <a:off x="6465969" y="5354147"/>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5</a:t>
            </a:r>
            <a:endParaRPr kumimoji="1" lang="zh-CN" altLang="en-US" sz="2000" dirty="0"/>
          </a:p>
        </p:txBody>
      </p:sp>
      <p:sp>
        <p:nvSpPr>
          <p:cNvPr id="149" name="文本框 148"/>
          <p:cNvSpPr txBox="1"/>
          <p:nvPr/>
        </p:nvSpPr>
        <p:spPr>
          <a:xfrm>
            <a:off x="7078094" y="4076648"/>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5</a:t>
            </a:r>
            <a:endParaRPr kumimoji="1" lang="zh-CN" altLang="en-US" sz="2000" dirty="0"/>
          </a:p>
        </p:txBody>
      </p:sp>
      <p:sp>
        <p:nvSpPr>
          <p:cNvPr id="150" name="文本框 149"/>
          <p:cNvSpPr txBox="1"/>
          <p:nvPr/>
        </p:nvSpPr>
        <p:spPr>
          <a:xfrm>
            <a:off x="7689377" y="3450946"/>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5</a:t>
            </a:r>
            <a:endParaRPr kumimoji="1" lang="zh-CN" altLang="en-US" sz="2000" dirty="0"/>
          </a:p>
        </p:txBody>
      </p:sp>
      <p:sp>
        <p:nvSpPr>
          <p:cNvPr id="151" name="文本框 150"/>
          <p:cNvSpPr txBox="1"/>
          <p:nvPr/>
        </p:nvSpPr>
        <p:spPr>
          <a:xfrm>
            <a:off x="8316762" y="2832095"/>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5</a:t>
            </a:r>
            <a:endParaRPr kumimoji="1" lang="zh-CN" altLang="en-US" sz="2000" dirty="0"/>
          </a:p>
        </p:txBody>
      </p:sp>
      <p:sp>
        <p:nvSpPr>
          <p:cNvPr id="152" name="文本框 151"/>
          <p:cNvSpPr txBox="1"/>
          <p:nvPr/>
        </p:nvSpPr>
        <p:spPr>
          <a:xfrm>
            <a:off x="7093827" y="5343318"/>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6</a:t>
            </a:r>
            <a:endParaRPr kumimoji="1" lang="zh-CN" altLang="en-US" sz="2000" dirty="0"/>
          </a:p>
        </p:txBody>
      </p:sp>
      <p:sp>
        <p:nvSpPr>
          <p:cNvPr id="153" name="文本框 152"/>
          <p:cNvSpPr txBox="1"/>
          <p:nvPr/>
        </p:nvSpPr>
        <p:spPr>
          <a:xfrm>
            <a:off x="7696345" y="4086261"/>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6</a:t>
            </a:r>
            <a:endParaRPr kumimoji="1" lang="zh-CN" altLang="en-US" sz="2000" dirty="0"/>
          </a:p>
        </p:txBody>
      </p:sp>
      <p:sp>
        <p:nvSpPr>
          <p:cNvPr id="154" name="文本框 153"/>
          <p:cNvSpPr txBox="1"/>
          <p:nvPr/>
        </p:nvSpPr>
        <p:spPr>
          <a:xfrm>
            <a:off x="8310753" y="3474576"/>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6</a:t>
            </a:r>
            <a:endParaRPr kumimoji="1" lang="zh-CN" altLang="en-US" sz="2000" dirty="0"/>
          </a:p>
        </p:txBody>
      </p:sp>
      <p:sp>
        <p:nvSpPr>
          <p:cNvPr id="155" name="文本框 154"/>
          <p:cNvSpPr txBox="1"/>
          <p:nvPr/>
        </p:nvSpPr>
        <p:spPr>
          <a:xfrm>
            <a:off x="8926801" y="2835734"/>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6</a:t>
            </a:r>
            <a:endParaRPr kumimoji="1" lang="zh-CN" altLang="en-US" sz="2000" dirty="0"/>
          </a:p>
        </p:txBody>
      </p:sp>
      <p:sp>
        <p:nvSpPr>
          <p:cNvPr id="156" name="文本框 155"/>
          <p:cNvSpPr txBox="1"/>
          <p:nvPr/>
        </p:nvSpPr>
        <p:spPr>
          <a:xfrm>
            <a:off x="9538801" y="5354817"/>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7</a:t>
            </a:r>
            <a:endParaRPr kumimoji="1" lang="zh-CN" altLang="en-US" sz="2000" dirty="0"/>
          </a:p>
        </p:txBody>
      </p:sp>
      <p:sp>
        <p:nvSpPr>
          <p:cNvPr id="157" name="文本框 156"/>
          <p:cNvSpPr txBox="1"/>
          <p:nvPr/>
        </p:nvSpPr>
        <p:spPr>
          <a:xfrm>
            <a:off x="10150801" y="4106611"/>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7</a:t>
            </a:r>
            <a:endParaRPr kumimoji="1" lang="zh-CN" altLang="en-US" sz="2000" dirty="0"/>
          </a:p>
        </p:txBody>
      </p:sp>
      <p:sp>
        <p:nvSpPr>
          <p:cNvPr id="158" name="文本框 157"/>
          <p:cNvSpPr txBox="1"/>
          <p:nvPr/>
        </p:nvSpPr>
        <p:spPr>
          <a:xfrm>
            <a:off x="10762801" y="3484245"/>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7</a:t>
            </a:r>
            <a:endParaRPr kumimoji="1" lang="zh-CN" altLang="en-US" sz="2000" dirty="0"/>
          </a:p>
        </p:txBody>
      </p:sp>
      <p:sp>
        <p:nvSpPr>
          <p:cNvPr id="159" name="文本框 158"/>
          <p:cNvSpPr txBox="1"/>
          <p:nvPr/>
        </p:nvSpPr>
        <p:spPr>
          <a:xfrm>
            <a:off x="11371777" y="2859672"/>
            <a:ext cx="612000" cy="612000"/>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en-US" altLang="zh-CN" sz="2000" dirty="0"/>
              <a:t>7</a:t>
            </a:r>
            <a:endParaRPr kumimoji="1" lang="zh-CN" altLang="en-US" sz="2000" dirty="0"/>
          </a:p>
        </p:txBody>
      </p:sp>
      <p:sp>
        <p:nvSpPr>
          <p:cNvPr id="27" name="文本框 26"/>
          <p:cNvSpPr txBox="1"/>
          <p:nvPr/>
        </p:nvSpPr>
        <p:spPr>
          <a:xfrm>
            <a:off x="726932" y="5969020"/>
            <a:ext cx="368489" cy="461665"/>
          </a:xfrm>
          <a:prstGeom prst="rect">
            <a:avLst/>
          </a:prstGeom>
          <a:noFill/>
        </p:spPr>
        <p:txBody>
          <a:bodyPr wrap="square" rtlCol="0">
            <a:spAutoFit/>
          </a:bodyPr>
          <a:lstStyle/>
          <a:p>
            <a:r>
              <a:rPr kumimoji="1" lang="en-US" altLang="zh-CN" sz="2400" dirty="0"/>
              <a:t>1</a:t>
            </a:r>
            <a:endParaRPr kumimoji="1" lang="zh-CN" altLang="en-US" sz="2400" dirty="0"/>
          </a:p>
        </p:txBody>
      </p:sp>
      <p:sp>
        <p:nvSpPr>
          <p:cNvPr id="160" name="文本框 159"/>
          <p:cNvSpPr txBox="1"/>
          <p:nvPr/>
        </p:nvSpPr>
        <p:spPr>
          <a:xfrm>
            <a:off x="0" y="4759543"/>
            <a:ext cx="368489" cy="461665"/>
          </a:xfrm>
          <a:prstGeom prst="rect">
            <a:avLst/>
          </a:prstGeom>
          <a:noFill/>
        </p:spPr>
        <p:txBody>
          <a:bodyPr wrap="square" rtlCol="0">
            <a:spAutoFit/>
          </a:bodyPr>
          <a:lstStyle/>
          <a:p>
            <a:r>
              <a:rPr kumimoji="1" lang="en-US" altLang="zh-CN" sz="2400" dirty="0"/>
              <a:t>2</a:t>
            </a:r>
            <a:endParaRPr kumimoji="1" lang="zh-CN" altLang="en-US" sz="2400" dirty="0"/>
          </a:p>
        </p:txBody>
      </p:sp>
      <p:sp>
        <p:nvSpPr>
          <p:cNvPr id="161" name="文本框 160"/>
          <p:cNvSpPr txBox="1"/>
          <p:nvPr/>
        </p:nvSpPr>
        <p:spPr>
          <a:xfrm>
            <a:off x="0" y="4130349"/>
            <a:ext cx="368489" cy="461665"/>
          </a:xfrm>
          <a:prstGeom prst="rect">
            <a:avLst/>
          </a:prstGeom>
          <a:noFill/>
        </p:spPr>
        <p:txBody>
          <a:bodyPr wrap="square" rtlCol="0">
            <a:spAutoFit/>
          </a:bodyPr>
          <a:lstStyle/>
          <a:p>
            <a:r>
              <a:rPr kumimoji="1" lang="en-US" altLang="zh-CN" sz="2400" dirty="0"/>
              <a:t>3</a:t>
            </a:r>
            <a:endParaRPr kumimoji="1" lang="zh-CN" altLang="en-US" sz="2400" dirty="0"/>
          </a:p>
        </p:txBody>
      </p:sp>
      <p:sp>
        <p:nvSpPr>
          <p:cNvPr id="162" name="文本框 161"/>
          <p:cNvSpPr txBox="1"/>
          <p:nvPr/>
        </p:nvSpPr>
        <p:spPr>
          <a:xfrm>
            <a:off x="0" y="3501155"/>
            <a:ext cx="368489" cy="461665"/>
          </a:xfrm>
          <a:prstGeom prst="rect">
            <a:avLst/>
          </a:prstGeom>
          <a:noFill/>
        </p:spPr>
        <p:txBody>
          <a:bodyPr wrap="square" rtlCol="0">
            <a:spAutoFit/>
          </a:bodyPr>
          <a:lstStyle/>
          <a:p>
            <a:r>
              <a:rPr kumimoji="1" lang="en-US" altLang="zh-CN" sz="2400" dirty="0"/>
              <a:t>4</a:t>
            </a:r>
            <a:endParaRPr kumimoji="1" lang="zh-CN" altLang="en-US" sz="2400" dirty="0"/>
          </a:p>
        </p:txBody>
      </p:sp>
      <p:sp>
        <p:nvSpPr>
          <p:cNvPr id="163" name="文本框 162"/>
          <p:cNvSpPr txBox="1"/>
          <p:nvPr/>
        </p:nvSpPr>
        <p:spPr>
          <a:xfrm>
            <a:off x="0" y="2871961"/>
            <a:ext cx="368489" cy="461665"/>
          </a:xfrm>
          <a:prstGeom prst="rect">
            <a:avLst/>
          </a:prstGeom>
          <a:noFill/>
        </p:spPr>
        <p:txBody>
          <a:bodyPr wrap="square" rtlCol="0">
            <a:spAutoFit/>
          </a:bodyPr>
          <a:lstStyle/>
          <a:p>
            <a:r>
              <a:rPr kumimoji="1" lang="en-US" altLang="zh-CN" sz="2400" dirty="0"/>
              <a:t>5</a:t>
            </a:r>
            <a:endParaRPr kumimoji="1" lang="zh-CN" altLang="en-US" sz="2400" dirty="0"/>
          </a:p>
        </p:txBody>
      </p:sp>
      <p:sp>
        <p:nvSpPr>
          <p:cNvPr id="164" name="文本框 163"/>
          <p:cNvSpPr txBox="1"/>
          <p:nvPr/>
        </p:nvSpPr>
        <p:spPr>
          <a:xfrm>
            <a:off x="15920" y="5388737"/>
            <a:ext cx="368489" cy="461665"/>
          </a:xfrm>
          <a:prstGeom prst="rect">
            <a:avLst/>
          </a:prstGeom>
          <a:noFill/>
        </p:spPr>
        <p:txBody>
          <a:bodyPr wrap="square" rtlCol="0">
            <a:spAutoFit/>
          </a:bodyPr>
          <a:lstStyle/>
          <a:p>
            <a:r>
              <a:rPr kumimoji="1" lang="en-US" altLang="zh-CN" sz="2400" dirty="0"/>
              <a:t>1</a:t>
            </a:r>
            <a:endParaRPr kumimoji="1" lang="zh-CN" altLang="en-US" sz="2400" dirty="0"/>
          </a:p>
        </p:txBody>
      </p:sp>
      <p:sp>
        <p:nvSpPr>
          <p:cNvPr id="165" name="文本框 164"/>
          <p:cNvSpPr txBox="1"/>
          <p:nvPr/>
        </p:nvSpPr>
        <p:spPr>
          <a:xfrm>
            <a:off x="1346960" y="5969020"/>
            <a:ext cx="368489" cy="461665"/>
          </a:xfrm>
          <a:prstGeom prst="rect">
            <a:avLst/>
          </a:prstGeom>
          <a:noFill/>
        </p:spPr>
        <p:txBody>
          <a:bodyPr wrap="square" rtlCol="0">
            <a:spAutoFit/>
          </a:bodyPr>
          <a:lstStyle/>
          <a:p>
            <a:r>
              <a:rPr kumimoji="1" lang="en-US" altLang="zh-CN" sz="2400" dirty="0"/>
              <a:t>2</a:t>
            </a:r>
            <a:endParaRPr kumimoji="1" lang="zh-CN" altLang="en-US" sz="2400" dirty="0"/>
          </a:p>
        </p:txBody>
      </p:sp>
      <p:sp>
        <p:nvSpPr>
          <p:cNvPr id="166" name="文本框 165"/>
          <p:cNvSpPr txBox="1"/>
          <p:nvPr/>
        </p:nvSpPr>
        <p:spPr>
          <a:xfrm>
            <a:off x="1966988" y="5969020"/>
            <a:ext cx="368489" cy="461665"/>
          </a:xfrm>
          <a:prstGeom prst="rect">
            <a:avLst/>
          </a:prstGeom>
          <a:noFill/>
        </p:spPr>
        <p:txBody>
          <a:bodyPr wrap="square" rtlCol="0">
            <a:spAutoFit/>
          </a:bodyPr>
          <a:lstStyle/>
          <a:p>
            <a:r>
              <a:rPr kumimoji="1" lang="en-US" altLang="zh-CN" sz="2400" dirty="0"/>
              <a:t>3</a:t>
            </a:r>
            <a:endParaRPr kumimoji="1" lang="zh-CN" altLang="en-US" sz="2400" dirty="0"/>
          </a:p>
        </p:txBody>
      </p:sp>
      <p:sp>
        <p:nvSpPr>
          <p:cNvPr id="167" name="文本框 166"/>
          <p:cNvSpPr txBox="1"/>
          <p:nvPr/>
        </p:nvSpPr>
        <p:spPr>
          <a:xfrm>
            <a:off x="2587016" y="5969020"/>
            <a:ext cx="368489" cy="461665"/>
          </a:xfrm>
          <a:prstGeom prst="rect">
            <a:avLst/>
          </a:prstGeom>
          <a:noFill/>
        </p:spPr>
        <p:txBody>
          <a:bodyPr wrap="square" rtlCol="0">
            <a:spAutoFit/>
          </a:bodyPr>
          <a:lstStyle/>
          <a:p>
            <a:r>
              <a:rPr kumimoji="1" lang="en-US" altLang="zh-CN" sz="2400" dirty="0"/>
              <a:t>4</a:t>
            </a:r>
            <a:endParaRPr kumimoji="1" lang="zh-CN" altLang="en-US" sz="2400" dirty="0"/>
          </a:p>
        </p:txBody>
      </p:sp>
      <p:sp>
        <p:nvSpPr>
          <p:cNvPr id="168" name="文本框 167"/>
          <p:cNvSpPr txBox="1"/>
          <p:nvPr/>
        </p:nvSpPr>
        <p:spPr>
          <a:xfrm>
            <a:off x="3207044" y="5969020"/>
            <a:ext cx="368489" cy="461665"/>
          </a:xfrm>
          <a:prstGeom prst="rect">
            <a:avLst/>
          </a:prstGeom>
          <a:noFill/>
        </p:spPr>
        <p:txBody>
          <a:bodyPr wrap="square" rtlCol="0">
            <a:spAutoFit/>
          </a:bodyPr>
          <a:lstStyle/>
          <a:p>
            <a:r>
              <a:rPr kumimoji="1" lang="en-US" altLang="zh-CN" sz="2400" dirty="0"/>
              <a:t>5</a:t>
            </a:r>
            <a:endParaRPr kumimoji="1" lang="zh-CN" altLang="en-US" sz="2400" dirty="0"/>
          </a:p>
        </p:txBody>
      </p:sp>
      <p:sp>
        <p:nvSpPr>
          <p:cNvPr id="169" name="文本框 168"/>
          <p:cNvSpPr txBox="1"/>
          <p:nvPr/>
        </p:nvSpPr>
        <p:spPr>
          <a:xfrm>
            <a:off x="3827072" y="5969020"/>
            <a:ext cx="368489" cy="461665"/>
          </a:xfrm>
          <a:prstGeom prst="rect">
            <a:avLst/>
          </a:prstGeom>
          <a:noFill/>
        </p:spPr>
        <p:txBody>
          <a:bodyPr wrap="square" rtlCol="0">
            <a:spAutoFit/>
          </a:bodyPr>
          <a:lstStyle/>
          <a:p>
            <a:r>
              <a:rPr kumimoji="1" lang="en-US" altLang="zh-CN" sz="2400" dirty="0"/>
              <a:t>6</a:t>
            </a:r>
            <a:endParaRPr kumimoji="1" lang="zh-CN" altLang="en-US" sz="2400" dirty="0"/>
          </a:p>
        </p:txBody>
      </p:sp>
      <p:sp>
        <p:nvSpPr>
          <p:cNvPr id="170" name="文本框 169"/>
          <p:cNvSpPr txBox="1"/>
          <p:nvPr/>
        </p:nvSpPr>
        <p:spPr>
          <a:xfrm>
            <a:off x="4447100" y="5969020"/>
            <a:ext cx="368489" cy="461665"/>
          </a:xfrm>
          <a:prstGeom prst="rect">
            <a:avLst/>
          </a:prstGeom>
          <a:noFill/>
        </p:spPr>
        <p:txBody>
          <a:bodyPr wrap="square" rtlCol="0">
            <a:spAutoFit/>
          </a:bodyPr>
          <a:lstStyle/>
          <a:p>
            <a:r>
              <a:rPr kumimoji="1" lang="en-US" altLang="zh-CN" sz="2400" dirty="0"/>
              <a:t>7</a:t>
            </a:r>
            <a:endParaRPr kumimoji="1" lang="zh-CN" altLang="en-US" sz="2400" dirty="0"/>
          </a:p>
        </p:txBody>
      </p:sp>
      <p:sp>
        <p:nvSpPr>
          <p:cNvPr id="171" name="文本框 170"/>
          <p:cNvSpPr txBox="1"/>
          <p:nvPr/>
        </p:nvSpPr>
        <p:spPr>
          <a:xfrm>
            <a:off x="5067126" y="5969020"/>
            <a:ext cx="368489" cy="461665"/>
          </a:xfrm>
          <a:prstGeom prst="rect">
            <a:avLst/>
          </a:prstGeom>
          <a:noFill/>
        </p:spPr>
        <p:txBody>
          <a:bodyPr wrap="square" rtlCol="0">
            <a:spAutoFit/>
          </a:bodyPr>
          <a:lstStyle/>
          <a:p>
            <a:r>
              <a:rPr kumimoji="1" lang="en-US" altLang="zh-CN" sz="2400" dirty="0"/>
              <a:t>8</a:t>
            </a:r>
            <a:endParaRPr kumimoji="1" lang="zh-CN" altLang="en-US" sz="2400" dirty="0"/>
          </a:p>
        </p:txBody>
      </p:sp>
      <p:sp>
        <p:nvSpPr>
          <p:cNvPr id="172" name="文本框 171"/>
          <p:cNvSpPr txBox="1"/>
          <p:nvPr/>
        </p:nvSpPr>
        <p:spPr>
          <a:xfrm>
            <a:off x="5720163" y="5969020"/>
            <a:ext cx="368489" cy="461665"/>
          </a:xfrm>
          <a:prstGeom prst="rect">
            <a:avLst/>
          </a:prstGeom>
          <a:noFill/>
        </p:spPr>
        <p:txBody>
          <a:bodyPr wrap="square" rtlCol="0">
            <a:spAutoFit/>
          </a:bodyPr>
          <a:lstStyle/>
          <a:p>
            <a:r>
              <a:rPr kumimoji="1" lang="en-US" altLang="zh-CN" sz="2400" dirty="0"/>
              <a:t>9</a:t>
            </a:r>
            <a:endParaRPr kumimoji="1" lang="zh-CN" altLang="en-US" sz="2400" dirty="0"/>
          </a:p>
        </p:txBody>
      </p:sp>
      <p:sp>
        <p:nvSpPr>
          <p:cNvPr id="173" name="文本框 172"/>
          <p:cNvSpPr txBox="1"/>
          <p:nvPr/>
        </p:nvSpPr>
        <p:spPr>
          <a:xfrm>
            <a:off x="6228694" y="5969020"/>
            <a:ext cx="548309" cy="461665"/>
          </a:xfrm>
          <a:prstGeom prst="rect">
            <a:avLst/>
          </a:prstGeom>
          <a:noFill/>
        </p:spPr>
        <p:txBody>
          <a:bodyPr wrap="square" rtlCol="0">
            <a:spAutoFit/>
          </a:bodyPr>
          <a:lstStyle/>
          <a:p>
            <a:r>
              <a:rPr kumimoji="1" lang="en-US" altLang="zh-CN" sz="2400" dirty="0"/>
              <a:t>10</a:t>
            </a:r>
            <a:endParaRPr kumimoji="1" lang="zh-CN" altLang="en-US" sz="2400" dirty="0"/>
          </a:p>
        </p:txBody>
      </p:sp>
      <p:sp>
        <p:nvSpPr>
          <p:cNvPr id="174" name="文本框 173"/>
          <p:cNvSpPr txBox="1"/>
          <p:nvPr/>
        </p:nvSpPr>
        <p:spPr>
          <a:xfrm>
            <a:off x="6797493" y="5969020"/>
            <a:ext cx="502448" cy="461665"/>
          </a:xfrm>
          <a:prstGeom prst="rect">
            <a:avLst/>
          </a:prstGeom>
          <a:noFill/>
        </p:spPr>
        <p:txBody>
          <a:bodyPr wrap="square" rtlCol="0">
            <a:spAutoFit/>
          </a:bodyPr>
          <a:lstStyle/>
          <a:p>
            <a:r>
              <a:rPr kumimoji="1" lang="en-US" altLang="zh-CN" sz="2400" dirty="0"/>
              <a:t>11</a:t>
            </a:r>
            <a:endParaRPr kumimoji="1" lang="zh-CN" altLang="en-US" sz="2400" dirty="0"/>
          </a:p>
        </p:txBody>
      </p:sp>
      <p:sp>
        <p:nvSpPr>
          <p:cNvPr id="175" name="文本框 174"/>
          <p:cNvSpPr txBox="1"/>
          <p:nvPr/>
        </p:nvSpPr>
        <p:spPr>
          <a:xfrm>
            <a:off x="7320431" y="5969020"/>
            <a:ext cx="620027" cy="461665"/>
          </a:xfrm>
          <a:prstGeom prst="rect">
            <a:avLst/>
          </a:prstGeom>
          <a:noFill/>
        </p:spPr>
        <p:txBody>
          <a:bodyPr wrap="square" rtlCol="0">
            <a:spAutoFit/>
          </a:bodyPr>
          <a:lstStyle/>
          <a:p>
            <a:r>
              <a:rPr kumimoji="1" lang="en-US" altLang="zh-CN" sz="2400" dirty="0"/>
              <a:t>12</a:t>
            </a:r>
            <a:endParaRPr kumimoji="1" lang="zh-CN" altLang="en-US" sz="2400" dirty="0"/>
          </a:p>
        </p:txBody>
      </p:sp>
      <p:sp>
        <p:nvSpPr>
          <p:cNvPr id="176" name="文本框 175"/>
          <p:cNvSpPr txBox="1"/>
          <p:nvPr/>
        </p:nvSpPr>
        <p:spPr>
          <a:xfrm>
            <a:off x="7960948" y="5969020"/>
            <a:ext cx="620028" cy="461665"/>
          </a:xfrm>
          <a:prstGeom prst="rect">
            <a:avLst/>
          </a:prstGeom>
          <a:noFill/>
        </p:spPr>
        <p:txBody>
          <a:bodyPr wrap="square" rtlCol="0">
            <a:spAutoFit/>
          </a:bodyPr>
          <a:lstStyle/>
          <a:p>
            <a:r>
              <a:rPr kumimoji="1" lang="en-US" altLang="zh-CN" sz="2400" dirty="0"/>
              <a:t>13</a:t>
            </a:r>
            <a:endParaRPr kumimoji="1" lang="zh-CN" altLang="en-US" sz="2400" dirty="0"/>
          </a:p>
        </p:txBody>
      </p:sp>
      <p:sp>
        <p:nvSpPr>
          <p:cNvPr id="177" name="文本框 176"/>
          <p:cNvSpPr txBox="1"/>
          <p:nvPr/>
        </p:nvSpPr>
        <p:spPr>
          <a:xfrm>
            <a:off x="8601466" y="5969020"/>
            <a:ext cx="620027" cy="461665"/>
          </a:xfrm>
          <a:prstGeom prst="rect">
            <a:avLst/>
          </a:prstGeom>
          <a:noFill/>
        </p:spPr>
        <p:txBody>
          <a:bodyPr wrap="square" rtlCol="0">
            <a:spAutoFit/>
          </a:bodyPr>
          <a:lstStyle/>
          <a:p>
            <a:r>
              <a:rPr kumimoji="1" lang="en-US" altLang="zh-CN" sz="2400" dirty="0"/>
              <a:t>14</a:t>
            </a:r>
            <a:endParaRPr kumimoji="1" lang="zh-CN" altLang="en-US" sz="2400" dirty="0"/>
          </a:p>
        </p:txBody>
      </p:sp>
      <p:sp>
        <p:nvSpPr>
          <p:cNvPr id="178" name="文本框 177"/>
          <p:cNvSpPr txBox="1"/>
          <p:nvPr/>
        </p:nvSpPr>
        <p:spPr>
          <a:xfrm>
            <a:off x="9241983" y="5969020"/>
            <a:ext cx="620028" cy="461665"/>
          </a:xfrm>
          <a:prstGeom prst="rect">
            <a:avLst/>
          </a:prstGeom>
          <a:noFill/>
        </p:spPr>
        <p:txBody>
          <a:bodyPr wrap="square" rtlCol="0">
            <a:spAutoFit/>
          </a:bodyPr>
          <a:lstStyle/>
          <a:p>
            <a:r>
              <a:rPr kumimoji="1" lang="en-US" altLang="zh-CN" sz="2400" dirty="0"/>
              <a:t>15</a:t>
            </a:r>
            <a:endParaRPr kumimoji="1" lang="zh-CN" altLang="en-US" sz="2400" dirty="0"/>
          </a:p>
        </p:txBody>
      </p:sp>
      <p:sp>
        <p:nvSpPr>
          <p:cNvPr id="179" name="文本框 178"/>
          <p:cNvSpPr txBox="1"/>
          <p:nvPr/>
        </p:nvSpPr>
        <p:spPr>
          <a:xfrm>
            <a:off x="9882501" y="5969020"/>
            <a:ext cx="531602" cy="461665"/>
          </a:xfrm>
          <a:prstGeom prst="rect">
            <a:avLst/>
          </a:prstGeom>
          <a:noFill/>
        </p:spPr>
        <p:txBody>
          <a:bodyPr wrap="square" rtlCol="0">
            <a:spAutoFit/>
          </a:bodyPr>
          <a:lstStyle/>
          <a:p>
            <a:r>
              <a:rPr kumimoji="1" lang="en-US" altLang="zh-CN" sz="2400" dirty="0"/>
              <a:t>16</a:t>
            </a:r>
            <a:endParaRPr kumimoji="1" lang="zh-CN" altLang="en-US" sz="2400" dirty="0"/>
          </a:p>
        </p:txBody>
      </p:sp>
      <p:sp>
        <p:nvSpPr>
          <p:cNvPr id="180" name="文本框 179"/>
          <p:cNvSpPr txBox="1"/>
          <p:nvPr/>
        </p:nvSpPr>
        <p:spPr>
          <a:xfrm>
            <a:off x="10538025" y="5969020"/>
            <a:ext cx="620027" cy="461665"/>
          </a:xfrm>
          <a:prstGeom prst="rect">
            <a:avLst/>
          </a:prstGeom>
          <a:noFill/>
        </p:spPr>
        <p:txBody>
          <a:bodyPr wrap="square" rtlCol="0">
            <a:spAutoFit/>
          </a:bodyPr>
          <a:lstStyle/>
          <a:p>
            <a:r>
              <a:rPr kumimoji="1" lang="en-US" altLang="zh-CN" sz="2400" dirty="0"/>
              <a:t>17</a:t>
            </a:r>
            <a:endParaRPr kumimoji="1" lang="zh-CN" altLang="en-US" sz="2400" dirty="0"/>
          </a:p>
        </p:txBody>
      </p:sp>
      <p:sp>
        <p:nvSpPr>
          <p:cNvPr id="181" name="文本框 180"/>
          <p:cNvSpPr txBox="1"/>
          <p:nvPr/>
        </p:nvSpPr>
        <p:spPr>
          <a:xfrm>
            <a:off x="11178542" y="5969020"/>
            <a:ext cx="620028" cy="461665"/>
          </a:xfrm>
          <a:prstGeom prst="rect">
            <a:avLst/>
          </a:prstGeom>
          <a:noFill/>
        </p:spPr>
        <p:txBody>
          <a:bodyPr wrap="square" rtlCol="0">
            <a:spAutoFit/>
          </a:bodyPr>
          <a:lstStyle/>
          <a:p>
            <a:r>
              <a:rPr kumimoji="1" lang="en-US" altLang="zh-CN" sz="2400" dirty="0"/>
              <a:t>18</a:t>
            </a:r>
            <a:endParaRPr kumimoji="1" lang="zh-CN" altLang="en-US" sz="2400" dirty="0"/>
          </a:p>
        </p:txBody>
      </p:sp>
      <p:sp>
        <p:nvSpPr>
          <p:cNvPr id="182" name="文本框 181"/>
          <p:cNvSpPr txBox="1"/>
          <p:nvPr/>
        </p:nvSpPr>
        <p:spPr>
          <a:xfrm>
            <a:off x="11717976" y="5969020"/>
            <a:ext cx="531602" cy="461665"/>
          </a:xfrm>
          <a:prstGeom prst="rect">
            <a:avLst/>
          </a:prstGeom>
          <a:noFill/>
        </p:spPr>
        <p:txBody>
          <a:bodyPr wrap="square" rtlCol="0">
            <a:spAutoFit/>
          </a:bodyPr>
          <a:lstStyle/>
          <a:p>
            <a:r>
              <a:rPr kumimoji="1" lang="en-US" altLang="zh-CN" sz="2400" dirty="0"/>
              <a:t>19</a:t>
            </a:r>
            <a:endParaRPr kumimoji="1" lang="zh-CN" altLang="en-US" sz="2400" dirty="0"/>
          </a:p>
        </p:txBody>
      </p:sp>
      <p:sp>
        <p:nvSpPr>
          <p:cNvPr id="183" name="文本框 182"/>
          <p:cNvSpPr txBox="1"/>
          <p:nvPr/>
        </p:nvSpPr>
        <p:spPr>
          <a:xfrm>
            <a:off x="5874007" y="1564509"/>
            <a:ext cx="1821723" cy="462998"/>
          </a:xfrm>
          <a:prstGeom prst="rect">
            <a:avLst/>
          </a:prstGeom>
          <a:solidFill>
            <a:schemeClr val="accent5">
              <a:lumMod val="60000"/>
              <a:lumOff val="40000"/>
            </a:schemeClr>
          </a:solidFill>
          <a:ln w="28575">
            <a:solidFill>
              <a:schemeClr val="accent5">
                <a:lumMod val="75000"/>
              </a:schemeClr>
            </a:solidFill>
          </a:ln>
        </p:spPr>
        <p:txBody>
          <a:bodyPr wrap="square" tIns="108000" rtlCol="0">
            <a:spAutoFit/>
          </a:bodyPr>
          <a:lstStyle/>
          <a:p>
            <a:pPr algn="ctr"/>
            <a:r>
              <a:rPr kumimoji="1" lang="zh-CN" altLang="en-US" dirty="0"/>
              <a:t> </a:t>
            </a:r>
            <a:r>
              <a:rPr kumimoji="1" lang="zh-CN" altLang="en-US" sz="2000" dirty="0"/>
              <a:t>动态调度</a:t>
            </a:r>
            <a:endParaRPr kumimoji="1" lang="zh-CN" altLang="en-US" sz="2000" dirty="0"/>
          </a:p>
        </p:txBody>
      </p:sp>
      <p:sp>
        <p:nvSpPr>
          <p:cNvPr id="184" name="文本框 183"/>
          <p:cNvSpPr txBox="1"/>
          <p:nvPr/>
        </p:nvSpPr>
        <p:spPr>
          <a:xfrm>
            <a:off x="8324895" y="1511342"/>
            <a:ext cx="1665266" cy="462998"/>
          </a:xfrm>
          <a:prstGeom prst="rect">
            <a:avLst/>
          </a:prstGeom>
          <a:solidFill>
            <a:srgbClr val="92D050"/>
          </a:solidFill>
          <a:ln w="28575">
            <a:solidFill>
              <a:schemeClr val="accent5">
                <a:lumMod val="75000"/>
              </a:schemeClr>
            </a:solidFill>
            <a:prstDash val="sysDash"/>
          </a:ln>
        </p:spPr>
        <p:txBody>
          <a:bodyPr wrap="square" tIns="108000" rtlCol="0">
            <a:spAutoFit/>
          </a:bodyPr>
          <a:lstStyle/>
          <a:p>
            <a:pPr algn="ctr"/>
            <a:r>
              <a:rPr kumimoji="1" lang="zh-CN" altLang="en-US" dirty="0"/>
              <a:t> </a:t>
            </a:r>
            <a:r>
              <a:rPr kumimoji="1" lang="zh-CN" altLang="en-US" sz="2000" dirty="0"/>
              <a:t>静态调度</a:t>
            </a:r>
            <a:endParaRPr kumimoji="1" lang="zh-CN" altLang="en-US" sz="2000" dirty="0"/>
          </a:p>
        </p:txBody>
      </p:sp>
      <p:cxnSp>
        <p:nvCxnSpPr>
          <p:cNvPr id="29" name="直线连接符 28"/>
          <p:cNvCxnSpPr/>
          <p:nvPr/>
        </p:nvCxnSpPr>
        <p:spPr>
          <a:xfrm>
            <a:off x="6479617" y="2361063"/>
            <a:ext cx="0" cy="4365935"/>
          </a:xfrm>
          <a:prstGeom prst="line">
            <a:avLst/>
          </a:prstGeom>
          <a:ln w="19050">
            <a:solidFill>
              <a:srgbClr val="00B050"/>
            </a:solidFill>
            <a:prstDash val="dashDot"/>
          </a:ln>
        </p:spPr>
        <p:style>
          <a:lnRef idx="1">
            <a:schemeClr val="accent1"/>
          </a:lnRef>
          <a:fillRef idx="0">
            <a:schemeClr val="accent1"/>
          </a:fillRef>
          <a:effectRef idx="0">
            <a:schemeClr val="accent1"/>
          </a:effectRef>
          <a:fontRef idx="minor">
            <a:schemeClr val="tx1"/>
          </a:fontRef>
        </p:style>
      </p:cxnSp>
      <p:cxnSp>
        <p:nvCxnSpPr>
          <p:cNvPr id="185" name="直线连接符 184"/>
          <p:cNvCxnSpPr/>
          <p:nvPr/>
        </p:nvCxnSpPr>
        <p:spPr>
          <a:xfrm>
            <a:off x="9537497" y="2275661"/>
            <a:ext cx="0" cy="4365935"/>
          </a:xfrm>
          <a:prstGeom prst="line">
            <a:avLst/>
          </a:prstGeom>
          <a:ln w="19050">
            <a:solidFill>
              <a:srgbClr val="00B050"/>
            </a:solidFill>
            <a:prstDash val="dashDot"/>
          </a:ln>
        </p:spPr>
        <p:style>
          <a:lnRef idx="1">
            <a:schemeClr val="accent1"/>
          </a:lnRef>
          <a:fillRef idx="0">
            <a:schemeClr val="accent1"/>
          </a:fillRef>
          <a:effectRef idx="0">
            <a:schemeClr val="accent1"/>
          </a:effectRef>
          <a:fontRef idx="minor">
            <a:schemeClr val="tx1"/>
          </a:fontRef>
        </p:style>
      </p:cxnSp>
      <p:cxnSp>
        <p:nvCxnSpPr>
          <p:cNvPr id="186" name="直线连接符 185"/>
          <p:cNvCxnSpPr/>
          <p:nvPr/>
        </p:nvCxnSpPr>
        <p:spPr>
          <a:xfrm>
            <a:off x="8940252" y="2363334"/>
            <a:ext cx="0" cy="4365935"/>
          </a:xfrm>
          <a:prstGeom prst="line">
            <a:avLst/>
          </a:prstGeom>
          <a:ln w="19050">
            <a:solidFill>
              <a:schemeClr val="accent5">
                <a:lumMod val="75000"/>
              </a:schemeClr>
            </a:solidFill>
            <a:prstDash val="dashDot"/>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430660"/>
    </mc:Choice>
    <mc:Fallback>
      <p:transition spd="slow" advTm="4306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8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3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3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5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5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5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5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5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5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8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8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6"/>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5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5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5" grpId="0" bldLvl="0" animBg="1"/>
      <p:bldP spid="106" grpId="0" bldLvl="0" animBg="1"/>
      <p:bldP spid="107" grpId="0" bldLvl="0" animBg="1"/>
      <p:bldP spid="108" grpId="0" bldLvl="0" animBg="1"/>
      <p:bldP spid="109" grpId="0" bldLvl="0" animBg="1"/>
      <p:bldP spid="110" grpId="0" bldLvl="0" animBg="1"/>
      <p:bldP spid="111" grpId="0" bldLvl="0" animBg="1"/>
      <p:bldP spid="120" grpId="0" bldLvl="0" animBg="1"/>
      <p:bldP spid="121" grpId="0" bldLvl="0" animBg="1"/>
      <p:bldP spid="122" grpId="0" bldLvl="0" animBg="1"/>
      <p:bldP spid="123" grpId="0" bldLvl="0" animBg="1"/>
      <p:bldP spid="124" grpId="0" bldLvl="0" animBg="1"/>
      <p:bldP spid="125" grpId="0" bldLvl="0" animBg="1"/>
      <p:bldP spid="126" grpId="0" bldLvl="0" animBg="1"/>
      <p:bldP spid="127" grpId="0" bldLvl="0" animBg="1"/>
      <p:bldP spid="128" grpId="0" bldLvl="0" animBg="1"/>
      <p:bldP spid="129" grpId="0" bldLvl="0" animBg="1"/>
      <p:bldP spid="130" grpId="0" bldLvl="0" animBg="1"/>
      <p:bldP spid="131" grpId="0" bldLvl="0" animBg="1"/>
      <p:bldP spid="132" grpId="0" bldLvl="0" animBg="1"/>
      <p:bldP spid="133" grpId="0" bldLvl="0" animBg="1"/>
      <p:bldP spid="134" grpId="0" bldLvl="0" animBg="1"/>
      <p:bldP spid="135" grpId="0" bldLvl="0" animBg="1"/>
      <p:bldP spid="148" grpId="0" bldLvl="0" animBg="1"/>
      <p:bldP spid="149" grpId="0" bldLvl="0" animBg="1"/>
      <p:bldP spid="150" grpId="0" bldLvl="0" animBg="1"/>
      <p:bldP spid="151" grpId="0" bldLvl="0" animBg="1"/>
      <p:bldP spid="152" grpId="0" bldLvl="0" animBg="1"/>
      <p:bldP spid="153" grpId="0" bldLvl="0" animBg="1"/>
      <p:bldP spid="154" grpId="0" bldLvl="0" animBg="1"/>
      <p:bldP spid="155" grpId="0" bldLvl="0" animBg="1"/>
      <p:bldP spid="156" grpId="0" bldLvl="0" animBg="1"/>
      <p:bldP spid="157" grpId="0" bldLvl="0" animBg="1"/>
      <p:bldP spid="158" grpId="0" bldLvl="0" animBg="1"/>
      <p:bldP spid="159" grpId="0" bldLvl="0" animBg="1"/>
      <p:bldP spid="183" grpId="0" bldLvl="0" animBg="1"/>
      <p:bldP spid="184"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26705"/>
            <a:ext cx="776965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lgn="l">
                <a:lnSpc>
                  <a:spcPct val="100000"/>
                </a:lnSpc>
              </a:pPr>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3.8</a:t>
              </a:r>
              <a:r>
                <a:rPr lang="zh-CN" altLang="en-US" sz="3600" b="1" dirty="0">
                  <a:solidFill>
                    <a:schemeClr val="accent1"/>
                  </a:solidFill>
                  <a:latin typeface="+mn-ea"/>
                  <a:sym typeface="+mn-ea"/>
                </a:rPr>
                <a:t>（时空图、性能指标）</a:t>
              </a:r>
              <a:endParaRPr lang="zh-CN" altLang="en-US" sz="3600" b="1" dirty="0">
                <a:solidFill>
                  <a:schemeClr val="accent1"/>
                </a:solidFill>
                <a:latin typeface="+mn-ea"/>
                <a:sym typeface="+mn-ea"/>
              </a:endParaRPr>
            </a:p>
          </p:txBody>
        </p:sp>
      </p:grpSp>
      <p:sp>
        <p:nvSpPr>
          <p:cNvPr id="13" name="矩形 3"/>
          <p:cNvSpPr>
            <a:spLocks noChangeArrowheads="1"/>
          </p:cNvSpPr>
          <p:nvPr/>
        </p:nvSpPr>
        <p:spPr bwMode="auto">
          <a:xfrm>
            <a:off x="506891" y="1609347"/>
            <a:ext cx="11199808" cy="49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None/>
            </a:pPr>
            <a:r>
              <a:rPr lang="zh-CN" altLang="en-US" sz="2000" dirty="0">
                <a:latin typeface="+mn-ea"/>
                <a:ea typeface="+mn-ea"/>
              </a:rPr>
              <a:t>解：</a:t>
            </a:r>
            <a:r>
              <a:rPr lang="zh-CN" altLang="en-US" sz="2000" dirty="0">
                <a:latin typeface="+mn-ea"/>
                <a:ea typeface="+mn-ea"/>
                <a:sym typeface="Wingdings" panose="05000000000000000000" pitchFamily="2" charset="2"/>
              </a:rPr>
              <a:t>（</a:t>
            </a:r>
            <a:r>
              <a:rPr lang="en-US" altLang="zh-CN" sz="2000" dirty="0">
                <a:latin typeface="+mn-ea"/>
                <a:ea typeface="+mn-ea"/>
                <a:sym typeface="Wingdings" panose="05000000000000000000" pitchFamily="2" charset="2"/>
              </a:rPr>
              <a:t>3</a:t>
            </a:r>
            <a:r>
              <a:rPr lang="zh-CN" altLang="en-US" sz="2000" dirty="0">
                <a:latin typeface="+mn-ea"/>
                <a:ea typeface="+mn-ea"/>
                <a:sym typeface="Wingdings" panose="05000000000000000000" pitchFamily="2" charset="2"/>
              </a:rPr>
              <a:t>）</a:t>
            </a:r>
            <a:r>
              <a:rPr lang="zh-CN" altLang="en-US" sz="2000" dirty="0">
                <a:latin typeface="+mn-ea"/>
                <a:ea typeface="+mn-ea"/>
              </a:rPr>
              <a:t>计算性能指标</a:t>
            </a:r>
            <a:endParaRPr lang="zh-CN" altLang="en-US" sz="2400" dirty="0">
              <a:latin typeface="+mn-ea"/>
              <a:ea typeface="+mn-ea"/>
            </a:endParaRPr>
          </a:p>
        </p:txBody>
      </p:sp>
      <p:sp>
        <p:nvSpPr>
          <p:cNvPr id="79" name="矩形 2"/>
          <p:cNvSpPr>
            <a:spLocks noChangeArrowheads="1"/>
          </p:cNvSpPr>
          <p:nvPr/>
        </p:nvSpPr>
        <p:spPr bwMode="auto">
          <a:xfrm>
            <a:off x="1188990" y="2108907"/>
            <a:ext cx="7777162" cy="50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zh-CN" altLang="en-US" sz="2000" dirty="0">
                <a:latin typeface="+mn-ea"/>
                <a:ea typeface="+mn-ea"/>
              </a:rPr>
              <a:t>由图可见，</a:t>
            </a:r>
            <a:r>
              <a:rPr lang="en-US" altLang="zh-CN" sz="2000" dirty="0">
                <a:latin typeface="+mn-ea"/>
                <a:ea typeface="+mn-ea"/>
              </a:rPr>
              <a:t>7</a:t>
            </a:r>
            <a:r>
              <a:rPr lang="zh-CN" altLang="en-US" sz="2000" dirty="0">
                <a:latin typeface="+mn-ea"/>
                <a:ea typeface="+mn-ea"/>
              </a:rPr>
              <a:t>个任务， 花费了</a:t>
            </a:r>
            <a:r>
              <a:rPr lang="en-US" altLang="zh-CN" sz="2000" dirty="0">
                <a:latin typeface="+mn-ea"/>
                <a:ea typeface="+mn-ea"/>
              </a:rPr>
              <a:t>18</a:t>
            </a:r>
            <a:r>
              <a:rPr lang="zh-CN" altLang="en-US" sz="2000" dirty="0">
                <a:latin typeface="+mn-ea"/>
                <a:ea typeface="+mn-ea"/>
              </a:rPr>
              <a:t>个△</a:t>
            </a:r>
            <a:r>
              <a:rPr lang="en-US" altLang="zh-CN" sz="2000" i="1" dirty="0">
                <a:latin typeface="+mn-ea"/>
                <a:ea typeface="+mn-ea"/>
              </a:rPr>
              <a:t>t </a:t>
            </a:r>
            <a:r>
              <a:rPr lang="zh-CN" altLang="en-US" sz="2000" dirty="0">
                <a:latin typeface="+mn-ea"/>
                <a:ea typeface="+mn-ea"/>
              </a:rPr>
              <a:t>时间，所以吞吐率为：</a:t>
            </a:r>
            <a:endParaRPr lang="zh-CN" altLang="en-US" sz="2000" dirty="0">
              <a:latin typeface="+mn-ea"/>
              <a:ea typeface="+mn-ea"/>
            </a:endParaRPr>
          </a:p>
        </p:txBody>
      </p:sp>
      <p:pic>
        <p:nvPicPr>
          <p:cNvPr id="80" name="图片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404346" y="2700553"/>
            <a:ext cx="169545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 name="矩形 6"/>
          <p:cNvSpPr>
            <a:spLocks noChangeArrowheads="1"/>
          </p:cNvSpPr>
          <p:nvPr/>
        </p:nvSpPr>
        <p:spPr bwMode="auto">
          <a:xfrm>
            <a:off x="1203278" y="3594807"/>
            <a:ext cx="7777163"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zh-CN" altLang="en-US" sz="2000" dirty="0">
                <a:latin typeface="+mn-ea"/>
                <a:ea typeface="+mn-ea"/>
              </a:rPr>
              <a:t>如果不用流水线，由于一次求积需</a:t>
            </a:r>
            <a:r>
              <a:rPr lang="en-US" altLang="zh-CN" sz="2000" dirty="0">
                <a:latin typeface="+mn-ea"/>
                <a:ea typeface="+mn-ea"/>
              </a:rPr>
              <a:t>4</a:t>
            </a:r>
            <a:r>
              <a:rPr lang="zh-CN" altLang="en-US" sz="2000" dirty="0">
                <a:latin typeface="+mn-ea"/>
                <a:ea typeface="+mn-ea"/>
              </a:rPr>
              <a:t>△</a:t>
            </a:r>
            <a:r>
              <a:rPr lang="en-US" altLang="zh-CN" sz="2000" i="1" dirty="0">
                <a:latin typeface="+mn-ea"/>
                <a:ea typeface="+mn-ea"/>
              </a:rPr>
              <a:t>t</a:t>
            </a:r>
            <a:r>
              <a:rPr lang="zh-CN" altLang="en-US" sz="2000" dirty="0">
                <a:latin typeface="+mn-ea"/>
                <a:ea typeface="+mn-ea"/>
              </a:rPr>
              <a:t>，一次求和需</a:t>
            </a:r>
            <a:r>
              <a:rPr lang="en-US" altLang="zh-CN" sz="2000" dirty="0">
                <a:latin typeface="+mn-ea"/>
                <a:ea typeface="+mn-ea"/>
              </a:rPr>
              <a:t>4</a:t>
            </a:r>
            <a:r>
              <a:rPr lang="zh-CN" altLang="en-US" sz="2000" dirty="0">
                <a:latin typeface="+mn-ea"/>
                <a:ea typeface="+mn-ea"/>
              </a:rPr>
              <a:t>△</a:t>
            </a:r>
            <a:r>
              <a:rPr lang="en-US" altLang="zh-CN" sz="2000" i="1" dirty="0">
                <a:latin typeface="+mn-ea"/>
                <a:ea typeface="+mn-ea"/>
              </a:rPr>
              <a:t>t</a:t>
            </a:r>
            <a:r>
              <a:rPr lang="zh-CN" altLang="en-US" sz="2000" dirty="0">
                <a:latin typeface="+mn-ea"/>
                <a:ea typeface="+mn-ea"/>
              </a:rPr>
              <a:t>，则执行上述</a:t>
            </a:r>
            <a:r>
              <a:rPr lang="en-US" altLang="zh-CN" sz="2000" dirty="0">
                <a:latin typeface="+mn-ea"/>
                <a:ea typeface="+mn-ea"/>
              </a:rPr>
              <a:t>7</a:t>
            </a:r>
            <a:r>
              <a:rPr lang="zh-CN" altLang="en-US" sz="2000" dirty="0">
                <a:latin typeface="+mn-ea"/>
                <a:ea typeface="+mn-ea"/>
              </a:rPr>
              <a:t>个任务共需（</a:t>
            </a:r>
            <a:r>
              <a:rPr lang="en-US" altLang="zh-CN" sz="2000" dirty="0">
                <a:latin typeface="+mn-ea"/>
                <a:ea typeface="+mn-ea"/>
              </a:rPr>
              <a:t>4×4+3×4</a:t>
            </a:r>
            <a:r>
              <a:rPr lang="zh-CN" altLang="en-US" sz="2000" dirty="0">
                <a:latin typeface="+mn-ea"/>
                <a:ea typeface="+mn-ea"/>
              </a:rPr>
              <a:t>）△</a:t>
            </a:r>
            <a:r>
              <a:rPr lang="en-US" altLang="zh-CN" sz="2000" i="1" dirty="0">
                <a:latin typeface="+mn-ea"/>
                <a:ea typeface="+mn-ea"/>
              </a:rPr>
              <a:t>t </a:t>
            </a:r>
            <a:r>
              <a:rPr lang="en-US" altLang="zh-CN" sz="2000" dirty="0">
                <a:latin typeface="+mn-ea"/>
                <a:ea typeface="+mn-ea"/>
              </a:rPr>
              <a:t>=28</a:t>
            </a:r>
            <a:r>
              <a:rPr lang="zh-CN" altLang="en-US" sz="2000" dirty="0">
                <a:latin typeface="+mn-ea"/>
                <a:ea typeface="+mn-ea"/>
              </a:rPr>
              <a:t>△</a:t>
            </a:r>
            <a:r>
              <a:rPr lang="en-US" altLang="zh-CN" sz="2000" i="1" dirty="0">
                <a:latin typeface="+mn-ea"/>
                <a:ea typeface="+mn-ea"/>
              </a:rPr>
              <a:t>t</a:t>
            </a:r>
            <a:r>
              <a:rPr lang="zh-CN" altLang="en-US" sz="2000" dirty="0">
                <a:latin typeface="+mn-ea"/>
                <a:ea typeface="+mn-ea"/>
              </a:rPr>
              <a:t>。所以加速比为：</a:t>
            </a:r>
            <a:endParaRPr lang="zh-CN" altLang="en-US" sz="2000" dirty="0">
              <a:latin typeface="+mn-ea"/>
              <a:ea typeface="+mn-ea"/>
            </a:endParaRPr>
          </a:p>
        </p:txBody>
      </p:sp>
      <p:pic>
        <p:nvPicPr>
          <p:cNvPr id="82" name="图片 7"/>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40052" y="4556340"/>
            <a:ext cx="2309812"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 name="矩形 8"/>
          <p:cNvSpPr>
            <a:spLocks noChangeArrowheads="1"/>
          </p:cNvSpPr>
          <p:nvPr/>
        </p:nvSpPr>
        <p:spPr bwMode="auto">
          <a:xfrm>
            <a:off x="1188990" y="5416765"/>
            <a:ext cx="8353425" cy="50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zh-CN" altLang="en-US" sz="2000" dirty="0">
                <a:latin typeface="+mn-ea"/>
                <a:ea typeface="+mn-ea"/>
              </a:rPr>
              <a:t>该流水线的效率可由阴影区的面积和</a:t>
            </a:r>
            <a:r>
              <a:rPr lang="en-US" altLang="zh-CN" sz="2000" dirty="0">
                <a:latin typeface="+mn-ea"/>
                <a:ea typeface="+mn-ea"/>
              </a:rPr>
              <a:t>5 </a:t>
            </a:r>
            <a:r>
              <a:rPr lang="zh-CN" altLang="en-US" sz="2000" dirty="0">
                <a:latin typeface="+mn-ea"/>
                <a:ea typeface="+mn-ea"/>
              </a:rPr>
              <a:t>个段总时空区的面积的比值求得：</a:t>
            </a:r>
            <a:endParaRPr lang="zh-CN" altLang="en-US" sz="2000" dirty="0">
              <a:latin typeface="+mn-ea"/>
              <a:ea typeface="+mn-ea"/>
            </a:endParaRPr>
          </a:p>
        </p:txBody>
      </p:sp>
      <p:pic>
        <p:nvPicPr>
          <p:cNvPr id="84" name="图片 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232898" y="5975350"/>
            <a:ext cx="2914650"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439217" y="2147216"/>
            <a:ext cx="2413024" cy="3269549"/>
          </a:xfrm>
          <a:prstGeom prst="rect">
            <a:avLst/>
          </a:prstGeom>
          <a:solidFill>
            <a:schemeClr val="accent5">
              <a:lumMod val="40000"/>
              <a:lumOff val="60000"/>
            </a:schemeClr>
          </a:solidFill>
        </p:spPr>
        <p:txBody>
          <a:bodyPr wrap="square" rtlCol="0">
            <a:spAutoFit/>
          </a:bodyPr>
          <a:lstStyle/>
          <a:p>
            <a:pPr>
              <a:lnSpc>
                <a:spcPct val="150000"/>
              </a:lnSpc>
            </a:pPr>
            <a:r>
              <a:rPr kumimoji="1" lang="zh-CN" altLang="en-US" sz="2000" i="1" dirty="0">
                <a:latin typeface="+mn-ea"/>
              </a:rPr>
              <a:t>如果是静态流水线调度， 执行任务花费的时间是</a:t>
            </a:r>
            <a:r>
              <a:rPr kumimoji="1" lang="en-US" altLang="zh-CN" sz="2000" i="1" dirty="0">
                <a:latin typeface="+mn-ea"/>
              </a:rPr>
              <a:t>19</a:t>
            </a:r>
            <a:r>
              <a:rPr lang="zh-CN" altLang="en-US" sz="2000" i="1" dirty="0">
                <a:latin typeface="+mn-ea"/>
              </a:rPr>
              <a:t>个△</a:t>
            </a:r>
            <a:r>
              <a:rPr lang="en-US" altLang="zh-CN" sz="2000" i="1" dirty="0">
                <a:latin typeface="+mn-ea"/>
              </a:rPr>
              <a:t>t </a:t>
            </a:r>
            <a:r>
              <a:rPr lang="zh-CN" altLang="en-US" sz="2000" i="1" dirty="0">
                <a:latin typeface="+mn-ea"/>
              </a:rPr>
              <a:t>。</a:t>
            </a:r>
            <a:endParaRPr lang="en-US" altLang="zh-CN" sz="2000" i="1" dirty="0">
              <a:latin typeface="+mn-ea"/>
            </a:endParaRPr>
          </a:p>
          <a:p>
            <a:pPr>
              <a:lnSpc>
                <a:spcPct val="150000"/>
              </a:lnSpc>
            </a:pPr>
            <a:endParaRPr kumimoji="1" lang="en-US" altLang="zh-CN" sz="2000" i="1" dirty="0">
              <a:latin typeface="+mn-ea"/>
            </a:endParaRPr>
          </a:p>
          <a:p>
            <a:pPr>
              <a:lnSpc>
                <a:spcPct val="150000"/>
              </a:lnSpc>
            </a:pPr>
            <a:r>
              <a:rPr kumimoji="1" lang="zh-CN" altLang="en-US" sz="2000" i="1" dirty="0">
                <a:latin typeface="+mn-ea"/>
              </a:rPr>
              <a:t>思考：为什么现在的机器很少用动态流水线调度策略？</a:t>
            </a:r>
            <a:endParaRPr kumimoji="1" lang="zh-CN" altLang="en-US" sz="2000" i="1"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25627"/>
    </mc:Choice>
    <mc:Fallback>
      <p:transition spd="slow" advTm="225627"/>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26705"/>
            <a:ext cx="954241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3.10</a:t>
              </a:r>
              <a:r>
                <a:rPr lang="zh-CN" altLang="en-US" sz="3600" b="1" dirty="0">
                  <a:solidFill>
                    <a:schemeClr val="accent1"/>
                  </a:solidFill>
                  <a:latin typeface="+mn-ea"/>
                  <a:sym typeface="+mn-ea"/>
                </a:rPr>
                <a:t>（</a:t>
              </a:r>
              <a:r>
                <a:rPr lang="zh-CN" altLang="zh-CN" sz="3600" b="1" dirty="0">
                  <a:solidFill>
                    <a:schemeClr val="accent1"/>
                  </a:solidFill>
                  <a:latin typeface="+mn-ea"/>
                </a:rPr>
                <a:t>单功能非线性流水线调度</a:t>
              </a:r>
              <a:r>
                <a:rPr lang="zh-CN" altLang="en-US" sz="3600" b="1" dirty="0">
                  <a:solidFill>
                    <a:schemeClr val="accent1"/>
                  </a:solidFill>
                  <a:latin typeface="+mn-ea"/>
                  <a:sym typeface="+mn-ea"/>
                </a:rPr>
                <a:t>）</a:t>
              </a:r>
              <a:endParaRPr lang="zh-CN" altLang="en-US" sz="3600" b="1" dirty="0">
                <a:solidFill>
                  <a:schemeClr val="accent1"/>
                </a:solidFill>
                <a:latin typeface="+mn-ea"/>
                <a:sym typeface="+mn-ea"/>
              </a:endParaRPr>
            </a:p>
          </p:txBody>
        </p:sp>
      </p:grpSp>
      <p:sp>
        <p:nvSpPr>
          <p:cNvPr id="19" name="内容占位符 2"/>
          <p:cNvSpPr txBox="1"/>
          <p:nvPr/>
        </p:nvSpPr>
        <p:spPr>
          <a:xfrm>
            <a:off x="492241" y="1610917"/>
            <a:ext cx="9818198" cy="43180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400" dirty="0">
                <a:latin typeface="+mn-ea"/>
              </a:rPr>
              <a:t>3.10</a:t>
            </a:r>
            <a:r>
              <a:rPr lang="zh-CN" altLang="en-US" sz="2400" dirty="0">
                <a:latin typeface="+mn-ea"/>
              </a:rPr>
              <a:t>    有一个</a:t>
            </a:r>
            <a:r>
              <a:rPr lang="en-US" altLang="zh-CN" sz="2400" dirty="0">
                <a:latin typeface="+mn-ea"/>
              </a:rPr>
              <a:t>5</a:t>
            </a:r>
            <a:r>
              <a:rPr lang="zh-CN" altLang="en-US" sz="2400" dirty="0">
                <a:latin typeface="+mn-ea"/>
              </a:rPr>
              <a:t>段流水线，各段执行时间均为</a:t>
            </a:r>
            <a:r>
              <a:rPr lang="en-US" altLang="zh-CN" sz="2400" dirty="0">
                <a:latin typeface="+mn-ea"/>
              </a:rPr>
              <a:t>∆</a:t>
            </a:r>
            <a:r>
              <a:rPr lang="en-US" altLang="zh-CN" sz="2400" i="1" dirty="0">
                <a:latin typeface="+mn-ea"/>
              </a:rPr>
              <a:t>t</a:t>
            </a:r>
            <a:r>
              <a:rPr lang="zh-CN" altLang="en-US" sz="2400" dirty="0">
                <a:latin typeface="+mn-ea"/>
              </a:rPr>
              <a:t>，其预约表如下：</a:t>
            </a:r>
            <a:endParaRPr lang="zh-CN" altLang="en-US" sz="2400" dirty="0">
              <a:latin typeface="+mn-ea"/>
            </a:endParaRPr>
          </a:p>
        </p:txBody>
      </p:sp>
      <p:sp>
        <p:nvSpPr>
          <p:cNvPr id="22" name="内容占位符 2"/>
          <p:cNvSpPr txBox="1"/>
          <p:nvPr/>
        </p:nvSpPr>
        <p:spPr bwMode="auto">
          <a:xfrm>
            <a:off x="659842" y="4584994"/>
            <a:ext cx="11049937" cy="201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marL="457200" indent="-457200">
              <a:lnSpc>
                <a:spcPct val="130000"/>
              </a:lnSpc>
              <a:buClr>
                <a:schemeClr val="hlink"/>
              </a:buClr>
              <a:buSzTx/>
              <a:buFont typeface="+mj-lt"/>
              <a:buAutoNum type="arabicPeriod"/>
            </a:pPr>
            <a:r>
              <a:rPr lang="zh-CN" altLang="en-US" sz="2400" dirty="0">
                <a:latin typeface="+mn-ea"/>
                <a:ea typeface="+mn-ea"/>
              </a:rPr>
              <a:t>画出流水线任务调度的状态转移图。</a:t>
            </a:r>
            <a:endParaRPr lang="en-US" altLang="zh-CN" sz="2400" dirty="0">
              <a:latin typeface="+mn-ea"/>
              <a:ea typeface="+mn-ea"/>
            </a:endParaRPr>
          </a:p>
          <a:p>
            <a:pPr marL="457200" indent="-457200">
              <a:lnSpc>
                <a:spcPct val="130000"/>
              </a:lnSpc>
              <a:buClr>
                <a:schemeClr val="hlink"/>
              </a:buClr>
              <a:buSzTx/>
              <a:buFont typeface="+mj-lt"/>
              <a:buAutoNum type="arabicPeriod"/>
            </a:pPr>
            <a:r>
              <a:rPr lang="zh-CN" altLang="en-US" sz="2400" dirty="0">
                <a:latin typeface="+mn-ea"/>
                <a:ea typeface="+mn-ea"/>
              </a:rPr>
              <a:t>分别求出允许不等时间间隔调度和等时间间隔调度的两种最优调度策略，以及这两种调度策略的流水线最大吞吐率。</a:t>
            </a:r>
            <a:endParaRPr lang="en-US" altLang="zh-CN" sz="2400" dirty="0">
              <a:latin typeface="+mn-ea"/>
              <a:ea typeface="+mn-ea"/>
            </a:endParaRPr>
          </a:p>
          <a:p>
            <a:pPr marL="457200" indent="-457200">
              <a:lnSpc>
                <a:spcPct val="130000"/>
              </a:lnSpc>
              <a:buClr>
                <a:schemeClr val="hlink"/>
              </a:buClr>
              <a:buSzTx/>
              <a:buFont typeface="+mj-lt"/>
              <a:buAutoNum type="arabicPeriod"/>
            </a:pPr>
            <a:r>
              <a:rPr lang="zh-CN" altLang="en-US" sz="2400" dirty="0">
                <a:latin typeface="+mn-ea"/>
                <a:ea typeface="+mn-ea"/>
              </a:rPr>
              <a:t>若连续输入</a:t>
            </a:r>
            <a:r>
              <a:rPr lang="en-US" altLang="zh-CN" sz="2400" dirty="0">
                <a:latin typeface="+mn-ea"/>
                <a:ea typeface="+mn-ea"/>
              </a:rPr>
              <a:t>10</a:t>
            </a:r>
            <a:r>
              <a:rPr lang="zh-CN" altLang="en-US" sz="2400" dirty="0">
                <a:latin typeface="+mn-ea"/>
                <a:ea typeface="+mn-ea"/>
              </a:rPr>
              <a:t>个任务，求这两种调度策略的流水线实际吞吐率和加速比。</a:t>
            </a:r>
            <a:endParaRPr lang="zh-CN" altLang="en-US" sz="2400" dirty="0">
              <a:latin typeface="+mn-ea"/>
              <a:ea typeface="+mn-ea"/>
            </a:endParaRPr>
          </a:p>
        </p:txBody>
      </p:sp>
      <p:pic>
        <p:nvPicPr>
          <p:cNvPr id="2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85103" y="2294638"/>
            <a:ext cx="5832475" cy="212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25233"/>
    </mc:Choice>
    <mc:Fallback>
      <p:transition spd="slow" advTm="12523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26705"/>
            <a:ext cx="954241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3.10</a:t>
              </a:r>
              <a:r>
                <a:rPr lang="zh-CN" altLang="en-US" sz="3600" b="1" dirty="0">
                  <a:solidFill>
                    <a:schemeClr val="accent1"/>
                  </a:solidFill>
                  <a:latin typeface="+mn-ea"/>
                  <a:sym typeface="+mn-ea"/>
                </a:rPr>
                <a:t>（</a:t>
              </a:r>
              <a:r>
                <a:rPr lang="zh-CN" altLang="zh-CN" sz="3600" b="1" dirty="0">
                  <a:solidFill>
                    <a:schemeClr val="accent1"/>
                  </a:solidFill>
                  <a:latin typeface="+mn-ea"/>
                </a:rPr>
                <a:t>单功能非线性流水线调度</a:t>
              </a:r>
              <a:r>
                <a:rPr lang="zh-CN" altLang="en-US" sz="3600" b="1" dirty="0">
                  <a:solidFill>
                    <a:schemeClr val="accent1"/>
                  </a:solidFill>
                  <a:latin typeface="+mn-ea"/>
                  <a:sym typeface="+mn-ea"/>
                </a:rPr>
                <a:t>）</a:t>
              </a:r>
              <a:endParaRPr lang="zh-CN" altLang="en-US" sz="3600" b="1" dirty="0">
                <a:solidFill>
                  <a:schemeClr val="accent1"/>
                </a:solidFill>
                <a:latin typeface="+mn-ea"/>
                <a:sym typeface="+mn-ea"/>
              </a:endParaRPr>
            </a:p>
          </p:txBody>
        </p:sp>
      </p:grpSp>
      <p:sp>
        <p:nvSpPr>
          <p:cNvPr id="14" name="矩形 7"/>
          <p:cNvSpPr>
            <a:spLocks noChangeArrowheads="1"/>
          </p:cNvSpPr>
          <p:nvPr/>
        </p:nvSpPr>
        <p:spPr bwMode="auto">
          <a:xfrm>
            <a:off x="368454" y="1340476"/>
            <a:ext cx="6888163" cy="3731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zh-CN" altLang="en-US" sz="2000" dirty="0">
                <a:latin typeface="+mn-ea"/>
                <a:ea typeface="+mn-ea"/>
              </a:rPr>
              <a:t>解：</a:t>
            </a:r>
            <a:endParaRPr lang="en-US" altLang="zh-CN" sz="2000" dirty="0">
              <a:latin typeface="+mn-ea"/>
              <a:ea typeface="+mn-ea"/>
            </a:endParaRPr>
          </a:p>
          <a:p>
            <a:pPr marL="457200" indent="-457200">
              <a:lnSpc>
                <a:spcPct val="150000"/>
              </a:lnSpc>
              <a:spcBef>
                <a:spcPct val="0"/>
              </a:spcBef>
              <a:buClrTx/>
              <a:buSzTx/>
              <a:buFontTx/>
              <a:buAutoNum type="arabicParenBoth"/>
            </a:pPr>
            <a:r>
              <a:rPr lang="zh-CN" altLang="en-US" sz="2000" dirty="0">
                <a:latin typeface="+mn-ea"/>
                <a:ea typeface="+mn-ea"/>
              </a:rPr>
              <a:t>由预约表可得</a:t>
            </a:r>
            <a:endParaRPr lang="en-US" altLang="zh-CN" sz="2000" dirty="0">
              <a:latin typeface="+mn-ea"/>
              <a:ea typeface="+mn-ea"/>
            </a:endParaRPr>
          </a:p>
          <a:p>
            <a:pPr>
              <a:lnSpc>
                <a:spcPct val="150000"/>
              </a:lnSpc>
              <a:spcBef>
                <a:spcPct val="0"/>
              </a:spcBef>
              <a:buClrTx/>
              <a:buSzTx/>
              <a:buNone/>
            </a:pPr>
            <a:r>
              <a:rPr lang="zh-CN" altLang="en-US" sz="2000" dirty="0">
                <a:latin typeface="+mn-ea"/>
                <a:ea typeface="+mn-ea"/>
              </a:rPr>
              <a:t>      功能段</a:t>
            </a:r>
            <a:r>
              <a:rPr lang="en-US" altLang="zh-CN" sz="2000" dirty="0">
                <a:latin typeface="+mn-ea"/>
                <a:ea typeface="+mn-ea"/>
              </a:rPr>
              <a:t>S1</a:t>
            </a:r>
            <a:r>
              <a:rPr lang="zh-CN" altLang="en-US" sz="2000" dirty="0">
                <a:latin typeface="+mn-ea"/>
                <a:ea typeface="+mn-ea"/>
              </a:rPr>
              <a:t>， 禁止启动距离</a:t>
            </a:r>
            <a:r>
              <a:rPr lang="en-US" altLang="zh-CN" sz="2000" dirty="0">
                <a:latin typeface="+mn-ea"/>
                <a:ea typeface="+mn-ea"/>
              </a:rPr>
              <a:t>7-1=6</a:t>
            </a:r>
            <a:r>
              <a:rPr lang="zh-CN" altLang="en-US" sz="2000" dirty="0">
                <a:latin typeface="+mn-ea"/>
                <a:ea typeface="+mn-ea"/>
              </a:rPr>
              <a:t>；</a:t>
            </a:r>
            <a:endParaRPr lang="en-US" altLang="zh-CN" sz="2000" dirty="0">
              <a:latin typeface="+mn-ea"/>
              <a:ea typeface="+mn-ea"/>
            </a:endParaRPr>
          </a:p>
          <a:p>
            <a:pPr>
              <a:lnSpc>
                <a:spcPct val="150000"/>
              </a:lnSpc>
              <a:spcBef>
                <a:spcPct val="0"/>
              </a:spcBef>
              <a:buClrTx/>
              <a:buSzTx/>
              <a:buNone/>
            </a:pPr>
            <a:r>
              <a:rPr lang="zh-CN" altLang="en-US" sz="2000" dirty="0">
                <a:latin typeface="+mn-ea"/>
                <a:ea typeface="+mn-ea"/>
              </a:rPr>
              <a:t>      功能段</a:t>
            </a:r>
            <a:r>
              <a:rPr lang="en-US" altLang="zh-CN" sz="2000" dirty="0">
                <a:latin typeface="+mn-ea"/>
                <a:ea typeface="+mn-ea"/>
              </a:rPr>
              <a:t>S2</a:t>
            </a:r>
            <a:r>
              <a:rPr lang="zh-CN" altLang="en-US" sz="2000" dirty="0">
                <a:latin typeface="+mn-ea"/>
                <a:ea typeface="+mn-ea"/>
              </a:rPr>
              <a:t>，禁止启动距离</a:t>
            </a:r>
            <a:r>
              <a:rPr lang="en-US" altLang="zh-CN" sz="2000" dirty="0">
                <a:latin typeface="+mn-ea"/>
                <a:ea typeface="+mn-ea"/>
              </a:rPr>
              <a:t>5-2=3</a:t>
            </a:r>
            <a:r>
              <a:rPr lang="zh-CN" altLang="en-US" sz="2000" dirty="0">
                <a:latin typeface="+mn-ea"/>
                <a:ea typeface="+mn-ea"/>
              </a:rPr>
              <a:t>；</a:t>
            </a:r>
            <a:endParaRPr lang="en-US" altLang="zh-CN" sz="2000" dirty="0">
              <a:latin typeface="+mn-ea"/>
              <a:ea typeface="+mn-ea"/>
            </a:endParaRPr>
          </a:p>
          <a:p>
            <a:pPr>
              <a:lnSpc>
                <a:spcPct val="150000"/>
              </a:lnSpc>
              <a:spcBef>
                <a:spcPct val="0"/>
              </a:spcBef>
              <a:buClrTx/>
              <a:buSzTx/>
              <a:buNone/>
            </a:pPr>
            <a:r>
              <a:rPr lang="zh-CN" altLang="en-US" sz="2000" dirty="0">
                <a:latin typeface="+mn-ea"/>
                <a:ea typeface="+mn-ea"/>
              </a:rPr>
              <a:t>      功能段</a:t>
            </a:r>
            <a:r>
              <a:rPr lang="en-US" altLang="zh-CN" sz="2000" dirty="0">
                <a:latin typeface="+mn-ea"/>
                <a:ea typeface="+mn-ea"/>
              </a:rPr>
              <a:t>S3</a:t>
            </a:r>
            <a:r>
              <a:rPr lang="zh-CN" altLang="en-US" sz="2000" dirty="0">
                <a:latin typeface="+mn-ea"/>
                <a:ea typeface="+mn-ea"/>
              </a:rPr>
              <a:t>，禁止启动距离</a:t>
            </a:r>
            <a:r>
              <a:rPr lang="en-US" altLang="zh-CN" sz="2000" dirty="0">
                <a:latin typeface="+mn-ea"/>
                <a:ea typeface="+mn-ea"/>
              </a:rPr>
              <a:t>4-3=1</a:t>
            </a:r>
            <a:r>
              <a:rPr lang="zh-CN" altLang="en-US" sz="2000" dirty="0">
                <a:latin typeface="+mn-ea"/>
                <a:ea typeface="+mn-ea"/>
              </a:rPr>
              <a:t>；</a:t>
            </a:r>
            <a:endParaRPr lang="en-US" altLang="zh-CN" sz="2000" dirty="0">
              <a:latin typeface="+mn-ea"/>
              <a:ea typeface="+mn-ea"/>
            </a:endParaRPr>
          </a:p>
          <a:p>
            <a:pPr>
              <a:lnSpc>
                <a:spcPct val="150000"/>
              </a:lnSpc>
              <a:spcBef>
                <a:spcPct val="0"/>
              </a:spcBef>
              <a:buClrTx/>
              <a:buSzTx/>
              <a:buNone/>
            </a:pPr>
            <a:r>
              <a:rPr lang="zh-CN" altLang="en-US" sz="2000" dirty="0">
                <a:latin typeface="+mn-ea"/>
                <a:ea typeface="+mn-ea"/>
              </a:rPr>
              <a:t>      功能段</a:t>
            </a:r>
            <a:r>
              <a:rPr lang="en-US" altLang="zh-CN" sz="2000" dirty="0">
                <a:latin typeface="+mn-ea"/>
                <a:ea typeface="+mn-ea"/>
              </a:rPr>
              <a:t>S4</a:t>
            </a:r>
            <a:r>
              <a:rPr lang="zh-CN" altLang="en-US" sz="2000" dirty="0">
                <a:latin typeface="+mn-ea"/>
                <a:ea typeface="+mn-ea"/>
              </a:rPr>
              <a:t>，禁止启动距离</a:t>
            </a:r>
            <a:r>
              <a:rPr lang="en-US" altLang="zh-CN" sz="2000" dirty="0">
                <a:latin typeface="+mn-ea"/>
                <a:ea typeface="+mn-ea"/>
              </a:rPr>
              <a:t>7-4=3</a:t>
            </a:r>
            <a:r>
              <a:rPr lang="zh-CN" altLang="en-US" sz="2000" dirty="0">
                <a:latin typeface="+mn-ea"/>
                <a:ea typeface="+mn-ea"/>
              </a:rPr>
              <a:t>；</a:t>
            </a:r>
            <a:endParaRPr lang="en-US" altLang="zh-CN" sz="2000" dirty="0">
              <a:latin typeface="+mn-ea"/>
              <a:ea typeface="+mn-ea"/>
            </a:endParaRPr>
          </a:p>
          <a:p>
            <a:pPr>
              <a:lnSpc>
                <a:spcPct val="150000"/>
              </a:lnSpc>
              <a:spcBef>
                <a:spcPct val="0"/>
              </a:spcBef>
              <a:buClrTx/>
              <a:buSzTx/>
              <a:buNone/>
            </a:pPr>
            <a:r>
              <a:rPr lang="zh-CN" altLang="en-US" sz="2000" dirty="0">
                <a:latin typeface="+mn-ea"/>
                <a:ea typeface="+mn-ea"/>
              </a:rPr>
              <a:t>      功能段</a:t>
            </a:r>
            <a:r>
              <a:rPr lang="en-US" altLang="zh-CN" sz="2000" dirty="0">
                <a:latin typeface="+mn-ea"/>
                <a:ea typeface="+mn-ea"/>
              </a:rPr>
              <a:t>S5</a:t>
            </a:r>
            <a:r>
              <a:rPr lang="zh-CN" altLang="en-US" sz="2000" dirty="0">
                <a:latin typeface="+mn-ea"/>
                <a:ea typeface="+mn-ea"/>
              </a:rPr>
              <a:t>，禁止启动距离</a:t>
            </a:r>
            <a:r>
              <a:rPr lang="en-US" altLang="zh-CN" sz="2000" dirty="0">
                <a:latin typeface="+mn-ea"/>
                <a:ea typeface="+mn-ea"/>
              </a:rPr>
              <a:t>6-5=1</a:t>
            </a:r>
            <a:r>
              <a:rPr lang="zh-CN" altLang="en-US" sz="2000" dirty="0">
                <a:latin typeface="+mn-ea"/>
                <a:ea typeface="+mn-ea"/>
              </a:rPr>
              <a:t>；</a:t>
            </a:r>
            <a:endParaRPr lang="en-US" altLang="zh-CN" sz="2000" dirty="0">
              <a:latin typeface="+mn-ea"/>
              <a:ea typeface="+mn-ea"/>
            </a:endParaRPr>
          </a:p>
          <a:p>
            <a:pPr>
              <a:lnSpc>
                <a:spcPct val="150000"/>
              </a:lnSpc>
              <a:spcBef>
                <a:spcPct val="0"/>
              </a:spcBef>
              <a:buClrTx/>
              <a:buSzTx/>
              <a:buNone/>
            </a:pPr>
            <a:r>
              <a:rPr lang="zh-CN" altLang="en-US" sz="2000" dirty="0">
                <a:latin typeface="+mn-ea"/>
                <a:ea typeface="+mn-ea"/>
              </a:rPr>
              <a:t>      去掉重复的， 所以禁止表为</a:t>
            </a:r>
            <a:r>
              <a:rPr lang="en-US" altLang="zh-CN" sz="2000" dirty="0">
                <a:latin typeface="+mn-ea"/>
              </a:rPr>
              <a:t>F={6,3,1}</a:t>
            </a:r>
            <a:endParaRPr lang="en-US" altLang="zh-CN" sz="2000" dirty="0">
              <a:latin typeface="+mn-ea"/>
              <a:ea typeface="+mn-ea"/>
            </a:endParaRPr>
          </a:p>
        </p:txBody>
      </p:sp>
      <p:pic>
        <p:nvPicPr>
          <p:cNvPr id="17"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929374" y="2510149"/>
            <a:ext cx="5221581" cy="1903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68453" y="5071690"/>
            <a:ext cx="6888163" cy="830997"/>
          </a:xfrm>
          <a:prstGeom prst="rect">
            <a:avLst/>
          </a:prstGeom>
          <a:noFill/>
        </p:spPr>
        <p:txBody>
          <a:bodyPr wrap="square" rtlCol="0">
            <a:spAutoFit/>
          </a:bodyPr>
          <a:lstStyle/>
          <a:p>
            <a:pPr marL="457200" indent="-457200">
              <a:lnSpc>
                <a:spcPct val="150000"/>
              </a:lnSpc>
              <a:spcBef>
                <a:spcPct val="0"/>
              </a:spcBef>
              <a:buClrTx/>
              <a:buSzTx/>
              <a:buFont typeface="Wingdings" panose="05000000000000000000" pitchFamily="2" charset="2"/>
              <a:buAutoNum type="arabicParenBoth" startAt="2"/>
            </a:pPr>
            <a:r>
              <a:rPr lang="zh-CN" altLang="en-US" sz="2000" dirty="0">
                <a:latin typeface="+mn-ea"/>
              </a:rPr>
              <a:t>根据初始冲突向量定义，初始冲突向量</a:t>
            </a:r>
            <a:r>
              <a:rPr lang="en-US" altLang="zh-CN" sz="2000" dirty="0">
                <a:latin typeface="+mn-ea"/>
              </a:rPr>
              <a:t>C</a:t>
            </a:r>
            <a:r>
              <a:rPr lang="en-US" altLang="zh-CN" sz="2000" baseline="-25000" dirty="0">
                <a:latin typeface="+mn-ea"/>
              </a:rPr>
              <a:t>0</a:t>
            </a:r>
            <a:r>
              <a:rPr lang="en-US" altLang="zh-CN" sz="2000" dirty="0">
                <a:latin typeface="+mn-ea"/>
              </a:rPr>
              <a:t>=</a:t>
            </a:r>
            <a:r>
              <a:rPr lang="zh-CN" altLang="en-US" sz="2000" dirty="0">
                <a:latin typeface="+mn-ea"/>
              </a:rPr>
              <a:t>（</a:t>
            </a:r>
            <a:r>
              <a:rPr lang="en-US" altLang="zh-CN" sz="2000" dirty="0">
                <a:latin typeface="+mn-ea"/>
              </a:rPr>
              <a:t>100101</a:t>
            </a:r>
            <a:r>
              <a:rPr lang="zh-CN" altLang="en-US" sz="2000" dirty="0">
                <a:latin typeface="+mn-ea"/>
              </a:rPr>
              <a:t>）</a:t>
            </a:r>
            <a:endParaRPr lang="en-US" altLang="zh-CN" sz="2000" dirty="0">
              <a:latin typeface="+mn-ea"/>
            </a:endParaRPr>
          </a:p>
          <a:p>
            <a:endParaRPr kumimoji="1" lang="zh-CN" altLang="en-US" dirty="0"/>
          </a:p>
        </p:txBody>
      </p:sp>
      <mc:AlternateContent xmlns:mc="http://schemas.openxmlformats.org/markup-compatibility/2006">
        <mc:Choice xmlns:a14="http://schemas.microsoft.com/office/drawing/2010/main" Requires="a14">
          <p:sp>
            <p:nvSpPr>
              <p:cNvPr id="3" name="文本框 2"/>
              <p:cNvSpPr txBox="1"/>
              <p:nvPr/>
            </p:nvSpPr>
            <p:spPr>
              <a:xfrm>
                <a:off x="811109" y="5730210"/>
                <a:ext cx="2546239" cy="686535"/>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sSub>
                        <m:sSubPr>
                          <m:ctrlPr>
                            <a:rPr kumimoji="1" lang="en-US" altLang="zh-CN" sz="2000" i="1" smtClean="0">
                              <a:latin typeface="Cambria Math" panose="02040503050406030204" pitchFamily="18" charset="0"/>
                            </a:rPr>
                          </m:ctrlPr>
                        </m:sSubPr>
                        <m:e>
                          <m:r>
                            <m:rPr>
                              <m:sty m:val="p"/>
                            </m:rPr>
                            <a:rPr kumimoji="1" lang="en-US" altLang="zh-CN" sz="2000" i="1">
                              <a:latin typeface="Cambria Math" panose="02040503050406030204" pitchFamily="18" charset="0"/>
                            </a:rPr>
                            <m:t>C</m:t>
                          </m:r>
                        </m:e>
                        <m:sub>
                          <m:r>
                            <a:rPr kumimoji="1" lang="en-US" altLang="zh-CN" sz="2000" b="0" i="1" smtClean="0">
                              <a:latin typeface="Cambria Math" panose="02040503050406030204" pitchFamily="18" charset="0"/>
                            </a:rPr>
                            <m:t>𝑖</m:t>
                          </m:r>
                        </m:sub>
                      </m:sSub>
                      <m:r>
                        <a:rPr kumimoji="1" lang="en-US" altLang="zh-CN" sz="2000" i="1" smtClean="0">
                          <a:latin typeface="Cambria Math" panose="02040503050406030204" pitchFamily="18" charset="0"/>
                          <a:ea typeface="Cambria Math" panose="02040503050406030204" pitchFamily="18" charset="0"/>
                        </a:rPr>
                        <m:t>=</m:t>
                      </m:r>
                      <m:d>
                        <m:dPr>
                          <m:begChr m:val="{"/>
                          <m:endChr m:val=""/>
                          <m:ctrlPr>
                            <a:rPr kumimoji="1" lang="en-US" altLang="zh-CN" sz="2000" i="1" smtClean="0">
                              <a:latin typeface="Cambria Math" panose="02040503050406030204" pitchFamily="18" charset="0"/>
                              <a:ea typeface="Cambria Math" panose="02040503050406030204" pitchFamily="18" charset="0"/>
                            </a:rPr>
                          </m:ctrlPr>
                        </m:dPr>
                        <m:e>
                          <m:eqArr>
                            <m:eqArrPr>
                              <m:ctrlPr>
                                <a:rPr kumimoji="1" lang="en-US" altLang="zh-CN" sz="2000" i="1" smtClean="0">
                                  <a:latin typeface="Cambria Math" panose="02040503050406030204" pitchFamily="18" charset="0"/>
                                  <a:ea typeface="Cambria Math" panose="02040503050406030204" pitchFamily="18" charset="0"/>
                                </a:rPr>
                              </m:ctrlPr>
                            </m:eqArrPr>
                            <m:e>
                              <m:r>
                                <a:rPr kumimoji="1" lang="en-US" altLang="zh-CN" sz="2000" b="0" i="1" smtClean="0">
                                  <a:latin typeface="Cambria Math" panose="02040503050406030204" pitchFamily="18" charset="0"/>
                                  <a:ea typeface="Cambria Math" panose="02040503050406030204" pitchFamily="18" charset="0"/>
                                </a:rPr>
                                <m:t>1</m:t>
                              </m:r>
                              <m:r>
                                <a:rPr kumimoji="1" lang="en-US" altLang="zh-CN" sz="2000" i="1" smtClean="0">
                                  <a:latin typeface="Cambria Math" panose="02040503050406030204" pitchFamily="18" charset="0"/>
                                  <a:ea typeface="Cambria Math" panose="02040503050406030204" pitchFamily="18" charset="0"/>
                                </a:rPr>
                                <m:t>,  </m:t>
                              </m:r>
                              <m:r>
                                <a:rPr kumimoji="1" lang="en-US" altLang="zh-CN" sz="2000" b="0" i="1" smtClean="0">
                                  <a:latin typeface="Cambria Math" panose="02040503050406030204" pitchFamily="18" charset="0"/>
                                  <a:ea typeface="Cambria Math" panose="02040503050406030204" pitchFamily="18" charset="0"/>
                                </a:rPr>
                                <m:t>𝑖</m:t>
                              </m:r>
                              <m:r>
                                <a:rPr kumimoji="1" lang="en-US" altLang="zh-CN" sz="2000" i="1">
                                  <a:latin typeface="Cambria Math" panose="02040503050406030204" pitchFamily="18" charset="0"/>
                                  <a:ea typeface="Cambria Math" panose="02040503050406030204" pitchFamily="18" charset="0"/>
                                </a:rPr>
                                <m:t>∈</m:t>
                              </m:r>
                              <m:r>
                                <a:rPr kumimoji="1" lang="en-US" altLang="zh-CN" sz="2000" b="0" i="1" smtClean="0">
                                  <a:latin typeface="Cambria Math" panose="02040503050406030204" pitchFamily="18" charset="0"/>
                                  <a:ea typeface="Cambria Math" panose="02040503050406030204" pitchFamily="18" charset="0"/>
                                </a:rPr>
                                <m:t>𝐹</m:t>
                              </m:r>
                            </m:e>
                            <m:e>
                              <m:r>
                                <a:rPr kumimoji="1" lang="en-US" altLang="zh-CN" sz="2000" i="1" smtClean="0">
                                  <a:latin typeface="Cambria Math" panose="02040503050406030204" pitchFamily="18" charset="0"/>
                                  <a:ea typeface="Cambria Math" panose="02040503050406030204" pitchFamily="18" charset="0"/>
                                </a:rPr>
                                <m:t>&amp;</m:t>
                              </m:r>
                              <m:r>
                                <a:rPr kumimoji="1" lang="en-US" altLang="zh-CN" sz="2000" b="0" i="1" smtClean="0">
                                  <a:latin typeface="Cambria Math" panose="02040503050406030204" pitchFamily="18" charset="0"/>
                                  <a:ea typeface="Cambria Math" panose="02040503050406030204" pitchFamily="18" charset="0"/>
                                </a:rPr>
                                <m:t>0</m:t>
                              </m:r>
                              <m:r>
                                <a:rPr kumimoji="1" lang="en-US" altLang="zh-CN" sz="2000" i="1" smtClean="0">
                                  <a:latin typeface="Cambria Math" panose="02040503050406030204" pitchFamily="18" charset="0"/>
                                  <a:ea typeface="Cambria Math" panose="02040503050406030204" pitchFamily="18" charset="0"/>
                                </a:rPr>
                                <m:t>,  </m:t>
                              </m:r>
                              <m:r>
                                <a:rPr kumimoji="1" lang="en-US" altLang="zh-CN" sz="2000" b="0" i="1" smtClean="0">
                                  <a:latin typeface="Cambria Math" panose="02040503050406030204" pitchFamily="18" charset="0"/>
                                  <a:ea typeface="Cambria Math" panose="02040503050406030204" pitchFamily="18" charset="0"/>
                                </a:rPr>
                                <m:t>𝑖</m:t>
                              </m:r>
                              <m:r>
                                <a:rPr kumimoji="1" lang="en-US" altLang="zh-CN" sz="2000" i="1">
                                  <a:latin typeface="Cambria Math" panose="02040503050406030204" pitchFamily="18" charset="0"/>
                                  <a:ea typeface="Cambria Math" panose="02040503050406030204" pitchFamily="18" charset="0"/>
                                </a:rPr>
                                <m:t>∉</m:t>
                              </m:r>
                              <m:r>
                                <a:rPr kumimoji="1" lang="en-US" altLang="zh-CN" sz="2000" b="0" i="1" smtClean="0">
                                  <a:latin typeface="Cambria Math" panose="02040503050406030204" pitchFamily="18" charset="0"/>
                                  <a:ea typeface="Cambria Math" panose="02040503050406030204" pitchFamily="18" charset="0"/>
                                </a:rPr>
                                <m:t>𝐹</m:t>
                              </m:r>
                            </m:e>
                          </m:eqArr>
                        </m:e>
                      </m:d>
                    </m:oMath>
                  </m:oMathPara>
                </a14:m>
                <a:endParaRPr kumimoji="1"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811109" y="5730210"/>
                <a:ext cx="2546239" cy="686535"/>
              </a:xfrm>
              <a:prstGeom prst="rect">
                <a:avLst/>
              </a:prstGeom>
              <a:blipFill rotWithShape="1">
                <a:blip r:embed="rId2"/>
                <a:stretch>
                  <a:fillRect l="-8" t="-88" r="4" b="10"/>
                </a:stretch>
              </a:blipFill>
            </p:spPr>
            <p:txBody>
              <a:bodyPr/>
              <a:lstStyle/>
              <a:p>
                <a:r>
                  <a:rPr lang="zh-CN" altLang="en-US">
                    <a:noFill/>
                  </a:rPr>
                  <a:t> </a:t>
                </a:r>
              </a:p>
            </p:txBody>
          </p:sp>
        </mc:Fallback>
      </mc:AlternateContent>
      <p:cxnSp>
        <p:nvCxnSpPr>
          <p:cNvPr id="5" name="直线箭头连接符 4"/>
          <p:cNvCxnSpPr/>
          <p:nvPr/>
        </p:nvCxnSpPr>
        <p:spPr>
          <a:xfrm flipV="1">
            <a:off x="6005014" y="5540991"/>
            <a:ext cx="0" cy="348048"/>
          </a:xfrm>
          <a:prstGeom prst="straightConnector1">
            <a:avLst/>
          </a:prstGeom>
          <a:ln w="127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847486" y="5902687"/>
            <a:ext cx="198471" cy="400110"/>
          </a:xfrm>
          <a:prstGeom prst="rect">
            <a:avLst/>
          </a:prstGeom>
          <a:noFill/>
        </p:spPr>
        <p:txBody>
          <a:bodyPr wrap="square" rtlCol="0">
            <a:spAutoFit/>
          </a:bodyPr>
          <a:lstStyle/>
          <a:p>
            <a:r>
              <a:rPr kumimoji="1" lang="en-US" altLang="zh-CN" sz="2000" dirty="0">
                <a:latin typeface="+mn-ea"/>
              </a:rPr>
              <a:t>6</a:t>
            </a:r>
            <a:endParaRPr kumimoji="1" lang="zh-CN" altLang="en-US" sz="2000" dirty="0">
              <a:latin typeface="+mn-ea"/>
            </a:endParaRPr>
          </a:p>
        </p:txBody>
      </p:sp>
      <p:cxnSp>
        <p:nvCxnSpPr>
          <p:cNvPr id="23" name="直线箭头连接符 22"/>
          <p:cNvCxnSpPr/>
          <p:nvPr/>
        </p:nvCxnSpPr>
        <p:spPr>
          <a:xfrm flipV="1">
            <a:off x="6476988" y="5527343"/>
            <a:ext cx="0" cy="348048"/>
          </a:xfrm>
          <a:prstGeom prst="straightConnector1">
            <a:avLst/>
          </a:prstGeom>
          <a:ln w="127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6319460" y="5902687"/>
            <a:ext cx="198471" cy="400110"/>
          </a:xfrm>
          <a:prstGeom prst="rect">
            <a:avLst/>
          </a:prstGeom>
          <a:noFill/>
        </p:spPr>
        <p:txBody>
          <a:bodyPr wrap="square" rtlCol="0">
            <a:spAutoFit/>
          </a:bodyPr>
          <a:lstStyle/>
          <a:p>
            <a:r>
              <a:rPr kumimoji="1" lang="en-US" altLang="zh-CN" sz="2000" dirty="0">
                <a:latin typeface="+mn-ea"/>
              </a:rPr>
              <a:t>3</a:t>
            </a:r>
            <a:endParaRPr kumimoji="1" lang="zh-CN" altLang="en-US" sz="2000" dirty="0">
              <a:latin typeface="+mn-ea"/>
            </a:endParaRPr>
          </a:p>
        </p:txBody>
      </p:sp>
      <p:cxnSp>
        <p:nvCxnSpPr>
          <p:cNvPr id="26" name="直线箭头连接符 25"/>
          <p:cNvCxnSpPr/>
          <p:nvPr/>
        </p:nvCxnSpPr>
        <p:spPr>
          <a:xfrm flipV="1">
            <a:off x="6765866" y="5540991"/>
            <a:ext cx="0" cy="348048"/>
          </a:xfrm>
          <a:prstGeom prst="straightConnector1">
            <a:avLst/>
          </a:prstGeom>
          <a:ln w="127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6633906" y="5902687"/>
            <a:ext cx="157528" cy="400110"/>
          </a:xfrm>
          <a:prstGeom prst="rect">
            <a:avLst/>
          </a:prstGeom>
          <a:noFill/>
        </p:spPr>
        <p:txBody>
          <a:bodyPr wrap="square" rtlCol="0">
            <a:spAutoFit/>
          </a:bodyPr>
          <a:lstStyle/>
          <a:p>
            <a:r>
              <a:rPr kumimoji="1" lang="en-US" altLang="zh-CN" sz="2000" dirty="0">
                <a:latin typeface="+mn-ea"/>
              </a:rPr>
              <a:t>1</a:t>
            </a:r>
            <a:endParaRPr kumimoji="1" lang="zh-CN" altLang="en-US" sz="20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94019"/>
    </mc:Choice>
    <mc:Fallback>
      <p:transition spd="slow" advTm="9401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26705"/>
            <a:ext cx="954241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3.10</a:t>
              </a:r>
              <a:r>
                <a:rPr lang="zh-CN" altLang="en-US" sz="3600" b="1" dirty="0">
                  <a:solidFill>
                    <a:schemeClr val="accent1"/>
                  </a:solidFill>
                  <a:latin typeface="+mn-ea"/>
                  <a:sym typeface="+mn-ea"/>
                </a:rPr>
                <a:t>（</a:t>
              </a:r>
              <a:r>
                <a:rPr lang="zh-CN" altLang="zh-CN" sz="3600" b="1" dirty="0">
                  <a:solidFill>
                    <a:schemeClr val="accent1"/>
                  </a:solidFill>
                  <a:latin typeface="+mn-ea"/>
                </a:rPr>
                <a:t>单功能非线性流水线调度</a:t>
              </a:r>
              <a:r>
                <a:rPr lang="zh-CN" altLang="en-US" sz="3600" b="1" dirty="0">
                  <a:solidFill>
                    <a:schemeClr val="accent1"/>
                  </a:solidFill>
                  <a:latin typeface="+mn-ea"/>
                  <a:sym typeface="+mn-ea"/>
                </a:rPr>
                <a:t>）</a:t>
              </a:r>
              <a:endParaRPr lang="zh-CN" altLang="en-US" sz="3600" b="1" dirty="0">
                <a:solidFill>
                  <a:schemeClr val="accent1"/>
                </a:solidFill>
                <a:latin typeface="+mn-ea"/>
                <a:sym typeface="+mn-ea"/>
              </a:endParaRPr>
            </a:p>
          </p:txBody>
        </p:sp>
      </p:grpSp>
      <p:sp>
        <p:nvSpPr>
          <p:cNvPr id="2" name="文本框 1"/>
          <p:cNvSpPr txBox="1"/>
          <p:nvPr/>
        </p:nvSpPr>
        <p:spPr>
          <a:xfrm>
            <a:off x="290316" y="1276258"/>
            <a:ext cx="6888163" cy="960712"/>
          </a:xfrm>
          <a:prstGeom prst="rect">
            <a:avLst/>
          </a:prstGeom>
          <a:noFill/>
        </p:spPr>
        <p:txBody>
          <a:bodyPr wrap="square" rtlCol="0">
            <a:spAutoFit/>
          </a:bodyPr>
          <a:lstStyle/>
          <a:p>
            <a:pPr>
              <a:lnSpc>
                <a:spcPct val="150000"/>
              </a:lnSpc>
              <a:spcBef>
                <a:spcPct val="0"/>
              </a:spcBef>
              <a:buClrTx/>
              <a:buSzTx/>
            </a:pPr>
            <a:r>
              <a:rPr lang="zh-CN" altLang="en-US" sz="2000" dirty="0">
                <a:latin typeface="+mn-ea"/>
              </a:rPr>
              <a:t>解：</a:t>
            </a:r>
            <a:endParaRPr lang="en-US" altLang="zh-CN" sz="2000" dirty="0">
              <a:latin typeface="+mn-ea"/>
            </a:endParaRPr>
          </a:p>
          <a:p>
            <a:pPr marL="457200" indent="-457200">
              <a:lnSpc>
                <a:spcPct val="150000"/>
              </a:lnSpc>
              <a:spcBef>
                <a:spcPct val="0"/>
              </a:spcBef>
              <a:buFont typeface="Wingdings" panose="05000000000000000000" pitchFamily="2" charset="2"/>
              <a:buAutoNum type="arabicParenBoth" startAt="3"/>
            </a:pPr>
            <a:r>
              <a:rPr lang="zh-CN" altLang="en-US" sz="2000" dirty="0">
                <a:latin typeface="+mn-ea"/>
              </a:rPr>
              <a:t>根据初始冲突向量</a:t>
            </a:r>
            <a:r>
              <a:rPr lang="en-US" altLang="zh-CN" sz="2000" dirty="0">
                <a:latin typeface="+mn-ea"/>
              </a:rPr>
              <a:t>C</a:t>
            </a:r>
            <a:r>
              <a:rPr lang="en-US" altLang="zh-CN" sz="2000" baseline="-25000" dirty="0">
                <a:latin typeface="+mn-ea"/>
              </a:rPr>
              <a:t>0</a:t>
            </a:r>
            <a:r>
              <a:rPr lang="en-US" altLang="zh-CN" sz="2000" dirty="0">
                <a:latin typeface="+mn-ea"/>
              </a:rPr>
              <a:t>=</a:t>
            </a:r>
            <a:r>
              <a:rPr lang="zh-CN" altLang="en-US" sz="2000" dirty="0">
                <a:latin typeface="+mn-ea"/>
              </a:rPr>
              <a:t>（</a:t>
            </a:r>
            <a:r>
              <a:rPr lang="en-US" altLang="zh-CN" sz="2000" dirty="0">
                <a:latin typeface="+mn-ea"/>
              </a:rPr>
              <a:t>100101</a:t>
            </a:r>
            <a:r>
              <a:rPr lang="zh-CN" altLang="en-US" sz="2000" dirty="0">
                <a:latin typeface="+mn-ea"/>
              </a:rPr>
              <a:t>），画状态转移图</a:t>
            </a:r>
            <a:endParaRPr kumimoji="1" lang="zh-CN" altLang="en-US" dirty="0"/>
          </a:p>
        </p:txBody>
      </p:sp>
      <p:sp>
        <p:nvSpPr>
          <p:cNvPr id="8" name="文本框 7"/>
          <p:cNvSpPr txBox="1"/>
          <p:nvPr/>
        </p:nvSpPr>
        <p:spPr>
          <a:xfrm>
            <a:off x="1898236" y="2902143"/>
            <a:ext cx="1713054" cy="461665"/>
          </a:xfrm>
          <a:prstGeom prst="rect">
            <a:avLst/>
          </a:prstGeom>
          <a:solidFill>
            <a:schemeClr val="accent5">
              <a:lumMod val="60000"/>
              <a:lumOff val="40000"/>
            </a:schemeClr>
          </a:solidFill>
        </p:spPr>
        <p:txBody>
          <a:bodyPr wrap="square" rtlCol="0">
            <a:spAutoFit/>
          </a:bodyPr>
          <a:lstStyle/>
          <a:p>
            <a:r>
              <a:rPr kumimoji="1" lang="en-US" altLang="zh-CN" sz="2400" dirty="0">
                <a:latin typeface="+mn-ea"/>
              </a:rPr>
              <a:t>  100101</a:t>
            </a:r>
            <a:endParaRPr kumimoji="1" lang="zh-CN" altLang="en-US" sz="2400" dirty="0">
              <a:latin typeface="+mn-ea"/>
            </a:endParaRPr>
          </a:p>
        </p:txBody>
      </p:sp>
      <p:sp>
        <p:nvSpPr>
          <p:cNvPr id="29" name="文本框 28"/>
          <p:cNvSpPr txBox="1"/>
          <p:nvPr/>
        </p:nvSpPr>
        <p:spPr>
          <a:xfrm>
            <a:off x="185182" y="4144145"/>
            <a:ext cx="1713054" cy="461665"/>
          </a:xfrm>
          <a:prstGeom prst="rect">
            <a:avLst/>
          </a:prstGeom>
          <a:solidFill>
            <a:schemeClr val="accent1">
              <a:lumMod val="60000"/>
              <a:lumOff val="40000"/>
            </a:schemeClr>
          </a:solidFill>
        </p:spPr>
        <p:txBody>
          <a:bodyPr wrap="square" rtlCol="0">
            <a:spAutoFit/>
          </a:bodyPr>
          <a:lstStyle/>
          <a:p>
            <a:r>
              <a:rPr kumimoji="1" lang="en-US" altLang="zh-CN" sz="2400" dirty="0">
                <a:latin typeface="+mn-ea"/>
              </a:rPr>
              <a:t>  101101</a:t>
            </a:r>
            <a:endParaRPr kumimoji="1" lang="zh-CN" altLang="en-US" sz="2400" dirty="0">
              <a:latin typeface="+mn-ea"/>
            </a:endParaRPr>
          </a:p>
        </p:txBody>
      </p:sp>
      <p:sp>
        <p:nvSpPr>
          <p:cNvPr id="30" name="文本框 29"/>
          <p:cNvSpPr txBox="1"/>
          <p:nvPr/>
        </p:nvSpPr>
        <p:spPr>
          <a:xfrm>
            <a:off x="1898236" y="5592713"/>
            <a:ext cx="1713054" cy="461665"/>
          </a:xfrm>
          <a:prstGeom prst="rect">
            <a:avLst/>
          </a:prstGeom>
          <a:solidFill>
            <a:schemeClr val="accent1">
              <a:lumMod val="60000"/>
              <a:lumOff val="40000"/>
            </a:schemeClr>
          </a:solidFill>
        </p:spPr>
        <p:txBody>
          <a:bodyPr wrap="square" rtlCol="0">
            <a:spAutoFit/>
          </a:bodyPr>
          <a:lstStyle/>
          <a:p>
            <a:r>
              <a:rPr kumimoji="1" lang="en-US" altLang="zh-CN" sz="2400" dirty="0">
                <a:latin typeface="+mn-ea"/>
              </a:rPr>
              <a:t>  101111</a:t>
            </a:r>
            <a:endParaRPr kumimoji="1" lang="zh-CN" altLang="en-US" sz="2400" dirty="0">
              <a:latin typeface="+mn-ea"/>
            </a:endParaRPr>
          </a:p>
        </p:txBody>
      </p:sp>
      <p:sp>
        <p:nvSpPr>
          <p:cNvPr id="31" name="文本框 30"/>
          <p:cNvSpPr txBox="1"/>
          <p:nvPr/>
        </p:nvSpPr>
        <p:spPr>
          <a:xfrm>
            <a:off x="3611290" y="4144146"/>
            <a:ext cx="1713054" cy="461665"/>
          </a:xfrm>
          <a:prstGeom prst="rect">
            <a:avLst/>
          </a:prstGeom>
          <a:solidFill>
            <a:schemeClr val="accent1">
              <a:lumMod val="60000"/>
              <a:lumOff val="40000"/>
            </a:schemeClr>
          </a:solidFill>
        </p:spPr>
        <p:txBody>
          <a:bodyPr wrap="square" rtlCol="0">
            <a:spAutoFit/>
          </a:bodyPr>
          <a:lstStyle/>
          <a:p>
            <a:r>
              <a:rPr kumimoji="1" lang="en-US" altLang="zh-CN" sz="2400" dirty="0">
                <a:latin typeface="+mn-ea"/>
              </a:rPr>
              <a:t>  100111</a:t>
            </a:r>
            <a:endParaRPr kumimoji="1" lang="zh-CN" altLang="en-US" sz="2400" dirty="0">
              <a:latin typeface="+mn-ea"/>
            </a:endParaRPr>
          </a:p>
        </p:txBody>
      </p:sp>
      <p:cxnSp>
        <p:nvCxnSpPr>
          <p:cNvPr id="10" name="直线箭头连接符 9"/>
          <p:cNvCxnSpPr/>
          <p:nvPr/>
        </p:nvCxnSpPr>
        <p:spPr>
          <a:xfrm>
            <a:off x="3236139" y="3363808"/>
            <a:ext cx="1021420" cy="78033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434993" y="3655596"/>
            <a:ext cx="509286" cy="400110"/>
          </a:xfrm>
          <a:prstGeom prst="rect">
            <a:avLst/>
          </a:prstGeom>
          <a:noFill/>
        </p:spPr>
        <p:txBody>
          <a:bodyPr wrap="square" rtlCol="0">
            <a:spAutoFit/>
          </a:bodyPr>
          <a:lstStyle/>
          <a:p>
            <a:r>
              <a:rPr kumimoji="1" lang="en-US" altLang="zh-CN" sz="2000" dirty="0">
                <a:latin typeface="+mn-ea"/>
              </a:rPr>
              <a:t>4</a:t>
            </a:r>
            <a:endParaRPr kumimoji="1" lang="zh-CN" altLang="en-US" sz="2000" dirty="0">
              <a:latin typeface="+mn-ea"/>
            </a:endParaRPr>
          </a:p>
        </p:txBody>
      </p:sp>
      <p:cxnSp>
        <p:nvCxnSpPr>
          <p:cNvPr id="36" name="直线箭头连接符 35"/>
          <p:cNvCxnSpPr/>
          <p:nvPr/>
        </p:nvCxnSpPr>
        <p:spPr>
          <a:xfrm flipH="1">
            <a:off x="1147933" y="3382637"/>
            <a:ext cx="1231678" cy="77500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1842937" y="3644175"/>
            <a:ext cx="509286" cy="400110"/>
          </a:xfrm>
          <a:prstGeom prst="rect">
            <a:avLst/>
          </a:prstGeom>
          <a:noFill/>
        </p:spPr>
        <p:txBody>
          <a:bodyPr wrap="square" rtlCol="0">
            <a:spAutoFit/>
          </a:bodyPr>
          <a:lstStyle/>
          <a:p>
            <a:r>
              <a:rPr kumimoji="1" lang="en-US" altLang="zh-CN" sz="2000" dirty="0">
                <a:latin typeface="+mn-ea"/>
              </a:rPr>
              <a:t>2</a:t>
            </a:r>
            <a:endParaRPr kumimoji="1" lang="zh-CN" altLang="en-US" sz="2000" dirty="0">
              <a:latin typeface="+mn-ea"/>
            </a:endParaRPr>
          </a:p>
        </p:txBody>
      </p:sp>
      <p:sp>
        <p:nvSpPr>
          <p:cNvPr id="35" name="手杖形箭头 34"/>
          <p:cNvSpPr/>
          <p:nvPr/>
        </p:nvSpPr>
        <p:spPr>
          <a:xfrm>
            <a:off x="2273387" y="2511379"/>
            <a:ext cx="962752" cy="390764"/>
          </a:xfrm>
          <a:prstGeom prst="uturnArrow">
            <a:avLst>
              <a:gd name="adj1" fmla="val 1304"/>
              <a:gd name="adj2" fmla="val 25000"/>
              <a:gd name="adj3" fmla="val 25000"/>
              <a:gd name="adj4" fmla="val 43750"/>
              <a:gd name="adj5" fmla="val 10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4" name="文本框 43"/>
          <p:cNvSpPr txBox="1"/>
          <p:nvPr/>
        </p:nvSpPr>
        <p:spPr>
          <a:xfrm>
            <a:off x="2298594" y="2512779"/>
            <a:ext cx="1102068" cy="400110"/>
          </a:xfrm>
          <a:prstGeom prst="rect">
            <a:avLst/>
          </a:prstGeom>
          <a:noFill/>
        </p:spPr>
        <p:txBody>
          <a:bodyPr wrap="square" rtlCol="0">
            <a:spAutoFit/>
          </a:bodyPr>
          <a:lstStyle/>
          <a:p>
            <a:r>
              <a:rPr kumimoji="1" lang="en-US" altLang="zh-CN" sz="2000" dirty="0">
                <a:latin typeface="+mn-ea"/>
              </a:rPr>
              <a:t>5</a:t>
            </a:r>
            <a:r>
              <a:rPr kumimoji="1" lang="zh-CN" altLang="en-US" sz="2000" dirty="0">
                <a:latin typeface="+mn-ea"/>
              </a:rPr>
              <a:t>，</a:t>
            </a:r>
            <a:r>
              <a:rPr kumimoji="1" lang="en-US" altLang="zh-CN" sz="2000" dirty="0">
                <a:latin typeface="+mn-ea"/>
              </a:rPr>
              <a:t>7+</a:t>
            </a:r>
            <a:endParaRPr kumimoji="1" lang="zh-CN" altLang="en-US" sz="2000" dirty="0">
              <a:latin typeface="+mn-ea"/>
            </a:endParaRPr>
          </a:p>
        </p:txBody>
      </p:sp>
      <p:cxnSp>
        <p:nvCxnSpPr>
          <p:cNvPr id="45" name="直线箭头连接符 44"/>
          <p:cNvCxnSpPr/>
          <p:nvPr/>
        </p:nvCxnSpPr>
        <p:spPr>
          <a:xfrm flipH="1" flipV="1">
            <a:off x="3532169" y="3363808"/>
            <a:ext cx="1041873" cy="780338"/>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线箭头连接符 47"/>
          <p:cNvCxnSpPr>
            <a:stCxn id="30" idx="0"/>
            <a:endCxn id="8" idx="2"/>
          </p:cNvCxnSpPr>
          <p:nvPr/>
        </p:nvCxnSpPr>
        <p:spPr>
          <a:xfrm flipV="1">
            <a:off x="2754763" y="3363808"/>
            <a:ext cx="0" cy="2228905"/>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线箭头连接符 52"/>
          <p:cNvCxnSpPr/>
          <p:nvPr/>
        </p:nvCxnSpPr>
        <p:spPr>
          <a:xfrm flipV="1">
            <a:off x="801647" y="3373222"/>
            <a:ext cx="1234392" cy="770924"/>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线箭头连接符 56"/>
          <p:cNvCxnSpPr/>
          <p:nvPr/>
        </p:nvCxnSpPr>
        <p:spPr>
          <a:xfrm>
            <a:off x="1037880" y="4605810"/>
            <a:ext cx="1313822" cy="986903"/>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843854" y="4944491"/>
            <a:ext cx="509286" cy="400110"/>
          </a:xfrm>
          <a:prstGeom prst="rect">
            <a:avLst/>
          </a:prstGeom>
          <a:noFill/>
        </p:spPr>
        <p:txBody>
          <a:bodyPr wrap="square" rtlCol="0">
            <a:spAutoFit/>
          </a:bodyPr>
          <a:lstStyle/>
          <a:p>
            <a:r>
              <a:rPr kumimoji="1" lang="en-US" altLang="zh-CN" sz="2000" dirty="0">
                <a:latin typeface="+mn-ea"/>
              </a:rPr>
              <a:t>2</a:t>
            </a:r>
            <a:endParaRPr kumimoji="1" lang="zh-CN" altLang="en-US" sz="2000" dirty="0">
              <a:latin typeface="+mn-ea"/>
            </a:endParaRPr>
          </a:p>
        </p:txBody>
      </p:sp>
      <p:sp>
        <p:nvSpPr>
          <p:cNvPr id="60" name="文本框 59"/>
          <p:cNvSpPr txBox="1"/>
          <p:nvPr/>
        </p:nvSpPr>
        <p:spPr>
          <a:xfrm>
            <a:off x="6214455" y="2393529"/>
            <a:ext cx="5069712" cy="369332"/>
          </a:xfrm>
          <a:prstGeom prst="rect">
            <a:avLst/>
          </a:prstGeom>
          <a:noFill/>
        </p:spPr>
        <p:txBody>
          <a:bodyPr wrap="square" rtlCol="0">
            <a:spAutoFit/>
          </a:bodyPr>
          <a:lstStyle/>
          <a:p>
            <a:r>
              <a:rPr kumimoji="1" lang="zh-CN" altLang="en-US" dirty="0"/>
              <a:t>初始向量， 逻辑右移</a:t>
            </a:r>
            <a:r>
              <a:rPr kumimoji="1" lang="en-US" altLang="zh-CN" dirty="0"/>
              <a:t>2</a:t>
            </a:r>
            <a:r>
              <a:rPr kumimoji="1" lang="zh-CN" altLang="en-US" dirty="0"/>
              <a:t>、</a:t>
            </a:r>
            <a:r>
              <a:rPr kumimoji="1" lang="en-US" altLang="zh-CN" dirty="0"/>
              <a:t>5</a:t>
            </a:r>
            <a:r>
              <a:rPr kumimoji="1" lang="zh-CN" altLang="en-US" dirty="0"/>
              <a:t>、</a:t>
            </a:r>
            <a:r>
              <a:rPr kumimoji="1" lang="en-US" altLang="zh-CN" dirty="0"/>
              <a:t>4</a:t>
            </a:r>
            <a:r>
              <a:rPr kumimoji="1" lang="zh-CN" altLang="en-US" dirty="0"/>
              <a:t>位， 新的向量为</a:t>
            </a:r>
            <a:endParaRPr kumimoji="1" lang="zh-CN" altLang="en-US" dirty="0"/>
          </a:p>
        </p:txBody>
      </p:sp>
      <p:grpSp>
        <p:nvGrpSpPr>
          <p:cNvPr id="69" name="组合 68"/>
          <p:cNvGrpSpPr/>
          <p:nvPr/>
        </p:nvGrpSpPr>
        <p:grpSpPr>
          <a:xfrm>
            <a:off x="6475910" y="2762861"/>
            <a:ext cx="1578795" cy="1015663"/>
            <a:chOff x="6106795" y="3183038"/>
            <a:chExt cx="1578795" cy="1015663"/>
          </a:xfrm>
        </p:grpSpPr>
        <p:sp>
          <p:nvSpPr>
            <p:cNvPr id="65" name="文本框 64"/>
            <p:cNvSpPr txBox="1"/>
            <p:nvPr/>
          </p:nvSpPr>
          <p:spPr>
            <a:xfrm>
              <a:off x="6280415" y="3183038"/>
              <a:ext cx="1405175" cy="646331"/>
            </a:xfrm>
            <a:prstGeom prst="rect">
              <a:avLst/>
            </a:prstGeom>
            <a:noFill/>
          </p:spPr>
          <p:txBody>
            <a:bodyPr wrap="square" rtlCol="0">
              <a:spAutoFit/>
            </a:bodyPr>
            <a:lstStyle/>
            <a:p>
              <a:r>
                <a:rPr kumimoji="1" lang="en-US" altLang="zh-CN" dirty="0"/>
                <a:t>100101</a:t>
              </a:r>
              <a:endParaRPr kumimoji="1" lang="en-US" altLang="zh-CN" dirty="0"/>
            </a:p>
            <a:p>
              <a:r>
                <a:rPr kumimoji="1" lang="en-US" altLang="zh-CN" dirty="0"/>
                <a:t>001001</a:t>
              </a:r>
              <a:endParaRPr kumimoji="1" lang="zh-CN" altLang="en-US" dirty="0"/>
            </a:p>
          </p:txBody>
        </p:sp>
        <p:cxnSp>
          <p:nvCxnSpPr>
            <p:cNvPr id="67" name="直线连接符 66"/>
            <p:cNvCxnSpPr/>
            <p:nvPr/>
          </p:nvCxnSpPr>
          <p:spPr>
            <a:xfrm flipV="1">
              <a:off x="6106795" y="3816885"/>
              <a:ext cx="1224455" cy="1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文本框 67"/>
            <p:cNvSpPr txBox="1"/>
            <p:nvPr/>
          </p:nvSpPr>
          <p:spPr>
            <a:xfrm>
              <a:off x="6277993" y="3829369"/>
              <a:ext cx="965174" cy="369332"/>
            </a:xfrm>
            <a:prstGeom prst="rect">
              <a:avLst/>
            </a:prstGeom>
            <a:solidFill>
              <a:schemeClr val="accent1">
                <a:lumMod val="60000"/>
                <a:lumOff val="40000"/>
              </a:schemeClr>
            </a:solidFill>
          </p:spPr>
          <p:txBody>
            <a:bodyPr wrap="square" rtlCol="0">
              <a:spAutoFit/>
            </a:bodyPr>
            <a:lstStyle/>
            <a:p>
              <a:r>
                <a:rPr kumimoji="1" lang="en-US" altLang="zh-CN" dirty="0"/>
                <a:t>101101</a:t>
              </a:r>
              <a:endParaRPr kumimoji="1" lang="zh-CN" altLang="en-US" dirty="0"/>
            </a:p>
          </p:txBody>
        </p:sp>
      </p:grpSp>
      <p:grpSp>
        <p:nvGrpSpPr>
          <p:cNvPr id="70" name="组合 69"/>
          <p:cNvGrpSpPr/>
          <p:nvPr/>
        </p:nvGrpSpPr>
        <p:grpSpPr>
          <a:xfrm>
            <a:off x="9741354" y="2726376"/>
            <a:ext cx="1578795" cy="1015663"/>
            <a:chOff x="6106795" y="3183038"/>
            <a:chExt cx="1578795" cy="1015663"/>
          </a:xfrm>
        </p:grpSpPr>
        <p:sp>
          <p:nvSpPr>
            <p:cNvPr id="71" name="文本框 70"/>
            <p:cNvSpPr txBox="1"/>
            <p:nvPr/>
          </p:nvSpPr>
          <p:spPr>
            <a:xfrm>
              <a:off x="6280415" y="3183038"/>
              <a:ext cx="1405175" cy="646331"/>
            </a:xfrm>
            <a:prstGeom prst="rect">
              <a:avLst/>
            </a:prstGeom>
            <a:noFill/>
          </p:spPr>
          <p:txBody>
            <a:bodyPr wrap="square" rtlCol="0">
              <a:spAutoFit/>
            </a:bodyPr>
            <a:lstStyle/>
            <a:p>
              <a:r>
                <a:rPr kumimoji="1" lang="en-US" altLang="zh-CN" dirty="0"/>
                <a:t>100101</a:t>
              </a:r>
              <a:endParaRPr kumimoji="1" lang="en-US" altLang="zh-CN" dirty="0"/>
            </a:p>
            <a:p>
              <a:r>
                <a:rPr kumimoji="1" lang="en-US" altLang="zh-CN" dirty="0"/>
                <a:t>000010</a:t>
              </a:r>
              <a:endParaRPr kumimoji="1" lang="zh-CN" altLang="en-US" dirty="0"/>
            </a:p>
          </p:txBody>
        </p:sp>
        <p:cxnSp>
          <p:nvCxnSpPr>
            <p:cNvPr id="72" name="直线连接符 71"/>
            <p:cNvCxnSpPr/>
            <p:nvPr/>
          </p:nvCxnSpPr>
          <p:spPr>
            <a:xfrm flipV="1">
              <a:off x="6106795" y="3816885"/>
              <a:ext cx="1224455" cy="1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6277993" y="3829369"/>
              <a:ext cx="965174" cy="369332"/>
            </a:xfrm>
            <a:prstGeom prst="rect">
              <a:avLst/>
            </a:prstGeom>
            <a:solidFill>
              <a:schemeClr val="accent1">
                <a:lumMod val="60000"/>
                <a:lumOff val="40000"/>
              </a:schemeClr>
            </a:solidFill>
          </p:spPr>
          <p:txBody>
            <a:bodyPr wrap="square" rtlCol="0">
              <a:spAutoFit/>
            </a:bodyPr>
            <a:lstStyle/>
            <a:p>
              <a:r>
                <a:rPr kumimoji="1" lang="en-US" altLang="zh-CN" dirty="0"/>
                <a:t>100111</a:t>
              </a:r>
              <a:endParaRPr kumimoji="1" lang="zh-CN" altLang="en-US" dirty="0"/>
            </a:p>
          </p:txBody>
        </p:sp>
      </p:grpSp>
      <p:grpSp>
        <p:nvGrpSpPr>
          <p:cNvPr id="74" name="组合 73"/>
          <p:cNvGrpSpPr/>
          <p:nvPr/>
        </p:nvGrpSpPr>
        <p:grpSpPr>
          <a:xfrm>
            <a:off x="8090640" y="2756847"/>
            <a:ext cx="1578795" cy="1015663"/>
            <a:chOff x="6106795" y="3183038"/>
            <a:chExt cx="1578795" cy="1015663"/>
          </a:xfrm>
        </p:grpSpPr>
        <p:sp>
          <p:nvSpPr>
            <p:cNvPr id="75" name="文本框 74"/>
            <p:cNvSpPr txBox="1"/>
            <p:nvPr/>
          </p:nvSpPr>
          <p:spPr>
            <a:xfrm>
              <a:off x="6280415" y="3183038"/>
              <a:ext cx="1405175" cy="646331"/>
            </a:xfrm>
            <a:prstGeom prst="rect">
              <a:avLst/>
            </a:prstGeom>
            <a:noFill/>
          </p:spPr>
          <p:txBody>
            <a:bodyPr wrap="square" rtlCol="0">
              <a:spAutoFit/>
            </a:bodyPr>
            <a:lstStyle/>
            <a:p>
              <a:r>
                <a:rPr kumimoji="1" lang="en-US" altLang="zh-CN" dirty="0"/>
                <a:t>100101</a:t>
              </a:r>
              <a:endParaRPr kumimoji="1" lang="en-US" altLang="zh-CN" dirty="0"/>
            </a:p>
            <a:p>
              <a:r>
                <a:rPr kumimoji="1" lang="en-US" altLang="zh-CN" dirty="0"/>
                <a:t>000001</a:t>
              </a:r>
              <a:endParaRPr kumimoji="1" lang="zh-CN" altLang="en-US" dirty="0"/>
            </a:p>
          </p:txBody>
        </p:sp>
        <p:cxnSp>
          <p:nvCxnSpPr>
            <p:cNvPr id="76" name="直线连接符 75"/>
            <p:cNvCxnSpPr/>
            <p:nvPr/>
          </p:nvCxnSpPr>
          <p:spPr>
            <a:xfrm flipV="1">
              <a:off x="6106795" y="3816885"/>
              <a:ext cx="1224455" cy="1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6277993" y="3829369"/>
              <a:ext cx="965174" cy="369332"/>
            </a:xfrm>
            <a:prstGeom prst="rect">
              <a:avLst/>
            </a:prstGeom>
            <a:solidFill>
              <a:schemeClr val="accent5">
                <a:lumMod val="60000"/>
                <a:lumOff val="40000"/>
              </a:schemeClr>
            </a:solidFill>
          </p:spPr>
          <p:txBody>
            <a:bodyPr wrap="square" rtlCol="0">
              <a:spAutoFit/>
            </a:bodyPr>
            <a:lstStyle/>
            <a:p>
              <a:r>
                <a:rPr kumimoji="1" lang="en-US" altLang="zh-CN" dirty="0"/>
                <a:t>100101</a:t>
              </a:r>
              <a:endParaRPr kumimoji="1" lang="zh-CN" altLang="en-US" dirty="0"/>
            </a:p>
          </p:txBody>
        </p:sp>
      </p:grpSp>
      <p:sp>
        <p:nvSpPr>
          <p:cNvPr id="78" name="文本框 77"/>
          <p:cNvSpPr txBox="1"/>
          <p:nvPr/>
        </p:nvSpPr>
        <p:spPr>
          <a:xfrm>
            <a:off x="6261688" y="3915461"/>
            <a:ext cx="5941107" cy="369332"/>
          </a:xfrm>
          <a:prstGeom prst="rect">
            <a:avLst/>
          </a:prstGeom>
          <a:noFill/>
        </p:spPr>
        <p:txBody>
          <a:bodyPr wrap="square" rtlCol="0">
            <a:spAutoFit/>
          </a:bodyPr>
          <a:lstStyle/>
          <a:p>
            <a:r>
              <a:rPr kumimoji="1" lang="zh-CN" altLang="en-US" dirty="0"/>
              <a:t>新产生向量按照同样规则进行逻辑右移，直到形成闭环</a:t>
            </a:r>
            <a:endParaRPr kumimoji="1" lang="zh-CN" altLang="en-US" dirty="0"/>
          </a:p>
        </p:txBody>
      </p:sp>
      <p:grpSp>
        <p:nvGrpSpPr>
          <p:cNvPr id="80" name="组合 79"/>
          <p:cNvGrpSpPr/>
          <p:nvPr/>
        </p:nvGrpSpPr>
        <p:grpSpPr>
          <a:xfrm>
            <a:off x="6475910" y="4281104"/>
            <a:ext cx="1578795" cy="1015663"/>
            <a:chOff x="6106795" y="3183038"/>
            <a:chExt cx="1578795" cy="1015663"/>
          </a:xfrm>
        </p:grpSpPr>
        <p:sp>
          <p:nvSpPr>
            <p:cNvPr id="81" name="文本框 80"/>
            <p:cNvSpPr txBox="1"/>
            <p:nvPr/>
          </p:nvSpPr>
          <p:spPr>
            <a:xfrm>
              <a:off x="6280415" y="3183038"/>
              <a:ext cx="1405175" cy="646331"/>
            </a:xfrm>
            <a:prstGeom prst="rect">
              <a:avLst/>
            </a:prstGeom>
            <a:noFill/>
          </p:spPr>
          <p:txBody>
            <a:bodyPr wrap="square" rtlCol="0">
              <a:spAutoFit/>
            </a:bodyPr>
            <a:lstStyle/>
            <a:p>
              <a:r>
                <a:rPr kumimoji="1" lang="en-US" altLang="zh-CN" dirty="0"/>
                <a:t>100101</a:t>
              </a:r>
              <a:endParaRPr kumimoji="1" lang="en-US" altLang="zh-CN" dirty="0"/>
            </a:p>
            <a:p>
              <a:r>
                <a:rPr kumimoji="1" lang="en-US" altLang="zh-CN" dirty="0"/>
                <a:t>001011</a:t>
              </a:r>
              <a:endParaRPr kumimoji="1" lang="zh-CN" altLang="en-US" dirty="0"/>
            </a:p>
          </p:txBody>
        </p:sp>
        <p:cxnSp>
          <p:nvCxnSpPr>
            <p:cNvPr id="82" name="直线连接符 81"/>
            <p:cNvCxnSpPr/>
            <p:nvPr/>
          </p:nvCxnSpPr>
          <p:spPr>
            <a:xfrm flipV="1">
              <a:off x="6106795" y="3816885"/>
              <a:ext cx="1224455" cy="1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文本框 82"/>
            <p:cNvSpPr txBox="1"/>
            <p:nvPr/>
          </p:nvSpPr>
          <p:spPr>
            <a:xfrm>
              <a:off x="6277993" y="3829369"/>
              <a:ext cx="965174" cy="369332"/>
            </a:xfrm>
            <a:prstGeom prst="rect">
              <a:avLst/>
            </a:prstGeom>
            <a:solidFill>
              <a:schemeClr val="accent1">
                <a:lumMod val="60000"/>
                <a:lumOff val="40000"/>
              </a:schemeClr>
            </a:solidFill>
          </p:spPr>
          <p:txBody>
            <a:bodyPr wrap="square" rtlCol="0">
              <a:spAutoFit/>
            </a:bodyPr>
            <a:lstStyle/>
            <a:p>
              <a:r>
                <a:rPr kumimoji="1" lang="en-US" altLang="zh-CN" dirty="0"/>
                <a:t>101111</a:t>
              </a:r>
              <a:endParaRPr kumimoji="1" lang="zh-CN" altLang="en-US" dirty="0"/>
            </a:p>
          </p:txBody>
        </p:sp>
      </p:grpSp>
      <p:grpSp>
        <p:nvGrpSpPr>
          <p:cNvPr id="84" name="组合 83"/>
          <p:cNvGrpSpPr/>
          <p:nvPr/>
        </p:nvGrpSpPr>
        <p:grpSpPr>
          <a:xfrm>
            <a:off x="6562282" y="5321658"/>
            <a:ext cx="1578795" cy="1015663"/>
            <a:chOff x="6106795" y="3183038"/>
            <a:chExt cx="1578795" cy="1015663"/>
          </a:xfrm>
        </p:grpSpPr>
        <p:sp>
          <p:nvSpPr>
            <p:cNvPr id="85" name="文本框 84"/>
            <p:cNvSpPr txBox="1"/>
            <p:nvPr/>
          </p:nvSpPr>
          <p:spPr>
            <a:xfrm>
              <a:off x="6280415" y="3183038"/>
              <a:ext cx="1405175" cy="646331"/>
            </a:xfrm>
            <a:prstGeom prst="rect">
              <a:avLst/>
            </a:prstGeom>
            <a:noFill/>
          </p:spPr>
          <p:txBody>
            <a:bodyPr wrap="square" rtlCol="0">
              <a:spAutoFit/>
            </a:bodyPr>
            <a:lstStyle/>
            <a:p>
              <a:r>
                <a:rPr kumimoji="1" lang="en-US" altLang="zh-CN" dirty="0"/>
                <a:t>100101</a:t>
              </a:r>
              <a:endParaRPr kumimoji="1" lang="en-US" altLang="zh-CN" dirty="0"/>
            </a:p>
            <a:p>
              <a:r>
                <a:rPr kumimoji="1" lang="en-US" altLang="zh-CN" dirty="0"/>
                <a:t>000001</a:t>
              </a:r>
              <a:endParaRPr kumimoji="1" lang="zh-CN" altLang="en-US" dirty="0"/>
            </a:p>
          </p:txBody>
        </p:sp>
        <p:cxnSp>
          <p:nvCxnSpPr>
            <p:cNvPr id="86" name="直线连接符 85"/>
            <p:cNvCxnSpPr/>
            <p:nvPr/>
          </p:nvCxnSpPr>
          <p:spPr>
            <a:xfrm flipV="1">
              <a:off x="6106795" y="3816885"/>
              <a:ext cx="1224455" cy="1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文本框 86"/>
            <p:cNvSpPr txBox="1"/>
            <p:nvPr/>
          </p:nvSpPr>
          <p:spPr>
            <a:xfrm>
              <a:off x="6277993" y="3829369"/>
              <a:ext cx="965174" cy="369332"/>
            </a:xfrm>
            <a:prstGeom prst="rect">
              <a:avLst/>
            </a:prstGeom>
            <a:solidFill>
              <a:schemeClr val="accent5">
                <a:lumMod val="60000"/>
                <a:lumOff val="40000"/>
              </a:schemeClr>
            </a:solidFill>
          </p:spPr>
          <p:txBody>
            <a:bodyPr wrap="square" rtlCol="0">
              <a:spAutoFit/>
            </a:bodyPr>
            <a:lstStyle/>
            <a:p>
              <a:r>
                <a:rPr kumimoji="1" lang="en-US" altLang="zh-CN" dirty="0"/>
                <a:t>100101</a:t>
              </a:r>
              <a:endParaRPr kumimoji="1" lang="zh-CN" altLang="en-US" dirty="0"/>
            </a:p>
          </p:txBody>
        </p:sp>
      </p:grpSp>
      <p:grpSp>
        <p:nvGrpSpPr>
          <p:cNvPr id="88" name="组合 87"/>
          <p:cNvGrpSpPr/>
          <p:nvPr/>
        </p:nvGrpSpPr>
        <p:grpSpPr>
          <a:xfrm>
            <a:off x="9827726" y="4254322"/>
            <a:ext cx="1578795" cy="1015663"/>
            <a:chOff x="6106795" y="3183038"/>
            <a:chExt cx="1578795" cy="1015663"/>
          </a:xfrm>
        </p:grpSpPr>
        <p:sp>
          <p:nvSpPr>
            <p:cNvPr id="89" name="文本框 88"/>
            <p:cNvSpPr txBox="1"/>
            <p:nvPr/>
          </p:nvSpPr>
          <p:spPr>
            <a:xfrm>
              <a:off x="6280415" y="3183038"/>
              <a:ext cx="1405175" cy="646331"/>
            </a:xfrm>
            <a:prstGeom prst="rect">
              <a:avLst/>
            </a:prstGeom>
            <a:noFill/>
          </p:spPr>
          <p:txBody>
            <a:bodyPr wrap="square" rtlCol="0">
              <a:spAutoFit/>
            </a:bodyPr>
            <a:lstStyle/>
            <a:p>
              <a:r>
                <a:rPr kumimoji="1" lang="en-US" altLang="zh-CN" dirty="0"/>
                <a:t>100101</a:t>
              </a:r>
              <a:endParaRPr kumimoji="1" lang="en-US" altLang="zh-CN" dirty="0"/>
            </a:p>
            <a:p>
              <a:r>
                <a:rPr kumimoji="1" lang="en-US" altLang="zh-CN" dirty="0"/>
                <a:t>000010</a:t>
              </a:r>
              <a:endParaRPr kumimoji="1" lang="zh-CN" altLang="en-US" dirty="0"/>
            </a:p>
          </p:txBody>
        </p:sp>
        <p:cxnSp>
          <p:nvCxnSpPr>
            <p:cNvPr id="90" name="直线连接符 89"/>
            <p:cNvCxnSpPr/>
            <p:nvPr/>
          </p:nvCxnSpPr>
          <p:spPr>
            <a:xfrm flipV="1">
              <a:off x="6106795" y="3816885"/>
              <a:ext cx="1224455" cy="1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a:xfrm>
              <a:off x="6277993" y="3829369"/>
              <a:ext cx="965174" cy="369332"/>
            </a:xfrm>
            <a:prstGeom prst="rect">
              <a:avLst/>
            </a:prstGeom>
            <a:solidFill>
              <a:schemeClr val="accent1">
                <a:lumMod val="60000"/>
                <a:lumOff val="40000"/>
              </a:schemeClr>
            </a:solidFill>
          </p:spPr>
          <p:txBody>
            <a:bodyPr wrap="square" rtlCol="0">
              <a:spAutoFit/>
            </a:bodyPr>
            <a:lstStyle/>
            <a:p>
              <a:r>
                <a:rPr kumimoji="1" lang="en-US" altLang="zh-CN" dirty="0"/>
                <a:t>100111</a:t>
              </a:r>
              <a:endParaRPr kumimoji="1" lang="zh-CN" altLang="en-US" dirty="0"/>
            </a:p>
          </p:txBody>
        </p:sp>
      </p:grpSp>
      <p:sp>
        <p:nvSpPr>
          <p:cNvPr id="93" name="手杖形箭头 92"/>
          <p:cNvSpPr/>
          <p:nvPr/>
        </p:nvSpPr>
        <p:spPr>
          <a:xfrm flipV="1">
            <a:off x="4044003" y="4605809"/>
            <a:ext cx="962752" cy="485603"/>
          </a:xfrm>
          <a:prstGeom prst="uturnArrow">
            <a:avLst>
              <a:gd name="adj1" fmla="val 1304"/>
              <a:gd name="adj2" fmla="val 25000"/>
              <a:gd name="adj3" fmla="val 25000"/>
              <a:gd name="adj4" fmla="val 43750"/>
              <a:gd name="adj5" fmla="val 100000"/>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94" name="文本框 93"/>
          <p:cNvSpPr txBox="1"/>
          <p:nvPr/>
        </p:nvSpPr>
        <p:spPr>
          <a:xfrm>
            <a:off x="4319399" y="4733737"/>
            <a:ext cx="509286" cy="400110"/>
          </a:xfrm>
          <a:prstGeom prst="rect">
            <a:avLst/>
          </a:prstGeom>
          <a:noFill/>
        </p:spPr>
        <p:txBody>
          <a:bodyPr wrap="square" rtlCol="0">
            <a:spAutoFit/>
          </a:bodyPr>
          <a:lstStyle/>
          <a:p>
            <a:r>
              <a:rPr kumimoji="1" lang="en-US" altLang="zh-CN" sz="2000" dirty="0">
                <a:latin typeface="+mn-ea"/>
              </a:rPr>
              <a:t>4</a:t>
            </a:r>
            <a:endParaRPr kumimoji="1" lang="zh-CN" altLang="en-US" sz="2000" dirty="0">
              <a:latin typeface="+mn-ea"/>
            </a:endParaRPr>
          </a:p>
        </p:txBody>
      </p:sp>
      <p:grpSp>
        <p:nvGrpSpPr>
          <p:cNvPr id="95" name="组合 94"/>
          <p:cNvGrpSpPr/>
          <p:nvPr/>
        </p:nvGrpSpPr>
        <p:grpSpPr>
          <a:xfrm>
            <a:off x="9827726" y="5347277"/>
            <a:ext cx="1578795" cy="1015663"/>
            <a:chOff x="6106795" y="3183038"/>
            <a:chExt cx="1578795" cy="1015663"/>
          </a:xfrm>
        </p:grpSpPr>
        <p:sp>
          <p:nvSpPr>
            <p:cNvPr id="96" name="文本框 95"/>
            <p:cNvSpPr txBox="1"/>
            <p:nvPr/>
          </p:nvSpPr>
          <p:spPr>
            <a:xfrm>
              <a:off x="6280415" y="3183038"/>
              <a:ext cx="1405175" cy="646331"/>
            </a:xfrm>
            <a:prstGeom prst="rect">
              <a:avLst/>
            </a:prstGeom>
            <a:noFill/>
          </p:spPr>
          <p:txBody>
            <a:bodyPr wrap="square" rtlCol="0">
              <a:spAutoFit/>
            </a:bodyPr>
            <a:lstStyle/>
            <a:p>
              <a:r>
                <a:rPr kumimoji="1" lang="en-US" altLang="zh-CN" dirty="0"/>
                <a:t>100101</a:t>
              </a:r>
              <a:endParaRPr kumimoji="1" lang="en-US" altLang="zh-CN" dirty="0"/>
            </a:p>
            <a:p>
              <a:r>
                <a:rPr kumimoji="1" lang="en-US" altLang="zh-CN" dirty="0"/>
                <a:t>000001</a:t>
              </a:r>
              <a:endParaRPr kumimoji="1" lang="zh-CN" altLang="en-US" dirty="0"/>
            </a:p>
          </p:txBody>
        </p:sp>
        <p:cxnSp>
          <p:nvCxnSpPr>
            <p:cNvPr id="97" name="直线连接符 96"/>
            <p:cNvCxnSpPr/>
            <p:nvPr/>
          </p:nvCxnSpPr>
          <p:spPr>
            <a:xfrm flipV="1">
              <a:off x="6106795" y="3816885"/>
              <a:ext cx="1224455" cy="1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6277993" y="3829369"/>
              <a:ext cx="965174" cy="369332"/>
            </a:xfrm>
            <a:prstGeom prst="rect">
              <a:avLst/>
            </a:prstGeom>
            <a:solidFill>
              <a:schemeClr val="accent5">
                <a:lumMod val="60000"/>
                <a:lumOff val="40000"/>
              </a:schemeClr>
            </a:solidFill>
          </p:spPr>
          <p:txBody>
            <a:bodyPr wrap="square" rtlCol="0">
              <a:spAutoFit/>
            </a:bodyPr>
            <a:lstStyle/>
            <a:p>
              <a:r>
                <a:rPr kumimoji="1" lang="en-US" altLang="zh-CN" dirty="0"/>
                <a:t>100101</a:t>
              </a:r>
              <a:endParaRPr kumimoji="1" lang="zh-CN" altLang="en-US" dirty="0"/>
            </a:p>
          </p:txBody>
        </p:sp>
      </p:grpSp>
      <p:grpSp>
        <p:nvGrpSpPr>
          <p:cNvPr id="99" name="组合 98"/>
          <p:cNvGrpSpPr/>
          <p:nvPr/>
        </p:nvGrpSpPr>
        <p:grpSpPr>
          <a:xfrm>
            <a:off x="8141077" y="4272509"/>
            <a:ext cx="1578795" cy="1015663"/>
            <a:chOff x="6106795" y="3183038"/>
            <a:chExt cx="1578795" cy="1015663"/>
          </a:xfrm>
        </p:grpSpPr>
        <p:sp>
          <p:nvSpPr>
            <p:cNvPr id="100" name="文本框 99"/>
            <p:cNvSpPr txBox="1"/>
            <p:nvPr/>
          </p:nvSpPr>
          <p:spPr>
            <a:xfrm>
              <a:off x="6280415" y="3183038"/>
              <a:ext cx="1405175" cy="646331"/>
            </a:xfrm>
            <a:prstGeom prst="rect">
              <a:avLst/>
            </a:prstGeom>
            <a:noFill/>
          </p:spPr>
          <p:txBody>
            <a:bodyPr wrap="square" rtlCol="0">
              <a:spAutoFit/>
            </a:bodyPr>
            <a:lstStyle/>
            <a:p>
              <a:r>
                <a:rPr kumimoji="1" lang="en-US" altLang="zh-CN" dirty="0"/>
                <a:t>100101</a:t>
              </a:r>
              <a:endParaRPr kumimoji="1" lang="en-US" altLang="zh-CN" dirty="0"/>
            </a:p>
            <a:p>
              <a:r>
                <a:rPr kumimoji="1" lang="en-US" altLang="zh-CN" dirty="0"/>
                <a:t>000001</a:t>
              </a:r>
              <a:endParaRPr kumimoji="1" lang="zh-CN" altLang="en-US" dirty="0"/>
            </a:p>
          </p:txBody>
        </p:sp>
        <p:cxnSp>
          <p:nvCxnSpPr>
            <p:cNvPr id="101" name="直线连接符 100"/>
            <p:cNvCxnSpPr/>
            <p:nvPr/>
          </p:nvCxnSpPr>
          <p:spPr>
            <a:xfrm flipV="1">
              <a:off x="6106795" y="3816885"/>
              <a:ext cx="1224455" cy="114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a:xfrm>
              <a:off x="6277993" y="3829369"/>
              <a:ext cx="965174" cy="369332"/>
            </a:xfrm>
            <a:prstGeom prst="rect">
              <a:avLst/>
            </a:prstGeom>
            <a:solidFill>
              <a:schemeClr val="accent5">
                <a:lumMod val="60000"/>
                <a:lumOff val="40000"/>
              </a:schemeClr>
            </a:solidFill>
          </p:spPr>
          <p:txBody>
            <a:bodyPr wrap="square" rtlCol="0">
              <a:spAutoFit/>
            </a:bodyPr>
            <a:lstStyle/>
            <a:p>
              <a:r>
                <a:rPr kumimoji="1" lang="en-US" altLang="zh-CN" dirty="0"/>
                <a:t>100101</a:t>
              </a:r>
              <a:endParaRPr kumimoji="1" lang="zh-CN" altLang="en-US" dirty="0"/>
            </a:p>
          </p:txBody>
        </p:sp>
      </p:grpSp>
      <p:sp>
        <p:nvSpPr>
          <p:cNvPr id="103" name="燕尾形箭头 102"/>
          <p:cNvSpPr/>
          <p:nvPr/>
        </p:nvSpPr>
        <p:spPr>
          <a:xfrm rot="5400000">
            <a:off x="10104030" y="3889750"/>
            <a:ext cx="570174" cy="239090"/>
          </a:xfrm>
          <a:prstGeom prst="notchedRightArrow">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4" name="燕尾形箭头 103"/>
          <p:cNvSpPr/>
          <p:nvPr/>
        </p:nvSpPr>
        <p:spPr>
          <a:xfrm rot="5400000">
            <a:off x="6828948" y="3938052"/>
            <a:ext cx="570174" cy="239090"/>
          </a:xfrm>
          <a:prstGeom prst="notchedRightArrow">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5" name="燕尾形箭头 104"/>
          <p:cNvSpPr/>
          <p:nvPr/>
        </p:nvSpPr>
        <p:spPr>
          <a:xfrm>
            <a:off x="7698654" y="4612585"/>
            <a:ext cx="570174" cy="239090"/>
          </a:xfrm>
          <a:prstGeom prst="notchedRightArrow">
            <a:avLst/>
          </a:prstGeom>
          <a:noFill/>
          <a:ln w="28575">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6" name="文本框 105"/>
          <p:cNvSpPr txBox="1"/>
          <p:nvPr/>
        </p:nvSpPr>
        <p:spPr>
          <a:xfrm>
            <a:off x="5552004" y="4813659"/>
            <a:ext cx="1113402" cy="369332"/>
          </a:xfrm>
          <a:prstGeom prst="rect">
            <a:avLst/>
          </a:prstGeom>
          <a:noFill/>
        </p:spPr>
        <p:txBody>
          <a:bodyPr wrap="square" rtlCol="0">
            <a:spAutoFit/>
          </a:bodyPr>
          <a:lstStyle/>
          <a:p>
            <a:r>
              <a:rPr kumimoji="1" lang="zh-CN" altLang="en-US" dirty="0"/>
              <a:t>右移</a:t>
            </a:r>
            <a:r>
              <a:rPr kumimoji="1" lang="en-US" altLang="zh-CN" dirty="0"/>
              <a:t>2</a:t>
            </a:r>
            <a:r>
              <a:rPr kumimoji="1" lang="zh-CN" altLang="en-US" dirty="0"/>
              <a:t>位</a:t>
            </a:r>
            <a:endParaRPr kumimoji="1" lang="zh-CN" altLang="en-US" dirty="0"/>
          </a:p>
        </p:txBody>
      </p:sp>
      <p:sp>
        <p:nvSpPr>
          <p:cNvPr id="107" name="文本框 106"/>
          <p:cNvSpPr txBox="1"/>
          <p:nvPr/>
        </p:nvSpPr>
        <p:spPr>
          <a:xfrm>
            <a:off x="5561497" y="5808942"/>
            <a:ext cx="1113402" cy="369332"/>
          </a:xfrm>
          <a:prstGeom prst="rect">
            <a:avLst/>
          </a:prstGeom>
          <a:noFill/>
        </p:spPr>
        <p:txBody>
          <a:bodyPr wrap="square" rtlCol="0">
            <a:spAutoFit/>
          </a:bodyPr>
          <a:lstStyle/>
          <a:p>
            <a:r>
              <a:rPr kumimoji="1" lang="zh-CN" altLang="en-US" dirty="0"/>
              <a:t>右移</a:t>
            </a:r>
            <a:r>
              <a:rPr kumimoji="1" lang="en-US" altLang="zh-CN" dirty="0"/>
              <a:t>5</a:t>
            </a:r>
            <a:r>
              <a:rPr kumimoji="1" lang="zh-CN" altLang="en-US" dirty="0"/>
              <a:t>位</a:t>
            </a:r>
            <a:endParaRPr kumimoji="1" lang="zh-CN" altLang="en-US" dirty="0"/>
          </a:p>
        </p:txBody>
      </p:sp>
      <p:sp>
        <p:nvSpPr>
          <p:cNvPr id="108" name="文本框 107"/>
          <p:cNvSpPr txBox="1"/>
          <p:nvPr/>
        </p:nvSpPr>
        <p:spPr>
          <a:xfrm>
            <a:off x="11019694" y="4714924"/>
            <a:ext cx="1113402" cy="369332"/>
          </a:xfrm>
          <a:prstGeom prst="rect">
            <a:avLst/>
          </a:prstGeom>
          <a:noFill/>
        </p:spPr>
        <p:txBody>
          <a:bodyPr wrap="square" rtlCol="0">
            <a:spAutoFit/>
          </a:bodyPr>
          <a:lstStyle/>
          <a:p>
            <a:r>
              <a:rPr kumimoji="1" lang="zh-CN" altLang="en-US" dirty="0"/>
              <a:t>右移</a:t>
            </a:r>
            <a:r>
              <a:rPr kumimoji="1" lang="en-US" altLang="zh-CN" dirty="0"/>
              <a:t>4</a:t>
            </a:r>
            <a:r>
              <a:rPr kumimoji="1" lang="zh-CN" altLang="en-US" dirty="0"/>
              <a:t>位</a:t>
            </a:r>
            <a:endParaRPr kumimoji="1" lang="zh-CN" altLang="en-US" dirty="0"/>
          </a:p>
        </p:txBody>
      </p:sp>
      <p:sp>
        <p:nvSpPr>
          <p:cNvPr id="109" name="文本框 108"/>
          <p:cNvSpPr txBox="1"/>
          <p:nvPr/>
        </p:nvSpPr>
        <p:spPr>
          <a:xfrm>
            <a:off x="11002131" y="5822517"/>
            <a:ext cx="1113402" cy="369332"/>
          </a:xfrm>
          <a:prstGeom prst="rect">
            <a:avLst/>
          </a:prstGeom>
          <a:noFill/>
        </p:spPr>
        <p:txBody>
          <a:bodyPr wrap="square" rtlCol="0">
            <a:spAutoFit/>
          </a:bodyPr>
          <a:lstStyle/>
          <a:p>
            <a:r>
              <a:rPr kumimoji="1" lang="zh-CN" altLang="en-US" dirty="0"/>
              <a:t>右移</a:t>
            </a:r>
            <a:r>
              <a:rPr kumimoji="1" lang="en-US" altLang="zh-CN" dirty="0"/>
              <a:t>5</a:t>
            </a:r>
            <a:r>
              <a:rPr kumimoji="1" lang="zh-CN" altLang="en-US" dirty="0"/>
              <a:t>位</a:t>
            </a:r>
            <a:endParaRPr kumimoji="1" lang="zh-CN" altLang="en-US" dirty="0"/>
          </a:p>
        </p:txBody>
      </p:sp>
      <p:sp>
        <p:nvSpPr>
          <p:cNvPr id="110" name="文本框 109"/>
          <p:cNvSpPr txBox="1"/>
          <p:nvPr/>
        </p:nvSpPr>
        <p:spPr>
          <a:xfrm>
            <a:off x="8261838" y="5361073"/>
            <a:ext cx="1113402" cy="369332"/>
          </a:xfrm>
          <a:prstGeom prst="rect">
            <a:avLst/>
          </a:prstGeom>
          <a:noFill/>
        </p:spPr>
        <p:txBody>
          <a:bodyPr wrap="square" rtlCol="0">
            <a:spAutoFit/>
          </a:bodyPr>
          <a:lstStyle/>
          <a:p>
            <a:r>
              <a:rPr kumimoji="1" lang="zh-CN" altLang="en-US" dirty="0"/>
              <a:t>右移</a:t>
            </a:r>
            <a:r>
              <a:rPr kumimoji="1" lang="en-US" altLang="zh-CN" dirty="0"/>
              <a:t>5</a:t>
            </a:r>
            <a:r>
              <a:rPr kumimoji="1" lang="zh-CN" altLang="en-US" dirty="0"/>
              <a:t>位</a:t>
            </a:r>
            <a:endParaRPr kumimoji="1" lang="zh-CN" altLang="en-US" dirty="0"/>
          </a:p>
        </p:txBody>
      </p:sp>
      <p:sp>
        <p:nvSpPr>
          <p:cNvPr id="111" name="文本框 110"/>
          <p:cNvSpPr txBox="1"/>
          <p:nvPr/>
        </p:nvSpPr>
        <p:spPr>
          <a:xfrm>
            <a:off x="6970774" y="1609848"/>
            <a:ext cx="4937819" cy="369332"/>
          </a:xfrm>
          <a:prstGeom prst="rect">
            <a:avLst/>
          </a:prstGeom>
          <a:solidFill>
            <a:schemeClr val="tx2">
              <a:lumMod val="20000"/>
              <a:lumOff val="80000"/>
            </a:schemeClr>
          </a:solidFill>
        </p:spPr>
        <p:txBody>
          <a:bodyPr wrap="square" rtlCol="0">
            <a:spAutoFit/>
          </a:bodyPr>
          <a:lstStyle/>
          <a:p>
            <a:r>
              <a:rPr kumimoji="1" lang="zh-CN" altLang="en-US" dirty="0"/>
              <a:t>每次都是和</a:t>
            </a:r>
            <a:r>
              <a:rPr kumimoji="1" lang="zh-CN" altLang="en-US" dirty="0">
                <a:solidFill>
                  <a:schemeClr val="accent1">
                    <a:lumMod val="75000"/>
                  </a:schemeClr>
                </a:solidFill>
              </a:rPr>
              <a:t>初始冲突向量</a:t>
            </a:r>
            <a:r>
              <a:rPr kumimoji="1" lang="zh-CN" altLang="en-US" dirty="0"/>
              <a:t>执行按位或运算！！！</a:t>
            </a:r>
            <a:endParaRPr kumimoji="1" lang="zh-CN" altLang="en-US" dirty="0"/>
          </a:p>
        </p:txBody>
      </p:sp>
      <p:sp>
        <p:nvSpPr>
          <p:cNvPr id="114" name="矩形 113"/>
          <p:cNvSpPr/>
          <p:nvPr/>
        </p:nvSpPr>
        <p:spPr>
          <a:xfrm>
            <a:off x="5494692" y="2377057"/>
            <a:ext cx="6525491" cy="4088280"/>
          </a:xfrm>
          <a:prstGeom prst="rect">
            <a:avLst/>
          </a:prstGeom>
          <a:noFill/>
          <a:ln w="28575">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9" name="文本框 78"/>
          <p:cNvSpPr txBox="1"/>
          <p:nvPr/>
        </p:nvSpPr>
        <p:spPr>
          <a:xfrm>
            <a:off x="3955098" y="3380672"/>
            <a:ext cx="1102068" cy="400110"/>
          </a:xfrm>
          <a:prstGeom prst="rect">
            <a:avLst/>
          </a:prstGeom>
          <a:noFill/>
        </p:spPr>
        <p:txBody>
          <a:bodyPr wrap="square" rtlCol="0">
            <a:spAutoFit/>
          </a:bodyPr>
          <a:lstStyle/>
          <a:p>
            <a:r>
              <a:rPr kumimoji="1" lang="en-US" altLang="zh-CN" sz="2000" dirty="0">
                <a:latin typeface="+mn-ea"/>
              </a:rPr>
              <a:t>5</a:t>
            </a:r>
            <a:r>
              <a:rPr kumimoji="1" lang="zh-CN" altLang="en-US" sz="2000" dirty="0">
                <a:latin typeface="+mn-ea"/>
              </a:rPr>
              <a:t>，</a:t>
            </a:r>
            <a:r>
              <a:rPr kumimoji="1" lang="en-US" altLang="zh-CN" sz="2000" dirty="0">
                <a:latin typeface="+mn-ea"/>
              </a:rPr>
              <a:t>7+</a:t>
            </a:r>
            <a:endParaRPr kumimoji="1" lang="zh-CN" altLang="en-US" sz="2000" dirty="0">
              <a:latin typeface="+mn-ea"/>
            </a:endParaRPr>
          </a:p>
        </p:txBody>
      </p:sp>
      <p:sp>
        <p:nvSpPr>
          <p:cNvPr id="92" name="文本框 91"/>
          <p:cNvSpPr txBox="1"/>
          <p:nvPr/>
        </p:nvSpPr>
        <p:spPr>
          <a:xfrm>
            <a:off x="2700707" y="4347494"/>
            <a:ext cx="1102068" cy="400110"/>
          </a:xfrm>
          <a:prstGeom prst="rect">
            <a:avLst/>
          </a:prstGeom>
          <a:noFill/>
        </p:spPr>
        <p:txBody>
          <a:bodyPr wrap="square" rtlCol="0">
            <a:spAutoFit/>
          </a:bodyPr>
          <a:lstStyle/>
          <a:p>
            <a:r>
              <a:rPr kumimoji="1" lang="en-US" altLang="zh-CN" sz="2000" dirty="0">
                <a:latin typeface="+mn-ea"/>
              </a:rPr>
              <a:t>5</a:t>
            </a:r>
            <a:r>
              <a:rPr kumimoji="1" lang="zh-CN" altLang="en-US" sz="2000" dirty="0">
                <a:latin typeface="+mn-ea"/>
              </a:rPr>
              <a:t>，</a:t>
            </a:r>
            <a:r>
              <a:rPr kumimoji="1" lang="en-US" altLang="zh-CN" sz="2000" dirty="0">
                <a:latin typeface="+mn-ea"/>
              </a:rPr>
              <a:t>7+</a:t>
            </a:r>
            <a:endParaRPr kumimoji="1" lang="zh-CN" altLang="en-US" sz="2000" dirty="0">
              <a:latin typeface="+mn-ea"/>
            </a:endParaRPr>
          </a:p>
        </p:txBody>
      </p:sp>
      <p:sp>
        <p:nvSpPr>
          <p:cNvPr id="112" name="文本框 111"/>
          <p:cNvSpPr txBox="1"/>
          <p:nvPr/>
        </p:nvSpPr>
        <p:spPr>
          <a:xfrm>
            <a:off x="566391" y="3468584"/>
            <a:ext cx="1102068" cy="400110"/>
          </a:xfrm>
          <a:prstGeom prst="rect">
            <a:avLst/>
          </a:prstGeom>
          <a:noFill/>
        </p:spPr>
        <p:txBody>
          <a:bodyPr wrap="square" rtlCol="0">
            <a:spAutoFit/>
          </a:bodyPr>
          <a:lstStyle/>
          <a:p>
            <a:r>
              <a:rPr kumimoji="1" lang="en-US" altLang="zh-CN" sz="2000" dirty="0">
                <a:latin typeface="+mn-ea"/>
              </a:rPr>
              <a:t>5</a:t>
            </a:r>
            <a:r>
              <a:rPr kumimoji="1" lang="zh-CN" altLang="en-US" sz="2000" dirty="0">
                <a:latin typeface="+mn-ea"/>
              </a:rPr>
              <a:t>，</a:t>
            </a:r>
            <a:r>
              <a:rPr kumimoji="1" lang="en-US" altLang="zh-CN" sz="2000" dirty="0">
                <a:latin typeface="+mn-ea"/>
              </a:rPr>
              <a:t>7+</a:t>
            </a:r>
            <a:endParaRPr kumimoji="1" lang="zh-CN" altLang="en-US" sz="2000" dirty="0">
              <a:latin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92915"/>
    </mc:Choice>
    <mc:Fallback>
      <p:transition spd="slow" advTm="3929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8"/>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9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5"/>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7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9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ldLvl="0" animBg="1"/>
      <p:bldP spid="30" grpId="0" bldLvl="0" animBg="1"/>
      <p:bldP spid="31" grpId="0" bldLvl="0" animBg="1"/>
      <p:bldP spid="13" grpId="0"/>
      <p:bldP spid="39" grpId="0"/>
      <p:bldP spid="35" grpId="0" bldLvl="0" animBg="1"/>
      <p:bldP spid="44" grpId="0"/>
      <p:bldP spid="59" grpId="0"/>
      <p:bldP spid="60" grpId="0"/>
      <p:bldP spid="78" grpId="0"/>
      <p:bldP spid="93" grpId="0" bldLvl="0" animBg="1"/>
      <p:bldP spid="94" grpId="0"/>
      <p:bldP spid="103" grpId="0" bldLvl="0" animBg="1"/>
      <p:bldP spid="104" grpId="0" bldLvl="0" animBg="1"/>
      <p:bldP spid="105" grpId="0" bldLvl="0" animBg="1"/>
      <p:bldP spid="106" grpId="0"/>
      <p:bldP spid="107" grpId="0"/>
      <p:bldP spid="108" grpId="0"/>
      <p:bldP spid="109" grpId="0"/>
      <p:bldP spid="110" grpId="0"/>
      <p:bldP spid="79" grpId="0"/>
      <p:bldP spid="92" grpId="0"/>
      <p:bldP spid="1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26705"/>
            <a:ext cx="954241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3.10</a:t>
              </a:r>
              <a:r>
                <a:rPr lang="zh-CN" altLang="en-US" sz="3600" b="1" dirty="0">
                  <a:solidFill>
                    <a:schemeClr val="accent1"/>
                  </a:solidFill>
                  <a:latin typeface="+mn-ea"/>
                  <a:sym typeface="+mn-ea"/>
                </a:rPr>
                <a:t>（</a:t>
              </a:r>
              <a:r>
                <a:rPr lang="zh-CN" altLang="zh-CN" sz="3600" b="1" dirty="0">
                  <a:solidFill>
                    <a:schemeClr val="accent1"/>
                  </a:solidFill>
                  <a:latin typeface="+mn-ea"/>
                </a:rPr>
                <a:t>单功能非线性流水线调度</a:t>
              </a:r>
              <a:r>
                <a:rPr lang="zh-CN" altLang="en-US" sz="3600" b="1" dirty="0">
                  <a:solidFill>
                    <a:schemeClr val="accent1"/>
                  </a:solidFill>
                  <a:latin typeface="+mn-ea"/>
                  <a:sym typeface="+mn-ea"/>
                </a:rPr>
                <a:t>）</a:t>
              </a:r>
              <a:endParaRPr lang="zh-CN" altLang="en-US" sz="3600" b="1" dirty="0">
                <a:solidFill>
                  <a:schemeClr val="accent1"/>
                </a:solidFill>
                <a:latin typeface="+mn-ea"/>
                <a:sym typeface="+mn-ea"/>
              </a:endParaRPr>
            </a:p>
          </p:txBody>
        </p:sp>
      </p:grpSp>
      <p:sp>
        <p:nvSpPr>
          <p:cNvPr id="2" name="文本框 1"/>
          <p:cNvSpPr txBox="1"/>
          <p:nvPr/>
        </p:nvSpPr>
        <p:spPr>
          <a:xfrm>
            <a:off x="290316" y="1276258"/>
            <a:ext cx="8188666" cy="955903"/>
          </a:xfrm>
          <a:prstGeom prst="rect">
            <a:avLst/>
          </a:prstGeom>
          <a:noFill/>
        </p:spPr>
        <p:txBody>
          <a:bodyPr wrap="square" rtlCol="0">
            <a:spAutoFit/>
          </a:bodyPr>
          <a:lstStyle/>
          <a:p>
            <a:pPr>
              <a:lnSpc>
                <a:spcPct val="150000"/>
              </a:lnSpc>
              <a:spcBef>
                <a:spcPct val="0"/>
              </a:spcBef>
              <a:buClrTx/>
              <a:buSzTx/>
            </a:pPr>
            <a:r>
              <a:rPr lang="zh-CN" altLang="en-US" sz="2000" dirty="0">
                <a:latin typeface="+mn-ea"/>
              </a:rPr>
              <a:t>解：</a:t>
            </a:r>
            <a:endParaRPr lang="en-US" altLang="zh-CN" sz="2000" dirty="0">
              <a:latin typeface="+mn-ea"/>
            </a:endParaRPr>
          </a:p>
          <a:p>
            <a:pPr marL="457200" indent="-457200">
              <a:lnSpc>
                <a:spcPct val="150000"/>
              </a:lnSpc>
              <a:spcBef>
                <a:spcPct val="0"/>
              </a:spcBef>
              <a:buFont typeface="Wingdings" panose="05000000000000000000" pitchFamily="2" charset="2"/>
              <a:buAutoNum type="arabicParenBoth" startAt="4"/>
            </a:pPr>
            <a:r>
              <a:rPr lang="zh-CN" altLang="en-US" sz="2000" dirty="0">
                <a:latin typeface="+mn-ea"/>
              </a:rPr>
              <a:t>由状态转移图可得不发生段争用冲突的调度策略以及平均延迟时间</a:t>
            </a:r>
            <a:endParaRPr kumimoji="1" lang="zh-CN" altLang="en-US" dirty="0">
              <a:latin typeface="+mn-ea"/>
            </a:endParaRPr>
          </a:p>
        </p:txBody>
      </p:sp>
      <p:sp>
        <p:nvSpPr>
          <p:cNvPr id="79" name="TextBox 5"/>
          <p:cNvSpPr txBox="1">
            <a:spLocks noChangeArrowheads="1"/>
          </p:cNvSpPr>
          <p:nvPr/>
        </p:nvSpPr>
        <p:spPr bwMode="auto">
          <a:xfrm>
            <a:off x="809283" y="4791707"/>
            <a:ext cx="10340162" cy="96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ClrTx/>
              <a:buSzTx/>
              <a:buFont typeface="Wingdings" panose="05000000000000000000" pitchFamily="2" charset="2"/>
              <a:buNone/>
            </a:pPr>
            <a:r>
              <a:rPr lang="zh-CN" altLang="en-US" sz="2000" dirty="0">
                <a:latin typeface="+mn-ea"/>
                <a:ea typeface="+mn-ea"/>
              </a:rPr>
              <a:t>由上可知，允许不等时间间隔调度的最优调度策略是</a:t>
            </a:r>
            <a:r>
              <a:rPr lang="en-US" altLang="zh-CN" sz="2000" dirty="0">
                <a:latin typeface="+mn-ea"/>
                <a:ea typeface="+mn-ea"/>
              </a:rPr>
              <a:t>(2,2,5)</a:t>
            </a:r>
            <a:r>
              <a:rPr lang="zh-CN" altLang="en-US" sz="2000" dirty="0">
                <a:latin typeface="+mn-ea"/>
                <a:ea typeface="+mn-ea"/>
              </a:rPr>
              <a:t>，流水线最大吞吐率为：</a:t>
            </a:r>
            <a:r>
              <a:rPr lang="en-US" altLang="zh-CN" sz="2000" dirty="0">
                <a:latin typeface="+mn-ea"/>
                <a:ea typeface="+mn-ea"/>
              </a:rPr>
              <a:t> 1/3∆</a:t>
            </a:r>
            <a:r>
              <a:rPr lang="en-US" altLang="zh-CN" sz="2000" i="1" dirty="0">
                <a:latin typeface="+mn-ea"/>
                <a:ea typeface="+mn-ea"/>
              </a:rPr>
              <a:t>t</a:t>
            </a:r>
            <a:r>
              <a:rPr lang="zh-CN" altLang="en-US" sz="2000" dirty="0">
                <a:latin typeface="+mn-ea"/>
                <a:ea typeface="+mn-ea"/>
              </a:rPr>
              <a:t>。</a:t>
            </a:r>
            <a:endParaRPr lang="en-US" altLang="zh-CN" sz="2000" dirty="0">
              <a:latin typeface="+mn-ea"/>
              <a:ea typeface="+mn-ea"/>
            </a:endParaRPr>
          </a:p>
          <a:p>
            <a:pPr eaLnBrk="1" hangingPunct="1">
              <a:lnSpc>
                <a:spcPct val="150000"/>
              </a:lnSpc>
              <a:spcBef>
                <a:spcPct val="0"/>
              </a:spcBef>
              <a:buClrTx/>
              <a:buSzTx/>
              <a:buFont typeface="Wingdings" panose="05000000000000000000" pitchFamily="2" charset="2"/>
              <a:buNone/>
            </a:pPr>
            <a:r>
              <a:rPr lang="zh-CN" altLang="en-US" sz="2000" dirty="0">
                <a:latin typeface="+mn-ea"/>
                <a:ea typeface="+mn-ea"/>
              </a:rPr>
              <a:t>等时间间隔的调度的最优调度策略是</a:t>
            </a:r>
            <a:r>
              <a:rPr lang="en-US" altLang="zh-CN" sz="2000" dirty="0">
                <a:latin typeface="+mn-ea"/>
                <a:ea typeface="+mn-ea"/>
              </a:rPr>
              <a:t>(4)</a:t>
            </a:r>
            <a:r>
              <a:rPr lang="zh-CN" altLang="en-US" sz="2000" dirty="0">
                <a:latin typeface="+mn-ea"/>
                <a:ea typeface="+mn-ea"/>
              </a:rPr>
              <a:t>，流水线最大吞吐率为：</a:t>
            </a:r>
            <a:r>
              <a:rPr lang="en-US" altLang="zh-CN" sz="2000" dirty="0">
                <a:latin typeface="+mn-ea"/>
                <a:ea typeface="+mn-ea"/>
              </a:rPr>
              <a:t>1/4∆</a:t>
            </a:r>
            <a:r>
              <a:rPr lang="en-US" altLang="zh-CN" sz="2000" i="1" dirty="0">
                <a:latin typeface="+mn-ea"/>
                <a:ea typeface="+mn-ea"/>
              </a:rPr>
              <a:t>t</a:t>
            </a:r>
            <a:r>
              <a:rPr lang="zh-CN" altLang="en-US" sz="2000" i="1" dirty="0">
                <a:latin typeface="+mn-ea"/>
                <a:ea typeface="+mn-ea"/>
              </a:rPr>
              <a:t>。</a:t>
            </a:r>
            <a:endParaRPr lang="zh-CN" altLang="en-US" sz="2000" dirty="0">
              <a:latin typeface="+mn-ea"/>
              <a:ea typeface="+mn-ea"/>
            </a:endParaRPr>
          </a:p>
        </p:txBody>
      </p:sp>
      <p:pic>
        <p:nvPicPr>
          <p:cNvPr id="9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084065" y="2503583"/>
            <a:ext cx="914400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24159"/>
    </mc:Choice>
    <mc:Fallback>
      <p:transition spd="slow" advTm="124159"/>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10795" y="1172846"/>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26705"/>
            <a:ext cx="9542416" cy="1257992"/>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sym typeface="+mn-ea"/>
                </a:rPr>
                <a:t>3.10</a:t>
              </a:r>
              <a:r>
                <a:rPr lang="zh-CN" altLang="en-US" sz="3600" b="1" dirty="0">
                  <a:solidFill>
                    <a:schemeClr val="accent1"/>
                  </a:solidFill>
                  <a:latin typeface="+mn-ea"/>
                  <a:sym typeface="+mn-ea"/>
                </a:rPr>
                <a:t>（</a:t>
              </a:r>
              <a:r>
                <a:rPr lang="zh-CN" altLang="zh-CN" sz="3600" b="1" dirty="0">
                  <a:solidFill>
                    <a:schemeClr val="accent1"/>
                  </a:solidFill>
                  <a:latin typeface="+mn-ea"/>
                </a:rPr>
                <a:t>单功能非线性流水线调度</a:t>
              </a:r>
              <a:r>
                <a:rPr lang="zh-CN" altLang="en-US" sz="3600" b="1" dirty="0">
                  <a:solidFill>
                    <a:schemeClr val="accent1"/>
                  </a:solidFill>
                  <a:latin typeface="+mn-ea"/>
                  <a:sym typeface="+mn-ea"/>
                </a:rPr>
                <a:t>）</a:t>
              </a:r>
              <a:endParaRPr lang="zh-CN" altLang="en-US" sz="3600" b="1" dirty="0">
                <a:solidFill>
                  <a:schemeClr val="accent1"/>
                </a:solidFill>
                <a:latin typeface="+mn-ea"/>
                <a:sym typeface="+mn-ea"/>
              </a:endParaRPr>
            </a:p>
          </p:txBody>
        </p:sp>
      </p:grpSp>
      <p:sp>
        <p:nvSpPr>
          <p:cNvPr id="2" name="文本框 1"/>
          <p:cNvSpPr txBox="1"/>
          <p:nvPr/>
        </p:nvSpPr>
        <p:spPr>
          <a:xfrm>
            <a:off x="1194325" y="1399250"/>
            <a:ext cx="9861602" cy="957891"/>
          </a:xfrm>
          <a:prstGeom prst="rect">
            <a:avLst/>
          </a:prstGeom>
          <a:noFill/>
        </p:spPr>
        <p:txBody>
          <a:bodyPr wrap="square" rtlCol="0">
            <a:spAutoFit/>
          </a:bodyPr>
          <a:lstStyle/>
          <a:p>
            <a:pPr>
              <a:lnSpc>
                <a:spcPct val="150000"/>
              </a:lnSpc>
              <a:spcBef>
                <a:spcPct val="0"/>
              </a:spcBef>
              <a:buClrTx/>
              <a:buSzTx/>
            </a:pPr>
            <a:r>
              <a:rPr lang="zh-CN" altLang="en-US" sz="2000" dirty="0">
                <a:latin typeface="+mn-ea"/>
              </a:rPr>
              <a:t>解：</a:t>
            </a:r>
            <a:endParaRPr lang="en-US" altLang="zh-CN" sz="2000" dirty="0">
              <a:latin typeface="+mn-ea"/>
            </a:endParaRPr>
          </a:p>
          <a:p>
            <a:pPr marL="457200" indent="-457200">
              <a:lnSpc>
                <a:spcPct val="150000"/>
              </a:lnSpc>
              <a:spcBef>
                <a:spcPct val="0"/>
              </a:spcBef>
              <a:buFont typeface="Wingdings" panose="05000000000000000000" pitchFamily="2" charset="2"/>
              <a:buAutoNum type="arabicParenBoth" startAt="5"/>
            </a:pPr>
            <a:r>
              <a:rPr lang="zh-CN" altLang="en-US" sz="2000" dirty="0">
                <a:latin typeface="+mn-ea"/>
              </a:rPr>
              <a:t>按调度策略</a:t>
            </a:r>
            <a:r>
              <a:rPr lang="en-US" altLang="zh-CN" sz="2000" dirty="0">
                <a:latin typeface="+mn-ea"/>
              </a:rPr>
              <a:t>(2,2,5)</a:t>
            </a:r>
            <a:r>
              <a:rPr lang="zh-CN" altLang="en-US" sz="2000" dirty="0">
                <a:latin typeface="+mn-ea"/>
              </a:rPr>
              <a:t>，连续输入</a:t>
            </a:r>
            <a:r>
              <a:rPr lang="en-US" altLang="zh-CN" sz="2000" dirty="0">
                <a:latin typeface="+mn-ea"/>
              </a:rPr>
              <a:t>10 </a:t>
            </a:r>
            <a:r>
              <a:rPr lang="zh-CN" altLang="en-US" sz="2000" dirty="0">
                <a:latin typeface="+mn-ea"/>
              </a:rPr>
              <a:t>个任务的流水线实际吞吐率与加速比分别为：</a:t>
            </a:r>
            <a:endParaRPr kumimoji="1" lang="zh-CN" altLang="en-US" dirty="0">
              <a:latin typeface="+mn-ea"/>
            </a:endParaRPr>
          </a:p>
        </p:txBody>
      </p:sp>
      <p:pic>
        <p:nvPicPr>
          <p:cNvPr id="14"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205740" y="2758299"/>
            <a:ext cx="619125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5"/>
          <p:cNvSpPr>
            <a:spLocks noChangeArrowheads="1"/>
          </p:cNvSpPr>
          <p:nvPr/>
        </p:nvSpPr>
        <p:spPr bwMode="auto">
          <a:xfrm>
            <a:off x="1686888" y="4461598"/>
            <a:ext cx="8686800" cy="49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zh-CN" altLang="en-US" sz="2000" dirty="0">
                <a:latin typeface="+mn-ea"/>
                <a:ea typeface="+mn-ea"/>
              </a:rPr>
              <a:t>按调度策略</a:t>
            </a:r>
            <a:r>
              <a:rPr lang="en-US" altLang="zh-CN" sz="2000" dirty="0">
                <a:latin typeface="+mn-ea"/>
                <a:ea typeface="+mn-ea"/>
              </a:rPr>
              <a:t>(4)</a:t>
            </a:r>
            <a:r>
              <a:rPr lang="zh-CN" altLang="en-US" sz="2000" dirty="0">
                <a:latin typeface="+mn-ea"/>
                <a:ea typeface="+mn-ea"/>
              </a:rPr>
              <a:t>，连续输入</a:t>
            </a:r>
            <a:r>
              <a:rPr lang="en-US" altLang="zh-CN" sz="2000" dirty="0">
                <a:latin typeface="+mn-ea"/>
                <a:ea typeface="+mn-ea"/>
              </a:rPr>
              <a:t>10 </a:t>
            </a:r>
            <a:r>
              <a:rPr lang="zh-CN" altLang="en-US" sz="2000" dirty="0">
                <a:latin typeface="+mn-ea"/>
                <a:ea typeface="+mn-ea"/>
              </a:rPr>
              <a:t>个任务的流水线实际吞吐率与加速比分别为：</a:t>
            </a:r>
            <a:endParaRPr lang="zh-CN" altLang="en-US" sz="2000" dirty="0">
              <a:latin typeface="+mn-ea"/>
              <a:ea typeface="+mn-ea"/>
            </a:endParaRPr>
          </a:p>
        </p:txBody>
      </p:sp>
      <p:pic>
        <p:nvPicPr>
          <p:cNvPr id="19"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05225" y="5137282"/>
            <a:ext cx="3359150"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slow" p14:dur="2000" advTm="131386"/>
    </mc:Choice>
    <mc:Fallback>
      <p:transition spd="slow" advTm="131386"/>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101062"/>
            <a:ext cx="9673936" cy="973115"/>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rPr>
                <a:t>3.11</a:t>
              </a:r>
              <a:r>
                <a:rPr lang="zh-CN" altLang="en-US" sz="3600" b="1" dirty="0">
                  <a:solidFill>
                    <a:schemeClr val="accent1"/>
                  </a:solidFill>
                  <a:latin typeface="+mn-ea"/>
                </a:rPr>
                <a:t>（</a:t>
              </a:r>
              <a:r>
                <a:rPr lang="zh-CN" altLang="zh-CN" sz="3600" b="1" dirty="0">
                  <a:solidFill>
                    <a:schemeClr val="accent1"/>
                  </a:solidFill>
                  <a:latin typeface="+mn-ea"/>
                </a:rPr>
                <a:t>相关，定向</a:t>
              </a:r>
              <a:r>
                <a:rPr lang="zh-CN" altLang="en-US" sz="3600" b="1" dirty="0">
                  <a:solidFill>
                    <a:schemeClr val="accent1"/>
                  </a:solidFill>
                  <a:latin typeface="+mn-ea"/>
                </a:rPr>
                <a:t>，指令调度）</a:t>
              </a:r>
              <a:endParaRPr lang="zh-CN" altLang="en-US" sz="3600" b="1" dirty="0">
                <a:solidFill>
                  <a:schemeClr val="accent1"/>
                </a:solidFill>
                <a:latin typeface="+mn-ea"/>
                <a:sym typeface="+mn-ea"/>
              </a:endParaRPr>
            </a:p>
          </p:txBody>
        </p:sp>
      </p:grpSp>
      <p:sp>
        <p:nvSpPr>
          <p:cNvPr id="22" name="内容占位符 2"/>
          <p:cNvSpPr txBox="1"/>
          <p:nvPr/>
        </p:nvSpPr>
        <p:spPr>
          <a:xfrm>
            <a:off x="318395" y="1263219"/>
            <a:ext cx="7620258" cy="5462843"/>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spcBef>
                <a:spcPts val="0"/>
              </a:spcBef>
              <a:buFont typeface="Arial" panose="020B0604020202020204" pitchFamily="34" charset="0"/>
              <a:buNone/>
            </a:pPr>
            <a:r>
              <a:rPr lang="en-US" altLang="zh-CN" sz="2000" dirty="0">
                <a:latin typeface="+mn-ea"/>
              </a:rPr>
              <a:t>3.11    </a:t>
            </a:r>
            <a:r>
              <a:rPr lang="zh-CN" altLang="en-US" sz="2000" dirty="0">
                <a:latin typeface="+mn-ea"/>
              </a:rPr>
              <a:t>在</a:t>
            </a:r>
            <a:r>
              <a:rPr lang="en-US" altLang="zh-CN" sz="2000" dirty="0">
                <a:latin typeface="+mn-ea"/>
              </a:rPr>
              <a:t>MIPS</a:t>
            </a:r>
            <a:r>
              <a:rPr lang="zh-CN" altLang="en-US" sz="2000" dirty="0">
                <a:latin typeface="+mn-ea"/>
              </a:rPr>
              <a:t>流水线</a:t>
            </a:r>
            <a:r>
              <a:rPr lang="en-US" altLang="zh-CN" sz="2000" dirty="0">
                <a:latin typeface="+mn-ea"/>
              </a:rPr>
              <a:t>(</a:t>
            </a:r>
            <a:r>
              <a:rPr lang="zh-CN" altLang="en-US" sz="2000" dirty="0">
                <a:latin typeface="+mn-ea"/>
              </a:rPr>
              <a:t>按照图</a:t>
            </a:r>
            <a:r>
              <a:rPr lang="en-US" altLang="zh-CN" sz="2000" dirty="0">
                <a:latin typeface="+mn-ea"/>
              </a:rPr>
              <a:t>3.33)</a:t>
            </a:r>
            <a:r>
              <a:rPr lang="zh-CN" altLang="en-US" sz="2000" dirty="0">
                <a:latin typeface="+mn-ea"/>
              </a:rPr>
              <a:t>上运行右边代码序列：</a:t>
            </a:r>
            <a:endParaRPr lang="zh-CN" altLang="en-US" sz="2000" dirty="0">
              <a:latin typeface="+mn-ea"/>
            </a:endParaRPr>
          </a:p>
          <a:p>
            <a:pPr marL="0" indent="0">
              <a:lnSpc>
                <a:spcPct val="110000"/>
              </a:lnSpc>
              <a:spcBef>
                <a:spcPts val="0"/>
              </a:spcBef>
              <a:buFont typeface="Arial" panose="020B0604020202020204" pitchFamily="34" charset="0"/>
              <a:buNone/>
            </a:pPr>
            <a:r>
              <a:rPr lang="zh-CN" altLang="en-US" sz="2000" dirty="0">
                <a:latin typeface="+mn-ea"/>
              </a:rPr>
              <a:t>其中，</a:t>
            </a:r>
            <a:r>
              <a:rPr lang="en-US" altLang="zh-CN" sz="2000" dirty="0">
                <a:latin typeface="+mn-ea"/>
              </a:rPr>
              <a:t>R3</a:t>
            </a:r>
            <a:r>
              <a:rPr lang="zh-CN" altLang="en-US" sz="2000" dirty="0">
                <a:latin typeface="+mn-ea"/>
              </a:rPr>
              <a:t>的初始值是</a:t>
            </a:r>
            <a:r>
              <a:rPr lang="en-US" altLang="zh-CN" sz="2000" dirty="0">
                <a:latin typeface="+mn-ea"/>
              </a:rPr>
              <a:t>R2</a:t>
            </a:r>
            <a:r>
              <a:rPr lang="zh-CN" altLang="en-US" sz="2000" dirty="0">
                <a:latin typeface="+mn-ea"/>
              </a:rPr>
              <a:t>＋</a:t>
            </a:r>
            <a:r>
              <a:rPr lang="en-US" altLang="zh-CN" sz="2000" dirty="0">
                <a:latin typeface="+mn-ea"/>
              </a:rPr>
              <a:t>396</a:t>
            </a:r>
            <a:r>
              <a:rPr lang="zh-CN" altLang="en-US" sz="2000" dirty="0">
                <a:latin typeface="+mn-ea"/>
              </a:rPr>
              <a:t>。假设：在整个代码序列的运行过程中，所有的存储器访问都是命中的，并且在一个时钟周期中对同一个寄存器的读操作和写操作可以通过寄存器“定向”。问：</a:t>
            </a:r>
            <a:endParaRPr lang="zh-CN" altLang="en-US" sz="2000" dirty="0">
              <a:latin typeface="+mn-ea"/>
            </a:endParaRPr>
          </a:p>
          <a:p>
            <a:pPr marL="457200" indent="-457200">
              <a:lnSpc>
                <a:spcPct val="110000"/>
              </a:lnSpc>
              <a:spcBef>
                <a:spcPts val="0"/>
              </a:spcBef>
              <a:buFont typeface="+mj-lt"/>
              <a:buAutoNum type="arabicPeriod"/>
            </a:pPr>
            <a:r>
              <a:rPr lang="zh-CN" altLang="en-US" sz="2000" dirty="0">
                <a:latin typeface="+mn-ea"/>
              </a:rPr>
              <a:t>在</a:t>
            </a:r>
            <a:r>
              <a:rPr lang="zh-CN" altLang="en-US" sz="2000" dirty="0">
                <a:solidFill>
                  <a:srgbClr val="FF0000"/>
                </a:solidFill>
                <a:latin typeface="+mn-ea"/>
              </a:rPr>
              <a:t>没有任何其它定向硬件</a:t>
            </a:r>
            <a:r>
              <a:rPr lang="zh-CN" altLang="en-US" sz="2000" dirty="0">
                <a:latin typeface="+mn-ea"/>
              </a:rPr>
              <a:t>的支持下，请画出该指令序列执行的流水线时空图。假设采用</a:t>
            </a:r>
            <a:r>
              <a:rPr lang="zh-CN" altLang="en-US" sz="2000" dirty="0">
                <a:solidFill>
                  <a:srgbClr val="FF0000"/>
                </a:solidFill>
                <a:latin typeface="+mn-ea"/>
              </a:rPr>
              <a:t>排空流水线的策略处理分支指令</a:t>
            </a:r>
            <a:r>
              <a:rPr lang="zh-CN" altLang="en-US" sz="2000" dirty="0">
                <a:latin typeface="+mn-ea"/>
              </a:rPr>
              <a:t>，且所有的存储器访问都可以命中</a:t>
            </a:r>
            <a:r>
              <a:rPr lang="en-US" altLang="zh-CN" sz="2000" dirty="0">
                <a:latin typeface="+mn-ea"/>
              </a:rPr>
              <a:t>Cache</a:t>
            </a:r>
            <a:r>
              <a:rPr lang="zh-CN" altLang="en-US" sz="2000" dirty="0">
                <a:latin typeface="+mn-ea"/>
              </a:rPr>
              <a:t>，那么执行上述循环需要多少个时钟周期？</a:t>
            </a:r>
            <a:endParaRPr lang="zh-CN" altLang="en-US" sz="2000" dirty="0">
              <a:latin typeface="+mn-ea"/>
            </a:endParaRPr>
          </a:p>
          <a:p>
            <a:pPr marL="457200" indent="-457200">
              <a:lnSpc>
                <a:spcPct val="110000"/>
              </a:lnSpc>
              <a:spcBef>
                <a:spcPts val="0"/>
              </a:spcBef>
              <a:buFont typeface="+mj-lt"/>
              <a:buAutoNum type="arabicPeriod"/>
            </a:pPr>
            <a:r>
              <a:rPr lang="zh-CN" altLang="en-US" sz="2000" dirty="0">
                <a:latin typeface="+mn-ea"/>
              </a:rPr>
              <a:t>假设该流水线</a:t>
            </a:r>
            <a:r>
              <a:rPr lang="zh-CN" altLang="en-US" sz="2000" dirty="0">
                <a:solidFill>
                  <a:srgbClr val="FF0000"/>
                </a:solidFill>
                <a:latin typeface="+mn-ea"/>
              </a:rPr>
              <a:t>有正常的定向路径</a:t>
            </a:r>
            <a:r>
              <a:rPr lang="zh-CN" altLang="en-US" sz="2000" dirty="0">
                <a:latin typeface="+mn-ea"/>
              </a:rPr>
              <a:t>，请画出该指令序列执行的流水线时空图。假设采用</a:t>
            </a:r>
            <a:r>
              <a:rPr lang="zh-CN" altLang="en-US" sz="2000" dirty="0">
                <a:solidFill>
                  <a:srgbClr val="FF0000"/>
                </a:solidFill>
                <a:latin typeface="+mn-ea"/>
              </a:rPr>
              <a:t>预测分支失败</a:t>
            </a:r>
            <a:r>
              <a:rPr lang="zh-CN" altLang="en-US" sz="2000" dirty="0">
                <a:latin typeface="+mn-ea"/>
              </a:rPr>
              <a:t>的策略处理分支指令，且所有的存储器访问都可以命中</a:t>
            </a:r>
            <a:r>
              <a:rPr lang="en-US" altLang="zh-CN" sz="2000" dirty="0">
                <a:latin typeface="+mn-ea"/>
              </a:rPr>
              <a:t>Cache</a:t>
            </a:r>
            <a:r>
              <a:rPr lang="zh-CN" altLang="en-US" sz="2000" dirty="0">
                <a:latin typeface="+mn-ea"/>
              </a:rPr>
              <a:t>，那么执行上述循环需要多少个时钟周期？</a:t>
            </a:r>
            <a:endParaRPr lang="zh-CN" altLang="en-US" sz="2000" dirty="0">
              <a:latin typeface="+mn-ea"/>
            </a:endParaRPr>
          </a:p>
          <a:p>
            <a:pPr marL="457200" indent="-457200">
              <a:lnSpc>
                <a:spcPct val="110000"/>
              </a:lnSpc>
              <a:spcBef>
                <a:spcPts val="0"/>
              </a:spcBef>
              <a:buFont typeface="+mj-lt"/>
              <a:buAutoNum type="arabicPeriod"/>
            </a:pPr>
            <a:r>
              <a:rPr lang="zh-CN" altLang="en-US" sz="2000" dirty="0">
                <a:latin typeface="+mn-ea"/>
              </a:rPr>
              <a:t>假设该流水线</a:t>
            </a:r>
            <a:r>
              <a:rPr lang="zh-CN" altLang="en-US" sz="2000" dirty="0">
                <a:solidFill>
                  <a:srgbClr val="FF0000"/>
                </a:solidFill>
                <a:latin typeface="+mn-ea"/>
              </a:rPr>
              <a:t>有正常的定向路径</a:t>
            </a:r>
            <a:r>
              <a:rPr lang="zh-CN" altLang="en-US" sz="2000" dirty="0">
                <a:latin typeface="+mn-ea"/>
              </a:rPr>
              <a:t>，请对该循环中的</a:t>
            </a:r>
            <a:r>
              <a:rPr lang="zh-CN" altLang="en-US" sz="2000" dirty="0">
                <a:solidFill>
                  <a:srgbClr val="FF0000"/>
                </a:solidFill>
                <a:latin typeface="+mn-ea"/>
              </a:rPr>
              <a:t>指令进行调度</a:t>
            </a:r>
            <a:r>
              <a:rPr lang="zh-CN" altLang="en-US" sz="2000" dirty="0">
                <a:latin typeface="+mn-ea"/>
              </a:rPr>
              <a:t>。注意可以重新组织指令的顺序，也可以修改指令的操作数，但是不能增加指令的条数。请画出该指令序列执行的流水线时空图，并计算执行上述循环需要的时钟周期数？ </a:t>
            </a:r>
            <a:endParaRPr lang="zh-CN" altLang="en-US" sz="2000" dirty="0">
              <a:latin typeface="+mn-ea"/>
            </a:endParaRPr>
          </a:p>
        </p:txBody>
      </p:sp>
      <p:sp>
        <p:nvSpPr>
          <p:cNvPr id="3" name="矩形 2"/>
          <p:cNvSpPr/>
          <p:nvPr/>
        </p:nvSpPr>
        <p:spPr>
          <a:xfrm>
            <a:off x="8191839" y="2294638"/>
            <a:ext cx="3782050" cy="2807885"/>
          </a:xfrm>
          <a:prstGeom prst="rect">
            <a:avLst/>
          </a:prstGeom>
          <a:ln w="28575">
            <a:solidFill>
              <a:schemeClr val="accent5">
                <a:lumMod val="75000"/>
              </a:schemeClr>
            </a:solidFill>
          </a:ln>
        </p:spPr>
        <p:txBody>
          <a:bodyPr wrap="square">
            <a:spAutoFit/>
          </a:bodyPr>
          <a:lstStyle/>
          <a:p>
            <a:pPr>
              <a:lnSpc>
                <a:spcPct val="150000"/>
              </a:lnSpc>
            </a:pPr>
            <a:r>
              <a:rPr lang="en-US" altLang="zh-CN" sz="2000" dirty="0">
                <a:latin typeface="+mn-ea"/>
              </a:rPr>
              <a:t>LOOP:		LW	R1, 0(R2)</a:t>
            </a:r>
            <a:endParaRPr lang="en-US" altLang="zh-CN" sz="2000" dirty="0">
              <a:latin typeface="+mn-ea"/>
            </a:endParaRPr>
          </a:p>
          <a:p>
            <a:pPr>
              <a:lnSpc>
                <a:spcPct val="150000"/>
              </a:lnSpc>
            </a:pPr>
            <a:r>
              <a:rPr lang="en-US" altLang="zh-CN" sz="2000" dirty="0">
                <a:latin typeface="+mn-ea"/>
              </a:rPr>
              <a:t>			ADDI	R1, R1, #1</a:t>
            </a:r>
            <a:endParaRPr lang="en-US" altLang="zh-CN" sz="2000" dirty="0">
              <a:latin typeface="+mn-ea"/>
            </a:endParaRPr>
          </a:p>
          <a:p>
            <a:pPr>
              <a:lnSpc>
                <a:spcPct val="150000"/>
              </a:lnSpc>
            </a:pPr>
            <a:r>
              <a:rPr lang="en-US" altLang="zh-CN" sz="2000" dirty="0">
                <a:latin typeface="+mn-ea"/>
              </a:rPr>
              <a:t>			SW</a:t>
            </a:r>
            <a:r>
              <a:rPr lang="en-US" altLang="zh-CN" sz="2000">
                <a:latin typeface="+mn-ea"/>
              </a:rPr>
              <a:t>	      R1</a:t>
            </a:r>
            <a:r>
              <a:rPr lang="en-US" altLang="zh-CN" sz="2000" dirty="0">
                <a:latin typeface="+mn-ea"/>
              </a:rPr>
              <a:t>,</a:t>
            </a:r>
            <a:r>
              <a:rPr lang="en-US" altLang="zh-CN" sz="2000">
                <a:latin typeface="+mn-ea"/>
              </a:rPr>
              <a:t> 0(R2),</a:t>
            </a:r>
            <a:endParaRPr lang="en-US" altLang="zh-CN" sz="2000" dirty="0">
              <a:latin typeface="+mn-ea"/>
            </a:endParaRPr>
          </a:p>
          <a:p>
            <a:pPr>
              <a:lnSpc>
                <a:spcPct val="150000"/>
              </a:lnSpc>
            </a:pPr>
            <a:r>
              <a:rPr lang="en-US" altLang="zh-CN" sz="2000" dirty="0">
                <a:latin typeface="+mn-ea"/>
              </a:rPr>
              <a:t>			ADDI	R2, R2, #4</a:t>
            </a:r>
            <a:endParaRPr lang="en-US" altLang="zh-CN" sz="2000" dirty="0">
              <a:latin typeface="+mn-ea"/>
            </a:endParaRPr>
          </a:p>
          <a:p>
            <a:pPr>
              <a:lnSpc>
                <a:spcPct val="150000"/>
              </a:lnSpc>
            </a:pPr>
            <a:r>
              <a:rPr lang="en-US" altLang="zh-CN" sz="2000" dirty="0">
                <a:latin typeface="+mn-ea"/>
              </a:rPr>
              <a:t>			SUB	R4, R3, R2</a:t>
            </a:r>
            <a:endParaRPr lang="en-US" altLang="zh-CN" sz="2000" dirty="0">
              <a:latin typeface="+mn-ea"/>
            </a:endParaRPr>
          </a:p>
          <a:p>
            <a:pPr>
              <a:lnSpc>
                <a:spcPct val="150000"/>
              </a:lnSpc>
            </a:pPr>
            <a:r>
              <a:rPr lang="en-US" altLang="zh-CN" sz="2000" dirty="0">
                <a:latin typeface="+mn-ea"/>
              </a:rPr>
              <a:t>			BNZ	R4, LOOP</a:t>
            </a:r>
            <a:endParaRPr lang="en-US" altLang="zh-CN" sz="20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64835"/>
    </mc:Choice>
    <mc:Fallback>
      <p:transition spd="slow" advTm="26483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101062"/>
            <a:ext cx="9673936" cy="973115"/>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rPr>
                <a:t>3.11</a:t>
              </a:r>
              <a:r>
                <a:rPr lang="zh-CN" altLang="en-US" sz="3600" b="1" dirty="0">
                  <a:solidFill>
                    <a:schemeClr val="accent1"/>
                  </a:solidFill>
                  <a:latin typeface="+mn-ea"/>
                </a:rPr>
                <a:t>（</a:t>
              </a:r>
              <a:r>
                <a:rPr lang="zh-CN" altLang="zh-CN" sz="3600" b="1" dirty="0">
                  <a:solidFill>
                    <a:schemeClr val="accent1"/>
                  </a:solidFill>
                  <a:latin typeface="+mn-ea"/>
                </a:rPr>
                <a:t>相关，定向</a:t>
              </a:r>
              <a:r>
                <a:rPr lang="zh-CN" altLang="en-US" sz="3600" b="1" dirty="0">
                  <a:solidFill>
                    <a:schemeClr val="accent1"/>
                  </a:solidFill>
                  <a:latin typeface="+mn-ea"/>
                </a:rPr>
                <a:t>，指令调度）</a:t>
              </a:r>
              <a:endParaRPr lang="zh-CN" altLang="en-US" sz="3600" b="1" dirty="0">
                <a:solidFill>
                  <a:schemeClr val="accent1"/>
                </a:solidFill>
                <a:latin typeface="+mn-ea"/>
                <a:sym typeface="+mn-ea"/>
              </a:endParaRPr>
            </a:p>
          </p:txBody>
        </p:sp>
      </p:grpSp>
      <p:pic>
        <p:nvPicPr>
          <p:cNvPr id="2" name="图片 1"/>
          <p:cNvPicPr>
            <a:picLocks noChangeAspect="1"/>
          </p:cNvPicPr>
          <p:nvPr/>
        </p:nvPicPr>
        <p:blipFill>
          <a:blip r:embed="rId1"/>
          <a:stretch>
            <a:fillRect/>
          </a:stretch>
        </p:blipFill>
        <p:spPr>
          <a:xfrm>
            <a:off x="715819" y="1419209"/>
            <a:ext cx="9347200" cy="5168900"/>
          </a:xfrm>
          <a:prstGeom prst="rect">
            <a:avLst/>
          </a:prstGeom>
        </p:spPr>
      </p:pic>
      <p:sp>
        <p:nvSpPr>
          <p:cNvPr id="4" name="文本框 3"/>
          <p:cNvSpPr txBox="1"/>
          <p:nvPr/>
        </p:nvSpPr>
        <p:spPr>
          <a:xfrm>
            <a:off x="10287000" y="3283527"/>
            <a:ext cx="1790700" cy="961225"/>
          </a:xfrm>
          <a:prstGeom prst="rect">
            <a:avLst/>
          </a:prstGeom>
          <a:noFill/>
        </p:spPr>
        <p:txBody>
          <a:bodyPr wrap="square" rtlCol="0">
            <a:spAutoFit/>
          </a:bodyPr>
          <a:lstStyle/>
          <a:p>
            <a:pPr>
              <a:lnSpc>
                <a:spcPct val="150000"/>
              </a:lnSpc>
            </a:pPr>
            <a:r>
              <a:rPr kumimoji="1" lang="zh-CN" altLang="en-US" sz="2000" dirty="0">
                <a:latin typeface="+mn-ea"/>
              </a:rPr>
              <a:t>分支延迟仅需要</a:t>
            </a:r>
            <a:r>
              <a:rPr kumimoji="1" lang="en-US" altLang="zh-CN" sz="2000" dirty="0">
                <a:latin typeface="+mn-ea"/>
              </a:rPr>
              <a:t>1</a:t>
            </a:r>
            <a:r>
              <a:rPr kumimoji="1" lang="zh-CN" altLang="en-US" sz="2000" dirty="0">
                <a:latin typeface="+mn-ea"/>
              </a:rPr>
              <a:t>个是周期</a:t>
            </a:r>
            <a:endParaRPr kumimoji="1" lang="zh-CN" altLang="en-US" sz="2000" dirty="0">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2746"/>
    </mc:Choice>
    <mc:Fallback>
      <p:transition spd="slow" advTm="3274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101062"/>
            <a:ext cx="9673936" cy="973115"/>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rPr>
                <a:t>3.11</a:t>
              </a:r>
              <a:r>
                <a:rPr lang="zh-CN" altLang="en-US" sz="3600" b="1" dirty="0">
                  <a:solidFill>
                    <a:schemeClr val="accent1"/>
                  </a:solidFill>
                  <a:latin typeface="+mn-ea"/>
                </a:rPr>
                <a:t>（</a:t>
              </a:r>
              <a:r>
                <a:rPr lang="zh-CN" altLang="zh-CN" sz="3600" b="1" dirty="0">
                  <a:solidFill>
                    <a:schemeClr val="accent1"/>
                  </a:solidFill>
                  <a:latin typeface="+mn-ea"/>
                </a:rPr>
                <a:t>相关，定向</a:t>
              </a:r>
              <a:r>
                <a:rPr lang="zh-CN" altLang="en-US" sz="3600" b="1" dirty="0">
                  <a:solidFill>
                    <a:schemeClr val="accent1"/>
                  </a:solidFill>
                  <a:latin typeface="+mn-ea"/>
                </a:rPr>
                <a:t>，指令调度）</a:t>
              </a:r>
              <a:endParaRPr lang="zh-CN" altLang="en-US" sz="3600" b="1" dirty="0">
                <a:solidFill>
                  <a:schemeClr val="accent1"/>
                </a:solidFill>
                <a:latin typeface="+mn-ea"/>
                <a:sym typeface="+mn-ea"/>
              </a:endParaRPr>
            </a:p>
          </p:txBody>
        </p:sp>
      </p:grpSp>
      <p:graphicFrame>
        <p:nvGraphicFramePr>
          <p:cNvPr id="13" name="Object 7"/>
          <p:cNvGraphicFramePr>
            <a:graphicFrameLocks noChangeAspect="1"/>
          </p:cNvGraphicFramePr>
          <p:nvPr/>
        </p:nvGraphicFramePr>
        <p:xfrm>
          <a:off x="1590869" y="1361742"/>
          <a:ext cx="7766050" cy="5413375"/>
        </p:xfrm>
        <a:graphic>
          <a:graphicData uri="http://schemas.openxmlformats.org/presentationml/2006/ole">
            <mc:AlternateContent xmlns:mc="http://schemas.openxmlformats.org/markup-compatibility/2006">
              <mc:Choice xmlns:v="urn:schemas-microsoft-com:vml" Requires="v">
                <p:oleObj spid="_x0000_s59496" name="" r:id="rId1" imgW="9646285" imgH="6732270" progId="Visio.Drawing.11">
                  <p:embed/>
                </p:oleObj>
              </mc:Choice>
              <mc:Fallback>
                <p:oleObj name="" r:id="rId1" imgW="9646285" imgH="6732270" progId="Visio.Drawing.11">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869" y="1361742"/>
                        <a:ext cx="7766050" cy="5413375"/>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文本框 2"/>
          <p:cNvSpPr txBox="1"/>
          <p:nvPr/>
        </p:nvSpPr>
        <p:spPr>
          <a:xfrm>
            <a:off x="9860973" y="3194472"/>
            <a:ext cx="1984663" cy="873957"/>
          </a:xfrm>
          <a:prstGeom prst="rect">
            <a:avLst/>
          </a:prstGeom>
          <a:noFill/>
        </p:spPr>
        <p:txBody>
          <a:bodyPr wrap="square" rtlCol="0">
            <a:spAutoFit/>
          </a:bodyPr>
          <a:lstStyle/>
          <a:p>
            <a:pPr>
              <a:lnSpc>
                <a:spcPct val="150000"/>
              </a:lnSpc>
            </a:pPr>
            <a:r>
              <a:rPr kumimoji="1" lang="zh-CN" altLang="en-US" dirty="0"/>
              <a:t>数据重定向， 解决数据相关问题</a:t>
            </a:r>
            <a:endParaRPr kumimoji="1"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101062"/>
            <a:ext cx="9673936" cy="973115"/>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rPr>
                <a:t>3.11</a:t>
              </a:r>
              <a:r>
                <a:rPr lang="zh-CN" altLang="en-US" sz="3600" b="1" dirty="0">
                  <a:solidFill>
                    <a:schemeClr val="accent1"/>
                  </a:solidFill>
                  <a:latin typeface="+mn-ea"/>
                </a:rPr>
                <a:t>（</a:t>
              </a:r>
              <a:r>
                <a:rPr lang="zh-CN" altLang="zh-CN" sz="3600" b="1" dirty="0">
                  <a:solidFill>
                    <a:schemeClr val="accent1"/>
                  </a:solidFill>
                  <a:latin typeface="+mn-ea"/>
                </a:rPr>
                <a:t>相关，定向</a:t>
              </a:r>
              <a:r>
                <a:rPr lang="zh-CN" altLang="en-US" sz="3600" b="1" dirty="0">
                  <a:solidFill>
                    <a:schemeClr val="accent1"/>
                  </a:solidFill>
                  <a:latin typeface="+mn-ea"/>
                </a:rPr>
                <a:t>，指令调度）</a:t>
              </a:r>
              <a:endParaRPr lang="zh-CN" altLang="en-US" sz="3600" b="1" dirty="0">
                <a:solidFill>
                  <a:schemeClr val="accent1"/>
                </a:solidFill>
                <a:latin typeface="+mn-ea"/>
                <a:sym typeface="+mn-ea"/>
              </a:endParaRPr>
            </a:p>
          </p:txBody>
        </p:sp>
      </p:grpSp>
      <p:sp>
        <p:nvSpPr>
          <p:cNvPr id="12" name="矩形 2"/>
          <p:cNvSpPr>
            <a:spLocks noChangeArrowheads="1"/>
          </p:cNvSpPr>
          <p:nvPr/>
        </p:nvSpPr>
        <p:spPr bwMode="auto">
          <a:xfrm>
            <a:off x="642286" y="1322026"/>
            <a:ext cx="10907428" cy="1884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None/>
            </a:pPr>
            <a:r>
              <a:rPr lang="zh-CN" altLang="en-US" sz="2000" dirty="0">
                <a:latin typeface="+mn-ea"/>
                <a:ea typeface="+mn-ea"/>
              </a:rPr>
              <a:t>解：</a:t>
            </a:r>
            <a:endParaRPr lang="en-US" altLang="zh-CN" sz="2000" dirty="0">
              <a:latin typeface="+mn-ea"/>
              <a:ea typeface="+mn-ea"/>
            </a:endParaRPr>
          </a:p>
          <a:p>
            <a:pPr marL="457200" indent="-457200">
              <a:lnSpc>
                <a:spcPct val="150000"/>
              </a:lnSpc>
              <a:spcBef>
                <a:spcPct val="0"/>
              </a:spcBef>
              <a:buClrTx/>
              <a:buSzTx/>
              <a:buFont typeface="+mj-lt"/>
              <a:buAutoNum type="arabicPeriod"/>
            </a:pPr>
            <a:r>
              <a:rPr lang="zh-CN" altLang="en-US" sz="2000" dirty="0">
                <a:solidFill>
                  <a:srgbClr val="0070C0"/>
                </a:solidFill>
                <a:latin typeface="+mn-ea"/>
                <a:ea typeface="+mn-ea"/>
              </a:rPr>
              <a:t>无定向</a:t>
            </a:r>
            <a:r>
              <a:rPr lang="zh-CN" altLang="en-US" sz="2000" dirty="0">
                <a:latin typeface="+mn-ea"/>
                <a:ea typeface="+mn-ea"/>
              </a:rPr>
              <a:t>：每轮循环从第</a:t>
            </a:r>
            <a:r>
              <a:rPr lang="en-US" altLang="zh-CN" sz="2000" dirty="0">
                <a:latin typeface="+mn-ea"/>
                <a:ea typeface="+mn-ea"/>
              </a:rPr>
              <a:t>1</a:t>
            </a:r>
            <a:r>
              <a:rPr lang="zh-CN" altLang="en-US" sz="2000" dirty="0">
                <a:latin typeface="+mn-ea"/>
                <a:ea typeface="+mn-ea"/>
              </a:rPr>
              <a:t>条指令开始到下轮循环第</a:t>
            </a:r>
            <a:r>
              <a:rPr lang="en-US" altLang="zh-CN" sz="2000" dirty="0">
                <a:latin typeface="+mn-ea"/>
                <a:ea typeface="+mn-ea"/>
              </a:rPr>
              <a:t>1</a:t>
            </a:r>
            <a:r>
              <a:rPr lang="zh-CN" altLang="en-US" sz="2000" dirty="0">
                <a:latin typeface="+mn-ea"/>
                <a:ea typeface="+mn-ea"/>
              </a:rPr>
              <a:t>条指令开始（此时最后一条指令</a:t>
            </a:r>
            <a:r>
              <a:rPr lang="en-US" altLang="zh-CN" sz="2000" dirty="0" err="1">
                <a:latin typeface="+mn-ea"/>
                <a:ea typeface="+mn-ea"/>
              </a:rPr>
              <a:t>bnez</a:t>
            </a:r>
            <a:r>
              <a:rPr lang="en-US" altLang="zh-CN" sz="2000" dirty="0">
                <a:latin typeface="+mn-ea"/>
                <a:ea typeface="+mn-ea"/>
              </a:rPr>
              <a:t> r4,Loop</a:t>
            </a:r>
            <a:r>
              <a:rPr lang="zh-CN" altLang="en-US" sz="2000" dirty="0">
                <a:latin typeface="+mn-ea"/>
                <a:ea typeface="+mn-ea"/>
              </a:rPr>
              <a:t>才执行完</a:t>
            </a:r>
            <a:r>
              <a:rPr lang="en-US" altLang="zh-CN" sz="2000" dirty="0">
                <a:latin typeface="+mn-ea"/>
                <a:ea typeface="+mn-ea"/>
              </a:rPr>
              <a:t>ID </a:t>
            </a:r>
            <a:r>
              <a:rPr lang="zh-CN" altLang="en-US" sz="2000" dirty="0">
                <a:latin typeface="+mn-ea"/>
                <a:ea typeface="+mn-ea"/>
              </a:rPr>
              <a:t>周期）为</a:t>
            </a:r>
            <a:r>
              <a:rPr lang="en-US" altLang="zh-CN" sz="2000" dirty="0">
                <a:latin typeface="+mn-ea"/>
                <a:ea typeface="+mn-ea"/>
              </a:rPr>
              <a:t>15</a:t>
            </a:r>
            <a:r>
              <a:rPr lang="zh-CN" altLang="en-US" sz="2000" dirty="0">
                <a:latin typeface="+mn-ea"/>
                <a:ea typeface="+mn-ea"/>
              </a:rPr>
              <a:t>拍。</a:t>
            </a:r>
            <a:endParaRPr lang="en-US" altLang="zh-CN" sz="2000" dirty="0">
              <a:latin typeface="+mn-ea"/>
              <a:ea typeface="+mn-ea"/>
            </a:endParaRPr>
          </a:p>
          <a:p>
            <a:pPr>
              <a:lnSpc>
                <a:spcPct val="150000"/>
              </a:lnSpc>
              <a:spcBef>
                <a:spcPct val="0"/>
              </a:spcBef>
              <a:buClrTx/>
              <a:buSzTx/>
              <a:buNone/>
            </a:pPr>
            <a:r>
              <a:rPr lang="en-US" altLang="zh-CN" sz="2000" dirty="0">
                <a:latin typeface="+mn-ea"/>
                <a:ea typeface="+mn-ea"/>
              </a:rPr>
              <a:t>      </a:t>
            </a:r>
            <a:r>
              <a:rPr lang="zh-CN" altLang="en-US" sz="2000" dirty="0">
                <a:latin typeface="+mn-ea"/>
                <a:ea typeface="+mn-ea"/>
              </a:rPr>
              <a:t>末轮循环的最后一条指令（</a:t>
            </a:r>
            <a:r>
              <a:rPr lang="en-US" altLang="zh-CN" sz="2000" dirty="0" err="1">
                <a:latin typeface="+mn-ea"/>
                <a:ea typeface="+mn-ea"/>
              </a:rPr>
              <a:t>bnez</a:t>
            </a:r>
            <a:r>
              <a:rPr lang="en-US" altLang="zh-CN" sz="2000" dirty="0">
                <a:latin typeface="+mn-ea"/>
                <a:ea typeface="+mn-ea"/>
              </a:rPr>
              <a:t> r4,Loop</a:t>
            </a:r>
            <a:r>
              <a:rPr lang="zh-CN" altLang="en-US" sz="2000" dirty="0">
                <a:latin typeface="+mn-ea"/>
                <a:ea typeface="+mn-ea"/>
              </a:rPr>
              <a:t>）在</a:t>
            </a:r>
            <a:r>
              <a:rPr lang="en-US" altLang="zh-CN" sz="2000" dirty="0">
                <a:latin typeface="+mn-ea"/>
                <a:ea typeface="+mn-ea"/>
              </a:rPr>
              <a:t>ID</a:t>
            </a:r>
            <a:r>
              <a:rPr lang="zh-CN" altLang="en-US" sz="2000" dirty="0">
                <a:latin typeface="+mn-ea"/>
                <a:ea typeface="+mn-ea"/>
              </a:rPr>
              <a:t>周期后还执行</a:t>
            </a:r>
            <a:r>
              <a:rPr lang="en-US" altLang="zh-CN" sz="2000" dirty="0">
                <a:latin typeface="+mn-ea"/>
                <a:ea typeface="+mn-ea"/>
              </a:rPr>
              <a:t>3 </a:t>
            </a:r>
            <a:r>
              <a:rPr lang="zh-CN" altLang="en-US" sz="2000" dirty="0">
                <a:latin typeface="+mn-ea"/>
                <a:ea typeface="+mn-ea"/>
              </a:rPr>
              <a:t>拍才结束</a:t>
            </a:r>
            <a:r>
              <a:rPr lang="en-US" altLang="zh-CN" sz="2000" dirty="0">
                <a:latin typeface="+mn-ea"/>
                <a:ea typeface="+mn-ea"/>
              </a:rPr>
              <a:t>.</a:t>
            </a:r>
            <a:endParaRPr lang="zh-CN" altLang="en-US" sz="2000" dirty="0">
              <a:latin typeface="+mn-ea"/>
              <a:ea typeface="+mn-ea"/>
            </a:endParaRPr>
          </a:p>
        </p:txBody>
      </p:sp>
      <p:pic>
        <p:nvPicPr>
          <p:cNvPr id="1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67758" y="3460896"/>
            <a:ext cx="9144001"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内容占位符 2"/>
          <p:cNvSpPr txBox="1"/>
          <p:nvPr/>
        </p:nvSpPr>
        <p:spPr>
          <a:xfrm>
            <a:off x="1171865" y="5734772"/>
            <a:ext cx="9561944" cy="1123228"/>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000" dirty="0">
                <a:latin typeface="+mn-ea"/>
              </a:rPr>
              <a:t>需要进行</a:t>
            </a:r>
            <a:r>
              <a:rPr lang="en-US" altLang="zh-CN" sz="2000" dirty="0">
                <a:latin typeface="+mn-ea"/>
              </a:rPr>
              <a:t>396/4=99</a:t>
            </a:r>
            <a:r>
              <a:rPr lang="zh-CN" altLang="en-US" sz="2000" dirty="0">
                <a:latin typeface="+mn-ea"/>
              </a:rPr>
              <a:t>次循环，由于每次分支都清空流水线。从上图可以看出每次循环需要</a:t>
            </a:r>
            <a:r>
              <a:rPr lang="en-US" altLang="zh-CN" sz="2000" dirty="0">
                <a:latin typeface="+mn-ea"/>
              </a:rPr>
              <a:t>15</a:t>
            </a:r>
            <a:r>
              <a:rPr lang="zh-CN" altLang="en-US" sz="2000" dirty="0">
                <a:latin typeface="+mn-ea"/>
              </a:rPr>
              <a:t>个时钟周期，因此总共需要的时钟周期数</a:t>
            </a:r>
            <a:r>
              <a:rPr lang="en-US" altLang="zh-CN" sz="2000" dirty="0">
                <a:latin typeface="+mn-ea"/>
              </a:rPr>
              <a:t>= 15×99 + 3 = 1488</a:t>
            </a:r>
            <a:endParaRPr lang="zh-CN" altLang="en-US" sz="2000" dirty="0">
              <a:latin typeface="+mn-ea"/>
            </a:endParaRPr>
          </a:p>
        </p:txBody>
      </p:sp>
      <p:cxnSp>
        <p:nvCxnSpPr>
          <p:cNvPr id="11" name="直线连接符 10"/>
          <p:cNvCxnSpPr/>
          <p:nvPr/>
        </p:nvCxnSpPr>
        <p:spPr>
          <a:xfrm>
            <a:off x="8686800" y="3206581"/>
            <a:ext cx="0" cy="2528191"/>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23" name="椭圆 22"/>
          <p:cNvSpPr/>
          <p:nvPr/>
        </p:nvSpPr>
        <p:spPr>
          <a:xfrm>
            <a:off x="8582891" y="4540827"/>
            <a:ext cx="1537854" cy="613064"/>
          </a:xfrm>
          <a:prstGeom prst="ellipse">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227632"/>
    </mc:Choice>
    <mc:Fallback>
      <p:transition spd="slow" advTm="22763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101062"/>
            <a:ext cx="9673936" cy="973115"/>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rPr>
                <a:t>3.11</a:t>
              </a:r>
              <a:r>
                <a:rPr lang="zh-CN" altLang="en-US" sz="3600" b="1" dirty="0">
                  <a:solidFill>
                    <a:schemeClr val="accent1"/>
                  </a:solidFill>
                  <a:latin typeface="+mn-ea"/>
                </a:rPr>
                <a:t>（</a:t>
              </a:r>
              <a:r>
                <a:rPr lang="zh-CN" altLang="zh-CN" sz="3600" b="1" dirty="0">
                  <a:solidFill>
                    <a:schemeClr val="accent1"/>
                  </a:solidFill>
                  <a:latin typeface="+mn-ea"/>
                </a:rPr>
                <a:t>相关，定向</a:t>
              </a:r>
              <a:r>
                <a:rPr lang="zh-CN" altLang="en-US" sz="3600" b="1" dirty="0">
                  <a:solidFill>
                    <a:schemeClr val="accent1"/>
                  </a:solidFill>
                  <a:latin typeface="+mn-ea"/>
                </a:rPr>
                <a:t>，指令调度）</a:t>
              </a:r>
              <a:endParaRPr lang="zh-CN" altLang="en-US" sz="3600" b="1" dirty="0">
                <a:solidFill>
                  <a:schemeClr val="accent1"/>
                </a:solidFill>
                <a:latin typeface="+mn-ea"/>
                <a:sym typeface="+mn-ea"/>
              </a:endParaRPr>
            </a:p>
          </p:txBody>
        </p:sp>
      </p:grpSp>
      <p:sp>
        <p:nvSpPr>
          <p:cNvPr id="12" name="矩形 2"/>
          <p:cNvSpPr>
            <a:spLocks noChangeArrowheads="1"/>
          </p:cNvSpPr>
          <p:nvPr/>
        </p:nvSpPr>
        <p:spPr bwMode="auto">
          <a:xfrm>
            <a:off x="548768" y="1147592"/>
            <a:ext cx="10907428" cy="1422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marL="457200" indent="-457200">
              <a:lnSpc>
                <a:spcPct val="150000"/>
              </a:lnSpc>
              <a:spcBef>
                <a:spcPct val="0"/>
              </a:spcBef>
              <a:buClrTx/>
              <a:buSzTx/>
              <a:buFont typeface="+mj-lt"/>
              <a:buAutoNum type="arabicPeriod" startAt="2"/>
            </a:pPr>
            <a:r>
              <a:rPr lang="zh-CN" altLang="en-US" sz="2000" dirty="0">
                <a:latin typeface="+mn-ea"/>
                <a:ea typeface="+mn-ea"/>
              </a:rPr>
              <a:t>采用定向技术，按“预测分支失败”的策略处理分支指令的</a:t>
            </a:r>
            <a:endParaRPr lang="en-US" altLang="zh-CN" sz="2000" dirty="0">
              <a:latin typeface="+mn-ea"/>
              <a:ea typeface="+mn-ea"/>
            </a:endParaRPr>
          </a:p>
          <a:p>
            <a:pPr>
              <a:lnSpc>
                <a:spcPct val="150000"/>
              </a:lnSpc>
              <a:spcBef>
                <a:spcPct val="0"/>
              </a:spcBef>
              <a:buClrTx/>
              <a:buSzTx/>
              <a:buNone/>
            </a:pPr>
            <a:r>
              <a:rPr lang="en-US" altLang="zh-CN" sz="2000" dirty="0">
                <a:latin typeface="+mn-ea"/>
                <a:ea typeface="+mn-ea"/>
              </a:rPr>
              <a:t>      </a:t>
            </a:r>
            <a:r>
              <a:rPr lang="zh-CN" altLang="en-US" sz="2000" dirty="0">
                <a:latin typeface="+mn-ea"/>
                <a:ea typeface="+mn-ea"/>
              </a:rPr>
              <a:t>每轮循环第</a:t>
            </a:r>
            <a:r>
              <a:rPr lang="en-US" altLang="zh-CN" sz="2000" dirty="0">
                <a:latin typeface="+mn-ea"/>
                <a:ea typeface="+mn-ea"/>
              </a:rPr>
              <a:t>1 </a:t>
            </a:r>
            <a:r>
              <a:rPr lang="zh-CN" altLang="en-US" sz="2000" dirty="0">
                <a:latin typeface="+mn-ea"/>
                <a:ea typeface="+mn-ea"/>
              </a:rPr>
              <a:t>条指令开始到下轮循环第</a:t>
            </a:r>
            <a:r>
              <a:rPr lang="en-US" altLang="zh-CN" sz="2000" dirty="0">
                <a:latin typeface="+mn-ea"/>
                <a:ea typeface="+mn-ea"/>
              </a:rPr>
              <a:t>1 </a:t>
            </a:r>
            <a:r>
              <a:rPr lang="zh-CN" altLang="en-US" sz="2000" dirty="0">
                <a:latin typeface="+mn-ea"/>
                <a:ea typeface="+mn-ea"/>
              </a:rPr>
              <a:t>条指令开始为</a:t>
            </a:r>
            <a:r>
              <a:rPr lang="en-US" altLang="zh-CN" sz="2000" dirty="0">
                <a:latin typeface="+mn-ea"/>
                <a:ea typeface="+mn-ea"/>
              </a:rPr>
              <a:t>9</a:t>
            </a:r>
            <a:r>
              <a:rPr lang="zh-CN" altLang="en-US" sz="2000" dirty="0">
                <a:latin typeface="+mn-ea"/>
                <a:ea typeface="+mn-ea"/>
              </a:rPr>
              <a:t>拍</a:t>
            </a:r>
            <a:endParaRPr lang="en-US" altLang="zh-CN" sz="2000" dirty="0">
              <a:latin typeface="+mn-ea"/>
              <a:ea typeface="+mn-ea"/>
            </a:endParaRPr>
          </a:p>
          <a:p>
            <a:pPr>
              <a:lnSpc>
                <a:spcPct val="150000"/>
              </a:lnSpc>
              <a:spcBef>
                <a:spcPct val="0"/>
              </a:spcBef>
              <a:buClrTx/>
              <a:buSzTx/>
              <a:buNone/>
            </a:pPr>
            <a:r>
              <a:rPr lang="en-US" altLang="zh-CN" sz="2000" dirty="0">
                <a:latin typeface="+mn-ea"/>
                <a:ea typeface="+mn-ea"/>
              </a:rPr>
              <a:t>     </a:t>
            </a:r>
            <a:r>
              <a:rPr lang="zh-CN" altLang="en-US" sz="2000" dirty="0">
                <a:latin typeface="+mn-ea"/>
                <a:ea typeface="+mn-ea"/>
              </a:rPr>
              <a:t>末轮循环的最后一条指令（</a:t>
            </a:r>
            <a:r>
              <a:rPr lang="en-US" altLang="zh-CN" sz="2000" dirty="0" err="1">
                <a:latin typeface="+mn-ea"/>
                <a:ea typeface="+mn-ea"/>
              </a:rPr>
              <a:t>bnez</a:t>
            </a:r>
            <a:r>
              <a:rPr lang="en-US" altLang="zh-CN" sz="2000" dirty="0">
                <a:latin typeface="+mn-ea"/>
                <a:ea typeface="+mn-ea"/>
              </a:rPr>
              <a:t> r4,Loop</a:t>
            </a:r>
            <a:r>
              <a:rPr lang="zh-CN" altLang="en-US" sz="2000" dirty="0">
                <a:latin typeface="+mn-ea"/>
                <a:ea typeface="+mn-ea"/>
              </a:rPr>
              <a:t>）在</a:t>
            </a:r>
            <a:r>
              <a:rPr lang="en-US" altLang="zh-CN" sz="2000" dirty="0">
                <a:latin typeface="+mn-ea"/>
                <a:ea typeface="+mn-ea"/>
              </a:rPr>
              <a:t>ID</a:t>
            </a:r>
            <a:r>
              <a:rPr lang="zh-CN" altLang="en-US" sz="2000" dirty="0">
                <a:latin typeface="+mn-ea"/>
                <a:ea typeface="+mn-ea"/>
              </a:rPr>
              <a:t>周期后还执行</a:t>
            </a:r>
            <a:r>
              <a:rPr lang="en-US" altLang="zh-CN" sz="2000" dirty="0">
                <a:latin typeface="+mn-ea"/>
                <a:ea typeface="+mn-ea"/>
              </a:rPr>
              <a:t>3</a:t>
            </a:r>
            <a:r>
              <a:rPr lang="zh-CN" altLang="en-US" sz="2000" dirty="0">
                <a:latin typeface="+mn-ea"/>
                <a:ea typeface="+mn-ea"/>
              </a:rPr>
              <a:t>拍才结束。</a:t>
            </a:r>
            <a:endParaRPr lang="zh-CN" altLang="en-US" sz="2000" dirty="0">
              <a:latin typeface="+mn-ea"/>
              <a:ea typeface="+mn-ea"/>
            </a:endParaRPr>
          </a:p>
        </p:txBody>
      </p:sp>
      <p:pic>
        <p:nvPicPr>
          <p:cNvPr id="19"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67759" y="2604604"/>
            <a:ext cx="9144000" cy="274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1246977" y="5471403"/>
            <a:ext cx="9746605" cy="961225"/>
          </a:xfrm>
          <a:prstGeom prst="rect">
            <a:avLst/>
          </a:prstGeom>
        </p:spPr>
        <p:txBody>
          <a:bodyPr wrap="square">
            <a:spAutoFit/>
          </a:bodyPr>
          <a:lstStyle/>
          <a:p>
            <a:pPr>
              <a:lnSpc>
                <a:spcPct val="150000"/>
              </a:lnSpc>
            </a:pPr>
            <a:r>
              <a:rPr lang="zh-CN" altLang="en-US" sz="2000" dirty="0">
                <a:latin typeface="+mn-ea"/>
              </a:rPr>
              <a:t>需要进行</a:t>
            </a:r>
            <a:r>
              <a:rPr lang="en-US" altLang="zh-CN" sz="2000" dirty="0">
                <a:latin typeface="+mn-ea"/>
              </a:rPr>
              <a:t>396/4=99</a:t>
            </a:r>
            <a:r>
              <a:rPr lang="zh-CN" altLang="en-US" sz="2000" dirty="0">
                <a:latin typeface="+mn-ea"/>
              </a:rPr>
              <a:t>次循环，由于每次分支都清空流水线。从上图可以看出每次循环需要</a:t>
            </a:r>
            <a:r>
              <a:rPr lang="en-US" altLang="zh-CN" sz="2000" dirty="0">
                <a:latin typeface="+mn-ea"/>
              </a:rPr>
              <a:t>9</a:t>
            </a:r>
            <a:r>
              <a:rPr lang="zh-CN" altLang="en-US" sz="2000" dirty="0">
                <a:latin typeface="+mn-ea"/>
              </a:rPr>
              <a:t>个时钟周期，因此总共需要的时钟周期数为</a:t>
            </a:r>
            <a:r>
              <a:rPr lang="en-US" altLang="zh-CN" sz="2000" dirty="0">
                <a:latin typeface="+mn-ea"/>
              </a:rPr>
              <a:t>9×99 + 3 = 894</a:t>
            </a:r>
            <a:endParaRPr lang="en-US" altLang="zh-CN" sz="2000" dirty="0">
              <a:latin typeface="+mn-ea"/>
            </a:endParaRPr>
          </a:p>
        </p:txBody>
      </p:sp>
      <p:cxnSp>
        <p:nvCxnSpPr>
          <p:cNvPr id="22" name="直线连接符 21"/>
          <p:cNvCxnSpPr/>
          <p:nvPr/>
        </p:nvCxnSpPr>
        <p:spPr>
          <a:xfrm>
            <a:off x="8063345" y="2427262"/>
            <a:ext cx="0" cy="3225393"/>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7720446" y="5052905"/>
            <a:ext cx="457200" cy="369332"/>
          </a:xfrm>
          <a:prstGeom prst="rect">
            <a:avLst/>
          </a:prstGeom>
          <a:noFill/>
        </p:spPr>
        <p:txBody>
          <a:bodyPr wrap="square" rtlCol="0">
            <a:spAutoFit/>
          </a:bodyPr>
          <a:lstStyle/>
          <a:p>
            <a:r>
              <a:rPr kumimoji="1" lang="en-US" altLang="zh-CN" dirty="0"/>
              <a:t>9</a:t>
            </a:r>
            <a:endParaRPr kumimoji="1" lang="zh-CN" altLang="en-US" dirty="0"/>
          </a:p>
        </p:txBody>
      </p:sp>
      <p:cxnSp>
        <p:nvCxnSpPr>
          <p:cNvPr id="6" name="直线箭头连接符 5"/>
          <p:cNvCxnSpPr/>
          <p:nvPr/>
        </p:nvCxnSpPr>
        <p:spPr>
          <a:xfrm>
            <a:off x="5143500" y="2857500"/>
            <a:ext cx="176645" cy="207818"/>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直线箭头连接符 22"/>
          <p:cNvCxnSpPr/>
          <p:nvPr/>
        </p:nvCxnSpPr>
        <p:spPr>
          <a:xfrm>
            <a:off x="5714932" y="3176154"/>
            <a:ext cx="176645" cy="207818"/>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p:cNvCxnSpPr/>
          <p:nvPr/>
        </p:nvCxnSpPr>
        <p:spPr>
          <a:xfrm>
            <a:off x="6800816" y="3752985"/>
            <a:ext cx="176645" cy="207818"/>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5" name="直线箭头连接符 24"/>
          <p:cNvCxnSpPr/>
          <p:nvPr/>
        </p:nvCxnSpPr>
        <p:spPr>
          <a:xfrm>
            <a:off x="7432081" y="4039958"/>
            <a:ext cx="176645" cy="207818"/>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7949046" y="3891330"/>
            <a:ext cx="2026228" cy="800100"/>
          </a:xfrm>
          <a:prstGeom prst="ellipse">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67571"/>
    </mc:Choice>
    <mc:Fallback>
      <p:transition spd="slow" advTm="16757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6"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101062"/>
            <a:ext cx="9673936" cy="973115"/>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rPr>
                <a:t>3.11</a:t>
              </a:r>
              <a:r>
                <a:rPr lang="zh-CN" altLang="en-US" sz="3600" b="1" dirty="0">
                  <a:solidFill>
                    <a:schemeClr val="accent1"/>
                  </a:solidFill>
                  <a:latin typeface="+mn-ea"/>
                </a:rPr>
                <a:t>（</a:t>
              </a:r>
              <a:r>
                <a:rPr lang="zh-CN" altLang="zh-CN" sz="3600" b="1" dirty="0">
                  <a:solidFill>
                    <a:schemeClr val="accent1"/>
                  </a:solidFill>
                  <a:latin typeface="+mn-ea"/>
                </a:rPr>
                <a:t>相关，定向</a:t>
              </a:r>
              <a:r>
                <a:rPr lang="zh-CN" altLang="en-US" sz="3600" b="1" dirty="0">
                  <a:solidFill>
                    <a:schemeClr val="accent1"/>
                  </a:solidFill>
                  <a:latin typeface="+mn-ea"/>
                </a:rPr>
                <a:t>，指令调度）</a:t>
              </a:r>
              <a:endParaRPr lang="zh-CN" altLang="en-US" sz="3600" b="1" dirty="0">
                <a:solidFill>
                  <a:schemeClr val="accent1"/>
                </a:solidFill>
                <a:latin typeface="+mn-ea"/>
                <a:sym typeface="+mn-ea"/>
              </a:endParaRPr>
            </a:p>
          </p:txBody>
        </p:sp>
      </p:grpSp>
      <p:sp>
        <p:nvSpPr>
          <p:cNvPr id="14" name="Rectangle 3"/>
          <p:cNvSpPr txBox="1"/>
          <p:nvPr/>
        </p:nvSpPr>
        <p:spPr>
          <a:xfrm>
            <a:off x="1020289" y="1236718"/>
            <a:ext cx="9443356" cy="257175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00000"/>
              </a:lnSpc>
              <a:buFont typeface="+mj-lt"/>
              <a:buAutoNum type="arabicPeriod" startAt="3"/>
            </a:pPr>
            <a:r>
              <a:rPr lang="zh-CN" altLang="en-US" sz="1800" dirty="0">
                <a:latin typeface="+mn-ea"/>
              </a:rPr>
              <a:t>指令执行重新排序如下：  </a:t>
            </a:r>
            <a:r>
              <a:rPr lang="en-US" altLang="zh-CN" sz="1600" dirty="0" err="1">
                <a:latin typeface="+mn-ea"/>
              </a:rPr>
              <a:t>lw</a:t>
            </a:r>
            <a:r>
              <a:rPr lang="en-US" altLang="zh-CN" sz="1600" dirty="0">
                <a:latin typeface="+mn-ea"/>
              </a:rPr>
              <a:t>	</a:t>
            </a:r>
            <a:r>
              <a:rPr lang="zh-CN" altLang="en-US" sz="1600" dirty="0">
                <a:latin typeface="+mn-ea"/>
              </a:rPr>
              <a:t> </a:t>
            </a:r>
            <a:r>
              <a:rPr lang="en-US" altLang="zh-CN" sz="1600" dirty="0">
                <a:latin typeface="+mn-ea"/>
              </a:rPr>
              <a:t>r1,0(r2)	</a:t>
            </a:r>
            <a:r>
              <a:rPr lang="zh-CN" altLang="en-US" sz="1600" dirty="0">
                <a:latin typeface="+mn-ea"/>
              </a:rPr>
              <a:t>        </a:t>
            </a:r>
            <a:r>
              <a:rPr lang="en-US" altLang="zh-CN" sz="1600" dirty="0">
                <a:latin typeface="+mn-ea"/>
              </a:rPr>
              <a:t>;</a:t>
            </a:r>
            <a:r>
              <a:rPr lang="zh-CN" altLang="en-US" sz="1600" dirty="0">
                <a:latin typeface="+mn-ea"/>
              </a:rPr>
              <a:t>加法寄存器</a:t>
            </a:r>
            <a:r>
              <a:rPr lang="en-US" altLang="zh-CN" sz="1600" dirty="0">
                <a:latin typeface="+mn-ea"/>
              </a:rPr>
              <a:t>R1←</a:t>
            </a:r>
            <a:r>
              <a:rPr lang="zh-CN" altLang="en-US" sz="1600" dirty="0">
                <a:latin typeface="+mn-ea"/>
              </a:rPr>
              <a:t>取数</a:t>
            </a:r>
            <a:r>
              <a:rPr lang="en-US" altLang="zh-CN" sz="1600" dirty="0">
                <a:latin typeface="+mn-ea"/>
              </a:rPr>
              <a:t>(R2)</a:t>
            </a:r>
            <a:endParaRPr lang="en-US" altLang="zh-CN" sz="1600" dirty="0">
              <a:latin typeface="+mn-ea"/>
            </a:endParaRPr>
          </a:p>
          <a:p>
            <a:pPr>
              <a:lnSpc>
                <a:spcPct val="100000"/>
              </a:lnSpc>
              <a:buFont typeface="Wingdings" panose="05000000000000000000" pitchFamily="2" charset="2"/>
              <a:buNone/>
            </a:pPr>
            <a:r>
              <a:rPr lang="zh-CN" altLang="en-US" sz="1600" dirty="0">
                <a:latin typeface="+mn-ea"/>
              </a:rPr>
              <a:t>                                               </a:t>
            </a:r>
            <a:r>
              <a:rPr lang="en-US" altLang="zh-CN" sz="1600" dirty="0" err="1">
                <a:latin typeface="+mn-ea"/>
              </a:rPr>
              <a:t>addi</a:t>
            </a:r>
            <a:r>
              <a:rPr lang="en-US" altLang="zh-CN" sz="1600" dirty="0">
                <a:latin typeface="+mn-ea"/>
              </a:rPr>
              <a:t>	r2,r2,#4	</a:t>
            </a:r>
            <a:r>
              <a:rPr lang="zh-CN" altLang="en-US" sz="1600" dirty="0">
                <a:latin typeface="+mn-ea"/>
              </a:rPr>
              <a:t>        </a:t>
            </a:r>
            <a:r>
              <a:rPr lang="en-US" altLang="zh-CN" sz="1600" dirty="0">
                <a:latin typeface="+mn-ea"/>
              </a:rPr>
              <a:t>;</a:t>
            </a:r>
            <a:r>
              <a:rPr lang="zh-CN" altLang="en-US" sz="1600" dirty="0">
                <a:latin typeface="+mn-ea"/>
              </a:rPr>
              <a:t>指针</a:t>
            </a:r>
            <a:r>
              <a:rPr lang="en-US" altLang="zh-CN" sz="1600" dirty="0">
                <a:latin typeface="+mn-ea"/>
              </a:rPr>
              <a:t>R2←</a:t>
            </a:r>
            <a:r>
              <a:rPr lang="zh-CN" altLang="en-US" sz="1600" dirty="0">
                <a:latin typeface="+mn-ea"/>
              </a:rPr>
              <a:t>指针</a:t>
            </a:r>
            <a:r>
              <a:rPr lang="en-US" altLang="zh-CN" sz="1600" dirty="0">
                <a:latin typeface="+mn-ea"/>
              </a:rPr>
              <a:t>R2+4</a:t>
            </a:r>
            <a:endParaRPr lang="en-US" altLang="zh-CN" sz="1600" dirty="0">
              <a:latin typeface="+mn-ea"/>
            </a:endParaRPr>
          </a:p>
          <a:p>
            <a:pPr>
              <a:lnSpc>
                <a:spcPct val="100000"/>
              </a:lnSpc>
              <a:buFont typeface="Wingdings" panose="05000000000000000000" pitchFamily="2" charset="2"/>
              <a:buNone/>
            </a:pPr>
            <a:r>
              <a:rPr lang="zh-CN" altLang="en-US" sz="1600" dirty="0">
                <a:latin typeface="+mn-ea"/>
              </a:rPr>
              <a:t>                                               </a:t>
            </a:r>
            <a:r>
              <a:rPr lang="en-US" altLang="zh-CN" sz="1600" dirty="0" err="1">
                <a:latin typeface="+mn-ea"/>
              </a:rPr>
              <a:t>addi</a:t>
            </a:r>
            <a:r>
              <a:rPr lang="en-US" altLang="zh-CN" sz="1600" dirty="0">
                <a:latin typeface="+mn-ea"/>
              </a:rPr>
              <a:t>	r1,r1,#1	</a:t>
            </a:r>
            <a:r>
              <a:rPr lang="zh-CN" altLang="en-US" sz="1600" dirty="0">
                <a:latin typeface="+mn-ea"/>
              </a:rPr>
              <a:t>        </a:t>
            </a:r>
            <a:r>
              <a:rPr lang="en-US" altLang="zh-CN" sz="1600" dirty="0">
                <a:latin typeface="+mn-ea"/>
              </a:rPr>
              <a:t>;R1←R1+1</a:t>
            </a:r>
            <a:endParaRPr lang="en-US" altLang="zh-CN" sz="1600" dirty="0">
              <a:latin typeface="+mn-ea"/>
            </a:endParaRPr>
          </a:p>
          <a:p>
            <a:pPr>
              <a:lnSpc>
                <a:spcPct val="100000"/>
              </a:lnSpc>
              <a:buFont typeface="Wingdings" panose="05000000000000000000" pitchFamily="2" charset="2"/>
              <a:buNone/>
            </a:pPr>
            <a:r>
              <a:rPr lang="zh-CN" altLang="en-US" sz="1600" dirty="0">
                <a:latin typeface="+mn-ea"/>
              </a:rPr>
              <a:t>                                                </a:t>
            </a:r>
            <a:r>
              <a:rPr lang="en-US" altLang="zh-CN" sz="1600" dirty="0">
                <a:latin typeface="+mn-ea"/>
              </a:rPr>
              <a:t>Sub	r4,r3,r2	</a:t>
            </a:r>
            <a:r>
              <a:rPr lang="zh-CN" altLang="en-US" sz="1600" dirty="0">
                <a:latin typeface="+mn-ea"/>
              </a:rPr>
              <a:t>        </a:t>
            </a:r>
            <a:r>
              <a:rPr lang="en-US" altLang="zh-CN" sz="1600" dirty="0">
                <a:latin typeface="+mn-ea"/>
              </a:rPr>
              <a:t>;R4←R3-R2</a:t>
            </a:r>
            <a:endParaRPr lang="en-US" altLang="zh-CN" sz="1600" dirty="0">
              <a:latin typeface="+mn-ea"/>
            </a:endParaRPr>
          </a:p>
          <a:p>
            <a:pPr>
              <a:lnSpc>
                <a:spcPct val="100000"/>
              </a:lnSpc>
              <a:buFont typeface="Wingdings" panose="05000000000000000000" pitchFamily="2" charset="2"/>
              <a:buNone/>
            </a:pPr>
            <a:r>
              <a:rPr lang="zh-CN" altLang="en-US" sz="1600" dirty="0">
                <a:latin typeface="+mn-ea"/>
              </a:rPr>
              <a:t>                                               </a:t>
            </a:r>
            <a:r>
              <a:rPr lang="en-US" altLang="zh-CN" sz="1600" dirty="0" err="1">
                <a:latin typeface="+mn-ea"/>
              </a:rPr>
              <a:t>bnez</a:t>
            </a:r>
            <a:r>
              <a:rPr lang="en-US" altLang="zh-CN" sz="1600" dirty="0">
                <a:latin typeface="+mn-ea"/>
              </a:rPr>
              <a:t>	r4,Loop	</a:t>
            </a:r>
            <a:r>
              <a:rPr lang="zh-CN" altLang="en-US" sz="1600" dirty="0">
                <a:latin typeface="+mn-ea"/>
              </a:rPr>
              <a:t>        </a:t>
            </a:r>
            <a:r>
              <a:rPr lang="en-US" altLang="zh-CN" sz="1600" dirty="0">
                <a:latin typeface="+mn-ea"/>
              </a:rPr>
              <a:t>;</a:t>
            </a:r>
            <a:r>
              <a:rPr lang="zh-CN" altLang="en-US" sz="1600" dirty="0">
                <a:latin typeface="+mn-ea"/>
              </a:rPr>
              <a:t>若</a:t>
            </a:r>
            <a:r>
              <a:rPr lang="en-US" altLang="zh-CN" sz="1600" dirty="0">
                <a:latin typeface="+mn-ea"/>
              </a:rPr>
              <a:t>R4≠0, </a:t>
            </a:r>
            <a:r>
              <a:rPr lang="zh-CN" altLang="en-US" sz="1600" dirty="0">
                <a:latin typeface="+mn-ea"/>
              </a:rPr>
              <a:t>循环</a:t>
            </a:r>
            <a:endParaRPr lang="zh-CN" altLang="en-US" sz="1600" dirty="0">
              <a:latin typeface="+mn-ea"/>
            </a:endParaRPr>
          </a:p>
          <a:p>
            <a:pPr>
              <a:lnSpc>
                <a:spcPct val="100000"/>
              </a:lnSpc>
              <a:buFont typeface="Wingdings" panose="05000000000000000000" pitchFamily="2" charset="2"/>
              <a:buNone/>
            </a:pPr>
            <a:r>
              <a:rPr lang="zh-CN" altLang="en-US" sz="1600" dirty="0">
                <a:latin typeface="+mn-ea"/>
              </a:rPr>
              <a:t>                                                 </a:t>
            </a:r>
            <a:r>
              <a:rPr lang="en-US" altLang="zh-CN" sz="1600" dirty="0" err="1">
                <a:latin typeface="+mn-ea"/>
              </a:rPr>
              <a:t>sw</a:t>
            </a:r>
            <a:r>
              <a:rPr lang="en-US" altLang="zh-CN" sz="1600" dirty="0">
                <a:latin typeface="+mn-ea"/>
              </a:rPr>
              <a:t>	-4(r2),r1	</a:t>
            </a:r>
            <a:r>
              <a:rPr lang="zh-CN" altLang="en-US" sz="1600" dirty="0">
                <a:latin typeface="+mn-ea"/>
              </a:rPr>
              <a:t>        </a:t>
            </a:r>
            <a:r>
              <a:rPr lang="en-US" altLang="zh-CN" sz="1600" dirty="0">
                <a:latin typeface="+mn-ea"/>
              </a:rPr>
              <a:t>;</a:t>
            </a:r>
            <a:r>
              <a:rPr lang="zh-CN" altLang="en-US" sz="1600" dirty="0">
                <a:latin typeface="+mn-ea"/>
              </a:rPr>
              <a:t>分支延迟槽，存数</a:t>
            </a:r>
            <a:r>
              <a:rPr lang="en-US" altLang="zh-CN" sz="1600" dirty="0">
                <a:latin typeface="+mn-ea"/>
              </a:rPr>
              <a:t>(R2-4)←R1</a:t>
            </a:r>
            <a:endParaRPr lang="zh-CN" altLang="en-US" sz="1600" dirty="0">
              <a:latin typeface="+mn-ea"/>
            </a:endParaRPr>
          </a:p>
        </p:txBody>
      </p:sp>
      <p:sp>
        <p:nvSpPr>
          <p:cNvPr id="49" name="Rectangle 4"/>
          <p:cNvSpPr>
            <a:spLocks noChangeArrowheads="1"/>
          </p:cNvSpPr>
          <p:nvPr/>
        </p:nvSpPr>
        <p:spPr bwMode="auto">
          <a:xfrm>
            <a:off x="2063751" y="3594100"/>
            <a:ext cx="30956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LOOP:	LW	R1, 0(R2)</a:t>
            </a:r>
            <a:endParaRPr lang="en-US" altLang="zh-CN" sz="1400" b="1">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a:t>
            </a:r>
            <a:r>
              <a:rPr lang="en-US" altLang="zh-CN" sz="1400" b="1">
                <a:solidFill>
                  <a:srgbClr val="FF0000"/>
                </a:solidFill>
                <a:latin typeface="宋体" panose="02010600030101010101" pitchFamily="2" charset="-122"/>
                <a:ea typeface="宋体" panose="02010600030101010101" pitchFamily="2" charset="-122"/>
              </a:rPr>
              <a:t>ADDI	R1, R1, #1</a:t>
            </a:r>
            <a:endParaRPr lang="en-US" altLang="zh-CN" sz="1400" b="1">
              <a:solidFill>
                <a:srgbClr val="FF0000"/>
              </a:solidFill>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SW	0(R2), R1</a:t>
            </a:r>
            <a:endParaRPr lang="en-US" altLang="zh-CN" sz="1400" b="1">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ADDI	R2, R2, #4</a:t>
            </a:r>
            <a:endParaRPr lang="en-US" altLang="zh-CN" sz="1400" b="1">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SUB	R4, R3, R2</a:t>
            </a:r>
            <a:endParaRPr lang="en-US" altLang="zh-CN" sz="1400" b="1">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BNZ	R4, LOOP</a:t>
            </a:r>
            <a:endParaRPr lang="en-US" altLang="zh-CN" sz="1400" b="1">
              <a:latin typeface="宋体" panose="02010600030101010101" pitchFamily="2" charset="-122"/>
              <a:ea typeface="宋体" panose="02010600030101010101" pitchFamily="2" charset="-122"/>
            </a:endParaRPr>
          </a:p>
        </p:txBody>
      </p:sp>
      <p:sp>
        <p:nvSpPr>
          <p:cNvPr id="50" name="Rectangle 5"/>
          <p:cNvSpPr>
            <a:spLocks noChangeArrowheads="1"/>
          </p:cNvSpPr>
          <p:nvPr/>
        </p:nvSpPr>
        <p:spPr bwMode="auto">
          <a:xfrm>
            <a:off x="5880100" y="3594100"/>
            <a:ext cx="36718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LOOP:	LW	R1, 0(R2)</a:t>
            </a:r>
            <a:endParaRPr lang="en-US" altLang="zh-CN" sz="1400" b="1">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a:t>
            </a:r>
            <a:r>
              <a:rPr lang="en-US" altLang="zh-CN" sz="1400" b="1">
                <a:solidFill>
                  <a:srgbClr val="FF0000"/>
                </a:solidFill>
                <a:latin typeface="宋体" panose="02010600030101010101" pitchFamily="2" charset="-122"/>
                <a:ea typeface="宋体" panose="02010600030101010101" pitchFamily="2" charset="-122"/>
              </a:rPr>
              <a:t>ADDI	R2, R2, #4</a:t>
            </a:r>
            <a:endParaRPr lang="en-US" altLang="zh-CN" sz="1400" b="1">
              <a:solidFill>
                <a:srgbClr val="FF0000"/>
              </a:solidFill>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ADDI	R1, R1, #1</a:t>
            </a:r>
            <a:endParaRPr lang="en-US" altLang="zh-CN" sz="1400" b="1">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SW	0(R2), R1</a:t>
            </a:r>
            <a:endParaRPr lang="en-US" altLang="zh-CN" sz="1400" b="1">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SUB	R4, R3, R2</a:t>
            </a:r>
            <a:endParaRPr lang="en-US" altLang="zh-CN" sz="1400" b="1">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a:latin typeface="宋体" panose="02010600030101010101" pitchFamily="2" charset="-122"/>
                <a:ea typeface="宋体" panose="02010600030101010101" pitchFamily="2" charset="-122"/>
              </a:rPr>
              <a:t>	BNZ	R4, LOOP</a:t>
            </a:r>
            <a:endParaRPr lang="en-US" altLang="zh-CN" sz="1400" b="1">
              <a:latin typeface="宋体" panose="02010600030101010101" pitchFamily="2" charset="-122"/>
              <a:ea typeface="宋体" panose="02010600030101010101" pitchFamily="2" charset="-122"/>
            </a:endParaRPr>
          </a:p>
        </p:txBody>
      </p:sp>
      <p:sp>
        <p:nvSpPr>
          <p:cNvPr id="51" name="Rectangle 6"/>
          <p:cNvSpPr>
            <a:spLocks noChangeArrowheads="1"/>
          </p:cNvSpPr>
          <p:nvPr/>
        </p:nvSpPr>
        <p:spPr bwMode="auto">
          <a:xfrm>
            <a:off x="5951539" y="5249863"/>
            <a:ext cx="36718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LOOP:	LW	R1, 0(R2)</a:t>
            </a:r>
            <a:endParaRPr lang="en-US" altLang="zh-CN" sz="1400" b="1" dirty="0">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ADDI	R2, R2, #4</a:t>
            </a:r>
            <a:endParaRPr lang="en-US" altLang="zh-CN" sz="1400" b="1" dirty="0">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ADDI	R1, R1, #1</a:t>
            </a:r>
            <a:endParaRPr lang="en-US" altLang="zh-CN" sz="1400" b="1" dirty="0">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a:t>
            </a:r>
            <a:r>
              <a:rPr lang="en-US" altLang="zh-CN" sz="1400" b="1" dirty="0">
                <a:solidFill>
                  <a:srgbClr val="FF0000"/>
                </a:solidFill>
                <a:latin typeface="宋体" panose="02010600030101010101" pitchFamily="2" charset="-122"/>
                <a:ea typeface="宋体" panose="02010600030101010101" pitchFamily="2" charset="-122"/>
              </a:rPr>
              <a:t>SW	-4(R2), R1</a:t>
            </a:r>
            <a:endParaRPr lang="en-US" altLang="zh-CN" sz="1400" b="1" dirty="0">
              <a:solidFill>
                <a:srgbClr val="FF0000"/>
              </a:solidFill>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SUB	R4, R3, R2</a:t>
            </a:r>
            <a:endParaRPr lang="en-US" altLang="zh-CN" sz="1400" b="1" dirty="0">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BNZ	R4, LOOP</a:t>
            </a:r>
            <a:endParaRPr lang="en-US" altLang="zh-CN" sz="1400" b="1" dirty="0">
              <a:latin typeface="宋体" panose="02010600030101010101" pitchFamily="2" charset="-122"/>
              <a:ea typeface="宋体" panose="02010600030101010101" pitchFamily="2" charset="-122"/>
            </a:endParaRPr>
          </a:p>
        </p:txBody>
      </p:sp>
      <p:sp>
        <p:nvSpPr>
          <p:cNvPr id="52" name="Rectangle 7"/>
          <p:cNvSpPr>
            <a:spLocks noChangeArrowheads="1"/>
          </p:cNvSpPr>
          <p:nvPr/>
        </p:nvSpPr>
        <p:spPr bwMode="auto">
          <a:xfrm>
            <a:off x="1774825" y="5236815"/>
            <a:ext cx="367188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LOOP:	LW	R1, 0(R2)</a:t>
            </a:r>
            <a:endParaRPr lang="en-US" altLang="zh-CN" sz="1400" b="1" dirty="0">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ADDI	R2, R2, #4</a:t>
            </a:r>
            <a:endParaRPr lang="en-US" altLang="zh-CN" sz="1400" b="1" dirty="0">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a:t>
            </a:r>
            <a:r>
              <a:rPr lang="zh-CN" altLang="en-US" sz="1400" b="1" dirty="0">
                <a:latin typeface="宋体" panose="02010600030101010101" pitchFamily="2" charset="-122"/>
                <a:ea typeface="宋体" panose="02010600030101010101" pitchFamily="2" charset="-122"/>
              </a:rPr>
              <a:t>   </a:t>
            </a:r>
            <a:r>
              <a:rPr lang="en-US" altLang="zh-CN" sz="1400" b="1" dirty="0">
                <a:latin typeface="宋体" panose="02010600030101010101" pitchFamily="2" charset="-122"/>
                <a:ea typeface="宋体" panose="02010600030101010101" pitchFamily="2" charset="-122"/>
              </a:rPr>
              <a:t>SUB	R4, R3, R2</a:t>
            </a:r>
            <a:endParaRPr lang="en-US" altLang="zh-CN" sz="1400" b="1" dirty="0">
              <a:latin typeface="宋体" panose="02010600030101010101" pitchFamily="2" charset="-122"/>
              <a:ea typeface="宋体" panose="02010600030101010101" pitchFamily="2" charset="-122"/>
            </a:endParaRPr>
          </a:p>
          <a:p>
            <a:pPr algn="ctr">
              <a:spcBef>
                <a:spcPct val="0"/>
              </a:spcBef>
              <a:buClrTx/>
              <a:buSzTx/>
              <a:buNone/>
            </a:pPr>
            <a:r>
              <a:rPr lang="en-US" altLang="zh-CN" sz="1400" b="1" dirty="0">
                <a:latin typeface="宋体" panose="02010600030101010101" pitchFamily="2" charset="-122"/>
                <a:ea typeface="宋体" panose="02010600030101010101" pitchFamily="2" charset="-122"/>
              </a:rPr>
              <a:t>     ADDI	R1, R1, #1	</a:t>
            </a:r>
            <a:endParaRPr lang="en-US" altLang="zh-CN" sz="1400" b="1" dirty="0">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BNZ	R4, LOOP</a:t>
            </a:r>
            <a:endParaRPr lang="en-US" altLang="zh-CN" sz="1400" b="1" dirty="0">
              <a:latin typeface="宋体" panose="02010600030101010101" pitchFamily="2" charset="-122"/>
              <a:ea typeface="宋体" panose="02010600030101010101" pitchFamily="2" charset="-122"/>
            </a:endParaRPr>
          </a:p>
          <a:p>
            <a:pPr algn="ctr" eaLnBrk="1" hangingPunct="1">
              <a:spcBef>
                <a:spcPct val="0"/>
              </a:spcBef>
              <a:buClrTx/>
              <a:buSzTx/>
              <a:buFontTx/>
              <a:buNone/>
            </a:pPr>
            <a:r>
              <a:rPr lang="en-US" altLang="zh-CN" sz="1400" b="1" dirty="0">
                <a:latin typeface="宋体" panose="02010600030101010101" pitchFamily="2" charset="-122"/>
                <a:ea typeface="宋体" panose="02010600030101010101" pitchFamily="2" charset="-122"/>
              </a:rPr>
              <a:t>	</a:t>
            </a:r>
            <a:r>
              <a:rPr lang="en-US" altLang="zh-CN" sz="1400" b="1" dirty="0">
                <a:solidFill>
                  <a:srgbClr val="FF0000"/>
                </a:solidFill>
                <a:latin typeface="宋体" panose="02010600030101010101" pitchFamily="2" charset="-122"/>
                <a:ea typeface="宋体" panose="02010600030101010101" pitchFamily="2" charset="-122"/>
              </a:rPr>
              <a:t>SW	-4(R2), R1</a:t>
            </a:r>
            <a:endParaRPr lang="en-US" altLang="zh-CN" sz="1400" b="1" dirty="0">
              <a:solidFill>
                <a:srgbClr val="FF0000"/>
              </a:solidFill>
              <a:latin typeface="宋体" panose="02010600030101010101" pitchFamily="2" charset="-122"/>
              <a:ea typeface="宋体" panose="02010600030101010101" pitchFamily="2" charset="-122"/>
            </a:endParaRPr>
          </a:p>
        </p:txBody>
      </p:sp>
      <p:sp>
        <p:nvSpPr>
          <p:cNvPr id="53" name="Rectangle 8"/>
          <p:cNvSpPr>
            <a:spLocks noChangeArrowheads="1"/>
          </p:cNvSpPr>
          <p:nvPr/>
        </p:nvSpPr>
        <p:spPr bwMode="auto">
          <a:xfrm>
            <a:off x="2135189" y="3594100"/>
            <a:ext cx="3095625" cy="1417638"/>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a typeface="宋体" panose="02010600030101010101" pitchFamily="2" charset="-122"/>
            </a:endParaRPr>
          </a:p>
        </p:txBody>
      </p:sp>
      <p:sp>
        <p:nvSpPr>
          <p:cNvPr id="54" name="Rectangle 9"/>
          <p:cNvSpPr>
            <a:spLocks noChangeArrowheads="1"/>
          </p:cNvSpPr>
          <p:nvPr/>
        </p:nvSpPr>
        <p:spPr bwMode="auto">
          <a:xfrm>
            <a:off x="6383339" y="3594100"/>
            <a:ext cx="3095625" cy="1417638"/>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a typeface="宋体" panose="02010600030101010101" pitchFamily="2" charset="-122"/>
            </a:endParaRPr>
          </a:p>
        </p:txBody>
      </p:sp>
      <p:sp>
        <p:nvSpPr>
          <p:cNvPr id="55" name="Rectangle 10"/>
          <p:cNvSpPr>
            <a:spLocks noChangeArrowheads="1"/>
          </p:cNvSpPr>
          <p:nvPr/>
        </p:nvSpPr>
        <p:spPr bwMode="auto">
          <a:xfrm>
            <a:off x="2135189" y="5237163"/>
            <a:ext cx="3095625" cy="1477962"/>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a typeface="宋体" panose="02010600030101010101" pitchFamily="2" charset="-122"/>
            </a:endParaRPr>
          </a:p>
        </p:txBody>
      </p:sp>
      <p:sp>
        <p:nvSpPr>
          <p:cNvPr id="56" name="Rectangle 11"/>
          <p:cNvSpPr>
            <a:spLocks noChangeArrowheads="1"/>
          </p:cNvSpPr>
          <p:nvPr/>
        </p:nvSpPr>
        <p:spPr bwMode="auto">
          <a:xfrm>
            <a:off x="6383339" y="5237163"/>
            <a:ext cx="3095625" cy="1477962"/>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400">
              <a:latin typeface="宋体" panose="02010600030101010101" pitchFamily="2" charset="-122"/>
              <a:ea typeface="宋体" panose="02010600030101010101" pitchFamily="2" charset="-122"/>
            </a:endParaRPr>
          </a:p>
        </p:txBody>
      </p:sp>
      <p:sp>
        <p:nvSpPr>
          <p:cNvPr id="57" name="Line 12"/>
          <p:cNvSpPr>
            <a:spLocks noChangeShapeType="1"/>
          </p:cNvSpPr>
          <p:nvPr/>
        </p:nvSpPr>
        <p:spPr bwMode="auto">
          <a:xfrm>
            <a:off x="5232400" y="4221163"/>
            <a:ext cx="11509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13"/>
          <p:cNvSpPr>
            <a:spLocks noChangeShapeType="1"/>
          </p:cNvSpPr>
          <p:nvPr/>
        </p:nvSpPr>
        <p:spPr bwMode="auto">
          <a:xfrm>
            <a:off x="9480551" y="4148138"/>
            <a:ext cx="36036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14"/>
          <p:cNvSpPr>
            <a:spLocks noChangeShapeType="1"/>
          </p:cNvSpPr>
          <p:nvPr/>
        </p:nvSpPr>
        <p:spPr bwMode="auto">
          <a:xfrm>
            <a:off x="9840913" y="4148138"/>
            <a:ext cx="0" cy="16573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15"/>
          <p:cNvSpPr>
            <a:spLocks noChangeShapeType="1"/>
          </p:cNvSpPr>
          <p:nvPr/>
        </p:nvSpPr>
        <p:spPr bwMode="auto">
          <a:xfrm flipH="1">
            <a:off x="9480551" y="5805488"/>
            <a:ext cx="360363"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16"/>
          <p:cNvSpPr>
            <a:spLocks noChangeShapeType="1"/>
          </p:cNvSpPr>
          <p:nvPr/>
        </p:nvSpPr>
        <p:spPr bwMode="auto">
          <a:xfrm flipH="1">
            <a:off x="5232400" y="5876925"/>
            <a:ext cx="115093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213788"/>
    </mc:Choice>
    <mc:Fallback>
      <p:transition spd="slow" advTm="21378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down)">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wipe(down)">
                                      <p:cBhvr>
                                        <p:cTn id="1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0" y="101062"/>
            <a:ext cx="9673936" cy="973115"/>
            <a:chOff x="0" y="-82343"/>
            <a:chExt cx="7769656"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610791" y="242182"/>
              <a:ext cx="6158865" cy="646331"/>
            </a:xfrm>
            <a:prstGeom prst="rect">
              <a:avLst/>
            </a:prstGeom>
            <a:noFill/>
          </p:spPr>
          <p:txBody>
            <a:bodyPr wrap="square" rtlCol="0">
              <a:spAutoFit/>
              <a:scene3d>
                <a:camera prst="orthographicFront"/>
                <a:lightRig rig="threePt" dir="t"/>
              </a:scene3d>
              <a:sp3d contourW="12700"/>
            </a:bodyPr>
            <a:lstStyle/>
            <a:p>
              <a:pPr lvl="0"/>
              <a:r>
                <a:rPr lang="zh-CN" altLang="en-US" sz="3600" b="1" dirty="0">
                  <a:solidFill>
                    <a:schemeClr val="accent1"/>
                  </a:solidFill>
                  <a:latin typeface="+mn-ea"/>
                  <a:sym typeface="+mn-ea"/>
                </a:rPr>
                <a:t>习题</a:t>
              </a:r>
              <a:r>
                <a:rPr lang="en-US" altLang="zh-CN" sz="3600" b="1" dirty="0">
                  <a:solidFill>
                    <a:schemeClr val="accent1"/>
                  </a:solidFill>
                  <a:latin typeface="+mn-ea"/>
                </a:rPr>
                <a:t>3.11</a:t>
              </a:r>
              <a:r>
                <a:rPr lang="zh-CN" altLang="en-US" sz="3600" b="1" dirty="0">
                  <a:solidFill>
                    <a:schemeClr val="accent1"/>
                  </a:solidFill>
                  <a:latin typeface="+mn-ea"/>
                </a:rPr>
                <a:t>（</a:t>
              </a:r>
              <a:r>
                <a:rPr lang="zh-CN" altLang="zh-CN" sz="3600" b="1" dirty="0">
                  <a:solidFill>
                    <a:schemeClr val="accent1"/>
                  </a:solidFill>
                  <a:latin typeface="+mn-ea"/>
                </a:rPr>
                <a:t>相关，定向</a:t>
              </a:r>
              <a:r>
                <a:rPr lang="zh-CN" altLang="en-US" sz="3600" b="1" dirty="0">
                  <a:solidFill>
                    <a:schemeClr val="accent1"/>
                  </a:solidFill>
                  <a:latin typeface="+mn-ea"/>
                </a:rPr>
                <a:t>，指令调度）</a:t>
              </a:r>
              <a:endParaRPr lang="zh-CN" altLang="en-US" sz="3600" b="1" dirty="0">
                <a:solidFill>
                  <a:schemeClr val="accent1"/>
                </a:solidFill>
                <a:latin typeface="+mn-ea"/>
                <a:sym typeface="+mn-ea"/>
              </a:endParaRPr>
            </a:p>
          </p:txBody>
        </p:sp>
      </p:grpSp>
      <p:sp>
        <p:nvSpPr>
          <p:cNvPr id="26" name="内容占位符 2"/>
          <p:cNvSpPr txBox="1"/>
          <p:nvPr/>
        </p:nvSpPr>
        <p:spPr>
          <a:xfrm>
            <a:off x="758969" y="1360012"/>
            <a:ext cx="11184597" cy="2312987"/>
          </a:xfrm>
          <a:ln w="28575">
            <a:solidFill>
              <a:schemeClr val="accent5">
                <a:lumMod val="75000"/>
              </a:schemeClr>
            </a:solidFill>
            <a:miter lim="800000"/>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41655" indent="-457200">
              <a:buFont typeface="+mj-lt"/>
              <a:buAutoNum type="arabicPeriod" startAt="3"/>
              <a:tabLst>
                <a:tab pos="541020" algn="l"/>
              </a:tabLst>
            </a:pPr>
            <a:r>
              <a:rPr lang="zh-CN" altLang="en-US" sz="2000" dirty="0">
                <a:latin typeface="+mn-ea"/>
              </a:rPr>
              <a:t>采用定向技术、单周期延迟分支、指令调度技术，重新安排指令顺序如下：</a:t>
            </a:r>
            <a:endParaRPr lang="en-US" altLang="zh-CN" sz="2000" dirty="0">
              <a:latin typeface="+mn-ea"/>
            </a:endParaRPr>
          </a:p>
          <a:p>
            <a:pPr marL="84455" indent="0">
              <a:buFont typeface="Arial" panose="020B0604020202020204" pitchFamily="34" charset="0"/>
              <a:buNone/>
              <a:tabLst>
                <a:tab pos="541020" algn="l"/>
              </a:tabLst>
            </a:pPr>
            <a:r>
              <a:rPr lang="en-US" altLang="zh-CN" sz="2000" dirty="0">
                <a:latin typeface="+mn-ea"/>
              </a:rPr>
              <a:t>	loop: </a:t>
            </a:r>
            <a:r>
              <a:rPr lang="en-US" altLang="zh-CN" sz="2000" dirty="0" err="1">
                <a:latin typeface="+mn-ea"/>
              </a:rPr>
              <a:t>lw</a:t>
            </a:r>
            <a:r>
              <a:rPr lang="en-US" altLang="zh-CN" sz="2000" dirty="0">
                <a:latin typeface="+mn-ea"/>
              </a:rPr>
              <a:t>  r1, 0(r2)</a:t>
            </a:r>
            <a:endParaRPr lang="en-US" altLang="zh-CN" sz="2000" dirty="0">
              <a:latin typeface="+mn-ea"/>
            </a:endParaRPr>
          </a:p>
          <a:p>
            <a:pPr marL="84455" indent="0">
              <a:buFont typeface="Arial" panose="020B0604020202020204" pitchFamily="34" charset="0"/>
              <a:buNone/>
              <a:tabLst>
                <a:tab pos="541020" algn="l"/>
              </a:tabLst>
            </a:pPr>
            <a:r>
              <a:rPr lang="en-US" altLang="zh-CN" sz="2000" dirty="0">
                <a:latin typeface="+mn-ea"/>
              </a:rPr>
              <a:t>	</a:t>
            </a:r>
            <a:r>
              <a:rPr lang="en-US" altLang="zh-CN" sz="2000" dirty="0" err="1">
                <a:latin typeface="+mn-ea"/>
              </a:rPr>
              <a:t>addi</a:t>
            </a:r>
            <a:r>
              <a:rPr lang="en-US" altLang="zh-CN" sz="2000" dirty="0">
                <a:latin typeface="+mn-ea"/>
              </a:rPr>
              <a:t>  r2,r2,#4</a:t>
            </a:r>
            <a:endParaRPr lang="en-US" altLang="zh-CN" sz="2000" dirty="0">
              <a:latin typeface="+mn-ea"/>
            </a:endParaRPr>
          </a:p>
          <a:p>
            <a:pPr marL="84455" indent="0">
              <a:buFont typeface="Arial" panose="020B0604020202020204" pitchFamily="34" charset="0"/>
              <a:buNone/>
              <a:tabLst>
                <a:tab pos="541020" algn="l"/>
              </a:tabLst>
            </a:pPr>
            <a:r>
              <a:rPr lang="en-US" altLang="zh-CN" sz="2000" dirty="0">
                <a:latin typeface="+mn-ea"/>
              </a:rPr>
              <a:t>	sub r4,r3,r2</a:t>
            </a:r>
            <a:endParaRPr lang="en-US" altLang="zh-CN" sz="2000" dirty="0">
              <a:latin typeface="+mn-ea"/>
            </a:endParaRPr>
          </a:p>
          <a:p>
            <a:pPr marL="84455" indent="0">
              <a:buNone/>
              <a:tabLst>
                <a:tab pos="541020" algn="l"/>
              </a:tabLst>
            </a:pPr>
            <a:r>
              <a:rPr lang="en-US" altLang="zh-CN" sz="2000" dirty="0">
                <a:latin typeface="+mn-ea"/>
              </a:rPr>
              <a:t>      </a:t>
            </a:r>
            <a:r>
              <a:rPr lang="en-US" altLang="zh-CN" sz="2000" dirty="0" err="1">
                <a:latin typeface="+mn-ea"/>
              </a:rPr>
              <a:t>addi</a:t>
            </a:r>
            <a:r>
              <a:rPr lang="en-US" altLang="zh-CN" sz="2000" dirty="0">
                <a:latin typeface="+mn-ea"/>
              </a:rPr>
              <a:t> r1,r1,#1</a:t>
            </a:r>
            <a:endParaRPr lang="en-US" altLang="zh-CN" sz="2000" dirty="0">
              <a:latin typeface="+mn-ea"/>
            </a:endParaRPr>
          </a:p>
          <a:p>
            <a:pPr marL="84455" indent="0">
              <a:buFont typeface="Arial" panose="020B0604020202020204" pitchFamily="34" charset="0"/>
              <a:buNone/>
              <a:tabLst>
                <a:tab pos="541020" algn="l"/>
              </a:tabLst>
            </a:pPr>
            <a:r>
              <a:rPr lang="en-US" altLang="zh-CN" sz="2000" dirty="0">
                <a:latin typeface="+mn-ea"/>
              </a:rPr>
              <a:t>	</a:t>
            </a:r>
            <a:r>
              <a:rPr lang="en-US" altLang="zh-CN" sz="2000" dirty="0" err="1">
                <a:latin typeface="+mn-ea"/>
              </a:rPr>
              <a:t>bnz</a:t>
            </a:r>
            <a:r>
              <a:rPr lang="en-US" altLang="zh-CN" sz="2000" dirty="0">
                <a:latin typeface="+mn-ea"/>
              </a:rPr>
              <a:t> r4,loop</a:t>
            </a:r>
            <a:endParaRPr lang="en-US" altLang="zh-CN" sz="2000" dirty="0">
              <a:latin typeface="+mn-ea"/>
            </a:endParaRPr>
          </a:p>
          <a:p>
            <a:pPr marL="84455" indent="0">
              <a:buFont typeface="Arial" panose="020B0604020202020204" pitchFamily="34" charset="0"/>
              <a:buNone/>
              <a:tabLst>
                <a:tab pos="541020" algn="l"/>
              </a:tabLst>
            </a:pPr>
            <a:r>
              <a:rPr lang="en-US" altLang="zh-CN" sz="2000" dirty="0">
                <a:latin typeface="+mn-ea"/>
              </a:rPr>
              <a:t>    </a:t>
            </a:r>
            <a:r>
              <a:rPr lang="zh-CN" altLang="en-US" sz="2000" dirty="0">
                <a:latin typeface="+mn-ea"/>
              </a:rPr>
              <a:t>  </a:t>
            </a:r>
            <a:r>
              <a:rPr lang="en-US" altLang="zh-CN" sz="2000" dirty="0" err="1">
                <a:latin typeface="+mn-ea"/>
              </a:rPr>
              <a:t>sw</a:t>
            </a:r>
            <a:r>
              <a:rPr lang="en-US" altLang="zh-CN" sz="2000" dirty="0">
                <a:latin typeface="+mn-ea"/>
              </a:rPr>
              <a:t>  r1,-4(r2)</a:t>
            </a:r>
            <a:endParaRPr lang="en-US" altLang="zh-CN" sz="2000" dirty="0">
              <a:latin typeface="+mn-ea"/>
            </a:endParaRPr>
          </a:p>
        </p:txBody>
      </p:sp>
      <p:pic>
        <p:nvPicPr>
          <p:cNvPr id="27"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334332" y="2059595"/>
            <a:ext cx="7426325" cy="256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矩形 3"/>
          <p:cNvSpPr>
            <a:spLocks noChangeArrowheads="1"/>
          </p:cNvSpPr>
          <p:nvPr/>
        </p:nvSpPr>
        <p:spPr bwMode="auto">
          <a:xfrm>
            <a:off x="1020289" y="4782633"/>
            <a:ext cx="9758096" cy="142289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zh-CN" altLang="en-US" sz="2000" dirty="0">
                <a:latin typeface="+mn-ea"/>
                <a:ea typeface="+mn-ea"/>
              </a:rPr>
              <a:t>每轮循环从第</a:t>
            </a:r>
            <a:r>
              <a:rPr lang="en-US" altLang="zh-CN" sz="2000" dirty="0">
                <a:latin typeface="+mn-ea"/>
                <a:ea typeface="+mn-ea"/>
              </a:rPr>
              <a:t>1 </a:t>
            </a:r>
            <a:r>
              <a:rPr lang="zh-CN" altLang="en-US" sz="2000" dirty="0">
                <a:latin typeface="+mn-ea"/>
                <a:ea typeface="+mn-ea"/>
              </a:rPr>
              <a:t>条指令开始到下轮循环第</a:t>
            </a:r>
            <a:r>
              <a:rPr lang="en-US" altLang="zh-CN" sz="2000" dirty="0">
                <a:latin typeface="+mn-ea"/>
                <a:ea typeface="+mn-ea"/>
              </a:rPr>
              <a:t>1 </a:t>
            </a:r>
            <a:r>
              <a:rPr lang="zh-CN" altLang="en-US" sz="2000" dirty="0">
                <a:latin typeface="+mn-ea"/>
                <a:ea typeface="+mn-ea"/>
              </a:rPr>
              <a:t>条指令开始为</a:t>
            </a:r>
            <a:r>
              <a:rPr lang="en-US" altLang="zh-CN" sz="2000" dirty="0">
                <a:latin typeface="+mn-ea"/>
                <a:ea typeface="+mn-ea"/>
              </a:rPr>
              <a:t>6 </a:t>
            </a:r>
            <a:r>
              <a:rPr lang="zh-CN" altLang="en-US" sz="2000" dirty="0">
                <a:latin typeface="+mn-ea"/>
                <a:ea typeface="+mn-ea"/>
              </a:rPr>
              <a:t>拍；</a:t>
            </a:r>
            <a:endParaRPr lang="en-US" altLang="zh-CN" sz="2000" dirty="0">
              <a:latin typeface="+mn-ea"/>
              <a:ea typeface="+mn-ea"/>
            </a:endParaRPr>
          </a:p>
          <a:p>
            <a:pPr>
              <a:lnSpc>
                <a:spcPct val="150000"/>
              </a:lnSpc>
              <a:spcBef>
                <a:spcPct val="0"/>
              </a:spcBef>
              <a:buClrTx/>
              <a:buSzTx/>
              <a:buFontTx/>
              <a:buNone/>
            </a:pPr>
            <a:r>
              <a:rPr lang="zh-CN" altLang="en-US" sz="2000" dirty="0">
                <a:latin typeface="+mn-ea"/>
                <a:ea typeface="+mn-ea"/>
              </a:rPr>
              <a:t>末轮循环的最后一条指令 </a:t>
            </a:r>
            <a:r>
              <a:rPr lang="en-US" altLang="zh-CN" sz="2000" dirty="0" err="1">
                <a:latin typeface="+mn-ea"/>
              </a:rPr>
              <a:t>sw</a:t>
            </a:r>
            <a:r>
              <a:rPr lang="en-US" altLang="zh-CN" sz="2000" dirty="0">
                <a:latin typeface="+mn-ea"/>
              </a:rPr>
              <a:t>  r1,-4(r2) </a:t>
            </a:r>
            <a:r>
              <a:rPr lang="zh-CN" altLang="en-US" sz="2000" dirty="0">
                <a:latin typeface="+mn-ea"/>
                <a:ea typeface="+mn-ea"/>
              </a:rPr>
              <a:t>在</a:t>
            </a:r>
            <a:r>
              <a:rPr lang="en-US" altLang="zh-CN" sz="2000" dirty="0">
                <a:latin typeface="+mn-ea"/>
                <a:ea typeface="+mn-ea"/>
              </a:rPr>
              <a:t>IF</a:t>
            </a:r>
            <a:r>
              <a:rPr lang="zh-CN" altLang="en-US" sz="2000" dirty="0">
                <a:latin typeface="+mn-ea"/>
                <a:ea typeface="+mn-ea"/>
              </a:rPr>
              <a:t>周期后还执行</a:t>
            </a:r>
            <a:r>
              <a:rPr lang="en-US" altLang="zh-CN" sz="2000" dirty="0">
                <a:latin typeface="+mn-ea"/>
                <a:ea typeface="+mn-ea"/>
              </a:rPr>
              <a:t>4 </a:t>
            </a:r>
            <a:r>
              <a:rPr lang="zh-CN" altLang="en-US" sz="2000" dirty="0">
                <a:latin typeface="+mn-ea"/>
                <a:ea typeface="+mn-ea"/>
              </a:rPr>
              <a:t>拍才结束；</a:t>
            </a:r>
            <a:endParaRPr lang="en-US" altLang="zh-CN" sz="2000" dirty="0">
              <a:latin typeface="+mn-ea"/>
              <a:ea typeface="+mn-ea"/>
            </a:endParaRPr>
          </a:p>
          <a:p>
            <a:pPr>
              <a:lnSpc>
                <a:spcPct val="150000"/>
              </a:lnSpc>
              <a:spcBef>
                <a:spcPct val="0"/>
              </a:spcBef>
              <a:buClrTx/>
              <a:buSzTx/>
              <a:buFontTx/>
              <a:buNone/>
            </a:pPr>
            <a:r>
              <a:rPr lang="zh-CN" altLang="en-US" sz="2000" dirty="0">
                <a:latin typeface="+mn-ea"/>
                <a:ea typeface="+mn-ea"/>
              </a:rPr>
              <a:t>总拍数</a:t>
            </a:r>
            <a:r>
              <a:rPr lang="en-US" altLang="zh-CN" sz="2000" dirty="0">
                <a:latin typeface="+mn-ea"/>
                <a:ea typeface="+mn-ea"/>
              </a:rPr>
              <a:t>= 6×99 + 4 = 598</a:t>
            </a:r>
            <a:endParaRPr lang="en-US" altLang="zh-CN" sz="2000" dirty="0">
              <a:latin typeface="+mn-ea"/>
              <a:ea typeface="+mn-ea"/>
            </a:endParaRPr>
          </a:p>
        </p:txBody>
      </p:sp>
      <p:cxnSp>
        <p:nvCxnSpPr>
          <p:cNvPr id="29" name="直线连接符 28"/>
          <p:cNvCxnSpPr/>
          <p:nvPr/>
        </p:nvCxnSpPr>
        <p:spPr>
          <a:xfrm>
            <a:off x="9081654" y="1793417"/>
            <a:ext cx="0" cy="3225393"/>
          </a:xfrm>
          <a:prstGeom prst="line">
            <a:avLst/>
          </a:prstGeom>
          <a:ln w="28575">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738754" y="1777032"/>
            <a:ext cx="457200" cy="369332"/>
          </a:xfrm>
          <a:prstGeom prst="rect">
            <a:avLst/>
          </a:prstGeom>
          <a:noFill/>
        </p:spPr>
        <p:txBody>
          <a:bodyPr wrap="square" rtlCol="0">
            <a:spAutoFit/>
          </a:bodyPr>
          <a:lstStyle/>
          <a:p>
            <a:r>
              <a:rPr kumimoji="1" lang="en-US" altLang="zh-CN" dirty="0"/>
              <a:t>6</a:t>
            </a:r>
            <a:endParaRPr kumimoji="1" lang="zh-CN" altLang="en-US" dirty="0"/>
          </a:p>
        </p:txBody>
      </p:sp>
      <p:sp>
        <p:nvSpPr>
          <p:cNvPr id="3" name="椭圆 2"/>
          <p:cNvSpPr/>
          <p:nvPr/>
        </p:nvSpPr>
        <p:spPr>
          <a:xfrm>
            <a:off x="8977745" y="3480955"/>
            <a:ext cx="2296391" cy="800100"/>
          </a:xfrm>
          <a:prstGeom prst="ellipse">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8" name="图片 7"/>
          <p:cNvPicPr>
            <a:picLocks noChangeAspect="1"/>
          </p:cNvPicPr>
          <p:nvPr/>
        </p:nvPicPr>
        <p:blipFill>
          <a:blip r:embed="rId2"/>
          <a:stretch>
            <a:fillRect/>
          </a:stretch>
        </p:blipFill>
        <p:spPr>
          <a:xfrm>
            <a:off x="4476986" y="2727638"/>
            <a:ext cx="1493029" cy="194743"/>
          </a:xfrm>
          <a:prstGeom prst="rect">
            <a:avLst/>
          </a:prstGeom>
        </p:spPr>
      </p:pic>
      <p:pic>
        <p:nvPicPr>
          <p:cNvPr id="9" name="图片 8"/>
          <p:cNvPicPr>
            <a:picLocks noChangeAspect="1"/>
          </p:cNvPicPr>
          <p:nvPr/>
        </p:nvPicPr>
        <p:blipFill>
          <a:blip r:embed="rId3"/>
          <a:stretch>
            <a:fillRect/>
          </a:stretch>
        </p:blipFill>
        <p:spPr>
          <a:xfrm>
            <a:off x="4493010" y="3023495"/>
            <a:ext cx="1460980" cy="202914"/>
          </a:xfrm>
          <a:prstGeom prst="rect">
            <a:avLst/>
          </a:prstGeom>
        </p:spPr>
      </p:pic>
      <p:cxnSp>
        <p:nvCxnSpPr>
          <p:cNvPr id="39" name="直线箭头连接符 38"/>
          <p:cNvCxnSpPr/>
          <p:nvPr/>
        </p:nvCxnSpPr>
        <p:spPr>
          <a:xfrm>
            <a:off x="7958907" y="2767345"/>
            <a:ext cx="195878" cy="357607"/>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直线箭头连接符 43"/>
          <p:cNvCxnSpPr/>
          <p:nvPr/>
        </p:nvCxnSpPr>
        <p:spPr>
          <a:xfrm>
            <a:off x="8485602" y="3124952"/>
            <a:ext cx="205354" cy="548047"/>
          </a:xfrm>
          <a:prstGeom prst="straightConnector1">
            <a:avLst/>
          </a:prstGeom>
          <a:ln w="38100">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3010" y="3262051"/>
            <a:ext cx="1416441" cy="218904"/>
          </a:xfrm>
          <a:prstGeom prst="rect">
            <a:avLst/>
          </a:prstGeom>
        </p:spPr>
      </p:pic>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191999" cy="973115"/>
            <a:chOff x="0" y="-82343"/>
            <a:chExt cx="937409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456979" y="14307"/>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7.9</a:t>
              </a:r>
              <a:r>
                <a:rPr lang="zh-CN" altLang="en-US" sz="4000" b="1" dirty="0">
                  <a:solidFill>
                    <a:schemeClr val="accent1"/>
                  </a:solidFill>
                  <a:latin typeface="+mn-ea"/>
                </a:rPr>
                <a:t>（</a:t>
              </a:r>
              <a:r>
                <a:rPr lang="zh-CN" altLang="zh-CN" sz="4000" b="1" dirty="0">
                  <a:solidFill>
                    <a:schemeClr val="accent1"/>
                  </a:solidFill>
                  <a:latin typeface="+mn-ea"/>
                </a:rPr>
                <a:t>两级</a:t>
              </a:r>
              <a:r>
                <a:rPr lang="en-US" altLang="zh-CN" sz="4000" b="1" dirty="0">
                  <a:solidFill>
                    <a:schemeClr val="accent1"/>
                  </a:solidFill>
                  <a:latin typeface="+mn-ea"/>
                </a:rPr>
                <a:t>Cache</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19" name="内容占位符 2"/>
          <p:cNvSpPr txBox="1"/>
          <p:nvPr/>
        </p:nvSpPr>
        <p:spPr>
          <a:xfrm>
            <a:off x="642865" y="1515898"/>
            <a:ext cx="10906270" cy="3662363"/>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400" dirty="0">
                <a:latin typeface="+mn-ea"/>
                <a:cs typeface="Songti SC"/>
              </a:rPr>
              <a:t>假设在</a:t>
            </a:r>
            <a:r>
              <a:rPr lang="en-US" altLang="zh-CN" sz="2400" dirty="0">
                <a:latin typeface="+mn-ea"/>
                <a:cs typeface="Songti SC"/>
              </a:rPr>
              <a:t>3000</a:t>
            </a:r>
            <a:r>
              <a:rPr lang="zh-CN" altLang="en-US" sz="2400" dirty="0">
                <a:latin typeface="+mn-ea"/>
                <a:cs typeface="Songti SC"/>
              </a:rPr>
              <a:t>次访存中，第一级</a:t>
            </a:r>
            <a:r>
              <a:rPr lang="en-US" altLang="zh-CN" sz="2400" dirty="0">
                <a:latin typeface="+mn-ea"/>
                <a:cs typeface="Songti SC"/>
              </a:rPr>
              <a:t>cache</a:t>
            </a:r>
            <a:r>
              <a:rPr lang="zh-CN" altLang="en-US" sz="2400" dirty="0">
                <a:latin typeface="+mn-ea"/>
                <a:cs typeface="Songti SC"/>
              </a:rPr>
              <a:t>不命中</a:t>
            </a:r>
            <a:r>
              <a:rPr lang="en-US" altLang="zh-CN" sz="2400" dirty="0">
                <a:latin typeface="+mn-ea"/>
                <a:cs typeface="Songti SC"/>
              </a:rPr>
              <a:t>110</a:t>
            </a:r>
            <a:r>
              <a:rPr lang="zh-CN" altLang="en-US" sz="2400" dirty="0">
                <a:latin typeface="+mn-ea"/>
                <a:cs typeface="Songti SC"/>
              </a:rPr>
              <a:t>次，第二级</a:t>
            </a:r>
            <a:r>
              <a:rPr lang="en-US" altLang="zh-CN" sz="2400" dirty="0">
                <a:latin typeface="+mn-ea"/>
                <a:cs typeface="Songti SC"/>
              </a:rPr>
              <a:t>cache</a:t>
            </a:r>
            <a:r>
              <a:rPr lang="zh-CN" altLang="en-US" sz="2400" dirty="0">
                <a:latin typeface="+mn-ea"/>
                <a:cs typeface="Songti SC"/>
              </a:rPr>
              <a:t>不命中</a:t>
            </a:r>
            <a:r>
              <a:rPr lang="en-US" altLang="zh-CN" sz="2400" dirty="0">
                <a:latin typeface="+mn-ea"/>
                <a:cs typeface="Songti SC"/>
              </a:rPr>
              <a:t>55</a:t>
            </a:r>
            <a:r>
              <a:rPr lang="zh-CN" altLang="en-US" sz="2400" dirty="0">
                <a:latin typeface="+mn-ea"/>
                <a:cs typeface="Songti SC"/>
              </a:rPr>
              <a:t>次。试问：在这种情况下，该</a:t>
            </a:r>
            <a:r>
              <a:rPr lang="en-US" altLang="zh-CN" sz="2400" dirty="0">
                <a:latin typeface="+mn-ea"/>
                <a:cs typeface="Songti SC"/>
              </a:rPr>
              <a:t>cache</a:t>
            </a:r>
            <a:r>
              <a:rPr lang="zh-CN" altLang="en-US" sz="2400" dirty="0">
                <a:latin typeface="+mn-ea"/>
                <a:cs typeface="Songti SC"/>
              </a:rPr>
              <a:t>系统的局部不命中率和全局不命中率各是多少？</a:t>
            </a:r>
            <a:endParaRPr lang="en-US" altLang="zh-CN" sz="2400" dirty="0">
              <a:latin typeface="+mn-ea"/>
              <a:cs typeface="Songti SC"/>
            </a:endParaRPr>
          </a:p>
          <a:p>
            <a:pPr marL="0" indent="0">
              <a:lnSpc>
                <a:spcPct val="150000"/>
              </a:lnSpc>
              <a:buFont typeface="Arial" panose="020B0604020202020204" pitchFamily="34" charset="0"/>
              <a:buNone/>
            </a:pPr>
            <a:r>
              <a:rPr lang="zh-CN" altLang="en-US" sz="2400" dirty="0">
                <a:latin typeface="+mn-ea"/>
                <a:cs typeface="Songti SC"/>
              </a:rPr>
              <a:t>解：</a:t>
            </a:r>
            <a:endParaRPr lang="en-US" altLang="zh-CN" sz="2400" dirty="0">
              <a:latin typeface="+mn-ea"/>
              <a:cs typeface="Songti SC"/>
            </a:endParaRPr>
          </a:p>
          <a:p>
            <a:pPr marL="0" indent="0">
              <a:lnSpc>
                <a:spcPct val="150000"/>
              </a:lnSpc>
              <a:buFont typeface="Arial" panose="020B0604020202020204" pitchFamily="34" charset="0"/>
              <a:buNone/>
            </a:pPr>
            <a:r>
              <a:rPr lang="zh-CN" altLang="en-US" sz="2400" dirty="0">
                <a:latin typeface="+mn-ea"/>
                <a:cs typeface="Songti SC"/>
              </a:rPr>
              <a:t>第一级</a:t>
            </a:r>
            <a:r>
              <a:rPr lang="en-US" altLang="zh-CN" sz="2400" dirty="0">
                <a:latin typeface="+mn-ea"/>
                <a:cs typeface="Songti SC"/>
              </a:rPr>
              <a:t>cache</a:t>
            </a:r>
            <a:r>
              <a:rPr lang="zh-CN" altLang="en-US" sz="2400" dirty="0">
                <a:latin typeface="+mn-ea"/>
                <a:cs typeface="Songti SC"/>
              </a:rPr>
              <a:t>不命中率（全局和局部）是</a:t>
            </a:r>
            <a:r>
              <a:rPr lang="en-US" altLang="zh-CN" sz="2400" dirty="0">
                <a:latin typeface="+mn-ea"/>
                <a:cs typeface="Songti SC"/>
              </a:rPr>
              <a:t>110/3000</a:t>
            </a:r>
            <a:r>
              <a:rPr lang="zh-CN" altLang="en-US" sz="2400" dirty="0">
                <a:latin typeface="+mn-ea"/>
                <a:cs typeface="Songti SC"/>
              </a:rPr>
              <a:t>，即</a:t>
            </a:r>
            <a:r>
              <a:rPr lang="en-US" altLang="zh-CN" sz="2400" dirty="0">
                <a:latin typeface="+mn-ea"/>
                <a:cs typeface="Songti SC"/>
              </a:rPr>
              <a:t>3.67%</a:t>
            </a:r>
            <a:r>
              <a:rPr lang="zh-CN" altLang="en-US" sz="2400" dirty="0">
                <a:latin typeface="+mn-ea"/>
                <a:cs typeface="Songti SC"/>
              </a:rPr>
              <a:t>；</a:t>
            </a:r>
            <a:endParaRPr lang="en-US" altLang="zh-CN" sz="2400" dirty="0">
              <a:latin typeface="+mn-ea"/>
              <a:cs typeface="Songti SC"/>
            </a:endParaRPr>
          </a:p>
          <a:p>
            <a:pPr marL="0" indent="0">
              <a:lnSpc>
                <a:spcPct val="150000"/>
              </a:lnSpc>
              <a:buFont typeface="Arial" panose="020B0604020202020204" pitchFamily="34" charset="0"/>
              <a:buNone/>
            </a:pPr>
            <a:r>
              <a:rPr lang="zh-CN" altLang="en-US" sz="2400" dirty="0">
                <a:latin typeface="+mn-ea"/>
                <a:cs typeface="Songti SC"/>
              </a:rPr>
              <a:t>第二级</a:t>
            </a:r>
            <a:r>
              <a:rPr lang="en-US" altLang="zh-CN" sz="2400" dirty="0">
                <a:latin typeface="+mn-ea"/>
                <a:cs typeface="Songti SC"/>
              </a:rPr>
              <a:t>cache</a:t>
            </a:r>
            <a:r>
              <a:rPr lang="zh-CN" altLang="en-US" sz="2400" dirty="0">
                <a:latin typeface="+mn-ea"/>
                <a:cs typeface="Songti SC"/>
              </a:rPr>
              <a:t>的局部不命中率是</a:t>
            </a:r>
            <a:r>
              <a:rPr lang="en-US" altLang="zh-CN" sz="2400" dirty="0">
                <a:latin typeface="+mn-ea"/>
                <a:cs typeface="Songti SC"/>
              </a:rPr>
              <a:t>55/110</a:t>
            </a:r>
            <a:r>
              <a:rPr lang="zh-CN" altLang="en-US" sz="2400" dirty="0">
                <a:latin typeface="+mn-ea"/>
                <a:cs typeface="Songti SC"/>
              </a:rPr>
              <a:t>，即</a:t>
            </a:r>
            <a:r>
              <a:rPr lang="en-US" altLang="zh-CN" sz="2400" dirty="0">
                <a:latin typeface="+mn-ea"/>
                <a:cs typeface="Songti SC"/>
              </a:rPr>
              <a:t>50%</a:t>
            </a:r>
            <a:r>
              <a:rPr lang="zh-CN" altLang="en-US" sz="2400" dirty="0">
                <a:latin typeface="+mn-ea"/>
                <a:cs typeface="Songti SC"/>
              </a:rPr>
              <a:t>；</a:t>
            </a:r>
            <a:endParaRPr lang="en-US" altLang="zh-CN" sz="2400" dirty="0">
              <a:latin typeface="+mn-ea"/>
              <a:cs typeface="Songti SC"/>
            </a:endParaRPr>
          </a:p>
          <a:p>
            <a:pPr marL="0" indent="0">
              <a:lnSpc>
                <a:spcPct val="150000"/>
              </a:lnSpc>
              <a:buFont typeface="Arial" panose="020B0604020202020204" pitchFamily="34" charset="0"/>
              <a:buNone/>
            </a:pPr>
            <a:r>
              <a:rPr lang="zh-CN" altLang="en-US" sz="2400" dirty="0">
                <a:latin typeface="+mn-ea"/>
                <a:cs typeface="Songti SC"/>
              </a:rPr>
              <a:t>第二级</a:t>
            </a:r>
            <a:r>
              <a:rPr lang="en-US" altLang="zh-CN" sz="2400" dirty="0">
                <a:latin typeface="+mn-ea"/>
                <a:cs typeface="Songti SC"/>
              </a:rPr>
              <a:t>cache</a:t>
            </a:r>
            <a:r>
              <a:rPr lang="zh-CN" altLang="en-US" sz="2400" dirty="0">
                <a:latin typeface="+mn-ea"/>
                <a:cs typeface="Songti SC"/>
              </a:rPr>
              <a:t>的全局不命中率是</a:t>
            </a:r>
            <a:r>
              <a:rPr lang="en-US" altLang="zh-CN" sz="2400" dirty="0">
                <a:latin typeface="+mn-ea"/>
                <a:cs typeface="Songti SC"/>
              </a:rPr>
              <a:t>55/3000</a:t>
            </a:r>
            <a:r>
              <a:rPr lang="zh-CN" altLang="en-US" sz="2400" dirty="0">
                <a:latin typeface="+mn-ea"/>
                <a:cs typeface="Songti SC"/>
              </a:rPr>
              <a:t>，即</a:t>
            </a:r>
            <a:r>
              <a:rPr lang="en-US" altLang="zh-CN" sz="2400" dirty="0">
                <a:latin typeface="+mn-ea"/>
                <a:cs typeface="Songti SC"/>
              </a:rPr>
              <a:t>1.83%</a:t>
            </a:r>
            <a:r>
              <a:rPr lang="zh-CN" altLang="en-US" sz="2400" dirty="0">
                <a:latin typeface="+mn-ea"/>
                <a:cs typeface="Songti SC"/>
              </a:rPr>
              <a:t>。</a:t>
            </a:r>
            <a:endParaRPr lang="zh-CN" altLang="en-US" sz="2400" dirty="0">
              <a:latin typeface="+mn-ea"/>
              <a:cs typeface="Songti SC"/>
            </a:endParaRPr>
          </a:p>
          <a:p>
            <a:pPr marL="0" indent="0">
              <a:buFont typeface="Arial" panose="020B0604020202020204" pitchFamily="34" charset="0"/>
              <a:buNone/>
            </a:pPr>
            <a:endParaRPr lang="zh-CN" altLang="en-US" sz="2400" dirty="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191999" cy="973115"/>
            <a:chOff x="0" y="-82343"/>
            <a:chExt cx="937409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456979" y="14307"/>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7.10</a:t>
              </a:r>
              <a:r>
                <a:rPr lang="zh-CN" altLang="en-US" sz="4000" b="1" dirty="0">
                  <a:solidFill>
                    <a:schemeClr val="accent1"/>
                  </a:solidFill>
                  <a:latin typeface="+mn-ea"/>
                </a:rPr>
                <a:t>（</a:t>
              </a:r>
              <a:r>
                <a:rPr lang="zh-CN" altLang="zh-CN" sz="4000" b="1" dirty="0">
                  <a:solidFill>
                    <a:schemeClr val="accent1"/>
                  </a:solidFill>
                  <a:latin typeface="+mn-ea"/>
                </a:rPr>
                <a:t>存储系统性能指标</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2" name="矩形 1"/>
          <p:cNvSpPr/>
          <p:nvPr/>
        </p:nvSpPr>
        <p:spPr>
          <a:xfrm>
            <a:off x="646090" y="1563393"/>
            <a:ext cx="10899820" cy="3731214"/>
          </a:xfrm>
          <a:prstGeom prst="rect">
            <a:avLst/>
          </a:prstGeom>
        </p:spPr>
        <p:txBody>
          <a:bodyPr wrap="square">
            <a:spAutoFit/>
          </a:bodyPr>
          <a:lstStyle/>
          <a:p>
            <a:pPr>
              <a:lnSpc>
                <a:spcPct val="150000"/>
              </a:lnSpc>
            </a:pPr>
            <a:r>
              <a:rPr lang="zh-CN" altLang="zh-CN" sz="2000" dirty="0">
                <a:latin typeface="+mn-ea"/>
                <a:cs typeface="Times New Roman" panose="02020603050405020304" pitchFamily="18" charset="0"/>
              </a:rPr>
              <a:t>给定以下的假设，试计算直接映象Cache和两路组相联Cache的平均访问时间以及CPU的性能。由计算结果能得出什么结论？</a:t>
            </a:r>
            <a:endParaRPr lang="zh-CN" altLang="zh-CN" sz="2000" dirty="0">
              <a:latin typeface="+mn-ea"/>
              <a:cs typeface="Times New Roman" panose="02020603050405020304" pitchFamily="18" charset="0"/>
            </a:endParaRPr>
          </a:p>
          <a:p>
            <a:pPr>
              <a:lnSpc>
                <a:spcPct val="150000"/>
              </a:lnSpc>
            </a:pPr>
            <a:r>
              <a:rPr lang="zh-CN" altLang="zh-CN" sz="2000" dirty="0">
                <a:latin typeface="+mn-ea"/>
                <a:cs typeface="Times New Roman" panose="02020603050405020304" pitchFamily="18" charset="0"/>
              </a:rPr>
              <a:t>(1)理想Cache情况下的CPI为2.0，时钟周期为2ns，平均每条指令访存1.2次；</a:t>
            </a:r>
            <a:endParaRPr lang="zh-CN" altLang="zh-CN" sz="2000" dirty="0">
              <a:latin typeface="+mn-ea"/>
              <a:cs typeface="Times New Roman" panose="02020603050405020304" pitchFamily="18" charset="0"/>
            </a:endParaRPr>
          </a:p>
          <a:p>
            <a:pPr>
              <a:lnSpc>
                <a:spcPct val="150000"/>
              </a:lnSpc>
            </a:pPr>
            <a:r>
              <a:rPr lang="zh-CN" altLang="zh-CN" sz="2000" dirty="0">
                <a:latin typeface="+mn-ea"/>
                <a:cs typeface="Times New Roman" panose="02020603050405020304" pitchFamily="18" charset="0"/>
              </a:rPr>
              <a:t>(2)两者Cache容量均为64KB，块大小都是32字节；</a:t>
            </a:r>
            <a:endParaRPr lang="zh-CN" altLang="zh-CN" sz="2000" dirty="0">
              <a:latin typeface="+mn-ea"/>
              <a:cs typeface="Times New Roman" panose="02020603050405020304" pitchFamily="18" charset="0"/>
            </a:endParaRPr>
          </a:p>
          <a:p>
            <a:pPr>
              <a:lnSpc>
                <a:spcPct val="150000"/>
              </a:lnSpc>
            </a:pPr>
            <a:r>
              <a:rPr lang="zh-CN" altLang="zh-CN" sz="2000" dirty="0">
                <a:latin typeface="+mn-ea"/>
                <a:cs typeface="Times New Roman" panose="02020603050405020304" pitchFamily="18" charset="0"/>
              </a:rPr>
              <a:t>(3)组相联Cache中的多路选择器使CPU的时钟周期增加了10％；</a:t>
            </a:r>
            <a:endParaRPr lang="zh-CN" altLang="zh-CN" sz="2000" dirty="0">
              <a:latin typeface="+mn-ea"/>
              <a:cs typeface="Times New Roman" panose="02020603050405020304" pitchFamily="18" charset="0"/>
            </a:endParaRPr>
          </a:p>
          <a:p>
            <a:pPr>
              <a:lnSpc>
                <a:spcPct val="150000"/>
              </a:lnSpc>
            </a:pPr>
            <a:r>
              <a:rPr lang="zh-CN" altLang="zh-CN" sz="2000" dirty="0">
                <a:latin typeface="+mn-ea"/>
                <a:cs typeface="Times New Roman" panose="02020603050405020304" pitchFamily="18" charset="0"/>
              </a:rPr>
              <a:t>(4)这两种Cache的失效开销都是80ns；</a:t>
            </a:r>
            <a:endParaRPr lang="zh-CN" altLang="zh-CN" sz="2000" dirty="0">
              <a:latin typeface="+mn-ea"/>
              <a:cs typeface="Times New Roman" panose="02020603050405020304" pitchFamily="18" charset="0"/>
            </a:endParaRPr>
          </a:p>
          <a:p>
            <a:pPr>
              <a:lnSpc>
                <a:spcPct val="150000"/>
              </a:lnSpc>
            </a:pPr>
            <a:r>
              <a:rPr lang="zh-CN" altLang="zh-CN" sz="2000" dirty="0">
                <a:latin typeface="+mn-ea"/>
                <a:cs typeface="Times New Roman" panose="02020603050405020304" pitchFamily="18" charset="0"/>
              </a:rPr>
              <a:t>(5)命中时间为1个时钟周期；</a:t>
            </a:r>
            <a:endParaRPr lang="zh-CN" altLang="zh-CN" sz="2000" dirty="0">
              <a:latin typeface="+mn-ea"/>
              <a:cs typeface="Times New Roman" panose="02020603050405020304" pitchFamily="18" charset="0"/>
            </a:endParaRPr>
          </a:p>
          <a:p>
            <a:pPr>
              <a:lnSpc>
                <a:spcPct val="150000"/>
              </a:lnSpc>
            </a:pPr>
            <a:r>
              <a:rPr lang="zh-CN" altLang="zh-CN" sz="2000" dirty="0">
                <a:latin typeface="+mn-ea"/>
                <a:cs typeface="Times New Roman" panose="02020603050405020304" pitchFamily="18" charset="0"/>
              </a:rPr>
              <a:t>(6)64KB直接映象Cache的失效率为1.4％，64KB两路组相联Cache的失效率为1.0％。</a:t>
            </a:r>
            <a:endParaRPr lang="zh-CN" altLang="zh-CN" sz="2000" dirty="0">
              <a:latin typeface="+mn-ea"/>
              <a:cs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191999" cy="973115"/>
            <a:chOff x="0" y="-82343"/>
            <a:chExt cx="937409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456979" y="14307"/>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7.10</a:t>
              </a:r>
              <a:r>
                <a:rPr lang="zh-CN" altLang="en-US" sz="4000" b="1" dirty="0">
                  <a:solidFill>
                    <a:schemeClr val="accent1"/>
                  </a:solidFill>
                  <a:latin typeface="+mn-ea"/>
                </a:rPr>
                <a:t>（</a:t>
              </a:r>
              <a:r>
                <a:rPr lang="zh-CN" altLang="zh-CN" sz="4000" b="1" dirty="0">
                  <a:solidFill>
                    <a:schemeClr val="accent1"/>
                  </a:solidFill>
                  <a:latin typeface="+mn-ea"/>
                </a:rPr>
                <a:t>存储系统性能指标</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12" name="内容占位符 2"/>
          <p:cNvSpPr txBox="1"/>
          <p:nvPr/>
        </p:nvSpPr>
        <p:spPr>
          <a:xfrm>
            <a:off x="883080" y="1286601"/>
            <a:ext cx="9973809" cy="571500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zh-CN" altLang="en-US" sz="1800" dirty="0">
                <a:solidFill>
                  <a:srgbClr val="FF0000"/>
                </a:solidFill>
                <a:latin typeface="+mn-ea"/>
              </a:rPr>
              <a:t>平均访存时间＝命中时间＋失效率</a:t>
            </a:r>
            <a:r>
              <a:rPr lang="en-US" altLang="zh-CN" sz="1800" dirty="0">
                <a:solidFill>
                  <a:srgbClr val="FF0000"/>
                </a:solidFill>
                <a:latin typeface="+mn-ea"/>
              </a:rPr>
              <a:t>×</a:t>
            </a:r>
            <a:r>
              <a:rPr lang="zh-CN" altLang="en-US" sz="1800" dirty="0">
                <a:solidFill>
                  <a:srgbClr val="FF0000"/>
                </a:solidFill>
                <a:latin typeface="+mn-ea"/>
              </a:rPr>
              <a:t>失效开销</a:t>
            </a:r>
            <a:endParaRPr lang="zh-CN" altLang="en-US" sz="1800" dirty="0">
              <a:solidFill>
                <a:srgbClr val="FF0000"/>
              </a:solidFill>
              <a:latin typeface="+mn-ea"/>
            </a:endParaRPr>
          </a:p>
          <a:p>
            <a:pPr marL="0" indent="0">
              <a:lnSpc>
                <a:spcPct val="120000"/>
              </a:lnSpc>
              <a:buFont typeface="Arial" panose="020B0604020202020204" pitchFamily="34" charset="0"/>
              <a:buNone/>
            </a:pPr>
            <a:r>
              <a:rPr lang="zh-CN" altLang="en-US" sz="1800" dirty="0">
                <a:latin typeface="+mn-ea"/>
              </a:rPr>
              <a:t>平均访问时间</a:t>
            </a:r>
            <a:r>
              <a:rPr lang="en-US" altLang="zh-CN" sz="1800" dirty="0">
                <a:latin typeface="+mn-ea"/>
              </a:rPr>
              <a:t>1-</a:t>
            </a:r>
            <a:r>
              <a:rPr lang="zh-CN" altLang="en-US" sz="1800" dirty="0">
                <a:latin typeface="+mn-ea"/>
              </a:rPr>
              <a:t>路</a:t>
            </a:r>
            <a:r>
              <a:rPr lang="en-US" altLang="zh-CN" sz="1800" dirty="0">
                <a:latin typeface="+mn-ea"/>
              </a:rPr>
              <a:t>=1</a:t>
            </a:r>
            <a:r>
              <a:rPr lang="zh-CN" altLang="en-US" sz="1800" dirty="0">
                <a:latin typeface="+mn-ea"/>
              </a:rPr>
              <a:t>*</a:t>
            </a:r>
            <a:r>
              <a:rPr lang="en-US" altLang="zh-CN" sz="1800" dirty="0">
                <a:latin typeface="+mn-ea"/>
              </a:rPr>
              <a:t>2.0+1.4% *80=3.12ns</a:t>
            </a:r>
            <a:endParaRPr lang="en-US" altLang="zh-CN" sz="1800" dirty="0">
              <a:latin typeface="+mn-ea"/>
            </a:endParaRPr>
          </a:p>
          <a:p>
            <a:pPr marL="0" indent="0">
              <a:lnSpc>
                <a:spcPct val="120000"/>
              </a:lnSpc>
              <a:buFont typeface="Arial" panose="020B0604020202020204" pitchFamily="34" charset="0"/>
              <a:buNone/>
            </a:pPr>
            <a:r>
              <a:rPr lang="zh-CN" altLang="en-US" sz="1800" dirty="0">
                <a:latin typeface="+mn-ea"/>
              </a:rPr>
              <a:t>平均访问时间</a:t>
            </a:r>
            <a:r>
              <a:rPr lang="en-US" altLang="zh-CN" sz="1800" dirty="0">
                <a:latin typeface="+mn-ea"/>
              </a:rPr>
              <a:t>2-</a:t>
            </a:r>
            <a:r>
              <a:rPr lang="zh-CN" altLang="en-US" sz="1800" dirty="0">
                <a:latin typeface="+mn-ea"/>
              </a:rPr>
              <a:t>路</a:t>
            </a:r>
            <a:r>
              <a:rPr lang="en-US" altLang="zh-CN" sz="1800" dirty="0">
                <a:latin typeface="+mn-ea"/>
              </a:rPr>
              <a:t>=1</a:t>
            </a:r>
            <a:r>
              <a:rPr lang="zh-CN" altLang="en-US" sz="1800" dirty="0">
                <a:latin typeface="+mn-ea"/>
              </a:rPr>
              <a:t>*</a:t>
            </a:r>
            <a:r>
              <a:rPr lang="en-US" altLang="zh-CN" sz="1800" dirty="0">
                <a:latin typeface="+mn-ea"/>
              </a:rPr>
              <a:t>2.0*(1+10%)+1.0% *80=3.0ns</a:t>
            </a:r>
            <a:endParaRPr lang="en-US" altLang="zh-CN" sz="1800" dirty="0">
              <a:latin typeface="+mn-ea"/>
            </a:endParaRPr>
          </a:p>
          <a:p>
            <a:pPr marL="0" indent="0">
              <a:lnSpc>
                <a:spcPct val="120000"/>
              </a:lnSpc>
              <a:buFont typeface="Arial" panose="020B0604020202020204" pitchFamily="34" charset="0"/>
              <a:buNone/>
            </a:pPr>
            <a:r>
              <a:rPr lang="zh-CN" altLang="en-US" sz="1800" dirty="0">
                <a:latin typeface="+mn-ea"/>
              </a:rPr>
              <a:t>两路组相联的平均访存时间比较低</a:t>
            </a:r>
            <a:endParaRPr lang="zh-CN" altLang="en-US" sz="1800" dirty="0">
              <a:latin typeface="+mn-ea"/>
            </a:endParaRPr>
          </a:p>
          <a:p>
            <a:pPr marL="0" indent="0">
              <a:lnSpc>
                <a:spcPct val="120000"/>
              </a:lnSpc>
              <a:buFont typeface="Arial" panose="020B0604020202020204" pitchFamily="34" charset="0"/>
              <a:buNone/>
            </a:pPr>
            <a:r>
              <a:rPr lang="en-US" altLang="zh-CN" sz="1800" dirty="0" err="1">
                <a:solidFill>
                  <a:srgbClr val="FF0000"/>
                </a:solidFill>
                <a:latin typeface="+mn-ea"/>
              </a:rPr>
              <a:t>CPU</a:t>
            </a:r>
            <a:r>
              <a:rPr lang="en-US" altLang="zh-CN" sz="1800" baseline="-25000" dirty="0" err="1">
                <a:solidFill>
                  <a:srgbClr val="FF0000"/>
                </a:solidFill>
                <a:latin typeface="+mn-ea"/>
              </a:rPr>
              <a:t>time</a:t>
            </a:r>
            <a:r>
              <a:rPr lang="en-US" altLang="zh-CN" sz="1800" dirty="0">
                <a:solidFill>
                  <a:srgbClr val="FF0000"/>
                </a:solidFill>
                <a:latin typeface="+mn-ea"/>
              </a:rPr>
              <a:t>=</a:t>
            </a:r>
            <a:r>
              <a:rPr lang="zh-CN" altLang="en-US" sz="1800" dirty="0">
                <a:solidFill>
                  <a:srgbClr val="FF0000"/>
                </a:solidFill>
                <a:latin typeface="+mn-ea"/>
              </a:rPr>
              <a:t>（</a:t>
            </a:r>
            <a:r>
              <a:rPr lang="en-US" altLang="zh-CN" sz="1800" dirty="0">
                <a:solidFill>
                  <a:srgbClr val="FF0000"/>
                </a:solidFill>
                <a:latin typeface="+mn-ea"/>
              </a:rPr>
              <a:t>CPU</a:t>
            </a:r>
            <a:r>
              <a:rPr lang="zh-CN" altLang="en-US" sz="1800" dirty="0">
                <a:solidFill>
                  <a:srgbClr val="FF0000"/>
                </a:solidFill>
                <a:latin typeface="+mn-ea"/>
              </a:rPr>
              <a:t>执行周期数</a:t>
            </a:r>
            <a:r>
              <a:rPr lang="en-US" altLang="zh-CN" sz="1800" dirty="0">
                <a:solidFill>
                  <a:srgbClr val="FF0000"/>
                </a:solidFill>
                <a:latin typeface="+mn-ea"/>
              </a:rPr>
              <a:t>+</a:t>
            </a:r>
            <a:r>
              <a:rPr lang="zh-CN" altLang="en-US" sz="1800" dirty="0">
                <a:solidFill>
                  <a:srgbClr val="FF0000"/>
                </a:solidFill>
                <a:latin typeface="+mn-ea"/>
              </a:rPr>
              <a:t>存储停顿周期数）*时钟周期</a:t>
            </a:r>
            <a:endParaRPr lang="zh-CN" altLang="en-US" sz="1800" dirty="0">
              <a:solidFill>
                <a:srgbClr val="FF0000"/>
              </a:solidFill>
              <a:latin typeface="+mn-ea"/>
            </a:endParaRPr>
          </a:p>
          <a:p>
            <a:pPr marL="0" indent="0">
              <a:lnSpc>
                <a:spcPct val="120000"/>
              </a:lnSpc>
              <a:buFont typeface="Arial" panose="020B0604020202020204" pitchFamily="34" charset="0"/>
              <a:buNone/>
            </a:pPr>
            <a:r>
              <a:rPr lang="en-US" altLang="zh-CN" sz="1800" dirty="0" err="1">
                <a:solidFill>
                  <a:srgbClr val="FF0000"/>
                </a:solidFill>
                <a:latin typeface="+mn-ea"/>
              </a:rPr>
              <a:t>CPU</a:t>
            </a:r>
            <a:r>
              <a:rPr lang="en-US" altLang="zh-CN" sz="1800" baseline="-25000" dirty="0" err="1">
                <a:solidFill>
                  <a:srgbClr val="FF0000"/>
                </a:solidFill>
                <a:latin typeface="+mn-ea"/>
              </a:rPr>
              <a:t>time</a:t>
            </a:r>
            <a:r>
              <a:rPr lang="en-US" altLang="zh-CN" sz="1800" dirty="0">
                <a:solidFill>
                  <a:srgbClr val="FF0000"/>
                </a:solidFill>
                <a:latin typeface="+mn-ea"/>
              </a:rPr>
              <a:t>=</a:t>
            </a:r>
            <a:r>
              <a:rPr lang="zh-CN" altLang="en-US" sz="1800" dirty="0">
                <a:solidFill>
                  <a:srgbClr val="FF0000"/>
                </a:solidFill>
                <a:latin typeface="+mn-ea"/>
              </a:rPr>
              <a:t>（</a:t>
            </a:r>
            <a:r>
              <a:rPr lang="en-US" altLang="zh-CN" sz="1800" dirty="0">
                <a:solidFill>
                  <a:srgbClr val="FF0000"/>
                </a:solidFill>
                <a:latin typeface="+mn-ea"/>
              </a:rPr>
              <a:t>IC</a:t>
            </a:r>
            <a:r>
              <a:rPr lang="zh-CN" altLang="en-US" sz="1800" dirty="0">
                <a:solidFill>
                  <a:srgbClr val="FF0000"/>
                </a:solidFill>
                <a:latin typeface="+mn-ea"/>
              </a:rPr>
              <a:t>*</a:t>
            </a:r>
            <a:r>
              <a:rPr lang="en-US" altLang="zh-CN" sz="1800" dirty="0">
                <a:solidFill>
                  <a:srgbClr val="FF0000"/>
                </a:solidFill>
                <a:latin typeface="+mn-ea"/>
              </a:rPr>
              <a:t>CPI</a:t>
            </a:r>
            <a:r>
              <a:rPr lang="zh-CN" altLang="en-US" sz="1800" dirty="0">
                <a:solidFill>
                  <a:srgbClr val="FF0000"/>
                </a:solidFill>
                <a:latin typeface="+mn-ea"/>
              </a:rPr>
              <a:t>执行周期数</a:t>
            </a:r>
            <a:r>
              <a:rPr lang="en-US" altLang="zh-CN" sz="1800" dirty="0">
                <a:solidFill>
                  <a:srgbClr val="FF0000"/>
                </a:solidFill>
                <a:latin typeface="+mn-ea"/>
              </a:rPr>
              <a:t>+</a:t>
            </a:r>
            <a:r>
              <a:rPr lang="zh-CN" altLang="en-US" sz="1800" dirty="0">
                <a:solidFill>
                  <a:srgbClr val="FF0000"/>
                </a:solidFill>
                <a:latin typeface="+mn-ea"/>
              </a:rPr>
              <a:t>总访存失效次数*失效开销） *时钟周期</a:t>
            </a:r>
            <a:endParaRPr lang="zh-CN" altLang="en-US" sz="1800" dirty="0">
              <a:solidFill>
                <a:srgbClr val="FF0000"/>
              </a:solidFill>
              <a:latin typeface="+mn-ea"/>
            </a:endParaRPr>
          </a:p>
          <a:p>
            <a:pPr marL="0" indent="0">
              <a:lnSpc>
                <a:spcPct val="120000"/>
              </a:lnSpc>
              <a:buFont typeface="Arial" panose="020B0604020202020204" pitchFamily="34" charset="0"/>
              <a:buNone/>
            </a:pPr>
            <a:r>
              <a:rPr lang="en-US" altLang="zh-CN" sz="1800" dirty="0">
                <a:solidFill>
                  <a:srgbClr val="FF0000"/>
                </a:solidFill>
                <a:latin typeface="+mn-ea"/>
              </a:rPr>
              <a:t>=IC</a:t>
            </a:r>
            <a:r>
              <a:rPr lang="zh-CN" altLang="en-US" sz="1800" dirty="0">
                <a:solidFill>
                  <a:srgbClr val="FF0000"/>
                </a:solidFill>
                <a:latin typeface="+mn-ea"/>
              </a:rPr>
              <a:t>*（</a:t>
            </a:r>
            <a:r>
              <a:rPr lang="en-US" altLang="zh-CN" sz="1800" dirty="0">
                <a:solidFill>
                  <a:srgbClr val="FF0000"/>
                </a:solidFill>
                <a:latin typeface="+mn-ea"/>
              </a:rPr>
              <a:t>CPI</a:t>
            </a:r>
            <a:r>
              <a:rPr lang="zh-CN" altLang="en-US" sz="1800" dirty="0">
                <a:solidFill>
                  <a:srgbClr val="FF0000"/>
                </a:solidFill>
                <a:latin typeface="+mn-ea"/>
              </a:rPr>
              <a:t>执行*时钟周期</a:t>
            </a:r>
            <a:r>
              <a:rPr lang="en-US" altLang="zh-CN" sz="1800" dirty="0">
                <a:solidFill>
                  <a:srgbClr val="FF0000"/>
                </a:solidFill>
                <a:latin typeface="+mn-ea"/>
              </a:rPr>
              <a:t>+</a:t>
            </a:r>
            <a:r>
              <a:rPr lang="zh-CN" altLang="en-US" sz="1800" dirty="0">
                <a:solidFill>
                  <a:srgbClr val="FF0000"/>
                </a:solidFill>
                <a:latin typeface="+mn-ea"/>
              </a:rPr>
              <a:t>每条指令的访存次数*失效率*失效开销*时钟周期）</a:t>
            </a:r>
            <a:endParaRPr lang="zh-CN" altLang="en-US" sz="1800" dirty="0">
              <a:solidFill>
                <a:srgbClr val="FF0000"/>
              </a:solidFill>
              <a:latin typeface="+mn-ea"/>
            </a:endParaRPr>
          </a:p>
          <a:p>
            <a:pPr marL="0" indent="0">
              <a:lnSpc>
                <a:spcPct val="120000"/>
              </a:lnSpc>
              <a:buFont typeface="Arial" panose="020B0604020202020204" pitchFamily="34" charset="0"/>
              <a:buNone/>
            </a:pPr>
            <a:r>
              <a:rPr lang="en-US" altLang="zh-CN" sz="1800" dirty="0">
                <a:latin typeface="+mn-ea"/>
              </a:rPr>
              <a:t>CPU </a:t>
            </a:r>
            <a:r>
              <a:rPr lang="en-US" altLang="zh-CN" sz="1800" baseline="-25000" dirty="0">
                <a:latin typeface="+mn-ea"/>
              </a:rPr>
              <a:t>time 1-way</a:t>
            </a:r>
            <a:r>
              <a:rPr lang="en-US" altLang="zh-CN" sz="1800" dirty="0">
                <a:latin typeface="+mn-ea"/>
              </a:rPr>
              <a:t>=IC(2.0*2+1.2*0.014*80)</a:t>
            </a:r>
            <a:r>
              <a:rPr lang="zh-CN" altLang="en-US" sz="1800" dirty="0">
                <a:latin typeface="+mn-ea"/>
              </a:rPr>
              <a:t>＝</a:t>
            </a:r>
            <a:r>
              <a:rPr lang="en-US" altLang="zh-CN" sz="1800" dirty="0">
                <a:latin typeface="+mn-ea"/>
              </a:rPr>
              <a:t>5.344IC</a:t>
            </a:r>
            <a:endParaRPr lang="en-US" altLang="zh-CN" sz="1800" dirty="0">
              <a:latin typeface="+mn-ea"/>
            </a:endParaRPr>
          </a:p>
          <a:p>
            <a:pPr marL="0" indent="0">
              <a:lnSpc>
                <a:spcPct val="120000"/>
              </a:lnSpc>
              <a:buFont typeface="Arial" panose="020B0604020202020204" pitchFamily="34" charset="0"/>
              <a:buNone/>
            </a:pPr>
            <a:r>
              <a:rPr lang="en-US" altLang="zh-CN" sz="1800" dirty="0">
                <a:latin typeface="+mn-ea"/>
              </a:rPr>
              <a:t>CPU </a:t>
            </a:r>
            <a:r>
              <a:rPr lang="en-US" altLang="zh-CN" sz="1800" baseline="-25000" dirty="0">
                <a:latin typeface="+mn-ea"/>
              </a:rPr>
              <a:t>time 2-way</a:t>
            </a:r>
            <a:r>
              <a:rPr lang="en-US" altLang="zh-CN" sz="1800" dirty="0">
                <a:latin typeface="+mn-ea"/>
              </a:rPr>
              <a:t>=IC(2.2*2+1.2*0.01*80)</a:t>
            </a:r>
            <a:r>
              <a:rPr lang="zh-CN" altLang="en-US" sz="1800" dirty="0">
                <a:latin typeface="+mn-ea"/>
              </a:rPr>
              <a:t>＝</a:t>
            </a:r>
            <a:r>
              <a:rPr lang="en-US" altLang="zh-CN" sz="1800" dirty="0">
                <a:latin typeface="+mn-ea"/>
              </a:rPr>
              <a:t>5.36IC</a:t>
            </a:r>
            <a:endParaRPr lang="en-US" altLang="zh-CN" sz="1800" dirty="0">
              <a:latin typeface="+mn-ea"/>
            </a:endParaRPr>
          </a:p>
          <a:p>
            <a:pPr marL="0" indent="0">
              <a:lnSpc>
                <a:spcPct val="120000"/>
              </a:lnSpc>
              <a:buFont typeface="Arial" panose="020B0604020202020204" pitchFamily="34" charset="0"/>
              <a:buNone/>
            </a:pPr>
            <a:r>
              <a:rPr lang="zh-CN" altLang="en-US" sz="1800" dirty="0">
                <a:latin typeface="+mn-ea"/>
              </a:rPr>
              <a:t>相对性能比：</a:t>
            </a:r>
            <a:r>
              <a:rPr lang="en-US" altLang="zh-CN" sz="1800" dirty="0">
                <a:latin typeface="+mn-ea"/>
              </a:rPr>
              <a:t>5.36/5.344=1.003</a:t>
            </a:r>
            <a:endParaRPr lang="en-US" altLang="zh-CN" sz="1800" dirty="0">
              <a:latin typeface="+mn-ea"/>
            </a:endParaRPr>
          </a:p>
          <a:p>
            <a:pPr marL="0" indent="0">
              <a:lnSpc>
                <a:spcPct val="120000"/>
              </a:lnSpc>
              <a:buFont typeface="Arial" panose="020B0604020202020204" pitchFamily="34" charset="0"/>
              <a:buNone/>
            </a:pPr>
            <a:r>
              <a:rPr lang="zh-CN" altLang="en-US" sz="1800" dirty="0">
                <a:latin typeface="+mn-ea"/>
              </a:rPr>
              <a:t>直接映象的访存时间是两路组相联的</a:t>
            </a:r>
            <a:r>
              <a:rPr lang="en-US" altLang="zh-CN" sz="1800" dirty="0">
                <a:latin typeface="+mn-ea"/>
              </a:rPr>
              <a:t>1.04</a:t>
            </a:r>
            <a:r>
              <a:rPr lang="zh-CN" altLang="en-US" sz="1800" dirty="0">
                <a:latin typeface="+mn-ea"/>
              </a:rPr>
              <a:t>倍，两路组相联的平均</a:t>
            </a:r>
            <a:r>
              <a:rPr lang="en-US" altLang="zh-CN" sz="1800" dirty="0">
                <a:latin typeface="+mn-ea"/>
              </a:rPr>
              <a:t>CPU</a:t>
            </a:r>
            <a:r>
              <a:rPr lang="zh-CN" altLang="en-US" sz="1800" dirty="0">
                <a:latin typeface="+mn-ea"/>
              </a:rPr>
              <a:t>时间是直接映象的</a:t>
            </a:r>
            <a:r>
              <a:rPr lang="en-US" altLang="zh-CN" sz="1800" dirty="0">
                <a:latin typeface="+mn-ea"/>
              </a:rPr>
              <a:t>1.003</a:t>
            </a:r>
            <a:r>
              <a:rPr lang="zh-CN" altLang="en-US" sz="1800" dirty="0">
                <a:latin typeface="+mn-ea"/>
              </a:rPr>
              <a:t>倍。</a:t>
            </a:r>
            <a:endParaRPr lang="en-US" altLang="zh-CN" sz="1800" dirty="0">
              <a:latin typeface="+mn-ea"/>
            </a:endParaRPr>
          </a:p>
          <a:p>
            <a:pPr marL="0" indent="0">
              <a:lnSpc>
                <a:spcPct val="120000"/>
              </a:lnSpc>
              <a:buFont typeface="Arial" panose="020B0604020202020204" pitchFamily="34" charset="0"/>
              <a:buNone/>
            </a:pPr>
            <a:r>
              <a:rPr lang="zh-CN" altLang="en-US" sz="1800" dirty="0">
                <a:latin typeface="+mn-ea"/>
              </a:rPr>
              <a:t>因此这里选择直接映象。</a:t>
            </a:r>
            <a:endParaRPr lang="zh-CN" altLang="en-US" sz="1800" dirty="0">
              <a:latin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354"/>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7.11</a:t>
              </a:r>
              <a:r>
                <a:rPr lang="zh-CN" altLang="en-US" sz="4000" b="1" dirty="0">
                  <a:solidFill>
                    <a:schemeClr val="accent1"/>
                  </a:solidFill>
                  <a:latin typeface="+mn-ea"/>
                </a:rPr>
                <a:t>（</a:t>
              </a:r>
              <a:r>
                <a:rPr lang="zh-CN" altLang="zh-CN" sz="4000" b="1" dirty="0">
                  <a:solidFill>
                    <a:schemeClr val="accent1"/>
                  </a:solidFill>
                  <a:latin typeface="+mn-ea"/>
                </a:rPr>
                <a:t>伪相联</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13" name="内容占位符 2"/>
          <p:cNvSpPr txBox="1"/>
          <p:nvPr/>
        </p:nvSpPr>
        <p:spPr>
          <a:xfrm>
            <a:off x="469222" y="1438275"/>
            <a:ext cx="11140224" cy="541972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09855" indent="0">
              <a:lnSpc>
                <a:spcPct val="150000"/>
              </a:lnSpc>
              <a:buClr>
                <a:srgbClr val="FFFFFF"/>
              </a:buClr>
              <a:buNone/>
            </a:pPr>
            <a:r>
              <a:rPr lang="zh-CN" altLang="en-US" sz="2000" dirty="0">
                <a:latin typeface="+mn-ea"/>
              </a:rPr>
              <a:t>伪相联中，假设在直接映象位置没有发现匹配，而在另一个位置才找到数据（伪命中）时，需要</a:t>
            </a:r>
            <a:r>
              <a:rPr lang="en-US" altLang="zh-CN" sz="2000" dirty="0">
                <a:latin typeface="+mn-ea"/>
              </a:rPr>
              <a:t>1</a:t>
            </a:r>
            <a:r>
              <a:rPr lang="zh-CN" altLang="en-US" sz="2000" dirty="0">
                <a:latin typeface="+mn-ea"/>
              </a:rPr>
              <a:t>个额外的周期，而且不交换两个</a:t>
            </a:r>
            <a:r>
              <a:rPr lang="en-US" altLang="zh-CN" sz="2000" dirty="0">
                <a:latin typeface="+mn-ea"/>
              </a:rPr>
              <a:t>Cache</a:t>
            </a:r>
            <a:r>
              <a:rPr lang="zh-CN" altLang="en-US" sz="2000" dirty="0">
                <a:latin typeface="+mn-ea"/>
              </a:rPr>
              <a:t>中的数据，失效开销为</a:t>
            </a:r>
            <a:r>
              <a:rPr lang="en-US" altLang="zh-CN" sz="2000" dirty="0">
                <a:latin typeface="+mn-ea"/>
              </a:rPr>
              <a:t>50</a:t>
            </a:r>
            <a:r>
              <a:rPr lang="zh-CN" altLang="en-US" sz="2000" dirty="0">
                <a:latin typeface="+mn-ea"/>
              </a:rPr>
              <a:t>个时钟周期。</a:t>
            </a:r>
            <a:endParaRPr lang="en-US" altLang="zh-CN" sz="2000" dirty="0">
              <a:latin typeface="+mn-ea"/>
            </a:endParaRPr>
          </a:p>
          <a:p>
            <a:pPr marL="109855" indent="0">
              <a:lnSpc>
                <a:spcPct val="150000"/>
              </a:lnSpc>
              <a:buClr>
                <a:srgbClr val="FFFFFF"/>
              </a:buClr>
              <a:buFont typeface="Arial" panose="020B0604020202020204" pitchFamily="34" charset="0"/>
              <a:buNone/>
            </a:pPr>
            <a:r>
              <a:rPr lang="zh-CN" altLang="en-US" sz="2000" dirty="0">
                <a:latin typeface="+mn-ea"/>
              </a:rPr>
              <a:t>假设 </a:t>
            </a:r>
            <a:r>
              <a:rPr lang="en-US" altLang="zh-CN" sz="2000" dirty="0">
                <a:latin typeface="+mn-ea"/>
              </a:rPr>
              <a:t>2KB</a:t>
            </a:r>
            <a:r>
              <a:rPr lang="zh-CN" altLang="en-US" sz="2000" dirty="0">
                <a:latin typeface="+mn-ea"/>
              </a:rPr>
              <a:t>直接映象</a:t>
            </a:r>
            <a:r>
              <a:rPr lang="en-US" altLang="zh-CN" sz="2000" dirty="0">
                <a:latin typeface="+mn-ea"/>
              </a:rPr>
              <a:t>Cache</a:t>
            </a:r>
            <a:r>
              <a:rPr lang="zh-CN" altLang="en-US" sz="2000" dirty="0">
                <a:latin typeface="+mn-ea"/>
              </a:rPr>
              <a:t>的总失效率为</a:t>
            </a:r>
            <a:r>
              <a:rPr lang="en-US" altLang="zh-CN" sz="2000" dirty="0">
                <a:latin typeface="+mn-ea"/>
              </a:rPr>
              <a:t>0.098</a:t>
            </a:r>
            <a:r>
              <a:rPr lang="zh-CN" altLang="en-US" sz="2000" dirty="0">
                <a:latin typeface="+mn-ea"/>
              </a:rPr>
              <a:t>，</a:t>
            </a:r>
            <a:r>
              <a:rPr lang="en-US" altLang="zh-CN" sz="2000" dirty="0">
                <a:latin typeface="+mn-ea"/>
              </a:rPr>
              <a:t>2</a:t>
            </a:r>
            <a:r>
              <a:rPr lang="zh-CN" altLang="en-US" sz="2000" dirty="0">
                <a:latin typeface="+mn-ea"/>
              </a:rPr>
              <a:t>路相联的总失效率为</a:t>
            </a:r>
            <a:r>
              <a:rPr lang="en-US" altLang="zh-CN" sz="2000" dirty="0">
                <a:latin typeface="+mn-ea"/>
              </a:rPr>
              <a:t>0.076</a:t>
            </a:r>
            <a:r>
              <a:rPr lang="zh-CN" altLang="en-US" sz="2000" dirty="0">
                <a:latin typeface="+mn-ea"/>
              </a:rPr>
              <a:t>；</a:t>
            </a:r>
            <a:endParaRPr lang="zh-CN" altLang="en-US" sz="2000" dirty="0">
              <a:latin typeface="+mn-ea"/>
            </a:endParaRPr>
          </a:p>
          <a:p>
            <a:pPr marL="109855" indent="0">
              <a:lnSpc>
                <a:spcPct val="150000"/>
              </a:lnSpc>
              <a:buClr>
                <a:srgbClr val="FFFFFF"/>
              </a:buClr>
              <a:buFont typeface="Arial" panose="020B0604020202020204" pitchFamily="34" charset="0"/>
              <a:buNone/>
            </a:pPr>
            <a:r>
              <a:rPr lang="en-US" altLang="zh-CN" sz="2000" dirty="0">
                <a:latin typeface="+mn-ea"/>
              </a:rPr>
              <a:t>128KB</a:t>
            </a:r>
            <a:r>
              <a:rPr lang="zh-CN" altLang="en-US" sz="2000" dirty="0">
                <a:latin typeface="+mn-ea"/>
              </a:rPr>
              <a:t>直接映象</a:t>
            </a:r>
            <a:r>
              <a:rPr lang="en-US" altLang="zh-CN" sz="2000" dirty="0">
                <a:latin typeface="+mn-ea"/>
              </a:rPr>
              <a:t>Cache</a:t>
            </a:r>
            <a:r>
              <a:rPr lang="zh-CN" altLang="en-US" sz="2000" dirty="0">
                <a:latin typeface="+mn-ea"/>
              </a:rPr>
              <a:t>的总失效率为</a:t>
            </a:r>
            <a:r>
              <a:rPr lang="en-US" altLang="zh-CN" sz="2000" dirty="0">
                <a:latin typeface="+mn-ea"/>
              </a:rPr>
              <a:t>0.010</a:t>
            </a:r>
            <a:r>
              <a:rPr lang="zh-CN" altLang="en-US" sz="2000" dirty="0">
                <a:latin typeface="+mn-ea"/>
              </a:rPr>
              <a:t>，</a:t>
            </a:r>
            <a:r>
              <a:rPr lang="en-US" altLang="zh-CN" sz="2000" dirty="0">
                <a:latin typeface="+mn-ea"/>
              </a:rPr>
              <a:t>2</a:t>
            </a:r>
            <a:r>
              <a:rPr lang="zh-CN" altLang="en-US" sz="2000" dirty="0">
                <a:latin typeface="+mn-ea"/>
              </a:rPr>
              <a:t>路相联的总失效率为</a:t>
            </a:r>
            <a:r>
              <a:rPr lang="en-US" altLang="zh-CN" sz="2000" dirty="0">
                <a:latin typeface="+mn-ea"/>
              </a:rPr>
              <a:t>0.007</a:t>
            </a:r>
            <a:r>
              <a:rPr lang="zh-CN" altLang="en-US" sz="2000" dirty="0">
                <a:latin typeface="+mn-ea"/>
              </a:rPr>
              <a:t>。</a:t>
            </a:r>
            <a:endParaRPr lang="zh-CN" altLang="en-US" sz="2000" dirty="0">
              <a:latin typeface="+mn-ea"/>
            </a:endParaRPr>
          </a:p>
          <a:p>
            <a:pPr marL="109855" indent="0">
              <a:lnSpc>
                <a:spcPct val="150000"/>
              </a:lnSpc>
              <a:buClr>
                <a:srgbClr val="FFFFFF"/>
              </a:buClr>
              <a:buFont typeface="Arial" panose="020B0604020202020204" pitchFamily="34" charset="0"/>
              <a:buNone/>
            </a:pPr>
            <a:r>
              <a:rPr lang="zh-CN" altLang="en-US" sz="2000" dirty="0">
                <a:latin typeface="+mn-ea"/>
              </a:rPr>
              <a:t>试求：</a:t>
            </a:r>
            <a:endParaRPr lang="zh-CN" altLang="en-US" sz="2000" dirty="0">
              <a:latin typeface="+mn-ea"/>
            </a:endParaRPr>
          </a:p>
          <a:p>
            <a:pPr marL="109855" indent="0">
              <a:lnSpc>
                <a:spcPct val="150000"/>
              </a:lnSpc>
              <a:buClr>
                <a:srgbClr val="FFFFFF"/>
              </a:buClr>
              <a:buFont typeface="Georgia" panose="02040502050405020303" pitchFamily="18" charset="0"/>
              <a:buChar char="•"/>
            </a:pPr>
            <a:r>
              <a:rPr lang="zh-CN" altLang="en-US" sz="2000" dirty="0">
                <a:latin typeface="+mn-ea"/>
              </a:rPr>
              <a:t>（</a:t>
            </a:r>
            <a:r>
              <a:rPr lang="en-US" altLang="zh-CN" sz="2000" dirty="0">
                <a:latin typeface="+mn-ea"/>
              </a:rPr>
              <a:t>1</a:t>
            </a:r>
            <a:r>
              <a:rPr lang="zh-CN" altLang="en-US" sz="2000" dirty="0">
                <a:latin typeface="+mn-ea"/>
              </a:rPr>
              <a:t>）推导出平均访存的时间公式。</a:t>
            </a:r>
            <a:endParaRPr lang="zh-CN" altLang="en-US" sz="2000" dirty="0">
              <a:latin typeface="+mn-ea"/>
            </a:endParaRPr>
          </a:p>
          <a:p>
            <a:pPr marL="109855" indent="0">
              <a:lnSpc>
                <a:spcPct val="150000"/>
              </a:lnSpc>
              <a:buClr>
                <a:srgbClr val="FFFFFF"/>
              </a:buClr>
              <a:buFont typeface="Georgia" panose="02040502050405020303" pitchFamily="18" charset="0"/>
              <a:buChar char="•"/>
            </a:pPr>
            <a:r>
              <a:rPr lang="zh-CN" altLang="en-US" sz="2000" dirty="0">
                <a:latin typeface="+mn-ea"/>
              </a:rPr>
              <a:t>（</a:t>
            </a:r>
            <a:r>
              <a:rPr lang="en-US" altLang="zh-CN" sz="2000" dirty="0">
                <a:latin typeface="+mn-ea"/>
              </a:rPr>
              <a:t>2</a:t>
            </a:r>
            <a:r>
              <a:rPr lang="zh-CN" altLang="en-US" sz="2000" dirty="0">
                <a:latin typeface="+mn-ea"/>
              </a:rPr>
              <a:t>）利用（</a:t>
            </a:r>
            <a:r>
              <a:rPr lang="en-US" altLang="zh-CN" sz="2000" dirty="0">
                <a:latin typeface="+mn-ea"/>
              </a:rPr>
              <a:t>1</a:t>
            </a:r>
            <a:r>
              <a:rPr lang="zh-CN" altLang="en-US" sz="2000" dirty="0">
                <a:latin typeface="+mn-ea"/>
              </a:rPr>
              <a:t>）中得到的公式，对于</a:t>
            </a:r>
            <a:r>
              <a:rPr lang="en-US" altLang="zh-CN" sz="2000" dirty="0">
                <a:latin typeface="+mn-ea"/>
              </a:rPr>
              <a:t>2KBCache</a:t>
            </a:r>
            <a:r>
              <a:rPr lang="zh-CN" altLang="en-US" sz="2000" dirty="0">
                <a:latin typeface="+mn-ea"/>
              </a:rPr>
              <a:t>和</a:t>
            </a:r>
            <a:r>
              <a:rPr lang="en-US" altLang="zh-CN" sz="2000" dirty="0">
                <a:latin typeface="+mn-ea"/>
              </a:rPr>
              <a:t>128KBCache</a:t>
            </a:r>
            <a:r>
              <a:rPr lang="zh-CN" altLang="en-US" sz="2000" dirty="0">
                <a:latin typeface="+mn-ea"/>
              </a:rPr>
              <a:t>，重新计算伪相联的平均访存时间。请问哪一种伪相联更快？</a:t>
            </a:r>
            <a:endParaRPr lang="en-US" altLang="zh-CN" sz="2000" dirty="0">
              <a:latin typeface="+mn-ea"/>
            </a:endParaRPr>
          </a:p>
          <a:p>
            <a:pPr marL="109855" indent="0">
              <a:buClr>
                <a:srgbClr val="FFFFFF"/>
              </a:buClr>
              <a:buFont typeface="Georgia" panose="02040502050405020303" pitchFamily="18" charset="0"/>
              <a:buChar char="•"/>
            </a:pPr>
            <a:endParaRPr lang="zh-CN" altLang="en-US" sz="2400" dirty="0">
              <a:ea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354"/>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7.11</a:t>
              </a:r>
              <a:r>
                <a:rPr lang="zh-CN" altLang="en-US" sz="4000" b="1" dirty="0">
                  <a:solidFill>
                    <a:schemeClr val="accent1"/>
                  </a:solidFill>
                  <a:latin typeface="+mn-ea"/>
                </a:rPr>
                <a:t>（</a:t>
              </a:r>
              <a:r>
                <a:rPr lang="zh-CN" altLang="zh-CN" sz="4000" b="1" dirty="0">
                  <a:solidFill>
                    <a:schemeClr val="accent1"/>
                  </a:solidFill>
                  <a:latin typeface="+mn-ea"/>
                </a:rPr>
                <a:t>伪相联</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12" name="Rectangle 3"/>
          <p:cNvSpPr txBox="1">
            <a:spLocks noChangeArrowheads="1"/>
          </p:cNvSpPr>
          <p:nvPr/>
        </p:nvSpPr>
        <p:spPr bwMode="auto">
          <a:xfrm>
            <a:off x="1054478" y="1426688"/>
            <a:ext cx="9906000" cy="5055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buClr>
                <a:schemeClr val="hlink"/>
              </a:buClr>
              <a:buSzTx/>
              <a:buFontTx/>
              <a:buNone/>
            </a:pPr>
            <a:r>
              <a:rPr lang="zh-CN" altLang="en-US" sz="2000" dirty="0">
                <a:latin typeface="+mn-ea"/>
                <a:ea typeface="+mn-ea"/>
              </a:rPr>
              <a:t>命中时间</a:t>
            </a:r>
            <a:r>
              <a:rPr lang="zh-CN" altLang="en-US" sz="2000" baseline="-25000" dirty="0">
                <a:latin typeface="+mn-ea"/>
                <a:ea typeface="+mn-ea"/>
              </a:rPr>
              <a:t>伪相联</a:t>
            </a:r>
            <a:r>
              <a:rPr lang="zh-CN" altLang="en-US" sz="2000" dirty="0">
                <a:latin typeface="+mn-ea"/>
                <a:ea typeface="+mn-ea"/>
              </a:rPr>
              <a:t>＝命中时间</a:t>
            </a:r>
            <a:r>
              <a:rPr lang="en-US" altLang="zh-CN" sz="2000" dirty="0">
                <a:latin typeface="+mn-ea"/>
                <a:ea typeface="+mn-ea"/>
              </a:rPr>
              <a:t>1</a:t>
            </a:r>
            <a:r>
              <a:rPr lang="zh-CN" altLang="en-US" sz="2000" dirty="0">
                <a:latin typeface="+mn-ea"/>
                <a:ea typeface="+mn-ea"/>
              </a:rPr>
              <a:t>路＋伪命中率</a:t>
            </a:r>
            <a:r>
              <a:rPr lang="zh-CN" altLang="en-US" sz="2000" baseline="-25000" dirty="0">
                <a:latin typeface="+mn-ea"/>
                <a:ea typeface="+mn-ea"/>
              </a:rPr>
              <a:t>伪相联</a:t>
            </a:r>
            <a:r>
              <a:rPr lang="en-US" altLang="zh-CN" sz="2000" dirty="0">
                <a:latin typeface="+mn-ea"/>
                <a:ea typeface="+mn-ea"/>
              </a:rPr>
              <a:t>×1</a:t>
            </a:r>
            <a:endParaRPr lang="en-US" altLang="zh-CN" sz="2000" dirty="0">
              <a:latin typeface="+mn-ea"/>
              <a:ea typeface="+mn-ea"/>
            </a:endParaRPr>
          </a:p>
          <a:p>
            <a:pPr>
              <a:lnSpc>
                <a:spcPct val="150000"/>
              </a:lnSpc>
              <a:buClr>
                <a:schemeClr val="hlink"/>
              </a:buClr>
              <a:buSzTx/>
              <a:buFontTx/>
              <a:buNone/>
            </a:pPr>
            <a:r>
              <a:rPr lang="zh-CN" altLang="en-US" sz="2000" dirty="0">
                <a:latin typeface="+mn-ea"/>
                <a:ea typeface="+mn-ea"/>
              </a:rPr>
              <a:t>伪命中率</a:t>
            </a:r>
            <a:r>
              <a:rPr lang="zh-CN" altLang="en-US" sz="2000" baseline="-25000" dirty="0">
                <a:latin typeface="+mn-ea"/>
                <a:ea typeface="+mn-ea"/>
              </a:rPr>
              <a:t>伪相联</a:t>
            </a:r>
            <a:r>
              <a:rPr lang="zh-CN" altLang="en-US" sz="2000" dirty="0">
                <a:latin typeface="+mn-ea"/>
                <a:ea typeface="+mn-ea"/>
              </a:rPr>
              <a:t>＝命中率</a:t>
            </a:r>
            <a:r>
              <a:rPr lang="en-US" altLang="zh-CN" sz="2000" dirty="0">
                <a:latin typeface="+mn-ea"/>
                <a:ea typeface="+mn-ea"/>
              </a:rPr>
              <a:t>2</a:t>
            </a:r>
            <a:r>
              <a:rPr lang="zh-CN" altLang="en-US" sz="2000" dirty="0">
                <a:latin typeface="+mn-ea"/>
                <a:ea typeface="+mn-ea"/>
              </a:rPr>
              <a:t>路－命中率</a:t>
            </a:r>
            <a:r>
              <a:rPr lang="en-US" altLang="zh-CN" sz="2000" dirty="0">
                <a:latin typeface="+mn-ea"/>
                <a:ea typeface="+mn-ea"/>
              </a:rPr>
              <a:t>1</a:t>
            </a:r>
            <a:r>
              <a:rPr lang="zh-CN" altLang="en-US" sz="2000" dirty="0">
                <a:latin typeface="+mn-ea"/>
                <a:ea typeface="+mn-ea"/>
              </a:rPr>
              <a:t>路＝（</a:t>
            </a:r>
            <a:r>
              <a:rPr lang="en-US" altLang="zh-CN" sz="2000" dirty="0">
                <a:latin typeface="+mn-ea"/>
                <a:ea typeface="+mn-ea"/>
              </a:rPr>
              <a:t>1</a:t>
            </a:r>
            <a:r>
              <a:rPr lang="zh-CN" altLang="en-US" sz="2000" dirty="0">
                <a:latin typeface="+mn-ea"/>
                <a:ea typeface="+mn-ea"/>
              </a:rPr>
              <a:t>－失效率</a:t>
            </a:r>
            <a:r>
              <a:rPr lang="en-US" altLang="zh-CN" sz="2000" dirty="0">
                <a:latin typeface="+mn-ea"/>
                <a:ea typeface="+mn-ea"/>
              </a:rPr>
              <a:t>2</a:t>
            </a:r>
            <a:r>
              <a:rPr lang="zh-CN" altLang="en-US" sz="2000" dirty="0">
                <a:latin typeface="+mn-ea"/>
                <a:ea typeface="+mn-ea"/>
              </a:rPr>
              <a:t>路）－（</a:t>
            </a:r>
            <a:r>
              <a:rPr lang="en-US" altLang="zh-CN" sz="2000" dirty="0">
                <a:latin typeface="+mn-ea"/>
                <a:ea typeface="+mn-ea"/>
              </a:rPr>
              <a:t>1</a:t>
            </a:r>
            <a:r>
              <a:rPr lang="zh-CN" altLang="en-US" sz="2000" dirty="0">
                <a:latin typeface="+mn-ea"/>
                <a:ea typeface="+mn-ea"/>
              </a:rPr>
              <a:t>－失效率</a:t>
            </a:r>
            <a:r>
              <a:rPr lang="en-US" altLang="zh-CN" sz="2000" dirty="0">
                <a:latin typeface="+mn-ea"/>
                <a:ea typeface="+mn-ea"/>
              </a:rPr>
              <a:t>1</a:t>
            </a:r>
            <a:r>
              <a:rPr lang="zh-CN" altLang="en-US" sz="2000" dirty="0">
                <a:latin typeface="+mn-ea"/>
                <a:ea typeface="+mn-ea"/>
              </a:rPr>
              <a:t>路）</a:t>
            </a:r>
            <a:endParaRPr lang="zh-CN" altLang="en-US" sz="2000" dirty="0">
              <a:latin typeface="+mn-ea"/>
              <a:ea typeface="+mn-ea"/>
            </a:endParaRPr>
          </a:p>
          <a:p>
            <a:pPr lvl="1">
              <a:lnSpc>
                <a:spcPct val="150000"/>
              </a:lnSpc>
              <a:buClr>
                <a:schemeClr val="accent1"/>
              </a:buClr>
              <a:buSzTx/>
              <a:buFontTx/>
              <a:buNone/>
            </a:pPr>
            <a:r>
              <a:rPr lang="zh-CN" altLang="en-US" sz="2000" dirty="0">
                <a:latin typeface="+mn-ea"/>
                <a:ea typeface="+mn-ea"/>
              </a:rPr>
              <a:t>              ＝失效率</a:t>
            </a:r>
            <a:r>
              <a:rPr lang="en-US" altLang="zh-CN" sz="2000" dirty="0">
                <a:latin typeface="+mn-ea"/>
                <a:ea typeface="+mn-ea"/>
              </a:rPr>
              <a:t>1</a:t>
            </a:r>
            <a:r>
              <a:rPr lang="zh-CN" altLang="en-US" sz="2000" dirty="0">
                <a:latin typeface="+mn-ea"/>
                <a:ea typeface="+mn-ea"/>
              </a:rPr>
              <a:t>路－失效率</a:t>
            </a:r>
            <a:r>
              <a:rPr lang="en-US" altLang="zh-CN" sz="2000" dirty="0">
                <a:latin typeface="+mn-ea"/>
                <a:ea typeface="+mn-ea"/>
              </a:rPr>
              <a:t>2</a:t>
            </a:r>
            <a:r>
              <a:rPr lang="zh-CN" altLang="en-US" sz="2000" dirty="0">
                <a:latin typeface="+mn-ea"/>
                <a:ea typeface="+mn-ea"/>
              </a:rPr>
              <a:t>路。</a:t>
            </a:r>
            <a:endParaRPr lang="zh-CN" altLang="en-US" sz="2000" dirty="0">
              <a:latin typeface="+mn-ea"/>
              <a:ea typeface="+mn-ea"/>
            </a:endParaRPr>
          </a:p>
          <a:p>
            <a:pPr>
              <a:lnSpc>
                <a:spcPct val="150000"/>
              </a:lnSpc>
              <a:buClr>
                <a:schemeClr val="hlink"/>
              </a:buClr>
              <a:buSzTx/>
              <a:buFontTx/>
              <a:buNone/>
            </a:pPr>
            <a:r>
              <a:rPr lang="zh-CN" altLang="en-US" sz="2000" dirty="0">
                <a:latin typeface="+mn-ea"/>
                <a:ea typeface="+mn-ea"/>
              </a:rPr>
              <a:t>平均访存时间</a:t>
            </a:r>
            <a:r>
              <a:rPr lang="zh-CN" altLang="en-US" sz="2000" baseline="-25000" dirty="0">
                <a:latin typeface="+mn-ea"/>
                <a:ea typeface="+mn-ea"/>
              </a:rPr>
              <a:t>伪相联</a:t>
            </a:r>
            <a:endParaRPr lang="zh-CN" altLang="en-US" sz="2000" baseline="-25000" dirty="0">
              <a:latin typeface="+mn-ea"/>
              <a:ea typeface="+mn-ea"/>
            </a:endParaRPr>
          </a:p>
          <a:p>
            <a:pPr lvl="1">
              <a:lnSpc>
                <a:spcPct val="150000"/>
              </a:lnSpc>
              <a:buClr>
                <a:schemeClr val="accent1"/>
              </a:buClr>
              <a:buSzTx/>
              <a:buFontTx/>
              <a:buNone/>
            </a:pPr>
            <a:r>
              <a:rPr lang="zh-CN" altLang="en-US" sz="2000" dirty="0">
                <a:latin typeface="+mn-ea"/>
                <a:ea typeface="+mn-ea"/>
              </a:rPr>
              <a:t>＝命中时间</a:t>
            </a:r>
            <a:r>
              <a:rPr lang="en-US" altLang="zh-CN" sz="2000" dirty="0">
                <a:latin typeface="+mn-ea"/>
                <a:ea typeface="+mn-ea"/>
              </a:rPr>
              <a:t>1</a:t>
            </a:r>
            <a:r>
              <a:rPr lang="zh-CN" altLang="en-US" sz="2000" dirty="0">
                <a:latin typeface="+mn-ea"/>
                <a:ea typeface="+mn-ea"/>
              </a:rPr>
              <a:t>路＋（失效率</a:t>
            </a:r>
            <a:r>
              <a:rPr lang="en-US" altLang="zh-CN" sz="2000" dirty="0">
                <a:latin typeface="+mn-ea"/>
                <a:ea typeface="+mn-ea"/>
              </a:rPr>
              <a:t>1</a:t>
            </a:r>
            <a:r>
              <a:rPr lang="zh-CN" altLang="en-US" sz="2000" dirty="0">
                <a:latin typeface="+mn-ea"/>
                <a:ea typeface="+mn-ea"/>
              </a:rPr>
              <a:t>路－失效率</a:t>
            </a:r>
            <a:r>
              <a:rPr lang="en-US" altLang="zh-CN" sz="2000" dirty="0">
                <a:latin typeface="+mn-ea"/>
                <a:ea typeface="+mn-ea"/>
              </a:rPr>
              <a:t>2</a:t>
            </a:r>
            <a:r>
              <a:rPr lang="zh-CN" altLang="en-US" sz="2000" dirty="0">
                <a:latin typeface="+mn-ea"/>
                <a:ea typeface="+mn-ea"/>
              </a:rPr>
              <a:t>路）</a:t>
            </a:r>
            <a:r>
              <a:rPr lang="en-US" altLang="zh-CN" sz="2000" dirty="0">
                <a:latin typeface="+mn-ea"/>
                <a:ea typeface="+mn-ea"/>
              </a:rPr>
              <a:t>×1</a:t>
            </a:r>
            <a:r>
              <a:rPr lang="zh-CN" altLang="en-US" sz="2000" dirty="0">
                <a:latin typeface="+mn-ea"/>
                <a:ea typeface="+mn-ea"/>
              </a:rPr>
              <a:t>＋失效率</a:t>
            </a:r>
            <a:r>
              <a:rPr lang="en-US" altLang="zh-CN" sz="2000" dirty="0">
                <a:latin typeface="+mn-ea"/>
                <a:ea typeface="+mn-ea"/>
              </a:rPr>
              <a:t>2</a:t>
            </a:r>
            <a:r>
              <a:rPr lang="zh-CN" altLang="en-US" sz="2000" dirty="0">
                <a:latin typeface="+mn-ea"/>
                <a:ea typeface="+mn-ea"/>
              </a:rPr>
              <a:t>路</a:t>
            </a:r>
            <a:r>
              <a:rPr lang="en-US" altLang="zh-CN" sz="2000" dirty="0">
                <a:latin typeface="+mn-ea"/>
                <a:ea typeface="+mn-ea"/>
              </a:rPr>
              <a:t>×</a:t>
            </a:r>
            <a:r>
              <a:rPr lang="zh-CN" altLang="en-US" sz="2000" dirty="0">
                <a:latin typeface="+mn-ea"/>
                <a:ea typeface="+mn-ea"/>
              </a:rPr>
              <a:t>失效开销</a:t>
            </a:r>
            <a:r>
              <a:rPr lang="en-US" altLang="zh-CN" sz="2000" dirty="0">
                <a:latin typeface="+mn-ea"/>
                <a:ea typeface="+mn-ea"/>
              </a:rPr>
              <a:t>2</a:t>
            </a:r>
            <a:r>
              <a:rPr lang="zh-CN" altLang="en-US" sz="2000" dirty="0">
                <a:latin typeface="+mn-ea"/>
                <a:ea typeface="+mn-ea"/>
              </a:rPr>
              <a:t>路</a:t>
            </a:r>
            <a:endParaRPr lang="en-US" altLang="zh-CN" sz="2000" dirty="0">
              <a:latin typeface="+mn-ea"/>
              <a:ea typeface="+mn-ea"/>
            </a:endParaRPr>
          </a:p>
          <a:p>
            <a:pPr lvl="1">
              <a:lnSpc>
                <a:spcPct val="150000"/>
              </a:lnSpc>
              <a:buClr>
                <a:schemeClr val="accent1"/>
              </a:buClr>
              <a:buSzTx/>
              <a:buFontTx/>
              <a:buNone/>
            </a:pPr>
            <a:endParaRPr lang="zh-CN" altLang="en-US" sz="2000" dirty="0">
              <a:latin typeface="+mn-ea"/>
              <a:ea typeface="+mn-ea"/>
            </a:endParaRPr>
          </a:p>
          <a:p>
            <a:pPr lvl="1">
              <a:lnSpc>
                <a:spcPct val="150000"/>
              </a:lnSpc>
              <a:buClr>
                <a:schemeClr val="accent1"/>
              </a:buClr>
              <a:buSzTx/>
              <a:buFontTx/>
              <a:buNone/>
            </a:pPr>
            <a:r>
              <a:rPr lang="zh-CN" altLang="en-US" sz="2000" dirty="0">
                <a:latin typeface="+mn-ea"/>
                <a:ea typeface="+mn-ea"/>
              </a:rPr>
              <a:t>平均访存时间</a:t>
            </a:r>
            <a:r>
              <a:rPr lang="en-US" altLang="zh-CN" sz="2000" dirty="0">
                <a:latin typeface="+mn-ea"/>
                <a:ea typeface="+mn-ea"/>
              </a:rPr>
              <a:t>2KB=1+(0.098-0.076)*1+(0.076 *50 ) =4.822</a:t>
            </a:r>
            <a:endParaRPr lang="en-US" altLang="zh-CN" sz="2000" dirty="0">
              <a:latin typeface="+mn-ea"/>
              <a:ea typeface="+mn-ea"/>
            </a:endParaRPr>
          </a:p>
          <a:p>
            <a:pPr lvl="1">
              <a:lnSpc>
                <a:spcPct val="150000"/>
              </a:lnSpc>
              <a:buClr>
                <a:schemeClr val="accent1"/>
              </a:buClr>
              <a:buSzTx/>
              <a:buFontTx/>
              <a:buNone/>
            </a:pPr>
            <a:r>
              <a:rPr lang="zh-CN" altLang="en-US" sz="2000" dirty="0">
                <a:latin typeface="+mn-ea"/>
                <a:ea typeface="+mn-ea"/>
              </a:rPr>
              <a:t>平均访存时间</a:t>
            </a:r>
            <a:r>
              <a:rPr lang="en-US" altLang="zh-CN" sz="2000" dirty="0">
                <a:latin typeface="+mn-ea"/>
                <a:ea typeface="+mn-ea"/>
              </a:rPr>
              <a:t>128KB=1+(0.010-0.007)*1+(0.007 *50 ) =1.353</a:t>
            </a:r>
            <a:endParaRPr lang="en-US" altLang="zh-CN" sz="2000" dirty="0">
              <a:latin typeface="+mn-ea"/>
              <a:ea typeface="+mn-ea"/>
            </a:endParaRPr>
          </a:p>
          <a:p>
            <a:pPr lvl="1">
              <a:lnSpc>
                <a:spcPct val="150000"/>
              </a:lnSpc>
              <a:buClr>
                <a:schemeClr val="accent1"/>
              </a:buClr>
              <a:buSzTx/>
              <a:buFontTx/>
              <a:buNone/>
            </a:pPr>
            <a:r>
              <a:rPr lang="en-US" altLang="zh-CN" sz="2000" dirty="0">
                <a:latin typeface="+mn-ea"/>
                <a:ea typeface="+mn-ea"/>
              </a:rPr>
              <a:t>128KB</a:t>
            </a:r>
            <a:r>
              <a:rPr lang="zh-CN" altLang="en-US" sz="2000" dirty="0">
                <a:latin typeface="+mn-ea"/>
                <a:ea typeface="+mn-ea"/>
              </a:rPr>
              <a:t>的伪相联</a:t>
            </a:r>
            <a:r>
              <a:rPr lang="en-US" altLang="zh-CN" sz="2000" dirty="0">
                <a:latin typeface="+mn-ea"/>
                <a:ea typeface="+mn-ea"/>
              </a:rPr>
              <a:t>Cache</a:t>
            </a:r>
            <a:r>
              <a:rPr lang="zh-CN" altLang="en-US" sz="2000" dirty="0">
                <a:latin typeface="+mn-ea"/>
                <a:ea typeface="+mn-ea"/>
              </a:rPr>
              <a:t>要快一些。</a:t>
            </a:r>
            <a:endParaRPr lang="zh-CN" altLang="en-US" sz="2000" dirty="0">
              <a:latin typeface="+mn-ea"/>
              <a:ea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149"/>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7.12</a:t>
              </a:r>
              <a:r>
                <a:rPr lang="zh-CN" altLang="en-US" sz="4000" b="1" dirty="0">
                  <a:solidFill>
                    <a:schemeClr val="accent1"/>
                  </a:solidFill>
                  <a:latin typeface="+mn-ea"/>
                </a:rPr>
                <a:t>（</a:t>
              </a:r>
              <a:r>
                <a:rPr lang="en-US" altLang="zh-CN" sz="4000" b="1" dirty="0">
                  <a:solidFill>
                    <a:schemeClr val="accent1"/>
                  </a:solidFill>
                  <a:latin typeface="+mn-ea"/>
                </a:rPr>
                <a:t> TLB </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13" name="内容占位符 2"/>
          <p:cNvSpPr txBox="1"/>
          <p:nvPr/>
        </p:nvSpPr>
        <p:spPr>
          <a:xfrm>
            <a:off x="450762" y="1426689"/>
            <a:ext cx="11269014" cy="488396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1800" dirty="0">
                <a:latin typeface="+mn-ea"/>
              </a:rPr>
              <a:t>假设采用理想存储器系统时的基本</a:t>
            </a:r>
            <a:r>
              <a:rPr lang="en-US" altLang="zh-CN" sz="1800" dirty="0">
                <a:latin typeface="+mn-ea"/>
              </a:rPr>
              <a:t>CPI</a:t>
            </a:r>
            <a:r>
              <a:rPr lang="zh-CN" altLang="en-US" sz="1800" dirty="0">
                <a:latin typeface="+mn-ea"/>
              </a:rPr>
              <a:t>是</a:t>
            </a:r>
            <a:r>
              <a:rPr lang="en-US" altLang="zh-CN" sz="1800" dirty="0">
                <a:latin typeface="+mn-ea"/>
              </a:rPr>
              <a:t>1.5</a:t>
            </a:r>
            <a:r>
              <a:rPr lang="zh-CN" altLang="en-US" sz="1800" dirty="0">
                <a:latin typeface="+mn-ea"/>
              </a:rPr>
              <a:t>，主存延迟是</a:t>
            </a:r>
            <a:r>
              <a:rPr lang="en-US" altLang="zh-CN" sz="1800" dirty="0">
                <a:latin typeface="+mn-ea"/>
              </a:rPr>
              <a:t>40</a:t>
            </a:r>
            <a:r>
              <a:rPr lang="zh-CN" altLang="en-US" sz="1800" dirty="0">
                <a:latin typeface="+mn-ea"/>
              </a:rPr>
              <a:t>个时钟周期；传输速率为</a:t>
            </a:r>
            <a:r>
              <a:rPr lang="en-US" altLang="zh-CN" sz="1800" dirty="0">
                <a:latin typeface="+mn-ea"/>
              </a:rPr>
              <a:t>4B/</a:t>
            </a:r>
            <a:r>
              <a:rPr lang="zh-CN" altLang="en-US" sz="1800" dirty="0">
                <a:latin typeface="+mn-ea"/>
              </a:rPr>
              <a:t>时钟周期，且</a:t>
            </a:r>
            <a:r>
              <a:rPr lang="en-US" altLang="zh-CN" sz="1800" dirty="0">
                <a:latin typeface="+mn-ea"/>
              </a:rPr>
              <a:t>Cache</a:t>
            </a:r>
            <a:r>
              <a:rPr lang="zh-CN" altLang="en-US" sz="1800" dirty="0">
                <a:latin typeface="+mn-ea"/>
              </a:rPr>
              <a:t>中</a:t>
            </a:r>
            <a:r>
              <a:rPr lang="en-US" altLang="zh-CN" sz="1800" dirty="0">
                <a:latin typeface="+mn-ea"/>
              </a:rPr>
              <a:t>50%</a:t>
            </a:r>
            <a:r>
              <a:rPr lang="zh-CN" altLang="en-US" sz="1800" dirty="0">
                <a:latin typeface="+mn-ea"/>
              </a:rPr>
              <a:t>的块修改过的。每个块中有</a:t>
            </a:r>
            <a:r>
              <a:rPr lang="en-US" altLang="zh-CN" sz="1800" dirty="0">
                <a:latin typeface="+mn-ea"/>
              </a:rPr>
              <a:t>32B</a:t>
            </a:r>
            <a:r>
              <a:rPr lang="zh-CN" altLang="en-US" sz="1800" dirty="0">
                <a:latin typeface="+mn-ea"/>
              </a:rPr>
              <a:t>，</a:t>
            </a:r>
            <a:r>
              <a:rPr lang="en-US" altLang="zh-CN" sz="1800" dirty="0">
                <a:latin typeface="+mn-ea"/>
              </a:rPr>
              <a:t>20%</a:t>
            </a:r>
            <a:r>
              <a:rPr lang="zh-CN" altLang="en-US" sz="1800" dirty="0">
                <a:latin typeface="+mn-ea"/>
              </a:rPr>
              <a:t>的指令是数据传送指令。并假设没有写缓存，在</a:t>
            </a:r>
            <a:r>
              <a:rPr lang="en-US" altLang="zh-CN" sz="1800" dirty="0">
                <a:latin typeface="+mn-ea"/>
              </a:rPr>
              <a:t>TLB</a:t>
            </a:r>
            <a:r>
              <a:rPr lang="zh-CN" altLang="en-US" sz="1800" dirty="0">
                <a:latin typeface="+mn-ea"/>
              </a:rPr>
              <a:t>不命中的情况下需要</a:t>
            </a:r>
            <a:r>
              <a:rPr lang="en-US" altLang="zh-CN" sz="1800" dirty="0">
                <a:latin typeface="+mn-ea"/>
              </a:rPr>
              <a:t>20</a:t>
            </a:r>
            <a:r>
              <a:rPr lang="zh-CN" altLang="en-US" sz="1800" dirty="0">
                <a:latin typeface="+mn-ea"/>
              </a:rPr>
              <a:t>时钟周期，</a:t>
            </a:r>
            <a:r>
              <a:rPr lang="en-US" altLang="zh-CN" sz="1800" dirty="0">
                <a:latin typeface="+mn-ea"/>
              </a:rPr>
              <a:t>TLB</a:t>
            </a:r>
            <a:r>
              <a:rPr lang="zh-CN" altLang="en-US" sz="1800" dirty="0">
                <a:latin typeface="+mn-ea"/>
              </a:rPr>
              <a:t>不会降低</a:t>
            </a:r>
            <a:r>
              <a:rPr lang="en-US" altLang="zh-CN" sz="1800" dirty="0">
                <a:latin typeface="+mn-ea"/>
              </a:rPr>
              <a:t>Cache</a:t>
            </a:r>
            <a:r>
              <a:rPr lang="zh-CN" altLang="en-US" sz="1800" dirty="0">
                <a:latin typeface="+mn-ea"/>
              </a:rPr>
              <a:t>命中率。</a:t>
            </a:r>
            <a:r>
              <a:rPr lang="en-US" altLang="zh-CN" sz="1800" dirty="0">
                <a:latin typeface="+mn-ea"/>
              </a:rPr>
              <a:t>CPU</a:t>
            </a:r>
            <a:r>
              <a:rPr lang="zh-CN" altLang="en-US" sz="1800" dirty="0">
                <a:latin typeface="+mn-ea"/>
              </a:rPr>
              <a:t>产生指令地址或</a:t>
            </a:r>
            <a:r>
              <a:rPr lang="en-US" altLang="zh-CN" sz="1800" dirty="0">
                <a:latin typeface="+mn-ea"/>
              </a:rPr>
              <a:t>Cache</a:t>
            </a:r>
            <a:r>
              <a:rPr lang="zh-CN" altLang="en-US" sz="1800" dirty="0">
                <a:latin typeface="+mn-ea"/>
              </a:rPr>
              <a:t>不命中时产生的地址有</a:t>
            </a:r>
            <a:r>
              <a:rPr lang="en-US" altLang="zh-CN" sz="1800" dirty="0">
                <a:latin typeface="+mn-ea"/>
              </a:rPr>
              <a:t>0.2%</a:t>
            </a:r>
            <a:r>
              <a:rPr lang="zh-CN" altLang="en-US" sz="1800" dirty="0">
                <a:latin typeface="+mn-ea"/>
              </a:rPr>
              <a:t>没有在</a:t>
            </a:r>
            <a:r>
              <a:rPr lang="en-US" altLang="zh-CN" sz="1800" dirty="0">
                <a:latin typeface="+mn-ea"/>
              </a:rPr>
              <a:t>TLB</a:t>
            </a:r>
            <a:r>
              <a:rPr lang="zh-CN" altLang="en-US" sz="1800" dirty="0">
                <a:latin typeface="+mn-ea"/>
              </a:rPr>
              <a:t>中找到。</a:t>
            </a:r>
            <a:endParaRPr lang="en-US" altLang="zh-CN" sz="1800" dirty="0">
              <a:latin typeface="+mn-ea"/>
            </a:endParaRPr>
          </a:p>
          <a:p>
            <a:pPr marL="0" indent="0">
              <a:lnSpc>
                <a:spcPct val="150000"/>
              </a:lnSpc>
              <a:buFont typeface="Arial" panose="020B0604020202020204" pitchFamily="34" charset="0"/>
              <a:buNone/>
            </a:pPr>
            <a:r>
              <a:rPr lang="zh-CN" altLang="en-US" sz="1800" dirty="0">
                <a:latin typeface="+mn-ea"/>
              </a:rPr>
              <a:t>（</a:t>
            </a:r>
            <a:r>
              <a:rPr lang="en-US" altLang="zh-CN" sz="1800" dirty="0">
                <a:latin typeface="+mn-ea"/>
              </a:rPr>
              <a:t>1</a:t>
            </a:r>
            <a:r>
              <a:rPr lang="zh-CN" altLang="en-US" sz="1800" dirty="0">
                <a:latin typeface="+mn-ea"/>
              </a:rPr>
              <a:t>）在理想</a:t>
            </a:r>
            <a:r>
              <a:rPr lang="en-US" altLang="zh-CN" sz="1800" dirty="0">
                <a:latin typeface="+mn-ea"/>
              </a:rPr>
              <a:t>TLB</a:t>
            </a:r>
            <a:r>
              <a:rPr lang="zh-CN" altLang="en-US" sz="1800" dirty="0">
                <a:latin typeface="+mn-ea"/>
              </a:rPr>
              <a:t>情况下，计算均采用写回法</a:t>
            </a:r>
            <a:r>
              <a:rPr lang="en-US" altLang="zh-CN" sz="1800" dirty="0">
                <a:latin typeface="+mn-ea"/>
              </a:rPr>
              <a:t>16KB</a:t>
            </a:r>
            <a:r>
              <a:rPr lang="zh-CN" altLang="en-US" sz="1800" dirty="0">
                <a:latin typeface="+mn-ea"/>
              </a:rPr>
              <a:t>直接映像混合</a:t>
            </a:r>
            <a:r>
              <a:rPr lang="en-US" altLang="zh-CN" sz="1800" dirty="0">
                <a:latin typeface="+mn-ea"/>
              </a:rPr>
              <a:t>Cache</a:t>
            </a:r>
            <a:r>
              <a:rPr lang="zh-CN" altLang="en-US" sz="1800" dirty="0">
                <a:latin typeface="+mn-ea"/>
              </a:rPr>
              <a:t>、</a:t>
            </a:r>
            <a:r>
              <a:rPr lang="en-US" altLang="zh-CN" sz="1800" dirty="0">
                <a:latin typeface="+mn-ea"/>
              </a:rPr>
              <a:t>16KB</a:t>
            </a:r>
            <a:r>
              <a:rPr lang="zh-CN" altLang="en-US" sz="1800" dirty="0">
                <a:latin typeface="+mn-ea"/>
              </a:rPr>
              <a:t>两路组相联混合</a:t>
            </a:r>
            <a:r>
              <a:rPr lang="en-US" altLang="zh-CN" sz="1800" dirty="0">
                <a:latin typeface="+mn-ea"/>
              </a:rPr>
              <a:t>Cache</a:t>
            </a:r>
            <a:r>
              <a:rPr lang="zh-CN" altLang="en-US" sz="1800" dirty="0">
                <a:latin typeface="+mn-ea"/>
              </a:rPr>
              <a:t>和</a:t>
            </a:r>
            <a:r>
              <a:rPr lang="en-US" altLang="zh-CN" sz="1800" dirty="0">
                <a:latin typeface="+mn-ea"/>
              </a:rPr>
              <a:t>32KB</a:t>
            </a:r>
            <a:r>
              <a:rPr lang="zh-CN" altLang="en-US" sz="1800" dirty="0">
                <a:latin typeface="+mn-ea"/>
              </a:rPr>
              <a:t>直接映像混合</a:t>
            </a:r>
            <a:r>
              <a:rPr lang="en-US" altLang="zh-CN" sz="1800" dirty="0">
                <a:latin typeface="+mn-ea"/>
              </a:rPr>
              <a:t>Cache</a:t>
            </a:r>
            <a:r>
              <a:rPr lang="zh-CN" altLang="en-US" sz="1800" dirty="0">
                <a:latin typeface="+mn-ea"/>
              </a:rPr>
              <a:t>机器的实际</a:t>
            </a:r>
            <a:r>
              <a:rPr lang="en-US" altLang="zh-CN" sz="1800" dirty="0">
                <a:latin typeface="+mn-ea"/>
              </a:rPr>
              <a:t>CPI</a:t>
            </a:r>
            <a:r>
              <a:rPr lang="zh-CN" altLang="en-US" sz="1800" dirty="0">
                <a:latin typeface="+mn-ea"/>
              </a:rPr>
              <a:t>。</a:t>
            </a:r>
            <a:endParaRPr lang="en-US" altLang="zh-CN" sz="1800" dirty="0">
              <a:latin typeface="+mn-ea"/>
            </a:endParaRPr>
          </a:p>
          <a:p>
            <a:pPr marL="0" indent="0">
              <a:lnSpc>
                <a:spcPct val="150000"/>
              </a:lnSpc>
              <a:buFont typeface="Arial" panose="020B0604020202020204" pitchFamily="34" charset="0"/>
              <a:buNone/>
            </a:pPr>
            <a:r>
              <a:rPr lang="zh-CN" altLang="en-US" sz="1800" dirty="0">
                <a:latin typeface="+mn-ea"/>
              </a:rPr>
              <a:t>（</a:t>
            </a:r>
            <a:r>
              <a:rPr lang="en-US" altLang="zh-CN" sz="1800" dirty="0">
                <a:latin typeface="+mn-ea"/>
              </a:rPr>
              <a:t>2</a:t>
            </a:r>
            <a:r>
              <a:rPr lang="zh-CN" altLang="en-US" sz="1800" dirty="0">
                <a:latin typeface="+mn-ea"/>
              </a:rPr>
              <a:t>）在实际</a:t>
            </a:r>
            <a:r>
              <a:rPr lang="en-US" altLang="zh-CN" sz="1800" dirty="0">
                <a:latin typeface="+mn-ea"/>
              </a:rPr>
              <a:t>TLB</a:t>
            </a:r>
            <a:r>
              <a:rPr lang="zh-CN" altLang="en-US" sz="1800" dirty="0">
                <a:latin typeface="+mn-ea"/>
              </a:rPr>
              <a:t>情况下，用（</a:t>
            </a:r>
            <a:r>
              <a:rPr lang="en-US" altLang="zh-CN" sz="1800" dirty="0">
                <a:latin typeface="+mn-ea"/>
              </a:rPr>
              <a:t>1</a:t>
            </a:r>
            <a:r>
              <a:rPr lang="zh-CN" altLang="en-US" sz="1800" dirty="0">
                <a:latin typeface="+mn-ea"/>
              </a:rPr>
              <a:t>）的结果，计算均采用写回法</a:t>
            </a:r>
            <a:r>
              <a:rPr lang="en-US" altLang="zh-CN" sz="1800" dirty="0">
                <a:latin typeface="+mn-ea"/>
              </a:rPr>
              <a:t>16KB</a:t>
            </a:r>
            <a:r>
              <a:rPr lang="zh-CN" altLang="en-US" sz="1800" dirty="0">
                <a:latin typeface="+mn-ea"/>
              </a:rPr>
              <a:t>直接映像混合</a:t>
            </a:r>
            <a:r>
              <a:rPr lang="en-US" altLang="zh-CN" sz="1800" dirty="0">
                <a:latin typeface="+mn-ea"/>
              </a:rPr>
              <a:t>Cache</a:t>
            </a:r>
            <a:r>
              <a:rPr lang="zh-CN" altLang="en-US" sz="1800" dirty="0">
                <a:latin typeface="+mn-ea"/>
              </a:rPr>
              <a:t>、</a:t>
            </a:r>
            <a:r>
              <a:rPr lang="en-US" altLang="zh-CN" sz="1800" dirty="0">
                <a:latin typeface="+mn-ea"/>
              </a:rPr>
              <a:t>16KB</a:t>
            </a:r>
            <a:r>
              <a:rPr lang="zh-CN" altLang="en-US" sz="1800" dirty="0">
                <a:latin typeface="+mn-ea"/>
              </a:rPr>
              <a:t>两路组相联混合</a:t>
            </a:r>
            <a:r>
              <a:rPr lang="en-US" altLang="zh-CN" sz="1800" dirty="0">
                <a:latin typeface="+mn-ea"/>
              </a:rPr>
              <a:t>Cache</a:t>
            </a:r>
            <a:r>
              <a:rPr lang="zh-CN" altLang="en-US" sz="1800" dirty="0">
                <a:latin typeface="+mn-ea"/>
              </a:rPr>
              <a:t>和</a:t>
            </a:r>
            <a:r>
              <a:rPr lang="en-US" altLang="zh-CN" sz="1800" dirty="0">
                <a:latin typeface="+mn-ea"/>
              </a:rPr>
              <a:t>32KB</a:t>
            </a:r>
            <a:r>
              <a:rPr lang="zh-CN" altLang="en-US" sz="1800" dirty="0">
                <a:latin typeface="+mn-ea"/>
              </a:rPr>
              <a:t>直接映像混合</a:t>
            </a:r>
            <a:r>
              <a:rPr lang="en-US" altLang="zh-CN" sz="1800" dirty="0">
                <a:latin typeface="+mn-ea"/>
              </a:rPr>
              <a:t>Cache</a:t>
            </a:r>
            <a:r>
              <a:rPr lang="zh-CN" altLang="en-US" sz="1800" dirty="0">
                <a:latin typeface="+mn-ea"/>
              </a:rPr>
              <a:t>机器的实际</a:t>
            </a:r>
            <a:r>
              <a:rPr lang="en-US" altLang="zh-CN" sz="1800" dirty="0">
                <a:latin typeface="+mn-ea"/>
              </a:rPr>
              <a:t>CPI</a:t>
            </a:r>
            <a:r>
              <a:rPr lang="zh-CN" altLang="en-US" sz="1800" dirty="0">
                <a:latin typeface="+mn-ea"/>
              </a:rPr>
              <a:t>。</a:t>
            </a:r>
            <a:endParaRPr lang="en-US" altLang="zh-CN" sz="1800" dirty="0">
              <a:latin typeface="+mn-ea"/>
            </a:endParaRPr>
          </a:p>
          <a:p>
            <a:pPr marL="0" indent="0">
              <a:lnSpc>
                <a:spcPct val="150000"/>
              </a:lnSpc>
              <a:buFont typeface="Arial" panose="020B0604020202020204" pitchFamily="34" charset="0"/>
              <a:buNone/>
            </a:pPr>
            <a:r>
              <a:rPr lang="en-US" altLang="zh-CN" sz="1800" dirty="0">
                <a:latin typeface="+mn-ea"/>
              </a:rPr>
              <a:t>  </a:t>
            </a:r>
            <a:r>
              <a:rPr lang="zh-CN" altLang="en-US" sz="1800" dirty="0">
                <a:latin typeface="+mn-ea"/>
              </a:rPr>
              <a:t>其中假设</a:t>
            </a:r>
            <a:r>
              <a:rPr lang="en-US" altLang="zh-CN" sz="1800" dirty="0">
                <a:latin typeface="+mn-ea"/>
              </a:rPr>
              <a:t>16KB</a:t>
            </a:r>
            <a:r>
              <a:rPr lang="zh-CN" altLang="en-US" sz="1800" dirty="0">
                <a:latin typeface="+mn-ea"/>
              </a:rPr>
              <a:t>直接映像混合</a:t>
            </a:r>
            <a:r>
              <a:rPr lang="en-US" altLang="zh-CN" sz="1800" dirty="0">
                <a:latin typeface="+mn-ea"/>
              </a:rPr>
              <a:t>Cache</a:t>
            </a:r>
            <a:r>
              <a:rPr lang="zh-CN" altLang="en-US" sz="1800" dirty="0">
                <a:latin typeface="+mn-ea"/>
              </a:rPr>
              <a:t>、</a:t>
            </a:r>
            <a:r>
              <a:rPr lang="en-US" altLang="zh-CN" sz="1800" dirty="0">
                <a:latin typeface="+mn-ea"/>
              </a:rPr>
              <a:t>16KB</a:t>
            </a:r>
            <a:r>
              <a:rPr lang="zh-CN" altLang="en-US" sz="1800" dirty="0">
                <a:latin typeface="+mn-ea"/>
              </a:rPr>
              <a:t>两路组相联混合</a:t>
            </a:r>
            <a:r>
              <a:rPr lang="en-US" altLang="zh-CN" sz="1800" dirty="0">
                <a:latin typeface="+mn-ea"/>
              </a:rPr>
              <a:t>Cache</a:t>
            </a:r>
            <a:r>
              <a:rPr lang="zh-CN" altLang="en-US" sz="1800" dirty="0">
                <a:latin typeface="+mn-ea"/>
              </a:rPr>
              <a:t>和</a:t>
            </a:r>
            <a:r>
              <a:rPr lang="en-US" altLang="zh-CN" sz="1800" dirty="0">
                <a:latin typeface="+mn-ea"/>
              </a:rPr>
              <a:t>32KB</a:t>
            </a:r>
            <a:r>
              <a:rPr lang="zh-CN" altLang="en-US" sz="1800" dirty="0">
                <a:latin typeface="+mn-ea"/>
              </a:rPr>
              <a:t>直接映像混合</a:t>
            </a:r>
            <a:r>
              <a:rPr lang="en-US" altLang="zh-CN" sz="1800" dirty="0">
                <a:latin typeface="+mn-ea"/>
              </a:rPr>
              <a:t>Cache</a:t>
            </a:r>
            <a:r>
              <a:rPr lang="zh-CN" altLang="en-US" sz="1800" dirty="0">
                <a:latin typeface="+mn-ea"/>
              </a:rPr>
              <a:t>的不命中率分别为</a:t>
            </a:r>
            <a:r>
              <a:rPr lang="en-US" altLang="zh-CN" sz="1800" dirty="0">
                <a:latin typeface="+mn-ea"/>
              </a:rPr>
              <a:t>2.9%</a:t>
            </a:r>
            <a:r>
              <a:rPr lang="zh-CN" altLang="en-US" sz="1800" dirty="0">
                <a:latin typeface="+mn-ea"/>
              </a:rPr>
              <a:t>、</a:t>
            </a:r>
            <a:r>
              <a:rPr lang="en-US" altLang="zh-CN" sz="1800" dirty="0">
                <a:latin typeface="+mn-ea"/>
              </a:rPr>
              <a:t>2.2%</a:t>
            </a:r>
            <a:r>
              <a:rPr lang="zh-CN" altLang="en-US" sz="1800" dirty="0">
                <a:latin typeface="+mn-ea"/>
              </a:rPr>
              <a:t>和</a:t>
            </a:r>
            <a:r>
              <a:rPr lang="en-US" altLang="zh-CN" sz="1800" dirty="0">
                <a:latin typeface="+mn-ea"/>
              </a:rPr>
              <a:t>2.0%</a:t>
            </a:r>
            <a:r>
              <a:rPr lang="zh-CN" altLang="en-US" sz="1800" dirty="0">
                <a:latin typeface="+mn-ea"/>
              </a:rPr>
              <a:t>； </a:t>
            </a:r>
            <a:r>
              <a:rPr lang="en-US" altLang="zh-CN" sz="1800" dirty="0">
                <a:latin typeface="+mn-ea"/>
              </a:rPr>
              <a:t>25%</a:t>
            </a:r>
            <a:r>
              <a:rPr lang="zh-CN" altLang="en-US" sz="1800" dirty="0">
                <a:latin typeface="+mn-ea"/>
              </a:rPr>
              <a:t>的访存为写访存。</a:t>
            </a:r>
            <a:endParaRPr lang="en-US" altLang="zh-CN" sz="1800" dirty="0">
              <a:latin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149"/>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7.12</a:t>
              </a:r>
              <a:r>
                <a:rPr lang="zh-CN" altLang="en-US" sz="4000" b="1" dirty="0">
                  <a:solidFill>
                    <a:schemeClr val="accent1"/>
                  </a:solidFill>
                  <a:latin typeface="+mn-ea"/>
                </a:rPr>
                <a:t>（</a:t>
              </a:r>
              <a:r>
                <a:rPr lang="en-US" altLang="zh-CN" sz="4000" b="1" dirty="0">
                  <a:solidFill>
                    <a:schemeClr val="accent1"/>
                  </a:solidFill>
                  <a:latin typeface="+mn-ea"/>
                </a:rPr>
                <a:t> TLB </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12" name="内容占位符 2"/>
          <p:cNvSpPr txBox="1"/>
          <p:nvPr/>
        </p:nvSpPr>
        <p:spPr>
          <a:xfrm>
            <a:off x="528035" y="1181715"/>
            <a:ext cx="11075830" cy="3119830"/>
          </a:xfrm>
          <a:ln w="22225">
            <a:solidFill>
              <a:schemeClr val="accent5">
                <a:lumMod val="75000"/>
              </a:schemeClr>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1800" dirty="0">
                <a:latin typeface="+mn-ea"/>
              </a:rPr>
              <a:t>方法一：</a:t>
            </a:r>
            <a:endParaRPr lang="en-US" altLang="zh-CN" sz="1800" dirty="0">
              <a:latin typeface="+mn-ea"/>
            </a:endParaRPr>
          </a:p>
          <a:p>
            <a:pPr marL="0" indent="0">
              <a:lnSpc>
                <a:spcPct val="150000"/>
              </a:lnSpc>
              <a:buFont typeface="Arial" panose="020B0604020202020204" pitchFamily="34" charset="0"/>
              <a:buNone/>
            </a:pPr>
            <a:r>
              <a:rPr lang="zh-CN" altLang="en-US" sz="1800" dirty="0">
                <a:latin typeface="+mn-ea"/>
              </a:rPr>
              <a:t>（</a:t>
            </a:r>
            <a:r>
              <a:rPr lang="en-US" altLang="zh-CN" sz="1800" dirty="0">
                <a:latin typeface="+mn-ea"/>
              </a:rPr>
              <a:t>1</a:t>
            </a:r>
            <a:r>
              <a:rPr lang="zh-CN" altLang="en-US" sz="1800" dirty="0">
                <a:latin typeface="+mn-ea"/>
              </a:rPr>
              <a:t>）假设</a:t>
            </a:r>
            <a:r>
              <a:rPr lang="en-US" altLang="zh-CN" sz="1800" dirty="0">
                <a:latin typeface="+mn-ea"/>
              </a:rPr>
              <a:t>TLB</a:t>
            </a:r>
            <a:r>
              <a:rPr lang="zh-CN" altLang="en-US" sz="1800" dirty="0">
                <a:latin typeface="+mn-ea"/>
              </a:rPr>
              <a:t>不命中率</a:t>
            </a:r>
            <a:r>
              <a:rPr lang="en-US" altLang="zh-CN" sz="1800" dirty="0">
                <a:latin typeface="+mn-ea"/>
              </a:rPr>
              <a:t>=0</a:t>
            </a:r>
            <a:endParaRPr lang="en-US" altLang="zh-CN" sz="1800" dirty="0">
              <a:latin typeface="+mn-ea"/>
            </a:endParaRPr>
          </a:p>
          <a:p>
            <a:pPr marL="0" indent="0">
              <a:lnSpc>
                <a:spcPct val="150000"/>
              </a:lnSpc>
              <a:buFont typeface="Arial" panose="020B0604020202020204" pitchFamily="34" charset="0"/>
              <a:buNone/>
            </a:pPr>
            <a:r>
              <a:rPr lang="en-US" altLang="zh-CN" sz="1800" dirty="0">
                <a:latin typeface="+mn-ea"/>
              </a:rPr>
              <a:t>Cache</a:t>
            </a:r>
            <a:r>
              <a:rPr lang="zh-CN" altLang="en-US" sz="1800" dirty="0">
                <a:latin typeface="+mn-ea"/>
              </a:rPr>
              <a:t>中</a:t>
            </a:r>
            <a:r>
              <a:rPr lang="en-US" altLang="zh-CN" sz="1800" dirty="0">
                <a:latin typeface="+mn-ea"/>
              </a:rPr>
              <a:t>50%</a:t>
            </a:r>
            <a:r>
              <a:rPr lang="zh-CN" altLang="en-US" sz="1800" dirty="0">
                <a:latin typeface="+mn-ea"/>
              </a:rPr>
              <a:t>的块修改过，所以不命中时，替换</a:t>
            </a:r>
            <a:r>
              <a:rPr lang="en-US" altLang="zh-CN" sz="1800" dirty="0">
                <a:latin typeface="+mn-ea"/>
              </a:rPr>
              <a:t>Cache</a:t>
            </a:r>
            <a:r>
              <a:rPr lang="zh-CN" altLang="en-US" sz="1800" dirty="0">
                <a:latin typeface="+mn-ea"/>
              </a:rPr>
              <a:t>需要</a:t>
            </a:r>
            <a:r>
              <a:rPr lang="en-US" altLang="zh-CN" sz="1800" dirty="0">
                <a:latin typeface="+mn-ea"/>
              </a:rPr>
              <a:t>1</a:t>
            </a:r>
            <a:r>
              <a:rPr lang="zh-CN" altLang="en-US" sz="1800" dirty="0">
                <a:latin typeface="+mn-ea"/>
              </a:rPr>
              <a:t>次从内存取一块，</a:t>
            </a:r>
            <a:r>
              <a:rPr lang="en-US" altLang="zh-CN" sz="1800" dirty="0">
                <a:latin typeface="+mn-ea"/>
              </a:rPr>
              <a:t>50%</a:t>
            </a:r>
            <a:r>
              <a:rPr lang="zh-CN" altLang="en-US" sz="1800" dirty="0">
                <a:latin typeface="+mn-ea"/>
              </a:rPr>
              <a:t>次写回一块，共</a:t>
            </a:r>
            <a:r>
              <a:rPr lang="en-US" altLang="zh-CN" sz="1800" dirty="0">
                <a:latin typeface="+mn-ea"/>
              </a:rPr>
              <a:t>1.5</a:t>
            </a:r>
            <a:r>
              <a:rPr lang="zh-CN" altLang="en-US" sz="1800" dirty="0">
                <a:latin typeface="+mn-ea"/>
              </a:rPr>
              <a:t>次。</a:t>
            </a:r>
            <a:endParaRPr lang="en-US" altLang="zh-CN" sz="1800" dirty="0">
              <a:latin typeface="+mn-ea"/>
            </a:endParaRPr>
          </a:p>
          <a:p>
            <a:pPr marL="0" indent="0">
              <a:lnSpc>
                <a:spcPct val="150000"/>
              </a:lnSpc>
              <a:buFont typeface="Arial" panose="020B0604020202020204" pitchFamily="34" charset="0"/>
              <a:buNone/>
            </a:pPr>
            <a:r>
              <a:rPr lang="zh-CN" altLang="en-US" sz="1800" dirty="0">
                <a:latin typeface="+mn-ea"/>
              </a:rPr>
              <a:t>均摊不命中开销</a:t>
            </a:r>
            <a:r>
              <a:rPr lang="en-US" altLang="zh-CN" sz="1800" dirty="0">
                <a:latin typeface="+mn-ea"/>
              </a:rPr>
              <a:t>=</a:t>
            </a:r>
            <a:r>
              <a:rPr lang="zh-CN" altLang="en-US" sz="1800" dirty="0">
                <a:latin typeface="+mn-ea"/>
              </a:rPr>
              <a:t>不命中率</a:t>
            </a:r>
            <a:r>
              <a:rPr lang="en-US" altLang="zh-CN" sz="1800" dirty="0">
                <a:latin typeface="+mn-ea"/>
              </a:rPr>
              <a:t>×1.5 × [40+32B/4B+0×20]=</a:t>
            </a:r>
            <a:r>
              <a:rPr lang="zh-CN" altLang="en-US" sz="1800" dirty="0">
                <a:latin typeface="+mn-ea"/>
              </a:rPr>
              <a:t>不命中率</a:t>
            </a:r>
            <a:r>
              <a:rPr lang="en-US" altLang="zh-CN" sz="1800" dirty="0">
                <a:latin typeface="+mn-ea"/>
              </a:rPr>
              <a:t>×72</a:t>
            </a:r>
            <a:endParaRPr lang="en-US" altLang="zh-CN" sz="1800" dirty="0">
              <a:latin typeface="+mn-ea"/>
            </a:endParaRPr>
          </a:p>
          <a:p>
            <a:pPr marL="0" indent="0">
              <a:lnSpc>
                <a:spcPct val="150000"/>
              </a:lnSpc>
              <a:buFont typeface="Arial" panose="020B0604020202020204" pitchFamily="34" charset="0"/>
              <a:buNone/>
            </a:pPr>
            <a:r>
              <a:rPr lang="zh-CN" altLang="en-US" sz="1800" dirty="0">
                <a:latin typeface="+mn-ea"/>
              </a:rPr>
              <a:t>实际</a:t>
            </a:r>
            <a:r>
              <a:rPr lang="en-US" altLang="zh-CN" sz="1800" dirty="0">
                <a:latin typeface="+mn-ea"/>
              </a:rPr>
              <a:t>CPI1=1.5+1.2×</a:t>
            </a:r>
            <a:r>
              <a:rPr lang="zh-CN" altLang="en-US" sz="1800" dirty="0">
                <a:latin typeface="+mn-ea"/>
              </a:rPr>
              <a:t>不命中率</a:t>
            </a:r>
            <a:r>
              <a:rPr lang="en-US" altLang="zh-CN" sz="1800" dirty="0">
                <a:latin typeface="+mn-ea"/>
              </a:rPr>
              <a:t>×72=1.5+</a:t>
            </a:r>
            <a:r>
              <a:rPr lang="zh-CN" altLang="en-US" sz="1800" dirty="0">
                <a:latin typeface="+mn-ea"/>
              </a:rPr>
              <a:t>不命中率</a:t>
            </a:r>
            <a:r>
              <a:rPr lang="en-US" altLang="zh-CN" sz="1800" dirty="0">
                <a:latin typeface="+mn-ea"/>
              </a:rPr>
              <a:t>×86.4</a:t>
            </a:r>
            <a:endParaRPr lang="en-US" altLang="zh-CN" sz="1800" dirty="0">
              <a:latin typeface="+mn-ea"/>
            </a:endParaRPr>
          </a:p>
          <a:p>
            <a:pPr marL="0" indent="0">
              <a:lnSpc>
                <a:spcPct val="150000"/>
              </a:lnSpc>
              <a:buFont typeface="Arial" panose="020B0604020202020204" pitchFamily="34" charset="0"/>
              <a:buNone/>
            </a:pPr>
            <a:r>
              <a:rPr lang="en-US" altLang="zh-CN" sz="1800" dirty="0">
                <a:latin typeface="+mn-ea"/>
              </a:rPr>
              <a:t>3</a:t>
            </a:r>
            <a:r>
              <a:rPr lang="zh-CN" altLang="en-US" sz="1800" dirty="0">
                <a:latin typeface="+mn-ea"/>
              </a:rPr>
              <a:t>种</a:t>
            </a:r>
            <a:r>
              <a:rPr lang="en-US" altLang="zh-CN" sz="1800" dirty="0">
                <a:latin typeface="+mn-ea"/>
              </a:rPr>
              <a:t>Cache</a:t>
            </a:r>
            <a:r>
              <a:rPr lang="zh-CN" altLang="en-US" sz="1800" dirty="0">
                <a:latin typeface="+mn-ea"/>
              </a:rPr>
              <a:t>结构的不命中率得：</a:t>
            </a:r>
            <a:endParaRPr lang="en-US" altLang="zh-CN" sz="1800" dirty="0">
              <a:latin typeface="+mn-ea"/>
            </a:endParaRPr>
          </a:p>
          <a:p>
            <a:pPr marL="0" indent="0">
              <a:lnSpc>
                <a:spcPct val="130000"/>
              </a:lnSpc>
            </a:pPr>
            <a:endParaRPr lang="en-US" altLang="zh-CN" sz="2400" dirty="0">
              <a:ea typeface="宋体" panose="02010600030101010101" pitchFamily="2" charset="-122"/>
            </a:endParaRPr>
          </a:p>
        </p:txBody>
      </p:sp>
      <p:graphicFrame>
        <p:nvGraphicFramePr>
          <p:cNvPr id="2" name="表格 2"/>
          <p:cNvGraphicFramePr>
            <a:graphicFrameLocks noGrp="1"/>
          </p:cNvGraphicFramePr>
          <p:nvPr/>
        </p:nvGraphicFramePr>
        <p:xfrm>
          <a:off x="1646458" y="4481234"/>
          <a:ext cx="8777090" cy="2048352"/>
        </p:xfrm>
        <a:graphic>
          <a:graphicData uri="http://schemas.openxmlformats.org/drawingml/2006/table">
            <a:tbl>
              <a:tblPr firstRow="1" bandRow="1">
                <a:tableStyleId>{85BE263C-DBD7-4A20-BB59-AAB30ACAA65A}</a:tableStyleId>
              </a:tblPr>
              <a:tblGrid>
                <a:gridCol w="2925697"/>
                <a:gridCol w="2916940"/>
                <a:gridCol w="2934453"/>
              </a:tblGrid>
              <a:tr h="594078">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defRPr/>
                      </a:pPr>
                      <a:r>
                        <a:rPr kumimoji="0" lang="en-US" altLang="zh-CN" sz="1800" b="0" u="none" strike="noStrike" kern="1200" cap="none" spc="0" normalizeH="0" baseline="0" noProof="0" dirty="0">
                          <a:ln>
                            <a:noFill/>
                          </a:ln>
                          <a:solidFill>
                            <a:prstClr val="black"/>
                          </a:solidFill>
                          <a:effectLst/>
                          <a:uLnTx/>
                          <a:uFillTx/>
                        </a:rPr>
                        <a:t>Cache</a:t>
                      </a:r>
                      <a:r>
                        <a:rPr kumimoji="0" lang="zh-CN" altLang="en-US" sz="1800" b="0" u="none" strike="noStrike" kern="1200" cap="none" spc="0" normalizeH="0" baseline="0" noProof="0" dirty="0">
                          <a:ln>
                            <a:noFill/>
                          </a:ln>
                          <a:solidFill>
                            <a:prstClr val="black"/>
                          </a:solidFill>
                          <a:effectLst/>
                          <a:uLnTx/>
                          <a:uFillTx/>
                        </a:rPr>
                        <a:t>结构  </a:t>
                      </a:r>
                      <a:r>
                        <a:rPr kumimoji="0" lang="en-US" altLang="zh-CN" sz="1800" b="0" u="none" strike="noStrike" kern="1200" cap="none" spc="0" normalizeH="0" baseline="0" noProof="0" dirty="0">
                          <a:ln>
                            <a:noFill/>
                          </a:ln>
                          <a:solidFill>
                            <a:prstClr val="black"/>
                          </a:solidFill>
                          <a:effectLst/>
                          <a:uLnTx/>
                          <a:uFillTx/>
                        </a:rPr>
                        <a:t>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txBody>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defRPr/>
                      </a:pPr>
                      <a:r>
                        <a:rPr kumimoji="0" lang="zh-CN" altLang="en-US" sz="1800" b="0" u="none" strike="noStrike" kern="1200" cap="none" spc="0" normalizeH="0" baseline="0" noProof="0" dirty="0">
                          <a:ln>
                            <a:noFill/>
                          </a:ln>
                          <a:solidFill>
                            <a:prstClr val="black"/>
                          </a:solidFill>
                          <a:effectLst/>
                          <a:uLnTx/>
                          <a:uFillTx/>
                        </a:rPr>
                        <a:t>不命中率</a:t>
                      </a:r>
                      <a:r>
                        <a:rPr kumimoji="0" lang="en-US" altLang="zh-CN" sz="1800" b="0" u="none" strike="noStrike" kern="1200" cap="none" spc="0" normalizeH="0" baseline="0" noProof="0" dirty="0">
                          <a:ln>
                            <a:noFill/>
                          </a:ln>
                          <a:solidFill>
                            <a:prstClr val="black"/>
                          </a:solidFill>
                          <a:effectLst/>
                          <a:uLnTx/>
                          <a:uFillTx/>
                        </a:rPr>
                        <a:t>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txBody>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defRPr/>
                      </a:pPr>
                      <a:r>
                        <a:rPr kumimoji="0" lang="en-US" altLang="zh-CN" sz="1800" b="0" u="none" strike="noStrike" kern="1200" cap="none" spc="0" normalizeH="0" baseline="0" noProof="0" dirty="0">
                          <a:ln>
                            <a:noFill/>
                          </a:ln>
                          <a:solidFill>
                            <a:prstClr val="black"/>
                          </a:solidFill>
                          <a:effectLst/>
                          <a:uLnTx/>
                          <a:uFillTx/>
                        </a:rPr>
                        <a:t>		</a:t>
                      </a:r>
                      <a:r>
                        <a:rPr kumimoji="0" lang="zh-CN" altLang="en-US" sz="1800" b="0" u="none" strike="noStrike" kern="1200" cap="none" spc="0" normalizeH="0" baseline="0" noProof="0" dirty="0">
                          <a:ln>
                            <a:noFill/>
                          </a:ln>
                          <a:solidFill>
                            <a:prstClr val="black"/>
                          </a:solidFill>
                          <a:effectLst/>
                          <a:uLnTx/>
                          <a:uFillTx/>
                        </a:rPr>
                        <a:t>实际</a:t>
                      </a:r>
                      <a:r>
                        <a:rPr kumimoji="0" lang="en-US" altLang="zh-CN" sz="1800" b="0" u="none" strike="noStrike" kern="1200" cap="none" spc="0" normalizeH="0" baseline="0" noProof="0" dirty="0">
                          <a:ln>
                            <a:noFill/>
                          </a:ln>
                          <a:solidFill>
                            <a:prstClr val="black"/>
                          </a:solidFill>
                          <a:effectLst/>
                          <a:uLnTx/>
                          <a:uFillTx/>
                        </a:rPr>
                        <a:t>CPI</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txBody>
                  <a:tcPr/>
                </a:tc>
              </a:tr>
              <a:tr h="484758">
                <a:tc>
                  <a:txBody>
                    <a:bodyPr/>
                    <a:lstStyle/>
                    <a:p>
                      <a:r>
                        <a:rPr lang="en-US" altLang="zh-CN" sz="1800" dirty="0"/>
                        <a:t>16KB</a:t>
                      </a:r>
                      <a:r>
                        <a:rPr lang="zh-CN" altLang="en-US" sz="1800" dirty="0"/>
                        <a:t>直接混合映像 </a:t>
                      </a:r>
                      <a:endParaRPr lang="zh-CN" altLang="en-US" dirty="0"/>
                    </a:p>
                  </a:txBody>
                  <a:tcPr/>
                </a:tc>
                <a:tc>
                  <a:txBody>
                    <a:bodyPr/>
                    <a:lstStyle/>
                    <a:p>
                      <a:r>
                        <a:rPr lang="en-US" altLang="zh-CN" dirty="0"/>
                        <a:t>0.029</a:t>
                      </a:r>
                      <a:endParaRPr lang="zh-CN" altLang="en-US" dirty="0"/>
                    </a:p>
                  </a:txBody>
                  <a:tcPr/>
                </a:tc>
                <a:tc>
                  <a:txBody>
                    <a:bodyPr/>
                    <a:lstStyle/>
                    <a:p>
                      <a:r>
                        <a:rPr lang="en-US" altLang="zh-CN" dirty="0"/>
                        <a:t>4.0056</a:t>
                      </a:r>
                      <a:endParaRPr lang="zh-CN" altLang="en-US" dirty="0"/>
                    </a:p>
                  </a:txBody>
                  <a:tcPr/>
                </a:tc>
              </a:tr>
              <a:tr h="484758">
                <a:tc>
                  <a:txBody>
                    <a:bodyPr/>
                    <a:lstStyle/>
                    <a:p>
                      <a:r>
                        <a:rPr lang="en-US" altLang="zh-CN" sz="1800" dirty="0"/>
                        <a:t>16KB</a:t>
                      </a:r>
                      <a:r>
                        <a:rPr lang="zh-CN" altLang="en-US" sz="1800" dirty="0"/>
                        <a:t>两路混合映像 </a:t>
                      </a:r>
                      <a:endParaRPr lang="zh-CN" altLang="en-US" dirty="0"/>
                    </a:p>
                  </a:txBody>
                  <a:tcPr/>
                </a:tc>
                <a:tc>
                  <a:txBody>
                    <a:bodyPr/>
                    <a:lstStyle/>
                    <a:p>
                      <a:r>
                        <a:rPr lang="en-US" altLang="zh-CN" dirty="0"/>
                        <a:t>0.022</a:t>
                      </a:r>
                      <a:endParaRPr lang="zh-CN" altLang="en-US" dirty="0"/>
                    </a:p>
                  </a:txBody>
                  <a:tcPr/>
                </a:tc>
                <a:tc>
                  <a:txBody>
                    <a:bodyPr/>
                    <a:lstStyle/>
                    <a:p>
                      <a:r>
                        <a:rPr lang="en-US" altLang="zh-CN" dirty="0"/>
                        <a:t>3.4008</a:t>
                      </a:r>
                      <a:endParaRPr lang="zh-CN" altLang="en-US" dirty="0"/>
                    </a:p>
                  </a:txBody>
                  <a:tcPr/>
                </a:tc>
              </a:tr>
              <a:tr h="484758">
                <a:tc>
                  <a:txBody>
                    <a:bodyPr/>
                    <a:lstStyle/>
                    <a:p>
                      <a:r>
                        <a:rPr lang="en-US" altLang="zh-CN" sz="1800" dirty="0"/>
                        <a:t>32KB</a:t>
                      </a:r>
                      <a:r>
                        <a:rPr lang="zh-CN" altLang="en-US" sz="1800" dirty="0"/>
                        <a:t>直接混合映像 </a:t>
                      </a:r>
                      <a:endParaRPr lang="zh-CN" altLang="en-US" dirty="0"/>
                    </a:p>
                  </a:txBody>
                  <a:tcPr/>
                </a:tc>
                <a:tc>
                  <a:txBody>
                    <a:bodyPr/>
                    <a:lstStyle/>
                    <a:p>
                      <a:r>
                        <a:rPr lang="en-US" altLang="zh-CN" dirty="0"/>
                        <a:t>0.020</a:t>
                      </a:r>
                      <a:endParaRPr lang="zh-CN" altLang="en-US" dirty="0"/>
                    </a:p>
                  </a:txBody>
                  <a:tcPr/>
                </a:tc>
                <a:tc>
                  <a:txBody>
                    <a:bodyPr/>
                    <a:lstStyle/>
                    <a:p>
                      <a:r>
                        <a:rPr lang="en-US" altLang="zh-CN" dirty="0"/>
                        <a:t>3.2280</a:t>
                      </a:r>
                      <a:endParaRPr lang="zh-CN" altLang="en-US" dirty="0"/>
                    </a:p>
                  </a:txBody>
                  <a:tcP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149"/>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7.12</a:t>
              </a:r>
              <a:r>
                <a:rPr lang="zh-CN" altLang="en-US" sz="4000" b="1" dirty="0">
                  <a:solidFill>
                    <a:schemeClr val="accent1"/>
                  </a:solidFill>
                  <a:latin typeface="+mn-ea"/>
                </a:rPr>
                <a:t>（</a:t>
              </a:r>
              <a:r>
                <a:rPr lang="en-US" altLang="zh-CN" sz="4000" b="1" dirty="0">
                  <a:solidFill>
                    <a:schemeClr val="accent1"/>
                  </a:solidFill>
                  <a:latin typeface="+mn-ea"/>
                </a:rPr>
                <a:t> TLB </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13" name="内容占位符 2"/>
          <p:cNvSpPr txBox="1"/>
          <p:nvPr/>
        </p:nvSpPr>
        <p:spPr>
          <a:xfrm>
            <a:off x="772732" y="1426689"/>
            <a:ext cx="10702344" cy="2707430"/>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Clr>
                <a:srgbClr val="6699FF"/>
              </a:buClr>
              <a:buFont typeface="Arial" panose="020B0604020202020204" pitchFamily="34" charset="0"/>
              <a:buNone/>
            </a:pPr>
            <a:r>
              <a:rPr lang="zh-CN" altLang="en-US" sz="2000" dirty="0">
                <a:solidFill>
                  <a:srgbClr val="163794"/>
                </a:solidFill>
                <a:latin typeface="+mn-ea"/>
              </a:rPr>
              <a:t>（</a:t>
            </a:r>
            <a:r>
              <a:rPr lang="en-US" altLang="zh-CN" sz="2000" dirty="0">
                <a:solidFill>
                  <a:srgbClr val="163794"/>
                </a:solidFill>
                <a:latin typeface="+mn-ea"/>
              </a:rPr>
              <a:t>2</a:t>
            </a:r>
            <a:r>
              <a:rPr lang="zh-CN" altLang="en-US" sz="2000" dirty="0">
                <a:solidFill>
                  <a:srgbClr val="163794"/>
                </a:solidFill>
                <a:latin typeface="+mn-ea"/>
              </a:rPr>
              <a:t>）假设</a:t>
            </a:r>
            <a:r>
              <a:rPr lang="en-US" altLang="zh-CN" sz="2000" dirty="0">
                <a:solidFill>
                  <a:srgbClr val="163794"/>
                </a:solidFill>
                <a:latin typeface="+mn-ea"/>
              </a:rPr>
              <a:t>TLB</a:t>
            </a:r>
            <a:r>
              <a:rPr lang="zh-CN" altLang="en-US" sz="2000" dirty="0">
                <a:solidFill>
                  <a:srgbClr val="163794"/>
                </a:solidFill>
                <a:latin typeface="+mn-ea"/>
              </a:rPr>
              <a:t>不命中率</a:t>
            </a:r>
            <a:r>
              <a:rPr lang="en-US" altLang="zh-CN" sz="2000" dirty="0">
                <a:solidFill>
                  <a:srgbClr val="163794"/>
                </a:solidFill>
                <a:latin typeface="+mn-ea"/>
              </a:rPr>
              <a:t>=0.2%</a:t>
            </a:r>
            <a:endParaRPr lang="en-US" altLang="zh-CN" sz="2000" dirty="0">
              <a:solidFill>
                <a:srgbClr val="163794"/>
              </a:solidFill>
              <a:latin typeface="+mn-ea"/>
            </a:endParaRPr>
          </a:p>
          <a:p>
            <a:pPr marL="0" indent="0">
              <a:lnSpc>
                <a:spcPct val="130000"/>
              </a:lnSpc>
              <a:buClr>
                <a:srgbClr val="6699FF"/>
              </a:buClr>
              <a:buFont typeface="Arial" panose="020B0604020202020204" pitchFamily="34" charset="0"/>
              <a:buNone/>
            </a:pPr>
            <a:r>
              <a:rPr lang="zh-CN" altLang="en-US" sz="2000" dirty="0">
                <a:solidFill>
                  <a:srgbClr val="163794"/>
                </a:solidFill>
                <a:latin typeface="+mn-ea"/>
              </a:rPr>
              <a:t>均摊不命中开销</a:t>
            </a:r>
            <a:r>
              <a:rPr lang="en-US" altLang="zh-CN" sz="2000" dirty="0">
                <a:solidFill>
                  <a:srgbClr val="163794"/>
                </a:solidFill>
                <a:latin typeface="+mn-ea"/>
              </a:rPr>
              <a:t>= </a:t>
            </a:r>
            <a:r>
              <a:rPr lang="zh-CN" altLang="en-US" sz="2000" dirty="0">
                <a:solidFill>
                  <a:srgbClr val="163794"/>
                </a:solidFill>
                <a:latin typeface="+mn-ea"/>
              </a:rPr>
              <a:t>不命中率</a:t>
            </a:r>
            <a:r>
              <a:rPr lang="en-US" altLang="zh-CN" sz="2000" dirty="0">
                <a:solidFill>
                  <a:srgbClr val="163794"/>
                </a:solidFill>
                <a:latin typeface="+mn-ea"/>
              </a:rPr>
              <a:t>×1.5×[40+32B/4B+0.2%×20]</a:t>
            </a:r>
            <a:endParaRPr lang="en-US" altLang="zh-CN" sz="2000" dirty="0">
              <a:solidFill>
                <a:srgbClr val="163794"/>
              </a:solidFill>
              <a:latin typeface="+mn-ea"/>
            </a:endParaRPr>
          </a:p>
          <a:p>
            <a:pPr marL="0" indent="0">
              <a:lnSpc>
                <a:spcPct val="130000"/>
              </a:lnSpc>
              <a:buClr>
                <a:srgbClr val="6699FF"/>
              </a:buClr>
              <a:buFont typeface="Arial" panose="020B0604020202020204" pitchFamily="34" charset="0"/>
              <a:buNone/>
            </a:pPr>
            <a:r>
              <a:rPr lang="en-US" altLang="zh-CN" sz="2000" dirty="0">
                <a:solidFill>
                  <a:srgbClr val="163794"/>
                </a:solidFill>
                <a:latin typeface="+mn-ea"/>
              </a:rPr>
              <a:t>              = </a:t>
            </a:r>
            <a:r>
              <a:rPr lang="zh-CN" altLang="en-US" sz="2000" dirty="0">
                <a:solidFill>
                  <a:srgbClr val="163794"/>
                </a:solidFill>
                <a:latin typeface="+mn-ea"/>
              </a:rPr>
              <a:t>不命中率</a:t>
            </a:r>
            <a:r>
              <a:rPr lang="en-US" altLang="zh-CN" sz="2000" dirty="0">
                <a:solidFill>
                  <a:srgbClr val="163794"/>
                </a:solidFill>
                <a:latin typeface="+mn-ea"/>
              </a:rPr>
              <a:t>×1.5×48.04=</a:t>
            </a:r>
            <a:r>
              <a:rPr lang="zh-CN" altLang="en-US" sz="2000" dirty="0">
                <a:solidFill>
                  <a:srgbClr val="163794"/>
                </a:solidFill>
                <a:latin typeface="+mn-ea"/>
              </a:rPr>
              <a:t>不命中率</a:t>
            </a:r>
            <a:r>
              <a:rPr lang="en-US" altLang="zh-CN" sz="2000" dirty="0">
                <a:solidFill>
                  <a:srgbClr val="163794"/>
                </a:solidFill>
                <a:latin typeface="+mn-ea"/>
              </a:rPr>
              <a:t>×72.06</a:t>
            </a:r>
            <a:endParaRPr lang="en-US" altLang="zh-CN" sz="2000" dirty="0">
              <a:solidFill>
                <a:srgbClr val="163794"/>
              </a:solidFill>
              <a:latin typeface="+mn-ea"/>
            </a:endParaRPr>
          </a:p>
          <a:p>
            <a:pPr marL="0" indent="0">
              <a:lnSpc>
                <a:spcPct val="130000"/>
              </a:lnSpc>
              <a:buClr>
                <a:srgbClr val="6699FF"/>
              </a:buClr>
              <a:buFont typeface="Arial" panose="020B0604020202020204" pitchFamily="34" charset="0"/>
              <a:buNone/>
            </a:pPr>
            <a:r>
              <a:rPr lang="zh-CN" altLang="en-US" sz="2000" dirty="0">
                <a:solidFill>
                  <a:srgbClr val="163794"/>
                </a:solidFill>
                <a:latin typeface="+mn-ea"/>
              </a:rPr>
              <a:t>实际</a:t>
            </a:r>
            <a:r>
              <a:rPr lang="en-US" altLang="zh-CN" sz="2000" dirty="0">
                <a:solidFill>
                  <a:srgbClr val="163794"/>
                </a:solidFill>
                <a:latin typeface="+mn-ea"/>
              </a:rPr>
              <a:t>CPI2</a:t>
            </a:r>
            <a:r>
              <a:rPr lang="zh-CN" altLang="en-US" sz="2000" dirty="0">
                <a:solidFill>
                  <a:srgbClr val="163794"/>
                </a:solidFill>
                <a:latin typeface="+mn-ea"/>
              </a:rPr>
              <a:t> </a:t>
            </a:r>
            <a:r>
              <a:rPr lang="en-US" altLang="zh-CN" sz="2000" dirty="0">
                <a:solidFill>
                  <a:srgbClr val="163794"/>
                </a:solidFill>
                <a:latin typeface="+mn-ea"/>
              </a:rPr>
              <a:t>= 1.5+1.2×</a:t>
            </a:r>
            <a:r>
              <a:rPr lang="zh-CN" altLang="en-US" sz="2000" dirty="0">
                <a:solidFill>
                  <a:srgbClr val="163794"/>
                </a:solidFill>
                <a:latin typeface="+mn-ea"/>
              </a:rPr>
              <a:t>不命中率</a:t>
            </a:r>
            <a:r>
              <a:rPr lang="en-US" altLang="zh-CN" sz="2000" dirty="0">
                <a:solidFill>
                  <a:srgbClr val="163794"/>
                </a:solidFill>
                <a:latin typeface="+mn-ea"/>
              </a:rPr>
              <a:t>×72.06 = 1.5+</a:t>
            </a:r>
            <a:r>
              <a:rPr lang="zh-CN" altLang="en-US" sz="2000" dirty="0">
                <a:solidFill>
                  <a:srgbClr val="163794"/>
                </a:solidFill>
                <a:latin typeface="+mn-ea"/>
              </a:rPr>
              <a:t>不命中率</a:t>
            </a:r>
            <a:r>
              <a:rPr lang="en-US" altLang="zh-CN" sz="2000" dirty="0">
                <a:solidFill>
                  <a:srgbClr val="163794"/>
                </a:solidFill>
                <a:latin typeface="+mn-ea"/>
              </a:rPr>
              <a:t>×86.472</a:t>
            </a:r>
            <a:endParaRPr lang="en-US" altLang="zh-CN" sz="2000" dirty="0">
              <a:solidFill>
                <a:srgbClr val="163794"/>
              </a:solidFill>
              <a:latin typeface="+mn-ea"/>
            </a:endParaRPr>
          </a:p>
          <a:p>
            <a:pPr marL="0" indent="0">
              <a:lnSpc>
                <a:spcPct val="130000"/>
              </a:lnSpc>
              <a:buFont typeface="Arial" panose="020B0604020202020204" pitchFamily="34" charset="0"/>
              <a:buNone/>
            </a:pPr>
            <a:r>
              <a:rPr lang="en-US" altLang="zh-CN" sz="2000" dirty="0">
                <a:latin typeface="+mn-ea"/>
              </a:rPr>
              <a:t>3</a:t>
            </a:r>
            <a:r>
              <a:rPr lang="zh-CN" altLang="en-US" sz="2000" dirty="0">
                <a:latin typeface="+mn-ea"/>
              </a:rPr>
              <a:t>种</a:t>
            </a:r>
            <a:r>
              <a:rPr lang="en-US" altLang="zh-CN" sz="2000" dirty="0">
                <a:latin typeface="+mn-ea"/>
              </a:rPr>
              <a:t>Cache</a:t>
            </a:r>
            <a:r>
              <a:rPr lang="zh-CN" altLang="en-US" sz="2000" dirty="0">
                <a:latin typeface="+mn-ea"/>
              </a:rPr>
              <a:t>结构的不命中率后得</a:t>
            </a:r>
            <a:endParaRPr lang="en-US" altLang="zh-CN" sz="2000" dirty="0">
              <a:latin typeface="+mn-ea"/>
            </a:endParaRPr>
          </a:p>
        </p:txBody>
      </p:sp>
      <p:graphicFrame>
        <p:nvGraphicFramePr>
          <p:cNvPr id="14" name="表格 2"/>
          <p:cNvGraphicFramePr>
            <a:graphicFrameLocks noGrp="1"/>
          </p:cNvGraphicFramePr>
          <p:nvPr/>
        </p:nvGraphicFramePr>
        <p:xfrm>
          <a:off x="1735359" y="4134119"/>
          <a:ext cx="8777090" cy="2048352"/>
        </p:xfrm>
        <a:graphic>
          <a:graphicData uri="http://schemas.openxmlformats.org/drawingml/2006/table">
            <a:tbl>
              <a:tblPr firstRow="1" bandRow="1">
                <a:tableStyleId>{85BE263C-DBD7-4A20-BB59-AAB30ACAA65A}</a:tableStyleId>
              </a:tblPr>
              <a:tblGrid>
                <a:gridCol w="2925697"/>
                <a:gridCol w="2916940"/>
                <a:gridCol w="2934453"/>
              </a:tblGrid>
              <a:tr h="594078">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defRPr/>
                      </a:pPr>
                      <a:r>
                        <a:rPr kumimoji="0" lang="en-US" altLang="zh-CN" sz="1800" b="0" u="none" strike="noStrike" kern="1200" cap="none" spc="0" normalizeH="0" baseline="0" noProof="0" dirty="0">
                          <a:ln>
                            <a:noFill/>
                          </a:ln>
                          <a:solidFill>
                            <a:prstClr val="black"/>
                          </a:solidFill>
                          <a:effectLst/>
                          <a:uLnTx/>
                          <a:uFillTx/>
                        </a:rPr>
                        <a:t>Cache</a:t>
                      </a:r>
                      <a:r>
                        <a:rPr kumimoji="0" lang="zh-CN" altLang="en-US" sz="1800" b="0" u="none" strike="noStrike" kern="1200" cap="none" spc="0" normalizeH="0" baseline="0" noProof="0" dirty="0">
                          <a:ln>
                            <a:noFill/>
                          </a:ln>
                          <a:solidFill>
                            <a:prstClr val="black"/>
                          </a:solidFill>
                          <a:effectLst/>
                          <a:uLnTx/>
                          <a:uFillTx/>
                        </a:rPr>
                        <a:t>结构  </a:t>
                      </a:r>
                      <a:r>
                        <a:rPr kumimoji="0" lang="en-US" altLang="zh-CN" sz="1800" b="0" u="none" strike="noStrike" kern="1200" cap="none" spc="0" normalizeH="0" baseline="0" noProof="0" dirty="0">
                          <a:ln>
                            <a:noFill/>
                          </a:ln>
                          <a:solidFill>
                            <a:prstClr val="black"/>
                          </a:solidFill>
                          <a:effectLst/>
                          <a:uLnTx/>
                          <a:uFillTx/>
                        </a:rPr>
                        <a:t>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txBody>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defRPr/>
                      </a:pPr>
                      <a:r>
                        <a:rPr kumimoji="0" lang="zh-CN" altLang="en-US" sz="1800" b="0" u="none" strike="noStrike" kern="1200" cap="none" spc="0" normalizeH="0" baseline="0" noProof="0" dirty="0">
                          <a:ln>
                            <a:noFill/>
                          </a:ln>
                          <a:solidFill>
                            <a:prstClr val="black"/>
                          </a:solidFill>
                          <a:effectLst/>
                          <a:uLnTx/>
                          <a:uFillTx/>
                        </a:rPr>
                        <a:t>不命中率</a:t>
                      </a:r>
                      <a:r>
                        <a:rPr kumimoji="0" lang="en-US" altLang="zh-CN" sz="1800" b="0" u="none" strike="noStrike" kern="1200" cap="none" spc="0" normalizeH="0" baseline="0" noProof="0" dirty="0">
                          <a:ln>
                            <a:noFill/>
                          </a:ln>
                          <a:solidFill>
                            <a:prstClr val="black"/>
                          </a:solidFill>
                          <a:effectLst/>
                          <a:uLnTx/>
                          <a:uFillTx/>
                        </a:rPr>
                        <a:t>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txBody>
                  <a:tcPr/>
                </a:tc>
                <a:tc>
                  <a:txBody>
                    <a:bodyPr/>
                    <a:lstStyle/>
                    <a:p>
                      <a:pPr marL="0" marR="0" lvl="0" indent="0" algn="l" defTabSz="457200" rtl="0" eaLnBrk="1" fontAlgn="auto" latinLnBrk="0" hangingPunct="1">
                        <a:lnSpc>
                          <a:spcPct val="150000"/>
                        </a:lnSpc>
                        <a:spcBef>
                          <a:spcPts val="0"/>
                        </a:spcBef>
                        <a:spcAft>
                          <a:spcPts val="0"/>
                        </a:spcAft>
                        <a:buClrTx/>
                        <a:buSzTx/>
                        <a:buFont typeface="Arial" panose="020B0604020202020204" pitchFamily="34" charset="0"/>
                        <a:buNone/>
                        <a:defRPr/>
                      </a:pPr>
                      <a:r>
                        <a:rPr kumimoji="0" lang="en-US" altLang="zh-CN" sz="1800" b="0" u="none" strike="noStrike" kern="1200" cap="none" spc="0" normalizeH="0" baseline="0" noProof="0" dirty="0">
                          <a:ln>
                            <a:noFill/>
                          </a:ln>
                          <a:solidFill>
                            <a:prstClr val="black"/>
                          </a:solidFill>
                          <a:effectLst/>
                          <a:uLnTx/>
                          <a:uFillTx/>
                        </a:rPr>
                        <a:t>		</a:t>
                      </a:r>
                      <a:r>
                        <a:rPr kumimoji="0" lang="zh-CN" altLang="en-US" sz="1800" b="0" u="none" strike="noStrike" kern="1200" cap="none" spc="0" normalizeH="0" baseline="0" noProof="0" dirty="0">
                          <a:ln>
                            <a:noFill/>
                          </a:ln>
                          <a:solidFill>
                            <a:prstClr val="black"/>
                          </a:solidFill>
                          <a:effectLst/>
                          <a:uLnTx/>
                          <a:uFillTx/>
                        </a:rPr>
                        <a:t>实际</a:t>
                      </a:r>
                      <a:r>
                        <a:rPr kumimoji="0" lang="en-US" altLang="zh-CN" sz="1800" b="0" u="none" strike="noStrike" kern="1200" cap="none" spc="0" normalizeH="0" baseline="0" noProof="0" dirty="0">
                          <a:ln>
                            <a:noFill/>
                          </a:ln>
                          <a:solidFill>
                            <a:prstClr val="black"/>
                          </a:solidFill>
                          <a:effectLst/>
                          <a:uLnTx/>
                          <a:uFillTx/>
                        </a:rPr>
                        <a:t>CPI</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a:txBody>
                  <a:tcPr/>
                </a:tc>
              </a:tr>
              <a:tr h="484758">
                <a:tc>
                  <a:txBody>
                    <a:bodyPr/>
                    <a:lstStyle/>
                    <a:p>
                      <a:r>
                        <a:rPr lang="en-US" altLang="zh-CN" sz="1800" dirty="0"/>
                        <a:t>16KB</a:t>
                      </a:r>
                      <a:r>
                        <a:rPr lang="zh-CN" altLang="en-US" sz="1800" dirty="0"/>
                        <a:t>直接混合映像 </a:t>
                      </a:r>
                      <a:endParaRPr lang="zh-CN" altLang="en-US" dirty="0"/>
                    </a:p>
                  </a:txBody>
                  <a:tcPr/>
                </a:tc>
                <a:tc>
                  <a:txBody>
                    <a:bodyPr/>
                    <a:lstStyle/>
                    <a:p>
                      <a:r>
                        <a:rPr lang="en-US" altLang="zh-CN" dirty="0"/>
                        <a:t>0.029</a:t>
                      </a:r>
                      <a:endParaRPr lang="zh-CN" altLang="en-US" dirty="0"/>
                    </a:p>
                  </a:txBody>
                  <a:tcPr/>
                </a:tc>
                <a:tc>
                  <a:txBody>
                    <a:bodyPr/>
                    <a:lstStyle/>
                    <a:p>
                      <a:r>
                        <a:rPr lang="en-US" altLang="zh-CN" dirty="0"/>
                        <a:t>4.0077</a:t>
                      </a:r>
                      <a:endParaRPr lang="zh-CN" altLang="en-US" dirty="0"/>
                    </a:p>
                  </a:txBody>
                  <a:tcPr/>
                </a:tc>
              </a:tr>
              <a:tr h="484758">
                <a:tc>
                  <a:txBody>
                    <a:bodyPr/>
                    <a:lstStyle/>
                    <a:p>
                      <a:r>
                        <a:rPr lang="en-US" altLang="zh-CN" sz="1800" dirty="0"/>
                        <a:t>16KB</a:t>
                      </a:r>
                      <a:r>
                        <a:rPr lang="zh-CN" altLang="en-US" sz="1800" dirty="0"/>
                        <a:t>两路混合映像 </a:t>
                      </a:r>
                      <a:endParaRPr lang="zh-CN" altLang="en-US" dirty="0"/>
                    </a:p>
                  </a:txBody>
                  <a:tcPr/>
                </a:tc>
                <a:tc>
                  <a:txBody>
                    <a:bodyPr/>
                    <a:lstStyle/>
                    <a:p>
                      <a:r>
                        <a:rPr lang="en-US" altLang="zh-CN" dirty="0"/>
                        <a:t>0.022</a:t>
                      </a:r>
                      <a:endParaRPr lang="zh-CN" altLang="en-US" dirty="0"/>
                    </a:p>
                  </a:txBody>
                  <a:tcPr/>
                </a:tc>
                <a:tc>
                  <a:txBody>
                    <a:bodyPr/>
                    <a:lstStyle/>
                    <a:p>
                      <a:r>
                        <a:rPr lang="en-US" altLang="zh-CN" dirty="0"/>
                        <a:t>3.4024</a:t>
                      </a:r>
                      <a:endParaRPr lang="zh-CN" altLang="en-US" dirty="0"/>
                    </a:p>
                  </a:txBody>
                  <a:tcPr/>
                </a:tc>
              </a:tr>
              <a:tr h="484758">
                <a:tc>
                  <a:txBody>
                    <a:bodyPr/>
                    <a:lstStyle/>
                    <a:p>
                      <a:r>
                        <a:rPr lang="en-US" altLang="zh-CN" sz="1800" dirty="0"/>
                        <a:t>32KB</a:t>
                      </a:r>
                      <a:r>
                        <a:rPr lang="zh-CN" altLang="en-US" sz="1800" dirty="0"/>
                        <a:t>直接混合映像 </a:t>
                      </a:r>
                      <a:endParaRPr lang="zh-CN" altLang="en-US" dirty="0"/>
                    </a:p>
                  </a:txBody>
                  <a:tcPr/>
                </a:tc>
                <a:tc>
                  <a:txBody>
                    <a:bodyPr/>
                    <a:lstStyle/>
                    <a:p>
                      <a:r>
                        <a:rPr lang="en-US" altLang="zh-CN" dirty="0"/>
                        <a:t>0.020</a:t>
                      </a:r>
                      <a:endParaRPr lang="zh-CN" altLang="en-US" dirty="0"/>
                    </a:p>
                  </a:txBody>
                  <a:tcPr/>
                </a:tc>
                <a:tc>
                  <a:txBody>
                    <a:bodyPr/>
                    <a:lstStyle/>
                    <a:p>
                      <a:r>
                        <a:rPr lang="en-US" altLang="zh-CN" dirty="0"/>
                        <a:t>3.2294</a:t>
                      </a:r>
                      <a:endParaRPr lang="zh-CN" altLang="en-US" dirty="0"/>
                    </a:p>
                  </a:txBody>
                  <a:tcP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149"/>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7.12</a:t>
              </a:r>
              <a:r>
                <a:rPr lang="zh-CN" altLang="en-US" sz="4000" b="1" dirty="0">
                  <a:solidFill>
                    <a:schemeClr val="accent1"/>
                  </a:solidFill>
                  <a:latin typeface="+mn-ea"/>
                </a:rPr>
                <a:t>（</a:t>
              </a:r>
              <a:r>
                <a:rPr lang="en-US" altLang="zh-CN" sz="4000" b="1" dirty="0">
                  <a:solidFill>
                    <a:schemeClr val="accent1"/>
                  </a:solidFill>
                  <a:latin typeface="+mn-ea"/>
                </a:rPr>
                <a:t> TLB </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sp>
        <p:nvSpPr>
          <p:cNvPr id="12" name="内容占位符 2"/>
          <p:cNvSpPr txBox="1"/>
          <p:nvPr/>
        </p:nvSpPr>
        <p:spPr>
          <a:xfrm>
            <a:off x="947476" y="1317411"/>
            <a:ext cx="10702344" cy="1397963"/>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buFont typeface="Arial" panose="020B0604020202020204" pitchFamily="34" charset="0"/>
              <a:buNone/>
            </a:pPr>
            <a:r>
              <a:rPr lang="zh-CN" altLang="en-US" sz="1800" dirty="0">
                <a:latin typeface="微软雅黑" panose="020B0503020204020204" charset="-122"/>
                <a:ea typeface="微软雅黑" panose="020B0503020204020204" charset="-122"/>
              </a:rPr>
              <a:t>方法二：</a:t>
            </a:r>
            <a:endParaRPr lang="en-US" altLang="zh-CN" sz="1800" dirty="0">
              <a:latin typeface="微软雅黑" panose="020B0503020204020204" charset="-122"/>
              <a:ea typeface="微软雅黑" panose="020B0503020204020204" charset="-122"/>
            </a:endParaRPr>
          </a:p>
          <a:p>
            <a:pPr marL="0" indent="0">
              <a:buFont typeface="Arial" panose="020B0604020202020204" pitchFamily="34" charset="0"/>
              <a:buNone/>
            </a:pPr>
            <a:r>
              <a:rPr lang="zh-CN" altLang="en-US" sz="1800" dirty="0">
                <a:latin typeface="微软雅黑" panose="020B0503020204020204" charset="-122"/>
                <a:ea typeface="微软雅黑" panose="020B0503020204020204" charset="-122"/>
              </a:rPr>
              <a:t>存储停顿主要由主存中取指令所引起，而</a:t>
            </a:r>
            <a:r>
              <a:rPr lang="en-US" altLang="zh-CN" sz="1800" dirty="0">
                <a:latin typeface="微软雅黑" panose="020B0503020204020204" charset="-122"/>
                <a:ea typeface="微软雅黑" panose="020B0503020204020204" charset="-122"/>
              </a:rPr>
              <a:t>load </a:t>
            </a:r>
            <a:r>
              <a:rPr lang="zh-CN" altLang="en-US" sz="1800" dirty="0">
                <a:latin typeface="微软雅黑" panose="020B0503020204020204" charset="-122"/>
                <a:ea typeface="微软雅黑" panose="020B0503020204020204" charset="-122"/>
              </a:rPr>
              <a:t>和</a:t>
            </a:r>
            <a:r>
              <a:rPr lang="en-US" altLang="zh-CN" sz="1800" dirty="0">
                <a:latin typeface="微软雅黑" panose="020B0503020204020204" charset="-122"/>
                <a:ea typeface="微软雅黑" panose="020B0503020204020204" charset="-122"/>
              </a:rPr>
              <a:t>store</a:t>
            </a:r>
            <a:r>
              <a:rPr lang="zh-CN" altLang="en-US" sz="1800" dirty="0">
                <a:latin typeface="微软雅黑" panose="020B0503020204020204" charset="-122"/>
                <a:ea typeface="微软雅黑" panose="020B0503020204020204" charset="-122"/>
              </a:rPr>
              <a:t>指令访问数据由</a:t>
            </a:r>
            <a:r>
              <a:rPr lang="en-US" altLang="zh-CN" sz="1800" dirty="0">
                <a:latin typeface="微软雅黑" panose="020B0503020204020204" charset="-122"/>
                <a:ea typeface="微软雅黑" panose="020B0503020204020204" charset="-122"/>
              </a:rPr>
              <a:t>TLB </a:t>
            </a:r>
            <a:r>
              <a:rPr lang="zh-CN" altLang="en-US" sz="1800" dirty="0">
                <a:latin typeface="微软雅黑" panose="020B0503020204020204" charset="-122"/>
                <a:ea typeface="微软雅黑" panose="020B0503020204020204" charset="-122"/>
              </a:rPr>
              <a:t>引起。</a:t>
            </a:r>
            <a:endParaRPr lang="zh-CN" altLang="en-US" sz="1800" dirty="0">
              <a:latin typeface="微软雅黑" panose="020B0503020204020204" charset="-122"/>
              <a:ea typeface="微软雅黑" panose="020B0503020204020204" charset="-122"/>
            </a:endParaRPr>
          </a:p>
          <a:p>
            <a:pPr marL="0" indent="0">
              <a:buNone/>
            </a:pPr>
            <a:r>
              <a:rPr lang="en-US" altLang="zh-CN" sz="1800" dirty="0">
                <a:latin typeface="微软雅黑" panose="020B0503020204020204" charset="-122"/>
                <a:ea typeface="微软雅黑" panose="020B0503020204020204" charset="-122"/>
              </a:rPr>
              <a:t>CPI=CPI </a:t>
            </a:r>
            <a:r>
              <a:rPr lang="zh-CN" altLang="en-US" sz="1800" dirty="0">
                <a:latin typeface="微软雅黑" panose="020B0503020204020204" charset="-122"/>
                <a:ea typeface="微软雅黑" panose="020B0503020204020204" charset="-122"/>
              </a:rPr>
              <a:t>执行</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存储停顿周期数</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指令数</a:t>
            </a:r>
            <a:endParaRPr lang="zh-CN" altLang="en-US" sz="1800" dirty="0">
              <a:latin typeface="微软雅黑" panose="020B0503020204020204" charset="-122"/>
              <a:ea typeface="微软雅黑" panose="020B0503020204020204" charset="-122"/>
            </a:endParaRPr>
          </a:p>
          <a:p>
            <a:pPr marL="0" indent="0">
              <a:lnSpc>
                <a:spcPct val="130000"/>
              </a:lnSpc>
              <a:buFont typeface="Arial" panose="020B0604020202020204" pitchFamily="34" charset="0"/>
              <a:buNone/>
            </a:pPr>
            <a:endParaRPr lang="en-US" altLang="zh-CN" sz="1800" dirty="0">
              <a:latin typeface="宋体" panose="02010600030101010101" pitchFamily="2" charset="-122"/>
              <a:ea typeface="宋体" panose="02010600030101010101" pitchFamily="2" charset="-122"/>
            </a:endParaRPr>
          </a:p>
          <a:p>
            <a:pPr marL="0" indent="0">
              <a:lnSpc>
                <a:spcPct val="130000"/>
              </a:lnSpc>
            </a:pPr>
            <a:endParaRPr lang="en-US" altLang="zh-CN" sz="2400" dirty="0">
              <a:ea typeface="宋体" panose="02010600030101010101" pitchFamily="2" charset="-122"/>
            </a:endParaRPr>
          </a:p>
        </p:txBody>
      </p:sp>
      <p:pic>
        <p:nvPicPr>
          <p:cNvPr id="14"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453353" y="2561432"/>
            <a:ext cx="7037950" cy="1553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2"/>
          <p:cNvSpPr>
            <a:spLocks noChangeArrowheads="1"/>
          </p:cNvSpPr>
          <p:nvPr/>
        </p:nvSpPr>
        <p:spPr bwMode="auto">
          <a:xfrm>
            <a:off x="1061223" y="4148916"/>
            <a:ext cx="10175508" cy="253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en-US" altLang="zh-CN" sz="1800" dirty="0">
                <a:latin typeface="微软雅黑" panose="020B0503020204020204" charset="-122"/>
                <a:ea typeface="微软雅黑" panose="020B0503020204020204" charset="-122"/>
              </a:rPr>
              <a:t>(1) </a:t>
            </a:r>
            <a:r>
              <a:rPr lang="zh-CN" altLang="en-US" sz="1800" dirty="0">
                <a:latin typeface="微软雅黑" panose="020B0503020204020204" charset="-122"/>
                <a:ea typeface="微软雅黑" panose="020B0503020204020204" charset="-122"/>
              </a:rPr>
              <a:t>对于理想</a:t>
            </a:r>
            <a:r>
              <a:rPr lang="en-US" altLang="zh-CN" sz="1800" dirty="0">
                <a:latin typeface="微软雅黑" panose="020B0503020204020204" charset="-122"/>
                <a:ea typeface="微软雅黑" panose="020B0503020204020204" charset="-122"/>
              </a:rPr>
              <a:t>TLB</a:t>
            </a: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TLB </a:t>
            </a:r>
            <a:r>
              <a:rPr lang="zh-CN" altLang="en-US" sz="1800" dirty="0">
                <a:latin typeface="微软雅黑" panose="020B0503020204020204" charset="-122"/>
                <a:ea typeface="微软雅黑" panose="020B0503020204020204" charset="-122"/>
              </a:rPr>
              <a:t>失效开销为</a:t>
            </a:r>
            <a:r>
              <a:rPr lang="en-US" altLang="zh-CN" sz="1800" dirty="0">
                <a:latin typeface="微软雅黑" panose="020B0503020204020204" charset="-122"/>
                <a:ea typeface="微软雅黑" panose="020B0503020204020204" charset="-122"/>
              </a:rPr>
              <a:t>0</a:t>
            </a:r>
            <a:r>
              <a:rPr lang="zh-CN" altLang="en-US" sz="1800" dirty="0">
                <a:latin typeface="微软雅黑" panose="020B0503020204020204" charset="-122"/>
                <a:ea typeface="微软雅黑" panose="020B0503020204020204" charset="-122"/>
              </a:rPr>
              <a:t>。</a:t>
            </a:r>
            <a:endParaRPr lang="zh-CN" altLang="en-US" sz="1800" dirty="0">
              <a:latin typeface="微软雅黑" panose="020B0503020204020204" charset="-122"/>
              <a:ea typeface="微软雅黑" panose="020B0503020204020204" charset="-122"/>
            </a:endParaRPr>
          </a:p>
          <a:p>
            <a:pPr>
              <a:lnSpc>
                <a:spcPct val="150000"/>
              </a:lnSpc>
              <a:spcBef>
                <a:spcPct val="0"/>
              </a:spcBef>
              <a:buClrTx/>
              <a:buSzTx/>
              <a:buFontTx/>
              <a:buNone/>
            </a:pPr>
            <a:r>
              <a:rPr lang="zh-CN" altLang="en-US" sz="1800" dirty="0">
                <a:latin typeface="微软雅黑" panose="020B0503020204020204" charset="-122"/>
                <a:ea typeface="微软雅黑" panose="020B0503020204020204" charset="-122"/>
              </a:rPr>
              <a:t>对于统一</a:t>
            </a:r>
            <a:r>
              <a:rPr lang="en-US" altLang="zh-CN" sz="1800" dirty="0">
                <a:latin typeface="微软雅黑" panose="020B0503020204020204" charset="-122"/>
                <a:ea typeface="微软雅黑" panose="020B0503020204020204" charset="-122"/>
              </a:rPr>
              <a:t>Cache</a:t>
            </a:r>
            <a:r>
              <a:rPr lang="zh-CN" altLang="en-US" sz="1800" dirty="0">
                <a:latin typeface="微软雅黑" panose="020B0503020204020204" charset="-122"/>
                <a:ea typeface="微软雅黑" panose="020B0503020204020204" charset="-122"/>
              </a:rPr>
              <a:t>，若读</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写失效且块是干净的，失效开销为</a:t>
            </a:r>
            <a:endParaRPr lang="zh-CN" altLang="en-US" sz="1800" dirty="0">
              <a:latin typeface="微软雅黑" panose="020B0503020204020204" charset="-122"/>
              <a:ea typeface="微软雅黑" panose="020B0503020204020204" charset="-122"/>
            </a:endParaRPr>
          </a:p>
          <a:p>
            <a:pPr>
              <a:lnSpc>
                <a:spcPct val="150000"/>
              </a:lnSpc>
              <a:spcBef>
                <a:spcPct val="0"/>
              </a:spcBef>
              <a:buClrTx/>
              <a:buSzTx/>
              <a:buFontTx/>
              <a:buNone/>
            </a:pPr>
            <a:r>
              <a:rPr lang="en-US" altLang="zh-CN" sz="1800" dirty="0">
                <a:latin typeface="微软雅黑" panose="020B0503020204020204" charset="-122"/>
                <a:ea typeface="微软雅黑" panose="020B0503020204020204" charset="-122"/>
              </a:rPr>
              <a:t>P </a:t>
            </a:r>
            <a:r>
              <a:rPr lang="zh-CN" altLang="en-US" sz="1800" baseline="-25000" dirty="0">
                <a:latin typeface="微软雅黑" panose="020B0503020204020204" charset="-122"/>
                <a:ea typeface="微软雅黑" panose="020B0503020204020204" charset="-122"/>
              </a:rPr>
              <a:t>干净数据</a:t>
            </a:r>
            <a:r>
              <a:rPr lang="zh-CN" altLang="en-US" sz="1800" dirty="0">
                <a:latin typeface="微软雅黑" panose="020B0503020204020204" charset="-122"/>
                <a:ea typeface="微软雅黑" panose="020B0503020204020204" charset="-122"/>
              </a:rPr>
              <a:t>＝主存延迟＋传输一个块需要使用的时间＝</a:t>
            </a:r>
            <a:r>
              <a:rPr lang="en-US" altLang="zh-CN" sz="1800" dirty="0">
                <a:latin typeface="微软雅黑" panose="020B0503020204020204" charset="-122"/>
                <a:ea typeface="微软雅黑" panose="020B0503020204020204" charset="-122"/>
              </a:rPr>
              <a:t>40</a:t>
            </a: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32/4</a:t>
            </a: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48</a:t>
            </a:r>
            <a:r>
              <a:rPr lang="zh-CN" altLang="en-US" sz="1800" dirty="0">
                <a:latin typeface="微软雅黑" panose="020B0503020204020204" charset="-122"/>
                <a:ea typeface="微软雅黑" panose="020B0503020204020204" charset="-122"/>
              </a:rPr>
              <a:t>（拍）</a:t>
            </a:r>
            <a:endParaRPr lang="zh-CN" altLang="en-US" sz="1800" dirty="0">
              <a:latin typeface="微软雅黑" panose="020B0503020204020204" charset="-122"/>
              <a:ea typeface="微软雅黑" panose="020B0503020204020204" charset="-122"/>
            </a:endParaRPr>
          </a:p>
          <a:p>
            <a:pPr>
              <a:lnSpc>
                <a:spcPct val="150000"/>
              </a:lnSpc>
              <a:spcBef>
                <a:spcPct val="0"/>
              </a:spcBef>
              <a:buClrTx/>
              <a:buSzTx/>
              <a:buFontTx/>
              <a:buNone/>
            </a:pPr>
            <a:r>
              <a:rPr lang="zh-CN" altLang="en-US" sz="1800" dirty="0">
                <a:latin typeface="微软雅黑" panose="020B0503020204020204" charset="-122"/>
                <a:ea typeface="微软雅黑" panose="020B0503020204020204" charset="-122"/>
              </a:rPr>
              <a:t>若为读</a:t>
            </a:r>
            <a:r>
              <a:rPr lang="en-US" altLang="zh-CN" sz="1800" dirty="0">
                <a:latin typeface="微软雅黑" panose="020B0503020204020204" charset="-122"/>
                <a:ea typeface="微软雅黑" panose="020B0503020204020204" charset="-122"/>
              </a:rPr>
              <a:t>/</a:t>
            </a:r>
            <a:r>
              <a:rPr lang="zh-CN" altLang="en-US" sz="1800" dirty="0">
                <a:latin typeface="微软雅黑" panose="020B0503020204020204" charset="-122"/>
                <a:ea typeface="微软雅黑" panose="020B0503020204020204" charset="-122"/>
              </a:rPr>
              <a:t>写失效且块是脏的，失效开销为</a:t>
            </a:r>
            <a:endParaRPr lang="zh-CN" altLang="en-US" sz="1800" dirty="0">
              <a:latin typeface="微软雅黑" panose="020B0503020204020204" charset="-122"/>
              <a:ea typeface="微软雅黑" panose="020B0503020204020204" charset="-122"/>
            </a:endParaRPr>
          </a:p>
          <a:p>
            <a:pPr>
              <a:lnSpc>
                <a:spcPct val="150000"/>
              </a:lnSpc>
              <a:spcBef>
                <a:spcPct val="0"/>
              </a:spcBef>
              <a:buClrTx/>
              <a:buSzTx/>
              <a:buFontTx/>
              <a:buNone/>
            </a:pPr>
            <a:r>
              <a:rPr lang="en-US" altLang="zh-CN" sz="1800" dirty="0">
                <a:latin typeface="微软雅黑" panose="020B0503020204020204" charset="-122"/>
                <a:ea typeface="微软雅黑" panose="020B0503020204020204" charset="-122"/>
              </a:rPr>
              <a:t>P </a:t>
            </a:r>
            <a:r>
              <a:rPr lang="zh-CN" altLang="en-US" sz="1800" baseline="-25000" dirty="0">
                <a:latin typeface="微软雅黑" panose="020B0503020204020204" charset="-122"/>
                <a:ea typeface="微软雅黑" panose="020B0503020204020204" charset="-122"/>
              </a:rPr>
              <a:t>脏数据</a:t>
            </a:r>
            <a:r>
              <a:rPr lang="zh-CN" altLang="en-US" sz="1800" dirty="0">
                <a:latin typeface="微软雅黑" panose="020B0503020204020204" charset="-122"/>
                <a:ea typeface="微软雅黑" panose="020B0503020204020204" charset="-122"/>
              </a:rPr>
              <a:t>＝（主存延迟＋传输一个块需要使用的时间）</a:t>
            </a:r>
            <a:r>
              <a:rPr lang="en-US" altLang="zh-CN" sz="1800" dirty="0">
                <a:latin typeface="微软雅黑" panose="020B0503020204020204" charset="-122"/>
                <a:ea typeface="微软雅黑" panose="020B0503020204020204" charset="-122"/>
              </a:rPr>
              <a:t>×2</a:t>
            </a: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96</a:t>
            </a:r>
            <a:r>
              <a:rPr lang="zh-CN" altLang="en-US" sz="1800" dirty="0">
                <a:latin typeface="微软雅黑" panose="020B0503020204020204" charset="-122"/>
                <a:ea typeface="微软雅黑" panose="020B0503020204020204" charset="-122"/>
              </a:rPr>
              <a:t>（拍）</a:t>
            </a:r>
            <a:endParaRPr lang="zh-CN" altLang="en-US" sz="1800" dirty="0">
              <a:latin typeface="微软雅黑" panose="020B0503020204020204" charset="-122"/>
              <a:ea typeface="微软雅黑" panose="020B0503020204020204" charset="-122"/>
            </a:endParaRPr>
          </a:p>
          <a:p>
            <a:pPr>
              <a:lnSpc>
                <a:spcPct val="150000"/>
              </a:lnSpc>
              <a:spcBef>
                <a:spcPct val="0"/>
              </a:spcBef>
              <a:buClrTx/>
              <a:buSzTx/>
              <a:buFontTx/>
              <a:buNone/>
            </a:pPr>
            <a:r>
              <a:rPr lang="pt-BR" altLang="zh-CN" sz="1800" dirty="0">
                <a:latin typeface="微软雅黑" panose="020B0503020204020204" charset="-122"/>
                <a:ea typeface="微软雅黑" panose="020B0503020204020204" charset="-122"/>
              </a:rPr>
              <a:t>CPI = 1.5 + (1+20%) ×</a:t>
            </a:r>
            <a:r>
              <a:rPr lang="zh-CN" altLang="pt-BR" sz="1800" dirty="0">
                <a:latin typeface="微软雅黑" panose="020B0503020204020204" charset="-122"/>
                <a:ea typeface="微软雅黑" panose="020B0503020204020204" charset="-122"/>
              </a:rPr>
              <a:t>失效率</a:t>
            </a:r>
            <a:r>
              <a:rPr lang="pt-BR" altLang="zh-CN" sz="1800" dirty="0">
                <a:latin typeface="微软雅黑" panose="020B0503020204020204" charset="-122"/>
                <a:ea typeface="微软雅黑" panose="020B0503020204020204" charset="-122"/>
              </a:rPr>
              <a:t>×(50% ×48 + 50%×96) = 1.5 + 1.2×R×72</a:t>
            </a:r>
            <a:endParaRPr lang="zh-CN" altLang="en-US" sz="1800" dirty="0">
              <a:latin typeface="微软雅黑" panose="020B0503020204020204" charset="-122"/>
              <a:ea typeface="微软雅黑" panose="020B050302020402020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149"/>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7.12</a:t>
              </a:r>
              <a:r>
                <a:rPr lang="zh-CN" altLang="en-US" sz="4000" b="1" dirty="0">
                  <a:solidFill>
                    <a:schemeClr val="accent1"/>
                  </a:solidFill>
                  <a:latin typeface="+mn-ea"/>
                </a:rPr>
                <a:t>（</a:t>
              </a:r>
              <a:r>
                <a:rPr lang="en-US" altLang="zh-CN" sz="4000" b="1" dirty="0">
                  <a:solidFill>
                    <a:schemeClr val="accent1"/>
                  </a:solidFill>
                  <a:latin typeface="+mn-ea"/>
                </a:rPr>
                <a:t> TLB </a:t>
              </a:r>
              <a:r>
                <a:rPr lang="zh-CN" altLang="en-US" sz="4000" b="1" dirty="0">
                  <a:solidFill>
                    <a:schemeClr val="accent1"/>
                  </a:solidFill>
                  <a:latin typeface="+mn-ea"/>
                </a:rPr>
                <a:t>）</a:t>
              </a:r>
              <a:endParaRPr lang="zh-CN" altLang="en-US" sz="4000" b="1" dirty="0">
                <a:solidFill>
                  <a:schemeClr val="accent1"/>
                </a:solidFill>
                <a:latin typeface="+mn-ea"/>
                <a:sym typeface="+mn-ea"/>
              </a:endParaRPr>
            </a:p>
          </p:txBody>
        </p:sp>
      </p:grpSp>
      <p:pic>
        <p:nvPicPr>
          <p:cNvPr id="19" name="图片 4"/>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110306" y="1515019"/>
            <a:ext cx="69119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矩形 5"/>
          <p:cNvSpPr>
            <a:spLocks noChangeArrowheads="1"/>
          </p:cNvSpPr>
          <p:nvPr/>
        </p:nvSpPr>
        <p:spPr bwMode="auto">
          <a:xfrm>
            <a:off x="814867" y="2534885"/>
            <a:ext cx="10562266" cy="96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zh-CN" altLang="en-US" sz="2000" dirty="0">
                <a:latin typeface="+mn-ea"/>
                <a:ea typeface="+mn-ea"/>
              </a:rPr>
              <a:t>设</a:t>
            </a:r>
            <a:r>
              <a:rPr lang="en-US" altLang="zh-CN" sz="2000" dirty="0">
                <a:latin typeface="+mn-ea"/>
                <a:ea typeface="+mn-ea"/>
              </a:rPr>
              <a:t>f </a:t>
            </a:r>
            <a:r>
              <a:rPr lang="zh-CN" altLang="en-US" sz="2000" dirty="0">
                <a:latin typeface="+mn-ea"/>
                <a:ea typeface="+mn-ea"/>
              </a:rPr>
              <a:t>数据为数据访问指令频率），</a:t>
            </a:r>
            <a:r>
              <a:rPr lang="en-US" altLang="zh-CN" sz="2000" dirty="0">
                <a:latin typeface="+mn-ea"/>
                <a:ea typeface="+mn-ea"/>
              </a:rPr>
              <a:t>Rt</a:t>
            </a:r>
            <a:r>
              <a:rPr lang="zh-CN" altLang="en-US" sz="2000" dirty="0">
                <a:latin typeface="+mn-ea"/>
                <a:ea typeface="+mn-ea"/>
              </a:rPr>
              <a:t>和</a:t>
            </a:r>
            <a:r>
              <a:rPr lang="en-US" altLang="zh-CN" sz="2000" dirty="0">
                <a:latin typeface="+mn-ea"/>
                <a:ea typeface="+mn-ea"/>
              </a:rPr>
              <a:t>Pt</a:t>
            </a:r>
            <a:r>
              <a:rPr lang="zh-CN" altLang="en-US" sz="2000" dirty="0">
                <a:latin typeface="+mn-ea"/>
                <a:ea typeface="+mn-ea"/>
              </a:rPr>
              <a:t>分别是</a:t>
            </a:r>
            <a:r>
              <a:rPr lang="en-US" altLang="zh-CN" sz="2000" dirty="0">
                <a:latin typeface="+mn-ea"/>
                <a:ea typeface="+mn-ea"/>
              </a:rPr>
              <a:t>TLB </a:t>
            </a:r>
            <a:r>
              <a:rPr lang="zh-CN" altLang="en-US" sz="2000" dirty="0">
                <a:latin typeface="+mn-ea"/>
                <a:ea typeface="+mn-ea"/>
              </a:rPr>
              <a:t>的失效率和失效开销，</a:t>
            </a:r>
            <a:r>
              <a:rPr lang="en-US" altLang="zh-CN" sz="2000" dirty="0" err="1">
                <a:latin typeface="+mn-ea"/>
                <a:ea typeface="+mn-ea"/>
              </a:rPr>
              <a:t>Rc</a:t>
            </a:r>
            <a:r>
              <a:rPr lang="zh-CN" altLang="en-US" sz="2000" dirty="0">
                <a:latin typeface="+mn-ea"/>
                <a:ea typeface="+mn-ea"/>
              </a:rPr>
              <a:t>是</a:t>
            </a:r>
            <a:r>
              <a:rPr lang="en-US" altLang="zh-CN" sz="2000" dirty="0">
                <a:latin typeface="+mn-ea"/>
                <a:ea typeface="+mn-ea"/>
              </a:rPr>
              <a:t>Cache</a:t>
            </a:r>
            <a:r>
              <a:rPr lang="zh-CN" altLang="en-US" sz="2000" dirty="0">
                <a:latin typeface="+mn-ea"/>
                <a:ea typeface="+mn-ea"/>
              </a:rPr>
              <a:t>的失效率，在</a:t>
            </a:r>
            <a:r>
              <a:rPr lang="en-US" altLang="zh-CN" sz="2000" dirty="0">
                <a:latin typeface="+mn-ea"/>
                <a:ea typeface="+mn-ea"/>
              </a:rPr>
              <a:t>Cache</a:t>
            </a:r>
            <a:r>
              <a:rPr lang="zh-CN" altLang="en-US" sz="2000" dirty="0">
                <a:latin typeface="+mn-ea"/>
                <a:ea typeface="+mn-ea"/>
              </a:rPr>
              <a:t>命中时，</a:t>
            </a:r>
            <a:r>
              <a:rPr lang="en-US" altLang="zh-CN" sz="2000" dirty="0">
                <a:latin typeface="+mn-ea"/>
                <a:ea typeface="+mn-ea"/>
              </a:rPr>
              <a:t>TLB </a:t>
            </a:r>
            <a:r>
              <a:rPr lang="zh-CN" altLang="en-US" sz="2000" dirty="0">
                <a:latin typeface="+mn-ea"/>
                <a:ea typeface="+mn-ea"/>
              </a:rPr>
              <a:t>不会增加命中时间，因此，对</a:t>
            </a:r>
            <a:r>
              <a:rPr lang="en-US" altLang="zh-CN" sz="2000" dirty="0">
                <a:latin typeface="+mn-ea"/>
                <a:ea typeface="+mn-ea"/>
              </a:rPr>
              <a:t>CPI</a:t>
            </a:r>
            <a:r>
              <a:rPr lang="zh-CN" altLang="en-US" sz="2000" dirty="0">
                <a:latin typeface="+mn-ea"/>
                <a:ea typeface="+mn-ea"/>
              </a:rPr>
              <a:t>产生影响的</a:t>
            </a:r>
            <a:r>
              <a:rPr lang="en-US" altLang="zh-CN" sz="2000" dirty="0">
                <a:latin typeface="+mn-ea"/>
                <a:ea typeface="+mn-ea"/>
              </a:rPr>
              <a:t>TLB</a:t>
            </a:r>
            <a:r>
              <a:rPr lang="zh-CN" altLang="en-US" sz="2000" dirty="0">
                <a:latin typeface="+mn-ea"/>
                <a:ea typeface="+mn-ea"/>
              </a:rPr>
              <a:t>停顿</a:t>
            </a:r>
            <a:r>
              <a:rPr lang="en-US" altLang="zh-CN" sz="2000" dirty="0">
                <a:latin typeface="+mn-ea"/>
                <a:ea typeface="+mn-ea"/>
              </a:rPr>
              <a:t>/</a:t>
            </a:r>
            <a:r>
              <a:rPr lang="zh-CN" altLang="en-US" sz="2000" dirty="0">
                <a:latin typeface="+mn-ea"/>
                <a:ea typeface="+mn-ea"/>
              </a:rPr>
              <a:t>指令数为：</a:t>
            </a:r>
            <a:endParaRPr lang="zh-CN" altLang="en-US" sz="2000" dirty="0">
              <a:latin typeface="+mn-ea"/>
              <a:ea typeface="+mn-ea"/>
            </a:endParaRPr>
          </a:p>
        </p:txBody>
      </p:sp>
      <p:pic>
        <p:nvPicPr>
          <p:cNvPr id="23"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10306" y="3763501"/>
            <a:ext cx="54483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矩形 7"/>
          <p:cNvSpPr>
            <a:spLocks noChangeArrowheads="1"/>
          </p:cNvSpPr>
          <p:nvPr/>
        </p:nvSpPr>
        <p:spPr bwMode="auto">
          <a:xfrm>
            <a:off x="947476" y="4817009"/>
            <a:ext cx="8208963" cy="96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lnSpc>
                <a:spcPct val="150000"/>
              </a:lnSpc>
              <a:spcBef>
                <a:spcPct val="0"/>
              </a:spcBef>
              <a:buClrTx/>
              <a:buSzTx/>
              <a:buFontTx/>
              <a:buNone/>
            </a:pPr>
            <a:r>
              <a:rPr lang="zh-CN" altLang="en-US" sz="2000" dirty="0">
                <a:latin typeface="+mn-ea"/>
                <a:ea typeface="+mn-ea"/>
              </a:rPr>
              <a:t>其中，</a:t>
            </a:r>
            <a:r>
              <a:rPr lang="en-US" altLang="zh-CN" sz="2000" dirty="0">
                <a:latin typeface="+mn-ea"/>
                <a:ea typeface="+mn-ea"/>
              </a:rPr>
              <a:t>(1+f </a:t>
            </a:r>
            <a:r>
              <a:rPr lang="zh-CN" altLang="en-US" sz="2000" dirty="0">
                <a:latin typeface="+mn-ea"/>
                <a:ea typeface="+mn-ea"/>
              </a:rPr>
              <a:t>数据</a:t>
            </a:r>
            <a:r>
              <a:rPr lang="en-US" altLang="zh-CN" sz="2000" dirty="0">
                <a:latin typeface="+mn-ea"/>
                <a:ea typeface="+mn-ea"/>
              </a:rPr>
              <a:t>)</a:t>
            </a:r>
            <a:r>
              <a:rPr lang="zh-CN" altLang="en-US" sz="2000" dirty="0">
                <a:latin typeface="+mn-ea"/>
                <a:ea typeface="+mn-ea"/>
              </a:rPr>
              <a:t>：每条指令的访问内存次数。</a:t>
            </a:r>
            <a:endParaRPr lang="zh-CN" altLang="en-US" sz="2000" dirty="0">
              <a:latin typeface="+mn-ea"/>
              <a:ea typeface="+mn-ea"/>
            </a:endParaRPr>
          </a:p>
          <a:p>
            <a:pPr>
              <a:lnSpc>
                <a:spcPct val="150000"/>
              </a:lnSpc>
              <a:spcBef>
                <a:spcPct val="0"/>
              </a:spcBef>
              <a:buClrTx/>
              <a:buSzTx/>
              <a:buFontTx/>
              <a:buNone/>
            </a:pPr>
            <a:r>
              <a:rPr lang="zh-CN" altLang="en-US" sz="2000" dirty="0">
                <a:latin typeface="+mn-ea"/>
                <a:ea typeface="+mn-ea"/>
              </a:rPr>
              <a:t>由条件得：</a:t>
            </a:r>
            <a:r>
              <a:rPr lang="en-US" altLang="zh-CN" sz="2000" dirty="0">
                <a:latin typeface="+mn-ea"/>
                <a:ea typeface="+mn-ea"/>
              </a:rPr>
              <a:t>TLB</a:t>
            </a:r>
            <a:r>
              <a:rPr lang="zh-CN" altLang="en-US" sz="2000" dirty="0">
                <a:latin typeface="+mn-ea"/>
                <a:ea typeface="+mn-ea"/>
              </a:rPr>
              <a:t>停顿</a:t>
            </a:r>
            <a:r>
              <a:rPr lang="en-US" altLang="zh-CN" sz="2000" dirty="0">
                <a:latin typeface="+mn-ea"/>
                <a:ea typeface="+mn-ea"/>
              </a:rPr>
              <a:t>/</a:t>
            </a:r>
            <a:r>
              <a:rPr lang="zh-CN" altLang="en-US" sz="2000" dirty="0">
                <a:latin typeface="+mn-ea"/>
                <a:ea typeface="+mn-ea"/>
              </a:rPr>
              <a:t>指令数</a:t>
            </a:r>
            <a:r>
              <a:rPr lang="en-US" altLang="zh-CN" sz="2000" dirty="0">
                <a:latin typeface="+mn-ea"/>
                <a:ea typeface="+mn-ea"/>
              </a:rPr>
              <a:t>=(1+20%)×Rc×0.2%×20×1.5=0.072Rc</a:t>
            </a:r>
            <a:endParaRPr lang="zh-CN" altLang="en-US" sz="2000" dirty="0">
              <a:latin typeface="+mn-ea"/>
              <a:ea typeface="+mn-ea"/>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149"/>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7.14</a:t>
              </a:r>
              <a:r>
                <a:rPr lang="zh-CN" altLang="en-US" sz="4000" b="1" dirty="0">
                  <a:solidFill>
                    <a:schemeClr val="accent1"/>
                  </a:solidFill>
                  <a:latin typeface="+mn-ea"/>
                </a:rPr>
                <a:t>（写策略）</a:t>
              </a:r>
              <a:endParaRPr lang="zh-CN" altLang="en-US" sz="4000" b="1" dirty="0">
                <a:solidFill>
                  <a:schemeClr val="accent1"/>
                </a:solidFill>
                <a:latin typeface="+mn-ea"/>
                <a:sym typeface="+mn-ea"/>
              </a:endParaRPr>
            </a:p>
          </p:txBody>
        </p:sp>
      </p:grpSp>
      <p:sp>
        <p:nvSpPr>
          <p:cNvPr id="17" name="Rectangle 3"/>
          <p:cNvSpPr txBox="1"/>
          <p:nvPr/>
        </p:nvSpPr>
        <p:spPr>
          <a:xfrm>
            <a:off x="667554" y="1293812"/>
            <a:ext cx="10859037" cy="399940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2000" dirty="0">
                <a:latin typeface="+mn-ea"/>
              </a:rPr>
              <a:t>假设一台计算机具有以下特性：</a:t>
            </a:r>
            <a:endParaRPr lang="zh-CN" altLang="en-US" sz="2000" dirty="0">
              <a:latin typeface="+mn-ea"/>
            </a:endParaRPr>
          </a:p>
          <a:p>
            <a:pPr marL="0" indent="0">
              <a:lnSpc>
                <a:spcPct val="150000"/>
              </a:lnSpc>
              <a:buFont typeface="Arial" panose="020B0604020202020204" pitchFamily="34" charset="0"/>
              <a:buNone/>
            </a:pPr>
            <a:r>
              <a:rPr lang="en-US" altLang="zh-CN" sz="2000" dirty="0">
                <a:latin typeface="+mn-ea"/>
              </a:rPr>
              <a:t>95</a:t>
            </a:r>
            <a:r>
              <a:rPr lang="zh-CN" altLang="en-US" sz="2000" dirty="0">
                <a:latin typeface="+mn-ea"/>
              </a:rPr>
              <a:t>％的访存在</a:t>
            </a:r>
            <a:r>
              <a:rPr lang="en-US" altLang="zh-CN" sz="2000" dirty="0">
                <a:latin typeface="+mn-ea"/>
              </a:rPr>
              <a:t>Cache</a:t>
            </a:r>
            <a:r>
              <a:rPr lang="zh-CN" altLang="en-US" sz="2000" dirty="0">
                <a:latin typeface="+mn-ea"/>
              </a:rPr>
              <a:t>中命中；块大小为两个字，且失效时整个块被调入；</a:t>
            </a:r>
            <a:r>
              <a:rPr lang="en-US" altLang="zh-CN" sz="2000" dirty="0">
                <a:latin typeface="+mn-ea"/>
              </a:rPr>
              <a:t>CPU</a:t>
            </a:r>
            <a:r>
              <a:rPr lang="zh-CN" altLang="en-US" sz="2000" dirty="0">
                <a:latin typeface="+mn-ea"/>
              </a:rPr>
              <a:t>发出访存请求的速率为</a:t>
            </a:r>
            <a:r>
              <a:rPr lang="en-US" altLang="zh-CN" sz="2000" dirty="0">
                <a:latin typeface="+mn-ea"/>
              </a:rPr>
              <a:t>10</a:t>
            </a:r>
            <a:r>
              <a:rPr lang="en-US" altLang="zh-CN" sz="2000" baseline="30000" dirty="0">
                <a:latin typeface="+mn-ea"/>
              </a:rPr>
              <a:t>9</a:t>
            </a:r>
            <a:r>
              <a:rPr lang="zh-CN" altLang="en-US" sz="2000" dirty="0">
                <a:latin typeface="+mn-ea"/>
              </a:rPr>
              <a:t>字</a:t>
            </a:r>
            <a:r>
              <a:rPr lang="en-US" altLang="zh-CN" sz="2000" dirty="0">
                <a:latin typeface="+mn-ea"/>
              </a:rPr>
              <a:t>/</a:t>
            </a:r>
            <a:r>
              <a:rPr lang="zh-CN" altLang="en-US" sz="2000" dirty="0">
                <a:latin typeface="+mn-ea"/>
              </a:rPr>
              <a:t>秒；</a:t>
            </a:r>
            <a:r>
              <a:rPr lang="en-US" altLang="zh-CN" sz="2000" dirty="0">
                <a:latin typeface="+mn-ea"/>
              </a:rPr>
              <a:t>25</a:t>
            </a:r>
            <a:r>
              <a:rPr lang="zh-CN" altLang="en-US" sz="2000" dirty="0">
                <a:latin typeface="+mn-ea"/>
              </a:rPr>
              <a:t>％的访存为写访问；存储器的最大流量为</a:t>
            </a:r>
            <a:r>
              <a:rPr lang="en-US" altLang="zh-CN" sz="2000" dirty="0">
                <a:latin typeface="+mn-ea"/>
              </a:rPr>
              <a:t>10</a:t>
            </a:r>
            <a:r>
              <a:rPr lang="en-US" altLang="zh-CN" sz="2000" baseline="30000" dirty="0">
                <a:latin typeface="+mn-ea"/>
              </a:rPr>
              <a:t>9</a:t>
            </a:r>
            <a:r>
              <a:rPr lang="zh-CN" altLang="en-US" sz="2000" dirty="0">
                <a:latin typeface="+mn-ea"/>
              </a:rPr>
              <a:t>字</a:t>
            </a:r>
            <a:r>
              <a:rPr lang="en-US" altLang="zh-CN" sz="2000" dirty="0">
                <a:latin typeface="+mn-ea"/>
              </a:rPr>
              <a:t>/</a:t>
            </a:r>
            <a:r>
              <a:rPr lang="zh-CN" altLang="en-US" sz="2000" dirty="0">
                <a:latin typeface="+mn-ea"/>
              </a:rPr>
              <a:t>秒（包括读和写）；</a:t>
            </a:r>
            <a:endParaRPr lang="zh-CN" altLang="en-US" sz="2000" dirty="0">
              <a:latin typeface="+mn-ea"/>
            </a:endParaRPr>
          </a:p>
          <a:p>
            <a:pPr marL="0" indent="0">
              <a:lnSpc>
                <a:spcPct val="150000"/>
              </a:lnSpc>
              <a:buFont typeface="Arial" panose="020B0604020202020204" pitchFamily="34" charset="0"/>
              <a:buNone/>
            </a:pPr>
            <a:r>
              <a:rPr lang="zh-CN" altLang="en-US" sz="2000" dirty="0">
                <a:latin typeface="+mn-ea"/>
              </a:rPr>
              <a:t>主存每次只能读或写一个字；在任何时候，</a:t>
            </a:r>
            <a:r>
              <a:rPr lang="en-US" altLang="zh-CN" sz="2000" dirty="0">
                <a:latin typeface="+mn-ea"/>
              </a:rPr>
              <a:t>Cache</a:t>
            </a:r>
            <a:r>
              <a:rPr lang="zh-CN" altLang="en-US" sz="2000" dirty="0">
                <a:latin typeface="+mn-ea"/>
              </a:rPr>
              <a:t>中有</a:t>
            </a:r>
            <a:r>
              <a:rPr lang="en-US" altLang="zh-CN" sz="2000" dirty="0">
                <a:latin typeface="+mn-ea"/>
              </a:rPr>
              <a:t>30</a:t>
            </a:r>
            <a:r>
              <a:rPr lang="zh-CN" altLang="en-US" sz="2000" dirty="0">
                <a:latin typeface="+mn-ea"/>
              </a:rPr>
              <a:t>％的块被修改过；</a:t>
            </a:r>
            <a:endParaRPr lang="zh-CN" altLang="en-US" sz="2000" dirty="0">
              <a:latin typeface="+mn-ea"/>
            </a:endParaRPr>
          </a:p>
          <a:p>
            <a:pPr marL="0" indent="0">
              <a:lnSpc>
                <a:spcPct val="150000"/>
              </a:lnSpc>
              <a:buFont typeface="Arial" panose="020B0604020202020204" pitchFamily="34" charset="0"/>
              <a:buNone/>
            </a:pPr>
            <a:r>
              <a:rPr lang="zh-CN" altLang="en-US" sz="2000" dirty="0">
                <a:latin typeface="+mn-ea"/>
              </a:rPr>
              <a:t>写失效时，</a:t>
            </a:r>
            <a:r>
              <a:rPr lang="en-US" altLang="zh-CN" sz="2000" dirty="0">
                <a:latin typeface="+mn-ea"/>
              </a:rPr>
              <a:t>Cache</a:t>
            </a:r>
            <a:r>
              <a:rPr lang="zh-CN" altLang="en-US" sz="2000" dirty="0">
                <a:latin typeface="+mn-ea"/>
              </a:rPr>
              <a:t>采用写分配法。</a:t>
            </a:r>
            <a:endParaRPr lang="zh-CN" altLang="en-US" sz="2000" dirty="0">
              <a:latin typeface="+mn-ea"/>
            </a:endParaRPr>
          </a:p>
          <a:p>
            <a:pPr marL="0" indent="0">
              <a:lnSpc>
                <a:spcPct val="150000"/>
              </a:lnSpc>
              <a:buFont typeface="Arial" panose="020B0604020202020204" pitchFamily="34" charset="0"/>
              <a:buNone/>
            </a:pPr>
            <a:r>
              <a:rPr lang="zh-CN" altLang="en-US" sz="2000" dirty="0">
                <a:latin typeface="+mn-ea"/>
              </a:rPr>
              <a:t>试对于以下两种情况计算主存频带的平均使用比例。</a:t>
            </a:r>
            <a:endParaRPr lang="zh-CN" altLang="en-US" sz="2000" dirty="0">
              <a:latin typeface="+mn-ea"/>
            </a:endParaRPr>
          </a:p>
          <a:p>
            <a:pPr marL="0" indent="0">
              <a:lnSpc>
                <a:spcPct val="150000"/>
              </a:lnSpc>
              <a:buFont typeface="Arial" panose="020B0604020202020204" pitchFamily="34" charset="0"/>
              <a:buNone/>
            </a:pPr>
            <a:r>
              <a:rPr lang="zh-CN" altLang="en-US" sz="2000" dirty="0">
                <a:latin typeface="+mn-ea"/>
              </a:rPr>
              <a:t>（</a:t>
            </a:r>
            <a:r>
              <a:rPr lang="en-US" altLang="zh-CN" sz="2000" dirty="0">
                <a:latin typeface="+mn-ea"/>
              </a:rPr>
              <a:t>1</a:t>
            </a:r>
            <a:r>
              <a:rPr lang="zh-CN" altLang="en-US" sz="2000" dirty="0">
                <a:latin typeface="+mn-ea"/>
              </a:rPr>
              <a:t>）写直达</a:t>
            </a:r>
            <a:r>
              <a:rPr lang="en-US" altLang="zh-CN" sz="2000" dirty="0">
                <a:latin typeface="+mn-ea"/>
              </a:rPr>
              <a:t>Cache</a:t>
            </a:r>
            <a:r>
              <a:rPr lang="zh-CN" altLang="en-US" sz="2000" dirty="0">
                <a:latin typeface="+mn-ea"/>
              </a:rPr>
              <a:t>；</a:t>
            </a:r>
            <a:endParaRPr lang="zh-CN" altLang="en-US" sz="2000" dirty="0">
              <a:latin typeface="+mn-ea"/>
            </a:endParaRPr>
          </a:p>
          <a:p>
            <a:pPr marL="0" indent="0">
              <a:lnSpc>
                <a:spcPct val="150000"/>
              </a:lnSpc>
              <a:buFont typeface="Arial" panose="020B0604020202020204" pitchFamily="34" charset="0"/>
              <a:buNone/>
            </a:pPr>
            <a:r>
              <a:rPr lang="zh-CN" altLang="en-US" sz="2000" dirty="0">
                <a:latin typeface="+mn-ea"/>
              </a:rPr>
              <a:t>（</a:t>
            </a:r>
            <a:r>
              <a:rPr lang="en-US" altLang="zh-CN" sz="2000" dirty="0">
                <a:latin typeface="+mn-ea"/>
              </a:rPr>
              <a:t>2</a:t>
            </a:r>
            <a:r>
              <a:rPr lang="zh-CN" altLang="en-US" sz="2000" dirty="0">
                <a:latin typeface="+mn-ea"/>
              </a:rPr>
              <a:t>）写回法</a:t>
            </a:r>
            <a:r>
              <a:rPr lang="en-US" altLang="zh-CN" sz="2000" dirty="0">
                <a:latin typeface="+mn-ea"/>
              </a:rPr>
              <a:t>Cache</a:t>
            </a:r>
            <a:r>
              <a:rPr lang="zh-CN" altLang="en-US" sz="2000" dirty="0">
                <a:latin typeface="+mn-ea"/>
              </a:rPr>
              <a:t>。</a:t>
            </a:r>
            <a:endParaRPr lang="zh-CN" altLang="en-US" sz="2000" dirty="0">
              <a:latin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149"/>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7.14</a:t>
              </a:r>
              <a:r>
                <a:rPr lang="zh-CN" altLang="en-US" sz="4000" b="1" dirty="0">
                  <a:solidFill>
                    <a:schemeClr val="accent1"/>
                  </a:solidFill>
                  <a:latin typeface="+mn-ea"/>
                </a:rPr>
                <a:t>（写策略）</a:t>
              </a:r>
              <a:endParaRPr lang="zh-CN" altLang="en-US" sz="4000" b="1" dirty="0">
                <a:solidFill>
                  <a:schemeClr val="accent1"/>
                </a:solidFill>
                <a:latin typeface="+mn-ea"/>
                <a:sym typeface="+mn-ea"/>
              </a:endParaRPr>
            </a:p>
          </p:txBody>
        </p:sp>
      </p:grpSp>
      <p:sp>
        <p:nvSpPr>
          <p:cNvPr id="12" name="内容占位符 2"/>
          <p:cNvSpPr txBox="1"/>
          <p:nvPr/>
        </p:nvSpPr>
        <p:spPr>
          <a:xfrm>
            <a:off x="566582" y="1144930"/>
            <a:ext cx="8229600" cy="2714625"/>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zh-CN" altLang="en-US" sz="1800" dirty="0">
                <a:latin typeface="+mn-ea"/>
              </a:rPr>
              <a:t>采用按写分配</a:t>
            </a:r>
            <a:endParaRPr lang="zh-CN" altLang="en-US" sz="1800" dirty="0">
              <a:latin typeface="+mn-ea"/>
            </a:endParaRPr>
          </a:p>
          <a:p>
            <a:pPr marL="0" indent="0">
              <a:lnSpc>
                <a:spcPct val="150000"/>
              </a:lnSpc>
              <a:buFont typeface="Arial" panose="020B0604020202020204" pitchFamily="34" charset="0"/>
              <a:buNone/>
            </a:pPr>
            <a:r>
              <a:rPr lang="zh-CN" altLang="en-US" sz="1800" dirty="0">
                <a:latin typeface="+mn-ea"/>
              </a:rPr>
              <a:t>（</a:t>
            </a:r>
            <a:r>
              <a:rPr lang="en-US" altLang="zh-CN" sz="1800" dirty="0">
                <a:latin typeface="+mn-ea"/>
              </a:rPr>
              <a:t>1</a:t>
            </a:r>
            <a:r>
              <a:rPr lang="zh-CN" altLang="en-US" sz="1800" dirty="0">
                <a:latin typeface="+mn-ea"/>
              </a:rPr>
              <a:t>）写直达</a:t>
            </a:r>
            <a:r>
              <a:rPr lang="en-US" altLang="zh-CN" sz="1800" dirty="0">
                <a:latin typeface="+mn-ea"/>
              </a:rPr>
              <a:t>cache</a:t>
            </a:r>
            <a:r>
              <a:rPr lang="zh-CN" altLang="en-US" sz="1800" dirty="0">
                <a:latin typeface="+mn-ea"/>
              </a:rPr>
              <a:t>：</a:t>
            </a:r>
            <a:endParaRPr lang="zh-CN" altLang="en-US" sz="1800" dirty="0">
              <a:latin typeface="+mn-ea"/>
            </a:endParaRPr>
          </a:p>
          <a:p>
            <a:pPr marL="0" indent="0">
              <a:lnSpc>
                <a:spcPct val="150000"/>
              </a:lnSpc>
              <a:buFont typeface="Arial" panose="020B0604020202020204" pitchFamily="34" charset="0"/>
              <a:buNone/>
            </a:pPr>
            <a:r>
              <a:rPr lang="zh-CN" altLang="en-US" sz="1800" dirty="0">
                <a:solidFill>
                  <a:srgbClr val="FF0000"/>
                </a:solidFill>
                <a:latin typeface="+mn-ea"/>
              </a:rPr>
              <a:t>         读命中，</a:t>
            </a:r>
            <a:r>
              <a:rPr lang="zh-CN" altLang="en-US" sz="1800" dirty="0">
                <a:latin typeface="+mn-ea"/>
              </a:rPr>
              <a:t>不访问主存；</a:t>
            </a:r>
            <a:endParaRPr lang="zh-CN" altLang="en-US" sz="1800" dirty="0">
              <a:latin typeface="+mn-ea"/>
            </a:endParaRPr>
          </a:p>
          <a:p>
            <a:pPr marL="0" indent="0">
              <a:lnSpc>
                <a:spcPct val="150000"/>
              </a:lnSpc>
              <a:buFont typeface="Arial" panose="020B0604020202020204" pitchFamily="34" charset="0"/>
              <a:buNone/>
            </a:pPr>
            <a:r>
              <a:rPr lang="zh-CN" altLang="en-US" sz="1800" dirty="0">
                <a:solidFill>
                  <a:srgbClr val="FF0000"/>
                </a:solidFill>
                <a:latin typeface="+mn-ea"/>
              </a:rPr>
              <a:t>         写命中，</a:t>
            </a:r>
            <a:r>
              <a:rPr lang="zh-CN" altLang="en-US" sz="1800" dirty="0">
                <a:latin typeface="+mn-ea"/>
              </a:rPr>
              <a:t>更新</a:t>
            </a:r>
            <a:r>
              <a:rPr lang="en-US" altLang="zh-CN" sz="1800" dirty="0">
                <a:latin typeface="+mn-ea"/>
              </a:rPr>
              <a:t>cache</a:t>
            </a:r>
            <a:r>
              <a:rPr lang="zh-CN" altLang="en-US" sz="1800" dirty="0">
                <a:latin typeface="+mn-ea"/>
              </a:rPr>
              <a:t>和主存，访问主存一次。</a:t>
            </a:r>
            <a:endParaRPr lang="zh-CN" altLang="en-US" sz="1800" dirty="0">
              <a:latin typeface="+mn-ea"/>
            </a:endParaRPr>
          </a:p>
          <a:p>
            <a:pPr marL="0" indent="0">
              <a:lnSpc>
                <a:spcPct val="150000"/>
              </a:lnSpc>
              <a:buFont typeface="Arial" panose="020B0604020202020204" pitchFamily="34" charset="0"/>
              <a:buNone/>
            </a:pPr>
            <a:r>
              <a:rPr lang="zh-CN" altLang="en-US" sz="1800" dirty="0">
                <a:solidFill>
                  <a:srgbClr val="FF0000"/>
                </a:solidFill>
                <a:latin typeface="+mn-ea"/>
              </a:rPr>
              <a:t>         读失效，</a:t>
            </a:r>
            <a:r>
              <a:rPr lang="zh-CN" altLang="en-US" sz="1800" dirty="0">
                <a:latin typeface="+mn-ea"/>
              </a:rPr>
              <a:t>将主存中的块调入</a:t>
            </a:r>
            <a:r>
              <a:rPr lang="en-US" altLang="zh-CN" sz="1800" dirty="0">
                <a:latin typeface="+mn-ea"/>
              </a:rPr>
              <a:t>cache</a:t>
            </a:r>
            <a:r>
              <a:rPr lang="zh-CN" altLang="en-US" sz="1800" dirty="0">
                <a:latin typeface="+mn-ea"/>
              </a:rPr>
              <a:t>中，访问主存两次；</a:t>
            </a:r>
            <a:endParaRPr lang="zh-CN" altLang="en-US" sz="1800" dirty="0">
              <a:latin typeface="+mn-ea"/>
            </a:endParaRPr>
          </a:p>
          <a:p>
            <a:pPr marL="0" indent="0">
              <a:lnSpc>
                <a:spcPct val="150000"/>
              </a:lnSpc>
              <a:buFont typeface="Arial" panose="020B0604020202020204" pitchFamily="34" charset="0"/>
              <a:buNone/>
            </a:pPr>
            <a:r>
              <a:rPr lang="zh-CN" altLang="en-US" sz="1800" dirty="0">
                <a:solidFill>
                  <a:srgbClr val="FF0000"/>
                </a:solidFill>
                <a:latin typeface="+mn-ea"/>
              </a:rPr>
              <a:t>         写失效，</a:t>
            </a:r>
            <a:r>
              <a:rPr lang="zh-CN" altLang="en-US" sz="1800" dirty="0">
                <a:latin typeface="+mn-ea"/>
              </a:rPr>
              <a:t>将要写的块调入</a:t>
            </a:r>
            <a:r>
              <a:rPr lang="en-US" altLang="zh-CN" sz="1800" dirty="0">
                <a:latin typeface="+mn-ea"/>
              </a:rPr>
              <a:t>cache</a:t>
            </a:r>
            <a:r>
              <a:rPr lang="zh-CN" altLang="en-US" sz="1800" dirty="0">
                <a:latin typeface="+mn-ea"/>
              </a:rPr>
              <a:t>，访问主存两次，再将修改的数据写入</a:t>
            </a:r>
            <a:r>
              <a:rPr lang="en-US" altLang="zh-CN" sz="1800" dirty="0">
                <a:latin typeface="+mn-ea"/>
              </a:rPr>
              <a:t>cache</a:t>
            </a:r>
            <a:r>
              <a:rPr lang="zh-CN" altLang="en-US" sz="1800" dirty="0">
                <a:latin typeface="+mn-ea"/>
              </a:rPr>
              <a:t>和主存，访问主存一次，共三次。上述分析如下表所示：</a:t>
            </a:r>
            <a:endParaRPr lang="zh-CN" altLang="en-US" sz="1800" dirty="0">
              <a:latin typeface="+mn-ea"/>
            </a:endParaRPr>
          </a:p>
          <a:p>
            <a:pPr marL="0" indent="0">
              <a:buFont typeface="Arial" panose="020B0604020202020204" pitchFamily="34" charset="0"/>
              <a:buNone/>
            </a:pPr>
            <a:endParaRPr lang="zh-CN" altLang="en-US" sz="1800" dirty="0">
              <a:latin typeface="+mn-ea"/>
            </a:endParaRPr>
          </a:p>
        </p:txBody>
      </p:sp>
      <p:graphicFrame>
        <p:nvGraphicFramePr>
          <p:cNvPr id="13" name="Group 4"/>
          <p:cNvGraphicFramePr>
            <a:graphicFrameLocks noGrp="1"/>
          </p:cNvGraphicFramePr>
          <p:nvPr/>
        </p:nvGraphicFramePr>
        <p:xfrm>
          <a:off x="947476" y="4951297"/>
          <a:ext cx="6911975" cy="1730154"/>
        </p:xfrm>
        <a:graphic>
          <a:graphicData uri="http://schemas.openxmlformats.org/drawingml/2006/table">
            <a:tbl>
              <a:tblPr/>
              <a:tblGrid>
                <a:gridCol w="1704975"/>
                <a:gridCol w="1101725"/>
                <a:gridCol w="3006725"/>
                <a:gridCol w="1098550"/>
              </a:tblGrid>
              <a:tr h="388938">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访问命中</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访问类型</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频率</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访存次数</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读</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95%*75%=71.3%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写</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95%*25%=23.8%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读</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5%*75%=3.8%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写</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5%*25%=1.3%</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txBody>
                  <a:tcPr marL="91429" marR="91429" marT="45732" marB="4573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4" name="TextBox 6"/>
          <p:cNvSpPr txBox="1">
            <a:spLocks noChangeArrowheads="1"/>
          </p:cNvSpPr>
          <p:nvPr/>
        </p:nvSpPr>
        <p:spPr bwMode="auto">
          <a:xfrm>
            <a:off x="7129498" y="1576341"/>
            <a:ext cx="4839786" cy="1497654"/>
          </a:xfrm>
          <a:prstGeom prst="rect">
            <a:avLst/>
          </a:prstGeom>
          <a:noFill/>
          <a:ln w="47625">
            <a:solidFill>
              <a:schemeClr val="accent5">
                <a:lumMod val="75000"/>
              </a:schemeClr>
            </a:solidFill>
            <a:miter lim="800000"/>
          </a:ln>
        </p:spPr>
        <p:txBody>
          <a:bodyPr wrap="non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ClrTx/>
              <a:buSzTx/>
              <a:buFontTx/>
              <a:buNone/>
            </a:pPr>
            <a:r>
              <a:rPr lang="zh-CN" altLang="en-US" sz="1800" dirty="0">
                <a:latin typeface="+mn-ea"/>
                <a:ea typeface="+mn-ea"/>
              </a:rPr>
              <a:t>一次访存请求最后真正的平均访存次数</a:t>
            </a:r>
            <a:endParaRPr lang="en-US" altLang="zh-CN" sz="1800" dirty="0">
              <a:latin typeface="+mn-ea"/>
              <a:ea typeface="+mn-ea"/>
            </a:endParaRPr>
          </a:p>
          <a:p>
            <a:pPr eaLnBrk="1" hangingPunct="1">
              <a:lnSpc>
                <a:spcPct val="130000"/>
              </a:lnSpc>
              <a:spcBef>
                <a:spcPct val="0"/>
              </a:spcBef>
              <a:buClrTx/>
              <a:buSzTx/>
              <a:buFontTx/>
              <a:buNone/>
            </a:pPr>
            <a:r>
              <a:rPr lang="en-US" altLang="zh-CN" sz="1800" dirty="0">
                <a:latin typeface="+mn-ea"/>
                <a:ea typeface="+mn-ea"/>
              </a:rPr>
              <a:t>=(71.3%*0)+(23.8%*1)+(3.8%*2)+(1.3%*3)</a:t>
            </a:r>
            <a:endParaRPr lang="en-US" altLang="zh-CN" sz="1800" dirty="0">
              <a:latin typeface="+mn-ea"/>
              <a:ea typeface="+mn-ea"/>
            </a:endParaRPr>
          </a:p>
          <a:p>
            <a:pPr eaLnBrk="1" hangingPunct="1">
              <a:lnSpc>
                <a:spcPct val="130000"/>
              </a:lnSpc>
              <a:spcBef>
                <a:spcPct val="0"/>
              </a:spcBef>
              <a:buClrTx/>
              <a:buSzTx/>
              <a:buFontTx/>
              <a:buNone/>
            </a:pPr>
            <a:r>
              <a:rPr lang="zh-CN" altLang="en-US" sz="1800" dirty="0">
                <a:latin typeface="+mn-ea"/>
                <a:ea typeface="+mn-ea"/>
              </a:rPr>
              <a:t>＝</a:t>
            </a:r>
            <a:r>
              <a:rPr lang="en-US" altLang="zh-CN" sz="1800" dirty="0">
                <a:latin typeface="+mn-ea"/>
                <a:ea typeface="+mn-ea"/>
              </a:rPr>
              <a:t>0.35</a:t>
            </a:r>
            <a:endParaRPr lang="en-US" altLang="zh-CN" sz="1800" dirty="0">
              <a:latin typeface="+mn-ea"/>
              <a:ea typeface="+mn-ea"/>
            </a:endParaRPr>
          </a:p>
          <a:p>
            <a:pPr eaLnBrk="1" hangingPunct="1">
              <a:lnSpc>
                <a:spcPct val="130000"/>
              </a:lnSpc>
              <a:spcBef>
                <a:spcPct val="0"/>
              </a:spcBef>
              <a:buClrTx/>
              <a:buSzTx/>
              <a:buFontTx/>
              <a:buNone/>
            </a:pPr>
            <a:r>
              <a:rPr lang="zh-CN" altLang="en-US" sz="1800" dirty="0">
                <a:latin typeface="+mn-ea"/>
                <a:ea typeface="+mn-ea"/>
              </a:rPr>
              <a:t>已用带宽</a:t>
            </a:r>
            <a:r>
              <a:rPr lang="en-US" altLang="zh-CN" sz="1800" dirty="0">
                <a:latin typeface="+mn-ea"/>
                <a:ea typeface="+mn-ea"/>
              </a:rPr>
              <a:t>=0.35×10</a:t>
            </a:r>
            <a:r>
              <a:rPr lang="en-US" altLang="zh-CN" sz="1800" baseline="30000" dirty="0">
                <a:latin typeface="+mn-ea"/>
                <a:ea typeface="+mn-ea"/>
              </a:rPr>
              <a:t>9</a:t>
            </a:r>
            <a:r>
              <a:rPr lang="en-US" altLang="zh-CN" sz="1800" dirty="0">
                <a:latin typeface="+mn-ea"/>
                <a:ea typeface="+mn-ea"/>
              </a:rPr>
              <a:t>/10 </a:t>
            </a:r>
            <a:r>
              <a:rPr lang="en-US" altLang="zh-CN" sz="1800" baseline="30000" dirty="0">
                <a:latin typeface="+mn-ea"/>
                <a:ea typeface="+mn-ea"/>
              </a:rPr>
              <a:t>9 </a:t>
            </a:r>
            <a:r>
              <a:rPr lang="en-US" altLang="zh-CN" sz="1800" dirty="0">
                <a:latin typeface="+mn-ea"/>
                <a:ea typeface="+mn-ea"/>
              </a:rPr>
              <a:t>=35.0%</a:t>
            </a:r>
            <a:endParaRPr lang="en-US" altLang="zh-CN" sz="1800" dirty="0">
              <a:latin typeface="+mn-ea"/>
              <a:ea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
          <p:cNvGrpSpPr/>
          <p:nvPr/>
        </p:nvGrpSpPr>
        <p:grpSpPr bwMode="auto">
          <a:xfrm>
            <a:off x="0" y="999820"/>
            <a:ext cx="12192000" cy="214166"/>
            <a:chOff x="0" y="945099"/>
            <a:chExt cx="12192000" cy="926614"/>
          </a:xfrm>
        </p:grpSpPr>
        <p:sp>
          <p:nvSpPr>
            <p:cNvPr id="41" name="矩形 40"/>
            <p:cNvSpPr/>
            <p:nvPr/>
          </p:nvSpPr>
          <p:spPr>
            <a:xfrm>
              <a:off x="0" y="945099"/>
              <a:ext cx="12192000" cy="926614"/>
            </a:xfrm>
            <a:prstGeom prst="rect">
              <a:avLst/>
            </a:prstGeom>
            <a:solidFill>
              <a:schemeClr val="tx1">
                <a:lumMod val="75000"/>
                <a:lumOff val="2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buFontTx/>
                <a:buNone/>
                <a:defRPr/>
              </a:pPr>
              <a:endParaRPr lang="zh-CN" altLang="en-US" dirty="0">
                <a:ea typeface="微软雅黑" panose="020B0503020204020204" charset="-122"/>
              </a:endParaRPr>
            </a:p>
          </p:txBody>
        </p:sp>
        <p:cxnSp>
          <p:nvCxnSpPr>
            <p:cNvPr id="42" name="直接连接符 41"/>
            <p:cNvCxnSpPr/>
            <p:nvPr/>
          </p:nvCxnSpPr>
          <p:spPr>
            <a:xfrm>
              <a:off x="0" y="1125979"/>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0" y="1732086"/>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1" y="101062"/>
            <a:ext cx="12067752" cy="973115"/>
            <a:chOff x="0" y="-82343"/>
            <a:chExt cx="9278565" cy="1257992"/>
          </a:xfrm>
        </p:grpSpPr>
        <p:grpSp>
          <p:nvGrpSpPr>
            <p:cNvPr id="16" name="组合 15"/>
            <p:cNvGrpSpPr/>
            <p:nvPr/>
          </p:nvGrpSpPr>
          <p:grpSpPr>
            <a:xfrm flipV="1">
              <a:off x="0" y="-82343"/>
              <a:ext cx="1114426" cy="1257992"/>
              <a:chOff x="1381424" y="696895"/>
              <a:chExt cx="1477389" cy="1667713"/>
            </a:xfrm>
          </p:grpSpPr>
          <p:sp>
            <p:nvSpPr>
              <p:cNvPr id="20" name="任意多边形 19"/>
              <p:cNvSpPr/>
              <p:nvPr/>
            </p:nvSpPr>
            <p:spPr>
              <a:xfrm rot="2700000">
                <a:off x="1513322" y="101911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21" name="任意多边形 20"/>
              <p:cNvSpPr/>
              <p:nvPr/>
            </p:nvSpPr>
            <p:spPr>
              <a:xfrm rot="2700000">
                <a:off x="1245384" y="117201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8" name="文本框 17"/>
            <p:cNvSpPr txBox="1"/>
            <p:nvPr/>
          </p:nvSpPr>
          <p:spPr>
            <a:xfrm>
              <a:off x="1361449" y="-37149"/>
              <a:ext cx="7917116" cy="915118"/>
            </a:xfrm>
            <a:prstGeom prst="rect">
              <a:avLst/>
            </a:prstGeom>
            <a:noFill/>
          </p:spPr>
          <p:txBody>
            <a:bodyPr wrap="square" rtlCol="0">
              <a:spAutoFit/>
              <a:scene3d>
                <a:camera prst="orthographicFront"/>
                <a:lightRig rig="threePt" dir="t"/>
              </a:scene3d>
              <a:sp3d contourW="12700"/>
            </a:bodyPr>
            <a:lstStyle/>
            <a:p>
              <a:pPr lvl="0"/>
              <a:r>
                <a:rPr lang="zh-CN" altLang="en-US" sz="4000" b="1" dirty="0">
                  <a:solidFill>
                    <a:schemeClr val="accent1"/>
                  </a:solidFill>
                  <a:latin typeface="+mn-ea"/>
                </a:rPr>
                <a:t>习题</a:t>
              </a:r>
              <a:r>
                <a:rPr lang="en-US" altLang="zh-CN" sz="4000" b="1" dirty="0">
                  <a:solidFill>
                    <a:schemeClr val="accent1"/>
                  </a:solidFill>
                  <a:latin typeface="+mn-ea"/>
                </a:rPr>
                <a:t>7.14</a:t>
              </a:r>
              <a:r>
                <a:rPr lang="zh-CN" altLang="en-US" sz="4000" b="1" dirty="0">
                  <a:solidFill>
                    <a:schemeClr val="accent1"/>
                  </a:solidFill>
                  <a:latin typeface="+mn-ea"/>
                </a:rPr>
                <a:t>（写策略）</a:t>
              </a:r>
              <a:endParaRPr lang="zh-CN" altLang="en-US" sz="4000" b="1" dirty="0">
                <a:solidFill>
                  <a:schemeClr val="accent1"/>
                </a:solidFill>
                <a:latin typeface="+mn-ea"/>
                <a:sym typeface="+mn-ea"/>
              </a:endParaRPr>
            </a:p>
          </p:txBody>
        </p:sp>
      </p:grpSp>
      <p:sp>
        <p:nvSpPr>
          <p:cNvPr id="17" name="Rectangle 3"/>
          <p:cNvSpPr txBox="1">
            <a:spLocks noChangeArrowheads="1"/>
          </p:cNvSpPr>
          <p:nvPr/>
        </p:nvSpPr>
        <p:spPr bwMode="auto">
          <a:xfrm>
            <a:off x="248495" y="1350269"/>
            <a:ext cx="8572500" cy="264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chemeClr val="hlink"/>
              </a:buClr>
              <a:buSzTx/>
              <a:buFont typeface="Wingdings" panose="05000000000000000000" pitchFamily="2" charset="2"/>
              <a:buNone/>
            </a:pPr>
            <a:r>
              <a:rPr lang="zh-CN" altLang="en-US" sz="1800" dirty="0">
                <a:latin typeface="+mn-ea"/>
                <a:ea typeface="+mn-ea"/>
              </a:rPr>
              <a:t>（</a:t>
            </a:r>
            <a:r>
              <a:rPr lang="en-US" altLang="zh-CN" sz="1800" dirty="0">
                <a:latin typeface="+mn-ea"/>
                <a:ea typeface="+mn-ea"/>
              </a:rPr>
              <a:t>2</a:t>
            </a:r>
            <a:r>
              <a:rPr lang="zh-CN" altLang="en-US" sz="1800" dirty="0">
                <a:latin typeface="+mn-ea"/>
                <a:ea typeface="+mn-ea"/>
              </a:rPr>
              <a:t>）写回法</a:t>
            </a:r>
            <a:r>
              <a:rPr lang="en-US" altLang="zh-CN" sz="1800" dirty="0">
                <a:latin typeface="+mn-ea"/>
                <a:ea typeface="+mn-ea"/>
              </a:rPr>
              <a:t>cache</a:t>
            </a:r>
            <a:r>
              <a:rPr lang="zh-CN" altLang="en-US" sz="1800" dirty="0">
                <a:latin typeface="+mn-ea"/>
                <a:ea typeface="+mn-ea"/>
              </a:rPr>
              <a:t>访问命中</a:t>
            </a:r>
            <a:r>
              <a:rPr lang="en-US" altLang="zh-CN" sz="1800" dirty="0">
                <a:latin typeface="+mn-ea"/>
                <a:ea typeface="+mn-ea"/>
              </a:rPr>
              <a:t>,</a:t>
            </a:r>
            <a:r>
              <a:rPr lang="zh-CN" altLang="en-US" sz="1800" dirty="0">
                <a:latin typeface="+mn-ea"/>
                <a:ea typeface="+mn-ea"/>
              </a:rPr>
              <a:t>有两种情况：</a:t>
            </a:r>
            <a:endParaRPr lang="zh-CN" altLang="en-US" sz="1800" dirty="0">
              <a:latin typeface="+mn-ea"/>
              <a:ea typeface="+mn-ea"/>
            </a:endParaRPr>
          </a:p>
          <a:p>
            <a:pPr eaLnBrk="1" hangingPunct="1">
              <a:lnSpc>
                <a:spcPct val="150000"/>
              </a:lnSpc>
              <a:buClr>
                <a:schemeClr val="hlink"/>
              </a:buClr>
              <a:buSzTx/>
              <a:buFont typeface="Wingdings" panose="05000000000000000000" pitchFamily="2" charset="2"/>
              <a:buNone/>
            </a:pPr>
            <a:r>
              <a:rPr lang="zh-CN" altLang="en-US" sz="1800" dirty="0">
                <a:solidFill>
                  <a:srgbClr val="FF0000"/>
                </a:solidFill>
                <a:latin typeface="+mn-ea"/>
                <a:ea typeface="+mn-ea"/>
              </a:rPr>
              <a:t>   读命中，</a:t>
            </a:r>
            <a:r>
              <a:rPr lang="zh-CN" altLang="en-US" sz="1800" dirty="0">
                <a:latin typeface="+mn-ea"/>
                <a:ea typeface="+mn-ea"/>
              </a:rPr>
              <a:t>不访问主存；</a:t>
            </a:r>
            <a:endParaRPr lang="zh-CN" altLang="en-US" sz="1800" dirty="0">
              <a:latin typeface="+mn-ea"/>
              <a:ea typeface="+mn-ea"/>
            </a:endParaRPr>
          </a:p>
          <a:p>
            <a:pPr eaLnBrk="1" hangingPunct="1">
              <a:lnSpc>
                <a:spcPct val="150000"/>
              </a:lnSpc>
              <a:buClr>
                <a:schemeClr val="hlink"/>
              </a:buClr>
              <a:buSzTx/>
              <a:buFont typeface="Wingdings" panose="05000000000000000000" pitchFamily="2" charset="2"/>
              <a:buNone/>
            </a:pPr>
            <a:r>
              <a:rPr lang="zh-CN" altLang="en-US" sz="1800" dirty="0">
                <a:solidFill>
                  <a:srgbClr val="FF0000"/>
                </a:solidFill>
                <a:latin typeface="+mn-ea"/>
                <a:ea typeface="+mn-ea"/>
              </a:rPr>
              <a:t>   写命中，</a:t>
            </a:r>
            <a:r>
              <a:rPr lang="zh-CN" altLang="en-US" sz="1800" dirty="0">
                <a:latin typeface="+mn-ea"/>
                <a:ea typeface="+mn-ea"/>
              </a:rPr>
              <a:t>采用写回法，不访问主存。</a:t>
            </a:r>
            <a:endParaRPr lang="zh-CN" altLang="en-US" sz="1800" dirty="0">
              <a:latin typeface="+mn-ea"/>
              <a:ea typeface="+mn-ea"/>
            </a:endParaRPr>
          </a:p>
          <a:p>
            <a:pPr eaLnBrk="1" hangingPunct="1">
              <a:lnSpc>
                <a:spcPct val="150000"/>
              </a:lnSpc>
              <a:buClr>
                <a:schemeClr val="hlink"/>
              </a:buClr>
              <a:buSzTx/>
              <a:buFont typeface="Wingdings" panose="05000000000000000000" pitchFamily="2" charset="2"/>
              <a:buNone/>
            </a:pPr>
            <a:r>
              <a:rPr lang="zh-CN" altLang="en-US" sz="1800" dirty="0">
                <a:latin typeface="+mn-ea"/>
                <a:ea typeface="+mn-ea"/>
              </a:rPr>
              <a:t>   访问失效</a:t>
            </a:r>
            <a:r>
              <a:rPr lang="en-US" altLang="zh-CN" sz="1800" dirty="0">
                <a:latin typeface="+mn-ea"/>
                <a:ea typeface="+mn-ea"/>
              </a:rPr>
              <a:t>,</a:t>
            </a:r>
            <a:r>
              <a:rPr lang="zh-CN" altLang="en-US" sz="1800" dirty="0">
                <a:latin typeface="+mn-ea"/>
                <a:ea typeface="+mn-ea"/>
              </a:rPr>
              <a:t>有一个块将被换出，这也有两种情况：</a:t>
            </a:r>
            <a:endParaRPr lang="zh-CN" altLang="en-US" sz="1800" dirty="0">
              <a:latin typeface="+mn-ea"/>
              <a:ea typeface="+mn-ea"/>
            </a:endParaRPr>
          </a:p>
          <a:p>
            <a:pPr eaLnBrk="1" hangingPunct="1">
              <a:lnSpc>
                <a:spcPct val="150000"/>
              </a:lnSpc>
              <a:buClr>
                <a:schemeClr val="hlink"/>
              </a:buClr>
              <a:buSzTx/>
              <a:buFont typeface="Wingdings" panose="05000000000000000000" pitchFamily="2" charset="2"/>
              <a:buNone/>
            </a:pPr>
            <a:r>
              <a:rPr lang="zh-CN" altLang="en-US" sz="1800" dirty="0">
                <a:latin typeface="+mn-ea"/>
                <a:ea typeface="+mn-ea"/>
              </a:rPr>
              <a:t>   如果被</a:t>
            </a:r>
            <a:r>
              <a:rPr lang="zh-CN" altLang="en-US" sz="1800" dirty="0">
                <a:solidFill>
                  <a:srgbClr val="FF0000"/>
                </a:solidFill>
                <a:latin typeface="+mn-ea"/>
                <a:ea typeface="+mn-ea"/>
              </a:rPr>
              <a:t>替换的块没有修改过</a:t>
            </a:r>
            <a:r>
              <a:rPr lang="zh-CN" altLang="en-US" sz="1800" dirty="0">
                <a:latin typeface="+mn-ea"/>
                <a:ea typeface="+mn-ea"/>
              </a:rPr>
              <a:t>，将主存中的块调入</a:t>
            </a:r>
            <a:r>
              <a:rPr lang="en-US" altLang="zh-CN" sz="1800" dirty="0">
                <a:latin typeface="+mn-ea"/>
                <a:ea typeface="+mn-ea"/>
              </a:rPr>
              <a:t>cache</a:t>
            </a:r>
            <a:r>
              <a:rPr lang="zh-CN" altLang="en-US" sz="1800" dirty="0">
                <a:latin typeface="+mn-ea"/>
                <a:ea typeface="+mn-ea"/>
              </a:rPr>
              <a:t>块中，访存两次；</a:t>
            </a:r>
            <a:endParaRPr lang="zh-CN" altLang="en-US" sz="1800" dirty="0">
              <a:latin typeface="+mn-ea"/>
              <a:ea typeface="+mn-ea"/>
            </a:endParaRPr>
          </a:p>
          <a:p>
            <a:pPr eaLnBrk="1" hangingPunct="1">
              <a:lnSpc>
                <a:spcPct val="150000"/>
              </a:lnSpc>
              <a:buClr>
                <a:schemeClr val="hlink"/>
              </a:buClr>
              <a:buSzTx/>
              <a:buFont typeface="Wingdings" panose="05000000000000000000" pitchFamily="2" charset="2"/>
              <a:buNone/>
            </a:pPr>
            <a:r>
              <a:rPr lang="zh-CN" altLang="en-US" sz="1800" dirty="0">
                <a:latin typeface="+mn-ea"/>
                <a:ea typeface="+mn-ea"/>
              </a:rPr>
              <a:t>   如果被</a:t>
            </a:r>
            <a:r>
              <a:rPr lang="zh-CN" altLang="en-US" sz="1800" dirty="0">
                <a:solidFill>
                  <a:srgbClr val="FF0000"/>
                </a:solidFill>
                <a:latin typeface="+mn-ea"/>
                <a:ea typeface="+mn-ea"/>
              </a:rPr>
              <a:t>替换的块修改过</a:t>
            </a:r>
            <a:r>
              <a:rPr lang="zh-CN" altLang="en-US" sz="1800" dirty="0">
                <a:latin typeface="+mn-ea"/>
                <a:ea typeface="+mn-ea"/>
              </a:rPr>
              <a:t>，则首先将修改的块写入主存，需要访存两次；然后将主存中的块调入</a:t>
            </a:r>
            <a:r>
              <a:rPr lang="en-US" altLang="zh-CN" sz="1800" dirty="0">
                <a:latin typeface="+mn-ea"/>
                <a:ea typeface="+mn-ea"/>
              </a:rPr>
              <a:t>cache</a:t>
            </a:r>
            <a:r>
              <a:rPr lang="zh-CN" altLang="en-US" sz="1800" dirty="0">
                <a:latin typeface="+mn-ea"/>
                <a:ea typeface="+mn-ea"/>
              </a:rPr>
              <a:t>块中，需要访问主存两次，共四次访存。 </a:t>
            </a:r>
            <a:endParaRPr lang="zh-CN" altLang="en-US" sz="1800" dirty="0">
              <a:latin typeface="+mn-ea"/>
              <a:ea typeface="+mn-ea"/>
            </a:endParaRPr>
          </a:p>
        </p:txBody>
      </p:sp>
      <p:graphicFrame>
        <p:nvGraphicFramePr>
          <p:cNvPr id="19" name="Group 166"/>
          <p:cNvGraphicFramePr>
            <a:graphicFrameLocks noGrp="1"/>
          </p:cNvGraphicFramePr>
          <p:nvPr/>
        </p:nvGraphicFramePr>
        <p:xfrm>
          <a:off x="469222" y="4838086"/>
          <a:ext cx="7327900" cy="1676400"/>
        </p:xfrm>
        <a:graphic>
          <a:graphicData uri="http://schemas.openxmlformats.org/drawingml/2006/table">
            <a:tbl>
              <a:tblPr/>
              <a:tblGrid>
                <a:gridCol w="1809750"/>
                <a:gridCol w="1165225"/>
                <a:gridCol w="3182938"/>
                <a:gridCol w="1169987"/>
              </a:tblGrid>
              <a:tr h="309563">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访问命中</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块为脏</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频率</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访存次数</a:t>
                      </a:r>
                      <a:endPar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9563">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Y</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95%*70%=66.5%</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9563">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Y</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Y</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95%*30%=28.5%</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0</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9563">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5%*70%=3.5%</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09563">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N</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Y</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5%*30%=1.5%</a:t>
                      </a:r>
                      <a:endParaRPr kumimoji="0" lang="en-US" altLang="zh-CN" sz="1600" b="0" i="0" u="none" strike="noStrike" cap="none" normalizeH="0" baseline="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rgbClr val="3366FF"/>
                        </a:buClr>
                        <a:buSzPct val="75000"/>
                        <a:buFont typeface="Wingdings" panose="05000000000000000000" pitchFamily="2" charset="2"/>
                        <a:defRPr kumimoji="1" sz="32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defRPr kumimoji="1" sz="24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defRPr sz="20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defRPr kumimoji="1">
                          <a:solidFill>
                            <a:schemeClr val="tx1"/>
                          </a:solidFill>
                          <a:latin typeface="Arial" panose="020B0604020202020204" pitchFamily="34" charset="0"/>
                          <a:ea typeface="宋体" panose="02010600030101010101" pitchFamily="2" charset="-122"/>
                        </a:defRPr>
                      </a:lvl4pPr>
                      <a:lvl5pPr marL="2057400" indent="-228600">
                        <a:spcBef>
                          <a:spcPct val="20000"/>
                        </a:spcBef>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4</a:t>
                      </a:r>
                      <a:endParaRPr kumimoji="0" lang="en-US" altLang="zh-CN" sz="16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91442" marR="91442"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2" name="TextBox 7"/>
          <p:cNvSpPr txBox="1">
            <a:spLocks noChangeArrowheads="1"/>
          </p:cNvSpPr>
          <p:nvPr/>
        </p:nvSpPr>
        <p:spPr bwMode="auto">
          <a:xfrm>
            <a:off x="7604707" y="1369898"/>
            <a:ext cx="4338798" cy="1705403"/>
          </a:xfrm>
          <a:prstGeom prst="rect">
            <a:avLst/>
          </a:prstGeom>
          <a:noFill/>
          <a:ln w="41275">
            <a:solidFill>
              <a:schemeClr val="accent5">
                <a:lumMod val="75000"/>
              </a:schemeClr>
            </a:solidFill>
          </a:ln>
        </p:spPr>
        <p:txBody>
          <a:bodyPr wrap="square">
            <a:spAutoFit/>
          </a:bodyPr>
          <a:lstStyle>
            <a:lvl1pPr>
              <a:spcBef>
                <a:spcPct val="20000"/>
              </a:spcBef>
              <a:buClr>
                <a:srgbClr val="3366FF"/>
              </a:buClr>
              <a:buSzPct val="75000"/>
              <a:buFont typeface="Wingdings" panose="05000000000000000000" pitchFamily="2" charset="2"/>
              <a:buChar char="ª"/>
              <a:defRPr kumimoji="1" sz="3600">
                <a:solidFill>
                  <a:schemeClr val="tx1"/>
                </a:solidFill>
                <a:latin typeface="Berlin Sans FB" panose="020E0602020502020306" pitchFamily="34" charset="0"/>
                <a:ea typeface="黑体" panose="02010609060101010101" pitchFamily="49" charset="-122"/>
              </a:defRPr>
            </a:lvl1pPr>
            <a:lvl2pPr marL="742950" indent="-285750">
              <a:spcBef>
                <a:spcPct val="20000"/>
              </a:spcBef>
              <a:buClr>
                <a:srgbClr val="990033"/>
              </a:buClr>
              <a:buSzPct val="80000"/>
              <a:buFont typeface="Wingdings" panose="05000000000000000000" pitchFamily="2" charset="2"/>
              <a:buChar char="Ø"/>
              <a:defRPr kumimoji="1" sz="2800">
                <a:solidFill>
                  <a:schemeClr val="tx1"/>
                </a:solidFill>
                <a:latin typeface="Arial" panose="020B0604020202020204" pitchFamily="34" charset="0"/>
                <a:ea typeface="黑体" panose="02010609060101010101" pitchFamily="49" charset="-122"/>
              </a:defRPr>
            </a:lvl2pPr>
            <a:lvl3pPr marL="1143000" indent="-228600">
              <a:spcBef>
                <a:spcPct val="20000"/>
              </a:spcBef>
              <a:buClr>
                <a:srgbClr val="FF0000"/>
              </a:buClr>
              <a:buChar char="•"/>
              <a:defRPr sz="2400" b="1">
                <a:solidFill>
                  <a:schemeClr val="tx1"/>
                </a:solidFill>
                <a:latin typeface="Comic Sans MS" panose="030F0702030302020204" pitchFamily="66" charset="0"/>
                <a:ea typeface="楷体_GB2312" panose="02010609030101010101" pitchFamily="49"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0"/>
              </a:spcBef>
              <a:buClrTx/>
              <a:buSzTx/>
              <a:buFontTx/>
              <a:buNone/>
            </a:pPr>
            <a:r>
              <a:rPr lang="zh-CN" altLang="zh-CN" sz="1800" dirty="0">
                <a:latin typeface="+mn-ea"/>
                <a:ea typeface="+mn-ea"/>
              </a:rPr>
              <a:t>一次访存请求最后真正的平均访存次数</a:t>
            </a:r>
            <a:endParaRPr lang="en-US" altLang="zh-CN" sz="1800" dirty="0">
              <a:latin typeface="+mn-ea"/>
              <a:ea typeface="+mn-ea"/>
            </a:endParaRPr>
          </a:p>
          <a:p>
            <a:pPr eaLnBrk="1" hangingPunct="1">
              <a:lnSpc>
                <a:spcPct val="150000"/>
              </a:lnSpc>
              <a:spcBef>
                <a:spcPct val="0"/>
              </a:spcBef>
              <a:buClrTx/>
              <a:buSzTx/>
              <a:buFontTx/>
              <a:buNone/>
            </a:pPr>
            <a:r>
              <a:rPr lang="en-US" altLang="zh-CN" sz="1800" dirty="0">
                <a:latin typeface="+mn-ea"/>
                <a:ea typeface="+mn-ea"/>
              </a:rPr>
              <a:t>=66.5</a:t>
            </a:r>
            <a:r>
              <a:rPr lang="zh-CN" altLang="en-US" sz="1800" dirty="0">
                <a:latin typeface="+mn-ea"/>
                <a:ea typeface="+mn-ea"/>
              </a:rPr>
              <a:t>％*</a:t>
            </a:r>
            <a:r>
              <a:rPr lang="en-US" altLang="zh-CN" sz="1800" dirty="0">
                <a:latin typeface="+mn-ea"/>
                <a:ea typeface="+mn-ea"/>
              </a:rPr>
              <a:t>0</a:t>
            </a:r>
            <a:r>
              <a:rPr lang="zh-CN" altLang="en-US" sz="1800" dirty="0">
                <a:latin typeface="+mn-ea"/>
                <a:ea typeface="+mn-ea"/>
              </a:rPr>
              <a:t>＋</a:t>
            </a:r>
            <a:r>
              <a:rPr lang="en-US" altLang="zh-CN" sz="1800" dirty="0">
                <a:latin typeface="+mn-ea"/>
                <a:ea typeface="+mn-ea"/>
              </a:rPr>
              <a:t>28.5%*0+3.5%*2+1.5%*4</a:t>
            </a:r>
            <a:endParaRPr lang="en-US" altLang="zh-CN" sz="1800" dirty="0">
              <a:latin typeface="+mn-ea"/>
              <a:ea typeface="+mn-ea"/>
            </a:endParaRPr>
          </a:p>
          <a:p>
            <a:pPr eaLnBrk="1" hangingPunct="1">
              <a:lnSpc>
                <a:spcPct val="150000"/>
              </a:lnSpc>
              <a:spcBef>
                <a:spcPct val="0"/>
              </a:spcBef>
              <a:buClrTx/>
              <a:buSzTx/>
              <a:buFontTx/>
              <a:buNone/>
            </a:pPr>
            <a:r>
              <a:rPr lang="en-US" altLang="zh-CN" sz="1800" dirty="0">
                <a:latin typeface="+mn-ea"/>
                <a:ea typeface="+mn-ea"/>
              </a:rPr>
              <a:t>=0.13</a:t>
            </a:r>
            <a:endParaRPr lang="en-US" altLang="zh-CN" sz="1800" dirty="0">
              <a:latin typeface="+mn-ea"/>
              <a:ea typeface="+mn-ea"/>
            </a:endParaRPr>
          </a:p>
          <a:p>
            <a:pPr eaLnBrk="1" hangingPunct="1">
              <a:lnSpc>
                <a:spcPct val="150000"/>
              </a:lnSpc>
              <a:spcBef>
                <a:spcPct val="0"/>
              </a:spcBef>
              <a:buClrTx/>
              <a:buSzTx/>
              <a:buFontTx/>
              <a:buNone/>
            </a:pPr>
            <a:r>
              <a:rPr lang="zh-CN" altLang="en-US" sz="1800" dirty="0">
                <a:latin typeface="+mn-ea"/>
                <a:ea typeface="+mn-ea"/>
              </a:rPr>
              <a:t>已用带宽＝</a:t>
            </a:r>
            <a:r>
              <a:rPr lang="en-US" altLang="zh-CN" sz="1800" dirty="0">
                <a:latin typeface="+mn-ea"/>
                <a:ea typeface="+mn-ea"/>
              </a:rPr>
              <a:t>0.13×10 </a:t>
            </a:r>
            <a:r>
              <a:rPr lang="en-US" altLang="zh-CN" sz="1800" baseline="30000" dirty="0">
                <a:latin typeface="+mn-ea"/>
                <a:ea typeface="+mn-ea"/>
              </a:rPr>
              <a:t>9</a:t>
            </a:r>
            <a:r>
              <a:rPr lang="en-US" altLang="zh-CN" sz="1800" dirty="0">
                <a:latin typeface="+mn-ea"/>
                <a:ea typeface="+mn-ea"/>
              </a:rPr>
              <a:t>/10 </a:t>
            </a:r>
            <a:r>
              <a:rPr lang="en-US" altLang="zh-CN" sz="1800" baseline="30000" dirty="0">
                <a:latin typeface="+mn-ea"/>
                <a:ea typeface="+mn-ea"/>
              </a:rPr>
              <a:t>9</a:t>
            </a:r>
            <a:r>
              <a:rPr lang="zh-CN" altLang="en-US" sz="1800" dirty="0">
                <a:latin typeface="+mn-ea"/>
                <a:ea typeface="+mn-ea"/>
              </a:rPr>
              <a:t>＝</a:t>
            </a:r>
            <a:r>
              <a:rPr lang="en-US" altLang="zh-CN" sz="1800" dirty="0">
                <a:latin typeface="+mn-ea"/>
                <a:ea typeface="+mn-ea"/>
              </a:rPr>
              <a:t>13%</a:t>
            </a:r>
            <a:endParaRPr lang="en-US" altLang="zh-CN" sz="1800" dirty="0">
              <a:latin typeface="+mn-ea"/>
              <a:ea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45971"/>
    </mc:Choice>
    <mc:Fallback>
      <p:transition spd="slow" advTm="145971"/>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TIMING" val="|70.6|20.9|44"/>
</p:tagLst>
</file>

<file path=ppt/tags/tag64.xml><?xml version="1.0" encoding="utf-8"?>
<p:tagLst xmlns:p="http://schemas.openxmlformats.org/presentationml/2006/main">
  <p:tag name="TIMING" val="|10.1|112.7|88|1|105.8|1.8|51.8|1.3"/>
</p:tagLst>
</file>

<file path=ppt/tags/tag65.xml><?xml version="1.0" encoding="utf-8"?>
<p:tagLst xmlns:p="http://schemas.openxmlformats.org/presentationml/2006/main">
  <p:tag name="TIMING" val="|67.7|56.1|49.5|21.1|44.9|38.8|39.5"/>
</p:tagLst>
</file>

<file path=ppt/tags/tag66.xml><?xml version="1.0" encoding="utf-8"?>
<p:tagLst xmlns:p="http://schemas.openxmlformats.org/presentationml/2006/main">
  <p:tag name="TIMING" val="|166.8|31.1"/>
</p:tagLst>
</file>

<file path=ppt/tags/tag67.xml><?xml version="1.0" encoding="utf-8"?>
<p:tagLst xmlns:p="http://schemas.openxmlformats.org/presentationml/2006/main">
  <p:tag name="TIMING" val="|52.2|72.4|19.2"/>
</p:tagLst>
</file>

<file path=ppt/tags/tag68.xml><?xml version="1.0" encoding="utf-8"?>
<p:tagLst xmlns:p="http://schemas.openxmlformats.org/presentationml/2006/main">
  <p:tag name="TIMING" val="|89|26|60.3"/>
</p:tagLst>
</file>

<file path=ppt/tags/tag69.xml><?xml version="1.0" encoding="utf-8"?>
<p:tagLst xmlns:p="http://schemas.openxmlformats.org/presentationml/2006/main">
  <p:tag name="TIMING" val="|22.5|80.5|24.9"/>
</p:tagLst>
</file>

<file path=ppt/tags/tag70.xml><?xml version="1.0" encoding="utf-8"?>
<p:tagLst xmlns:p="http://schemas.openxmlformats.org/presentationml/2006/main">
  <p:tag name="TIMING" val="|22.5|80.5|24.9"/>
</p:tagLst>
</file>

<file path=ppt/tags/tag71.xml><?xml version="1.0" encoding="utf-8"?>
<p:tagLst xmlns:p="http://schemas.openxmlformats.org/presentationml/2006/main">
  <p:tag name="TIMING" val="|22.5|80.5|24.9"/>
</p:tagLst>
</file>

<file path=ppt/tags/tag72.xml><?xml version="1.0" encoding="utf-8"?>
<p:tagLst xmlns:p="http://schemas.openxmlformats.org/presentationml/2006/main">
  <p:tag name="TIMING" val="|22.5|80.5|24.9"/>
</p:tagLst>
</file>

<file path=ppt/tags/tag73.xml><?xml version="1.0" encoding="utf-8"?>
<p:tagLst xmlns:p="http://schemas.openxmlformats.org/presentationml/2006/main">
  <p:tag name="TIMING" val="|22.5|80.5|24.9"/>
</p:tagLst>
</file>

<file path=ppt/tags/tag74.xml><?xml version="1.0" encoding="utf-8"?>
<p:tagLst xmlns:p="http://schemas.openxmlformats.org/presentationml/2006/main">
  <p:tag name="TIMING" val="|22.5|80.5|24.9"/>
</p:tagLst>
</file>

<file path=ppt/tags/tag75.xml><?xml version="1.0" encoding="utf-8"?>
<p:tagLst xmlns:p="http://schemas.openxmlformats.org/presentationml/2006/main">
  <p:tag name="TIMING" val="|22.5|80.5|24.9"/>
</p:tagLst>
</file>

<file path=ppt/tags/tag76.xml><?xml version="1.0" encoding="utf-8"?>
<p:tagLst xmlns:p="http://schemas.openxmlformats.org/presentationml/2006/main">
  <p:tag name="TIMING" val="|22.5|80.5|24.9"/>
</p:tagLst>
</file>

<file path=ppt/tags/tag77.xml><?xml version="1.0" encoding="utf-8"?>
<p:tagLst xmlns:p="http://schemas.openxmlformats.org/presentationml/2006/main">
  <p:tag name="TIMING" val="|22.5|80.5|24.9"/>
</p:tagLst>
</file>

<file path=ppt/tags/tag78.xml><?xml version="1.0" encoding="utf-8"?>
<p:tagLst xmlns:p="http://schemas.openxmlformats.org/presentationml/2006/main">
  <p:tag name="TIMING" val="|22.5|80.5|24.9"/>
</p:tagLst>
</file>

<file path=ppt/tags/tag79.xml><?xml version="1.0" encoding="utf-8"?>
<p:tagLst xmlns:p="http://schemas.openxmlformats.org/presentationml/2006/main">
  <p:tag name="TIMING" val="|22.5|80.5|24.9"/>
</p:tagLst>
</file>

<file path=ppt/tags/tag80.xml><?xml version="1.0" encoding="utf-8"?>
<p:tagLst xmlns:p="http://schemas.openxmlformats.org/presentationml/2006/main">
  <p:tag name="TIMING" val="|22.5|80.5|24.9"/>
</p:tagLst>
</file>

<file path=ppt/tags/tag81.xml><?xml version="1.0" encoding="utf-8"?>
<p:tagLst xmlns:p="http://schemas.openxmlformats.org/presentationml/2006/main">
  <p:tag name="TIMING" val="|22.5|80.5|24.9"/>
</p:tagLst>
</file>

<file path=ppt/tags/tag82.xml><?xml version="1.0" encoding="utf-8"?>
<p:tagLst xmlns:p="http://schemas.openxmlformats.org/presentationml/2006/main">
  <p:tag name="TIMING" val="|22.5|80.5|24.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8626</Words>
  <Application>WPS 演示</Application>
  <PresentationFormat>宽屏</PresentationFormat>
  <Paragraphs>764</Paragraphs>
  <Slides>34</Slides>
  <Notes>4</Notes>
  <HiddenSlides>0</HiddenSlides>
  <MMClips>0</MMClips>
  <ScaleCrop>false</ScaleCrop>
  <HeadingPairs>
    <vt:vector size="8" baseType="variant">
      <vt:variant>
        <vt:lpstr>已用的字体</vt:lpstr>
      </vt:variant>
      <vt:variant>
        <vt:i4>20</vt:i4>
      </vt:variant>
      <vt:variant>
        <vt:lpstr>主题</vt:lpstr>
      </vt:variant>
      <vt:variant>
        <vt:i4>1</vt:i4>
      </vt:variant>
      <vt:variant>
        <vt:lpstr>嵌入 OLE 服务器</vt:lpstr>
      </vt:variant>
      <vt:variant>
        <vt:i4>8</vt:i4>
      </vt:variant>
      <vt:variant>
        <vt:lpstr>幻灯片标题</vt:lpstr>
      </vt:variant>
      <vt:variant>
        <vt:i4>34</vt:i4>
      </vt:variant>
    </vt:vector>
  </HeadingPairs>
  <TitlesOfParts>
    <vt:vector size="63" baseType="lpstr">
      <vt:lpstr>Arial</vt:lpstr>
      <vt:lpstr>宋体</vt:lpstr>
      <vt:lpstr>Wingdings</vt:lpstr>
      <vt:lpstr>Wingdings</vt:lpstr>
      <vt:lpstr>微软雅黑</vt:lpstr>
      <vt:lpstr>Arial Unicode MS</vt:lpstr>
      <vt:lpstr>Calibri</vt:lpstr>
      <vt:lpstr>Century Gothic</vt:lpstr>
      <vt:lpstr>Tahoma</vt:lpstr>
      <vt:lpstr>黑体</vt:lpstr>
      <vt:lpstr>Cambria Math</vt:lpstr>
      <vt:lpstr>Berlin Sans FB</vt:lpstr>
      <vt:lpstr>Segoe Print</vt:lpstr>
      <vt:lpstr>Comic Sans MS</vt:lpstr>
      <vt:lpstr>楷体_GB2312</vt:lpstr>
      <vt:lpstr>Times New Roman</vt:lpstr>
      <vt:lpstr>Georgia</vt:lpstr>
      <vt:lpstr>Songti SC</vt:lpstr>
      <vt:lpstr>LaTeX</vt:lpstr>
      <vt:lpstr>华文新魏</vt:lpstr>
      <vt:lpstr>WPS</vt:lpstr>
      <vt:lpstr>Equation.3</vt:lpstr>
      <vt:lpstr>Equation.3</vt:lpstr>
      <vt:lpstr>Equation.3</vt:lpstr>
      <vt:lpstr>Equation.3</vt:lpstr>
      <vt:lpstr>Equation.3</vt:lpstr>
      <vt:lpstr>Equation.3</vt:lpstr>
      <vt:lpstr>Equation.3</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垒垒</cp:lastModifiedBy>
  <cp:revision>157</cp:revision>
  <dcterms:created xsi:type="dcterms:W3CDTF">2019-06-19T02:08:00Z</dcterms:created>
  <dcterms:modified xsi:type="dcterms:W3CDTF">2026-05-06T02:43:09Z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12BD2A037ACA4C9D8323D6CAD09B0F85_11</vt:lpwstr>
  </property>
</Properties>
</file>