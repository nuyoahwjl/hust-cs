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1"/>
  </p:notesMasterIdLst>
  <p:sldIdLst>
    <p:sldId id="256" r:id="rId2"/>
    <p:sldId id="257" r:id="rId3"/>
    <p:sldId id="258" r:id="rId4"/>
    <p:sldId id="259" r:id="rId5"/>
    <p:sldId id="260" r:id="rId6"/>
    <p:sldId id="274" r:id="rId7"/>
    <p:sldId id="262" r:id="rId8"/>
    <p:sldId id="275" r:id="rId9"/>
    <p:sldId id="277" r:id="rId10"/>
    <p:sldId id="263" r:id="rId11"/>
    <p:sldId id="264" r:id="rId12"/>
    <p:sldId id="278" r:id="rId13"/>
    <p:sldId id="265" r:id="rId14"/>
    <p:sldId id="279" r:id="rId15"/>
    <p:sldId id="280" r:id="rId16"/>
    <p:sldId id="281" r:id="rId17"/>
    <p:sldId id="282" r:id="rId18"/>
    <p:sldId id="268" r:id="rId19"/>
    <p:sldId id="269" r:id="rId20"/>
    <p:sldId id="267" r:id="rId21"/>
    <p:sldId id="270" r:id="rId22"/>
    <p:sldId id="273" r:id="rId23"/>
    <p:sldId id="272" r:id="rId24"/>
    <p:sldId id="297" r:id="rId25"/>
    <p:sldId id="298" r:id="rId26"/>
    <p:sldId id="300" r:id="rId27"/>
    <p:sldId id="301" r:id="rId28"/>
    <p:sldId id="302" r:id="rId29"/>
    <p:sldId id="303" r:id="rId30"/>
    <p:sldId id="304" r:id="rId31"/>
    <p:sldId id="305" r:id="rId32"/>
    <p:sldId id="306" r:id="rId33"/>
    <p:sldId id="307" r:id="rId34"/>
    <p:sldId id="308" r:id="rId35"/>
    <p:sldId id="309" r:id="rId36"/>
    <p:sldId id="310" r:id="rId37"/>
    <p:sldId id="313" r:id="rId38"/>
    <p:sldId id="311" r:id="rId39"/>
    <p:sldId id="312" r:id="rId40"/>
    <p:sldId id="314" r:id="rId41"/>
    <p:sldId id="315" r:id="rId42"/>
    <p:sldId id="316" r:id="rId43"/>
    <p:sldId id="317" r:id="rId44"/>
    <p:sldId id="318" r:id="rId45"/>
    <p:sldId id="349" r:id="rId46"/>
    <p:sldId id="319" r:id="rId47"/>
    <p:sldId id="320" r:id="rId48"/>
    <p:sldId id="321" r:id="rId49"/>
    <p:sldId id="324" r:id="rId50"/>
    <p:sldId id="323" r:id="rId51"/>
    <p:sldId id="325" r:id="rId52"/>
    <p:sldId id="326" r:id="rId53"/>
    <p:sldId id="327" r:id="rId54"/>
    <p:sldId id="328" r:id="rId55"/>
    <p:sldId id="329" r:id="rId56"/>
    <p:sldId id="330" r:id="rId57"/>
    <p:sldId id="375" r:id="rId58"/>
    <p:sldId id="331" r:id="rId59"/>
    <p:sldId id="332" r:id="rId60"/>
    <p:sldId id="333" r:id="rId61"/>
    <p:sldId id="334" r:id="rId62"/>
    <p:sldId id="336" r:id="rId63"/>
    <p:sldId id="374" r:id="rId64"/>
    <p:sldId id="337" r:id="rId65"/>
    <p:sldId id="339" r:id="rId66"/>
    <p:sldId id="340" r:id="rId67"/>
    <p:sldId id="376" r:id="rId68"/>
    <p:sldId id="341" r:id="rId69"/>
    <p:sldId id="342" r:id="rId70"/>
    <p:sldId id="343" r:id="rId71"/>
    <p:sldId id="377" r:id="rId72"/>
    <p:sldId id="378" r:id="rId73"/>
    <p:sldId id="344" r:id="rId74"/>
    <p:sldId id="345" r:id="rId75"/>
    <p:sldId id="346" r:id="rId76"/>
    <p:sldId id="350" r:id="rId77"/>
    <p:sldId id="351" r:id="rId78"/>
    <p:sldId id="352" r:id="rId79"/>
    <p:sldId id="353" r:id="rId80"/>
    <p:sldId id="354" r:id="rId81"/>
    <p:sldId id="355" r:id="rId82"/>
    <p:sldId id="356" r:id="rId83"/>
    <p:sldId id="357" r:id="rId84"/>
    <p:sldId id="358" r:id="rId85"/>
    <p:sldId id="359" r:id="rId86"/>
    <p:sldId id="360" r:id="rId87"/>
    <p:sldId id="361" r:id="rId88"/>
    <p:sldId id="362" r:id="rId89"/>
    <p:sldId id="363" r:id="rId90"/>
    <p:sldId id="366" r:id="rId91"/>
    <p:sldId id="364" r:id="rId92"/>
    <p:sldId id="365" r:id="rId93"/>
    <p:sldId id="367" r:id="rId94"/>
    <p:sldId id="368" r:id="rId95"/>
    <p:sldId id="369" r:id="rId96"/>
    <p:sldId id="370" r:id="rId97"/>
    <p:sldId id="371" r:id="rId98"/>
    <p:sldId id="372" r:id="rId99"/>
    <p:sldId id="373" r:id="rId10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A"/>
    <a:srgbClr val="1969C2"/>
    <a:srgbClr val="009FF6"/>
    <a:srgbClr val="5A91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94" autoAdjust="0"/>
    <p:restoredTop sz="96327" autoAdjust="0"/>
  </p:normalViewPr>
  <p:slideViewPr>
    <p:cSldViewPr snapToGrid="0">
      <p:cViewPr varScale="1">
        <p:scale>
          <a:sx n="78" d="100"/>
          <a:sy n="78" d="100"/>
        </p:scale>
        <p:origin x="208" y="1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2BEBDF-C69E-49A9-B731-0929408024D8}"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zh-CN" altLang="en-US"/>
        </a:p>
      </dgm:t>
    </dgm:pt>
    <dgm:pt modelId="{4EE007B2-F612-44FB-B13F-E78B8586155B}">
      <dgm:prSet phldrT="[文本]" custT="1">
        <dgm:style>
          <a:lnRef idx="2">
            <a:schemeClr val="accent1">
              <a:shade val="15000"/>
            </a:schemeClr>
          </a:lnRef>
          <a:fillRef idx="1">
            <a:schemeClr val="accent1"/>
          </a:fillRef>
          <a:effectRef idx="0">
            <a:schemeClr val="accent1"/>
          </a:effectRef>
          <a:fontRef idx="minor">
            <a:schemeClr val="lt1"/>
          </a:fontRef>
        </dgm:style>
      </dgm:prSet>
      <dgm:spPr>
        <a:xfrm>
          <a:off x="34" y="7711"/>
          <a:ext cx="3322842" cy="604800"/>
        </a:xfrm>
        <a:prstGeom prst="rect">
          <a:avLst/>
        </a:prstGeom>
        <a:ln/>
      </dgm:spPr>
      <dgm:t>
        <a:bodyPr/>
        <a:lstStyle/>
        <a:p>
          <a:pPr>
            <a:buNone/>
          </a:pPr>
          <a:r>
            <a:rPr lang="zh-CN" altLang="en-US" sz="2000" b="1" dirty="0">
              <a:solidFill>
                <a:sysClr val="window" lastClr="FFFFFF"/>
              </a:solidFill>
              <a:latin typeface="微软雅黑" panose="020B0503020204020204" pitchFamily="34" charset="-122"/>
              <a:ea typeface="微软雅黑" panose="020B0503020204020204" pitchFamily="34" charset="-122"/>
              <a:cs typeface="+mn-cs"/>
            </a:rPr>
            <a:t>拥塞控制</a:t>
          </a:r>
        </a:p>
      </dgm:t>
    </dgm:pt>
    <dgm:pt modelId="{72B0F351-ECBB-41B6-83F8-2E44095783F4}" type="par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tyle>
          <a:lnRef idx="2">
            <a:schemeClr val="accent1"/>
          </a:lnRef>
          <a:fillRef idx="1">
            <a:schemeClr val="lt1"/>
          </a:fillRef>
          <a:effectRef idx="0">
            <a:schemeClr val="accent1"/>
          </a:effectRef>
          <a:fontRef idx="minor">
            <a:schemeClr val="dk1"/>
          </a:fontRef>
        </dgm:style>
      </dgm:prSet>
      <dgm:spPr>
        <a:xfrm>
          <a:off x="34" y="612511"/>
          <a:ext cx="3322842" cy="2824605"/>
        </a:xfrm>
        <a:prstGeom prst="rect">
          <a:avLst/>
        </a:prstGeom>
        <a:ln/>
      </dgm:spPr>
      <dgm:t>
        <a:bodyPr/>
        <a:lstStyle/>
        <a:p>
          <a:pPr>
            <a:buChar char="•"/>
          </a:pPr>
          <a:r>
            <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防止过多的数据注入到网络中，避免网络中的路由器或链路过载。</a:t>
          </a:r>
        </a:p>
      </dgm:t>
    </dgm:pt>
    <dgm:pt modelId="{B9937F06-A3DB-4499-9BB1-8E62176A896E}" type="par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376B25E-A50F-4935-9A84-A2AE7897CCCF}">
      <dgm:prSet phldrT="[文本]" custT="1">
        <dgm:style>
          <a:lnRef idx="2">
            <a:schemeClr val="accent1"/>
          </a:lnRef>
          <a:fillRef idx="1">
            <a:schemeClr val="lt1"/>
          </a:fillRef>
          <a:effectRef idx="0">
            <a:schemeClr val="accent1"/>
          </a:effectRef>
          <a:fontRef idx="minor">
            <a:schemeClr val="dk1"/>
          </a:fontRef>
        </dgm:style>
      </dgm:prSet>
      <dgm:spPr>
        <a:xfrm>
          <a:off x="34" y="612511"/>
          <a:ext cx="3322842" cy="2824605"/>
        </a:xfrm>
        <a:prstGeom prst="rect">
          <a:avLst/>
        </a:prstGeom>
        <a:ln/>
      </dgm:spPr>
      <dgm:t>
        <a:bodyPr/>
        <a:lstStyle/>
        <a:p>
          <a:pPr>
            <a:buChar char="•"/>
          </a:pPr>
          <a:r>
            <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是一个全局性的过程，涉及到所有的主机、路由器，以及与降低网络传输性能有关的所有因素。</a:t>
          </a:r>
        </a:p>
      </dgm:t>
    </dgm:pt>
    <dgm:pt modelId="{26269EE4-3ED5-4DE1-B6F2-BC870B778E5F}" type="parTrans" cxnId="{38263262-CABC-4074-A5F3-D3F1E4C0331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637746-0510-4A3C-90B7-D93A16B92D57}" type="sibTrans" cxnId="{38263262-CABC-4074-A5F3-D3F1E4C0331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a:xfrm>
          <a:off x="3788074" y="7711"/>
          <a:ext cx="3322842" cy="604800"/>
        </a:xfrm>
        <a:prstGeom prst="rect">
          <a:avLst/>
        </a:prstGeom>
        <a:solidFill>
          <a:srgbClr val="C0504D">
            <a:hueOff val="4681519"/>
            <a:satOff val="-5839"/>
            <a:lumOff val="1373"/>
            <a:alphaOff val="0"/>
          </a:srgbClr>
        </a:solidFill>
        <a:ln w="25400" cap="flat" cmpd="sng" algn="ctr">
          <a:solidFill>
            <a:srgbClr val="C0504D">
              <a:hueOff val="4681519"/>
              <a:satOff val="-5839"/>
              <a:lumOff val="1373"/>
              <a:alphaOff val="0"/>
            </a:srgbClr>
          </a:solidFill>
          <a:prstDash val="solid"/>
        </a:ln>
        <a:effectLst/>
      </dgm:spPr>
      <dgm:t>
        <a:bodyPr/>
        <a:lstStyle/>
        <a:p>
          <a:pPr>
            <a:buNone/>
          </a:pPr>
          <a:r>
            <a:rPr lang="zh-CN" altLang="en-US" sz="2000" b="1" dirty="0">
              <a:solidFill>
                <a:sysClr val="window" lastClr="FFFFFF"/>
              </a:solidFill>
              <a:latin typeface="微软雅黑" panose="020B0503020204020204" pitchFamily="34" charset="-122"/>
              <a:ea typeface="微软雅黑" panose="020B0503020204020204" pitchFamily="34" charset="-122"/>
              <a:cs typeface="+mn-cs"/>
            </a:rPr>
            <a:t>流量控制</a:t>
          </a:r>
        </a:p>
      </dgm:t>
    </dgm:pt>
    <dgm:pt modelId="{98DB6D87-467D-4D2D-AF82-D4E303370A2F}" type="par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41A8C11-D03E-479A-A84F-C3458AEF2E9A}">
      <dgm:prSet phldrT="[文本]" custT="1">
        <dgm:style>
          <a:lnRef idx="2">
            <a:schemeClr val="accent6"/>
          </a:lnRef>
          <a:fillRef idx="1">
            <a:schemeClr val="lt1"/>
          </a:fillRef>
          <a:effectRef idx="0">
            <a:schemeClr val="accent6"/>
          </a:effectRef>
          <a:fontRef idx="minor">
            <a:schemeClr val="dk1"/>
          </a:fontRef>
        </dgm:style>
      </dgm:prSet>
      <dgm:spPr>
        <a:xfrm>
          <a:off x="3788074" y="612511"/>
          <a:ext cx="3322842" cy="2824605"/>
        </a:xfrm>
        <a:prstGeom prst="rect">
          <a:avLst/>
        </a:prstGeom>
        <a:ln/>
      </dgm:spPr>
      <dgm:t>
        <a:bodyPr/>
        <a:lstStyle/>
        <a:p>
          <a:pPr>
            <a:buChar char="•"/>
          </a:pPr>
          <a:r>
            <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点对点通信量的控制，是个端到端的问题。</a:t>
          </a:r>
        </a:p>
      </dgm:t>
    </dgm:pt>
    <dgm:pt modelId="{A7821D57-E876-4757-939B-CE33CAD146D4}" type="parTrans" cxnId="{47FAB983-5AC4-402F-9B23-9B04750BCF8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553568A-AD7C-418C-9424-82556C1E75C3}" type="sibTrans" cxnId="{47FAB983-5AC4-402F-9B23-9B04750BCF8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tyle>
          <a:lnRef idx="2">
            <a:schemeClr val="accent6"/>
          </a:lnRef>
          <a:fillRef idx="1">
            <a:schemeClr val="lt1"/>
          </a:fillRef>
          <a:effectRef idx="0">
            <a:schemeClr val="accent6"/>
          </a:effectRef>
          <a:fontRef idx="minor">
            <a:schemeClr val="dk1"/>
          </a:fontRef>
        </dgm:style>
      </dgm:prSet>
      <dgm:spPr>
        <a:xfrm>
          <a:off x="3788074" y="612511"/>
          <a:ext cx="3322842" cy="2824605"/>
        </a:xfrm>
        <a:prstGeom prst="rect">
          <a:avLst/>
        </a:prstGeom>
        <a:ln/>
      </dgm:spPr>
      <dgm:t>
        <a:bodyPr/>
        <a:lstStyle/>
        <a:p>
          <a:pPr>
            <a:buChar char="•"/>
          </a:pPr>
          <a:r>
            <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抑制发送端发送数据的速率，以使接收端来得及接收。</a:t>
          </a:r>
        </a:p>
      </dgm:t>
    </dgm:pt>
    <dgm:pt modelId="{6383180C-1983-48A1-B1E4-F574E14CDBD1}" type="parTrans" cxnId="{E9F7BDEC-B0B2-4D70-9C76-A3B73A9A92CD}">
      <dgm:prSet/>
      <dgm:spPr/>
      <dgm:t>
        <a:bodyPr/>
        <a:lstStyle/>
        <a:p>
          <a:endParaRPr lang="zh-CN" altLang="en-US"/>
        </a:p>
      </dgm:t>
    </dgm:pt>
    <dgm:pt modelId="{0F0ABCB1-B289-4DF9-9D7E-62CB7D38863E}" type="sibTrans" cxnId="{E9F7BDEC-B0B2-4D70-9C76-A3B73A9A92CD}">
      <dgm:prSet/>
      <dgm:spPr/>
      <dgm:t>
        <a:bodyPr/>
        <a:lstStyle/>
        <a:p>
          <a:endParaRPr lang="zh-CN" altLang="en-US"/>
        </a:p>
      </dgm:t>
    </dgm:pt>
    <dgm:pt modelId="{74DCD11F-98DA-4BA1-A4EB-9AB34E9C3C9D}" type="pres">
      <dgm:prSet presAssocID="{112BEBDF-C69E-49A9-B731-0929408024D8}" presName="Name0" presStyleCnt="0">
        <dgm:presLayoutVars>
          <dgm:dir/>
          <dgm:animLvl val="lvl"/>
          <dgm:resizeHandles val="exact"/>
        </dgm:presLayoutVars>
      </dgm:prSet>
      <dgm:spPr/>
    </dgm:pt>
    <dgm:pt modelId="{9AD73B97-8ACA-4262-93A6-3717227818DB}" type="pres">
      <dgm:prSet presAssocID="{4EE007B2-F612-44FB-B13F-E78B8586155B}" presName="composite" presStyleCnt="0"/>
      <dgm:spPr/>
    </dgm:pt>
    <dgm:pt modelId="{14B10E15-5814-42D3-93FB-FED52DF5F41F}" type="pres">
      <dgm:prSet presAssocID="{4EE007B2-F612-44FB-B13F-E78B8586155B}" presName="parTx" presStyleLbl="alignNode1" presStyleIdx="0" presStyleCnt="2">
        <dgm:presLayoutVars>
          <dgm:chMax val="0"/>
          <dgm:chPref val="0"/>
          <dgm:bulletEnabled val="1"/>
        </dgm:presLayoutVars>
      </dgm:prSet>
      <dgm:spPr/>
    </dgm:pt>
    <dgm:pt modelId="{72C5BA33-78B4-45DE-B9CA-22A272DDBE2C}" type="pres">
      <dgm:prSet presAssocID="{4EE007B2-F612-44FB-B13F-E78B8586155B}" presName="desTx" presStyleLbl="alignAccFollowNode1" presStyleIdx="0" presStyleCnt="2">
        <dgm:presLayoutVars>
          <dgm:bulletEnabled val="1"/>
        </dgm:presLayoutVars>
      </dgm:prSet>
      <dgm:spPr/>
    </dgm:pt>
    <dgm:pt modelId="{DC394C6D-CF2B-4266-B39A-654D1A34AF80}" type="pres">
      <dgm:prSet presAssocID="{B73030B4-A5E0-40C1-9AE1-02B25975AA00}" presName="space" presStyleCnt="0"/>
      <dgm:spPr/>
    </dgm:pt>
    <dgm:pt modelId="{7FE4DA29-AAF2-4F50-871A-FAE73406F695}" type="pres">
      <dgm:prSet presAssocID="{DACD2956-BF18-4584-AF2D-3FD839777DF7}" presName="composite" presStyleCnt="0"/>
      <dgm:spPr/>
    </dgm:pt>
    <dgm:pt modelId="{3ACFDD6B-963A-45AA-AED6-29B2C66DA9EB}" type="pres">
      <dgm:prSet presAssocID="{DACD2956-BF18-4584-AF2D-3FD839777DF7}" presName="parTx" presStyleLbl="alignNode1" presStyleIdx="1" presStyleCnt="2">
        <dgm:presLayoutVars>
          <dgm:chMax val="0"/>
          <dgm:chPref val="0"/>
          <dgm:bulletEnabled val="1"/>
        </dgm:presLayoutVars>
      </dgm:prSet>
      <dgm:spPr/>
    </dgm:pt>
    <dgm:pt modelId="{AAB91EAD-75AE-4168-8A7F-B7A023AD8367}" type="pres">
      <dgm:prSet presAssocID="{DACD2956-BF18-4584-AF2D-3FD839777DF7}" presName="desTx" presStyleLbl="alignAccFollowNode1" presStyleIdx="1" presStyleCnt="2">
        <dgm:presLayoutVars>
          <dgm:bulletEnabled val="1"/>
        </dgm:presLayoutVars>
      </dgm:prSet>
      <dgm:spPr/>
    </dgm:pt>
  </dgm:ptLst>
  <dgm:cxnLst>
    <dgm:cxn modelId="{1A846D18-8F00-461A-939E-949F0AB8AB06}" srcId="{112BEBDF-C69E-49A9-B731-0929408024D8}" destId="{4EE007B2-F612-44FB-B13F-E78B8586155B}" srcOrd="0" destOrd="0" parTransId="{72B0F351-ECBB-41B6-83F8-2E44095783F4}" sibTransId="{B73030B4-A5E0-40C1-9AE1-02B25975AA00}"/>
    <dgm:cxn modelId="{F6938530-079E-4F28-907C-9DAADFB08D0E}" type="presOf" srcId="{112BEBDF-C69E-49A9-B731-0929408024D8}" destId="{74DCD11F-98DA-4BA1-A4EB-9AB34E9C3C9D}" srcOrd="0" destOrd="0" presId="urn:microsoft.com/office/officeart/2005/8/layout/hList1"/>
    <dgm:cxn modelId="{74E18B3E-A839-4FBD-B46E-F54F7588502B}" srcId="{4EE007B2-F612-44FB-B13F-E78B8586155B}" destId="{710B3081-F341-4301-9185-BE738C183BBB}" srcOrd="0" destOrd="0" parTransId="{B9937F06-A3DB-4499-9BB1-8E62176A896E}" sibTransId="{A8D13681-61CB-42A0-AAD2-CF508B0ED4F0}"/>
    <dgm:cxn modelId="{38263262-CABC-4074-A5F3-D3F1E4C03317}" srcId="{4EE007B2-F612-44FB-B13F-E78B8586155B}" destId="{3376B25E-A50F-4935-9A84-A2AE7897CCCF}" srcOrd="1" destOrd="0" parTransId="{26269EE4-3ED5-4DE1-B6F2-BC870B778E5F}" sibTransId="{BF637746-0510-4A3C-90B7-D93A16B92D57}"/>
    <dgm:cxn modelId="{47FAB983-5AC4-402F-9B23-9B04750BCF80}" srcId="{DACD2956-BF18-4584-AF2D-3FD839777DF7}" destId="{541A8C11-D03E-479A-A84F-C3458AEF2E9A}" srcOrd="1" destOrd="0" parTransId="{A7821D57-E876-4757-939B-CE33CAD146D4}" sibTransId="{9553568A-AD7C-418C-9424-82556C1E75C3}"/>
    <dgm:cxn modelId="{D99E9A86-7A1F-44E7-B3D8-4ED992367D2C}" type="presOf" srcId="{710B3081-F341-4301-9185-BE738C183BBB}" destId="{72C5BA33-78B4-45DE-B9CA-22A272DDBE2C}" srcOrd="0" destOrd="0" presId="urn:microsoft.com/office/officeart/2005/8/layout/hList1"/>
    <dgm:cxn modelId="{DA9EC09F-C043-4CCF-8D0C-5BA0D9DBA06B}" type="presOf" srcId="{DACD2956-BF18-4584-AF2D-3FD839777DF7}" destId="{3ACFDD6B-963A-45AA-AED6-29B2C66DA9EB}" srcOrd="0" destOrd="0" presId="urn:microsoft.com/office/officeart/2005/8/layout/hList1"/>
    <dgm:cxn modelId="{B1F575A2-BDF2-4BC4-B2E5-16FCD1B4EA37}" type="presOf" srcId="{4EE007B2-F612-44FB-B13F-E78B8586155B}" destId="{14B10E15-5814-42D3-93FB-FED52DF5F41F}" srcOrd="0" destOrd="0" presId="urn:microsoft.com/office/officeart/2005/8/layout/hList1"/>
    <dgm:cxn modelId="{203096C6-3161-47EF-A15A-B83C30ADE451}" type="presOf" srcId="{541A8C11-D03E-479A-A84F-C3458AEF2E9A}" destId="{AAB91EAD-75AE-4168-8A7F-B7A023AD8367}" srcOrd="0" destOrd="1" presId="urn:microsoft.com/office/officeart/2005/8/layout/hList1"/>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52A635F8-657C-4EDB-8288-F1C84154CA98}" type="presOf" srcId="{3376B25E-A50F-4935-9A84-A2AE7897CCCF}" destId="{72C5BA33-78B4-45DE-B9CA-22A272DDBE2C}" srcOrd="0" destOrd="1" presId="urn:microsoft.com/office/officeart/2005/8/layout/hList1"/>
    <dgm:cxn modelId="{06D3AEFD-1506-435F-AD4C-70B757C12748}" type="presOf" srcId="{7B38BB22-10D0-455B-AB19-4EC1F24B8A2F}" destId="{AAB91EAD-75AE-4168-8A7F-B7A023AD8367}" srcOrd="0" destOrd="0" presId="urn:microsoft.com/office/officeart/2005/8/layout/hList1"/>
    <dgm:cxn modelId="{9B9B519E-80A2-41A6-A2C8-5C67E74A0D39}" type="presParOf" srcId="{74DCD11F-98DA-4BA1-A4EB-9AB34E9C3C9D}" destId="{9AD73B97-8ACA-4262-93A6-3717227818DB}" srcOrd="0" destOrd="0" presId="urn:microsoft.com/office/officeart/2005/8/layout/hList1"/>
    <dgm:cxn modelId="{BF000874-7E99-4EE5-A451-A03219D4705C}" type="presParOf" srcId="{9AD73B97-8ACA-4262-93A6-3717227818DB}" destId="{14B10E15-5814-42D3-93FB-FED52DF5F41F}" srcOrd="0" destOrd="0" presId="urn:microsoft.com/office/officeart/2005/8/layout/hList1"/>
    <dgm:cxn modelId="{E9D031F2-91B9-4A16-96A5-F7E12FB1570D}" type="presParOf" srcId="{9AD73B97-8ACA-4262-93A6-3717227818DB}" destId="{72C5BA33-78B4-45DE-B9CA-22A272DDBE2C}" srcOrd="1" destOrd="0" presId="urn:microsoft.com/office/officeart/2005/8/layout/hList1"/>
    <dgm:cxn modelId="{00231281-3170-4EF9-9FE3-353315749628}" type="presParOf" srcId="{74DCD11F-98DA-4BA1-A4EB-9AB34E9C3C9D}" destId="{DC394C6D-CF2B-4266-B39A-654D1A34AF80}" srcOrd="1" destOrd="0" presId="urn:microsoft.com/office/officeart/2005/8/layout/hList1"/>
    <dgm:cxn modelId="{780E4640-35DF-4066-82A3-76CC21266D18}" type="presParOf" srcId="{74DCD11F-98DA-4BA1-A4EB-9AB34E9C3C9D}" destId="{7FE4DA29-AAF2-4F50-871A-FAE73406F695}" srcOrd="2" destOrd="0" presId="urn:microsoft.com/office/officeart/2005/8/layout/hList1"/>
    <dgm:cxn modelId="{FF90B366-896E-48A1-A2A3-3C8501453F6B}" type="presParOf" srcId="{7FE4DA29-AAF2-4F50-871A-FAE73406F695}" destId="{3ACFDD6B-963A-45AA-AED6-29B2C66DA9EB}" srcOrd="0" destOrd="0" presId="urn:microsoft.com/office/officeart/2005/8/layout/hList1"/>
    <dgm:cxn modelId="{EA7B9838-D68C-4BBA-9A17-0F494CC94549}" type="presParOf" srcId="{7FE4DA29-AAF2-4F50-871A-FAE73406F695}" destId="{AAB91EAD-75AE-4168-8A7F-B7A023AD836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tyle>
          <a:lnRef idx="2">
            <a:schemeClr val="accent5">
              <a:shade val="15000"/>
            </a:schemeClr>
          </a:lnRef>
          <a:fillRef idx="1">
            <a:schemeClr val="accent5"/>
          </a:fillRef>
          <a:effectRef idx="0">
            <a:schemeClr val="accent5"/>
          </a:effectRef>
          <a:fontRef idx="minor">
            <a:schemeClr val="lt1"/>
          </a:fontRef>
        </dgm:style>
      </dgm:prSet>
      <dgm:spPr/>
      <dgm:t>
        <a:bodyPr/>
        <a:lstStyle/>
        <a:p>
          <a:r>
            <a:rPr lang="en-US" altLang="zh-CN" sz="2400" b="0" dirty="0">
              <a:solidFill>
                <a:schemeClr val="bg1"/>
              </a:solidFill>
              <a:latin typeface="微软雅黑" panose="020B0503020204020204" pitchFamily="34" charset="-122"/>
              <a:ea typeface="微软雅黑" panose="020B0503020204020204" pitchFamily="34" charset="-122"/>
            </a:rPr>
            <a:t>1</a:t>
          </a:r>
          <a:r>
            <a:rPr lang="zh-CN" altLang="en-US" sz="2400" b="0"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4B1C92E2-7636-49C1-BF40-059D1DCC39AD}">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400" b="1" dirty="0">
              <a:solidFill>
                <a:schemeClr val="bg1"/>
              </a:solidFill>
              <a:latin typeface="微软雅黑" panose="020B0503020204020204" pitchFamily="34" charset="-122"/>
              <a:ea typeface="微软雅黑" panose="020B0503020204020204" pitchFamily="34" charset="-122"/>
            </a:rPr>
            <a:t>2</a:t>
          </a:r>
          <a:r>
            <a:rPr lang="zh-CN" altLang="en-US" sz="24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BFEC3037-4009-4C92-8BB3-BA004A9EDEF3}">
      <dgm:prSet phldrT="[文本]" custT="1">
        <dgm:style>
          <a:lnRef idx="2">
            <a:schemeClr val="accent4">
              <a:shade val="15000"/>
            </a:schemeClr>
          </a:lnRef>
          <a:fillRef idx="1">
            <a:schemeClr val="accent4"/>
          </a:fillRef>
          <a:effectRef idx="0">
            <a:schemeClr val="accent4"/>
          </a:effectRef>
          <a:fontRef idx="minor">
            <a:schemeClr val="lt1"/>
          </a:fontRef>
        </dgm:style>
      </dgm:prSet>
      <dgm:spPr/>
      <dgm:t>
        <a:bodyPr/>
        <a:lstStyle/>
        <a:p>
          <a:r>
            <a:rPr lang="en-US" altLang="zh-CN" sz="2400" b="1" dirty="0">
              <a:solidFill>
                <a:schemeClr val="bg1"/>
              </a:solidFill>
              <a:latin typeface="微软雅黑" panose="020B0503020204020204" pitchFamily="34" charset="-122"/>
              <a:ea typeface="微软雅黑" panose="020B0503020204020204" pitchFamily="34" charset="-122"/>
            </a:rPr>
            <a:t>3</a:t>
          </a:r>
          <a:r>
            <a:rPr lang="zh-CN" altLang="en-US" sz="24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2000" b="0"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sz="2400"/>
        </a:p>
      </dgm:t>
    </dgm:pt>
    <dgm:pt modelId="{F55A7609-F61D-45B1-8BFC-84CC6700C8D4}" type="sibTrans" cxnId="{F0F6B874-547A-491D-B7F3-72295B08FF37}">
      <dgm:prSet/>
      <dgm:spPr/>
      <dgm:t>
        <a:bodyPr/>
        <a:lstStyle/>
        <a:p>
          <a:endParaRPr lang="zh-CN" altLang="en-US" sz="2400"/>
        </a:p>
      </dgm:t>
    </dgm:pt>
    <dgm:pt modelId="{4CA39C50-B6AD-43B9-8AA3-4AB1AB59AC80}">
      <dgm:prSet phldrT="[文本]" custT="1">
        <dgm:style>
          <a:lnRef idx="2">
            <a:schemeClr val="accent6"/>
          </a:lnRef>
          <a:fillRef idx="1">
            <a:schemeClr val="lt1"/>
          </a:fillRef>
          <a:effectRef idx="0">
            <a:schemeClr val="accent6"/>
          </a:effectRef>
          <a:fontRef idx="minor">
            <a:schemeClr val="dk1"/>
          </a:fontRef>
        </dgm:style>
      </dgm:prSet>
      <dgm:spPr/>
      <dgm:t>
        <a:bodyPr/>
        <a:lstStyle/>
        <a:p>
          <a:r>
            <a:rPr lang="zh-CN" altLang="en-US" sz="2000" b="0"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sz="2400"/>
        </a:p>
      </dgm:t>
    </dgm:pt>
    <dgm:pt modelId="{A854CB13-5B4C-47C5-ACEA-5A400774CEFF}" type="sibTrans" cxnId="{A52CF45B-6B18-4411-9839-89F985A7649D}">
      <dgm:prSet/>
      <dgm:spPr/>
      <dgm:t>
        <a:bodyPr/>
        <a:lstStyle/>
        <a:p>
          <a:endParaRPr lang="zh-CN" altLang="en-US" sz="2400"/>
        </a:p>
      </dgm:t>
    </dgm:pt>
    <dgm:pt modelId="{59D49692-B4B1-4D68-A9E2-E3D245C6255F}">
      <dgm:prSet phldrT="[文本]" custT="1">
        <dgm:style>
          <a:lnRef idx="2">
            <a:schemeClr val="accent3"/>
          </a:lnRef>
          <a:fillRef idx="1">
            <a:schemeClr val="lt1"/>
          </a:fillRef>
          <a:effectRef idx="0">
            <a:schemeClr val="accent3"/>
          </a:effectRef>
          <a:fontRef idx="minor">
            <a:schemeClr val="dk1"/>
          </a:fontRef>
        </dgm:style>
      </dgm:prSet>
      <dgm:spPr/>
      <dgm:t>
        <a:bodyPr/>
        <a:lstStyle/>
        <a:p>
          <a:r>
            <a:rPr lang="zh-CN" altLang="en-US" sz="2000" b="0"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sz="2400"/>
        </a:p>
      </dgm:t>
    </dgm:pt>
    <dgm:pt modelId="{7F25A2CD-3124-47ED-9234-CB2EC135A7DC}" type="sibTrans" cxnId="{6CA83F09-C467-488E-869D-ABC010CAF2D8}">
      <dgm:prSet/>
      <dgm:spPr/>
      <dgm:t>
        <a:bodyPr/>
        <a:lstStyle/>
        <a:p>
          <a:endParaRPr lang="zh-CN" altLang="en-US" sz="2400"/>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tyle>
          <a:lnRef idx="2">
            <a:schemeClr val="accent5">
              <a:shade val="15000"/>
            </a:schemeClr>
          </a:lnRef>
          <a:fillRef idx="1">
            <a:schemeClr val="accent5"/>
          </a:fillRef>
          <a:effectRef idx="0">
            <a:schemeClr val="accent5"/>
          </a:effectRef>
          <a:fontRef idx="minor">
            <a:schemeClr val="lt1"/>
          </a:fontRef>
        </dgm:style>
      </dgm:prSet>
      <dgm:spPr/>
      <dgm:t>
        <a:bodyPr/>
        <a:lstStyle/>
        <a:p>
          <a:r>
            <a:rPr lang="en-US" altLang="zh-CN" sz="2400" b="0" dirty="0">
              <a:solidFill>
                <a:schemeClr val="bg1"/>
              </a:solidFill>
              <a:latin typeface="微软雅黑" panose="020B0503020204020204" pitchFamily="34" charset="-122"/>
              <a:ea typeface="微软雅黑" panose="020B0503020204020204" pitchFamily="34" charset="-122"/>
            </a:rPr>
            <a:t>1</a:t>
          </a:r>
          <a:r>
            <a:rPr lang="zh-CN" altLang="en-US" sz="2400" b="0"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4B1C92E2-7636-49C1-BF40-059D1DCC39AD}">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400" b="1" dirty="0">
              <a:solidFill>
                <a:schemeClr val="bg1"/>
              </a:solidFill>
              <a:latin typeface="微软雅黑" panose="020B0503020204020204" pitchFamily="34" charset="-122"/>
              <a:ea typeface="微软雅黑" panose="020B0503020204020204" pitchFamily="34" charset="-122"/>
            </a:rPr>
            <a:t>2</a:t>
          </a:r>
          <a:r>
            <a:rPr lang="zh-CN" altLang="en-US" sz="24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BFEC3037-4009-4C92-8BB3-BA004A9EDEF3}">
      <dgm:prSet phldrT="[文本]" custT="1">
        <dgm:style>
          <a:lnRef idx="2">
            <a:schemeClr val="accent4">
              <a:shade val="15000"/>
            </a:schemeClr>
          </a:lnRef>
          <a:fillRef idx="1">
            <a:schemeClr val="accent4"/>
          </a:fillRef>
          <a:effectRef idx="0">
            <a:schemeClr val="accent4"/>
          </a:effectRef>
          <a:fontRef idx="minor">
            <a:schemeClr val="lt1"/>
          </a:fontRef>
        </dgm:style>
      </dgm:prSet>
      <dgm:spPr/>
      <dgm:t>
        <a:bodyPr/>
        <a:lstStyle/>
        <a:p>
          <a:r>
            <a:rPr lang="en-US" altLang="zh-CN" sz="2400" b="1" dirty="0">
              <a:solidFill>
                <a:schemeClr val="bg1"/>
              </a:solidFill>
              <a:latin typeface="微软雅黑" panose="020B0503020204020204" pitchFamily="34" charset="-122"/>
              <a:ea typeface="微软雅黑" panose="020B0503020204020204" pitchFamily="34" charset="-122"/>
            </a:rPr>
            <a:t>3</a:t>
          </a:r>
          <a:r>
            <a:rPr lang="zh-CN" altLang="en-US" sz="24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2000" b="0"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sz="2400"/>
        </a:p>
      </dgm:t>
    </dgm:pt>
    <dgm:pt modelId="{F55A7609-F61D-45B1-8BFC-84CC6700C8D4}" type="sibTrans" cxnId="{F0F6B874-547A-491D-B7F3-72295B08FF37}">
      <dgm:prSet/>
      <dgm:spPr/>
      <dgm:t>
        <a:bodyPr/>
        <a:lstStyle/>
        <a:p>
          <a:endParaRPr lang="zh-CN" altLang="en-US" sz="2400"/>
        </a:p>
      </dgm:t>
    </dgm:pt>
    <dgm:pt modelId="{4CA39C50-B6AD-43B9-8AA3-4AB1AB59AC80}">
      <dgm:prSet phldrT="[文本]" custT="1">
        <dgm:style>
          <a:lnRef idx="2">
            <a:schemeClr val="accent6"/>
          </a:lnRef>
          <a:fillRef idx="1">
            <a:schemeClr val="lt1"/>
          </a:fillRef>
          <a:effectRef idx="0">
            <a:schemeClr val="accent6"/>
          </a:effectRef>
          <a:fontRef idx="minor">
            <a:schemeClr val="dk1"/>
          </a:fontRef>
        </dgm:style>
      </dgm:prSet>
      <dgm:spPr/>
      <dgm:t>
        <a:bodyPr/>
        <a:lstStyle/>
        <a:p>
          <a:r>
            <a:rPr lang="zh-CN" altLang="en-US" sz="2000" b="0"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sz="2400"/>
        </a:p>
      </dgm:t>
    </dgm:pt>
    <dgm:pt modelId="{A854CB13-5B4C-47C5-ACEA-5A400774CEFF}" type="sibTrans" cxnId="{A52CF45B-6B18-4411-9839-89F985A7649D}">
      <dgm:prSet/>
      <dgm:spPr/>
      <dgm:t>
        <a:bodyPr/>
        <a:lstStyle/>
        <a:p>
          <a:endParaRPr lang="zh-CN" altLang="en-US" sz="2400"/>
        </a:p>
      </dgm:t>
    </dgm:pt>
    <dgm:pt modelId="{59D49692-B4B1-4D68-A9E2-E3D245C6255F}">
      <dgm:prSet phldrT="[文本]" custT="1">
        <dgm:style>
          <a:lnRef idx="2">
            <a:schemeClr val="accent3"/>
          </a:lnRef>
          <a:fillRef idx="1">
            <a:schemeClr val="lt1"/>
          </a:fillRef>
          <a:effectRef idx="0">
            <a:schemeClr val="accent3"/>
          </a:effectRef>
          <a:fontRef idx="minor">
            <a:schemeClr val="dk1"/>
          </a:fontRef>
        </dgm:style>
      </dgm:prSet>
      <dgm:spPr/>
      <dgm:t>
        <a:bodyPr/>
        <a:lstStyle/>
        <a:p>
          <a:r>
            <a:rPr lang="zh-CN" altLang="en-US" sz="2000" b="0"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sz="2400"/>
        </a:p>
      </dgm:t>
    </dgm:pt>
    <dgm:pt modelId="{7F25A2CD-3124-47ED-9234-CB2EC135A7DC}" type="sibTrans" cxnId="{6CA83F09-C467-488E-869D-ABC010CAF2D8}">
      <dgm:prSet/>
      <dgm:spPr/>
      <dgm:t>
        <a:bodyPr/>
        <a:lstStyle/>
        <a:p>
          <a:endParaRPr lang="zh-CN" altLang="en-US" sz="2400"/>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tyle>
          <a:lnRef idx="2">
            <a:schemeClr val="accent5">
              <a:shade val="15000"/>
            </a:schemeClr>
          </a:lnRef>
          <a:fillRef idx="1">
            <a:schemeClr val="accent5"/>
          </a:fillRef>
          <a:effectRef idx="0">
            <a:schemeClr val="accent5"/>
          </a:effectRef>
          <a:fontRef idx="minor">
            <a:schemeClr val="lt1"/>
          </a:fontRef>
        </dgm:style>
      </dgm:prSet>
      <dgm:spPr/>
      <dgm:t>
        <a:bodyPr/>
        <a:lstStyle/>
        <a:p>
          <a:r>
            <a:rPr lang="en-US" altLang="zh-CN" sz="2400" b="0" dirty="0">
              <a:solidFill>
                <a:schemeClr val="bg1"/>
              </a:solidFill>
              <a:latin typeface="微软雅黑" panose="020B0503020204020204" pitchFamily="34" charset="-122"/>
              <a:ea typeface="微软雅黑" panose="020B0503020204020204" pitchFamily="34" charset="-122"/>
            </a:rPr>
            <a:t>1</a:t>
          </a:r>
          <a:r>
            <a:rPr lang="zh-CN" altLang="en-US" sz="2400" b="0"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4B1C92E2-7636-49C1-BF40-059D1DCC39AD}">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400" b="1" dirty="0">
              <a:solidFill>
                <a:schemeClr val="bg1"/>
              </a:solidFill>
              <a:latin typeface="微软雅黑" panose="020B0503020204020204" pitchFamily="34" charset="-122"/>
              <a:ea typeface="微软雅黑" panose="020B0503020204020204" pitchFamily="34" charset="-122"/>
            </a:rPr>
            <a:t>2</a:t>
          </a:r>
          <a:r>
            <a:rPr lang="zh-CN" altLang="en-US" sz="24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BFEC3037-4009-4C92-8BB3-BA004A9EDEF3}">
      <dgm:prSet phldrT="[文本]" custT="1">
        <dgm:style>
          <a:lnRef idx="2">
            <a:schemeClr val="accent4">
              <a:shade val="15000"/>
            </a:schemeClr>
          </a:lnRef>
          <a:fillRef idx="1">
            <a:schemeClr val="accent4"/>
          </a:fillRef>
          <a:effectRef idx="0">
            <a:schemeClr val="accent4"/>
          </a:effectRef>
          <a:fontRef idx="minor">
            <a:schemeClr val="lt1"/>
          </a:fontRef>
        </dgm:style>
      </dgm:prSet>
      <dgm:spPr/>
      <dgm:t>
        <a:bodyPr/>
        <a:lstStyle/>
        <a:p>
          <a:r>
            <a:rPr lang="en-US" altLang="zh-CN" sz="2400" b="1" dirty="0">
              <a:solidFill>
                <a:schemeClr val="bg1"/>
              </a:solidFill>
              <a:latin typeface="微软雅黑" panose="020B0503020204020204" pitchFamily="34" charset="-122"/>
              <a:ea typeface="微软雅黑" panose="020B0503020204020204" pitchFamily="34" charset="-122"/>
            </a:rPr>
            <a:t>3</a:t>
          </a:r>
          <a:r>
            <a:rPr lang="zh-CN" altLang="en-US" sz="24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2000" b="0"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sz="2400"/>
        </a:p>
      </dgm:t>
    </dgm:pt>
    <dgm:pt modelId="{F55A7609-F61D-45B1-8BFC-84CC6700C8D4}" type="sibTrans" cxnId="{F0F6B874-547A-491D-B7F3-72295B08FF37}">
      <dgm:prSet/>
      <dgm:spPr/>
      <dgm:t>
        <a:bodyPr/>
        <a:lstStyle/>
        <a:p>
          <a:endParaRPr lang="zh-CN" altLang="en-US" sz="2400"/>
        </a:p>
      </dgm:t>
    </dgm:pt>
    <dgm:pt modelId="{4CA39C50-B6AD-43B9-8AA3-4AB1AB59AC80}">
      <dgm:prSet phldrT="[文本]" custT="1">
        <dgm:style>
          <a:lnRef idx="2">
            <a:schemeClr val="accent6"/>
          </a:lnRef>
          <a:fillRef idx="1">
            <a:schemeClr val="lt1"/>
          </a:fillRef>
          <a:effectRef idx="0">
            <a:schemeClr val="accent6"/>
          </a:effectRef>
          <a:fontRef idx="minor">
            <a:schemeClr val="dk1"/>
          </a:fontRef>
        </dgm:style>
      </dgm:prSet>
      <dgm:spPr/>
      <dgm:t>
        <a:bodyPr/>
        <a:lstStyle/>
        <a:p>
          <a:r>
            <a:rPr lang="zh-CN" altLang="en-US" sz="2000" b="0"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sz="2400"/>
        </a:p>
      </dgm:t>
    </dgm:pt>
    <dgm:pt modelId="{A854CB13-5B4C-47C5-ACEA-5A400774CEFF}" type="sibTrans" cxnId="{A52CF45B-6B18-4411-9839-89F985A7649D}">
      <dgm:prSet/>
      <dgm:spPr/>
      <dgm:t>
        <a:bodyPr/>
        <a:lstStyle/>
        <a:p>
          <a:endParaRPr lang="zh-CN" altLang="en-US" sz="2400"/>
        </a:p>
      </dgm:t>
    </dgm:pt>
    <dgm:pt modelId="{59D49692-B4B1-4D68-A9E2-E3D245C6255F}">
      <dgm:prSet phldrT="[文本]" custT="1">
        <dgm:style>
          <a:lnRef idx="2">
            <a:schemeClr val="accent3"/>
          </a:lnRef>
          <a:fillRef idx="1">
            <a:schemeClr val="lt1"/>
          </a:fillRef>
          <a:effectRef idx="0">
            <a:schemeClr val="accent3"/>
          </a:effectRef>
          <a:fontRef idx="minor">
            <a:schemeClr val="dk1"/>
          </a:fontRef>
        </dgm:style>
      </dgm:prSet>
      <dgm:spPr/>
      <dgm:t>
        <a:bodyPr/>
        <a:lstStyle/>
        <a:p>
          <a:r>
            <a:rPr lang="zh-CN" altLang="en-US" sz="2000" b="0"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sz="2400"/>
        </a:p>
      </dgm:t>
    </dgm:pt>
    <dgm:pt modelId="{7F25A2CD-3124-47ED-9234-CB2EC135A7DC}" type="sibTrans" cxnId="{6CA83F09-C467-488E-869D-ABC010CAF2D8}">
      <dgm:prSet/>
      <dgm:spPr/>
      <dgm:t>
        <a:bodyPr/>
        <a:lstStyle/>
        <a:p>
          <a:endParaRPr lang="zh-CN" altLang="en-US" sz="2400"/>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tyle>
          <a:lnRef idx="2">
            <a:schemeClr val="accent5">
              <a:shade val="15000"/>
            </a:schemeClr>
          </a:lnRef>
          <a:fillRef idx="1">
            <a:schemeClr val="accent5"/>
          </a:fillRef>
          <a:effectRef idx="0">
            <a:schemeClr val="accent5"/>
          </a:effectRef>
          <a:fontRef idx="minor">
            <a:schemeClr val="lt1"/>
          </a:fontRef>
        </dgm:style>
      </dgm:prSet>
      <dgm:spPr/>
      <dgm:t>
        <a:bodyPr/>
        <a:lstStyle/>
        <a:p>
          <a:r>
            <a:rPr lang="en-US" altLang="zh-CN" sz="2400" b="0" dirty="0">
              <a:solidFill>
                <a:schemeClr val="bg1"/>
              </a:solidFill>
              <a:latin typeface="微软雅黑" panose="020B0503020204020204" pitchFamily="34" charset="-122"/>
              <a:ea typeface="微软雅黑" panose="020B0503020204020204" pitchFamily="34" charset="-122"/>
            </a:rPr>
            <a:t>1</a:t>
          </a:r>
          <a:r>
            <a:rPr lang="zh-CN" altLang="en-US" sz="2400" b="0"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4B1C92E2-7636-49C1-BF40-059D1DCC39AD}">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400" b="1" dirty="0">
              <a:solidFill>
                <a:schemeClr val="bg1"/>
              </a:solidFill>
              <a:latin typeface="微软雅黑" panose="020B0503020204020204" pitchFamily="34" charset="-122"/>
              <a:ea typeface="微软雅黑" panose="020B0503020204020204" pitchFamily="34" charset="-122"/>
            </a:rPr>
            <a:t>2</a:t>
          </a:r>
          <a:r>
            <a:rPr lang="zh-CN" altLang="en-US" sz="24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BFEC3037-4009-4C92-8BB3-BA004A9EDEF3}">
      <dgm:prSet phldrT="[文本]" custT="1">
        <dgm:style>
          <a:lnRef idx="2">
            <a:schemeClr val="accent4">
              <a:shade val="15000"/>
            </a:schemeClr>
          </a:lnRef>
          <a:fillRef idx="1">
            <a:schemeClr val="accent4"/>
          </a:fillRef>
          <a:effectRef idx="0">
            <a:schemeClr val="accent4"/>
          </a:effectRef>
          <a:fontRef idx="minor">
            <a:schemeClr val="lt1"/>
          </a:fontRef>
        </dgm:style>
      </dgm:prSet>
      <dgm:spPr/>
      <dgm:t>
        <a:bodyPr/>
        <a:lstStyle/>
        <a:p>
          <a:r>
            <a:rPr lang="en-US" altLang="zh-CN" sz="2400" b="1" dirty="0">
              <a:solidFill>
                <a:schemeClr val="bg1"/>
              </a:solidFill>
              <a:latin typeface="微软雅黑" panose="020B0503020204020204" pitchFamily="34" charset="-122"/>
              <a:ea typeface="微软雅黑" panose="020B0503020204020204" pitchFamily="34" charset="-122"/>
            </a:rPr>
            <a:t>3</a:t>
          </a:r>
          <a:r>
            <a:rPr lang="zh-CN" altLang="en-US" sz="24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2000" b="0"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sz="2400"/>
        </a:p>
      </dgm:t>
    </dgm:pt>
    <dgm:pt modelId="{F55A7609-F61D-45B1-8BFC-84CC6700C8D4}" type="sibTrans" cxnId="{F0F6B874-547A-491D-B7F3-72295B08FF37}">
      <dgm:prSet/>
      <dgm:spPr/>
      <dgm:t>
        <a:bodyPr/>
        <a:lstStyle/>
        <a:p>
          <a:endParaRPr lang="zh-CN" altLang="en-US" sz="2400"/>
        </a:p>
      </dgm:t>
    </dgm:pt>
    <dgm:pt modelId="{4CA39C50-B6AD-43B9-8AA3-4AB1AB59AC80}">
      <dgm:prSet phldrT="[文本]" custT="1">
        <dgm:style>
          <a:lnRef idx="2">
            <a:schemeClr val="accent6"/>
          </a:lnRef>
          <a:fillRef idx="1">
            <a:schemeClr val="lt1"/>
          </a:fillRef>
          <a:effectRef idx="0">
            <a:schemeClr val="accent6"/>
          </a:effectRef>
          <a:fontRef idx="minor">
            <a:schemeClr val="dk1"/>
          </a:fontRef>
        </dgm:style>
      </dgm:prSet>
      <dgm:spPr/>
      <dgm:t>
        <a:bodyPr/>
        <a:lstStyle/>
        <a:p>
          <a:r>
            <a:rPr lang="zh-CN" altLang="en-US" sz="2000" b="0"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sz="2400"/>
        </a:p>
      </dgm:t>
    </dgm:pt>
    <dgm:pt modelId="{A854CB13-5B4C-47C5-ACEA-5A400774CEFF}" type="sibTrans" cxnId="{A52CF45B-6B18-4411-9839-89F985A7649D}">
      <dgm:prSet/>
      <dgm:spPr/>
      <dgm:t>
        <a:bodyPr/>
        <a:lstStyle/>
        <a:p>
          <a:endParaRPr lang="zh-CN" altLang="en-US" sz="2400"/>
        </a:p>
      </dgm:t>
    </dgm:pt>
    <dgm:pt modelId="{59D49692-B4B1-4D68-A9E2-E3D245C6255F}">
      <dgm:prSet phldrT="[文本]" custT="1">
        <dgm:style>
          <a:lnRef idx="2">
            <a:schemeClr val="accent3"/>
          </a:lnRef>
          <a:fillRef idx="1">
            <a:schemeClr val="lt1"/>
          </a:fillRef>
          <a:effectRef idx="0">
            <a:schemeClr val="accent3"/>
          </a:effectRef>
          <a:fontRef idx="minor">
            <a:schemeClr val="dk1"/>
          </a:fontRef>
        </dgm:style>
      </dgm:prSet>
      <dgm:spPr/>
      <dgm:t>
        <a:bodyPr/>
        <a:lstStyle/>
        <a:p>
          <a:r>
            <a:rPr lang="zh-CN" altLang="en-US" sz="2000" b="0"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sz="2400"/>
        </a:p>
      </dgm:t>
    </dgm:pt>
    <dgm:pt modelId="{7F25A2CD-3124-47ED-9234-CB2EC135A7DC}" type="sibTrans" cxnId="{6CA83F09-C467-488E-869D-ABC010CAF2D8}">
      <dgm:prSet/>
      <dgm:spPr/>
      <dgm:t>
        <a:bodyPr/>
        <a:lstStyle/>
        <a:p>
          <a:endParaRPr lang="zh-CN" altLang="en-US" sz="2400"/>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12BEBDF-C69E-49A9-B731-0929408024D8}" type="doc">
      <dgm:prSet loTypeId="urn:microsoft.com/office/officeart/2005/8/layout/vList5" loCatId="list" qsTypeId="urn:microsoft.com/office/officeart/2005/8/quickstyle/simple3" qsCatId="simple" csTypeId="urn:microsoft.com/office/officeart/2005/8/colors/colorful5" csCatId="colorful" phldr="1"/>
      <dgm:spPr/>
      <dgm:t>
        <a:bodyPr/>
        <a:lstStyle/>
        <a:p>
          <a:endParaRPr lang="zh-CN" altLang="en-US"/>
        </a:p>
      </dgm:t>
    </dgm:pt>
    <dgm:pt modelId="{4EE007B2-F612-44FB-B13F-E78B8586155B}">
      <dgm:prSet phldrT="[文本]" custT="1"/>
      <dgm:spPr/>
      <dgm:t>
        <a:bodyPr/>
        <a:lstStyle/>
        <a:p>
          <a:r>
            <a:rPr lang="zh-CN" altLang="en-US" sz="2400" b="0" dirty="0">
              <a:latin typeface="微软雅黑" panose="020B0503020204020204" pitchFamily="34" charset="-122"/>
              <a:ea typeface="微软雅黑" panose="020B0503020204020204" pitchFamily="34" charset="-122"/>
            </a:rPr>
            <a:t>超时重传计时器超时</a:t>
          </a:r>
        </a:p>
      </dgm:t>
    </dgm:pt>
    <dgm:pt modelId="{72B0F351-ECBB-41B6-83F8-2E44095783F4}" type="parTrans" cxnId="{1A846D18-8F00-461A-939E-949F0AB8AB06}">
      <dgm:prSet/>
      <dgm:spPr/>
      <dgm:t>
        <a:bodyPr/>
        <a:lstStyle/>
        <a:p>
          <a:endParaRPr lang="zh-CN" altLang="en-US" sz="1800" b="0">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0">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2400" b="0" dirty="0">
              <a:latin typeface="微软雅黑" panose="020B0503020204020204" pitchFamily="34" charset="-122"/>
              <a:ea typeface="微软雅黑" panose="020B0503020204020204" pitchFamily="34" charset="-122"/>
            </a:rPr>
            <a:t>网络已经出现了拥塞。</a:t>
          </a:r>
        </a:p>
      </dgm:t>
    </dgm:pt>
    <dgm:pt modelId="{B9937F06-A3DB-4499-9BB1-8E62176A896E}" type="parTrans" cxnId="{74E18B3E-A839-4FBD-B46E-F54F7588502B}">
      <dgm:prSet/>
      <dgm:spPr/>
      <dgm:t>
        <a:bodyPr/>
        <a:lstStyle/>
        <a:p>
          <a:endParaRPr lang="zh-CN" altLang="en-US" sz="1800" b="0">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0">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2400" b="0" dirty="0">
              <a:latin typeface="微软雅黑" panose="020B0503020204020204" pitchFamily="34" charset="-122"/>
              <a:ea typeface="微软雅黑" panose="020B0503020204020204" pitchFamily="34" charset="-122"/>
            </a:rPr>
            <a:t>收到 </a:t>
          </a:r>
          <a:r>
            <a:rPr lang="en-US" altLang="en-US" sz="2400" b="0" dirty="0">
              <a:latin typeface="微软雅黑" panose="020B0503020204020204" pitchFamily="34" charset="-122"/>
              <a:ea typeface="微软雅黑" panose="020B0503020204020204" pitchFamily="34" charset="-122"/>
            </a:rPr>
            <a:t>3 </a:t>
          </a:r>
          <a:r>
            <a:rPr lang="zh-CN" altLang="en-US" sz="2400" b="0" dirty="0">
              <a:latin typeface="微软雅黑" panose="020B0503020204020204" pitchFamily="34" charset="-122"/>
              <a:ea typeface="微软雅黑" panose="020B0503020204020204" pitchFamily="34" charset="-122"/>
            </a:rPr>
            <a:t>个重复的确认</a:t>
          </a:r>
        </a:p>
      </dgm:t>
    </dgm:pt>
    <dgm:pt modelId="{98DB6D87-467D-4D2D-AF82-D4E303370A2F}" type="parTrans" cxnId="{06F307EA-748F-443B-9B61-7B9DD73BB963}">
      <dgm:prSet/>
      <dgm:spPr/>
      <dgm:t>
        <a:bodyPr/>
        <a:lstStyle/>
        <a:p>
          <a:endParaRPr lang="zh-CN" altLang="en-US" sz="1800" b="0">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0">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2400" b="0" dirty="0">
              <a:latin typeface="微软雅黑" panose="020B0503020204020204" pitchFamily="34" charset="-122"/>
              <a:ea typeface="微软雅黑" panose="020B0503020204020204" pitchFamily="34" charset="-122"/>
            </a:rPr>
            <a:t>预示网络可能会出现拥塞。</a:t>
          </a:r>
        </a:p>
      </dgm:t>
    </dgm:pt>
    <dgm:pt modelId="{6383180C-1983-48A1-B1E4-F574E14CDBD1}" type="parTrans" cxnId="{E9F7BDEC-B0B2-4D70-9C76-A3B73A9A92CD}">
      <dgm:prSet/>
      <dgm:spPr/>
      <dgm:t>
        <a:bodyPr/>
        <a:lstStyle/>
        <a:p>
          <a:endParaRPr lang="zh-CN" altLang="en-US" sz="1800" b="0"/>
        </a:p>
      </dgm:t>
    </dgm:pt>
    <dgm:pt modelId="{0F0ABCB1-B289-4DF9-9D7E-62CB7D38863E}" type="sibTrans" cxnId="{E9F7BDEC-B0B2-4D70-9C76-A3B73A9A92CD}">
      <dgm:prSet/>
      <dgm:spPr/>
      <dgm:t>
        <a:bodyPr/>
        <a:lstStyle/>
        <a:p>
          <a:endParaRPr lang="zh-CN" altLang="en-US" sz="1800" b="0"/>
        </a:p>
      </dgm:t>
    </dgm:pt>
    <dgm:pt modelId="{C564FC20-C6E3-4CAE-946B-A83F6E8038BC}" type="pres">
      <dgm:prSet presAssocID="{112BEBDF-C69E-49A9-B731-0929408024D8}" presName="Name0" presStyleCnt="0">
        <dgm:presLayoutVars>
          <dgm:dir/>
          <dgm:animLvl val="lvl"/>
          <dgm:resizeHandles val="exact"/>
        </dgm:presLayoutVars>
      </dgm:prSet>
      <dgm:spPr/>
    </dgm:pt>
    <dgm:pt modelId="{395CF0BF-C9D2-45EE-B71D-7D7ABD3952E9}" type="pres">
      <dgm:prSet presAssocID="{4EE007B2-F612-44FB-B13F-E78B8586155B}" presName="linNode" presStyleCnt="0"/>
      <dgm:spPr/>
    </dgm:pt>
    <dgm:pt modelId="{5ED00335-F589-4BA4-BB17-2781BB242E82}" type="pres">
      <dgm:prSet presAssocID="{4EE007B2-F612-44FB-B13F-E78B8586155B}" presName="parentText" presStyleLbl="node1" presStyleIdx="0" presStyleCnt="2">
        <dgm:presLayoutVars>
          <dgm:chMax val="1"/>
          <dgm:bulletEnabled val="1"/>
        </dgm:presLayoutVars>
      </dgm:prSet>
      <dgm:spPr/>
    </dgm:pt>
    <dgm:pt modelId="{A512784D-6662-4391-87B7-A8A7A5C6CD55}" type="pres">
      <dgm:prSet presAssocID="{4EE007B2-F612-44FB-B13F-E78B8586155B}" presName="descendantText" presStyleLbl="alignAccFollowNode1" presStyleIdx="0" presStyleCnt="2">
        <dgm:presLayoutVars>
          <dgm:bulletEnabled val="1"/>
        </dgm:presLayoutVars>
      </dgm:prSet>
      <dgm:spPr/>
    </dgm:pt>
    <dgm:pt modelId="{A632911B-FCAC-415E-AF61-977E94D9EEE1}" type="pres">
      <dgm:prSet presAssocID="{B73030B4-A5E0-40C1-9AE1-02B25975AA00}" presName="sp" presStyleCnt="0"/>
      <dgm:spPr/>
    </dgm:pt>
    <dgm:pt modelId="{2A5AB3E8-DAF4-4A11-9BC2-049225AF2EEB}" type="pres">
      <dgm:prSet presAssocID="{DACD2956-BF18-4584-AF2D-3FD839777DF7}" presName="linNode" presStyleCnt="0"/>
      <dgm:spPr/>
    </dgm:pt>
    <dgm:pt modelId="{A154C679-5D7E-4C77-AEB3-2EDD606A8CBC}" type="pres">
      <dgm:prSet presAssocID="{DACD2956-BF18-4584-AF2D-3FD839777DF7}" presName="parentText" presStyleLbl="node1" presStyleIdx="1" presStyleCnt="2">
        <dgm:presLayoutVars>
          <dgm:chMax val="1"/>
          <dgm:bulletEnabled val="1"/>
        </dgm:presLayoutVars>
      </dgm:prSet>
      <dgm:spPr/>
    </dgm:pt>
    <dgm:pt modelId="{45B4962A-C5E4-485B-B75C-CD9AAA63DA58}" type="pres">
      <dgm:prSet presAssocID="{DACD2956-BF18-4584-AF2D-3FD839777DF7}" presName="descendantText" presStyleLbl="alignAccFollowNode1" presStyleIdx="1" presStyleCnt="2">
        <dgm:presLayoutVars>
          <dgm:bulletEnabled val="1"/>
        </dgm:presLayoutVars>
      </dgm:prSet>
      <dgm:spPr/>
    </dgm:pt>
  </dgm:ptLst>
  <dgm:cxnLst>
    <dgm:cxn modelId="{1A846D18-8F00-461A-939E-949F0AB8AB06}" srcId="{112BEBDF-C69E-49A9-B731-0929408024D8}" destId="{4EE007B2-F612-44FB-B13F-E78B8586155B}" srcOrd="0" destOrd="0" parTransId="{72B0F351-ECBB-41B6-83F8-2E44095783F4}" sibTransId="{B73030B4-A5E0-40C1-9AE1-02B25975AA00}"/>
    <dgm:cxn modelId="{FA35CF31-4473-4EE2-B5DD-A540C9B99CEB}" type="presOf" srcId="{112BEBDF-C69E-49A9-B731-0929408024D8}" destId="{C564FC20-C6E3-4CAE-946B-A83F6E8038BC}" srcOrd="0" destOrd="0" presId="urn:microsoft.com/office/officeart/2005/8/layout/vList5"/>
    <dgm:cxn modelId="{74E18B3E-A839-4FBD-B46E-F54F7588502B}" srcId="{4EE007B2-F612-44FB-B13F-E78B8586155B}" destId="{710B3081-F341-4301-9185-BE738C183BBB}" srcOrd="0" destOrd="0" parTransId="{B9937F06-A3DB-4499-9BB1-8E62176A896E}" sibTransId="{A8D13681-61CB-42A0-AAD2-CF508B0ED4F0}"/>
    <dgm:cxn modelId="{8EA4B857-75D3-4D56-BC1C-25BFE0E28391}" type="presOf" srcId="{7B38BB22-10D0-455B-AB19-4EC1F24B8A2F}" destId="{45B4962A-C5E4-485B-B75C-CD9AAA63DA58}" srcOrd="0" destOrd="0" presId="urn:microsoft.com/office/officeart/2005/8/layout/vList5"/>
    <dgm:cxn modelId="{A2ACEA76-06A3-4479-A736-4EC1198A69EB}" type="presOf" srcId="{DACD2956-BF18-4584-AF2D-3FD839777DF7}" destId="{A154C679-5D7E-4C77-AEB3-2EDD606A8CBC}" srcOrd="0" destOrd="0" presId="urn:microsoft.com/office/officeart/2005/8/layout/vList5"/>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47F58FEF-09EB-49F5-A456-67A625DBAAA8}" type="presOf" srcId="{710B3081-F341-4301-9185-BE738C183BBB}" destId="{A512784D-6662-4391-87B7-A8A7A5C6CD55}" srcOrd="0" destOrd="0" presId="urn:microsoft.com/office/officeart/2005/8/layout/vList5"/>
    <dgm:cxn modelId="{5485FEFD-C078-4726-933D-5B9B2AE81CDA}" type="presOf" srcId="{4EE007B2-F612-44FB-B13F-E78B8586155B}" destId="{5ED00335-F589-4BA4-BB17-2781BB242E82}" srcOrd="0" destOrd="0" presId="urn:microsoft.com/office/officeart/2005/8/layout/vList5"/>
    <dgm:cxn modelId="{943ABE90-8388-4378-9350-5147907CF0BA}" type="presParOf" srcId="{C564FC20-C6E3-4CAE-946B-A83F6E8038BC}" destId="{395CF0BF-C9D2-45EE-B71D-7D7ABD3952E9}" srcOrd="0" destOrd="0" presId="urn:microsoft.com/office/officeart/2005/8/layout/vList5"/>
    <dgm:cxn modelId="{F76D8D80-C8AF-4238-B3EB-D72698B0E51C}" type="presParOf" srcId="{395CF0BF-C9D2-45EE-B71D-7D7ABD3952E9}" destId="{5ED00335-F589-4BA4-BB17-2781BB242E82}" srcOrd="0" destOrd="0" presId="urn:microsoft.com/office/officeart/2005/8/layout/vList5"/>
    <dgm:cxn modelId="{57DF685F-1B95-439A-AD2F-1D59E380B704}" type="presParOf" srcId="{395CF0BF-C9D2-45EE-B71D-7D7ABD3952E9}" destId="{A512784D-6662-4391-87B7-A8A7A5C6CD55}" srcOrd="1" destOrd="0" presId="urn:microsoft.com/office/officeart/2005/8/layout/vList5"/>
    <dgm:cxn modelId="{2BC3CE4B-EA7E-461A-A3BC-5C58474ECD2E}" type="presParOf" srcId="{C564FC20-C6E3-4CAE-946B-A83F6E8038BC}" destId="{A632911B-FCAC-415E-AF61-977E94D9EEE1}" srcOrd="1" destOrd="0" presId="urn:microsoft.com/office/officeart/2005/8/layout/vList5"/>
    <dgm:cxn modelId="{1DA4CD5D-4525-4911-BC59-649280EAA66F}" type="presParOf" srcId="{C564FC20-C6E3-4CAE-946B-A83F6E8038BC}" destId="{2A5AB3E8-DAF4-4A11-9BC2-049225AF2EEB}" srcOrd="2" destOrd="0" presId="urn:microsoft.com/office/officeart/2005/8/layout/vList5"/>
    <dgm:cxn modelId="{FC41A692-14E7-4095-A2F2-D70B911DD5D8}" type="presParOf" srcId="{2A5AB3E8-DAF4-4A11-9BC2-049225AF2EEB}" destId="{A154C679-5D7E-4C77-AEB3-2EDD606A8CBC}" srcOrd="0" destOrd="0" presId="urn:microsoft.com/office/officeart/2005/8/layout/vList5"/>
    <dgm:cxn modelId="{ABF4989C-6D36-438E-BE49-D45D2E828992}" type="presParOf" srcId="{2A5AB3E8-DAF4-4A11-9BC2-049225AF2EEB}" destId="{45B4962A-C5E4-485B-B75C-CD9AAA63DA5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70DD816-BDFD-458D-8B8B-B2C6B353304A}" type="doc">
      <dgm:prSet loTypeId="urn:microsoft.com/office/officeart/2005/8/layout/vList2" loCatId="list" qsTypeId="urn:microsoft.com/office/officeart/2005/8/quickstyle/simple3" qsCatId="simple" csTypeId="urn:microsoft.com/office/officeart/2005/8/colors/accent1_5" csCatId="accent1" phldr="1"/>
      <dgm:spPr/>
      <dgm:t>
        <a:bodyPr/>
        <a:lstStyle/>
        <a:p>
          <a:endParaRPr lang="zh-CN" altLang="en-US"/>
        </a:p>
      </dgm:t>
    </dgm:pt>
    <dgm:pt modelId="{183C2942-ED0C-4183-B612-698A35B0CCA4}">
      <dgm:prSet phldrT="[文本]" custT="1">
        <dgm:style>
          <a:lnRef idx="1">
            <a:schemeClr val="accent5"/>
          </a:lnRef>
          <a:fillRef idx="2">
            <a:schemeClr val="accent5"/>
          </a:fillRef>
          <a:effectRef idx="1">
            <a:schemeClr val="accent5"/>
          </a:effectRef>
          <a:fontRef idx="minor">
            <a:schemeClr val="dk1"/>
          </a:fontRef>
        </dgm:style>
      </dgm:prSet>
      <dgm:spPr/>
      <dgm:t>
        <a:bodyPr/>
        <a:lstStyle/>
        <a:p>
          <a:r>
            <a:rPr lang="zh-CN" altLang="en-US" sz="1800" b="1" dirty="0">
              <a:latin typeface="微软雅黑" panose="020B0503020204020204" pitchFamily="34" charset="-122"/>
              <a:ea typeface="微软雅黑" panose="020B0503020204020204" pitchFamily="34" charset="-122"/>
            </a:rPr>
            <a:t>拥塞窗口 </a:t>
          </a:r>
          <a:r>
            <a:rPr lang="en-US" altLang="en-US" sz="1800" b="1" dirty="0" err="1">
              <a:latin typeface="微软雅黑" panose="020B0503020204020204" pitchFamily="34" charset="-122"/>
              <a:ea typeface="微软雅黑" panose="020B0503020204020204" pitchFamily="34" charset="-122"/>
            </a:rPr>
            <a:t>cwnd</a:t>
          </a:r>
          <a:endParaRPr lang="zh-CN" altLang="en-US" sz="1800" b="1" dirty="0">
            <a:latin typeface="微软雅黑" panose="020B0503020204020204" pitchFamily="34" charset="-122"/>
            <a:ea typeface="微软雅黑" panose="020B0503020204020204" pitchFamily="34" charset="-122"/>
          </a:endParaRPr>
        </a:p>
      </dgm:t>
    </dgm:pt>
    <dgm:pt modelId="{C104DA9C-0D2E-45D3-B7BE-C412B5DAFD5C}" type="parTrans" cxnId="{1619D295-5227-45B2-9CD0-58B8E026F7F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35729F05-D028-436F-A3D3-A6682A55538D}" type="sibTrans" cxnId="{1619D295-5227-45B2-9CD0-58B8E026F7F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31E54949-960A-477A-8FC3-9C4391417A3F}">
      <dgm:prSet phldrT="[文本]" custT="1"/>
      <dgm:spPr/>
      <dgm:t>
        <a:bodyPr/>
        <a:lstStyle/>
        <a:p>
          <a:pPr>
            <a:lnSpc>
              <a:spcPct val="90000"/>
            </a:lnSpc>
            <a:spcAft>
              <a:spcPct val="20000"/>
            </a:spcAft>
          </a:pPr>
          <a:r>
            <a:rPr lang="zh-CN" altLang="en-US" sz="1800" b="1" dirty="0">
              <a:latin typeface="微软雅黑" panose="020B0503020204020204" pitchFamily="34" charset="-122"/>
              <a:ea typeface="微软雅黑" panose="020B0503020204020204" pitchFamily="34" charset="-122"/>
            </a:rPr>
            <a:t>初始值：</a:t>
          </a:r>
          <a:r>
            <a:rPr lang="en-US" altLang="en-US" sz="1800" b="1" dirty="0">
              <a:latin typeface="微软雅黑" panose="020B0503020204020204" pitchFamily="34" charset="-122"/>
              <a:ea typeface="微软雅黑" panose="020B0503020204020204" pitchFamily="34" charset="-122"/>
            </a:rPr>
            <a:t>2 </a:t>
          </a:r>
          <a:r>
            <a:rPr lang="zh-CN" altLang="en-US" sz="1800" b="1" dirty="0">
              <a:latin typeface="微软雅黑" panose="020B0503020204020204" pitchFamily="34" charset="-122"/>
              <a:ea typeface="微软雅黑" panose="020B0503020204020204" pitchFamily="34" charset="-122"/>
            </a:rPr>
            <a:t>种设置方法。</a:t>
          </a:r>
        </a:p>
      </dgm:t>
    </dgm:pt>
    <dgm:pt modelId="{332F67AE-D9DF-4B9D-8C4A-85EAA0CA9327}" type="parTrans" cxnId="{DD9710E7-9F46-494D-8B58-E16F348257FB}">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84703DF8-717E-4D51-B348-F5DB13D87435}" type="sibTrans" cxnId="{DD9710E7-9F46-494D-8B58-E16F348257FB}">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F0F7EFC8-A225-421F-89B6-3F68CE2853DC}">
      <dgm:prSet phldrT="[文本]" custT="1">
        <dgm:style>
          <a:lnRef idx="1">
            <a:schemeClr val="accent3"/>
          </a:lnRef>
          <a:fillRef idx="2">
            <a:schemeClr val="accent3"/>
          </a:fillRef>
          <a:effectRef idx="1">
            <a:schemeClr val="accent3"/>
          </a:effectRef>
          <a:fontRef idx="minor">
            <a:schemeClr val="dk1"/>
          </a:fontRef>
        </dgm:style>
      </dgm:prSet>
      <dgm:spPr/>
      <dgm:t>
        <a:bodyPr/>
        <a:lstStyle/>
        <a:p>
          <a:r>
            <a:rPr lang="zh-CN" altLang="en-US" sz="1800" b="1" dirty="0">
              <a:latin typeface="微软雅黑" panose="020B0503020204020204" pitchFamily="34" charset="-122"/>
              <a:ea typeface="微软雅黑" panose="020B0503020204020204" pitchFamily="34" charset="-122"/>
            </a:rPr>
            <a:t>慢启动门限 </a:t>
          </a:r>
          <a:r>
            <a:rPr lang="en-US" altLang="en-US" sz="1800" b="1" dirty="0" err="1">
              <a:latin typeface="微软雅黑" panose="020B0503020204020204" pitchFamily="34" charset="-122"/>
              <a:ea typeface="微软雅黑" panose="020B0503020204020204" pitchFamily="34" charset="-122"/>
            </a:rPr>
            <a:t>ssthresh</a:t>
          </a:r>
          <a:endParaRPr lang="zh-CN" altLang="en-US" sz="1800" b="1" dirty="0">
            <a:latin typeface="微软雅黑" panose="020B0503020204020204" pitchFamily="34" charset="-122"/>
            <a:ea typeface="微软雅黑" panose="020B0503020204020204" pitchFamily="34" charset="-122"/>
          </a:endParaRPr>
        </a:p>
      </dgm:t>
    </dgm:pt>
    <dgm:pt modelId="{60B4D278-B7F4-4772-A90A-948C6EAF09CC}" type="parTrans" cxnId="{2EB1029B-F1C5-41D3-8709-900F7E72D61C}">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425F900E-3CBA-46F7-B5CC-1DDB0FC5F957}" type="sibTrans" cxnId="{2EB1029B-F1C5-41D3-8709-900F7E72D61C}">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DF75F5EF-3774-4B9A-AFBA-18481269C53B}">
      <dgm:prSet phldrT="[文本]" custT="1"/>
      <dgm:spPr/>
      <dgm:t>
        <a:bodyPr/>
        <a:lstStyle/>
        <a:p>
          <a:pPr>
            <a:lnSpc>
              <a:spcPct val="90000"/>
            </a:lnSpc>
            <a:spcAft>
              <a:spcPts val="0"/>
            </a:spcAft>
          </a:pPr>
          <a:r>
            <a:rPr lang="zh-CN" altLang="en-US" sz="1800" b="1" dirty="0">
              <a:latin typeface="微软雅黑" panose="020B0503020204020204" pitchFamily="34" charset="-122"/>
              <a:ea typeface="微软雅黑" panose="020B0503020204020204" pitchFamily="34" charset="-122"/>
            </a:rPr>
            <a:t>防止拥塞窗口增长过大引起网络拥塞。</a:t>
          </a:r>
        </a:p>
      </dgm:t>
    </dgm:pt>
    <dgm:pt modelId="{E2409CDF-E3A2-4EDB-B258-A5056E2B2EFE}" type="parTrans" cxnId="{47FC1360-467D-4D53-A7DD-513438872BCE}">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5983E41B-14C1-40CB-A368-FCA23E9040EA}" type="sibTrans" cxnId="{47FC1360-467D-4D53-A7DD-513438872BCE}">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14B2E8A6-D214-46FA-AD27-3B822E40910B}">
      <dgm:prSet custT="1"/>
      <dgm:spPr/>
      <dgm:t>
        <a:bodyPr/>
        <a:lstStyle/>
        <a:p>
          <a:pPr>
            <a:lnSpc>
              <a:spcPct val="50000"/>
            </a:lnSpc>
            <a:spcAft>
              <a:spcPts val="0"/>
            </a:spcAft>
          </a:pPr>
          <a:r>
            <a:rPr lang="en-US" altLang="en-US" sz="1800" b="1" dirty="0">
              <a:latin typeface="微软雅黑" panose="020B0503020204020204" pitchFamily="34" charset="-122"/>
              <a:ea typeface="微软雅黑" panose="020B0503020204020204" pitchFamily="34" charset="-122"/>
            </a:rPr>
            <a:t>1 </a:t>
          </a:r>
          <a:r>
            <a:rPr lang="zh-CN" altLang="en-US" sz="1800" b="1" dirty="0">
              <a:latin typeface="微软雅黑" panose="020B0503020204020204" pitchFamily="34" charset="-122"/>
              <a:ea typeface="微软雅黑" panose="020B0503020204020204" pitchFamily="34" charset="-122"/>
            </a:rPr>
            <a:t>至 </a:t>
          </a:r>
          <a:r>
            <a:rPr lang="en-US" altLang="en-US" sz="1800" b="1" dirty="0">
              <a:latin typeface="微软雅黑" panose="020B0503020204020204" pitchFamily="34" charset="-122"/>
              <a:ea typeface="微软雅黑" panose="020B0503020204020204" pitchFamily="34" charset="-122"/>
            </a:rPr>
            <a:t>2 </a:t>
          </a:r>
          <a:r>
            <a:rPr lang="zh-CN" altLang="en-US" sz="1800" b="1" dirty="0">
              <a:latin typeface="微软雅黑" panose="020B0503020204020204" pitchFamily="34" charset="-122"/>
              <a:ea typeface="微软雅黑" panose="020B0503020204020204" pitchFamily="34" charset="-122"/>
            </a:rPr>
            <a:t>个最大报文段 </a:t>
          </a:r>
          <a:r>
            <a:rPr lang="en-US" altLang="zh-CN" sz="1800" b="1" dirty="0">
              <a:latin typeface="微软雅黑" panose="020B0503020204020204" pitchFamily="34" charset="-122"/>
              <a:ea typeface="微软雅黑" panose="020B0503020204020204" pitchFamily="34" charset="-122"/>
            </a:rPr>
            <a:t>MSS</a:t>
          </a:r>
          <a:r>
            <a:rPr lang="zh-CN" altLang="en-US" sz="1800" b="1" dirty="0">
              <a:latin typeface="微软雅黑" panose="020B0503020204020204" pitchFamily="34" charset="-122"/>
              <a:ea typeface="微软雅黑" panose="020B0503020204020204" pitchFamily="34" charset="-122"/>
            </a:rPr>
            <a:t> （旧标准）</a:t>
          </a:r>
        </a:p>
      </dgm:t>
    </dgm:pt>
    <dgm:pt modelId="{1B082D85-33EF-40ED-91C2-F76833749E13}" type="parTrans" cxnId="{0BD17FD3-9D5E-4909-BA93-14B869C1C3F1}">
      <dgm:prSet/>
      <dgm:spPr/>
      <dgm:t>
        <a:bodyPr/>
        <a:lstStyle/>
        <a:p>
          <a:endParaRPr lang="zh-CN" altLang="en-US" sz="1600"/>
        </a:p>
      </dgm:t>
    </dgm:pt>
    <dgm:pt modelId="{16F4FCE2-3C1A-435F-88E3-1F55DD9134FD}" type="sibTrans" cxnId="{0BD17FD3-9D5E-4909-BA93-14B869C1C3F1}">
      <dgm:prSet/>
      <dgm:spPr/>
      <dgm:t>
        <a:bodyPr/>
        <a:lstStyle/>
        <a:p>
          <a:endParaRPr lang="zh-CN" altLang="en-US" sz="1600"/>
        </a:p>
      </dgm:t>
    </dgm:pt>
    <dgm:pt modelId="{C2FC9CED-CD36-4B24-8E6B-CCDC24506AF1}">
      <dgm:prSet custT="1"/>
      <dgm:spPr/>
      <dgm:t>
        <a:bodyPr/>
        <a:lstStyle/>
        <a:p>
          <a:pPr>
            <a:lnSpc>
              <a:spcPct val="90000"/>
            </a:lnSpc>
            <a:spcAft>
              <a:spcPct val="20000"/>
            </a:spcAft>
          </a:pPr>
          <a:r>
            <a:rPr lang="en-US" altLang="en-US" sz="1800" b="1" dirty="0">
              <a:latin typeface="微软雅黑" panose="020B0503020204020204" pitchFamily="34" charset="-122"/>
              <a:ea typeface="微软雅黑" panose="020B0503020204020204" pitchFamily="34" charset="-122"/>
            </a:rPr>
            <a:t>2 </a:t>
          </a:r>
          <a:r>
            <a:rPr lang="zh-CN" altLang="en-US" sz="1800" b="1" dirty="0">
              <a:latin typeface="微软雅黑" panose="020B0503020204020204" pitchFamily="34" charset="-122"/>
              <a:ea typeface="微软雅黑" panose="020B0503020204020204" pitchFamily="34" charset="-122"/>
            </a:rPr>
            <a:t>至 </a:t>
          </a:r>
          <a:r>
            <a:rPr lang="en-US" altLang="en-US" sz="1800" b="1" dirty="0">
              <a:latin typeface="微软雅黑" panose="020B0503020204020204" pitchFamily="34" charset="-122"/>
              <a:ea typeface="微软雅黑" panose="020B0503020204020204" pitchFamily="34" charset="-122"/>
            </a:rPr>
            <a:t>4 </a:t>
          </a:r>
          <a:r>
            <a:rPr lang="zh-CN" altLang="en-US" sz="1800" b="1" dirty="0">
              <a:latin typeface="微软雅黑" panose="020B0503020204020204" pitchFamily="34" charset="-122"/>
              <a:ea typeface="微软雅黑" panose="020B0503020204020204" pitchFamily="34" charset="-122"/>
            </a:rPr>
            <a:t>个最大报文段 </a:t>
          </a:r>
          <a:r>
            <a:rPr lang="en-US" altLang="zh-CN" sz="1800" b="1" dirty="0">
              <a:latin typeface="微软雅黑" panose="020B0503020204020204" pitchFamily="34" charset="-122"/>
              <a:ea typeface="微软雅黑" panose="020B0503020204020204" pitchFamily="34" charset="-122"/>
            </a:rPr>
            <a:t>MSS</a:t>
          </a:r>
          <a:r>
            <a:rPr lang="zh-CN" altLang="en-US" sz="1800" b="1" dirty="0">
              <a:latin typeface="微软雅黑" panose="020B0503020204020204" pitchFamily="34" charset="-122"/>
              <a:ea typeface="微软雅黑" panose="020B0503020204020204" pitchFamily="34" charset="-122"/>
            </a:rPr>
            <a:t>（</a:t>
          </a:r>
          <a:r>
            <a:rPr lang="en-US" altLang="en-US" sz="1800" b="1" dirty="0">
              <a:latin typeface="微软雅黑" panose="020B0503020204020204" pitchFamily="34" charset="-122"/>
              <a:ea typeface="微软雅黑" panose="020B0503020204020204" pitchFamily="34" charset="-122"/>
            </a:rPr>
            <a:t>RFC 5681</a:t>
          </a:r>
          <a:r>
            <a:rPr lang="zh-CN" altLang="en-US" sz="1800" b="1" dirty="0">
              <a:latin typeface="微软雅黑" panose="020B0503020204020204" pitchFamily="34" charset="-122"/>
              <a:ea typeface="微软雅黑" panose="020B0503020204020204" pitchFamily="34" charset="-122"/>
            </a:rPr>
            <a:t>）</a:t>
          </a:r>
        </a:p>
      </dgm:t>
    </dgm:pt>
    <dgm:pt modelId="{3F9BB3B8-6AD6-495D-B7BE-D5916872277B}" type="parTrans" cxnId="{0827BB40-965E-46D8-89C0-C54BA1352446}">
      <dgm:prSet/>
      <dgm:spPr/>
      <dgm:t>
        <a:bodyPr/>
        <a:lstStyle/>
        <a:p>
          <a:endParaRPr lang="zh-CN" altLang="en-US" sz="1600"/>
        </a:p>
      </dgm:t>
    </dgm:pt>
    <dgm:pt modelId="{1A7711CA-6279-42ED-97E0-91C0434960FC}" type="sibTrans" cxnId="{0827BB40-965E-46D8-89C0-C54BA1352446}">
      <dgm:prSet/>
      <dgm:spPr/>
      <dgm:t>
        <a:bodyPr/>
        <a:lstStyle/>
        <a:p>
          <a:endParaRPr lang="zh-CN" altLang="en-US" sz="1600"/>
        </a:p>
      </dgm:t>
    </dgm:pt>
    <dgm:pt modelId="{8771C144-2922-4340-B073-BA112563706F}" type="pres">
      <dgm:prSet presAssocID="{570DD816-BDFD-458D-8B8B-B2C6B353304A}" presName="linear" presStyleCnt="0">
        <dgm:presLayoutVars>
          <dgm:animLvl val="lvl"/>
          <dgm:resizeHandles val="exact"/>
        </dgm:presLayoutVars>
      </dgm:prSet>
      <dgm:spPr/>
    </dgm:pt>
    <dgm:pt modelId="{177F862E-94BD-4785-B015-5AD165AECE92}" type="pres">
      <dgm:prSet presAssocID="{183C2942-ED0C-4183-B612-698A35B0CCA4}" presName="parentText" presStyleLbl="node1" presStyleIdx="0" presStyleCnt="2" custLinFactNeighborX="1399" custLinFactNeighborY="-10983">
        <dgm:presLayoutVars>
          <dgm:chMax val="0"/>
          <dgm:bulletEnabled val="1"/>
        </dgm:presLayoutVars>
      </dgm:prSet>
      <dgm:spPr/>
    </dgm:pt>
    <dgm:pt modelId="{52E83724-B715-4079-82F3-6EDE3B6F4C27}" type="pres">
      <dgm:prSet presAssocID="{183C2942-ED0C-4183-B612-698A35B0CCA4}" presName="childText" presStyleLbl="revTx" presStyleIdx="0" presStyleCnt="2">
        <dgm:presLayoutVars>
          <dgm:bulletEnabled val="1"/>
        </dgm:presLayoutVars>
      </dgm:prSet>
      <dgm:spPr/>
    </dgm:pt>
    <dgm:pt modelId="{0ACFF9AA-D159-4169-9A52-90FB187B15AF}" type="pres">
      <dgm:prSet presAssocID="{F0F7EFC8-A225-421F-89B6-3F68CE2853DC}" presName="parentText" presStyleLbl="node1" presStyleIdx="1" presStyleCnt="2">
        <dgm:presLayoutVars>
          <dgm:chMax val="0"/>
          <dgm:bulletEnabled val="1"/>
        </dgm:presLayoutVars>
      </dgm:prSet>
      <dgm:spPr/>
    </dgm:pt>
    <dgm:pt modelId="{A5F6C106-6A44-408A-BCD6-9853C05BAD0C}" type="pres">
      <dgm:prSet presAssocID="{F0F7EFC8-A225-421F-89B6-3F68CE2853DC}" presName="childText" presStyleLbl="revTx" presStyleIdx="1" presStyleCnt="2">
        <dgm:presLayoutVars>
          <dgm:bulletEnabled val="1"/>
        </dgm:presLayoutVars>
      </dgm:prSet>
      <dgm:spPr/>
    </dgm:pt>
  </dgm:ptLst>
  <dgm:cxnLst>
    <dgm:cxn modelId="{26D16311-116A-45C2-8DF1-F3652376DEED}" type="presOf" srcId="{C2FC9CED-CD36-4B24-8E6B-CCDC24506AF1}" destId="{52E83724-B715-4079-82F3-6EDE3B6F4C27}" srcOrd="0" destOrd="2" presId="urn:microsoft.com/office/officeart/2005/8/layout/vList2"/>
    <dgm:cxn modelId="{23ABEE13-5FDB-4329-9238-15FC3CC1CA17}" type="presOf" srcId="{570DD816-BDFD-458D-8B8B-B2C6B353304A}" destId="{8771C144-2922-4340-B073-BA112563706F}" srcOrd="0" destOrd="0" presId="urn:microsoft.com/office/officeart/2005/8/layout/vList2"/>
    <dgm:cxn modelId="{93F6F233-4B48-44EC-9D05-71B537AF7567}" type="presOf" srcId="{183C2942-ED0C-4183-B612-698A35B0CCA4}" destId="{177F862E-94BD-4785-B015-5AD165AECE92}" srcOrd="0" destOrd="0" presId="urn:microsoft.com/office/officeart/2005/8/layout/vList2"/>
    <dgm:cxn modelId="{0827BB40-965E-46D8-89C0-C54BA1352446}" srcId="{31E54949-960A-477A-8FC3-9C4391417A3F}" destId="{C2FC9CED-CD36-4B24-8E6B-CCDC24506AF1}" srcOrd="1" destOrd="0" parTransId="{3F9BB3B8-6AD6-495D-B7BE-D5916872277B}" sibTransId="{1A7711CA-6279-42ED-97E0-91C0434960FC}"/>
    <dgm:cxn modelId="{47FC1360-467D-4D53-A7DD-513438872BCE}" srcId="{F0F7EFC8-A225-421F-89B6-3F68CE2853DC}" destId="{DF75F5EF-3774-4B9A-AFBA-18481269C53B}" srcOrd="0" destOrd="0" parTransId="{E2409CDF-E3A2-4EDB-B258-A5056E2B2EFE}" sibTransId="{5983E41B-14C1-40CB-A368-FCA23E9040EA}"/>
    <dgm:cxn modelId="{46FC167E-80D3-45AC-AA95-769099E32FC3}" type="presOf" srcId="{DF75F5EF-3774-4B9A-AFBA-18481269C53B}" destId="{A5F6C106-6A44-408A-BCD6-9853C05BAD0C}" srcOrd="0" destOrd="0" presId="urn:microsoft.com/office/officeart/2005/8/layout/vList2"/>
    <dgm:cxn modelId="{0FF1F087-9483-4C28-830D-590CFCC3C091}" type="presOf" srcId="{31E54949-960A-477A-8FC3-9C4391417A3F}" destId="{52E83724-B715-4079-82F3-6EDE3B6F4C27}" srcOrd="0" destOrd="0" presId="urn:microsoft.com/office/officeart/2005/8/layout/vList2"/>
    <dgm:cxn modelId="{1619D295-5227-45B2-9CD0-58B8E026F7F4}" srcId="{570DD816-BDFD-458D-8B8B-B2C6B353304A}" destId="{183C2942-ED0C-4183-B612-698A35B0CCA4}" srcOrd="0" destOrd="0" parTransId="{C104DA9C-0D2E-45D3-B7BE-C412B5DAFD5C}" sibTransId="{35729F05-D028-436F-A3D3-A6682A55538D}"/>
    <dgm:cxn modelId="{2EB1029B-F1C5-41D3-8709-900F7E72D61C}" srcId="{570DD816-BDFD-458D-8B8B-B2C6B353304A}" destId="{F0F7EFC8-A225-421F-89B6-3F68CE2853DC}" srcOrd="1" destOrd="0" parTransId="{60B4D278-B7F4-4772-A90A-948C6EAF09CC}" sibTransId="{425F900E-3CBA-46F7-B5CC-1DDB0FC5F957}"/>
    <dgm:cxn modelId="{E2F253CE-A0E4-4FFD-AD75-D8D3DA5EF6F8}" type="presOf" srcId="{F0F7EFC8-A225-421F-89B6-3F68CE2853DC}" destId="{0ACFF9AA-D159-4169-9A52-90FB187B15AF}" srcOrd="0" destOrd="0" presId="urn:microsoft.com/office/officeart/2005/8/layout/vList2"/>
    <dgm:cxn modelId="{0BD17FD3-9D5E-4909-BA93-14B869C1C3F1}" srcId="{31E54949-960A-477A-8FC3-9C4391417A3F}" destId="{14B2E8A6-D214-46FA-AD27-3B822E40910B}" srcOrd="0" destOrd="0" parTransId="{1B082D85-33EF-40ED-91C2-F76833749E13}" sibTransId="{16F4FCE2-3C1A-435F-88E3-1F55DD9134FD}"/>
    <dgm:cxn modelId="{F7C5FDDD-1BC4-45F1-B3E0-497F997D88C3}" type="presOf" srcId="{14B2E8A6-D214-46FA-AD27-3B822E40910B}" destId="{52E83724-B715-4079-82F3-6EDE3B6F4C27}" srcOrd="0" destOrd="1" presId="urn:microsoft.com/office/officeart/2005/8/layout/vList2"/>
    <dgm:cxn modelId="{DD9710E7-9F46-494D-8B58-E16F348257FB}" srcId="{183C2942-ED0C-4183-B612-698A35B0CCA4}" destId="{31E54949-960A-477A-8FC3-9C4391417A3F}" srcOrd="0" destOrd="0" parTransId="{332F67AE-D9DF-4B9D-8C4A-85EAA0CA9327}" sibTransId="{84703DF8-717E-4D51-B348-F5DB13D87435}"/>
    <dgm:cxn modelId="{DDCE9859-CB55-4C6F-BC3C-936DA78BF604}" type="presParOf" srcId="{8771C144-2922-4340-B073-BA112563706F}" destId="{177F862E-94BD-4785-B015-5AD165AECE92}" srcOrd="0" destOrd="0" presId="urn:microsoft.com/office/officeart/2005/8/layout/vList2"/>
    <dgm:cxn modelId="{62032D61-96D3-4477-A4D1-AE5F9516B8C4}" type="presParOf" srcId="{8771C144-2922-4340-B073-BA112563706F}" destId="{52E83724-B715-4079-82F3-6EDE3B6F4C27}" srcOrd="1" destOrd="0" presId="urn:microsoft.com/office/officeart/2005/8/layout/vList2"/>
    <dgm:cxn modelId="{462A4AF1-F801-4D89-824E-739DAD86C36B}" type="presParOf" srcId="{8771C144-2922-4340-B073-BA112563706F}" destId="{0ACFF9AA-D159-4169-9A52-90FB187B15AF}" srcOrd="2" destOrd="0" presId="urn:microsoft.com/office/officeart/2005/8/layout/vList2"/>
    <dgm:cxn modelId="{3A56FBCC-C4EF-47CC-BB4E-66D698C8F98C}" type="presParOf" srcId="{8771C144-2922-4340-B073-BA112563706F}" destId="{A5F6C106-6A44-408A-BCD6-9853C05BAD0C}"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12BEBDF-C69E-49A9-B731-0929408024D8}"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zh-CN" altLang="en-US"/>
        </a:p>
      </dgm:t>
    </dgm:pt>
    <dgm:pt modelId="{4EE007B2-F612-44FB-B13F-E78B8586155B}">
      <dgm:prSet phldrT="[文本]" custT="1">
        <dgm:style>
          <a:lnRef idx="2">
            <a:schemeClr val="accent1">
              <a:shade val="15000"/>
            </a:schemeClr>
          </a:lnRef>
          <a:fillRef idx="1">
            <a:schemeClr val="accent1"/>
          </a:fillRef>
          <a:effectRef idx="0">
            <a:schemeClr val="accent1"/>
          </a:effectRef>
          <a:fontRef idx="minor">
            <a:schemeClr val="lt1"/>
          </a:fontRef>
        </dgm:style>
      </dgm:prSet>
      <dgm:spPr>
        <a:xfrm>
          <a:off x="34" y="7711"/>
          <a:ext cx="3322842" cy="604800"/>
        </a:xfrm>
        <a:prstGeom prst="rect">
          <a:avLst/>
        </a:prstGeom>
        <a:ln/>
      </dgm:spPr>
      <dgm:t>
        <a:bodyPr/>
        <a:lstStyle/>
        <a:p>
          <a:pPr>
            <a:buNone/>
          </a:pPr>
          <a:r>
            <a:rPr lang="en-US" altLang="en-US" sz="2000" b="1" dirty="0">
              <a:solidFill>
                <a:sysClr val="window" lastClr="FFFFFF"/>
              </a:solidFill>
              <a:latin typeface="微软雅黑" panose="020B0503020204020204" pitchFamily="34" charset="-122"/>
              <a:ea typeface="微软雅黑" panose="020B0503020204020204" pitchFamily="34" charset="-122"/>
              <a:cs typeface="+mn-cs"/>
            </a:rPr>
            <a:t>TCP Reno</a:t>
          </a:r>
          <a:endParaRPr lang="zh-CN" altLang="en-US" sz="2000" b="1" dirty="0">
            <a:solidFill>
              <a:sysClr val="window" lastClr="FFFFFF"/>
            </a:solidFill>
            <a:latin typeface="微软雅黑" panose="020B0503020204020204" pitchFamily="34" charset="-122"/>
            <a:ea typeface="微软雅黑" panose="020B0503020204020204" pitchFamily="34" charset="-122"/>
            <a:cs typeface="+mn-cs"/>
          </a:endParaRPr>
        </a:p>
      </dgm:t>
    </dgm:pt>
    <dgm:pt modelId="{72B0F351-ECBB-41B6-83F8-2E44095783F4}" type="par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tyle>
          <a:lnRef idx="2">
            <a:schemeClr val="accent1"/>
          </a:lnRef>
          <a:fillRef idx="1">
            <a:schemeClr val="lt1"/>
          </a:fillRef>
          <a:effectRef idx="0">
            <a:schemeClr val="accent1"/>
          </a:effectRef>
          <a:fontRef idx="minor">
            <a:schemeClr val="dk1"/>
          </a:fontRef>
        </dgm:style>
      </dgm:prSet>
      <dgm:spPr>
        <a:xfrm>
          <a:off x="34" y="612511"/>
          <a:ext cx="3322842" cy="2824605"/>
        </a:xfrm>
        <a:prstGeom prst="rect">
          <a:avLst/>
        </a:prstGeom>
        <a:ln/>
      </dgm:spPr>
      <dgm:t>
        <a:bodyPr/>
        <a:lstStyle/>
        <a:p>
          <a:pPr>
            <a:buChar char="•"/>
          </a:pPr>
          <a:r>
            <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吞吐量稳定但偏低</a:t>
          </a:r>
        </a:p>
      </dgm:t>
    </dgm:pt>
    <dgm:pt modelId="{B9937F06-A3DB-4499-9BB1-8E62176A896E}" type="par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tyle>
          <a:lnRef idx="2">
            <a:schemeClr val="accent4">
              <a:shade val="15000"/>
            </a:schemeClr>
          </a:lnRef>
          <a:fillRef idx="1">
            <a:schemeClr val="accent4"/>
          </a:fillRef>
          <a:effectRef idx="0">
            <a:schemeClr val="accent4"/>
          </a:effectRef>
          <a:fontRef idx="minor">
            <a:schemeClr val="lt1"/>
          </a:fontRef>
        </dgm:style>
      </dgm:prSet>
      <dgm:spPr>
        <a:xfrm>
          <a:off x="3788074" y="7711"/>
          <a:ext cx="3322842" cy="604800"/>
        </a:xfrm>
        <a:prstGeom prst="rect">
          <a:avLst/>
        </a:prstGeom>
        <a:ln/>
      </dgm:spPr>
      <dgm:t>
        <a:bodyPr/>
        <a:lstStyle/>
        <a:p>
          <a:pPr>
            <a:buNone/>
          </a:pPr>
          <a:r>
            <a:rPr lang="en-US" altLang="en-US" sz="2000" b="1" dirty="0">
              <a:solidFill>
                <a:sysClr val="window" lastClr="FFFFFF"/>
              </a:solidFill>
              <a:latin typeface="微软雅黑" panose="020B0503020204020204" pitchFamily="34" charset="-122"/>
              <a:ea typeface="微软雅黑" panose="020B0503020204020204" pitchFamily="34" charset="-122"/>
              <a:cs typeface="+mn-cs"/>
            </a:rPr>
            <a:t>TCP Vegas</a:t>
          </a:r>
          <a:endParaRPr lang="zh-CN" altLang="en-US" sz="2000" b="1" dirty="0">
            <a:solidFill>
              <a:sysClr val="window" lastClr="FFFFFF"/>
            </a:solidFill>
            <a:latin typeface="微软雅黑" panose="020B0503020204020204" pitchFamily="34" charset="-122"/>
            <a:ea typeface="微软雅黑" panose="020B0503020204020204" pitchFamily="34" charset="-122"/>
            <a:cs typeface="+mn-cs"/>
          </a:endParaRPr>
        </a:p>
      </dgm:t>
    </dgm:pt>
    <dgm:pt modelId="{98DB6D87-467D-4D2D-AF82-D4E303370A2F}" type="par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tyle>
          <a:lnRef idx="2">
            <a:schemeClr val="accent6"/>
          </a:lnRef>
          <a:fillRef idx="1">
            <a:schemeClr val="lt1"/>
          </a:fillRef>
          <a:effectRef idx="0">
            <a:schemeClr val="accent6"/>
          </a:effectRef>
          <a:fontRef idx="minor">
            <a:schemeClr val="dk1"/>
          </a:fontRef>
        </dgm:style>
      </dgm:prSet>
      <dgm:spPr>
        <a:xfrm>
          <a:off x="3788074" y="612511"/>
          <a:ext cx="3322842" cy="2824605"/>
        </a:xfrm>
        <a:prstGeom prst="rect">
          <a:avLst/>
        </a:prstGeom>
        <a:ln/>
      </dgm:spPr>
      <dgm:t>
        <a:bodyPr/>
        <a:lstStyle/>
        <a:p>
          <a:pPr>
            <a:buChar char="•"/>
          </a:pPr>
          <a:r>
            <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吞吐量高效但需稳定 </a:t>
          </a:r>
          <a:r>
            <a:rPr lang="en-US"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RTT</a:t>
          </a:r>
          <a:endPar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endParaRPr>
        </a:p>
      </dgm:t>
    </dgm:pt>
    <dgm:pt modelId="{6383180C-1983-48A1-B1E4-F574E14CDBD1}" type="parTrans" cxnId="{E9F7BDEC-B0B2-4D70-9C76-A3B73A9A92CD}">
      <dgm:prSet/>
      <dgm:spPr/>
      <dgm:t>
        <a:bodyPr/>
        <a:lstStyle/>
        <a:p>
          <a:endParaRPr lang="zh-CN" altLang="en-US"/>
        </a:p>
      </dgm:t>
    </dgm:pt>
    <dgm:pt modelId="{0F0ABCB1-B289-4DF9-9D7E-62CB7D38863E}" type="sibTrans" cxnId="{E9F7BDEC-B0B2-4D70-9C76-A3B73A9A92CD}">
      <dgm:prSet/>
      <dgm:spPr/>
      <dgm:t>
        <a:bodyPr/>
        <a:lstStyle/>
        <a:p>
          <a:endParaRPr lang="zh-CN" altLang="en-US"/>
        </a:p>
      </dgm:t>
    </dgm:pt>
    <dgm:pt modelId="{B1B5B5B7-E282-447F-9D99-ED7792EFEBD9}">
      <dgm:prSet phldrT="[文本]" custT="1">
        <dgm:style>
          <a:lnRef idx="2">
            <a:schemeClr val="accent1"/>
          </a:lnRef>
          <a:fillRef idx="1">
            <a:schemeClr val="lt1"/>
          </a:fillRef>
          <a:effectRef idx="0">
            <a:schemeClr val="accent1"/>
          </a:effectRef>
          <a:fontRef idx="minor">
            <a:schemeClr val="dk1"/>
          </a:fontRef>
        </dgm:style>
      </dgm:prSet>
      <dgm:spPr>
        <a:xfrm>
          <a:off x="34" y="612511"/>
          <a:ext cx="3322842" cy="2824605"/>
        </a:xfrm>
        <a:ln/>
      </dgm:spPr>
      <dgm:t>
        <a:bodyPr/>
        <a:lstStyle/>
        <a:p>
          <a:pPr>
            <a:buChar char="•"/>
          </a:pPr>
          <a:r>
            <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时延敏感性：容易积压队列，时延波动大</a:t>
          </a:r>
        </a:p>
      </dgm:t>
    </dgm:pt>
    <dgm:pt modelId="{CE8A939A-5864-488B-AA30-20294257558F}" type="parTrans" cxnId="{92D869E2-337C-47C7-AE54-C0DDA223E768}">
      <dgm:prSet/>
      <dgm:spPr/>
      <dgm:t>
        <a:bodyPr/>
        <a:lstStyle/>
        <a:p>
          <a:endParaRPr lang="zh-CN" altLang="en-US"/>
        </a:p>
      </dgm:t>
    </dgm:pt>
    <dgm:pt modelId="{ECA0003C-87B8-41DB-A2C5-F6DA6AEB6FFB}" type="sibTrans" cxnId="{92D869E2-337C-47C7-AE54-C0DDA223E768}">
      <dgm:prSet/>
      <dgm:spPr/>
      <dgm:t>
        <a:bodyPr/>
        <a:lstStyle/>
        <a:p>
          <a:endParaRPr lang="zh-CN" altLang="en-US"/>
        </a:p>
      </dgm:t>
    </dgm:pt>
    <dgm:pt modelId="{0BD52C96-7A48-4E1C-9DA4-74E271529F02}">
      <dgm:prSet phldrT="[文本]" custT="1">
        <dgm:style>
          <a:lnRef idx="2">
            <a:schemeClr val="accent6"/>
          </a:lnRef>
          <a:fillRef idx="1">
            <a:schemeClr val="lt1"/>
          </a:fillRef>
          <a:effectRef idx="0">
            <a:schemeClr val="accent6"/>
          </a:effectRef>
          <a:fontRef idx="minor">
            <a:schemeClr val="dk1"/>
          </a:fontRef>
        </dgm:style>
      </dgm:prSet>
      <dgm:spPr>
        <a:xfrm>
          <a:off x="3788074" y="612511"/>
          <a:ext cx="3322842" cy="2824605"/>
        </a:xfrm>
        <a:ln/>
      </dgm:spPr>
      <dgm:t>
        <a:bodyPr/>
        <a:lstStyle/>
        <a:p>
          <a:pPr>
            <a:buChar char="•"/>
          </a:pPr>
          <a:r>
            <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时延敏感性：控制精准，时延更低</a:t>
          </a:r>
        </a:p>
      </dgm:t>
    </dgm:pt>
    <dgm:pt modelId="{9AC29A96-C030-4E32-AC00-886710390E71}" type="parTrans" cxnId="{584130F4-982F-4011-9841-84BA55BA8E70}">
      <dgm:prSet/>
      <dgm:spPr/>
      <dgm:t>
        <a:bodyPr/>
        <a:lstStyle/>
        <a:p>
          <a:endParaRPr lang="zh-CN" altLang="en-US"/>
        </a:p>
      </dgm:t>
    </dgm:pt>
    <dgm:pt modelId="{97CFFC7D-0E72-4474-AB80-76CBB1A60A17}" type="sibTrans" cxnId="{584130F4-982F-4011-9841-84BA55BA8E70}">
      <dgm:prSet/>
      <dgm:spPr/>
      <dgm:t>
        <a:bodyPr/>
        <a:lstStyle/>
        <a:p>
          <a:endParaRPr lang="zh-CN" altLang="en-US"/>
        </a:p>
      </dgm:t>
    </dgm:pt>
    <dgm:pt modelId="{71C9EB7F-B8DE-4708-BB8D-2778C81550F9}">
      <dgm:prSet phldrT="[文本]" custT="1">
        <dgm:style>
          <a:lnRef idx="2">
            <a:schemeClr val="accent1"/>
          </a:lnRef>
          <a:fillRef idx="1">
            <a:schemeClr val="lt1"/>
          </a:fillRef>
          <a:effectRef idx="0">
            <a:schemeClr val="accent1"/>
          </a:effectRef>
          <a:fontRef idx="minor">
            <a:schemeClr val="dk1"/>
          </a:fontRef>
        </dgm:style>
      </dgm:prSet>
      <dgm:spPr>
        <a:xfrm>
          <a:off x="34" y="612511"/>
          <a:ext cx="3322842" cy="2824605"/>
        </a:xfrm>
        <a:ln/>
      </dgm:spPr>
      <dgm:t>
        <a:bodyPr/>
        <a:lstStyle/>
        <a:p>
          <a:pPr>
            <a:buChar char="•"/>
          </a:pPr>
          <a:r>
            <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公平性：偏向短 </a:t>
          </a:r>
          <a:r>
            <a:rPr lang="en-US"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RTT </a:t>
          </a:r>
          <a:r>
            <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流</a:t>
          </a:r>
        </a:p>
      </dgm:t>
    </dgm:pt>
    <dgm:pt modelId="{EAB370FF-FEAE-422B-AE0A-C37F7DCF23F8}" type="parTrans" cxnId="{5E558FC8-7F95-42C0-8FF3-5C620CCE087E}">
      <dgm:prSet/>
      <dgm:spPr/>
      <dgm:t>
        <a:bodyPr/>
        <a:lstStyle/>
        <a:p>
          <a:endParaRPr lang="zh-CN" altLang="en-US"/>
        </a:p>
      </dgm:t>
    </dgm:pt>
    <dgm:pt modelId="{96F8BEDC-E2FD-4B74-B0BC-11F6DC341FDB}" type="sibTrans" cxnId="{5E558FC8-7F95-42C0-8FF3-5C620CCE087E}">
      <dgm:prSet/>
      <dgm:spPr/>
      <dgm:t>
        <a:bodyPr/>
        <a:lstStyle/>
        <a:p>
          <a:endParaRPr lang="zh-CN" altLang="en-US"/>
        </a:p>
      </dgm:t>
    </dgm:pt>
    <dgm:pt modelId="{0E18CED0-CCE0-44AE-B873-D3A944874C9D}">
      <dgm:prSet phldrT="[文本]" custT="1">
        <dgm:style>
          <a:lnRef idx="2">
            <a:schemeClr val="accent6"/>
          </a:lnRef>
          <a:fillRef idx="1">
            <a:schemeClr val="lt1"/>
          </a:fillRef>
          <a:effectRef idx="0">
            <a:schemeClr val="accent6"/>
          </a:effectRef>
          <a:fontRef idx="minor">
            <a:schemeClr val="dk1"/>
          </a:fontRef>
        </dgm:style>
      </dgm:prSet>
      <dgm:spPr>
        <a:xfrm>
          <a:off x="3788074" y="612511"/>
          <a:ext cx="3322842" cy="2824605"/>
        </a:xfrm>
        <a:ln/>
      </dgm:spPr>
      <dgm:t>
        <a:bodyPr/>
        <a:lstStyle/>
        <a:p>
          <a:pPr>
            <a:buChar char="•"/>
          </a:pPr>
          <a:r>
            <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公平性：更公平，但依赖准确 </a:t>
          </a:r>
          <a:r>
            <a:rPr lang="en-US"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RTT </a:t>
          </a:r>
          <a:r>
            <a:rPr lang="zh-CN" altLang="en-US" sz="2000" b="1"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测量</a:t>
          </a:r>
        </a:p>
      </dgm:t>
    </dgm:pt>
    <dgm:pt modelId="{CA99669B-0BC9-4DDA-9FC0-9F40F4CA119E}" type="parTrans" cxnId="{27C58AC3-F6E1-4B42-87D8-CF381751C47E}">
      <dgm:prSet/>
      <dgm:spPr/>
      <dgm:t>
        <a:bodyPr/>
        <a:lstStyle/>
        <a:p>
          <a:endParaRPr lang="zh-CN" altLang="en-US"/>
        </a:p>
      </dgm:t>
    </dgm:pt>
    <dgm:pt modelId="{D349C273-4F2F-4400-AC4D-AB61D3A2F477}" type="sibTrans" cxnId="{27C58AC3-F6E1-4B42-87D8-CF381751C47E}">
      <dgm:prSet/>
      <dgm:spPr/>
      <dgm:t>
        <a:bodyPr/>
        <a:lstStyle/>
        <a:p>
          <a:endParaRPr lang="zh-CN" altLang="en-US"/>
        </a:p>
      </dgm:t>
    </dgm:pt>
    <dgm:pt modelId="{74DCD11F-98DA-4BA1-A4EB-9AB34E9C3C9D}" type="pres">
      <dgm:prSet presAssocID="{112BEBDF-C69E-49A9-B731-0929408024D8}" presName="Name0" presStyleCnt="0">
        <dgm:presLayoutVars>
          <dgm:dir/>
          <dgm:animLvl val="lvl"/>
          <dgm:resizeHandles val="exact"/>
        </dgm:presLayoutVars>
      </dgm:prSet>
      <dgm:spPr/>
    </dgm:pt>
    <dgm:pt modelId="{9AD73B97-8ACA-4262-93A6-3717227818DB}" type="pres">
      <dgm:prSet presAssocID="{4EE007B2-F612-44FB-B13F-E78B8586155B}" presName="composite" presStyleCnt="0"/>
      <dgm:spPr/>
    </dgm:pt>
    <dgm:pt modelId="{14B10E15-5814-42D3-93FB-FED52DF5F41F}" type="pres">
      <dgm:prSet presAssocID="{4EE007B2-F612-44FB-B13F-E78B8586155B}" presName="parTx" presStyleLbl="alignNode1" presStyleIdx="0" presStyleCnt="2">
        <dgm:presLayoutVars>
          <dgm:chMax val="0"/>
          <dgm:chPref val="0"/>
          <dgm:bulletEnabled val="1"/>
        </dgm:presLayoutVars>
      </dgm:prSet>
      <dgm:spPr/>
    </dgm:pt>
    <dgm:pt modelId="{72C5BA33-78B4-45DE-B9CA-22A272DDBE2C}" type="pres">
      <dgm:prSet presAssocID="{4EE007B2-F612-44FB-B13F-E78B8586155B}" presName="desTx" presStyleLbl="alignAccFollowNode1" presStyleIdx="0" presStyleCnt="2">
        <dgm:presLayoutVars>
          <dgm:bulletEnabled val="1"/>
        </dgm:presLayoutVars>
      </dgm:prSet>
      <dgm:spPr>
        <a:prstGeom prst="rect">
          <a:avLst/>
        </a:prstGeom>
      </dgm:spPr>
    </dgm:pt>
    <dgm:pt modelId="{DC394C6D-CF2B-4266-B39A-654D1A34AF80}" type="pres">
      <dgm:prSet presAssocID="{B73030B4-A5E0-40C1-9AE1-02B25975AA00}" presName="space" presStyleCnt="0"/>
      <dgm:spPr/>
    </dgm:pt>
    <dgm:pt modelId="{7FE4DA29-AAF2-4F50-871A-FAE73406F695}" type="pres">
      <dgm:prSet presAssocID="{DACD2956-BF18-4584-AF2D-3FD839777DF7}" presName="composite" presStyleCnt="0"/>
      <dgm:spPr/>
    </dgm:pt>
    <dgm:pt modelId="{3ACFDD6B-963A-45AA-AED6-29B2C66DA9EB}" type="pres">
      <dgm:prSet presAssocID="{DACD2956-BF18-4584-AF2D-3FD839777DF7}" presName="parTx" presStyleLbl="alignNode1" presStyleIdx="1" presStyleCnt="2">
        <dgm:presLayoutVars>
          <dgm:chMax val="0"/>
          <dgm:chPref val="0"/>
          <dgm:bulletEnabled val="1"/>
        </dgm:presLayoutVars>
      </dgm:prSet>
      <dgm:spPr/>
    </dgm:pt>
    <dgm:pt modelId="{AAB91EAD-75AE-4168-8A7F-B7A023AD8367}" type="pres">
      <dgm:prSet presAssocID="{DACD2956-BF18-4584-AF2D-3FD839777DF7}" presName="desTx" presStyleLbl="alignAccFollowNode1" presStyleIdx="1" presStyleCnt="2">
        <dgm:presLayoutVars>
          <dgm:bulletEnabled val="1"/>
        </dgm:presLayoutVars>
      </dgm:prSet>
      <dgm:spPr>
        <a:prstGeom prst="rect">
          <a:avLst/>
        </a:prstGeom>
      </dgm:spPr>
    </dgm:pt>
  </dgm:ptLst>
  <dgm:cxnLst>
    <dgm:cxn modelId="{F55A4B15-6AD8-4C94-BB65-229D23BC5D43}" type="presOf" srcId="{71C9EB7F-B8DE-4708-BB8D-2778C81550F9}" destId="{72C5BA33-78B4-45DE-B9CA-22A272DDBE2C}" srcOrd="0" destOrd="2" presId="urn:microsoft.com/office/officeart/2005/8/layout/hList1"/>
    <dgm:cxn modelId="{1A846D18-8F00-461A-939E-949F0AB8AB06}" srcId="{112BEBDF-C69E-49A9-B731-0929408024D8}" destId="{4EE007B2-F612-44FB-B13F-E78B8586155B}" srcOrd="0" destOrd="0" parTransId="{72B0F351-ECBB-41B6-83F8-2E44095783F4}" sibTransId="{B73030B4-A5E0-40C1-9AE1-02B25975AA00}"/>
    <dgm:cxn modelId="{F6938530-079E-4F28-907C-9DAADFB08D0E}" type="presOf" srcId="{112BEBDF-C69E-49A9-B731-0929408024D8}" destId="{74DCD11F-98DA-4BA1-A4EB-9AB34E9C3C9D}" srcOrd="0" destOrd="0" presId="urn:microsoft.com/office/officeart/2005/8/layout/hList1"/>
    <dgm:cxn modelId="{B2D5F43B-B163-470E-B2FF-AC42F126D243}" type="presOf" srcId="{0E18CED0-CCE0-44AE-B873-D3A944874C9D}" destId="{AAB91EAD-75AE-4168-8A7F-B7A023AD8367}" srcOrd="0" destOrd="2" presId="urn:microsoft.com/office/officeart/2005/8/layout/hList1"/>
    <dgm:cxn modelId="{74E18B3E-A839-4FBD-B46E-F54F7588502B}" srcId="{4EE007B2-F612-44FB-B13F-E78B8586155B}" destId="{710B3081-F341-4301-9185-BE738C183BBB}" srcOrd="0" destOrd="0" parTransId="{B9937F06-A3DB-4499-9BB1-8E62176A896E}" sibTransId="{A8D13681-61CB-42A0-AAD2-CF508B0ED4F0}"/>
    <dgm:cxn modelId="{D99E9A86-7A1F-44E7-B3D8-4ED992367D2C}" type="presOf" srcId="{710B3081-F341-4301-9185-BE738C183BBB}" destId="{72C5BA33-78B4-45DE-B9CA-22A272DDBE2C}" srcOrd="0" destOrd="0" presId="urn:microsoft.com/office/officeart/2005/8/layout/hList1"/>
    <dgm:cxn modelId="{DA9EC09F-C043-4CCF-8D0C-5BA0D9DBA06B}" type="presOf" srcId="{DACD2956-BF18-4584-AF2D-3FD839777DF7}" destId="{3ACFDD6B-963A-45AA-AED6-29B2C66DA9EB}" srcOrd="0" destOrd="0" presId="urn:microsoft.com/office/officeart/2005/8/layout/hList1"/>
    <dgm:cxn modelId="{B1F575A2-BDF2-4BC4-B2E5-16FCD1B4EA37}" type="presOf" srcId="{4EE007B2-F612-44FB-B13F-E78B8586155B}" destId="{14B10E15-5814-42D3-93FB-FED52DF5F41F}" srcOrd="0" destOrd="0" presId="urn:microsoft.com/office/officeart/2005/8/layout/hList1"/>
    <dgm:cxn modelId="{618035A4-9F6A-47D6-AD4D-6431AB3F91A3}" type="presOf" srcId="{B1B5B5B7-E282-447F-9D99-ED7792EFEBD9}" destId="{72C5BA33-78B4-45DE-B9CA-22A272DDBE2C}" srcOrd="0" destOrd="1" presId="urn:microsoft.com/office/officeart/2005/8/layout/hList1"/>
    <dgm:cxn modelId="{27C58AC3-F6E1-4B42-87D8-CF381751C47E}" srcId="{DACD2956-BF18-4584-AF2D-3FD839777DF7}" destId="{0E18CED0-CCE0-44AE-B873-D3A944874C9D}" srcOrd="2" destOrd="0" parTransId="{CA99669B-0BC9-4DDA-9FC0-9F40F4CA119E}" sibTransId="{D349C273-4F2F-4400-AC4D-AB61D3A2F477}"/>
    <dgm:cxn modelId="{D96F5AC6-8105-4960-BC40-382A50F4C8BD}" type="presOf" srcId="{0BD52C96-7A48-4E1C-9DA4-74E271529F02}" destId="{AAB91EAD-75AE-4168-8A7F-B7A023AD8367}" srcOrd="0" destOrd="1" presId="urn:microsoft.com/office/officeart/2005/8/layout/hList1"/>
    <dgm:cxn modelId="{5E558FC8-7F95-42C0-8FF3-5C620CCE087E}" srcId="{4EE007B2-F612-44FB-B13F-E78B8586155B}" destId="{71C9EB7F-B8DE-4708-BB8D-2778C81550F9}" srcOrd="2" destOrd="0" parTransId="{EAB370FF-FEAE-422B-AE0A-C37F7DCF23F8}" sibTransId="{96F8BEDC-E2FD-4B74-B0BC-11F6DC341FDB}"/>
    <dgm:cxn modelId="{92D869E2-337C-47C7-AE54-C0DDA223E768}" srcId="{4EE007B2-F612-44FB-B13F-E78B8586155B}" destId="{B1B5B5B7-E282-447F-9D99-ED7792EFEBD9}" srcOrd="1" destOrd="0" parTransId="{CE8A939A-5864-488B-AA30-20294257558F}" sibTransId="{ECA0003C-87B8-41DB-A2C5-F6DA6AEB6FFB}"/>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584130F4-982F-4011-9841-84BA55BA8E70}" srcId="{DACD2956-BF18-4584-AF2D-3FD839777DF7}" destId="{0BD52C96-7A48-4E1C-9DA4-74E271529F02}" srcOrd="1" destOrd="0" parTransId="{9AC29A96-C030-4E32-AC00-886710390E71}" sibTransId="{97CFFC7D-0E72-4474-AB80-76CBB1A60A17}"/>
    <dgm:cxn modelId="{06D3AEFD-1506-435F-AD4C-70B757C12748}" type="presOf" srcId="{7B38BB22-10D0-455B-AB19-4EC1F24B8A2F}" destId="{AAB91EAD-75AE-4168-8A7F-B7A023AD8367}" srcOrd="0" destOrd="0" presId="urn:microsoft.com/office/officeart/2005/8/layout/hList1"/>
    <dgm:cxn modelId="{9B9B519E-80A2-41A6-A2C8-5C67E74A0D39}" type="presParOf" srcId="{74DCD11F-98DA-4BA1-A4EB-9AB34E9C3C9D}" destId="{9AD73B97-8ACA-4262-93A6-3717227818DB}" srcOrd="0" destOrd="0" presId="urn:microsoft.com/office/officeart/2005/8/layout/hList1"/>
    <dgm:cxn modelId="{BF000874-7E99-4EE5-A451-A03219D4705C}" type="presParOf" srcId="{9AD73B97-8ACA-4262-93A6-3717227818DB}" destId="{14B10E15-5814-42D3-93FB-FED52DF5F41F}" srcOrd="0" destOrd="0" presId="urn:microsoft.com/office/officeart/2005/8/layout/hList1"/>
    <dgm:cxn modelId="{E9D031F2-91B9-4A16-96A5-F7E12FB1570D}" type="presParOf" srcId="{9AD73B97-8ACA-4262-93A6-3717227818DB}" destId="{72C5BA33-78B4-45DE-B9CA-22A272DDBE2C}" srcOrd="1" destOrd="0" presId="urn:microsoft.com/office/officeart/2005/8/layout/hList1"/>
    <dgm:cxn modelId="{00231281-3170-4EF9-9FE3-353315749628}" type="presParOf" srcId="{74DCD11F-98DA-4BA1-A4EB-9AB34E9C3C9D}" destId="{DC394C6D-CF2B-4266-B39A-654D1A34AF80}" srcOrd="1" destOrd="0" presId="urn:microsoft.com/office/officeart/2005/8/layout/hList1"/>
    <dgm:cxn modelId="{780E4640-35DF-4066-82A3-76CC21266D18}" type="presParOf" srcId="{74DCD11F-98DA-4BA1-A4EB-9AB34E9C3C9D}" destId="{7FE4DA29-AAF2-4F50-871A-FAE73406F695}" srcOrd="2" destOrd="0" presId="urn:microsoft.com/office/officeart/2005/8/layout/hList1"/>
    <dgm:cxn modelId="{FF90B366-896E-48A1-A2A3-3C8501453F6B}" type="presParOf" srcId="{7FE4DA29-AAF2-4F50-871A-FAE73406F695}" destId="{3ACFDD6B-963A-45AA-AED6-29B2C66DA9EB}" srcOrd="0" destOrd="0" presId="urn:microsoft.com/office/officeart/2005/8/layout/hList1"/>
    <dgm:cxn modelId="{EA7B9838-D68C-4BBA-9A17-0F494CC94549}" type="presParOf" srcId="{7FE4DA29-AAF2-4F50-871A-FAE73406F695}" destId="{AAB91EAD-75AE-4168-8A7F-B7A023AD836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0E15-5814-42D3-93FB-FED52DF5F41F}">
      <dsp:nvSpPr>
        <dsp:cNvPr id="0" name=""/>
        <dsp:cNvSpPr/>
      </dsp:nvSpPr>
      <dsp:spPr>
        <a:xfrm>
          <a:off x="39" y="2"/>
          <a:ext cx="3802683" cy="979200"/>
        </a:xfrm>
        <a:prstGeom prst="rect">
          <a:avLst/>
        </a:prstGeom>
        <a:solidFill>
          <a:schemeClr val="accent1"/>
        </a:solidFill>
        <a:ln w="12700" cap="flat" cmpd="sng" algn="ctr">
          <a:solidFill>
            <a:schemeClr val="accent1">
              <a:shade val="15000"/>
            </a:schemeClr>
          </a:solid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ysClr val="window" lastClr="FFFFFF"/>
              </a:solidFill>
              <a:latin typeface="微软雅黑" panose="020B0503020204020204" pitchFamily="34" charset="-122"/>
              <a:ea typeface="微软雅黑" panose="020B0503020204020204" pitchFamily="34" charset="-122"/>
              <a:cs typeface="+mn-cs"/>
            </a:rPr>
            <a:t>拥塞控制</a:t>
          </a:r>
        </a:p>
      </dsp:txBody>
      <dsp:txXfrm>
        <a:off x="39" y="2"/>
        <a:ext cx="3802683" cy="979200"/>
      </dsp:txXfrm>
    </dsp:sp>
    <dsp:sp modelId="{72C5BA33-78B4-45DE-B9CA-22A272DDBE2C}">
      <dsp:nvSpPr>
        <dsp:cNvPr id="0" name=""/>
        <dsp:cNvSpPr/>
      </dsp:nvSpPr>
      <dsp:spPr>
        <a:xfrm>
          <a:off x="39" y="979202"/>
          <a:ext cx="3802683" cy="3173220"/>
        </a:xfrm>
        <a:prstGeom prst="rect">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防止过多的数据注入到网络中，避免网络中的路由器或链路过载。</a:t>
          </a:r>
        </a:p>
        <a:p>
          <a:pPr marL="228600" lvl="1" indent="-228600" algn="l" defTabSz="889000">
            <a:lnSpc>
              <a:spcPct val="90000"/>
            </a:lnSpc>
            <a:spcBef>
              <a:spcPct val="0"/>
            </a:spcBef>
            <a:spcAft>
              <a:spcPct val="15000"/>
            </a:spcAft>
            <a:buChar char="•"/>
          </a:pPr>
          <a:r>
            <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是一个全局性的过程，涉及到所有的主机、路由器，以及与降低网络传输性能有关的所有因素。</a:t>
          </a:r>
        </a:p>
      </dsp:txBody>
      <dsp:txXfrm>
        <a:off x="39" y="979202"/>
        <a:ext cx="3802683" cy="3173220"/>
      </dsp:txXfrm>
    </dsp:sp>
    <dsp:sp modelId="{3ACFDD6B-963A-45AA-AED6-29B2C66DA9EB}">
      <dsp:nvSpPr>
        <dsp:cNvPr id="0" name=""/>
        <dsp:cNvSpPr/>
      </dsp:nvSpPr>
      <dsp:spPr>
        <a:xfrm>
          <a:off x="4335099" y="2"/>
          <a:ext cx="3802683" cy="979200"/>
        </a:xfrm>
        <a:prstGeom prst="rect">
          <a:avLst/>
        </a:prstGeom>
        <a:solidFill>
          <a:srgbClr val="C0504D">
            <a:hueOff val="4681519"/>
            <a:satOff val="-5839"/>
            <a:lumOff val="1373"/>
            <a:alphaOff val="0"/>
          </a:srgbClr>
        </a:solidFill>
        <a:ln w="25400" cap="flat" cmpd="sng" algn="ctr">
          <a:solidFill>
            <a:srgbClr val="C0504D">
              <a:hueOff val="4681519"/>
              <a:satOff val="-5839"/>
              <a:lumOff val="1373"/>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ysClr val="window" lastClr="FFFFFF"/>
              </a:solidFill>
              <a:latin typeface="微软雅黑" panose="020B0503020204020204" pitchFamily="34" charset="-122"/>
              <a:ea typeface="微软雅黑" panose="020B0503020204020204" pitchFamily="34" charset="-122"/>
              <a:cs typeface="+mn-cs"/>
            </a:rPr>
            <a:t>流量控制</a:t>
          </a:r>
        </a:p>
      </dsp:txBody>
      <dsp:txXfrm>
        <a:off x="4335099" y="2"/>
        <a:ext cx="3802683" cy="979200"/>
      </dsp:txXfrm>
    </dsp:sp>
    <dsp:sp modelId="{AAB91EAD-75AE-4168-8A7F-B7A023AD8367}">
      <dsp:nvSpPr>
        <dsp:cNvPr id="0" name=""/>
        <dsp:cNvSpPr/>
      </dsp:nvSpPr>
      <dsp:spPr>
        <a:xfrm>
          <a:off x="4335099" y="979202"/>
          <a:ext cx="3802683" cy="3173220"/>
        </a:xfrm>
        <a:prstGeom prst="rect">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抑制发送端发送数据的速率，以使接收端来得及接收。</a:t>
          </a:r>
        </a:p>
        <a:p>
          <a:pPr marL="228600" lvl="1" indent="-228600" algn="l" defTabSz="889000">
            <a:lnSpc>
              <a:spcPct val="90000"/>
            </a:lnSpc>
            <a:spcBef>
              <a:spcPct val="0"/>
            </a:spcBef>
            <a:spcAft>
              <a:spcPct val="15000"/>
            </a:spcAft>
            <a:buChar char="•"/>
          </a:pPr>
          <a:r>
            <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点对点通信量的控制，是个端到端的问题。</a:t>
          </a:r>
        </a:p>
      </dsp:txBody>
      <dsp:txXfrm>
        <a:off x="4335099" y="979202"/>
        <a:ext cx="3802683" cy="31732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3542127"/>
          <a:ext cx="5743876" cy="1162605"/>
        </a:xfrm>
        <a:prstGeom prst="rect">
          <a:avLst/>
        </a:prstGeom>
        <a:solidFill>
          <a:schemeClr val="accent4"/>
        </a:solidFill>
        <a:ln w="12700" cap="flat" cmpd="sng" algn="ctr">
          <a:solidFill>
            <a:schemeClr val="accent4">
              <a:shade val="15000"/>
            </a:schemeClr>
          </a:solidFill>
          <a:prstDash val="solid"/>
          <a:miter lim="800000"/>
        </a:ln>
        <a:effectLst/>
      </dsp:spPr>
      <dsp:style>
        <a:lnRef idx="2">
          <a:schemeClr val="accent4">
            <a:shade val="15000"/>
          </a:schemeClr>
        </a:lnRef>
        <a:fillRef idx="1">
          <a:schemeClr val="accent4"/>
        </a:fillRef>
        <a:effectRef idx="0">
          <a:schemeClr val="accent4"/>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1" kern="1200" dirty="0">
              <a:solidFill>
                <a:schemeClr val="bg1"/>
              </a:solidFill>
              <a:latin typeface="微软雅黑" panose="020B0503020204020204" pitchFamily="34" charset="-122"/>
              <a:ea typeface="微软雅黑" panose="020B0503020204020204" pitchFamily="34" charset="-122"/>
            </a:rPr>
            <a:t>3</a:t>
          </a:r>
          <a:r>
            <a:rPr lang="zh-CN" altLang="en-US" sz="2400" b="1" kern="1200" dirty="0">
              <a:solidFill>
                <a:schemeClr val="bg1"/>
              </a:solidFill>
              <a:latin typeface="微软雅黑" panose="020B0503020204020204" pitchFamily="34" charset="-122"/>
              <a:ea typeface="微软雅黑" panose="020B0503020204020204" pitchFamily="34" charset="-122"/>
            </a:rPr>
            <a:t>，调整</a:t>
          </a:r>
        </a:p>
      </dsp:txBody>
      <dsp:txXfrm>
        <a:off x="0" y="3542127"/>
        <a:ext cx="5743876" cy="627806"/>
      </dsp:txXfrm>
    </dsp:sp>
    <dsp:sp modelId="{7AD1C28F-030D-4602-84E6-F93CC486F863}">
      <dsp:nvSpPr>
        <dsp:cNvPr id="0" name=""/>
        <dsp:cNvSpPr/>
      </dsp:nvSpPr>
      <dsp:spPr>
        <a:xfrm>
          <a:off x="0" y="4146681"/>
          <a:ext cx="5743876" cy="534798"/>
        </a:xfrm>
        <a:prstGeom prst="rect">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latin typeface="微软雅黑" panose="020B0503020204020204" pitchFamily="34" charset="-122"/>
              <a:ea typeface="微软雅黑" panose="020B0503020204020204" pitchFamily="34" charset="-122"/>
            </a:rPr>
            <a:t>调整网络系统的运行以解决出现的问题。</a:t>
          </a:r>
        </a:p>
      </dsp:txBody>
      <dsp:txXfrm>
        <a:off x="0" y="4146681"/>
        <a:ext cx="5743876" cy="534798"/>
      </dsp:txXfrm>
    </dsp:sp>
    <dsp:sp modelId="{DC00D219-7831-4F88-9472-DCEE38BA17C2}">
      <dsp:nvSpPr>
        <dsp:cNvPr id="0" name=""/>
        <dsp:cNvSpPr/>
      </dsp:nvSpPr>
      <dsp:spPr>
        <a:xfrm rot="10800000">
          <a:off x="0" y="1771479"/>
          <a:ext cx="5743876" cy="1788086"/>
        </a:xfrm>
        <a:prstGeom prst="upArrowCallou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1" kern="1200" dirty="0">
              <a:solidFill>
                <a:schemeClr val="bg1"/>
              </a:solidFill>
              <a:latin typeface="微软雅黑" panose="020B0503020204020204" pitchFamily="34" charset="-122"/>
              <a:ea typeface="微软雅黑" panose="020B0503020204020204" pitchFamily="34" charset="-122"/>
            </a:rPr>
            <a:t>2</a:t>
          </a:r>
          <a:r>
            <a:rPr lang="zh-CN" altLang="en-US" sz="24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771479"/>
        <a:ext cx="5743876" cy="627618"/>
      </dsp:txXfrm>
    </dsp:sp>
    <dsp:sp modelId="{37CDBDB6-2170-404B-8F3F-363B34CA7CAF}">
      <dsp:nvSpPr>
        <dsp:cNvPr id="0" name=""/>
        <dsp:cNvSpPr/>
      </dsp:nvSpPr>
      <dsp:spPr>
        <a:xfrm>
          <a:off x="0" y="2399097"/>
          <a:ext cx="5743876" cy="534637"/>
        </a:xfrm>
        <a:prstGeom prst="rect">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latin typeface="微软雅黑" panose="020B0503020204020204" pitchFamily="34" charset="-122"/>
              <a:ea typeface="微软雅黑" panose="020B0503020204020204" pitchFamily="34" charset="-122"/>
            </a:rPr>
            <a:t>将拥塞发生的信息传送到可采取行动的地方。</a:t>
          </a:r>
        </a:p>
      </dsp:txBody>
      <dsp:txXfrm>
        <a:off x="0" y="2399097"/>
        <a:ext cx="5743876" cy="534637"/>
      </dsp:txXfrm>
    </dsp:sp>
    <dsp:sp modelId="{021834F7-9CCD-4967-A129-E4F8A64E9A64}">
      <dsp:nvSpPr>
        <dsp:cNvPr id="0" name=""/>
        <dsp:cNvSpPr/>
      </dsp:nvSpPr>
      <dsp:spPr>
        <a:xfrm rot="10800000">
          <a:off x="0" y="831"/>
          <a:ext cx="5743876" cy="1788086"/>
        </a:xfrm>
        <a:prstGeom prst="upArrowCallout">
          <a:avLst/>
        </a:prstGeom>
        <a:solidFill>
          <a:schemeClr val="accent5"/>
        </a:solidFill>
        <a:ln w="1270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0" kern="1200" dirty="0">
              <a:solidFill>
                <a:schemeClr val="bg1"/>
              </a:solidFill>
              <a:latin typeface="微软雅黑" panose="020B0503020204020204" pitchFamily="34" charset="-122"/>
              <a:ea typeface="微软雅黑" panose="020B0503020204020204" pitchFamily="34" charset="-122"/>
            </a:rPr>
            <a:t>1</a:t>
          </a:r>
          <a:r>
            <a:rPr lang="zh-CN" altLang="en-US" sz="2400" b="0" kern="1200" dirty="0">
              <a:solidFill>
                <a:schemeClr val="bg1"/>
              </a:solidFill>
              <a:latin typeface="微软雅黑" panose="020B0503020204020204" pitchFamily="34" charset="-122"/>
              <a:ea typeface="微软雅黑" panose="020B0503020204020204" pitchFamily="34" charset="-122"/>
            </a:rPr>
            <a:t>，监测</a:t>
          </a:r>
        </a:p>
      </dsp:txBody>
      <dsp:txXfrm rot="-10800000">
        <a:off x="0" y="831"/>
        <a:ext cx="5743876" cy="627618"/>
      </dsp:txXfrm>
    </dsp:sp>
    <dsp:sp modelId="{131D3D73-943A-4F48-82DD-E5FF9CD6CF04}">
      <dsp:nvSpPr>
        <dsp:cNvPr id="0" name=""/>
        <dsp:cNvSpPr/>
      </dsp:nvSpPr>
      <dsp:spPr>
        <a:xfrm>
          <a:off x="0" y="628450"/>
          <a:ext cx="5743876" cy="534637"/>
        </a:xfrm>
        <a:prstGeom prst="rect">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latin typeface="微软雅黑" panose="020B0503020204020204" pitchFamily="34" charset="-122"/>
              <a:ea typeface="微软雅黑" panose="020B0503020204020204" pitchFamily="34" charset="-122"/>
            </a:rPr>
            <a:t>监测网络系统，检测拥塞在何时、何处发生。</a:t>
          </a:r>
        </a:p>
      </dsp:txBody>
      <dsp:txXfrm>
        <a:off x="0" y="628450"/>
        <a:ext cx="5743876" cy="5346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3542127"/>
          <a:ext cx="5743876" cy="1162605"/>
        </a:xfrm>
        <a:prstGeom prst="rect">
          <a:avLst/>
        </a:prstGeom>
        <a:solidFill>
          <a:schemeClr val="accent4"/>
        </a:solidFill>
        <a:ln w="12700" cap="flat" cmpd="sng" algn="ctr">
          <a:solidFill>
            <a:schemeClr val="accent4">
              <a:shade val="15000"/>
            </a:schemeClr>
          </a:solidFill>
          <a:prstDash val="solid"/>
          <a:miter lim="800000"/>
        </a:ln>
        <a:effectLst/>
      </dsp:spPr>
      <dsp:style>
        <a:lnRef idx="2">
          <a:schemeClr val="accent4">
            <a:shade val="15000"/>
          </a:schemeClr>
        </a:lnRef>
        <a:fillRef idx="1">
          <a:schemeClr val="accent4"/>
        </a:fillRef>
        <a:effectRef idx="0">
          <a:schemeClr val="accent4"/>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1" kern="1200" dirty="0">
              <a:solidFill>
                <a:schemeClr val="bg1"/>
              </a:solidFill>
              <a:latin typeface="微软雅黑" panose="020B0503020204020204" pitchFamily="34" charset="-122"/>
              <a:ea typeface="微软雅黑" panose="020B0503020204020204" pitchFamily="34" charset="-122"/>
            </a:rPr>
            <a:t>3</a:t>
          </a:r>
          <a:r>
            <a:rPr lang="zh-CN" altLang="en-US" sz="2400" b="1" kern="1200" dirty="0">
              <a:solidFill>
                <a:schemeClr val="bg1"/>
              </a:solidFill>
              <a:latin typeface="微软雅黑" panose="020B0503020204020204" pitchFamily="34" charset="-122"/>
              <a:ea typeface="微软雅黑" panose="020B0503020204020204" pitchFamily="34" charset="-122"/>
            </a:rPr>
            <a:t>，调整</a:t>
          </a:r>
        </a:p>
      </dsp:txBody>
      <dsp:txXfrm>
        <a:off x="0" y="3542127"/>
        <a:ext cx="5743876" cy="627806"/>
      </dsp:txXfrm>
    </dsp:sp>
    <dsp:sp modelId="{7AD1C28F-030D-4602-84E6-F93CC486F863}">
      <dsp:nvSpPr>
        <dsp:cNvPr id="0" name=""/>
        <dsp:cNvSpPr/>
      </dsp:nvSpPr>
      <dsp:spPr>
        <a:xfrm>
          <a:off x="0" y="4146681"/>
          <a:ext cx="5743876" cy="534798"/>
        </a:xfrm>
        <a:prstGeom prst="rect">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latin typeface="微软雅黑" panose="020B0503020204020204" pitchFamily="34" charset="-122"/>
              <a:ea typeface="微软雅黑" panose="020B0503020204020204" pitchFamily="34" charset="-122"/>
            </a:rPr>
            <a:t>调整网络系统的运行以解决出现的问题。</a:t>
          </a:r>
        </a:p>
      </dsp:txBody>
      <dsp:txXfrm>
        <a:off x="0" y="4146681"/>
        <a:ext cx="5743876" cy="534798"/>
      </dsp:txXfrm>
    </dsp:sp>
    <dsp:sp modelId="{DC00D219-7831-4F88-9472-DCEE38BA17C2}">
      <dsp:nvSpPr>
        <dsp:cNvPr id="0" name=""/>
        <dsp:cNvSpPr/>
      </dsp:nvSpPr>
      <dsp:spPr>
        <a:xfrm rot="10800000">
          <a:off x="0" y="1771479"/>
          <a:ext cx="5743876" cy="1788086"/>
        </a:xfrm>
        <a:prstGeom prst="upArrowCallou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1" kern="1200" dirty="0">
              <a:solidFill>
                <a:schemeClr val="bg1"/>
              </a:solidFill>
              <a:latin typeface="微软雅黑" panose="020B0503020204020204" pitchFamily="34" charset="-122"/>
              <a:ea typeface="微软雅黑" panose="020B0503020204020204" pitchFamily="34" charset="-122"/>
            </a:rPr>
            <a:t>2</a:t>
          </a:r>
          <a:r>
            <a:rPr lang="zh-CN" altLang="en-US" sz="24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771479"/>
        <a:ext cx="5743876" cy="627618"/>
      </dsp:txXfrm>
    </dsp:sp>
    <dsp:sp modelId="{37CDBDB6-2170-404B-8F3F-363B34CA7CAF}">
      <dsp:nvSpPr>
        <dsp:cNvPr id="0" name=""/>
        <dsp:cNvSpPr/>
      </dsp:nvSpPr>
      <dsp:spPr>
        <a:xfrm>
          <a:off x="0" y="2399097"/>
          <a:ext cx="5743876" cy="534637"/>
        </a:xfrm>
        <a:prstGeom prst="rect">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latin typeface="微软雅黑" panose="020B0503020204020204" pitchFamily="34" charset="-122"/>
              <a:ea typeface="微软雅黑" panose="020B0503020204020204" pitchFamily="34" charset="-122"/>
            </a:rPr>
            <a:t>将拥塞发生的信息传送到可采取行动的地方。</a:t>
          </a:r>
        </a:p>
      </dsp:txBody>
      <dsp:txXfrm>
        <a:off x="0" y="2399097"/>
        <a:ext cx="5743876" cy="534637"/>
      </dsp:txXfrm>
    </dsp:sp>
    <dsp:sp modelId="{021834F7-9CCD-4967-A129-E4F8A64E9A64}">
      <dsp:nvSpPr>
        <dsp:cNvPr id="0" name=""/>
        <dsp:cNvSpPr/>
      </dsp:nvSpPr>
      <dsp:spPr>
        <a:xfrm rot="10800000">
          <a:off x="0" y="831"/>
          <a:ext cx="5743876" cy="1788086"/>
        </a:xfrm>
        <a:prstGeom prst="upArrowCallout">
          <a:avLst/>
        </a:prstGeom>
        <a:solidFill>
          <a:schemeClr val="accent5"/>
        </a:solidFill>
        <a:ln w="1270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0" kern="1200" dirty="0">
              <a:solidFill>
                <a:schemeClr val="bg1"/>
              </a:solidFill>
              <a:latin typeface="微软雅黑" panose="020B0503020204020204" pitchFamily="34" charset="-122"/>
              <a:ea typeface="微软雅黑" panose="020B0503020204020204" pitchFamily="34" charset="-122"/>
            </a:rPr>
            <a:t>1</a:t>
          </a:r>
          <a:r>
            <a:rPr lang="zh-CN" altLang="en-US" sz="2400" b="0" kern="1200" dirty="0">
              <a:solidFill>
                <a:schemeClr val="bg1"/>
              </a:solidFill>
              <a:latin typeface="微软雅黑" panose="020B0503020204020204" pitchFamily="34" charset="-122"/>
              <a:ea typeface="微软雅黑" panose="020B0503020204020204" pitchFamily="34" charset="-122"/>
            </a:rPr>
            <a:t>，监测</a:t>
          </a:r>
        </a:p>
      </dsp:txBody>
      <dsp:txXfrm rot="-10800000">
        <a:off x="0" y="831"/>
        <a:ext cx="5743876" cy="627618"/>
      </dsp:txXfrm>
    </dsp:sp>
    <dsp:sp modelId="{131D3D73-943A-4F48-82DD-E5FF9CD6CF04}">
      <dsp:nvSpPr>
        <dsp:cNvPr id="0" name=""/>
        <dsp:cNvSpPr/>
      </dsp:nvSpPr>
      <dsp:spPr>
        <a:xfrm>
          <a:off x="0" y="628450"/>
          <a:ext cx="5743876" cy="534637"/>
        </a:xfrm>
        <a:prstGeom prst="rect">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latin typeface="微软雅黑" panose="020B0503020204020204" pitchFamily="34" charset="-122"/>
              <a:ea typeface="微软雅黑" panose="020B0503020204020204" pitchFamily="34" charset="-122"/>
            </a:rPr>
            <a:t>监测网络系统，检测拥塞在何时、何处发生。</a:t>
          </a:r>
        </a:p>
      </dsp:txBody>
      <dsp:txXfrm>
        <a:off x="0" y="628450"/>
        <a:ext cx="5743876" cy="5346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3542127"/>
          <a:ext cx="5743876" cy="1162605"/>
        </a:xfrm>
        <a:prstGeom prst="rect">
          <a:avLst/>
        </a:prstGeom>
        <a:solidFill>
          <a:schemeClr val="accent4"/>
        </a:solidFill>
        <a:ln w="12700" cap="flat" cmpd="sng" algn="ctr">
          <a:solidFill>
            <a:schemeClr val="accent4">
              <a:shade val="15000"/>
            </a:schemeClr>
          </a:solidFill>
          <a:prstDash val="solid"/>
          <a:miter lim="800000"/>
        </a:ln>
        <a:effectLst/>
      </dsp:spPr>
      <dsp:style>
        <a:lnRef idx="2">
          <a:schemeClr val="accent4">
            <a:shade val="15000"/>
          </a:schemeClr>
        </a:lnRef>
        <a:fillRef idx="1">
          <a:schemeClr val="accent4"/>
        </a:fillRef>
        <a:effectRef idx="0">
          <a:schemeClr val="accent4"/>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1" kern="1200" dirty="0">
              <a:solidFill>
                <a:schemeClr val="bg1"/>
              </a:solidFill>
              <a:latin typeface="微软雅黑" panose="020B0503020204020204" pitchFamily="34" charset="-122"/>
              <a:ea typeface="微软雅黑" panose="020B0503020204020204" pitchFamily="34" charset="-122"/>
            </a:rPr>
            <a:t>3</a:t>
          </a:r>
          <a:r>
            <a:rPr lang="zh-CN" altLang="en-US" sz="2400" b="1" kern="1200" dirty="0">
              <a:solidFill>
                <a:schemeClr val="bg1"/>
              </a:solidFill>
              <a:latin typeface="微软雅黑" panose="020B0503020204020204" pitchFamily="34" charset="-122"/>
              <a:ea typeface="微软雅黑" panose="020B0503020204020204" pitchFamily="34" charset="-122"/>
            </a:rPr>
            <a:t>，调整</a:t>
          </a:r>
        </a:p>
      </dsp:txBody>
      <dsp:txXfrm>
        <a:off x="0" y="3542127"/>
        <a:ext cx="5743876" cy="627806"/>
      </dsp:txXfrm>
    </dsp:sp>
    <dsp:sp modelId="{7AD1C28F-030D-4602-84E6-F93CC486F863}">
      <dsp:nvSpPr>
        <dsp:cNvPr id="0" name=""/>
        <dsp:cNvSpPr/>
      </dsp:nvSpPr>
      <dsp:spPr>
        <a:xfrm>
          <a:off x="0" y="4146681"/>
          <a:ext cx="5743876" cy="534798"/>
        </a:xfrm>
        <a:prstGeom prst="rect">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latin typeface="微软雅黑" panose="020B0503020204020204" pitchFamily="34" charset="-122"/>
              <a:ea typeface="微软雅黑" panose="020B0503020204020204" pitchFamily="34" charset="-122"/>
            </a:rPr>
            <a:t>调整网络系统的运行以解决出现的问题。</a:t>
          </a:r>
        </a:p>
      </dsp:txBody>
      <dsp:txXfrm>
        <a:off x="0" y="4146681"/>
        <a:ext cx="5743876" cy="534798"/>
      </dsp:txXfrm>
    </dsp:sp>
    <dsp:sp modelId="{DC00D219-7831-4F88-9472-DCEE38BA17C2}">
      <dsp:nvSpPr>
        <dsp:cNvPr id="0" name=""/>
        <dsp:cNvSpPr/>
      </dsp:nvSpPr>
      <dsp:spPr>
        <a:xfrm rot="10800000">
          <a:off x="0" y="1771479"/>
          <a:ext cx="5743876" cy="1788086"/>
        </a:xfrm>
        <a:prstGeom prst="upArrowCallou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1" kern="1200" dirty="0">
              <a:solidFill>
                <a:schemeClr val="bg1"/>
              </a:solidFill>
              <a:latin typeface="微软雅黑" panose="020B0503020204020204" pitchFamily="34" charset="-122"/>
              <a:ea typeface="微软雅黑" panose="020B0503020204020204" pitchFamily="34" charset="-122"/>
            </a:rPr>
            <a:t>2</a:t>
          </a:r>
          <a:r>
            <a:rPr lang="zh-CN" altLang="en-US" sz="24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771479"/>
        <a:ext cx="5743876" cy="627618"/>
      </dsp:txXfrm>
    </dsp:sp>
    <dsp:sp modelId="{37CDBDB6-2170-404B-8F3F-363B34CA7CAF}">
      <dsp:nvSpPr>
        <dsp:cNvPr id="0" name=""/>
        <dsp:cNvSpPr/>
      </dsp:nvSpPr>
      <dsp:spPr>
        <a:xfrm>
          <a:off x="0" y="2399097"/>
          <a:ext cx="5743876" cy="534637"/>
        </a:xfrm>
        <a:prstGeom prst="rect">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latin typeface="微软雅黑" panose="020B0503020204020204" pitchFamily="34" charset="-122"/>
              <a:ea typeface="微软雅黑" panose="020B0503020204020204" pitchFamily="34" charset="-122"/>
            </a:rPr>
            <a:t>将拥塞发生的信息传送到可采取行动的地方。</a:t>
          </a:r>
        </a:p>
      </dsp:txBody>
      <dsp:txXfrm>
        <a:off x="0" y="2399097"/>
        <a:ext cx="5743876" cy="534637"/>
      </dsp:txXfrm>
    </dsp:sp>
    <dsp:sp modelId="{021834F7-9CCD-4967-A129-E4F8A64E9A64}">
      <dsp:nvSpPr>
        <dsp:cNvPr id="0" name=""/>
        <dsp:cNvSpPr/>
      </dsp:nvSpPr>
      <dsp:spPr>
        <a:xfrm rot="10800000">
          <a:off x="0" y="831"/>
          <a:ext cx="5743876" cy="1788086"/>
        </a:xfrm>
        <a:prstGeom prst="upArrowCallout">
          <a:avLst/>
        </a:prstGeom>
        <a:solidFill>
          <a:schemeClr val="accent5"/>
        </a:solidFill>
        <a:ln w="1270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0" kern="1200" dirty="0">
              <a:solidFill>
                <a:schemeClr val="bg1"/>
              </a:solidFill>
              <a:latin typeface="微软雅黑" panose="020B0503020204020204" pitchFamily="34" charset="-122"/>
              <a:ea typeface="微软雅黑" panose="020B0503020204020204" pitchFamily="34" charset="-122"/>
            </a:rPr>
            <a:t>1</a:t>
          </a:r>
          <a:r>
            <a:rPr lang="zh-CN" altLang="en-US" sz="2400" b="0" kern="1200" dirty="0">
              <a:solidFill>
                <a:schemeClr val="bg1"/>
              </a:solidFill>
              <a:latin typeface="微软雅黑" panose="020B0503020204020204" pitchFamily="34" charset="-122"/>
              <a:ea typeface="微软雅黑" panose="020B0503020204020204" pitchFamily="34" charset="-122"/>
            </a:rPr>
            <a:t>，监测</a:t>
          </a:r>
        </a:p>
      </dsp:txBody>
      <dsp:txXfrm rot="-10800000">
        <a:off x="0" y="831"/>
        <a:ext cx="5743876" cy="627618"/>
      </dsp:txXfrm>
    </dsp:sp>
    <dsp:sp modelId="{131D3D73-943A-4F48-82DD-E5FF9CD6CF04}">
      <dsp:nvSpPr>
        <dsp:cNvPr id="0" name=""/>
        <dsp:cNvSpPr/>
      </dsp:nvSpPr>
      <dsp:spPr>
        <a:xfrm>
          <a:off x="0" y="628450"/>
          <a:ext cx="5743876" cy="534637"/>
        </a:xfrm>
        <a:prstGeom prst="rect">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latin typeface="微软雅黑" panose="020B0503020204020204" pitchFamily="34" charset="-122"/>
              <a:ea typeface="微软雅黑" panose="020B0503020204020204" pitchFamily="34" charset="-122"/>
            </a:rPr>
            <a:t>监测网络系统，检测拥塞在何时、何处发生。</a:t>
          </a:r>
        </a:p>
      </dsp:txBody>
      <dsp:txXfrm>
        <a:off x="0" y="628450"/>
        <a:ext cx="5743876" cy="5346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3542127"/>
          <a:ext cx="5743876" cy="1162605"/>
        </a:xfrm>
        <a:prstGeom prst="rect">
          <a:avLst/>
        </a:prstGeom>
        <a:solidFill>
          <a:schemeClr val="accent4"/>
        </a:solidFill>
        <a:ln w="12700" cap="flat" cmpd="sng" algn="ctr">
          <a:solidFill>
            <a:schemeClr val="accent4">
              <a:shade val="15000"/>
            </a:schemeClr>
          </a:solidFill>
          <a:prstDash val="solid"/>
          <a:miter lim="800000"/>
        </a:ln>
        <a:effectLst/>
      </dsp:spPr>
      <dsp:style>
        <a:lnRef idx="2">
          <a:schemeClr val="accent4">
            <a:shade val="15000"/>
          </a:schemeClr>
        </a:lnRef>
        <a:fillRef idx="1">
          <a:schemeClr val="accent4"/>
        </a:fillRef>
        <a:effectRef idx="0">
          <a:schemeClr val="accent4"/>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1" kern="1200" dirty="0">
              <a:solidFill>
                <a:schemeClr val="bg1"/>
              </a:solidFill>
              <a:latin typeface="微软雅黑" panose="020B0503020204020204" pitchFamily="34" charset="-122"/>
              <a:ea typeface="微软雅黑" panose="020B0503020204020204" pitchFamily="34" charset="-122"/>
            </a:rPr>
            <a:t>3</a:t>
          </a:r>
          <a:r>
            <a:rPr lang="zh-CN" altLang="en-US" sz="2400" b="1" kern="1200" dirty="0">
              <a:solidFill>
                <a:schemeClr val="bg1"/>
              </a:solidFill>
              <a:latin typeface="微软雅黑" panose="020B0503020204020204" pitchFamily="34" charset="-122"/>
              <a:ea typeface="微软雅黑" panose="020B0503020204020204" pitchFamily="34" charset="-122"/>
            </a:rPr>
            <a:t>，调整</a:t>
          </a:r>
        </a:p>
      </dsp:txBody>
      <dsp:txXfrm>
        <a:off x="0" y="3542127"/>
        <a:ext cx="5743876" cy="627806"/>
      </dsp:txXfrm>
    </dsp:sp>
    <dsp:sp modelId="{7AD1C28F-030D-4602-84E6-F93CC486F863}">
      <dsp:nvSpPr>
        <dsp:cNvPr id="0" name=""/>
        <dsp:cNvSpPr/>
      </dsp:nvSpPr>
      <dsp:spPr>
        <a:xfrm>
          <a:off x="0" y="4146681"/>
          <a:ext cx="5743876" cy="534798"/>
        </a:xfrm>
        <a:prstGeom prst="rect">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latin typeface="微软雅黑" panose="020B0503020204020204" pitchFamily="34" charset="-122"/>
              <a:ea typeface="微软雅黑" panose="020B0503020204020204" pitchFamily="34" charset="-122"/>
            </a:rPr>
            <a:t>调整网络系统的运行以解决出现的问题。</a:t>
          </a:r>
        </a:p>
      </dsp:txBody>
      <dsp:txXfrm>
        <a:off x="0" y="4146681"/>
        <a:ext cx="5743876" cy="534798"/>
      </dsp:txXfrm>
    </dsp:sp>
    <dsp:sp modelId="{DC00D219-7831-4F88-9472-DCEE38BA17C2}">
      <dsp:nvSpPr>
        <dsp:cNvPr id="0" name=""/>
        <dsp:cNvSpPr/>
      </dsp:nvSpPr>
      <dsp:spPr>
        <a:xfrm rot="10800000">
          <a:off x="0" y="1771479"/>
          <a:ext cx="5743876" cy="1788086"/>
        </a:xfrm>
        <a:prstGeom prst="upArrowCallou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1" kern="1200" dirty="0">
              <a:solidFill>
                <a:schemeClr val="bg1"/>
              </a:solidFill>
              <a:latin typeface="微软雅黑" panose="020B0503020204020204" pitchFamily="34" charset="-122"/>
              <a:ea typeface="微软雅黑" panose="020B0503020204020204" pitchFamily="34" charset="-122"/>
            </a:rPr>
            <a:t>2</a:t>
          </a:r>
          <a:r>
            <a:rPr lang="zh-CN" altLang="en-US" sz="24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771479"/>
        <a:ext cx="5743876" cy="627618"/>
      </dsp:txXfrm>
    </dsp:sp>
    <dsp:sp modelId="{37CDBDB6-2170-404B-8F3F-363B34CA7CAF}">
      <dsp:nvSpPr>
        <dsp:cNvPr id="0" name=""/>
        <dsp:cNvSpPr/>
      </dsp:nvSpPr>
      <dsp:spPr>
        <a:xfrm>
          <a:off x="0" y="2399097"/>
          <a:ext cx="5743876" cy="534637"/>
        </a:xfrm>
        <a:prstGeom prst="rect">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latin typeface="微软雅黑" panose="020B0503020204020204" pitchFamily="34" charset="-122"/>
              <a:ea typeface="微软雅黑" panose="020B0503020204020204" pitchFamily="34" charset="-122"/>
            </a:rPr>
            <a:t>将拥塞发生的信息传送到可采取行动的地方。</a:t>
          </a:r>
        </a:p>
      </dsp:txBody>
      <dsp:txXfrm>
        <a:off x="0" y="2399097"/>
        <a:ext cx="5743876" cy="534637"/>
      </dsp:txXfrm>
    </dsp:sp>
    <dsp:sp modelId="{021834F7-9CCD-4967-A129-E4F8A64E9A64}">
      <dsp:nvSpPr>
        <dsp:cNvPr id="0" name=""/>
        <dsp:cNvSpPr/>
      </dsp:nvSpPr>
      <dsp:spPr>
        <a:xfrm rot="10800000">
          <a:off x="0" y="831"/>
          <a:ext cx="5743876" cy="1788086"/>
        </a:xfrm>
        <a:prstGeom prst="upArrowCallout">
          <a:avLst/>
        </a:prstGeom>
        <a:solidFill>
          <a:schemeClr val="accent5"/>
        </a:solidFill>
        <a:ln w="1270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0" kern="1200" dirty="0">
              <a:solidFill>
                <a:schemeClr val="bg1"/>
              </a:solidFill>
              <a:latin typeface="微软雅黑" panose="020B0503020204020204" pitchFamily="34" charset="-122"/>
              <a:ea typeface="微软雅黑" panose="020B0503020204020204" pitchFamily="34" charset="-122"/>
            </a:rPr>
            <a:t>1</a:t>
          </a:r>
          <a:r>
            <a:rPr lang="zh-CN" altLang="en-US" sz="2400" b="0" kern="1200" dirty="0">
              <a:solidFill>
                <a:schemeClr val="bg1"/>
              </a:solidFill>
              <a:latin typeface="微软雅黑" panose="020B0503020204020204" pitchFamily="34" charset="-122"/>
              <a:ea typeface="微软雅黑" panose="020B0503020204020204" pitchFamily="34" charset="-122"/>
            </a:rPr>
            <a:t>，监测</a:t>
          </a:r>
        </a:p>
      </dsp:txBody>
      <dsp:txXfrm rot="-10800000">
        <a:off x="0" y="831"/>
        <a:ext cx="5743876" cy="627618"/>
      </dsp:txXfrm>
    </dsp:sp>
    <dsp:sp modelId="{131D3D73-943A-4F48-82DD-E5FF9CD6CF04}">
      <dsp:nvSpPr>
        <dsp:cNvPr id="0" name=""/>
        <dsp:cNvSpPr/>
      </dsp:nvSpPr>
      <dsp:spPr>
        <a:xfrm>
          <a:off x="0" y="628450"/>
          <a:ext cx="5743876" cy="534637"/>
        </a:xfrm>
        <a:prstGeom prst="rect">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latin typeface="微软雅黑" panose="020B0503020204020204" pitchFamily="34" charset="-122"/>
              <a:ea typeface="微软雅黑" panose="020B0503020204020204" pitchFamily="34" charset="-122"/>
            </a:rPr>
            <a:t>监测网络系统，检测拥塞在何时、何处发生。</a:t>
          </a:r>
        </a:p>
      </dsp:txBody>
      <dsp:txXfrm>
        <a:off x="0" y="628450"/>
        <a:ext cx="5743876" cy="53463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2784D-6662-4391-87B7-A8A7A5C6CD55}">
      <dsp:nvSpPr>
        <dsp:cNvPr id="0" name=""/>
        <dsp:cNvSpPr/>
      </dsp:nvSpPr>
      <dsp:spPr>
        <a:xfrm rot="5400000">
          <a:off x="6470895" y="-2805563"/>
          <a:ext cx="614681" cy="6379516"/>
        </a:xfrm>
        <a:prstGeom prst="round2Same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zh-CN" altLang="en-US" sz="2400" b="0" kern="1200" dirty="0">
              <a:latin typeface="微软雅黑" panose="020B0503020204020204" pitchFamily="34" charset="-122"/>
              <a:ea typeface="微软雅黑" panose="020B0503020204020204" pitchFamily="34" charset="-122"/>
            </a:rPr>
            <a:t>网络已经出现了拥塞。</a:t>
          </a:r>
        </a:p>
      </dsp:txBody>
      <dsp:txXfrm rot="-5400000">
        <a:off x="3588478" y="106860"/>
        <a:ext cx="6349510" cy="554669"/>
      </dsp:txXfrm>
    </dsp:sp>
    <dsp:sp modelId="{5ED00335-F589-4BA4-BB17-2781BB242E82}">
      <dsp:nvSpPr>
        <dsp:cNvPr id="0" name=""/>
        <dsp:cNvSpPr/>
      </dsp:nvSpPr>
      <dsp:spPr>
        <a:xfrm>
          <a:off x="0" y="19"/>
          <a:ext cx="3588477" cy="768351"/>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zh-CN" altLang="en-US" sz="2400" b="0" kern="1200" dirty="0">
              <a:latin typeface="微软雅黑" panose="020B0503020204020204" pitchFamily="34" charset="-122"/>
              <a:ea typeface="微软雅黑" panose="020B0503020204020204" pitchFamily="34" charset="-122"/>
            </a:rPr>
            <a:t>超时重传计时器超时</a:t>
          </a:r>
        </a:p>
      </dsp:txBody>
      <dsp:txXfrm>
        <a:off x="37508" y="37527"/>
        <a:ext cx="3513461" cy="693335"/>
      </dsp:txXfrm>
    </dsp:sp>
    <dsp:sp modelId="{45B4962A-C5E4-485B-B75C-CD9AAA63DA58}">
      <dsp:nvSpPr>
        <dsp:cNvPr id="0" name=""/>
        <dsp:cNvSpPr/>
      </dsp:nvSpPr>
      <dsp:spPr>
        <a:xfrm rot="5400000">
          <a:off x="6470895" y="-1998794"/>
          <a:ext cx="614681" cy="6379516"/>
        </a:xfrm>
        <a:prstGeom prst="round2Same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zh-CN" altLang="en-US" sz="2400" b="0" kern="1200" dirty="0">
              <a:latin typeface="微软雅黑" panose="020B0503020204020204" pitchFamily="34" charset="-122"/>
              <a:ea typeface="微软雅黑" panose="020B0503020204020204" pitchFamily="34" charset="-122"/>
            </a:rPr>
            <a:t>预示网络可能会出现拥塞。</a:t>
          </a:r>
        </a:p>
      </dsp:txBody>
      <dsp:txXfrm rot="-5400000">
        <a:off x="3588478" y="913629"/>
        <a:ext cx="6349510" cy="554669"/>
      </dsp:txXfrm>
    </dsp:sp>
    <dsp:sp modelId="{A154C679-5D7E-4C77-AEB3-2EDD606A8CBC}">
      <dsp:nvSpPr>
        <dsp:cNvPr id="0" name=""/>
        <dsp:cNvSpPr/>
      </dsp:nvSpPr>
      <dsp:spPr>
        <a:xfrm>
          <a:off x="0" y="806788"/>
          <a:ext cx="3588477" cy="768351"/>
        </a:xfrm>
        <a:prstGeom prst="round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zh-CN" altLang="en-US" sz="2400" b="0" kern="1200" dirty="0">
              <a:latin typeface="微软雅黑" panose="020B0503020204020204" pitchFamily="34" charset="-122"/>
              <a:ea typeface="微软雅黑" panose="020B0503020204020204" pitchFamily="34" charset="-122"/>
            </a:rPr>
            <a:t>收到 </a:t>
          </a:r>
          <a:r>
            <a:rPr lang="en-US" altLang="en-US" sz="2400" b="0" kern="1200" dirty="0">
              <a:latin typeface="微软雅黑" panose="020B0503020204020204" pitchFamily="34" charset="-122"/>
              <a:ea typeface="微软雅黑" panose="020B0503020204020204" pitchFamily="34" charset="-122"/>
            </a:rPr>
            <a:t>3 </a:t>
          </a:r>
          <a:r>
            <a:rPr lang="zh-CN" altLang="en-US" sz="2400" b="0" kern="1200" dirty="0">
              <a:latin typeface="微软雅黑" panose="020B0503020204020204" pitchFamily="34" charset="-122"/>
              <a:ea typeface="微软雅黑" panose="020B0503020204020204" pitchFamily="34" charset="-122"/>
            </a:rPr>
            <a:t>个重复的确认</a:t>
          </a:r>
        </a:p>
      </dsp:txBody>
      <dsp:txXfrm>
        <a:off x="37508" y="844296"/>
        <a:ext cx="3513461" cy="69333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F862E-94BD-4785-B015-5AD165AECE92}">
      <dsp:nvSpPr>
        <dsp:cNvPr id="0" name=""/>
        <dsp:cNvSpPr/>
      </dsp:nvSpPr>
      <dsp:spPr>
        <a:xfrm>
          <a:off x="0" y="0"/>
          <a:ext cx="4842501" cy="509548"/>
        </a:xfrm>
        <a:prstGeom prst="round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a:scene3d>
          <a:camera prst="orthographicFront"/>
          <a:lightRig rig="flat" dir="t"/>
        </a:scene3d>
      </dsp:spPr>
      <dsp:style>
        <a:lnRef idx="1">
          <a:schemeClr val="accent5"/>
        </a:lnRef>
        <a:fillRef idx="2">
          <a:schemeClr val="accent5"/>
        </a:fillRef>
        <a:effectRef idx="1">
          <a:schemeClr val="accent5"/>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拥塞窗口 </a:t>
          </a:r>
          <a:r>
            <a:rPr lang="en-US" altLang="en-US" sz="1800" b="1" kern="1200" dirty="0" err="1">
              <a:latin typeface="微软雅黑" panose="020B0503020204020204" pitchFamily="34" charset="-122"/>
              <a:ea typeface="微软雅黑" panose="020B0503020204020204" pitchFamily="34" charset="-122"/>
            </a:rPr>
            <a:t>cwnd</a:t>
          </a:r>
          <a:endParaRPr lang="zh-CN" altLang="en-US" sz="1800" b="1" kern="1200" dirty="0">
            <a:latin typeface="微软雅黑" panose="020B0503020204020204" pitchFamily="34" charset="-122"/>
            <a:ea typeface="微软雅黑" panose="020B0503020204020204" pitchFamily="34" charset="-122"/>
          </a:endParaRPr>
        </a:p>
      </dsp:txBody>
      <dsp:txXfrm>
        <a:off x="24874" y="24874"/>
        <a:ext cx="4792753" cy="459800"/>
      </dsp:txXfrm>
    </dsp:sp>
    <dsp:sp modelId="{52E83724-B715-4079-82F3-6EDE3B6F4C27}">
      <dsp:nvSpPr>
        <dsp:cNvPr id="0" name=""/>
        <dsp:cNvSpPr/>
      </dsp:nvSpPr>
      <dsp:spPr>
        <a:xfrm>
          <a:off x="0" y="511609"/>
          <a:ext cx="4842501" cy="957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749"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a:latin typeface="微软雅黑" panose="020B0503020204020204" pitchFamily="34" charset="-122"/>
              <a:ea typeface="微软雅黑" panose="020B0503020204020204" pitchFamily="34" charset="-122"/>
            </a:rPr>
            <a:t>初始值：</a:t>
          </a:r>
          <a:r>
            <a:rPr lang="en-US" altLang="en-US" sz="1800" b="1" kern="1200" dirty="0">
              <a:latin typeface="微软雅黑" panose="020B0503020204020204" pitchFamily="34" charset="-122"/>
              <a:ea typeface="微软雅黑" panose="020B0503020204020204" pitchFamily="34" charset="-122"/>
            </a:rPr>
            <a:t>2 </a:t>
          </a:r>
          <a:r>
            <a:rPr lang="zh-CN" altLang="en-US" sz="1800" b="1" kern="1200" dirty="0">
              <a:latin typeface="微软雅黑" panose="020B0503020204020204" pitchFamily="34" charset="-122"/>
              <a:ea typeface="微软雅黑" panose="020B0503020204020204" pitchFamily="34" charset="-122"/>
            </a:rPr>
            <a:t>种设置方法。</a:t>
          </a:r>
        </a:p>
        <a:p>
          <a:pPr marL="342900" lvl="2" indent="-171450" algn="l" defTabSz="800100">
            <a:lnSpc>
              <a:spcPct val="50000"/>
            </a:lnSpc>
            <a:spcBef>
              <a:spcPct val="0"/>
            </a:spcBef>
            <a:spcAft>
              <a:spcPts val="0"/>
            </a:spcAft>
            <a:buChar char="•"/>
          </a:pPr>
          <a:r>
            <a:rPr lang="en-US" altLang="en-US" sz="1800" b="1" kern="1200" dirty="0">
              <a:latin typeface="微软雅黑" panose="020B0503020204020204" pitchFamily="34" charset="-122"/>
              <a:ea typeface="微软雅黑" panose="020B0503020204020204" pitchFamily="34" charset="-122"/>
            </a:rPr>
            <a:t>1 </a:t>
          </a:r>
          <a:r>
            <a:rPr lang="zh-CN" altLang="en-US" sz="1800" b="1" kern="1200" dirty="0">
              <a:latin typeface="微软雅黑" panose="020B0503020204020204" pitchFamily="34" charset="-122"/>
              <a:ea typeface="微软雅黑" panose="020B0503020204020204" pitchFamily="34" charset="-122"/>
            </a:rPr>
            <a:t>至 </a:t>
          </a:r>
          <a:r>
            <a:rPr lang="en-US" altLang="en-US" sz="1800" b="1" kern="1200" dirty="0">
              <a:latin typeface="微软雅黑" panose="020B0503020204020204" pitchFamily="34" charset="-122"/>
              <a:ea typeface="微软雅黑" panose="020B0503020204020204" pitchFamily="34" charset="-122"/>
            </a:rPr>
            <a:t>2 </a:t>
          </a:r>
          <a:r>
            <a:rPr lang="zh-CN" altLang="en-US" sz="1800" b="1" kern="1200" dirty="0">
              <a:latin typeface="微软雅黑" panose="020B0503020204020204" pitchFamily="34" charset="-122"/>
              <a:ea typeface="微软雅黑" panose="020B0503020204020204" pitchFamily="34" charset="-122"/>
            </a:rPr>
            <a:t>个最大报文段 </a:t>
          </a:r>
          <a:r>
            <a:rPr lang="en-US" altLang="zh-CN" sz="1800" b="1" kern="1200" dirty="0">
              <a:latin typeface="微软雅黑" panose="020B0503020204020204" pitchFamily="34" charset="-122"/>
              <a:ea typeface="微软雅黑" panose="020B0503020204020204" pitchFamily="34" charset="-122"/>
            </a:rPr>
            <a:t>MSS</a:t>
          </a:r>
          <a:r>
            <a:rPr lang="zh-CN" altLang="en-US" sz="1800" b="1" kern="1200" dirty="0">
              <a:latin typeface="微软雅黑" panose="020B0503020204020204" pitchFamily="34" charset="-122"/>
              <a:ea typeface="微软雅黑" panose="020B0503020204020204" pitchFamily="34" charset="-122"/>
            </a:rPr>
            <a:t> （旧标准）</a:t>
          </a:r>
        </a:p>
        <a:p>
          <a:pPr marL="342900" lvl="2" indent="-171450" algn="l" defTabSz="800100">
            <a:lnSpc>
              <a:spcPct val="90000"/>
            </a:lnSpc>
            <a:spcBef>
              <a:spcPct val="0"/>
            </a:spcBef>
            <a:spcAft>
              <a:spcPct val="20000"/>
            </a:spcAft>
            <a:buChar char="•"/>
          </a:pPr>
          <a:r>
            <a:rPr lang="en-US" altLang="en-US" sz="1800" b="1" kern="1200" dirty="0">
              <a:latin typeface="微软雅黑" panose="020B0503020204020204" pitchFamily="34" charset="-122"/>
              <a:ea typeface="微软雅黑" panose="020B0503020204020204" pitchFamily="34" charset="-122"/>
            </a:rPr>
            <a:t>2 </a:t>
          </a:r>
          <a:r>
            <a:rPr lang="zh-CN" altLang="en-US" sz="1800" b="1" kern="1200" dirty="0">
              <a:latin typeface="微软雅黑" panose="020B0503020204020204" pitchFamily="34" charset="-122"/>
              <a:ea typeface="微软雅黑" panose="020B0503020204020204" pitchFamily="34" charset="-122"/>
            </a:rPr>
            <a:t>至 </a:t>
          </a:r>
          <a:r>
            <a:rPr lang="en-US" altLang="en-US" sz="1800" b="1" kern="1200" dirty="0">
              <a:latin typeface="微软雅黑" panose="020B0503020204020204" pitchFamily="34" charset="-122"/>
              <a:ea typeface="微软雅黑" panose="020B0503020204020204" pitchFamily="34" charset="-122"/>
            </a:rPr>
            <a:t>4 </a:t>
          </a:r>
          <a:r>
            <a:rPr lang="zh-CN" altLang="en-US" sz="1800" b="1" kern="1200" dirty="0">
              <a:latin typeface="微软雅黑" panose="020B0503020204020204" pitchFamily="34" charset="-122"/>
              <a:ea typeface="微软雅黑" panose="020B0503020204020204" pitchFamily="34" charset="-122"/>
            </a:rPr>
            <a:t>个最大报文段 </a:t>
          </a:r>
          <a:r>
            <a:rPr lang="en-US" altLang="zh-CN" sz="1800" b="1" kern="1200" dirty="0">
              <a:latin typeface="微软雅黑" panose="020B0503020204020204" pitchFamily="34" charset="-122"/>
              <a:ea typeface="微软雅黑" panose="020B0503020204020204" pitchFamily="34" charset="-122"/>
            </a:rPr>
            <a:t>MSS</a:t>
          </a:r>
          <a:r>
            <a:rPr lang="zh-CN" altLang="en-US" sz="1800" b="1" kern="1200" dirty="0">
              <a:latin typeface="微软雅黑" panose="020B0503020204020204" pitchFamily="34" charset="-122"/>
              <a:ea typeface="微软雅黑" panose="020B0503020204020204" pitchFamily="34" charset="-122"/>
            </a:rPr>
            <a:t>（</a:t>
          </a:r>
          <a:r>
            <a:rPr lang="en-US" altLang="en-US" sz="1800" b="1" kern="1200" dirty="0">
              <a:latin typeface="微软雅黑" panose="020B0503020204020204" pitchFamily="34" charset="-122"/>
              <a:ea typeface="微软雅黑" panose="020B0503020204020204" pitchFamily="34" charset="-122"/>
            </a:rPr>
            <a:t>RFC 5681</a:t>
          </a:r>
          <a:r>
            <a:rPr lang="zh-CN" altLang="en-US" sz="1800" b="1" kern="1200" dirty="0">
              <a:latin typeface="微软雅黑" panose="020B0503020204020204" pitchFamily="34" charset="-122"/>
              <a:ea typeface="微软雅黑" panose="020B0503020204020204" pitchFamily="34" charset="-122"/>
            </a:rPr>
            <a:t>）</a:t>
          </a:r>
        </a:p>
      </dsp:txBody>
      <dsp:txXfrm>
        <a:off x="0" y="511609"/>
        <a:ext cx="4842501" cy="957853"/>
      </dsp:txXfrm>
    </dsp:sp>
    <dsp:sp modelId="{0ACFF9AA-D159-4169-9A52-90FB187B15AF}">
      <dsp:nvSpPr>
        <dsp:cNvPr id="0" name=""/>
        <dsp:cNvSpPr/>
      </dsp:nvSpPr>
      <dsp:spPr>
        <a:xfrm>
          <a:off x="0" y="1469463"/>
          <a:ext cx="4842501" cy="509548"/>
        </a:xfrm>
        <a:prstGeom prst="round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a:scene3d>
          <a:camera prst="orthographicFront"/>
          <a:lightRig rig="flat" dir="t"/>
        </a:scene3d>
      </dsp:spPr>
      <dsp:style>
        <a:lnRef idx="1">
          <a:schemeClr val="accent3"/>
        </a:lnRef>
        <a:fillRef idx="2">
          <a:schemeClr val="accent3"/>
        </a:fillRef>
        <a:effectRef idx="1">
          <a:schemeClr val="accent3"/>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慢启动门限 </a:t>
          </a:r>
          <a:r>
            <a:rPr lang="en-US" altLang="en-US" sz="1800" b="1" kern="1200" dirty="0" err="1">
              <a:latin typeface="微软雅黑" panose="020B0503020204020204" pitchFamily="34" charset="-122"/>
              <a:ea typeface="微软雅黑" panose="020B0503020204020204" pitchFamily="34" charset="-122"/>
            </a:rPr>
            <a:t>ssthresh</a:t>
          </a:r>
          <a:endParaRPr lang="zh-CN" altLang="en-US" sz="1800" b="1" kern="1200" dirty="0">
            <a:latin typeface="微软雅黑" panose="020B0503020204020204" pitchFamily="34" charset="-122"/>
            <a:ea typeface="微软雅黑" panose="020B0503020204020204" pitchFamily="34" charset="-122"/>
          </a:endParaRPr>
        </a:p>
      </dsp:txBody>
      <dsp:txXfrm>
        <a:off x="24874" y="1494337"/>
        <a:ext cx="4792753" cy="459800"/>
      </dsp:txXfrm>
    </dsp:sp>
    <dsp:sp modelId="{A5F6C106-6A44-408A-BCD6-9853C05BAD0C}">
      <dsp:nvSpPr>
        <dsp:cNvPr id="0" name=""/>
        <dsp:cNvSpPr/>
      </dsp:nvSpPr>
      <dsp:spPr>
        <a:xfrm>
          <a:off x="0" y="1979012"/>
          <a:ext cx="4842501" cy="375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749" tIns="22860" rIns="128016" bIns="22860" numCol="1" spcCol="1270" anchor="t" anchorCtr="0">
          <a:noAutofit/>
        </a:bodyPr>
        <a:lstStyle/>
        <a:p>
          <a:pPr marL="171450" lvl="1" indent="-171450" algn="l" defTabSz="800100">
            <a:lnSpc>
              <a:spcPct val="90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防止拥塞窗口增长过大引起网络拥塞。</a:t>
          </a:r>
        </a:p>
      </dsp:txBody>
      <dsp:txXfrm>
        <a:off x="0" y="1979012"/>
        <a:ext cx="4842501" cy="37562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0E15-5814-42D3-93FB-FED52DF5F41F}">
      <dsp:nvSpPr>
        <dsp:cNvPr id="0" name=""/>
        <dsp:cNvSpPr/>
      </dsp:nvSpPr>
      <dsp:spPr>
        <a:xfrm>
          <a:off x="39" y="20035"/>
          <a:ext cx="3802683" cy="1521073"/>
        </a:xfrm>
        <a:prstGeom prst="rect">
          <a:avLst/>
        </a:prstGeom>
        <a:solidFill>
          <a:schemeClr val="accent1"/>
        </a:solidFill>
        <a:ln w="12700" cap="flat" cmpd="sng" algn="ctr">
          <a:solidFill>
            <a:schemeClr val="accent1">
              <a:shade val="15000"/>
            </a:schemeClr>
          </a:solid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altLang="en-US" sz="2000" b="1" kern="1200" dirty="0">
              <a:solidFill>
                <a:sysClr val="window" lastClr="FFFFFF"/>
              </a:solidFill>
              <a:latin typeface="微软雅黑" panose="020B0503020204020204" pitchFamily="34" charset="-122"/>
              <a:ea typeface="微软雅黑" panose="020B0503020204020204" pitchFamily="34" charset="-122"/>
              <a:cs typeface="+mn-cs"/>
            </a:rPr>
            <a:t>TCP Reno</a:t>
          </a:r>
          <a:endParaRPr lang="zh-CN" altLang="en-US" sz="2000" b="1" kern="1200" dirty="0">
            <a:solidFill>
              <a:sysClr val="window" lastClr="FFFFFF"/>
            </a:solidFill>
            <a:latin typeface="微软雅黑" panose="020B0503020204020204" pitchFamily="34" charset="-122"/>
            <a:ea typeface="微软雅黑" panose="020B0503020204020204" pitchFamily="34" charset="-122"/>
            <a:cs typeface="+mn-cs"/>
          </a:endParaRPr>
        </a:p>
      </dsp:txBody>
      <dsp:txXfrm>
        <a:off x="39" y="20035"/>
        <a:ext cx="3802683" cy="1521073"/>
      </dsp:txXfrm>
    </dsp:sp>
    <dsp:sp modelId="{72C5BA33-78B4-45DE-B9CA-22A272DDBE2C}">
      <dsp:nvSpPr>
        <dsp:cNvPr id="0" name=""/>
        <dsp:cNvSpPr/>
      </dsp:nvSpPr>
      <dsp:spPr>
        <a:xfrm>
          <a:off x="39" y="1541109"/>
          <a:ext cx="3802683" cy="2591280"/>
        </a:xfrm>
        <a:prstGeom prst="rect">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吞吐量稳定但偏低</a:t>
          </a:r>
        </a:p>
        <a:p>
          <a:pPr marL="228600" lvl="1" indent="-228600" algn="l" defTabSz="889000">
            <a:lnSpc>
              <a:spcPct val="90000"/>
            </a:lnSpc>
            <a:spcBef>
              <a:spcPct val="0"/>
            </a:spcBef>
            <a:spcAft>
              <a:spcPct val="15000"/>
            </a:spcAft>
            <a:buChar char="•"/>
          </a:pPr>
          <a:r>
            <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时延敏感性：容易积压队列，时延波动大</a:t>
          </a:r>
        </a:p>
        <a:p>
          <a:pPr marL="228600" lvl="1" indent="-228600" algn="l" defTabSz="889000">
            <a:lnSpc>
              <a:spcPct val="90000"/>
            </a:lnSpc>
            <a:spcBef>
              <a:spcPct val="0"/>
            </a:spcBef>
            <a:spcAft>
              <a:spcPct val="15000"/>
            </a:spcAft>
            <a:buChar char="•"/>
          </a:pPr>
          <a:r>
            <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公平性：偏向短 </a:t>
          </a:r>
          <a:r>
            <a:rPr lang="en-US"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RTT </a:t>
          </a:r>
          <a:r>
            <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流</a:t>
          </a:r>
        </a:p>
      </dsp:txBody>
      <dsp:txXfrm>
        <a:off x="39" y="1541109"/>
        <a:ext cx="3802683" cy="2591280"/>
      </dsp:txXfrm>
    </dsp:sp>
    <dsp:sp modelId="{3ACFDD6B-963A-45AA-AED6-29B2C66DA9EB}">
      <dsp:nvSpPr>
        <dsp:cNvPr id="0" name=""/>
        <dsp:cNvSpPr/>
      </dsp:nvSpPr>
      <dsp:spPr>
        <a:xfrm>
          <a:off x="4335099" y="20035"/>
          <a:ext cx="3802683" cy="1521073"/>
        </a:xfrm>
        <a:prstGeom prst="rect">
          <a:avLst/>
        </a:prstGeom>
        <a:solidFill>
          <a:schemeClr val="accent4"/>
        </a:solidFill>
        <a:ln w="12700" cap="flat" cmpd="sng" algn="ctr">
          <a:solidFill>
            <a:schemeClr val="accent4">
              <a:shade val="15000"/>
            </a:schemeClr>
          </a:solidFill>
          <a:prstDash val="solid"/>
          <a:miter lim="800000"/>
        </a:ln>
        <a:effectLst/>
      </dsp:spPr>
      <dsp:style>
        <a:lnRef idx="2">
          <a:schemeClr val="accent4">
            <a:shade val="15000"/>
          </a:schemeClr>
        </a:lnRef>
        <a:fillRef idx="1">
          <a:schemeClr val="accent4"/>
        </a:fillRef>
        <a:effectRef idx="0">
          <a:schemeClr val="accent4"/>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altLang="en-US" sz="2000" b="1" kern="1200" dirty="0">
              <a:solidFill>
                <a:sysClr val="window" lastClr="FFFFFF"/>
              </a:solidFill>
              <a:latin typeface="微软雅黑" panose="020B0503020204020204" pitchFamily="34" charset="-122"/>
              <a:ea typeface="微软雅黑" panose="020B0503020204020204" pitchFamily="34" charset="-122"/>
              <a:cs typeface="+mn-cs"/>
            </a:rPr>
            <a:t>TCP Vegas</a:t>
          </a:r>
          <a:endParaRPr lang="zh-CN" altLang="en-US" sz="2000" b="1" kern="1200" dirty="0">
            <a:solidFill>
              <a:sysClr val="window" lastClr="FFFFFF"/>
            </a:solidFill>
            <a:latin typeface="微软雅黑" panose="020B0503020204020204" pitchFamily="34" charset="-122"/>
            <a:ea typeface="微软雅黑" panose="020B0503020204020204" pitchFamily="34" charset="-122"/>
            <a:cs typeface="+mn-cs"/>
          </a:endParaRPr>
        </a:p>
      </dsp:txBody>
      <dsp:txXfrm>
        <a:off x="4335099" y="20035"/>
        <a:ext cx="3802683" cy="1521073"/>
      </dsp:txXfrm>
    </dsp:sp>
    <dsp:sp modelId="{AAB91EAD-75AE-4168-8A7F-B7A023AD8367}">
      <dsp:nvSpPr>
        <dsp:cNvPr id="0" name=""/>
        <dsp:cNvSpPr/>
      </dsp:nvSpPr>
      <dsp:spPr>
        <a:xfrm>
          <a:off x="4335099" y="1541109"/>
          <a:ext cx="3802683" cy="2591280"/>
        </a:xfrm>
        <a:prstGeom prst="rect">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吞吐量高效但需稳定 </a:t>
          </a:r>
          <a:r>
            <a:rPr lang="en-US"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RTT</a:t>
          </a:r>
          <a:endPar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endParaRPr>
        </a:p>
        <a:p>
          <a:pPr marL="228600" lvl="1" indent="-228600" algn="l" defTabSz="889000">
            <a:lnSpc>
              <a:spcPct val="90000"/>
            </a:lnSpc>
            <a:spcBef>
              <a:spcPct val="0"/>
            </a:spcBef>
            <a:spcAft>
              <a:spcPct val="15000"/>
            </a:spcAft>
            <a:buChar char="•"/>
          </a:pPr>
          <a:r>
            <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时延敏感性：控制精准，时延更低</a:t>
          </a:r>
        </a:p>
        <a:p>
          <a:pPr marL="228600" lvl="1" indent="-228600" algn="l" defTabSz="889000">
            <a:lnSpc>
              <a:spcPct val="90000"/>
            </a:lnSpc>
            <a:spcBef>
              <a:spcPct val="0"/>
            </a:spcBef>
            <a:spcAft>
              <a:spcPct val="15000"/>
            </a:spcAft>
            <a:buChar char="•"/>
          </a:pPr>
          <a:r>
            <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公平性：更公平，但依赖准确 </a:t>
          </a:r>
          <a:r>
            <a:rPr lang="en-US"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RTT </a:t>
          </a:r>
          <a:r>
            <a:rPr lang="zh-CN" altLang="en-US" sz="2000" b="1"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测量</a:t>
          </a:r>
        </a:p>
      </dsp:txBody>
      <dsp:txXfrm>
        <a:off x="4335099" y="1541109"/>
        <a:ext cx="3802683" cy="259128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723001-3A23-47FF-B521-01A8FD6783D9}" type="datetimeFigureOut">
              <a:rPr lang="zh-CN" altLang="en-US" smtClean="0"/>
              <a:t>2025/10/28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03AB7B-462E-45DF-806C-9309E34EC2B2}" type="slidenum">
              <a:rPr lang="zh-CN" altLang="en-US" smtClean="0"/>
              <a:t>‹#›</a:t>
            </a:fld>
            <a:endParaRPr lang="zh-CN" altLang="en-US"/>
          </a:p>
        </p:txBody>
      </p:sp>
    </p:spTree>
    <p:extLst>
      <p:ext uri="{BB962C8B-B14F-4D97-AF65-F5344CB8AC3E}">
        <p14:creationId xmlns:p14="http://schemas.microsoft.com/office/powerpoint/2010/main" val="2996347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F1115"/>
                </a:solidFill>
                <a:effectLst/>
                <a:latin typeface="quote-cjk-patch"/>
              </a:rPr>
              <a:t>在每个固定的计算周期结束时（比如，上一个数据包离开到下一个数据包离开的时间），路由器计算这个周期内的平均队列长度。当平均队列长度超过或等于</a:t>
            </a:r>
            <a:r>
              <a:rPr lang="en-US" altLang="zh-CN" b="0" i="0" dirty="0">
                <a:solidFill>
                  <a:srgbClr val="0F1115"/>
                </a:solidFill>
                <a:effectLst/>
                <a:latin typeface="quote-cjk-patch"/>
              </a:rPr>
              <a:t>1</a:t>
            </a:r>
            <a:r>
              <a:rPr lang="zh-CN" altLang="en-US" b="0" i="0" dirty="0">
                <a:solidFill>
                  <a:srgbClr val="0F1115"/>
                </a:solidFill>
                <a:effectLst/>
                <a:latin typeface="quote-cjk-patch"/>
              </a:rPr>
              <a:t>时，表明数据包到达路由器的速率开始</a:t>
            </a:r>
            <a:r>
              <a:rPr lang="zh-CN" altLang="en-US" b="1" i="0" dirty="0">
                <a:solidFill>
                  <a:srgbClr val="0F1115"/>
                </a:solidFill>
                <a:effectLst/>
                <a:latin typeface="quote-cjk-patch"/>
              </a:rPr>
              <a:t>持续地</a:t>
            </a:r>
            <a:r>
              <a:rPr lang="zh-CN" altLang="en-US" b="0" i="0" dirty="0">
                <a:solidFill>
                  <a:srgbClr val="0F1115"/>
                </a:solidFill>
                <a:effectLst/>
                <a:latin typeface="quote-cjk-patch"/>
              </a:rPr>
              <a:t>超过路由器转发出去的速率，队列正在形成并可能增长。这是</a:t>
            </a:r>
            <a:r>
              <a:rPr lang="zh-CN" altLang="en-US" b="1" i="0" dirty="0">
                <a:solidFill>
                  <a:srgbClr val="0F1115"/>
                </a:solidFill>
                <a:effectLst/>
                <a:latin typeface="quote-cjk-patch"/>
              </a:rPr>
              <a:t>拥塞开始的早期信号</a:t>
            </a:r>
            <a:r>
              <a:rPr lang="zh-CN" altLang="en-US" b="0" i="0" dirty="0">
                <a:solidFill>
                  <a:srgbClr val="0F1115"/>
                </a:solidFill>
                <a:effectLst/>
                <a:latin typeface="quote-cjk-patch"/>
              </a:rPr>
              <a:t>。</a:t>
            </a:r>
            <a:endParaRPr lang="en-US" altLang="zh-CN" b="0" i="0" dirty="0">
              <a:solidFill>
                <a:srgbClr val="0F1115"/>
              </a:solidFill>
              <a:effectLst/>
              <a:latin typeface="quote-cjk-patc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0F1115"/>
                </a:solidFill>
                <a:effectLst/>
                <a:latin typeface="quote-cjk-patch"/>
              </a:rPr>
              <a:t>“早期”的体现</a:t>
            </a:r>
            <a:r>
              <a:rPr lang="zh-CN" altLang="en-US" b="0" i="0" dirty="0">
                <a:solidFill>
                  <a:srgbClr val="0F1115"/>
                </a:solidFill>
                <a:effectLst/>
                <a:latin typeface="quote-cjk-patch"/>
              </a:rPr>
              <a:t>：阈值设为</a:t>
            </a:r>
            <a:r>
              <a:rPr lang="en-US" altLang="zh-CN" b="0" i="0" dirty="0">
                <a:solidFill>
                  <a:srgbClr val="0F1115"/>
                </a:solidFill>
                <a:effectLst/>
                <a:latin typeface="quote-cjk-patch"/>
              </a:rPr>
              <a:t>1</a:t>
            </a:r>
            <a:r>
              <a:rPr lang="zh-CN" altLang="en-US" b="0" i="0" dirty="0">
                <a:solidFill>
                  <a:srgbClr val="0F1115"/>
                </a:solidFill>
                <a:effectLst/>
                <a:latin typeface="quote-cjk-patch"/>
              </a:rPr>
              <a:t>，而不是等待队列满了（比如长度达到</a:t>
            </a:r>
            <a:r>
              <a:rPr lang="en-US" altLang="zh-CN" b="0" i="0" dirty="0">
                <a:solidFill>
                  <a:srgbClr val="0F1115"/>
                </a:solidFill>
                <a:effectLst/>
                <a:latin typeface="quote-cjk-patch"/>
              </a:rPr>
              <a:t>50</a:t>
            </a:r>
            <a:r>
              <a:rPr lang="zh-CN" altLang="en-US" b="0" i="0" dirty="0">
                <a:solidFill>
                  <a:srgbClr val="0F1115"/>
                </a:solidFill>
                <a:effectLst/>
                <a:latin typeface="quote-cjk-patch"/>
              </a:rPr>
              <a:t>）才报警。这给了发送端一个</a:t>
            </a:r>
            <a:r>
              <a:rPr lang="zh-CN" altLang="en-US" b="1" i="0" dirty="0">
                <a:solidFill>
                  <a:srgbClr val="0F1115"/>
                </a:solidFill>
                <a:effectLst/>
                <a:latin typeface="quote-cjk-patch"/>
              </a:rPr>
              <a:t>提前的、温和的警告</a:t>
            </a:r>
            <a:r>
              <a:rPr lang="zh-CN" altLang="en-US" b="0" i="0" dirty="0">
                <a:solidFill>
                  <a:srgbClr val="0F1115"/>
                </a:solidFill>
                <a:effectLst/>
                <a:latin typeface="quote-cjk-patch"/>
              </a:rPr>
              <a:t>，让它在下游路由器还没被塞满、开始丢包之前就主动降速，从而避免了更严重的拥塞和全局同步问题。</a:t>
            </a:r>
          </a:p>
          <a:p>
            <a:endParaRPr kumimoji="1" lang="zh-CN" altLang="en-US" dirty="0"/>
          </a:p>
        </p:txBody>
      </p:sp>
      <p:sp>
        <p:nvSpPr>
          <p:cNvPr id="4" name="灯片编号占位符 3"/>
          <p:cNvSpPr>
            <a:spLocks noGrp="1"/>
          </p:cNvSpPr>
          <p:nvPr>
            <p:ph type="sldNum" sz="quarter" idx="5"/>
          </p:nvPr>
        </p:nvSpPr>
        <p:spPr/>
        <p:txBody>
          <a:bodyPr/>
          <a:lstStyle/>
          <a:p>
            <a:fld id="{B003AB7B-462E-45DF-806C-9309E34EC2B2}" type="slidenum">
              <a:rPr lang="zh-CN" altLang="en-US" smtClean="0"/>
              <a:t>38</a:t>
            </a:fld>
            <a:endParaRPr lang="zh-CN" altLang="en-US"/>
          </a:p>
        </p:txBody>
      </p:sp>
    </p:spTree>
    <p:extLst>
      <p:ext uri="{BB962C8B-B14F-4D97-AF65-F5344CB8AC3E}">
        <p14:creationId xmlns:p14="http://schemas.microsoft.com/office/powerpoint/2010/main" val="4251087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003AB7B-462E-45DF-806C-9309E34EC2B2}" type="slidenum">
              <a:rPr lang="zh-CN" altLang="en-US" smtClean="0"/>
              <a:t>46</a:t>
            </a:fld>
            <a:endParaRPr lang="zh-CN" altLang="en-US"/>
          </a:p>
        </p:txBody>
      </p:sp>
    </p:spTree>
    <p:extLst>
      <p:ext uri="{BB962C8B-B14F-4D97-AF65-F5344CB8AC3E}">
        <p14:creationId xmlns:p14="http://schemas.microsoft.com/office/powerpoint/2010/main" val="29301634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7A8F1F-5742-463A-50DD-D53843336B3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D77E98-D195-0400-5F0E-8ED84610642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D6040F5-EF1B-D227-2C1E-BDD8BF3D7255}"/>
              </a:ext>
            </a:extLst>
          </p:cNvPr>
          <p:cNvSpPr>
            <a:spLocks noGrp="1"/>
          </p:cNvSpPr>
          <p:nvPr>
            <p:ph type="dt" sz="half" idx="10"/>
          </p:nvPr>
        </p:nvSpPr>
        <p:spPr/>
        <p:txBody>
          <a:bodyPr/>
          <a:lstStyle/>
          <a:p>
            <a:fld id="{D5186C39-2A08-4442-ACC9-70D373A33DAC}" type="datetime1">
              <a:rPr lang="zh-CN" altLang="en-US" smtClean="0"/>
              <a:t>2025/10/28</a:t>
            </a:fld>
            <a:endParaRPr lang="zh-CN" altLang="en-US"/>
          </a:p>
        </p:txBody>
      </p:sp>
      <p:sp>
        <p:nvSpPr>
          <p:cNvPr id="5" name="页脚占位符 4">
            <a:extLst>
              <a:ext uri="{FF2B5EF4-FFF2-40B4-BE49-F238E27FC236}">
                <a16:creationId xmlns:a16="http://schemas.microsoft.com/office/drawing/2014/main" id="{2D00D447-42AC-4D3A-6ED0-44EA9CF1F4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9D8F53-0241-FFDE-1E2C-1EE1AF39FCF6}"/>
              </a:ext>
            </a:extLst>
          </p:cNvPr>
          <p:cNvSpPr>
            <a:spLocks noGrp="1"/>
          </p:cNvSpPr>
          <p:nvPr>
            <p:ph type="sldNum" sz="quarter" idx="12"/>
          </p:nvPr>
        </p:nvSpPr>
        <p:spPr/>
        <p:txBody>
          <a:bodyPr/>
          <a:lstStyle/>
          <a:p>
            <a:fld id="{5956A083-5018-4B52-82A0-83241B8E3D94}" type="slidenum">
              <a:rPr lang="zh-CN" altLang="en-US" smtClean="0"/>
              <a:t>‹#›</a:t>
            </a:fld>
            <a:endParaRPr lang="zh-CN" altLang="en-US"/>
          </a:p>
        </p:txBody>
      </p:sp>
      <p:grpSp>
        <p:nvGrpSpPr>
          <p:cNvPr id="7" name="组合 6">
            <a:extLst>
              <a:ext uri="{FF2B5EF4-FFF2-40B4-BE49-F238E27FC236}">
                <a16:creationId xmlns:a16="http://schemas.microsoft.com/office/drawing/2014/main" id="{65ED7319-0352-2392-4659-BA4B49BAA34A}"/>
              </a:ext>
            </a:extLst>
          </p:cNvPr>
          <p:cNvGrpSpPr/>
          <p:nvPr userDrawn="1"/>
        </p:nvGrpSpPr>
        <p:grpSpPr>
          <a:xfrm>
            <a:off x="9741877" y="4991361"/>
            <a:ext cx="3176954" cy="2182169"/>
            <a:chOff x="9741877" y="4991361"/>
            <a:chExt cx="3176954" cy="2182169"/>
          </a:xfrm>
        </p:grpSpPr>
        <p:sp>
          <p:nvSpPr>
            <p:cNvPr id="8" name="平行四边形 7">
              <a:extLst>
                <a:ext uri="{FF2B5EF4-FFF2-40B4-BE49-F238E27FC236}">
                  <a16:creationId xmlns:a16="http://schemas.microsoft.com/office/drawing/2014/main" id="{604ED00F-DD5A-B106-A3E9-30709B0A5C8A}"/>
                </a:ext>
              </a:extLst>
            </p:cNvPr>
            <p:cNvSpPr/>
            <p:nvPr/>
          </p:nvSpPr>
          <p:spPr>
            <a:xfrm>
              <a:off x="9741877" y="5342416"/>
              <a:ext cx="3176954" cy="1633054"/>
            </a:xfrm>
            <a:prstGeom prst="parallelogram">
              <a:avLst>
                <a:gd name="adj" fmla="val 164471"/>
              </a:avLst>
            </a:prstGeom>
            <a:solidFill>
              <a:schemeClr val="bg1">
                <a:alpha val="80000"/>
              </a:schemeClr>
            </a:solidFill>
            <a:ln w="19050">
              <a:noFill/>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9" name="图片 8">
              <a:extLst>
                <a:ext uri="{FF2B5EF4-FFF2-40B4-BE49-F238E27FC236}">
                  <a16:creationId xmlns:a16="http://schemas.microsoft.com/office/drawing/2014/main" id="{C94B59A9-A6E6-6165-92AB-2B0228B37B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6550" y="4991361"/>
              <a:ext cx="2182169" cy="2182169"/>
            </a:xfrm>
            <a:prstGeom prst="rect">
              <a:avLst/>
            </a:prstGeom>
          </p:spPr>
        </p:pic>
      </p:grpSp>
    </p:spTree>
    <p:extLst>
      <p:ext uri="{BB962C8B-B14F-4D97-AF65-F5344CB8AC3E}">
        <p14:creationId xmlns:p14="http://schemas.microsoft.com/office/powerpoint/2010/main" val="1107048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E616B-70AD-1F6F-4891-FC4294DCBA8D}"/>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454043A-EFA3-34AB-D3D2-5BAC3AC879A4}"/>
              </a:ext>
            </a:extLst>
          </p:cNvPr>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269BCB6-5B97-54DA-0971-518205559F03}"/>
              </a:ext>
            </a:extLst>
          </p:cNvPr>
          <p:cNvSpPr>
            <a:spLocks noGrp="1"/>
          </p:cNvSpPr>
          <p:nvPr>
            <p:ph type="dt" sz="half" idx="10"/>
          </p:nvPr>
        </p:nvSpPr>
        <p:spPr/>
        <p:txBody>
          <a:bodyPr/>
          <a:lstStyle/>
          <a:p>
            <a:fld id="{081612AB-B090-461A-B2E1-F079838427D2}" type="datetime1">
              <a:rPr lang="zh-CN" altLang="en-US" smtClean="0"/>
              <a:t>2025/10/28</a:t>
            </a:fld>
            <a:endParaRPr lang="zh-CN" altLang="en-US"/>
          </a:p>
        </p:txBody>
      </p:sp>
      <p:sp>
        <p:nvSpPr>
          <p:cNvPr id="5" name="页脚占位符 4">
            <a:extLst>
              <a:ext uri="{FF2B5EF4-FFF2-40B4-BE49-F238E27FC236}">
                <a16:creationId xmlns:a16="http://schemas.microsoft.com/office/drawing/2014/main" id="{81B4E4AE-999E-5DCB-68F3-5A3D2310C6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AAA2DA-D7D0-6C1A-2927-AF8A4A6E053C}"/>
              </a:ext>
            </a:extLst>
          </p:cNvPr>
          <p:cNvSpPr>
            <a:spLocks noGrp="1"/>
          </p:cNvSpPr>
          <p:nvPr>
            <p:ph type="sldNum" sz="quarter" idx="12"/>
          </p:nvPr>
        </p:nvSpPr>
        <p:spPr/>
        <p:txBody>
          <a:bodyPr/>
          <a:lstStyle/>
          <a:p>
            <a:fld id="{5956A083-5018-4B52-82A0-83241B8E3D94}" type="slidenum">
              <a:rPr lang="zh-CN" altLang="en-US" smtClean="0"/>
              <a:t>‹#›</a:t>
            </a:fld>
            <a:endParaRPr lang="zh-CN" altLang="en-US"/>
          </a:p>
        </p:txBody>
      </p:sp>
    </p:spTree>
    <p:extLst>
      <p:ext uri="{BB962C8B-B14F-4D97-AF65-F5344CB8AC3E}">
        <p14:creationId xmlns:p14="http://schemas.microsoft.com/office/powerpoint/2010/main" val="1934559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9B9C6-FCAA-5108-F7F1-0ECCCABB38F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3B0D89D-26A9-AE08-CF89-90F751435D8F}"/>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2066DCB-7026-1845-8ED9-1FCB0A87220F}"/>
              </a:ext>
            </a:extLst>
          </p:cNvPr>
          <p:cNvSpPr>
            <a:spLocks noGrp="1"/>
          </p:cNvSpPr>
          <p:nvPr>
            <p:ph type="dt" sz="half" idx="10"/>
          </p:nvPr>
        </p:nvSpPr>
        <p:spPr/>
        <p:txBody>
          <a:bodyPr/>
          <a:lstStyle/>
          <a:p>
            <a:fld id="{65692C3A-C1CC-45B0-BF77-563A3A3A7918}" type="datetime1">
              <a:rPr lang="zh-CN" altLang="en-US" smtClean="0"/>
              <a:t>2025/10/28</a:t>
            </a:fld>
            <a:endParaRPr lang="zh-CN" altLang="en-US"/>
          </a:p>
        </p:txBody>
      </p:sp>
      <p:sp>
        <p:nvSpPr>
          <p:cNvPr id="5" name="页脚占位符 4">
            <a:extLst>
              <a:ext uri="{FF2B5EF4-FFF2-40B4-BE49-F238E27FC236}">
                <a16:creationId xmlns:a16="http://schemas.microsoft.com/office/drawing/2014/main" id="{C587A3AA-1D0F-E31C-8EB9-11F371B923A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5A6027A-59A0-99FE-2FBE-B5B06F3AD28D}"/>
              </a:ext>
            </a:extLst>
          </p:cNvPr>
          <p:cNvSpPr>
            <a:spLocks noGrp="1"/>
          </p:cNvSpPr>
          <p:nvPr>
            <p:ph type="sldNum" sz="quarter" idx="12"/>
          </p:nvPr>
        </p:nvSpPr>
        <p:spPr/>
        <p:txBody>
          <a:bodyPr/>
          <a:lstStyle/>
          <a:p>
            <a:fld id="{5956A083-5018-4B52-82A0-83241B8E3D94}" type="slidenum">
              <a:rPr lang="zh-CN" altLang="en-US" smtClean="0"/>
              <a:t>‹#›</a:t>
            </a:fld>
            <a:endParaRPr lang="zh-CN" altLang="en-US"/>
          </a:p>
        </p:txBody>
      </p:sp>
    </p:spTree>
    <p:extLst>
      <p:ext uri="{BB962C8B-B14F-4D97-AF65-F5344CB8AC3E}">
        <p14:creationId xmlns:p14="http://schemas.microsoft.com/office/powerpoint/2010/main" val="3502402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6D9AD8-DAA5-700D-0C71-1100A2550C4F}"/>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FF9648E-D2D1-5A08-84BD-234389197483}"/>
              </a:ext>
            </a:extLst>
          </p:cNvPr>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AA96FDC-F935-6CF2-37B8-3E5FCF085560}"/>
              </a:ext>
            </a:extLst>
          </p:cNvPr>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2AEF66B-00FC-7ED3-E6A3-004F2932175B}"/>
              </a:ext>
            </a:extLst>
          </p:cNvPr>
          <p:cNvSpPr>
            <a:spLocks noGrp="1"/>
          </p:cNvSpPr>
          <p:nvPr>
            <p:ph type="dt" sz="half" idx="10"/>
          </p:nvPr>
        </p:nvSpPr>
        <p:spPr/>
        <p:txBody>
          <a:bodyPr/>
          <a:lstStyle/>
          <a:p>
            <a:fld id="{21CFCE6F-522A-442F-A58C-93637CA59ACB}" type="datetime1">
              <a:rPr lang="zh-CN" altLang="en-US" smtClean="0"/>
              <a:t>2025/10/28</a:t>
            </a:fld>
            <a:endParaRPr lang="zh-CN" altLang="en-US"/>
          </a:p>
        </p:txBody>
      </p:sp>
      <p:sp>
        <p:nvSpPr>
          <p:cNvPr id="6" name="页脚占位符 5">
            <a:extLst>
              <a:ext uri="{FF2B5EF4-FFF2-40B4-BE49-F238E27FC236}">
                <a16:creationId xmlns:a16="http://schemas.microsoft.com/office/drawing/2014/main" id="{ADF5406E-7A32-D9A4-8ADB-8BB69850C4F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270863-DEFC-368C-5C6C-4AC1BEE07F71}"/>
              </a:ext>
            </a:extLst>
          </p:cNvPr>
          <p:cNvSpPr>
            <a:spLocks noGrp="1"/>
          </p:cNvSpPr>
          <p:nvPr>
            <p:ph type="sldNum" sz="quarter" idx="12"/>
          </p:nvPr>
        </p:nvSpPr>
        <p:spPr/>
        <p:txBody>
          <a:bodyPr/>
          <a:lstStyle/>
          <a:p>
            <a:fld id="{5956A083-5018-4B52-82A0-83241B8E3D94}" type="slidenum">
              <a:rPr lang="zh-CN" altLang="en-US" smtClean="0"/>
              <a:t>‹#›</a:t>
            </a:fld>
            <a:endParaRPr lang="zh-CN" altLang="en-US"/>
          </a:p>
        </p:txBody>
      </p:sp>
    </p:spTree>
    <p:extLst>
      <p:ext uri="{BB962C8B-B14F-4D97-AF65-F5344CB8AC3E}">
        <p14:creationId xmlns:p14="http://schemas.microsoft.com/office/powerpoint/2010/main" val="3781825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8658B-7EE4-EF39-06E7-31BA954C0B8D}"/>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3363ECB-CEFA-FC30-A707-0BF6094705E2}"/>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3A65C05-34C0-1D21-DF15-AE80B8C07D5A}"/>
              </a:ext>
            </a:extLst>
          </p:cNvPr>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DF593CA-B3A7-3F77-8C26-08ABD43B2223}"/>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CDE3E59-484C-BE25-8FEB-6AF049BD4457}"/>
              </a:ext>
            </a:extLst>
          </p:cNvPr>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E6F087D-D96F-C2A7-0775-5E1AE5F6B5F5}"/>
              </a:ext>
            </a:extLst>
          </p:cNvPr>
          <p:cNvSpPr>
            <a:spLocks noGrp="1"/>
          </p:cNvSpPr>
          <p:nvPr>
            <p:ph type="dt" sz="half" idx="10"/>
          </p:nvPr>
        </p:nvSpPr>
        <p:spPr/>
        <p:txBody>
          <a:bodyPr/>
          <a:lstStyle/>
          <a:p>
            <a:fld id="{DABA65CF-5C72-4545-9D32-48214B5E36C2}" type="datetime1">
              <a:rPr lang="zh-CN" altLang="en-US" smtClean="0"/>
              <a:t>2025/10/28</a:t>
            </a:fld>
            <a:endParaRPr lang="zh-CN" altLang="en-US"/>
          </a:p>
        </p:txBody>
      </p:sp>
      <p:sp>
        <p:nvSpPr>
          <p:cNvPr id="8" name="页脚占位符 7">
            <a:extLst>
              <a:ext uri="{FF2B5EF4-FFF2-40B4-BE49-F238E27FC236}">
                <a16:creationId xmlns:a16="http://schemas.microsoft.com/office/drawing/2014/main" id="{DE64F50E-C54C-7057-CFA3-7DB5830CEB6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C0178CD-E6C1-8E8D-7CBB-C74DF027DE64}"/>
              </a:ext>
            </a:extLst>
          </p:cNvPr>
          <p:cNvSpPr>
            <a:spLocks noGrp="1"/>
          </p:cNvSpPr>
          <p:nvPr>
            <p:ph type="sldNum" sz="quarter" idx="12"/>
          </p:nvPr>
        </p:nvSpPr>
        <p:spPr/>
        <p:txBody>
          <a:bodyPr/>
          <a:lstStyle/>
          <a:p>
            <a:fld id="{5956A083-5018-4B52-82A0-83241B8E3D94}" type="slidenum">
              <a:rPr lang="zh-CN" altLang="en-US" smtClean="0"/>
              <a:t>‹#›</a:t>
            </a:fld>
            <a:endParaRPr lang="zh-CN" altLang="en-US"/>
          </a:p>
        </p:txBody>
      </p:sp>
    </p:spTree>
    <p:extLst>
      <p:ext uri="{BB962C8B-B14F-4D97-AF65-F5344CB8AC3E}">
        <p14:creationId xmlns:p14="http://schemas.microsoft.com/office/powerpoint/2010/main" val="3928097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763BF3-F5F1-2C61-27AF-173AF4E3A360}"/>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D8819C8-C15D-389C-0ADA-58A462370830}"/>
              </a:ext>
            </a:extLst>
          </p:cNvPr>
          <p:cNvSpPr>
            <a:spLocks noGrp="1"/>
          </p:cNvSpPr>
          <p:nvPr>
            <p:ph type="dt" sz="half" idx="10"/>
          </p:nvPr>
        </p:nvSpPr>
        <p:spPr/>
        <p:txBody>
          <a:bodyPr/>
          <a:lstStyle/>
          <a:p>
            <a:fld id="{0C14DF36-AD24-4BD7-B4A4-385DAFA4CE6A}" type="datetime1">
              <a:rPr lang="zh-CN" altLang="en-US" smtClean="0"/>
              <a:t>2025/10/28</a:t>
            </a:fld>
            <a:endParaRPr lang="zh-CN" altLang="en-US"/>
          </a:p>
        </p:txBody>
      </p:sp>
      <p:sp>
        <p:nvSpPr>
          <p:cNvPr id="4" name="页脚占位符 3">
            <a:extLst>
              <a:ext uri="{FF2B5EF4-FFF2-40B4-BE49-F238E27FC236}">
                <a16:creationId xmlns:a16="http://schemas.microsoft.com/office/drawing/2014/main" id="{412DC035-8FB8-2AAB-488B-5133827A9B3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6CE729E-0080-74A6-098E-4457046336A3}"/>
              </a:ext>
            </a:extLst>
          </p:cNvPr>
          <p:cNvSpPr>
            <a:spLocks noGrp="1"/>
          </p:cNvSpPr>
          <p:nvPr>
            <p:ph type="sldNum" sz="quarter" idx="12"/>
          </p:nvPr>
        </p:nvSpPr>
        <p:spPr/>
        <p:txBody>
          <a:bodyPr/>
          <a:lstStyle/>
          <a:p>
            <a:fld id="{5956A083-5018-4B52-82A0-83241B8E3D94}" type="slidenum">
              <a:rPr lang="zh-CN" altLang="en-US" smtClean="0"/>
              <a:t>‹#›</a:t>
            </a:fld>
            <a:endParaRPr lang="zh-CN" altLang="en-US"/>
          </a:p>
        </p:txBody>
      </p:sp>
    </p:spTree>
    <p:extLst>
      <p:ext uri="{BB962C8B-B14F-4D97-AF65-F5344CB8AC3E}">
        <p14:creationId xmlns:p14="http://schemas.microsoft.com/office/powerpoint/2010/main" val="2133567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AA6204F-F9A7-6772-9CEF-79799258A51C}"/>
              </a:ext>
            </a:extLst>
          </p:cNvPr>
          <p:cNvSpPr>
            <a:spLocks noGrp="1"/>
          </p:cNvSpPr>
          <p:nvPr>
            <p:ph type="dt" sz="half" idx="10"/>
          </p:nvPr>
        </p:nvSpPr>
        <p:spPr/>
        <p:txBody>
          <a:bodyPr/>
          <a:lstStyle/>
          <a:p>
            <a:fld id="{F02B2AF0-BFEB-4AC7-9363-9321B2D2F93E}" type="datetime1">
              <a:rPr lang="zh-CN" altLang="en-US" smtClean="0"/>
              <a:t>2025/10/28</a:t>
            </a:fld>
            <a:endParaRPr lang="zh-CN" altLang="en-US"/>
          </a:p>
        </p:txBody>
      </p:sp>
      <p:sp>
        <p:nvSpPr>
          <p:cNvPr id="3" name="页脚占位符 2">
            <a:extLst>
              <a:ext uri="{FF2B5EF4-FFF2-40B4-BE49-F238E27FC236}">
                <a16:creationId xmlns:a16="http://schemas.microsoft.com/office/drawing/2014/main" id="{6C225B7A-C412-C732-8C06-500B8DD0F19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20D4271-3EDE-4ABB-131D-00E44A4BDB9A}"/>
              </a:ext>
            </a:extLst>
          </p:cNvPr>
          <p:cNvSpPr>
            <a:spLocks noGrp="1"/>
          </p:cNvSpPr>
          <p:nvPr>
            <p:ph type="sldNum" sz="quarter" idx="12"/>
          </p:nvPr>
        </p:nvSpPr>
        <p:spPr/>
        <p:txBody>
          <a:bodyPr/>
          <a:lstStyle/>
          <a:p>
            <a:fld id="{5956A083-5018-4B52-82A0-83241B8E3D94}" type="slidenum">
              <a:rPr lang="zh-CN" altLang="en-US" smtClean="0"/>
              <a:t>‹#›</a:t>
            </a:fld>
            <a:endParaRPr lang="zh-CN" altLang="en-US"/>
          </a:p>
        </p:txBody>
      </p:sp>
    </p:spTree>
    <p:extLst>
      <p:ext uri="{BB962C8B-B14F-4D97-AF65-F5344CB8AC3E}">
        <p14:creationId xmlns:p14="http://schemas.microsoft.com/office/powerpoint/2010/main" val="1266971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DFD8B9-4949-1A93-24A4-842B0E64618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3E9A705-D324-F587-CC2D-FCD8C923C7B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D364DB5-B07E-AF97-A922-51A523DA3F9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0378536-8538-3F22-3E8E-66393DC8DF44}"/>
              </a:ext>
            </a:extLst>
          </p:cNvPr>
          <p:cNvSpPr>
            <a:spLocks noGrp="1"/>
          </p:cNvSpPr>
          <p:nvPr>
            <p:ph type="dt" sz="half" idx="10"/>
          </p:nvPr>
        </p:nvSpPr>
        <p:spPr/>
        <p:txBody>
          <a:bodyPr/>
          <a:lstStyle/>
          <a:p>
            <a:fld id="{C8C24C58-8217-464B-9873-F947D58E6DF3}" type="datetime1">
              <a:rPr lang="zh-CN" altLang="en-US" smtClean="0"/>
              <a:t>2025/10/28</a:t>
            </a:fld>
            <a:endParaRPr lang="zh-CN" altLang="en-US"/>
          </a:p>
        </p:txBody>
      </p:sp>
      <p:sp>
        <p:nvSpPr>
          <p:cNvPr id="6" name="页脚占位符 5">
            <a:extLst>
              <a:ext uri="{FF2B5EF4-FFF2-40B4-BE49-F238E27FC236}">
                <a16:creationId xmlns:a16="http://schemas.microsoft.com/office/drawing/2014/main" id="{BF4AEC2F-2643-1EB6-2B0F-D6F9F1FD42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7F6BFB0-D017-7BFE-5CDC-D328F43C934B}"/>
              </a:ext>
            </a:extLst>
          </p:cNvPr>
          <p:cNvSpPr>
            <a:spLocks noGrp="1"/>
          </p:cNvSpPr>
          <p:nvPr>
            <p:ph type="sldNum" sz="quarter" idx="12"/>
          </p:nvPr>
        </p:nvSpPr>
        <p:spPr/>
        <p:txBody>
          <a:bodyPr/>
          <a:lstStyle/>
          <a:p>
            <a:fld id="{5956A083-5018-4B52-82A0-83241B8E3D94}" type="slidenum">
              <a:rPr lang="zh-CN" altLang="en-US" smtClean="0"/>
              <a:t>‹#›</a:t>
            </a:fld>
            <a:endParaRPr lang="zh-CN" altLang="en-US"/>
          </a:p>
        </p:txBody>
      </p:sp>
    </p:spTree>
    <p:extLst>
      <p:ext uri="{BB962C8B-B14F-4D97-AF65-F5344CB8AC3E}">
        <p14:creationId xmlns:p14="http://schemas.microsoft.com/office/powerpoint/2010/main" val="2294403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616FF3-F558-F815-B1F8-AB482C37B3E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000E879-0A6F-4815-43E8-5B2E9101394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5B06DFB-012D-0866-2682-1F073A4E844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F9469AE-67C1-F7C5-F464-802CD1042077}"/>
              </a:ext>
            </a:extLst>
          </p:cNvPr>
          <p:cNvSpPr>
            <a:spLocks noGrp="1"/>
          </p:cNvSpPr>
          <p:nvPr>
            <p:ph type="dt" sz="half" idx="10"/>
          </p:nvPr>
        </p:nvSpPr>
        <p:spPr/>
        <p:txBody>
          <a:bodyPr/>
          <a:lstStyle/>
          <a:p>
            <a:fld id="{3EB8C606-3A21-4221-8D8B-B771C3502B6F}" type="datetime1">
              <a:rPr lang="zh-CN" altLang="en-US" smtClean="0"/>
              <a:t>2025/10/28</a:t>
            </a:fld>
            <a:endParaRPr lang="zh-CN" altLang="en-US"/>
          </a:p>
        </p:txBody>
      </p:sp>
      <p:sp>
        <p:nvSpPr>
          <p:cNvPr id="6" name="页脚占位符 5">
            <a:extLst>
              <a:ext uri="{FF2B5EF4-FFF2-40B4-BE49-F238E27FC236}">
                <a16:creationId xmlns:a16="http://schemas.microsoft.com/office/drawing/2014/main" id="{CBE3B314-AE69-5477-A995-365EF8030BA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788C50F-C18C-02E5-18C3-245011A5EFBC}"/>
              </a:ext>
            </a:extLst>
          </p:cNvPr>
          <p:cNvSpPr>
            <a:spLocks noGrp="1"/>
          </p:cNvSpPr>
          <p:nvPr>
            <p:ph type="sldNum" sz="quarter" idx="12"/>
          </p:nvPr>
        </p:nvSpPr>
        <p:spPr/>
        <p:txBody>
          <a:bodyPr/>
          <a:lstStyle/>
          <a:p>
            <a:fld id="{5956A083-5018-4B52-82A0-83241B8E3D94}" type="slidenum">
              <a:rPr lang="zh-CN" altLang="en-US" smtClean="0"/>
              <a:t>‹#›</a:t>
            </a:fld>
            <a:endParaRPr lang="zh-CN" altLang="en-US"/>
          </a:p>
        </p:txBody>
      </p:sp>
    </p:spTree>
    <p:extLst>
      <p:ext uri="{BB962C8B-B14F-4D97-AF65-F5344CB8AC3E}">
        <p14:creationId xmlns:p14="http://schemas.microsoft.com/office/powerpoint/2010/main" val="677836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77DDC0-5F25-9574-0732-4BC278CBBAEB}"/>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BCEBE2B-515E-3D67-CEE3-B7A2A956CBB0}"/>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6E92AF3-AAE3-4BD0-C9C2-2A240BFB6C37}"/>
              </a:ext>
            </a:extLst>
          </p:cNvPr>
          <p:cNvSpPr>
            <a:spLocks noGrp="1"/>
          </p:cNvSpPr>
          <p:nvPr>
            <p:ph type="dt" sz="half" idx="10"/>
          </p:nvPr>
        </p:nvSpPr>
        <p:spPr/>
        <p:txBody>
          <a:bodyPr/>
          <a:lstStyle/>
          <a:p>
            <a:fld id="{28AF6D0B-D45A-4DF3-80D3-D5C47AE1A1AA}" type="datetime1">
              <a:rPr lang="zh-CN" altLang="en-US" smtClean="0"/>
              <a:t>2025/10/28</a:t>
            </a:fld>
            <a:endParaRPr lang="zh-CN" altLang="en-US"/>
          </a:p>
        </p:txBody>
      </p:sp>
      <p:sp>
        <p:nvSpPr>
          <p:cNvPr id="5" name="页脚占位符 4">
            <a:extLst>
              <a:ext uri="{FF2B5EF4-FFF2-40B4-BE49-F238E27FC236}">
                <a16:creationId xmlns:a16="http://schemas.microsoft.com/office/drawing/2014/main" id="{F012842B-E188-E64B-2702-DF17914A44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898BE37-AA34-9D71-56DD-571AE8C2C7AD}"/>
              </a:ext>
            </a:extLst>
          </p:cNvPr>
          <p:cNvSpPr>
            <a:spLocks noGrp="1"/>
          </p:cNvSpPr>
          <p:nvPr>
            <p:ph type="sldNum" sz="quarter" idx="12"/>
          </p:nvPr>
        </p:nvSpPr>
        <p:spPr/>
        <p:txBody>
          <a:bodyPr/>
          <a:lstStyle/>
          <a:p>
            <a:fld id="{5956A083-5018-4B52-82A0-83241B8E3D94}" type="slidenum">
              <a:rPr lang="zh-CN" altLang="en-US" smtClean="0"/>
              <a:t>‹#›</a:t>
            </a:fld>
            <a:endParaRPr lang="zh-CN" altLang="en-US"/>
          </a:p>
        </p:txBody>
      </p:sp>
    </p:spTree>
    <p:extLst>
      <p:ext uri="{BB962C8B-B14F-4D97-AF65-F5344CB8AC3E}">
        <p14:creationId xmlns:p14="http://schemas.microsoft.com/office/powerpoint/2010/main" val="3657256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85CAA2D-97D7-DDBA-B87B-3DCAF1AEAA13}"/>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49134FA-D0E9-F24C-62BD-9ADB9561753E}"/>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5EC4DDB-03C5-995C-CA5B-D098B34FBD2E}"/>
              </a:ext>
            </a:extLst>
          </p:cNvPr>
          <p:cNvSpPr>
            <a:spLocks noGrp="1"/>
          </p:cNvSpPr>
          <p:nvPr>
            <p:ph type="dt" sz="half" idx="10"/>
          </p:nvPr>
        </p:nvSpPr>
        <p:spPr/>
        <p:txBody>
          <a:bodyPr/>
          <a:lstStyle/>
          <a:p>
            <a:fld id="{B8172AA0-30E2-4A03-A9F3-7E359F5F60E1}" type="datetime1">
              <a:rPr lang="zh-CN" altLang="en-US" smtClean="0"/>
              <a:t>2025/10/28</a:t>
            </a:fld>
            <a:endParaRPr lang="zh-CN" altLang="en-US"/>
          </a:p>
        </p:txBody>
      </p:sp>
      <p:sp>
        <p:nvSpPr>
          <p:cNvPr id="5" name="页脚占位符 4">
            <a:extLst>
              <a:ext uri="{FF2B5EF4-FFF2-40B4-BE49-F238E27FC236}">
                <a16:creationId xmlns:a16="http://schemas.microsoft.com/office/drawing/2014/main" id="{481BE1CA-073E-DAFE-0D8A-426E19BDAD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A8CAD0B-8CA6-9DF5-45FF-691F7677CB07}"/>
              </a:ext>
            </a:extLst>
          </p:cNvPr>
          <p:cNvSpPr>
            <a:spLocks noGrp="1"/>
          </p:cNvSpPr>
          <p:nvPr>
            <p:ph type="sldNum" sz="quarter" idx="12"/>
          </p:nvPr>
        </p:nvSpPr>
        <p:spPr/>
        <p:txBody>
          <a:bodyPr/>
          <a:lstStyle/>
          <a:p>
            <a:fld id="{5956A083-5018-4B52-82A0-83241B8E3D94}" type="slidenum">
              <a:rPr lang="zh-CN" altLang="en-US" smtClean="0"/>
              <a:t>‹#›</a:t>
            </a:fld>
            <a:endParaRPr lang="zh-CN" altLang="en-US"/>
          </a:p>
        </p:txBody>
      </p:sp>
    </p:spTree>
    <p:extLst>
      <p:ext uri="{BB962C8B-B14F-4D97-AF65-F5344CB8AC3E}">
        <p14:creationId xmlns:p14="http://schemas.microsoft.com/office/powerpoint/2010/main" val="426032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36C47FB-6574-A9BE-0A3F-A4D5CF154627}"/>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日期占位符 3">
            <a:extLst>
              <a:ext uri="{FF2B5EF4-FFF2-40B4-BE49-F238E27FC236}">
                <a16:creationId xmlns:a16="http://schemas.microsoft.com/office/drawing/2014/main" id="{8D920512-F76A-F1B9-5FEE-36F50A7C7A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E6509E-423F-457C-ABD6-AC0B6A628512}" type="datetime1">
              <a:rPr lang="zh-CN" altLang="en-US" smtClean="0"/>
              <a:t>2025/10/28</a:t>
            </a:fld>
            <a:endParaRPr lang="zh-CN" altLang="en-US"/>
          </a:p>
        </p:txBody>
      </p:sp>
      <p:sp>
        <p:nvSpPr>
          <p:cNvPr id="5" name="页脚占位符 4">
            <a:extLst>
              <a:ext uri="{FF2B5EF4-FFF2-40B4-BE49-F238E27FC236}">
                <a16:creationId xmlns:a16="http://schemas.microsoft.com/office/drawing/2014/main" id="{9177A094-AA1C-EDA4-BE58-74309CDBA5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02E694A-F688-0CC3-0D93-AF9E354FF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56A083-5018-4B52-82A0-83241B8E3D94}" type="slidenum">
              <a:rPr lang="zh-CN" altLang="en-US" smtClean="0"/>
              <a:t>‹#›</a:t>
            </a:fld>
            <a:endParaRPr lang="zh-CN" altLang="en-US"/>
          </a:p>
        </p:txBody>
      </p:sp>
    </p:spTree>
    <p:extLst>
      <p:ext uri="{BB962C8B-B14F-4D97-AF65-F5344CB8AC3E}">
        <p14:creationId xmlns:p14="http://schemas.microsoft.com/office/powerpoint/2010/main" val="1013530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8.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8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82C96090-106E-7FB2-1592-A6B45B2BF8E5}"/>
              </a:ext>
            </a:extLst>
          </p:cNvPr>
          <p:cNvSpPr/>
          <p:nvPr/>
        </p:nvSpPr>
        <p:spPr>
          <a:xfrm>
            <a:off x="4910200" y="1503237"/>
            <a:ext cx="3851526" cy="3851526"/>
          </a:xfrm>
          <a:prstGeom prst="ellipse">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a:p>
        </p:txBody>
      </p:sp>
      <p:sp>
        <p:nvSpPr>
          <p:cNvPr id="5" name="矩形 4">
            <a:extLst>
              <a:ext uri="{FF2B5EF4-FFF2-40B4-BE49-F238E27FC236}">
                <a16:creationId xmlns:a16="http://schemas.microsoft.com/office/drawing/2014/main" id="{A249A04F-BA8F-082A-77B0-2F3AC3EAEBC7}"/>
              </a:ext>
            </a:extLst>
          </p:cNvPr>
          <p:cNvSpPr/>
          <p:nvPr/>
        </p:nvSpPr>
        <p:spPr>
          <a:xfrm>
            <a:off x="6403839" y="4121030"/>
            <a:ext cx="1925527" cy="430887"/>
          </a:xfrm>
          <a:prstGeom prst="rect">
            <a:avLst/>
          </a:prstGeom>
        </p:spPr>
        <p:txBody>
          <a:bodyPr wrap="none">
            <a:spAutoFit/>
          </a:bodyPr>
          <a:lstStyle/>
          <a:p>
            <a:r>
              <a:rPr lang="zh-CN" altLang="en-US" sz="2200" b="1" dirty="0">
                <a:solidFill>
                  <a:srgbClr val="2E3047"/>
                </a:solidFill>
                <a:latin typeface="造字工房朗倩（非商用）细体" pitchFamily="50" charset="-122"/>
                <a:ea typeface="造字工房朗倩（非商用）细体" pitchFamily="50" charset="-122"/>
              </a:rPr>
              <a:t>华中科技大学</a:t>
            </a:r>
          </a:p>
        </p:txBody>
      </p:sp>
      <p:sp>
        <p:nvSpPr>
          <p:cNvPr id="6" name="矩形 5">
            <a:extLst>
              <a:ext uri="{FF2B5EF4-FFF2-40B4-BE49-F238E27FC236}">
                <a16:creationId xmlns:a16="http://schemas.microsoft.com/office/drawing/2014/main" id="{3E0AC7AA-0BC5-C7BF-9B65-4D9733D30510}"/>
              </a:ext>
            </a:extLst>
          </p:cNvPr>
          <p:cNvSpPr/>
          <p:nvPr/>
        </p:nvSpPr>
        <p:spPr>
          <a:xfrm>
            <a:off x="4922213" y="4530847"/>
            <a:ext cx="3839513" cy="461665"/>
          </a:xfrm>
          <a:prstGeom prst="rect">
            <a:avLst/>
          </a:prstGeom>
        </p:spPr>
        <p:txBody>
          <a:bodyPr wrap="none">
            <a:spAutoFit/>
          </a:bodyPr>
          <a:lstStyle/>
          <a:p>
            <a:r>
              <a:rPr lang="en-US" altLang="zh-CN" sz="2400" dirty="0">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rPr>
              <a:t>Communication and Network</a:t>
            </a:r>
            <a:endParaRPr lang="zh-CN" altLang="en-US" sz="2400" dirty="0">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39ECDF27-70C6-D335-0C43-5191207845C1}"/>
              </a:ext>
            </a:extLst>
          </p:cNvPr>
          <p:cNvSpPr/>
          <p:nvPr/>
        </p:nvSpPr>
        <p:spPr>
          <a:xfrm>
            <a:off x="2789590" y="2472352"/>
            <a:ext cx="5012980" cy="1200329"/>
          </a:xfrm>
          <a:prstGeom prst="rect">
            <a:avLst/>
          </a:prstGeom>
        </p:spPr>
        <p:txBody>
          <a:bodyPr wrap="square">
            <a:spAutoFit/>
          </a:bodyPr>
          <a:lstStyle/>
          <a:p>
            <a:r>
              <a:rPr lang="zh-CN" altLang="en-US" sz="7200" spc="300" dirty="0">
                <a:solidFill>
                  <a:schemeClr val="tx1">
                    <a:lumMod val="85000"/>
                    <a:lumOff val="15000"/>
                  </a:schemeClr>
                </a:solidFill>
                <a:latin typeface="造字工房朗倩（非商用）常规体" pitchFamily="50" charset="-122"/>
                <a:ea typeface="造字工房朗倩（非商用）常规体" pitchFamily="50" charset="-122"/>
              </a:rPr>
              <a:t>计算机通信</a:t>
            </a:r>
            <a:endParaRPr lang="zh-CN" altLang="en-US" sz="7200" b="1" dirty="0">
              <a:ln w="38100">
                <a:solidFill>
                  <a:srgbClr val="FE9B71"/>
                </a:solidFill>
              </a:ln>
              <a:solidFill>
                <a:srgbClr val="FE9B71"/>
              </a:solidFill>
              <a:latin typeface="造字工房朗倩（非商用）细体" pitchFamily="50" charset="-122"/>
              <a:ea typeface="造字工房朗倩（非商用）细体" pitchFamily="50" charset="-122"/>
            </a:endParaRPr>
          </a:p>
        </p:txBody>
      </p:sp>
      <p:sp>
        <p:nvSpPr>
          <p:cNvPr id="8" name="矩形 7">
            <a:extLst>
              <a:ext uri="{FF2B5EF4-FFF2-40B4-BE49-F238E27FC236}">
                <a16:creationId xmlns:a16="http://schemas.microsoft.com/office/drawing/2014/main" id="{D060A3DA-8B82-D083-9CEA-E2F9528C13C6}"/>
              </a:ext>
            </a:extLst>
          </p:cNvPr>
          <p:cNvSpPr/>
          <p:nvPr/>
        </p:nvSpPr>
        <p:spPr>
          <a:xfrm>
            <a:off x="7561139" y="3153804"/>
            <a:ext cx="2839239" cy="1107996"/>
          </a:xfrm>
          <a:prstGeom prst="rect">
            <a:avLst/>
          </a:prstGeom>
        </p:spPr>
        <p:txBody>
          <a:bodyPr wrap="none">
            <a:spAutoFit/>
          </a:bodyPr>
          <a:lstStyle/>
          <a:p>
            <a:r>
              <a:rPr lang="zh-CN" altLang="en-US" sz="6600" spc="300" dirty="0">
                <a:solidFill>
                  <a:schemeClr val="tx1">
                    <a:lumMod val="85000"/>
                    <a:lumOff val="15000"/>
                  </a:schemeClr>
                </a:solidFill>
                <a:latin typeface="造字工房朗倩（非商用）常规体" pitchFamily="50" charset="-122"/>
                <a:ea typeface="造字工房朗倩（非商用）常规体" pitchFamily="50" charset="-122"/>
              </a:rPr>
              <a:t>与网络</a:t>
            </a:r>
            <a:endParaRPr lang="zh-CN" altLang="en-US" sz="6600" b="1" dirty="0">
              <a:ln w="38100">
                <a:solidFill>
                  <a:srgbClr val="FE9B71"/>
                </a:solidFill>
              </a:ln>
              <a:solidFill>
                <a:srgbClr val="FE9B71"/>
              </a:solidFill>
              <a:latin typeface="造字工房朗倩（非商用）细体" pitchFamily="50" charset="-122"/>
              <a:ea typeface="造字工房朗倩（非商用）细体" pitchFamily="50" charset="-122"/>
            </a:endParaRPr>
          </a:p>
        </p:txBody>
      </p:sp>
      <p:grpSp>
        <p:nvGrpSpPr>
          <p:cNvPr id="9" name="组合 8">
            <a:extLst>
              <a:ext uri="{FF2B5EF4-FFF2-40B4-BE49-F238E27FC236}">
                <a16:creationId xmlns:a16="http://schemas.microsoft.com/office/drawing/2014/main" id="{4447582A-369B-24E4-854F-C98F4D419D50}"/>
              </a:ext>
            </a:extLst>
          </p:cNvPr>
          <p:cNvGrpSpPr/>
          <p:nvPr/>
        </p:nvGrpSpPr>
        <p:grpSpPr>
          <a:xfrm>
            <a:off x="3878637" y="3599364"/>
            <a:ext cx="2506834" cy="1107996"/>
            <a:chOff x="1952155" y="3733070"/>
            <a:chExt cx="2506834" cy="1107996"/>
          </a:xfrm>
        </p:grpSpPr>
        <p:sp>
          <p:nvSpPr>
            <p:cNvPr id="10" name="矩形 9">
              <a:extLst>
                <a:ext uri="{FF2B5EF4-FFF2-40B4-BE49-F238E27FC236}">
                  <a16:creationId xmlns:a16="http://schemas.microsoft.com/office/drawing/2014/main" id="{D8B39E64-8FE6-7703-E9D0-A7117A18DCD4}"/>
                </a:ext>
              </a:extLst>
            </p:cNvPr>
            <p:cNvSpPr/>
            <p:nvPr/>
          </p:nvSpPr>
          <p:spPr>
            <a:xfrm>
              <a:off x="1952155" y="3733070"/>
              <a:ext cx="748923" cy="1107996"/>
            </a:xfrm>
            <a:prstGeom prst="rect">
              <a:avLst/>
            </a:prstGeom>
          </p:spPr>
          <p:txBody>
            <a:bodyPr wrap="none">
              <a:spAutoFit/>
            </a:bodyPr>
            <a:lstStyle/>
            <a:p>
              <a:r>
                <a:rPr lang="en-US" altLang="zh-CN" sz="6600" dirty="0">
                  <a:solidFill>
                    <a:srgbClr val="1F25A0"/>
                  </a:solidFill>
                  <a:latin typeface="Times New Roman" panose="02020603050405020304" pitchFamily="18" charset="0"/>
                  <a:cs typeface="Times New Roman" panose="02020603050405020304" pitchFamily="18" charset="0"/>
                </a:rPr>
                <a:t>C</a:t>
              </a:r>
              <a:endParaRPr lang="zh-CN" altLang="en-US" sz="19900" dirty="0">
                <a:solidFill>
                  <a:srgbClr val="1F25A0"/>
                </a:solidFill>
              </a:endParaRPr>
            </a:p>
          </p:txBody>
        </p:sp>
        <p:sp>
          <p:nvSpPr>
            <p:cNvPr id="11" name="矩形 10">
              <a:extLst>
                <a:ext uri="{FF2B5EF4-FFF2-40B4-BE49-F238E27FC236}">
                  <a16:creationId xmlns:a16="http://schemas.microsoft.com/office/drawing/2014/main" id="{9499D852-D898-4AFA-CA75-44016FA2DD88}"/>
                </a:ext>
              </a:extLst>
            </p:cNvPr>
            <p:cNvSpPr/>
            <p:nvPr/>
          </p:nvSpPr>
          <p:spPr>
            <a:xfrm>
              <a:off x="2557506" y="4187971"/>
              <a:ext cx="1901483" cy="523220"/>
            </a:xfrm>
            <a:prstGeom prst="rect">
              <a:avLst/>
            </a:prstGeom>
          </p:spPr>
          <p:txBody>
            <a:bodyPr wrap="none">
              <a:spAutoFit/>
            </a:bodyPr>
            <a:lstStyle/>
            <a:p>
              <a:r>
                <a:rPr lang="en-US" altLang="zh-CN" sz="2800" dirty="0">
                  <a:gradFill>
                    <a:gsLst>
                      <a:gs pos="100000">
                        <a:srgbClr val="1F25A0"/>
                      </a:gs>
                      <a:gs pos="0">
                        <a:srgbClr val="2E95D1"/>
                      </a:gs>
                    </a:gsLst>
                    <a:lin ang="10800000" scaled="0"/>
                  </a:gradFill>
                  <a:latin typeface="Times New Roman" panose="02020603050405020304" pitchFamily="18" charset="0"/>
                  <a:cs typeface="Times New Roman" panose="02020603050405020304" pitchFamily="18" charset="0"/>
                </a:rPr>
                <a:t>OMPUTER</a:t>
              </a:r>
              <a:endParaRPr lang="zh-CN" altLang="en-US" sz="6600" dirty="0">
                <a:gradFill>
                  <a:gsLst>
                    <a:gs pos="100000">
                      <a:srgbClr val="1F25A0"/>
                    </a:gs>
                    <a:gs pos="0">
                      <a:srgbClr val="2E95D1"/>
                    </a:gs>
                  </a:gsLst>
                  <a:lin ang="10800000" scaled="0"/>
                </a:gradFill>
              </a:endParaRPr>
            </a:p>
          </p:txBody>
        </p:sp>
      </p:grpSp>
      <p:pic>
        <p:nvPicPr>
          <p:cNvPr id="12" name="图形 11">
            <a:extLst>
              <a:ext uri="{FF2B5EF4-FFF2-40B4-BE49-F238E27FC236}">
                <a16:creationId xmlns:a16="http://schemas.microsoft.com/office/drawing/2014/main" id="{237BF797-BFD1-512E-F92E-7C6DA951A2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07302" y="1012617"/>
            <a:ext cx="2024728" cy="1323440"/>
          </a:xfrm>
          <a:prstGeom prst="rect">
            <a:avLst/>
          </a:prstGeom>
        </p:spPr>
      </p:pic>
      <p:grpSp>
        <p:nvGrpSpPr>
          <p:cNvPr id="13" name="组合 12">
            <a:extLst>
              <a:ext uri="{FF2B5EF4-FFF2-40B4-BE49-F238E27FC236}">
                <a16:creationId xmlns:a16="http://schemas.microsoft.com/office/drawing/2014/main" id="{9932BDF2-D202-49FE-C300-576C173A04D1}"/>
              </a:ext>
            </a:extLst>
          </p:cNvPr>
          <p:cNvGrpSpPr/>
          <p:nvPr/>
        </p:nvGrpSpPr>
        <p:grpSpPr>
          <a:xfrm>
            <a:off x="2673989" y="3373737"/>
            <a:ext cx="4792100" cy="707886"/>
            <a:chOff x="1047990" y="3273775"/>
            <a:chExt cx="4792100" cy="707886"/>
          </a:xfrm>
        </p:grpSpPr>
        <p:cxnSp>
          <p:nvCxnSpPr>
            <p:cNvPr id="14" name="直接连接符 13">
              <a:extLst>
                <a:ext uri="{FF2B5EF4-FFF2-40B4-BE49-F238E27FC236}">
                  <a16:creationId xmlns:a16="http://schemas.microsoft.com/office/drawing/2014/main" id="{C87BA768-8760-67CD-49AF-05BD8A62C91C}"/>
                </a:ext>
              </a:extLst>
            </p:cNvPr>
            <p:cNvCxnSpPr/>
            <p:nvPr/>
          </p:nvCxnSpPr>
          <p:spPr>
            <a:xfrm>
              <a:off x="1767518" y="3607637"/>
              <a:ext cx="4072572" cy="0"/>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00DDA3FB-C30A-6209-FC50-2B035A4BA699}"/>
                </a:ext>
              </a:extLst>
            </p:cNvPr>
            <p:cNvSpPr/>
            <p:nvPr/>
          </p:nvSpPr>
          <p:spPr>
            <a:xfrm>
              <a:off x="1047990" y="3273775"/>
              <a:ext cx="712054" cy="707886"/>
            </a:xfrm>
            <a:prstGeom prst="rect">
              <a:avLst/>
            </a:prstGeom>
            <a:effectLst/>
          </p:spPr>
          <p:txBody>
            <a:bodyPr wrap="none">
              <a:spAutoFit/>
            </a:bodyPr>
            <a:lstStyle/>
            <a:p>
              <a:pPr algn="ctr"/>
              <a:r>
                <a:rPr kumimoji="1" lang="en-US" altLang="zh-CN" sz="4000" b="1" dirty="0">
                  <a:solidFill>
                    <a:srgbClr val="00B0F0"/>
                  </a:solidFill>
                  <a:latin typeface="造字工房朗倩（非商用）细体" pitchFamily="50" charset="-122"/>
                  <a:ea typeface="造字工房朗倩（非商用）细体" pitchFamily="50" charset="-122"/>
                </a:rPr>
                <a:t>…</a:t>
              </a:r>
            </a:p>
          </p:txBody>
        </p:sp>
      </p:grpSp>
      <p:sp>
        <p:nvSpPr>
          <p:cNvPr id="2" name="灯片编号占位符 1">
            <a:extLst>
              <a:ext uri="{FF2B5EF4-FFF2-40B4-BE49-F238E27FC236}">
                <a16:creationId xmlns:a16="http://schemas.microsoft.com/office/drawing/2014/main" id="{E8F17BA8-CB95-4E30-BB52-EE6F78E6E513}"/>
              </a:ext>
            </a:extLst>
          </p:cNvPr>
          <p:cNvSpPr>
            <a:spLocks noGrp="1"/>
          </p:cNvSpPr>
          <p:nvPr>
            <p:ph type="sldNum" sz="quarter" idx="12"/>
          </p:nvPr>
        </p:nvSpPr>
        <p:spPr/>
        <p:txBody>
          <a:bodyPr/>
          <a:lstStyle/>
          <a:p>
            <a:fld id="{5956A083-5018-4B52-82A0-83241B8E3D94}" type="slidenum">
              <a:rPr lang="zh-CN" altLang="en-US" smtClean="0"/>
              <a:t>1</a:t>
            </a:fld>
            <a:endParaRPr lang="zh-CN" altLang="en-US"/>
          </a:p>
        </p:txBody>
      </p:sp>
    </p:spTree>
    <p:extLst>
      <p:ext uri="{BB962C8B-B14F-4D97-AF65-F5344CB8AC3E}">
        <p14:creationId xmlns:p14="http://schemas.microsoft.com/office/powerpoint/2010/main" val="3805396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5E7ADFA5-8900-C807-10D3-CCD52916976E}"/>
              </a:ext>
            </a:extLst>
          </p:cNvPr>
          <p:cNvGrpSpPr/>
          <p:nvPr/>
        </p:nvGrpSpPr>
        <p:grpSpPr>
          <a:xfrm>
            <a:off x="2616434" y="1833160"/>
            <a:ext cx="7678874" cy="3033162"/>
            <a:chOff x="2254846" y="2048468"/>
            <a:chExt cx="7678874" cy="3033162"/>
          </a:xfrm>
        </p:grpSpPr>
        <p:grpSp>
          <p:nvGrpSpPr>
            <p:cNvPr id="5" name="组合 4">
              <a:extLst>
                <a:ext uri="{FF2B5EF4-FFF2-40B4-BE49-F238E27FC236}">
                  <a16:creationId xmlns:a16="http://schemas.microsoft.com/office/drawing/2014/main" id="{B4E56697-D8B3-EFAC-DDFC-2B532B549B7D}"/>
                </a:ext>
              </a:extLst>
            </p:cNvPr>
            <p:cNvGrpSpPr/>
            <p:nvPr/>
          </p:nvGrpSpPr>
          <p:grpSpPr>
            <a:xfrm>
              <a:off x="2254846" y="2048468"/>
              <a:ext cx="7556266" cy="2547038"/>
              <a:chOff x="1691134" y="1536351"/>
              <a:chExt cx="5667202" cy="1910279"/>
            </a:xfrm>
          </p:grpSpPr>
          <p:sp>
            <p:nvSpPr>
              <p:cNvPr id="7" name="矩形 6">
                <a:extLst>
                  <a:ext uri="{FF2B5EF4-FFF2-40B4-BE49-F238E27FC236}">
                    <a16:creationId xmlns:a16="http://schemas.microsoft.com/office/drawing/2014/main" id="{E3A6C31D-FB96-0997-3DFB-5E07FEDDB4F1}"/>
                  </a:ext>
                </a:extLst>
              </p:cNvPr>
              <p:cNvSpPr/>
              <p:nvPr/>
            </p:nvSpPr>
            <p:spPr>
              <a:xfrm>
                <a:off x="1691134" y="1536351"/>
                <a:ext cx="1780777" cy="848742"/>
              </a:xfrm>
              <a:prstGeom prst="rect">
                <a:avLst/>
              </a:prstGeom>
            </p:spPr>
            <p:txBody>
              <a:bodyPr wrap="none">
                <a:spAutoFit/>
              </a:bodyPr>
              <a:lstStyle/>
              <a:p>
                <a:pPr algn="ctr">
                  <a:lnSpc>
                    <a:spcPct val="110000"/>
                  </a:lnSpc>
                </a:pPr>
                <a:r>
                  <a:rPr lang="zh-CN" altLang="en-US" sz="6600" dirty="0">
                    <a:solidFill>
                      <a:schemeClr val="tx1">
                        <a:lumMod val="85000"/>
                        <a:lumOff val="15000"/>
                      </a:schemeClr>
                    </a:solidFill>
                    <a:latin typeface="造字工房朗倩（非商用）常规体" pitchFamily="50" charset="-122"/>
                    <a:ea typeface="造字工房朗倩（非商用）常规体" pitchFamily="50" charset="-122"/>
                  </a:rPr>
                  <a:t>第</a:t>
                </a:r>
                <a:r>
                  <a:rPr lang="en-US" altLang="zh-CN" sz="6600" dirty="0">
                    <a:solidFill>
                      <a:schemeClr val="tx1">
                        <a:lumMod val="85000"/>
                        <a:lumOff val="15000"/>
                      </a:schemeClr>
                    </a:solidFill>
                    <a:latin typeface="造字工房朗倩（非商用）常规体" pitchFamily="50" charset="-122"/>
                    <a:ea typeface="造字工房朗倩（非商用）常规体" pitchFamily="50" charset="-122"/>
                  </a:rPr>
                  <a:t>6</a:t>
                </a:r>
                <a:r>
                  <a:rPr lang="zh-CN" altLang="en-US" sz="6600" dirty="0">
                    <a:solidFill>
                      <a:schemeClr val="tx1">
                        <a:lumMod val="85000"/>
                        <a:lumOff val="15000"/>
                      </a:schemeClr>
                    </a:solidFill>
                    <a:latin typeface="造字工房朗倩（非商用）常规体" pitchFamily="50" charset="-122"/>
                    <a:ea typeface="造字工房朗倩（非商用）常规体" pitchFamily="50" charset="-122"/>
                  </a:rPr>
                  <a:t>章</a:t>
                </a:r>
              </a:p>
            </p:txBody>
          </p:sp>
          <p:cxnSp>
            <p:nvCxnSpPr>
              <p:cNvPr id="10" name="直接连接符 9">
                <a:extLst>
                  <a:ext uri="{FF2B5EF4-FFF2-40B4-BE49-F238E27FC236}">
                    <a16:creationId xmlns:a16="http://schemas.microsoft.com/office/drawing/2014/main" id="{DE1E0955-1D59-069D-75BA-1BE42FEB6D20}"/>
                  </a:ext>
                </a:extLst>
              </p:cNvPr>
              <p:cNvCxnSpPr>
                <a:cxnSpLocks/>
              </p:cNvCxnSpPr>
              <p:nvPr/>
            </p:nvCxnSpPr>
            <p:spPr>
              <a:xfrm flipV="1">
                <a:off x="2055587" y="3439392"/>
                <a:ext cx="5302749" cy="7238"/>
              </a:xfrm>
              <a:prstGeom prst="line">
                <a:avLst/>
              </a:prstGeom>
              <a:ln w="9525">
                <a:solidFill>
                  <a:srgbClr val="2E3047"/>
                </a:solidFill>
              </a:ln>
              <a:effectLst/>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D003BA0A-10EB-5E58-AD99-F6187693B1F3}"/>
                </a:ext>
              </a:extLst>
            </p:cNvPr>
            <p:cNvSpPr/>
            <p:nvPr/>
          </p:nvSpPr>
          <p:spPr>
            <a:xfrm>
              <a:off x="8694278" y="4373744"/>
              <a:ext cx="1239442" cy="707886"/>
            </a:xfrm>
            <a:prstGeom prst="rect">
              <a:avLst/>
            </a:prstGeom>
            <a:effectLst/>
          </p:spPr>
          <p:txBody>
            <a:bodyPr wrap="none">
              <a:spAutoFit/>
            </a:bodyPr>
            <a:lstStyle/>
            <a:p>
              <a:pPr algn="ctr"/>
              <a:r>
                <a:rPr kumimoji="1" lang="en-US" altLang="zh-CN" sz="4000" b="1" dirty="0">
                  <a:solidFill>
                    <a:srgbClr val="2E95D1"/>
                  </a:solidFill>
                  <a:latin typeface="造字工房朗倩（非商用）细体" pitchFamily="50" charset="-122"/>
                  <a:ea typeface="造字工房朗倩（非商用）细体" pitchFamily="50" charset="-122"/>
                </a:rPr>
                <a:t>……</a:t>
              </a:r>
            </a:p>
          </p:txBody>
        </p:sp>
      </p:grpSp>
      <p:grpSp>
        <p:nvGrpSpPr>
          <p:cNvPr id="11" name="组合 10">
            <a:extLst>
              <a:ext uri="{FF2B5EF4-FFF2-40B4-BE49-F238E27FC236}">
                <a16:creationId xmlns:a16="http://schemas.microsoft.com/office/drawing/2014/main" id="{889FD520-505A-BE25-1B4D-D066B7ED7262}"/>
              </a:ext>
            </a:extLst>
          </p:cNvPr>
          <p:cNvGrpSpPr/>
          <p:nvPr/>
        </p:nvGrpSpPr>
        <p:grpSpPr>
          <a:xfrm>
            <a:off x="824456" y="1780458"/>
            <a:ext cx="1479553" cy="1353390"/>
            <a:chOff x="787397" y="1578243"/>
            <a:chExt cx="1679793" cy="1536555"/>
          </a:xfrm>
        </p:grpSpPr>
        <p:sp>
          <p:nvSpPr>
            <p:cNvPr id="12" name="Oval 6">
              <a:extLst>
                <a:ext uri="{FF2B5EF4-FFF2-40B4-BE49-F238E27FC236}">
                  <a16:creationId xmlns:a16="http://schemas.microsoft.com/office/drawing/2014/main" id="{DE5FCEFC-1772-AF10-4DD1-D0C86C708342}"/>
                </a:ext>
              </a:extLst>
            </p:cNvPr>
            <p:cNvSpPr/>
            <p:nvPr/>
          </p:nvSpPr>
          <p:spPr>
            <a:xfrm>
              <a:off x="934434" y="1608992"/>
              <a:ext cx="1532756" cy="1505806"/>
            </a:xfrm>
            <a:prstGeom prst="ellipse">
              <a:avLst/>
            </a:prstGeom>
            <a:solidFill>
              <a:schemeClr val="bg1"/>
            </a:solidFill>
            <a:ln>
              <a:gradFill>
                <a:gsLst>
                  <a:gs pos="0">
                    <a:srgbClr val="2E95D1"/>
                  </a:gs>
                  <a:gs pos="100000">
                    <a:srgbClr val="1F25A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Narkisim" panose="020E0502050101010101" pitchFamily="34" charset="-79"/>
              </a:endParaRPr>
            </a:p>
          </p:txBody>
        </p:sp>
        <p:pic>
          <p:nvPicPr>
            <p:cNvPr id="13" name="图片 12">
              <a:extLst>
                <a:ext uri="{FF2B5EF4-FFF2-40B4-BE49-F238E27FC236}">
                  <a16:creationId xmlns:a16="http://schemas.microsoft.com/office/drawing/2014/main" id="{0B7CBC71-B988-7341-3C0D-958B37DA6937}"/>
                </a:ext>
              </a:extLst>
            </p:cNvPr>
            <p:cNvPicPr>
              <a:picLocks noChangeAspect="1"/>
            </p:cNvPicPr>
            <p:nvPr/>
          </p:nvPicPr>
          <p:blipFill rotWithShape="1">
            <a:blip r:embed="rId2"/>
            <a:srcRect r="16607"/>
            <a:stretch>
              <a:fillRect/>
            </a:stretch>
          </p:blipFill>
          <p:spPr>
            <a:xfrm>
              <a:off x="787397" y="1578243"/>
              <a:ext cx="1602532" cy="1404482"/>
            </a:xfrm>
            <a:prstGeom prst="rect">
              <a:avLst/>
            </a:prstGeom>
            <a:effectLst/>
          </p:spPr>
        </p:pic>
      </p:grpSp>
      <p:sp>
        <p:nvSpPr>
          <p:cNvPr id="14" name="文本框 13">
            <a:extLst>
              <a:ext uri="{FF2B5EF4-FFF2-40B4-BE49-F238E27FC236}">
                <a16:creationId xmlns:a16="http://schemas.microsoft.com/office/drawing/2014/main" id="{5AC31226-CA26-B65F-27B9-DF8136122BC4}"/>
              </a:ext>
            </a:extLst>
          </p:cNvPr>
          <p:cNvSpPr txBox="1"/>
          <p:nvPr/>
        </p:nvSpPr>
        <p:spPr>
          <a:xfrm>
            <a:off x="3266128" y="2784146"/>
            <a:ext cx="7226138" cy="1150956"/>
          </a:xfrm>
          <a:prstGeom prst="rect">
            <a:avLst/>
          </a:prstGeom>
          <a:noFill/>
        </p:spPr>
        <p:txBody>
          <a:bodyPr wrap="square" rtlCol="0">
            <a:spAutoFit/>
          </a:bodyPr>
          <a:lstStyle/>
          <a:p>
            <a:pPr algn="ctr">
              <a:lnSpc>
                <a:spcPct val="110000"/>
              </a:lnSpc>
            </a:pPr>
            <a:r>
              <a:rPr lang="zh-CN" altLang="en-US" sz="6600" dirty="0">
                <a:solidFill>
                  <a:schemeClr val="tx1">
                    <a:lumMod val="85000"/>
                    <a:lumOff val="15000"/>
                  </a:schemeClr>
                </a:solidFill>
                <a:ea typeface="造字工房朗倩（非商用）常规体" pitchFamily="50" charset="-122"/>
              </a:rPr>
              <a:t>网络中的拥塞控制</a:t>
            </a:r>
          </a:p>
        </p:txBody>
      </p:sp>
      <p:sp>
        <p:nvSpPr>
          <p:cNvPr id="18" name="矩形 17">
            <a:extLst>
              <a:ext uri="{FF2B5EF4-FFF2-40B4-BE49-F238E27FC236}">
                <a16:creationId xmlns:a16="http://schemas.microsoft.com/office/drawing/2014/main" id="{B7328B4E-E3ED-0E1C-C920-1CF77A594E6E}"/>
              </a:ext>
            </a:extLst>
          </p:cNvPr>
          <p:cNvSpPr/>
          <p:nvPr/>
        </p:nvSpPr>
        <p:spPr>
          <a:xfrm>
            <a:off x="3476666" y="3653354"/>
            <a:ext cx="6321738" cy="598454"/>
          </a:xfrm>
          <a:prstGeom prst="rect">
            <a:avLst/>
          </a:prstGeom>
        </p:spPr>
        <p:txBody>
          <a:bodyPr wrap="square">
            <a:spAutoFit/>
          </a:bodyPr>
          <a:lstStyle/>
          <a:p>
            <a:r>
              <a:rPr lang="en-US" altLang="zh-CN" sz="4800" spc="300" baseline="-25000" dirty="0" err="1">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rPr>
              <a:t>ongestion</a:t>
            </a:r>
            <a:r>
              <a:rPr lang="en-US" altLang="zh-CN" sz="4800" spc="300" baseline="-25000" dirty="0">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rPr>
              <a:t> control in the network</a:t>
            </a:r>
            <a:endParaRPr lang="zh-CN" altLang="en-US" sz="4800" spc="300" baseline="-25000" dirty="0">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2AB02E05-B0FA-66B0-E1CA-93E0E5C672A8}"/>
              </a:ext>
            </a:extLst>
          </p:cNvPr>
          <p:cNvSpPr/>
          <p:nvPr/>
        </p:nvSpPr>
        <p:spPr>
          <a:xfrm>
            <a:off x="2899681" y="3166269"/>
            <a:ext cx="732893" cy="1077218"/>
          </a:xfrm>
          <a:prstGeom prst="rect">
            <a:avLst/>
          </a:prstGeom>
        </p:spPr>
        <p:txBody>
          <a:bodyPr wrap="none">
            <a:spAutoFit/>
          </a:bodyPr>
          <a:lstStyle/>
          <a:p>
            <a:r>
              <a:rPr lang="en-US" altLang="zh-CN" sz="9600" baseline="-25000" dirty="0">
                <a:solidFill>
                  <a:srgbClr val="2E95D1"/>
                </a:solidFill>
                <a:latin typeface="Times New Roman" panose="02020603050405020304" pitchFamily="18" charset="0"/>
                <a:cs typeface="Times New Roman" panose="02020603050405020304" pitchFamily="18" charset="0"/>
              </a:rPr>
              <a:t>C</a:t>
            </a:r>
            <a:endParaRPr lang="zh-CN" altLang="en-US" sz="9600" baseline="-25000" dirty="0">
              <a:solidFill>
                <a:srgbClr val="2E95D1"/>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34D1D1B8-6EFA-4895-8D8C-BD20B049E864}"/>
              </a:ext>
            </a:extLst>
          </p:cNvPr>
          <p:cNvSpPr>
            <a:spLocks noGrp="1"/>
          </p:cNvSpPr>
          <p:nvPr>
            <p:ph type="sldNum" sz="quarter" idx="12"/>
          </p:nvPr>
        </p:nvSpPr>
        <p:spPr/>
        <p:txBody>
          <a:bodyPr/>
          <a:lstStyle/>
          <a:p>
            <a:fld id="{5956A083-5018-4B52-82A0-83241B8E3D94}" type="slidenum">
              <a:rPr lang="zh-CN" altLang="en-US" smtClean="0"/>
              <a:t>2</a:t>
            </a:fld>
            <a:endParaRPr lang="zh-CN" altLang="en-US"/>
          </a:p>
        </p:txBody>
      </p:sp>
    </p:spTree>
    <p:extLst>
      <p:ext uri="{BB962C8B-B14F-4D97-AF65-F5344CB8AC3E}">
        <p14:creationId xmlns:p14="http://schemas.microsoft.com/office/powerpoint/2010/main" val="612614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5226B820-B657-95AF-4041-3FB9F89BB476}"/>
              </a:ext>
            </a:extLst>
          </p:cNvPr>
          <p:cNvGrpSpPr/>
          <p:nvPr/>
        </p:nvGrpSpPr>
        <p:grpSpPr>
          <a:xfrm>
            <a:off x="1725908" y="784596"/>
            <a:ext cx="4021248" cy="792886"/>
            <a:chOff x="1638299" y="2533650"/>
            <a:chExt cx="7427826" cy="822836"/>
          </a:xfrm>
        </p:grpSpPr>
        <p:sp>
          <p:nvSpPr>
            <p:cNvPr id="14" name="矩形: 圆角 53">
              <a:extLst>
                <a:ext uri="{FF2B5EF4-FFF2-40B4-BE49-F238E27FC236}">
                  <a16:creationId xmlns:a16="http://schemas.microsoft.com/office/drawing/2014/main" id="{375B7709-2DB2-093A-E28E-8EE72341C349}"/>
                </a:ext>
              </a:extLst>
            </p:cNvPr>
            <p:cNvSpPr/>
            <p:nvPr/>
          </p:nvSpPr>
          <p:spPr>
            <a:xfrm>
              <a:off x="1638299" y="2533650"/>
              <a:ext cx="7301525" cy="822836"/>
            </a:xfrm>
            <a:prstGeom prst="roundRect">
              <a:avLst/>
            </a:prstGeom>
            <a:solidFill>
              <a:schemeClr val="bg1"/>
            </a:solidFill>
            <a:ln>
              <a:solidFill>
                <a:srgbClr val="FEF1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07B7A157-77BB-117B-F139-F550F3337C99}"/>
                </a:ext>
              </a:extLst>
            </p:cNvPr>
            <p:cNvSpPr txBox="1"/>
            <p:nvPr/>
          </p:nvSpPr>
          <p:spPr>
            <a:xfrm>
              <a:off x="2078832" y="2638836"/>
              <a:ext cx="6987293" cy="606864"/>
            </a:xfrm>
            <a:prstGeom prst="rect">
              <a:avLst/>
            </a:prstGeom>
            <a:noFill/>
          </p:spPr>
          <p:txBody>
            <a:bodyPr wrap="square" rtlCol="0">
              <a:spAutoFit/>
            </a:bodyPr>
            <a:lstStyle/>
            <a:p>
              <a:pPr algn="ctr"/>
              <a:r>
                <a:rPr lang="zh-CN" altLang="en-US" sz="3200" dirty="0">
                  <a:solidFill>
                    <a:schemeClr val="accent5">
                      <a:lumMod val="75000"/>
                    </a:schemeClr>
                  </a:solidFill>
                  <a:latin typeface="思源黑体 CN Medium" panose="020B0600000000000000" pitchFamily="34" charset="-122"/>
                  <a:ea typeface="思源黑体 CN Medium" panose="020B0600000000000000" pitchFamily="34" charset="-122"/>
                </a:rPr>
                <a:t>目  录 </a:t>
              </a:r>
              <a:r>
                <a:rPr lang="en-US" altLang="zh-CN" sz="2000" i="1" dirty="0">
                  <a:solidFill>
                    <a:schemeClr val="accent5">
                      <a:lumMod val="75000"/>
                    </a:schemeClr>
                  </a:solidFill>
                  <a:latin typeface="思源黑体 CN Medium" panose="020B0600000000000000" pitchFamily="34" charset="-122"/>
                  <a:ea typeface="思源黑体 CN Medium" panose="020B0600000000000000" pitchFamily="34" charset="-122"/>
                </a:rPr>
                <a:t>/contents</a:t>
              </a:r>
              <a:endParaRPr lang="zh-CN" altLang="en-US" sz="3200" i="1" dirty="0">
                <a:solidFill>
                  <a:schemeClr val="accent5">
                    <a:lumMod val="75000"/>
                  </a:schemeClr>
                </a:solidFill>
                <a:latin typeface="思源黑体 CN Medium" panose="020B0600000000000000" pitchFamily="34" charset="-122"/>
                <a:ea typeface="思源黑体 CN Medium" panose="020B0600000000000000" pitchFamily="34" charset="-122"/>
              </a:endParaRPr>
            </a:p>
          </p:txBody>
        </p:sp>
        <p:sp>
          <p:nvSpPr>
            <p:cNvPr id="16" name="矩形: 圆角 55">
              <a:extLst>
                <a:ext uri="{FF2B5EF4-FFF2-40B4-BE49-F238E27FC236}">
                  <a16:creationId xmlns:a16="http://schemas.microsoft.com/office/drawing/2014/main" id="{43714F5C-B4D2-F236-8030-F699C39D506E}"/>
                </a:ext>
              </a:extLst>
            </p:cNvPr>
            <p:cNvSpPr/>
            <p:nvPr/>
          </p:nvSpPr>
          <p:spPr>
            <a:xfrm>
              <a:off x="1724818" y="2603031"/>
              <a:ext cx="7121343" cy="678474"/>
            </a:xfrm>
            <a:prstGeom prst="roundRect">
              <a:avLst/>
            </a:prstGeom>
            <a:noFill/>
            <a:ln>
              <a:gradFill>
                <a:gsLst>
                  <a:gs pos="0">
                    <a:srgbClr val="00A3F8"/>
                  </a:gs>
                  <a:gs pos="100000">
                    <a:srgbClr val="8296EF"/>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a:extLst>
              <a:ext uri="{FF2B5EF4-FFF2-40B4-BE49-F238E27FC236}">
                <a16:creationId xmlns:a16="http://schemas.microsoft.com/office/drawing/2014/main" id="{1B78C848-B7EF-5871-A3B3-4DA1487E32A6}"/>
              </a:ext>
            </a:extLst>
          </p:cNvPr>
          <p:cNvGrpSpPr/>
          <p:nvPr/>
        </p:nvGrpSpPr>
        <p:grpSpPr>
          <a:xfrm>
            <a:off x="722956" y="499480"/>
            <a:ext cx="1241446" cy="1166374"/>
            <a:chOff x="787397" y="1578243"/>
            <a:chExt cx="1679793" cy="1536555"/>
          </a:xfrm>
        </p:grpSpPr>
        <p:sp>
          <p:nvSpPr>
            <p:cNvPr id="18" name="Oval 6">
              <a:extLst>
                <a:ext uri="{FF2B5EF4-FFF2-40B4-BE49-F238E27FC236}">
                  <a16:creationId xmlns:a16="http://schemas.microsoft.com/office/drawing/2014/main" id="{022F99FA-85D7-24AD-2D6E-F775693BBB25}"/>
                </a:ext>
              </a:extLst>
            </p:cNvPr>
            <p:cNvSpPr/>
            <p:nvPr/>
          </p:nvSpPr>
          <p:spPr>
            <a:xfrm>
              <a:off x="934434" y="1608992"/>
              <a:ext cx="1532756" cy="1505806"/>
            </a:xfrm>
            <a:prstGeom prst="ellipse">
              <a:avLst/>
            </a:prstGeom>
            <a:solidFill>
              <a:schemeClr val="bg1"/>
            </a:solidFill>
            <a:ln>
              <a:gradFill>
                <a:gsLst>
                  <a:gs pos="0">
                    <a:srgbClr val="2E95D1"/>
                  </a:gs>
                  <a:gs pos="100000">
                    <a:srgbClr val="1F25A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Narkisim" panose="020E0502050101010101" pitchFamily="34" charset="-79"/>
              </a:endParaRPr>
            </a:p>
          </p:txBody>
        </p:sp>
        <p:pic>
          <p:nvPicPr>
            <p:cNvPr id="19" name="图片 18">
              <a:extLst>
                <a:ext uri="{FF2B5EF4-FFF2-40B4-BE49-F238E27FC236}">
                  <a16:creationId xmlns:a16="http://schemas.microsoft.com/office/drawing/2014/main" id="{DC18BB18-FC13-65BC-5ADF-D8297ED5BC8B}"/>
                </a:ext>
              </a:extLst>
            </p:cNvPr>
            <p:cNvPicPr>
              <a:picLocks noChangeAspect="1"/>
            </p:cNvPicPr>
            <p:nvPr/>
          </p:nvPicPr>
          <p:blipFill rotWithShape="1">
            <a:blip r:embed="rId2"/>
            <a:srcRect r="16607"/>
            <a:stretch/>
          </p:blipFill>
          <p:spPr>
            <a:xfrm>
              <a:off x="787397" y="1578243"/>
              <a:ext cx="1602532" cy="1404482"/>
            </a:xfrm>
            <a:prstGeom prst="rect">
              <a:avLst/>
            </a:prstGeom>
            <a:effectLst/>
          </p:spPr>
        </p:pic>
      </p:grpSp>
      <p:sp>
        <p:nvSpPr>
          <p:cNvPr id="25" name="文本框 24">
            <a:extLst>
              <a:ext uri="{FF2B5EF4-FFF2-40B4-BE49-F238E27FC236}">
                <a16:creationId xmlns:a16="http://schemas.microsoft.com/office/drawing/2014/main" id="{BD9B08B9-4C1E-534D-4712-87364DAAA132}"/>
              </a:ext>
            </a:extLst>
          </p:cNvPr>
          <p:cNvSpPr txBox="1"/>
          <p:nvPr/>
        </p:nvSpPr>
        <p:spPr>
          <a:xfrm>
            <a:off x="1013231" y="1732710"/>
            <a:ext cx="9467850" cy="4924425"/>
          </a:xfrm>
          <a:prstGeom prst="rect">
            <a:avLst/>
          </a:prstGeom>
          <a:noFill/>
        </p:spPr>
        <p:txBody>
          <a:bodyPr wrap="square" rtlCol="0">
            <a:spAutoFit/>
          </a:bodyPr>
          <a:lstStyle/>
          <a:p>
            <a:pPr marL="342900" indent="-342900">
              <a:spcAft>
                <a:spcPts val="600"/>
              </a:spcAft>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网络中的拥塞现象分析  </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a:spcAft>
                <a:spcPts val="600"/>
              </a:spcAft>
              <a:buClr>
                <a:srgbClr val="009FF6"/>
              </a:buClr>
            </a:pP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		—— </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从现实案例理解网络拥塞的本质</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spcAft>
                <a:spcPts val="600"/>
              </a:spcAft>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拥塞控制的基本方法  </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a:spcAft>
                <a:spcPts val="600"/>
              </a:spcAft>
              <a:buClr>
                <a:srgbClr val="009FF6"/>
              </a:buClr>
            </a:pP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		—— </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控制分类与主要策略比较</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spcAft>
                <a:spcPts val="600"/>
              </a:spcAft>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路由器上的分组排队规则  </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a:spcAft>
                <a:spcPts val="600"/>
              </a:spcAft>
              <a:buClr>
                <a:srgbClr val="009FF6"/>
              </a:buClr>
            </a:pP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		—— FIFO</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Fair Queuing</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RED</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等机制</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spcAft>
                <a:spcPts val="600"/>
              </a:spcAft>
              <a:buClr>
                <a:srgbClr val="009FF6"/>
              </a:buClr>
              <a:buFont typeface="Wingdings" panose="05000000000000000000" pitchFamily="2" charset="2"/>
              <a:buChar char="p"/>
            </a:pP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TCP </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拥塞控制机制详解  </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a:spcAft>
                <a:spcPts val="600"/>
              </a:spcAft>
              <a:buClr>
                <a:srgbClr val="009FF6"/>
              </a:buClr>
            </a:pP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		—— Reno</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Vegas</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BBR</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CUBIC</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等算法原理</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spcAft>
                <a:spcPts val="600"/>
              </a:spcAft>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数据中心网络中的拥塞控制  </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a:spcAft>
                <a:spcPts val="600"/>
              </a:spcAft>
              <a:buClr>
                <a:srgbClr val="009FF6"/>
              </a:buClr>
            </a:pP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		—— DCTCP</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DCQCN</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等现代方案</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spcAft>
                <a:spcPts val="600"/>
              </a:spcAft>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本章小结</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865F9FE4-0F51-40F4-BFB3-A4A80636D157}"/>
              </a:ext>
            </a:extLst>
          </p:cNvPr>
          <p:cNvSpPr>
            <a:spLocks noGrp="1"/>
          </p:cNvSpPr>
          <p:nvPr>
            <p:ph type="sldNum" sz="quarter" idx="12"/>
          </p:nvPr>
        </p:nvSpPr>
        <p:spPr/>
        <p:txBody>
          <a:bodyPr/>
          <a:lstStyle/>
          <a:p>
            <a:fld id="{5956A083-5018-4B52-82A0-83241B8E3D94}" type="slidenum">
              <a:rPr lang="zh-CN" altLang="en-US" smtClean="0"/>
              <a:t>3</a:t>
            </a:fld>
            <a:endParaRPr lang="zh-CN" altLang="en-US"/>
          </a:p>
        </p:txBody>
      </p:sp>
    </p:spTree>
    <p:extLst>
      <p:ext uri="{BB962C8B-B14F-4D97-AF65-F5344CB8AC3E}">
        <p14:creationId xmlns:p14="http://schemas.microsoft.com/office/powerpoint/2010/main" val="3695769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A44B1299-0762-7EED-3AB0-654E95799CE2}"/>
              </a:ext>
            </a:extLst>
          </p:cNvPr>
          <p:cNvGrpSpPr/>
          <p:nvPr/>
        </p:nvGrpSpPr>
        <p:grpSpPr>
          <a:xfrm>
            <a:off x="1458182" y="2398988"/>
            <a:ext cx="9928151" cy="2267383"/>
            <a:chOff x="129" y="2519622"/>
            <a:chExt cx="9928151" cy="2267383"/>
          </a:xfrm>
        </p:grpSpPr>
        <p:grpSp>
          <p:nvGrpSpPr>
            <p:cNvPr id="5" name="组合 4">
              <a:extLst>
                <a:ext uri="{FF2B5EF4-FFF2-40B4-BE49-F238E27FC236}">
                  <a16:creationId xmlns:a16="http://schemas.microsoft.com/office/drawing/2014/main" id="{0A6CA957-6FE3-3312-9839-3A02493B20EB}"/>
                </a:ext>
              </a:extLst>
            </p:cNvPr>
            <p:cNvGrpSpPr/>
            <p:nvPr/>
          </p:nvGrpSpPr>
          <p:grpSpPr>
            <a:xfrm>
              <a:off x="129" y="2519622"/>
              <a:ext cx="9928151" cy="1694679"/>
              <a:chOff x="99" y="1889716"/>
              <a:chExt cx="7446121" cy="1271009"/>
            </a:xfrm>
          </p:grpSpPr>
          <p:sp>
            <p:nvSpPr>
              <p:cNvPr id="7" name="矩形 6">
                <a:extLst>
                  <a:ext uri="{FF2B5EF4-FFF2-40B4-BE49-F238E27FC236}">
                    <a16:creationId xmlns:a16="http://schemas.microsoft.com/office/drawing/2014/main" id="{EC690420-C310-199C-76AA-95E722A1EC83}"/>
                  </a:ext>
                </a:extLst>
              </p:cNvPr>
              <p:cNvSpPr/>
              <p:nvPr/>
            </p:nvSpPr>
            <p:spPr>
              <a:xfrm>
                <a:off x="639629" y="1889716"/>
                <a:ext cx="6486399" cy="848742"/>
              </a:xfrm>
              <a:prstGeom prst="rect">
                <a:avLst/>
              </a:prstGeom>
            </p:spPr>
            <p:txBody>
              <a:bodyPr wrap="none">
                <a:spAutoFit/>
              </a:bodyPr>
              <a:lstStyle/>
              <a:p>
                <a:pPr algn="ctr">
                  <a:lnSpc>
                    <a:spcPct val="110000"/>
                  </a:lnSpc>
                </a:pPr>
                <a:r>
                  <a:rPr lang="zh-CN" altLang="en-US" sz="6600" dirty="0">
                    <a:solidFill>
                      <a:schemeClr val="tx1">
                        <a:lumMod val="85000"/>
                        <a:lumOff val="15000"/>
                      </a:schemeClr>
                    </a:solidFill>
                    <a:latin typeface="造字工房朗倩（非商用）常规体" pitchFamily="50" charset="-122"/>
                    <a:ea typeface="造字工房朗倩（非商用）常规体" pitchFamily="50" charset="-122"/>
                  </a:rPr>
                  <a:t>网络中的拥塞现象分析</a:t>
                </a:r>
              </a:p>
            </p:txBody>
          </p:sp>
          <p:sp>
            <p:nvSpPr>
              <p:cNvPr id="8" name="矩形 7">
                <a:extLst>
                  <a:ext uri="{FF2B5EF4-FFF2-40B4-BE49-F238E27FC236}">
                    <a16:creationId xmlns:a16="http://schemas.microsoft.com/office/drawing/2014/main" id="{39CD7A7A-D76F-6FAF-D44C-0B788D538FAB}"/>
                  </a:ext>
                </a:extLst>
              </p:cNvPr>
              <p:cNvSpPr/>
              <p:nvPr/>
            </p:nvSpPr>
            <p:spPr>
              <a:xfrm>
                <a:off x="465695" y="2620757"/>
                <a:ext cx="6980525" cy="438581"/>
              </a:xfrm>
              <a:prstGeom prst="rect">
                <a:avLst/>
              </a:prstGeom>
            </p:spPr>
            <p:txBody>
              <a:bodyPr wrap="none">
                <a:spAutoFit/>
              </a:bodyPr>
              <a:lstStyle/>
              <a:p>
                <a:r>
                  <a:rPr lang="en-US" altLang="zh-CN" sz="4800" spc="300" baseline="-25000" dirty="0">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rPr>
                  <a:t>nalysis of Congestion Phenomena in Networks</a:t>
                </a:r>
                <a:endParaRPr lang="zh-CN" altLang="en-US" sz="4800" spc="300" baseline="-25000" dirty="0">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72C84B49-604D-9762-4E82-E914DD385886}"/>
                  </a:ext>
                </a:extLst>
              </p:cNvPr>
              <p:cNvSpPr/>
              <p:nvPr/>
            </p:nvSpPr>
            <p:spPr>
              <a:xfrm>
                <a:off x="99" y="2238342"/>
                <a:ext cx="583333" cy="807913"/>
              </a:xfrm>
              <a:prstGeom prst="rect">
                <a:avLst/>
              </a:prstGeom>
            </p:spPr>
            <p:txBody>
              <a:bodyPr wrap="none">
                <a:spAutoFit/>
              </a:bodyPr>
              <a:lstStyle/>
              <a:p>
                <a:r>
                  <a:rPr lang="en-US" altLang="zh-CN" sz="9600" baseline="-25000" dirty="0">
                    <a:solidFill>
                      <a:srgbClr val="2E95D1"/>
                    </a:solidFill>
                    <a:latin typeface="Times New Roman" panose="02020603050405020304" pitchFamily="18" charset="0"/>
                    <a:cs typeface="Times New Roman" panose="02020603050405020304" pitchFamily="18" charset="0"/>
                  </a:rPr>
                  <a:t>A</a:t>
                </a:r>
                <a:endParaRPr lang="zh-CN" altLang="en-US" sz="9600" baseline="-25000" dirty="0">
                  <a:solidFill>
                    <a:srgbClr val="2E95D1"/>
                  </a:solidFill>
                  <a:latin typeface="Times New Roman" panose="02020603050405020304" pitchFamily="18" charset="0"/>
                  <a:cs typeface="Times New Roman" panose="02020603050405020304" pitchFamily="18" charset="0"/>
                </a:endParaRPr>
              </a:p>
            </p:txBody>
          </p:sp>
          <p:cxnSp>
            <p:nvCxnSpPr>
              <p:cNvPr id="10" name="直接连接符 9">
                <a:extLst>
                  <a:ext uri="{FF2B5EF4-FFF2-40B4-BE49-F238E27FC236}">
                    <a16:creationId xmlns:a16="http://schemas.microsoft.com/office/drawing/2014/main" id="{63775896-5DBA-1AB4-C1FB-E35910D3B796}"/>
                  </a:ext>
                </a:extLst>
              </p:cNvPr>
              <p:cNvCxnSpPr>
                <a:cxnSpLocks/>
              </p:cNvCxnSpPr>
              <p:nvPr/>
            </p:nvCxnSpPr>
            <p:spPr>
              <a:xfrm>
                <a:off x="376034" y="3160725"/>
                <a:ext cx="6749994" cy="0"/>
              </a:xfrm>
              <a:prstGeom prst="line">
                <a:avLst/>
              </a:prstGeom>
              <a:ln w="9525">
                <a:solidFill>
                  <a:srgbClr val="2E3047"/>
                </a:solidFill>
              </a:ln>
              <a:effectLst/>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8A90236B-1201-5999-BAEB-8272DE6AFFF2}"/>
                </a:ext>
              </a:extLst>
            </p:cNvPr>
            <p:cNvSpPr/>
            <p:nvPr/>
          </p:nvSpPr>
          <p:spPr>
            <a:xfrm>
              <a:off x="8408317" y="4079119"/>
              <a:ext cx="1239442" cy="707886"/>
            </a:xfrm>
            <a:prstGeom prst="rect">
              <a:avLst/>
            </a:prstGeom>
            <a:effectLst/>
          </p:spPr>
          <p:txBody>
            <a:bodyPr wrap="none">
              <a:spAutoFit/>
            </a:bodyPr>
            <a:lstStyle/>
            <a:p>
              <a:pPr algn="ctr"/>
              <a:r>
                <a:rPr kumimoji="1" lang="en-US" altLang="zh-CN" sz="4000" b="1" dirty="0">
                  <a:solidFill>
                    <a:srgbClr val="2E95D1"/>
                  </a:solidFill>
                  <a:latin typeface="造字工房朗倩（非商用）细体" pitchFamily="50" charset="-122"/>
                  <a:ea typeface="造字工房朗倩（非商用）细体" pitchFamily="50" charset="-122"/>
                </a:rPr>
                <a:t>……</a:t>
              </a:r>
            </a:p>
          </p:txBody>
        </p:sp>
      </p:grpSp>
      <p:grpSp>
        <p:nvGrpSpPr>
          <p:cNvPr id="11" name="组合 10">
            <a:extLst>
              <a:ext uri="{FF2B5EF4-FFF2-40B4-BE49-F238E27FC236}">
                <a16:creationId xmlns:a16="http://schemas.microsoft.com/office/drawing/2014/main" id="{636C2F7D-BA3A-EE65-12CE-28F0D2BED206}"/>
              </a:ext>
            </a:extLst>
          </p:cNvPr>
          <p:cNvGrpSpPr/>
          <p:nvPr/>
        </p:nvGrpSpPr>
        <p:grpSpPr>
          <a:xfrm>
            <a:off x="824456" y="1780458"/>
            <a:ext cx="1479553" cy="1353390"/>
            <a:chOff x="787397" y="1578243"/>
            <a:chExt cx="1679793" cy="1536555"/>
          </a:xfrm>
        </p:grpSpPr>
        <p:sp>
          <p:nvSpPr>
            <p:cNvPr id="12" name="Oval 6">
              <a:extLst>
                <a:ext uri="{FF2B5EF4-FFF2-40B4-BE49-F238E27FC236}">
                  <a16:creationId xmlns:a16="http://schemas.microsoft.com/office/drawing/2014/main" id="{134129AD-F0D8-7CBD-C434-048EA5A70B95}"/>
                </a:ext>
              </a:extLst>
            </p:cNvPr>
            <p:cNvSpPr/>
            <p:nvPr/>
          </p:nvSpPr>
          <p:spPr>
            <a:xfrm>
              <a:off x="934434" y="1608992"/>
              <a:ext cx="1532756" cy="1505806"/>
            </a:xfrm>
            <a:prstGeom prst="ellipse">
              <a:avLst/>
            </a:prstGeom>
            <a:solidFill>
              <a:schemeClr val="bg1"/>
            </a:solidFill>
            <a:ln>
              <a:gradFill>
                <a:gsLst>
                  <a:gs pos="0">
                    <a:srgbClr val="2E95D1"/>
                  </a:gs>
                  <a:gs pos="100000">
                    <a:srgbClr val="1F25A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Narkisim" panose="020E0502050101010101" pitchFamily="34" charset="-79"/>
              </a:endParaRPr>
            </a:p>
          </p:txBody>
        </p:sp>
        <p:pic>
          <p:nvPicPr>
            <p:cNvPr id="13" name="图片 12">
              <a:extLst>
                <a:ext uri="{FF2B5EF4-FFF2-40B4-BE49-F238E27FC236}">
                  <a16:creationId xmlns:a16="http://schemas.microsoft.com/office/drawing/2014/main" id="{9F421969-0380-33AE-7F08-4848B87D70BE}"/>
                </a:ext>
              </a:extLst>
            </p:cNvPr>
            <p:cNvPicPr>
              <a:picLocks noChangeAspect="1"/>
            </p:cNvPicPr>
            <p:nvPr/>
          </p:nvPicPr>
          <p:blipFill rotWithShape="1">
            <a:blip r:embed="rId2"/>
            <a:srcRect r="16607"/>
            <a:stretch>
              <a:fillRect/>
            </a:stretch>
          </p:blipFill>
          <p:spPr>
            <a:xfrm>
              <a:off x="787397" y="1578243"/>
              <a:ext cx="1602532" cy="1404482"/>
            </a:xfrm>
            <a:prstGeom prst="rect">
              <a:avLst/>
            </a:prstGeom>
            <a:effectLst/>
          </p:spPr>
        </p:pic>
      </p:grpSp>
      <p:sp>
        <p:nvSpPr>
          <p:cNvPr id="2" name="灯片编号占位符 1">
            <a:extLst>
              <a:ext uri="{FF2B5EF4-FFF2-40B4-BE49-F238E27FC236}">
                <a16:creationId xmlns:a16="http://schemas.microsoft.com/office/drawing/2014/main" id="{113C5DB3-270D-4861-BEFC-B7CC66C05A59}"/>
              </a:ext>
            </a:extLst>
          </p:cNvPr>
          <p:cNvSpPr>
            <a:spLocks noGrp="1"/>
          </p:cNvSpPr>
          <p:nvPr>
            <p:ph type="sldNum" sz="quarter" idx="12"/>
          </p:nvPr>
        </p:nvSpPr>
        <p:spPr/>
        <p:txBody>
          <a:bodyPr/>
          <a:lstStyle/>
          <a:p>
            <a:fld id="{5956A083-5018-4B52-82A0-83241B8E3D94}" type="slidenum">
              <a:rPr lang="zh-CN" altLang="en-US" smtClean="0"/>
              <a:t>4</a:t>
            </a:fld>
            <a:endParaRPr lang="zh-CN" altLang="en-US"/>
          </a:p>
        </p:txBody>
      </p:sp>
    </p:spTree>
    <p:extLst>
      <p:ext uri="{BB962C8B-B14F-4D97-AF65-F5344CB8AC3E}">
        <p14:creationId xmlns:p14="http://schemas.microsoft.com/office/powerpoint/2010/main" val="423181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4C0B529-9FE4-50AD-CDCC-D71307492E4B}"/>
              </a:ext>
            </a:extLst>
          </p:cNvPr>
          <p:cNvPicPr>
            <a:picLocks noChangeAspect="1"/>
          </p:cNvPicPr>
          <p:nvPr/>
        </p:nvPicPr>
        <p:blipFill>
          <a:blip r:embed="rId2"/>
          <a:stretch>
            <a:fillRect/>
          </a:stretch>
        </p:blipFill>
        <p:spPr>
          <a:xfrm>
            <a:off x="880452" y="2663059"/>
            <a:ext cx="3138407" cy="3429000"/>
          </a:xfrm>
          <a:prstGeom prst="rect">
            <a:avLst/>
          </a:prstGeom>
        </p:spPr>
      </p:pic>
      <p:pic>
        <p:nvPicPr>
          <p:cNvPr id="5" name="图片 4">
            <a:extLst>
              <a:ext uri="{FF2B5EF4-FFF2-40B4-BE49-F238E27FC236}">
                <a16:creationId xmlns:a16="http://schemas.microsoft.com/office/drawing/2014/main" id="{51D1E7A8-0428-A054-82C8-C00D509EDA54}"/>
              </a:ext>
            </a:extLst>
          </p:cNvPr>
          <p:cNvPicPr>
            <a:picLocks noChangeAspect="1"/>
          </p:cNvPicPr>
          <p:nvPr/>
        </p:nvPicPr>
        <p:blipFill>
          <a:blip r:embed="rId3"/>
          <a:srcRect t="3018" b="3448"/>
          <a:stretch>
            <a:fillRect/>
          </a:stretch>
        </p:blipFill>
        <p:spPr>
          <a:xfrm>
            <a:off x="4981045" y="2983663"/>
            <a:ext cx="3141273" cy="2066925"/>
          </a:xfrm>
          <a:prstGeom prst="roundRect">
            <a:avLst/>
          </a:prstGeom>
        </p:spPr>
      </p:pic>
      <p:grpSp>
        <p:nvGrpSpPr>
          <p:cNvPr id="6" name="组合 5">
            <a:extLst>
              <a:ext uri="{FF2B5EF4-FFF2-40B4-BE49-F238E27FC236}">
                <a16:creationId xmlns:a16="http://schemas.microsoft.com/office/drawing/2014/main" id="{18D8F159-7014-3214-C366-A99DCE0787F2}"/>
              </a:ext>
            </a:extLst>
          </p:cNvPr>
          <p:cNvGrpSpPr/>
          <p:nvPr/>
        </p:nvGrpSpPr>
        <p:grpSpPr>
          <a:xfrm>
            <a:off x="0" y="-272687"/>
            <a:ext cx="7243834" cy="1428589"/>
            <a:chOff x="551030" y="-368704"/>
            <a:chExt cx="7243834" cy="1428589"/>
          </a:xfrm>
        </p:grpSpPr>
        <p:grpSp>
          <p:nvGrpSpPr>
            <p:cNvPr id="7" name="组合 6">
              <a:extLst>
                <a:ext uri="{FF2B5EF4-FFF2-40B4-BE49-F238E27FC236}">
                  <a16:creationId xmlns:a16="http://schemas.microsoft.com/office/drawing/2014/main" id="{6A45F95E-1ACD-B016-8C42-03B240952175}"/>
                </a:ext>
              </a:extLst>
            </p:cNvPr>
            <p:cNvGrpSpPr/>
            <p:nvPr/>
          </p:nvGrpSpPr>
          <p:grpSpPr>
            <a:xfrm>
              <a:off x="1201632" y="303925"/>
              <a:ext cx="6593232" cy="686825"/>
              <a:chOff x="1839059" y="967769"/>
              <a:chExt cx="6593232" cy="686825"/>
            </a:xfrm>
          </p:grpSpPr>
          <p:sp>
            <p:nvSpPr>
              <p:cNvPr id="9" name="矩形: 圆角 8">
                <a:extLst>
                  <a:ext uri="{FF2B5EF4-FFF2-40B4-BE49-F238E27FC236}">
                    <a16:creationId xmlns:a16="http://schemas.microsoft.com/office/drawing/2014/main" id="{5DC54EBD-DC6B-B0C2-B8B5-F244E5630883}"/>
                  </a:ext>
                </a:extLst>
              </p:cNvPr>
              <p:cNvSpPr/>
              <p:nvPr/>
            </p:nvSpPr>
            <p:spPr>
              <a:xfrm>
                <a:off x="1839059" y="967769"/>
                <a:ext cx="5945408"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10" name="文本框 9">
                <a:extLst>
                  <a:ext uri="{FF2B5EF4-FFF2-40B4-BE49-F238E27FC236}">
                    <a16:creationId xmlns:a16="http://schemas.microsoft.com/office/drawing/2014/main" id="{133AE5FF-33C0-AAAD-03C1-77F2851333C7}"/>
                  </a:ext>
                </a:extLst>
              </p:cNvPr>
              <p:cNvSpPr txBox="1"/>
              <p:nvPr/>
            </p:nvSpPr>
            <p:spPr>
              <a:xfrm>
                <a:off x="2795619" y="1009434"/>
                <a:ext cx="5636672"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网络中的拥塞现象分析</a:t>
                </a:r>
              </a:p>
            </p:txBody>
          </p:sp>
        </p:grpSp>
        <p:pic>
          <p:nvPicPr>
            <p:cNvPr id="8" name="图片 7">
              <a:extLst>
                <a:ext uri="{FF2B5EF4-FFF2-40B4-BE49-F238E27FC236}">
                  <a16:creationId xmlns:a16="http://schemas.microsoft.com/office/drawing/2014/main" id="{F016AEA2-BDAE-E627-F4B9-90706A18B9B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11" name="组合 10">
            <a:extLst>
              <a:ext uri="{FF2B5EF4-FFF2-40B4-BE49-F238E27FC236}">
                <a16:creationId xmlns:a16="http://schemas.microsoft.com/office/drawing/2014/main" id="{EC834B81-0453-1C4F-0359-2AA737698D7D}"/>
              </a:ext>
            </a:extLst>
          </p:cNvPr>
          <p:cNvGrpSpPr/>
          <p:nvPr/>
        </p:nvGrpSpPr>
        <p:grpSpPr>
          <a:xfrm>
            <a:off x="301702" y="1301801"/>
            <a:ext cx="4123798" cy="526730"/>
            <a:chOff x="722008" y="1303131"/>
            <a:chExt cx="3193776" cy="502938"/>
          </a:xfrm>
        </p:grpSpPr>
        <p:grpSp>
          <p:nvGrpSpPr>
            <p:cNvPr id="12" name="组合 11">
              <a:extLst>
                <a:ext uri="{FF2B5EF4-FFF2-40B4-BE49-F238E27FC236}">
                  <a16:creationId xmlns:a16="http://schemas.microsoft.com/office/drawing/2014/main" id="{49ECE8CD-9295-D639-F296-4EF3614E8E1C}"/>
                </a:ext>
              </a:extLst>
            </p:cNvPr>
            <p:cNvGrpSpPr/>
            <p:nvPr/>
          </p:nvGrpSpPr>
          <p:grpSpPr>
            <a:xfrm>
              <a:off x="722008" y="1303131"/>
              <a:ext cx="546594" cy="475865"/>
              <a:chOff x="708742" y="1296102"/>
              <a:chExt cx="454744" cy="283828"/>
            </a:xfrm>
          </p:grpSpPr>
          <p:sp>
            <p:nvSpPr>
              <p:cNvPr id="15" name="平行四边形 14">
                <a:extLst>
                  <a:ext uri="{FF2B5EF4-FFF2-40B4-BE49-F238E27FC236}">
                    <a16:creationId xmlns:a16="http://schemas.microsoft.com/office/drawing/2014/main" id="{76876E25-3B11-6311-81ED-0DA6FB1D21E8}"/>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6" name="平行四边形 15">
                <a:extLst>
                  <a:ext uri="{FF2B5EF4-FFF2-40B4-BE49-F238E27FC236}">
                    <a16:creationId xmlns:a16="http://schemas.microsoft.com/office/drawing/2014/main" id="{6B4880FD-41DF-4F30-E3BF-0044D8F41D90}"/>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3" name="流程图: 手动输入 6">
              <a:extLst>
                <a:ext uri="{FF2B5EF4-FFF2-40B4-BE49-F238E27FC236}">
                  <a16:creationId xmlns:a16="http://schemas.microsoft.com/office/drawing/2014/main" id="{28C8730A-3523-91F6-6DC5-9D87E0983F5F}"/>
                </a:ext>
              </a:extLst>
            </p:cNvPr>
            <p:cNvSpPr/>
            <p:nvPr/>
          </p:nvSpPr>
          <p:spPr>
            <a:xfrm rot="5400000" flipV="1">
              <a:off x="2214260" y="80876"/>
              <a:ext cx="475861" cy="2927186"/>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sp>
          <p:nvSpPr>
            <p:cNvPr id="14" name="Text Box 79">
              <a:extLst>
                <a:ext uri="{FF2B5EF4-FFF2-40B4-BE49-F238E27FC236}">
                  <a16:creationId xmlns:a16="http://schemas.microsoft.com/office/drawing/2014/main" id="{37CD802F-5226-7E92-4DFF-0DA548374672}"/>
                </a:ext>
              </a:extLst>
            </p:cNvPr>
            <p:cNvSpPr txBox="1">
              <a:spLocks noChangeArrowheads="1"/>
            </p:cNvSpPr>
            <p:nvPr/>
          </p:nvSpPr>
          <p:spPr bwMode="auto">
            <a:xfrm>
              <a:off x="1351236" y="1335869"/>
              <a:ext cx="2564545"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生活中的案例</a:t>
              </a:r>
            </a:p>
          </p:txBody>
        </p:sp>
      </p:grpSp>
      <p:sp>
        <p:nvSpPr>
          <p:cNvPr id="17" name="文本框 16">
            <a:extLst>
              <a:ext uri="{FF2B5EF4-FFF2-40B4-BE49-F238E27FC236}">
                <a16:creationId xmlns:a16="http://schemas.microsoft.com/office/drawing/2014/main" id="{E3AE9062-13E9-B113-AFEE-37F5A5B1B531}"/>
              </a:ext>
            </a:extLst>
          </p:cNvPr>
          <p:cNvSpPr txBox="1"/>
          <p:nvPr/>
        </p:nvSpPr>
        <p:spPr>
          <a:xfrm>
            <a:off x="734411" y="2018777"/>
            <a:ext cx="6509423" cy="461665"/>
          </a:xfrm>
          <a:prstGeom prst="rect">
            <a:avLst/>
          </a:prstGeom>
          <a:noFill/>
        </p:spPr>
        <p:txBody>
          <a:bodyPr wrap="square" rtlCol="0">
            <a:spAutoFit/>
          </a:bodyPr>
          <a:lstStyle/>
          <a:p>
            <a:r>
              <a:rPr kumimoji="1" lang="zh-CN" altLang="en-US" sz="2400" dirty="0">
                <a:solidFill>
                  <a:schemeClr val="tx1">
                    <a:lumMod val="85000"/>
                    <a:lumOff val="15000"/>
                  </a:schemeClr>
                </a:solidFill>
                <a:ea typeface="思源黑体 CN Medium" panose="020B0600000000000000" pitchFamily="34" charset="-122"/>
              </a:rPr>
              <a:t>如：演唱会抢票、课程选课系统、电商大促等</a:t>
            </a:r>
          </a:p>
        </p:txBody>
      </p:sp>
      <p:sp>
        <p:nvSpPr>
          <p:cNvPr id="2" name="灯片编号占位符 1">
            <a:extLst>
              <a:ext uri="{FF2B5EF4-FFF2-40B4-BE49-F238E27FC236}">
                <a16:creationId xmlns:a16="http://schemas.microsoft.com/office/drawing/2014/main" id="{C9D17186-8277-4274-9637-46DB087B9D79}"/>
              </a:ext>
            </a:extLst>
          </p:cNvPr>
          <p:cNvSpPr>
            <a:spLocks noGrp="1"/>
          </p:cNvSpPr>
          <p:nvPr>
            <p:ph type="sldNum" sz="quarter" idx="12"/>
          </p:nvPr>
        </p:nvSpPr>
        <p:spPr/>
        <p:txBody>
          <a:bodyPr/>
          <a:lstStyle/>
          <a:p>
            <a:fld id="{5956A083-5018-4B52-82A0-83241B8E3D94}" type="slidenum">
              <a:rPr lang="zh-CN" altLang="en-US" smtClean="0"/>
              <a:t>5</a:t>
            </a:fld>
            <a:endParaRPr lang="zh-CN" altLang="en-US"/>
          </a:p>
        </p:txBody>
      </p:sp>
    </p:spTree>
    <p:extLst>
      <p:ext uri="{BB962C8B-B14F-4D97-AF65-F5344CB8AC3E}">
        <p14:creationId xmlns:p14="http://schemas.microsoft.com/office/powerpoint/2010/main" val="914058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EAD29-02A1-21C5-17DF-A35CDD71C834}"/>
            </a:ext>
          </a:extLst>
        </p:cNvPr>
        <p:cNvGrpSpPr/>
        <p:nvPr/>
      </p:nvGrpSpPr>
      <p:grpSpPr>
        <a:xfrm>
          <a:off x="0" y="0"/>
          <a:ext cx="0" cy="0"/>
          <a:chOff x="0" y="0"/>
          <a:chExt cx="0" cy="0"/>
        </a:xfrm>
      </p:grpSpPr>
      <p:grpSp>
        <p:nvGrpSpPr>
          <p:cNvPr id="9" name="组合 8">
            <a:extLst>
              <a:ext uri="{FF2B5EF4-FFF2-40B4-BE49-F238E27FC236}">
                <a16:creationId xmlns:a16="http://schemas.microsoft.com/office/drawing/2014/main" id="{121C9582-371F-7C32-DC7D-81C6552FEF7E}"/>
              </a:ext>
            </a:extLst>
          </p:cNvPr>
          <p:cNvGrpSpPr/>
          <p:nvPr/>
        </p:nvGrpSpPr>
        <p:grpSpPr>
          <a:xfrm>
            <a:off x="301702" y="1301801"/>
            <a:ext cx="4123798" cy="526730"/>
            <a:chOff x="722008" y="1303131"/>
            <a:chExt cx="3193776" cy="502938"/>
          </a:xfrm>
        </p:grpSpPr>
        <p:grpSp>
          <p:nvGrpSpPr>
            <p:cNvPr id="10" name="组合 9">
              <a:extLst>
                <a:ext uri="{FF2B5EF4-FFF2-40B4-BE49-F238E27FC236}">
                  <a16:creationId xmlns:a16="http://schemas.microsoft.com/office/drawing/2014/main" id="{546B64E4-43AC-6A97-3394-0BDE59C9541C}"/>
                </a:ext>
              </a:extLst>
            </p:cNvPr>
            <p:cNvGrpSpPr/>
            <p:nvPr/>
          </p:nvGrpSpPr>
          <p:grpSpPr>
            <a:xfrm>
              <a:off x="722008" y="1303131"/>
              <a:ext cx="546594" cy="475865"/>
              <a:chOff x="708742" y="1296102"/>
              <a:chExt cx="454744" cy="283828"/>
            </a:xfrm>
          </p:grpSpPr>
          <p:sp>
            <p:nvSpPr>
              <p:cNvPr id="13" name="平行四边形 12">
                <a:extLst>
                  <a:ext uri="{FF2B5EF4-FFF2-40B4-BE49-F238E27FC236}">
                    <a16:creationId xmlns:a16="http://schemas.microsoft.com/office/drawing/2014/main" id="{66C3D236-AB14-E8F0-4E53-83D0C61FB959}"/>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4" name="平行四边形 13">
                <a:extLst>
                  <a:ext uri="{FF2B5EF4-FFF2-40B4-BE49-F238E27FC236}">
                    <a16:creationId xmlns:a16="http://schemas.microsoft.com/office/drawing/2014/main" id="{00A93DA1-71F2-FE90-6D6C-BC99B2498A21}"/>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1" name="流程图: 手动输入 6">
              <a:extLst>
                <a:ext uri="{FF2B5EF4-FFF2-40B4-BE49-F238E27FC236}">
                  <a16:creationId xmlns:a16="http://schemas.microsoft.com/office/drawing/2014/main" id="{3B704059-A02C-AFD8-EDCB-7485A7DD2BDF}"/>
                </a:ext>
              </a:extLst>
            </p:cNvPr>
            <p:cNvSpPr/>
            <p:nvPr/>
          </p:nvSpPr>
          <p:spPr>
            <a:xfrm rot="5400000" flipV="1">
              <a:off x="2214260" y="80876"/>
              <a:ext cx="475861" cy="2927186"/>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sp>
          <p:nvSpPr>
            <p:cNvPr id="12" name="Text Box 79">
              <a:extLst>
                <a:ext uri="{FF2B5EF4-FFF2-40B4-BE49-F238E27FC236}">
                  <a16:creationId xmlns:a16="http://schemas.microsoft.com/office/drawing/2014/main" id="{F151E8A3-EB80-C5B0-2C00-D1C6072CB876}"/>
                </a:ext>
              </a:extLst>
            </p:cNvPr>
            <p:cNvSpPr txBox="1">
              <a:spLocks noChangeArrowheads="1"/>
            </p:cNvSpPr>
            <p:nvPr/>
          </p:nvSpPr>
          <p:spPr bwMode="auto">
            <a:xfrm>
              <a:off x="1351235" y="1335869"/>
              <a:ext cx="2128971"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网络拥塞的定义</a:t>
              </a:r>
            </a:p>
          </p:txBody>
        </p:sp>
      </p:grpSp>
      <p:sp>
        <p:nvSpPr>
          <p:cNvPr id="2" name="圆角矩形 32">
            <a:extLst>
              <a:ext uri="{FF2B5EF4-FFF2-40B4-BE49-F238E27FC236}">
                <a16:creationId xmlns:a16="http://schemas.microsoft.com/office/drawing/2014/main" id="{FD0C5706-2969-22E0-A2BA-282ABB4A45E7}"/>
              </a:ext>
            </a:extLst>
          </p:cNvPr>
          <p:cNvSpPr/>
          <p:nvPr/>
        </p:nvSpPr>
        <p:spPr>
          <a:xfrm>
            <a:off x="5791410" y="2074756"/>
            <a:ext cx="4107310" cy="31005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8">
            <a:extLst>
              <a:ext uri="{FF2B5EF4-FFF2-40B4-BE49-F238E27FC236}">
                <a16:creationId xmlns:a16="http://schemas.microsoft.com/office/drawing/2014/main" id="{0B0D3D3F-A2D1-8653-2892-DC7AF06AF485}"/>
              </a:ext>
            </a:extLst>
          </p:cNvPr>
          <p:cNvSpPr>
            <a:spLocks noChangeArrowheads="1"/>
          </p:cNvSpPr>
          <p:nvPr/>
        </p:nvSpPr>
        <p:spPr bwMode="auto">
          <a:xfrm>
            <a:off x="1007463" y="2074756"/>
            <a:ext cx="3552582" cy="3868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在某段时间，若对网络中某资源的需求超过了该资源所能提供的可用部分，</a:t>
            </a:r>
            <a:r>
              <a:rPr kumimoji="1" lang="zh-CN" altLang="en-US" sz="2400" dirty="0">
                <a:solidFill>
                  <a:schemeClr val="accent5">
                    <a:lumMod val="75000"/>
                  </a:schemeClr>
                </a:solidFill>
                <a:latin typeface="Times New Roman" panose="02020603050405020304" pitchFamily="18" charset="0"/>
                <a:ea typeface="思源黑体 CN Normal" panose="020B0400000000000000" pitchFamily="34" charset="-122"/>
                <a:cs typeface="Times New Roman" panose="02020603050405020304" pitchFamily="18" charset="0"/>
              </a:rPr>
              <a:t>网络的性能就要明显变坏</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，整个网络的吞吐量将随输入负荷的增大而下降。这种现象称为</a:t>
            </a:r>
            <a:r>
              <a:rPr kumimoji="1" lang="zh-CN" altLang="en-US" sz="2400" dirty="0">
                <a:solidFill>
                  <a:srgbClr val="FF0000"/>
                </a:solidFill>
                <a:latin typeface="Times New Roman" panose="02020603050405020304" pitchFamily="18" charset="0"/>
                <a:ea typeface="思源黑体 CN Normal" panose="020B0400000000000000" pitchFamily="34" charset="-122"/>
                <a:cs typeface="Times New Roman" panose="02020603050405020304" pitchFamily="18" charset="0"/>
              </a:rPr>
              <a:t>拥塞</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 </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(congestion)</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285750" indent="-285750">
              <a:lnSpc>
                <a:spcPts val="3300"/>
              </a:lnSpc>
              <a:buClr>
                <a:srgbClr val="0070C0"/>
              </a:buClr>
              <a:buFont typeface="Wingdings" pitchFamily="2" charset="2"/>
              <a:buChar char="l"/>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最坏结果：</a:t>
            </a:r>
            <a:r>
              <a:rPr kumimoji="1" lang="zh-CN" altLang="en-US" sz="2400" dirty="0">
                <a:solidFill>
                  <a:srgbClr val="FF0000"/>
                </a:solidFill>
                <a:latin typeface="Times New Roman" panose="02020603050405020304" pitchFamily="18" charset="0"/>
                <a:ea typeface="思源黑体 CN Normal" panose="020B0400000000000000" pitchFamily="34" charset="-122"/>
                <a:cs typeface="Times New Roman" panose="02020603050405020304" pitchFamily="18" charset="0"/>
              </a:rPr>
              <a:t>系统崩溃</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a:t>
            </a:r>
          </a:p>
        </p:txBody>
      </p:sp>
      <p:sp>
        <p:nvSpPr>
          <p:cNvPr id="30" name="Rectangle 2">
            <a:extLst>
              <a:ext uri="{FF2B5EF4-FFF2-40B4-BE49-F238E27FC236}">
                <a16:creationId xmlns:a16="http://schemas.microsoft.com/office/drawing/2014/main" id="{4E4B2131-6FD5-CEE9-4DF7-A312FC73776A}"/>
              </a:ext>
            </a:extLst>
          </p:cNvPr>
          <p:cNvSpPr>
            <a:spLocks noChangeArrowheads="1"/>
          </p:cNvSpPr>
          <p:nvPr/>
        </p:nvSpPr>
        <p:spPr bwMode="auto">
          <a:xfrm>
            <a:off x="8091874" y="2496402"/>
            <a:ext cx="484747" cy="2317428"/>
          </a:xfrm>
          <a:prstGeom prst="rect">
            <a:avLst/>
          </a:prstGeom>
          <a:solidFill>
            <a:srgbClr val="00FFFF"/>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sz="1200" b="1">
              <a:latin typeface="微软雅黑" pitchFamily="34" charset="-122"/>
              <a:ea typeface="微软雅黑" pitchFamily="34" charset="-122"/>
            </a:endParaRPr>
          </a:p>
        </p:txBody>
      </p:sp>
      <p:grpSp>
        <p:nvGrpSpPr>
          <p:cNvPr id="31" name="组合 30">
            <a:extLst>
              <a:ext uri="{FF2B5EF4-FFF2-40B4-BE49-F238E27FC236}">
                <a16:creationId xmlns:a16="http://schemas.microsoft.com/office/drawing/2014/main" id="{84FAC596-DA1B-6CA0-CA9C-E6D031C5E550}"/>
              </a:ext>
            </a:extLst>
          </p:cNvPr>
          <p:cNvGrpSpPr/>
          <p:nvPr/>
        </p:nvGrpSpPr>
        <p:grpSpPr>
          <a:xfrm>
            <a:off x="6311096" y="2329166"/>
            <a:ext cx="3122419" cy="2737100"/>
            <a:chOff x="4857857" y="1639611"/>
            <a:chExt cx="3122419" cy="2737100"/>
          </a:xfrm>
        </p:grpSpPr>
        <p:sp>
          <p:nvSpPr>
            <p:cNvPr id="32" name="Line 5">
              <a:extLst>
                <a:ext uri="{FF2B5EF4-FFF2-40B4-BE49-F238E27FC236}">
                  <a16:creationId xmlns:a16="http://schemas.microsoft.com/office/drawing/2014/main" id="{5761283A-A0A9-B585-3847-07E70B786408}"/>
                </a:ext>
              </a:extLst>
            </p:cNvPr>
            <p:cNvSpPr>
              <a:spLocks noChangeShapeType="1"/>
            </p:cNvSpPr>
            <p:nvPr/>
          </p:nvSpPr>
          <p:spPr bwMode="auto">
            <a:xfrm flipH="1" flipV="1">
              <a:off x="5130534" y="1722576"/>
              <a:ext cx="0" cy="105337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33" name="Line 6">
              <a:extLst>
                <a:ext uri="{FF2B5EF4-FFF2-40B4-BE49-F238E27FC236}">
                  <a16:creationId xmlns:a16="http://schemas.microsoft.com/office/drawing/2014/main" id="{148406BF-F020-5E90-7E97-51AB8B0784C1}"/>
                </a:ext>
              </a:extLst>
            </p:cNvPr>
            <p:cNvSpPr>
              <a:spLocks noChangeShapeType="1"/>
            </p:cNvSpPr>
            <p:nvPr/>
          </p:nvSpPr>
          <p:spPr bwMode="auto">
            <a:xfrm>
              <a:off x="5130534" y="2775953"/>
              <a:ext cx="220829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34" name="Freeform 7">
              <a:extLst>
                <a:ext uri="{FF2B5EF4-FFF2-40B4-BE49-F238E27FC236}">
                  <a16:creationId xmlns:a16="http://schemas.microsoft.com/office/drawing/2014/main" id="{08B17335-5406-9E6A-464C-9E00A0562EDE}"/>
                </a:ext>
              </a:extLst>
            </p:cNvPr>
            <p:cNvSpPr>
              <a:spLocks/>
            </p:cNvSpPr>
            <p:nvPr/>
          </p:nvSpPr>
          <p:spPr bwMode="auto">
            <a:xfrm>
              <a:off x="5130534" y="1806847"/>
              <a:ext cx="1777405" cy="979640"/>
            </a:xfrm>
            <a:custGeom>
              <a:avLst/>
              <a:gdLst>
                <a:gd name="T0" fmla="*/ 0 w 1584"/>
                <a:gd name="T1" fmla="*/ 2147483647 h 1212"/>
                <a:gd name="T2" fmla="*/ 0 w 1584"/>
                <a:gd name="T3" fmla="*/ 2147483647 h 1212"/>
                <a:gd name="T4" fmla="*/ 2147483647 w 1584"/>
                <a:gd name="T5" fmla="*/ 2147483647 h 1212"/>
                <a:gd name="T6" fmla="*/ 2147483647 w 1584"/>
                <a:gd name="T7" fmla="*/ 2147483647 h 1212"/>
                <a:gd name="T8" fmla="*/ 2147483647 w 1584"/>
                <a:gd name="T9" fmla="*/ 2147483647 h 1212"/>
                <a:gd name="T10" fmla="*/ 2147483647 w 1584"/>
                <a:gd name="T11" fmla="*/ 2147483647 h 1212"/>
                <a:gd name="T12" fmla="*/ 2147483647 w 1584"/>
                <a:gd name="T13" fmla="*/ 0 h 1212"/>
                <a:gd name="T14" fmla="*/ 2147483647 w 1584"/>
                <a:gd name="T15" fmla="*/ 0 h 1212"/>
                <a:gd name="T16" fmla="*/ 2147483647 w 1584"/>
                <a:gd name="T17" fmla="*/ 2147483647 h 1212"/>
                <a:gd name="T18" fmla="*/ 2147483647 w 1584"/>
                <a:gd name="T19" fmla="*/ 2147483647 h 1212"/>
                <a:gd name="T20" fmla="*/ 2147483647 w 1584"/>
                <a:gd name="T21" fmla="*/ 2147483647 h 1212"/>
                <a:gd name="T22" fmla="*/ 2147483647 w 1584"/>
                <a:gd name="T23" fmla="*/ 2147483647 h 12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4" h="1212">
                  <a:moveTo>
                    <a:pt x="0" y="1212"/>
                  </a:moveTo>
                  <a:cubicBezTo>
                    <a:pt x="0" y="1198"/>
                    <a:pt x="0" y="1184"/>
                    <a:pt x="0" y="1170"/>
                  </a:cubicBezTo>
                  <a:lnTo>
                    <a:pt x="96" y="768"/>
                  </a:lnTo>
                  <a:lnTo>
                    <a:pt x="240" y="480"/>
                  </a:lnTo>
                  <a:lnTo>
                    <a:pt x="480" y="192"/>
                  </a:lnTo>
                  <a:lnTo>
                    <a:pt x="816" y="48"/>
                  </a:lnTo>
                  <a:lnTo>
                    <a:pt x="1104" y="0"/>
                  </a:lnTo>
                  <a:lnTo>
                    <a:pt x="1344" y="0"/>
                  </a:lnTo>
                  <a:lnTo>
                    <a:pt x="1392" y="480"/>
                  </a:lnTo>
                  <a:lnTo>
                    <a:pt x="1488" y="1008"/>
                  </a:lnTo>
                  <a:lnTo>
                    <a:pt x="1536" y="1152"/>
                  </a:lnTo>
                  <a:lnTo>
                    <a:pt x="1584" y="120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35" name="Line 8">
              <a:extLst>
                <a:ext uri="{FF2B5EF4-FFF2-40B4-BE49-F238E27FC236}">
                  <a16:creationId xmlns:a16="http://schemas.microsoft.com/office/drawing/2014/main" id="{6C6FC5EF-98C5-0A44-6D09-2ECEB4DA3851}"/>
                </a:ext>
              </a:extLst>
            </p:cNvPr>
            <p:cNvSpPr>
              <a:spLocks noChangeShapeType="1"/>
            </p:cNvSpPr>
            <p:nvPr/>
          </p:nvSpPr>
          <p:spPr bwMode="auto">
            <a:xfrm>
              <a:off x="6628125" y="1722576"/>
              <a:ext cx="0" cy="113764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36" name="Line 9">
              <a:extLst>
                <a:ext uri="{FF2B5EF4-FFF2-40B4-BE49-F238E27FC236}">
                  <a16:creationId xmlns:a16="http://schemas.microsoft.com/office/drawing/2014/main" id="{469D4117-0E0A-7717-3530-5012B84325AC}"/>
                </a:ext>
              </a:extLst>
            </p:cNvPr>
            <p:cNvSpPr>
              <a:spLocks noChangeShapeType="1"/>
            </p:cNvSpPr>
            <p:nvPr/>
          </p:nvSpPr>
          <p:spPr bwMode="auto">
            <a:xfrm>
              <a:off x="5669141" y="1722576"/>
              <a:ext cx="0" cy="113764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37" name="Line 10">
              <a:extLst>
                <a:ext uri="{FF2B5EF4-FFF2-40B4-BE49-F238E27FC236}">
                  <a16:creationId xmlns:a16="http://schemas.microsoft.com/office/drawing/2014/main" id="{94EDC907-9AB3-822C-B192-42232B38F3E1}"/>
                </a:ext>
              </a:extLst>
            </p:cNvPr>
            <p:cNvSpPr>
              <a:spLocks noChangeShapeType="1"/>
            </p:cNvSpPr>
            <p:nvPr/>
          </p:nvSpPr>
          <p:spPr bwMode="auto">
            <a:xfrm flipH="1" flipV="1">
              <a:off x="5130534" y="2944493"/>
              <a:ext cx="0" cy="117978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38" name="Line 11">
              <a:extLst>
                <a:ext uri="{FF2B5EF4-FFF2-40B4-BE49-F238E27FC236}">
                  <a16:creationId xmlns:a16="http://schemas.microsoft.com/office/drawing/2014/main" id="{03D71156-5AF6-5BDD-14AE-C2872033B365}"/>
                </a:ext>
              </a:extLst>
            </p:cNvPr>
            <p:cNvSpPr>
              <a:spLocks noChangeShapeType="1"/>
            </p:cNvSpPr>
            <p:nvPr/>
          </p:nvSpPr>
          <p:spPr bwMode="auto">
            <a:xfrm>
              <a:off x="5130534" y="4114218"/>
              <a:ext cx="220829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39" name="Line 12">
              <a:extLst>
                <a:ext uri="{FF2B5EF4-FFF2-40B4-BE49-F238E27FC236}">
                  <a16:creationId xmlns:a16="http://schemas.microsoft.com/office/drawing/2014/main" id="{7EB42182-241A-3AAD-AF54-3A93352063DA}"/>
                </a:ext>
              </a:extLst>
            </p:cNvPr>
            <p:cNvSpPr>
              <a:spLocks noChangeShapeType="1"/>
            </p:cNvSpPr>
            <p:nvPr/>
          </p:nvSpPr>
          <p:spPr bwMode="auto">
            <a:xfrm>
              <a:off x="5669141" y="2944493"/>
              <a:ext cx="0" cy="122191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40" name="Line 13">
              <a:extLst>
                <a:ext uri="{FF2B5EF4-FFF2-40B4-BE49-F238E27FC236}">
                  <a16:creationId xmlns:a16="http://schemas.microsoft.com/office/drawing/2014/main" id="{3FE8C7C6-C2B9-0AF2-93A5-D0616B03632C}"/>
                </a:ext>
              </a:extLst>
            </p:cNvPr>
            <p:cNvSpPr>
              <a:spLocks noChangeShapeType="1"/>
            </p:cNvSpPr>
            <p:nvPr/>
          </p:nvSpPr>
          <p:spPr bwMode="auto">
            <a:xfrm>
              <a:off x="6628125" y="2944494"/>
              <a:ext cx="0" cy="122191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41" name="Line 14">
              <a:extLst>
                <a:ext uri="{FF2B5EF4-FFF2-40B4-BE49-F238E27FC236}">
                  <a16:creationId xmlns:a16="http://schemas.microsoft.com/office/drawing/2014/main" id="{0F13AAA5-1A02-95D8-345D-1804D0DDEE2C}"/>
                </a:ext>
              </a:extLst>
            </p:cNvPr>
            <p:cNvSpPr>
              <a:spLocks noChangeShapeType="1"/>
            </p:cNvSpPr>
            <p:nvPr/>
          </p:nvSpPr>
          <p:spPr bwMode="auto">
            <a:xfrm>
              <a:off x="5669141" y="1806847"/>
              <a:ext cx="969494"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42" name="Freeform 16">
              <a:extLst>
                <a:ext uri="{FF2B5EF4-FFF2-40B4-BE49-F238E27FC236}">
                  <a16:creationId xmlns:a16="http://schemas.microsoft.com/office/drawing/2014/main" id="{92FB2F8C-C0E2-653B-7BE7-380A27F9FD1C}"/>
                </a:ext>
              </a:extLst>
            </p:cNvPr>
            <p:cNvSpPr>
              <a:spLocks/>
            </p:cNvSpPr>
            <p:nvPr/>
          </p:nvSpPr>
          <p:spPr bwMode="auto">
            <a:xfrm>
              <a:off x="5130534" y="3018331"/>
              <a:ext cx="1561962" cy="1061900"/>
            </a:xfrm>
            <a:custGeom>
              <a:avLst/>
              <a:gdLst>
                <a:gd name="T0" fmla="*/ 0 w 1392"/>
                <a:gd name="T1" fmla="*/ 2147483647 h 1248"/>
                <a:gd name="T2" fmla="*/ 2147483647 w 1392"/>
                <a:gd name="T3" fmla="*/ 2147483647 h 1248"/>
                <a:gd name="T4" fmla="*/ 2147483647 w 1392"/>
                <a:gd name="T5" fmla="*/ 2147483647 h 1248"/>
                <a:gd name="T6" fmla="*/ 2147483647 w 1392"/>
                <a:gd name="T7" fmla="*/ 2147483647 h 1248"/>
                <a:gd name="T8" fmla="*/ 2147483647 w 1392"/>
                <a:gd name="T9" fmla="*/ 2147483647 h 1248"/>
                <a:gd name="T10" fmla="*/ 2147483647 w 1392"/>
                <a:gd name="T11" fmla="*/ 2147483647 h 1248"/>
                <a:gd name="T12" fmla="*/ 2147483647 w 1392"/>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248">
                  <a:moveTo>
                    <a:pt x="0" y="1248"/>
                  </a:moveTo>
                  <a:lnTo>
                    <a:pt x="480" y="1152"/>
                  </a:lnTo>
                  <a:lnTo>
                    <a:pt x="816" y="912"/>
                  </a:lnTo>
                  <a:lnTo>
                    <a:pt x="1104" y="624"/>
                  </a:lnTo>
                  <a:lnTo>
                    <a:pt x="1296" y="384"/>
                  </a:lnTo>
                  <a:lnTo>
                    <a:pt x="1344" y="288"/>
                  </a:lnTo>
                  <a:lnTo>
                    <a:pt x="1392" y="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43" name="Text Box 17">
              <a:extLst>
                <a:ext uri="{FF2B5EF4-FFF2-40B4-BE49-F238E27FC236}">
                  <a16:creationId xmlns:a16="http://schemas.microsoft.com/office/drawing/2014/main" id="{4CA722C0-EE89-232A-FBE3-F5AEA240247E}"/>
                </a:ext>
              </a:extLst>
            </p:cNvPr>
            <p:cNvSpPr txBox="1">
              <a:spLocks noChangeArrowheads="1"/>
            </p:cNvSpPr>
            <p:nvPr/>
          </p:nvSpPr>
          <p:spPr bwMode="auto">
            <a:xfrm>
              <a:off x="7152187" y="4124276"/>
              <a:ext cx="469343" cy="25243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负载</a:t>
              </a:r>
              <a:endParaRPr kumimoji="0" lang="en-US" altLang="zh-CN" sz="1200" b="1" dirty="0">
                <a:latin typeface="微软雅黑" pitchFamily="34" charset="-122"/>
                <a:ea typeface="微软雅黑" pitchFamily="34" charset="-122"/>
              </a:endParaRPr>
            </a:p>
          </p:txBody>
        </p:sp>
        <p:sp>
          <p:nvSpPr>
            <p:cNvPr id="44" name="Text Box 18">
              <a:extLst>
                <a:ext uri="{FF2B5EF4-FFF2-40B4-BE49-F238E27FC236}">
                  <a16:creationId xmlns:a16="http://schemas.microsoft.com/office/drawing/2014/main" id="{06E26641-DD13-D574-3246-4075DA2EB2C2}"/>
                </a:ext>
              </a:extLst>
            </p:cNvPr>
            <p:cNvSpPr txBox="1">
              <a:spLocks noChangeArrowheads="1"/>
            </p:cNvSpPr>
            <p:nvPr/>
          </p:nvSpPr>
          <p:spPr bwMode="auto">
            <a:xfrm>
              <a:off x="7152187" y="2775953"/>
              <a:ext cx="469343" cy="25243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负载</a:t>
              </a:r>
              <a:endParaRPr kumimoji="0" lang="en-US" altLang="zh-CN" sz="1200" b="1" dirty="0">
                <a:latin typeface="微软雅黑" pitchFamily="34" charset="-122"/>
                <a:ea typeface="微软雅黑" pitchFamily="34" charset="-122"/>
              </a:endParaRPr>
            </a:p>
          </p:txBody>
        </p:sp>
        <p:sp>
          <p:nvSpPr>
            <p:cNvPr id="45" name="Text Box 19">
              <a:extLst>
                <a:ext uri="{FF2B5EF4-FFF2-40B4-BE49-F238E27FC236}">
                  <a16:creationId xmlns:a16="http://schemas.microsoft.com/office/drawing/2014/main" id="{CEBE0EE5-6798-B913-40D8-395B58F4D4E1}"/>
                </a:ext>
              </a:extLst>
            </p:cNvPr>
            <p:cNvSpPr txBox="1">
              <a:spLocks noChangeArrowheads="1"/>
            </p:cNvSpPr>
            <p:nvPr/>
          </p:nvSpPr>
          <p:spPr bwMode="auto">
            <a:xfrm rot="16200000">
              <a:off x="4695016" y="1958209"/>
              <a:ext cx="592753" cy="26258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吞量率</a:t>
              </a:r>
              <a:endParaRPr kumimoji="0" lang="en-US" altLang="zh-CN" sz="1200" b="1" dirty="0">
                <a:latin typeface="微软雅黑" pitchFamily="34" charset="-122"/>
                <a:ea typeface="微软雅黑" pitchFamily="34" charset="-122"/>
              </a:endParaRPr>
            </a:p>
          </p:txBody>
        </p:sp>
        <p:sp>
          <p:nvSpPr>
            <p:cNvPr id="46" name="Text Box 20">
              <a:extLst>
                <a:ext uri="{FF2B5EF4-FFF2-40B4-BE49-F238E27FC236}">
                  <a16:creationId xmlns:a16="http://schemas.microsoft.com/office/drawing/2014/main" id="{3B65EF6C-38D8-2CB8-430B-CB1DB84E9B87}"/>
                </a:ext>
              </a:extLst>
            </p:cNvPr>
            <p:cNvSpPr txBox="1">
              <a:spLocks noChangeArrowheads="1"/>
            </p:cNvSpPr>
            <p:nvPr/>
          </p:nvSpPr>
          <p:spPr bwMode="auto">
            <a:xfrm rot="16200000">
              <a:off x="4763550" y="3001052"/>
              <a:ext cx="451200" cy="26258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延迟</a:t>
              </a:r>
              <a:endParaRPr kumimoji="0" lang="en-US" altLang="zh-CN" sz="1200" b="1" dirty="0">
                <a:latin typeface="微软雅黑" pitchFamily="34" charset="-122"/>
                <a:ea typeface="微软雅黑" pitchFamily="34" charset="-122"/>
              </a:endParaRPr>
            </a:p>
          </p:txBody>
        </p:sp>
        <p:sp>
          <p:nvSpPr>
            <p:cNvPr id="47" name="Text Box 23">
              <a:extLst>
                <a:ext uri="{FF2B5EF4-FFF2-40B4-BE49-F238E27FC236}">
                  <a16:creationId xmlns:a16="http://schemas.microsoft.com/office/drawing/2014/main" id="{60039ED9-26B0-C386-8F12-03A783393A6B}"/>
                </a:ext>
              </a:extLst>
            </p:cNvPr>
            <p:cNvSpPr txBox="1">
              <a:spLocks noChangeArrowheads="1"/>
            </p:cNvSpPr>
            <p:nvPr/>
          </p:nvSpPr>
          <p:spPr bwMode="auto">
            <a:xfrm>
              <a:off x="7378708" y="2244822"/>
              <a:ext cx="570038" cy="4591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solidFill>
                    <a:srgbClr val="C00000"/>
                  </a:solidFill>
                  <a:latin typeface="微软雅黑" pitchFamily="34" charset="-122"/>
                  <a:ea typeface="微软雅黑" pitchFamily="34" charset="-122"/>
                </a:rPr>
                <a:t>系统</a:t>
              </a:r>
              <a:endParaRPr kumimoji="0" lang="en-US" altLang="zh-CN" sz="1200" b="1" dirty="0">
                <a:solidFill>
                  <a:srgbClr val="C00000"/>
                </a:solidFill>
                <a:latin typeface="微软雅黑" pitchFamily="34" charset="-122"/>
                <a:ea typeface="微软雅黑" pitchFamily="34" charset="-122"/>
              </a:endParaRPr>
            </a:p>
            <a:p>
              <a:r>
                <a:rPr kumimoji="0" lang="zh-CN" altLang="en-US" sz="1200" b="1" dirty="0">
                  <a:solidFill>
                    <a:srgbClr val="C00000"/>
                  </a:solidFill>
                  <a:latin typeface="微软雅黑" pitchFamily="34" charset="-122"/>
                  <a:ea typeface="微软雅黑" pitchFamily="34" charset="-122"/>
                </a:rPr>
                <a:t>崩溃</a:t>
              </a:r>
              <a:endParaRPr kumimoji="0" lang="en-US" altLang="zh-CN" sz="1200" b="1" dirty="0">
                <a:solidFill>
                  <a:srgbClr val="C00000"/>
                </a:solidFill>
                <a:latin typeface="微软雅黑" pitchFamily="34" charset="-122"/>
                <a:ea typeface="微软雅黑" pitchFamily="34" charset="-122"/>
              </a:endParaRPr>
            </a:p>
          </p:txBody>
        </p:sp>
        <p:sp>
          <p:nvSpPr>
            <p:cNvPr id="48" name="Line 25">
              <a:extLst>
                <a:ext uri="{FF2B5EF4-FFF2-40B4-BE49-F238E27FC236}">
                  <a16:creationId xmlns:a16="http://schemas.microsoft.com/office/drawing/2014/main" id="{46844B9A-0F71-AD9B-D004-7BC28B4DF193}"/>
                </a:ext>
              </a:extLst>
            </p:cNvPr>
            <p:cNvSpPr>
              <a:spLocks noChangeShapeType="1"/>
            </p:cNvSpPr>
            <p:nvPr/>
          </p:nvSpPr>
          <p:spPr bwMode="auto">
            <a:xfrm flipH="1">
              <a:off x="6891107" y="2396737"/>
              <a:ext cx="538608" cy="33708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49" name="Text Box 26">
              <a:extLst>
                <a:ext uri="{FF2B5EF4-FFF2-40B4-BE49-F238E27FC236}">
                  <a16:creationId xmlns:a16="http://schemas.microsoft.com/office/drawing/2014/main" id="{17FE1357-7EFB-72A7-51D3-9D89304AF133}"/>
                </a:ext>
              </a:extLst>
            </p:cNvPr>
            <p:cNvSpPr txBox="1">
              <a:spLocks noChangeArrowheads="1"/>
            </p:cNvSpPr>
            <p:nvPr/>
          </p:nvSpPr>
          <p:spPr bwMode="auto">
            <a:xfrm>
              <a:off x="7289563" y="1639611"/>
              <a:ext cx="690713" cy="43929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solidFill>
                    <a:srgbClr val="CC00CC"/>
                  </a:solidFill>
                  <a:latin typeface="微软雅黑" pitchFamily="34" charset="-122"/>
                  <a:ea typeface="微软雅黑" pitchFamily="34" charset="-122"/>
                </a:rPr>
                <a:t>分组丢失增多</a:t>
              </a:r>
              <a:endParaRPr kumimoji="0" lang="en-US" altLang="zh-CN" sz="1200" b="1" dirty="0">
                <a:solidFill>
                  <a:srgbClr val="CC00CC"/>
                </a:solidFill>
                <a:latin typeface="微软雅黑" pitchFamily="34" charset="-122"/>
                <a:ea typeface="微软雅黑" pitchFamily="34" charset="-122"/>
              </a:endParaRPr>
            </a:p>
          </p:txBody>
        </p:sp>
        <p:sp>
          <p:nvSpPr>
            <p:cNvPr id="50" name="Line 27">
              <a:extLst>
                <a:ext uri="{FF2B5EF4-FFF2-40B4-BE49-F238E27FC236}">
                  <a16:creationId xmlns:a16="http://schemas.microsoft.com/office/drawing/2014/main" id="{C3A2D764-3110-1B34-E2B7-6596053A6D35}"/>
                </a:ext>
              </a:extLst>
            </p:cNvPr>
            <p:cNvSpPr>
              <a:spLocks noChangeShapeType="1"/>
            </p:cNvSpPr>
            <p:nvPr/>
          </p:nvSpPr>
          <p:spPr bwMode="auto">
            <a:xfrm flipH="1">
              <a:off x="6954167" y="1859016"/>
              <a:ext cx="377025" cy="8427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grpSp>
      <p:grpSp>
        <p:nvGrpSpPr>
          <p:cNvPr id="55" name="组合 54">
            <a:extLst>
              <a:ext uri="{FF2B5EF4-FFF2-40B4-BE49-F238E27FC236}">
                <a16:creationId xmlns:a16="http://schemas.microsoft.com/office/drawing/2014/main" id="{F5065646-DC2F-6F16-3408-44AE320AB8A8}"/>
              </a:ext>
            </a:extLst>
          </p:cNvPr>
          <p:cNvGrpSpPr/>
          <p:nvPr/>
        </p:nvGrpSpPr>
        <p:grpSpPr>
          <a:xfrm>
            <a:off x="0" y="-272687"/>
            <a:ext cx="6657654" cy="1428589"/>
            <a:chOff x="551030" y="-368704"/>
            <a:chExt cx="6657654" cy="1428589"/>
          </a:xfrm>
        </p:grpSpPr>
        <p:grpSp>
          <p:nvGrpSpPr>
            <p:cNvPr id="56" name="组合 55">
              <a:extLst>
                <a:ext uri="{FF2B5EF4-FFF2-40B4-BE49-F238E27FC236}">
                  <a16:creationId xmlns:a16="http://schemas.microsoft.com/office/drawing/2014/main" id="{39EF2DFB-5FE5-AF40-7F09-41629D08A0CB}"/>
                </a:ext>
              </a:extLst>
            </p:cNvPr>
            <p:cNvGrpSpPr/>
            <p:nvPr/>
          </p:nvGrpSpPr>
          <p:grpSpPr>
            <a:xfrm>
              <a:off x="1201631" y="303925"/>
              <a:ext cx="6007053" cy="686825"/>
              <a:chOff x="1839058" y="967769"/>
              <a:chExt cx="6007053" cy="686825"/>
            </a:xfrm>
          </p:grpSpPr>
          <p:sp>
            <p:nvSpPr>
              <p:cNvPr id="58" name="矩形: 圆角 57">
                <a:extLst>
                  <a:ext uri="{FF2B5EF4-FFF2-40B4-BE49-F238E27FC236}">
                    <a16:creationId xmlns:a16="http://schemas.microsoft.com/office/drawing/2014/main" id="{2984CBBF-C773-4537-764A-B44DF294420B}"/>
                  </a:ext>
                </a:extLst>
              </p:cNvPr>
              <p:cNvSpPr/>
              <p:nvPr/>
            </p:nvSpPr>
            <p:spPr>
              <a:xfrm>
                <a:off x="1839058" y="967769"/>
                <a:ext cx="6007053"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59" name="文本框 58">
                <a:extLst>
                  <a:ext uri="{FF2B5EF4-FFF2-40B4-BE49-F238E27FC236}">
                    <a16:creationId xmlns:a16="http://schemas.microsoft.com/office/drawing/2014/main" id="{8E2623E0-A0E8-B778-232D-629C2D896C0B}"/>
                  </a:ext>
                </a:extLst>
              </p:cNvPr>
              <p:cNvSpPr txBox="1"/>
              <p:nvPr/>
            </p:nvSpPr>
            <p:spPr>
              <a:xfrm>
                <a:off x="2795619" y="1009434"/>
                <a:ext cx="4976611"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网络中的拥塞现象分析</a:t>
                </a:r>
              </a:p>
            </p:txBody>
          </p:sp>
        </p:grpSp>
        <p:pic>
          <p:nvPicPr>
            <p:cNvPr id="57" name="图片 56">
              <a:extLst>
                <a:ext uri="{FF2B5EF4-FFF2-40B4-BE49-F238E27FC236}">
                  <a16:creationId xmlns:a16="http://schemas.microsoft.com/office/drawing/2014/main" id="{84D289E8-EF50-036C-5232-76136CCCFCB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4" name="灯片编号占位符 3">
            <a:extLst>
              <a:ext uri="{FF2B5EF4-FFF2-40B4-BE49-F238E27FC236}">
                <a16:creationId xmlns:a16="http://schemas.microsoft.com/office/drawing/2014/main" id="{8292435E-C2E9-4645-9B4B-4E55FD447F30}"/>
              </a:ext>
            </a:extLst>
          </p:cNvPr>
          <p:cNvSpPr>
            <a:spLocks noGrp="1"/>
          </p:cNvSpPr>
          <p:nvPr>
            <p:ph type="sldNum" sz="quarter" idx="12"/>
          </p:nvPr>
        </p:nvSpPr>
        <p:spPr/>
        <p:txBody>
          <a:bodyPr/>
          <a:lstStyle/>
          <a:p>
            <a:fld id="{5956A083-5018-4B52-82A0-83241B8E3D94}" type="slidenum">
              <a:rPr lang="zh-CN" altLang="en-US" smtClean="0"/>
              <a:t>6</a:t>
            </a:fld>
            <a:endParaRPr lang="zh-CN" altLang="en-US"/>
          </a:p>
        </p:txBody>
      </p:sp>
    </p:spTree>
    <p:extLst>
      <p:ext uri="{BB962C8B-B14F-4D97-AF65-F5344CB8AC3E}">
        <p14:creationId xmlns:p14="http://schemas.microsoft.com/office/powerpoint/2010/main" val="3747167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F0D6B73F-8640-FA78-832D-05AEDDF29E7B}"/>
              </a:ext>
            </a:extLst>
          </p:cNvPr>
          <p:cNvGrpSpPr/>
          <p:nvPr/>
        </p:nvGrpSpPr>
        <p:grpSpPr>
          <a:xfrm>
            <a:off x="301702" y="1301800"/>
            <a:ext cx="5003724" cy="565146"/>
            <a:chOff x="722008" y="1303131"/>
            <a:chExt cx="3875256" cy="539619"/>
          </a:xfrm>
        </p:grpSpPr>
        <p:grpSp>
          <p:nvGrpSpPr>
            <p:cNvPr id="10" name="组合 9">
              <a:extLst>
                <a:ext uri="{FF2B5EF4-FFF2-40B4-BE49-F238E27FC236}">
                  <a16:creationId xmlns:a16="http://schemas.microsoft.com/office/drawing/2014/main" id="{5C644C9D-837E-2B9B-8776-9A576969D39C}"/>
                </a:ext>
              </a:extLst>
            </p:cNvPr>
            <p:cNvGrpSpPr/>
            <p:nvPr/>
          </p:nvGrpSpPr>
          <p:grpSpPr>
            <a:xfrm>
              <a:off x="722008" y="1303131"/>
              <a:ext cx="546594" cy="475865"/>
              <a:chOff x="708742" y="1296102"/>
              <a:chExt cx="454744" cy="283828"/>
            </a:xfrm>
          </p:grpSpPr>
          <p:sp>
            <p:nvSpPr>
              <p:cNvPr id="13" name="平行四边形 12">
                <a:extLst>
                  <a:ext uri="{FF2B5EF4-FFF2-40B4-BE49-F238E27FC236}">
                    <a16:creationId xmlns:a16="http://schemas.microsoft.com/office/drawing/2014/main" id="{B6CB5B8B-67B7-D948-004D-443F5C5F27BE}"/>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4" name="平行四边形 13">
                <a:extLst>
                  <a:ext uri="{FF2B5EF4-FFF2-40B4-BE49-F238E27FC236}">
                    <a16:creationId xmlns:a16="http://schemas.microsoft.com/office/drawing/2014/main" id="{03DDEF49-C6AE-331D-6950-299EC1001EA4}"/>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1" name="流程图: 手动输入 6">
              <a:extLst>
                <a:ext uri="{FF2B5EF4-FFF2-40B4-BE49-F238E27FC236}">
                  <a16:creationId xmlns:a16="http://schemas.microsoft.com/office/drawing/2014/main" id="{C14AA55E-9655-8466-6551-FA50E704F28D}"/>
                </a:ext>
              </a:extLst>
            </p:cNvPr>
            <p:cNvSpPr/>
            <p:nvPr/>
          </p:nvSpPr>
          <p:spPr>
            <a:xfrm rot="5400000" flipV="1">
              <a:off x="2555000" y="-259864"/>
              <a:ext cx="475861" cy="3608666"/>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sp>
          <p:nvSpPr>
            <p:cNvPr id="12" name="Text Box 79">
              <a:extLst>
                <a:ext uri="{FF2B5EF4-FFF2-40B4-BE49-F238E27FC236}">
                  <a16:creationId xmlns:a16="http://schemas.microsoft.com/office/drawing/2014/main" id="{15F4E50D-C53A-BC66-2868-06D6DF1C2172}"/>
                </a:ext>
              </a:extLst>
            </p:cNvPr>
            <p:cNvSpPr txBox="1">
              <a:spLocks noChangeArrowheads="1"/>
            </p:cNvSpPr>
            <p:nvPr/>
          </p:nvSpPr>
          <p:spPr bwMode="auto">
            <a:xfrm>
              <a:off x="1268603" y="1372550"/>
              <a:ext cx="2824299"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拥塞的产生原因与影响</a:t>
              </a:r>
            </a:p>
          </p:txBody>
        </p:sp>
      </p:grpSp>
      <p:sp>
        <p:nvSpPr>
          <p:cNvPr id="38" name="Rectangle 68">
            <a:extLst>
              <a:ext uri="{FF2B5EF4-FFF2-40B4-BE49-F238E27FC236}">
                <a16:creationId xmlns:a16="http://schemas.microsoft.com/office/drawing/2014/main" id="{87802FA7-F041-EE1A-4F01-5CDF43FF6176}"/>
              </a:ext>
            </a:extLst>
          </p:cNvPr>
          <p:cNvSpPr>
            <a:spLocks noChangeArrowheads="1"/>
          </p:cNvSpPr>
          <p:nvPr/>
        </p:nvSpPr>
        <p:spPr bwMode="auto">
          <a:xfrm>
            <a:off x="1007463" y="2154682"/>
            <a:ext cx="4659504" cy="25989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由许多因素引起。例如：</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633413" indent="-342900">
              <a:lnSpc>
                <a:spcPts val="3300"/>
              </a:lnSpc>
              <a:buClr>
                <a:srgbClr val="7030A0"/>
              </a:buClr>
              <a:buFont typeface="+mj-lt"/>
              <a:buAutoNum type="arabicPeriod"/>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节点缓存容量太小；</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633413" indent="-342900">
              <a:lnSpc>
                <a:spcPts val="3300"/>
              </a:lnSpc>
              <a:buClr>
                <a:srgbClr val="7030A0"/>
              </a:buClr>
              <a:buFont typeface="+mj-lt"/>
              <a:buAutoNum type="arabicPeriod"/>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链路容量不足；</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633413" indent="-342900">
              <a:lnSpc>
                <a:spcPts val="3300"/>
              </a:lnSpc>
              <a:buClr>
                <a:srgbClr val="7030A0"/>
              </a:buClr>
              <a:buFont typeface="+mj-lt"/>
              <a:buAutoNum type="arabicPeriod"/>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处理机处理速率太慢；</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633413" indent="-342900">
              <a:lnSpc>
                <a:spcPts val="3300"/>
              </a:lnSpc>
              <a:buClr>
                <a:srgbClr val="7030A0"/>
              </a:buClr>
              <a:buFont typeface="+mj-lt"/>
              <a:buAutoNum type="arabicPeriod"/>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拥塞本身会进一步加剧拥塞；</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lnSpc>
                <a:spcPts val="3300"/>
              </a:lnSpc>
              <a:buClr>
                <a:srgbClr val="0070C0"/>
              </a:buClr>
              <a:buFont typeface="Wingdings" pitchFamily="2" charset="2"/>
              <a:buChar char="l"/>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出现网络拥塞的条件</a:t>
            </a:r>
            <a:r>
              <a:rPr lang="zh-CN" altLang="en-US" sz="2400" b="1" dirty="0">
                <a:solidFill>
                  <a:srgbClr val="0000FF"/>
                </a:solidFill>
                <a:latin typeface="微软雅黑" pitchFamily="34" charset="-122"/>
                <a:ea typeface="微软雅黑" pitchFamily="34" charset="-122"/>
              </a:rPr>
              <a:t>：</a:t>
            </a:r>
          </a:p>
        </p:txBody>
      </p:sp>
      <p:sp>
        <p:nvSpPr>
          <p:cNvPr id="39" name="矩形 38">
            <a:extLst>
              <a:ext uri="{FF2B5EF4-FFF2-40B4-BE49-F238E27FC236}">
                <a16:creationId xmlns:a16="http://schemas.microsoft.com/office/drawing/2014/main" id="{4B8113DB-FEA5-ED76-ADF3-3CE93E04B391}"/>
              </a:ext>
            </a:extLst>
          </p:cNvPr>
          <p:cNvSpPr/>
          <p:nvPr/>
        </p:nvSpPr>
        <p:spPr>
          <a:xfrm>
            <a:off x="1247150" y="5042673"/>
            <a:ext cx="4180130" cy="509959"/>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itchFamily="34" charset="-122"/>
                <a:ea typeface="微软雅黑" pitchFamily="34" charset="-122"/>
              </a:rPr>
              <a:t> </a:t>
            </a:r>
            <a:r>
              <a:rPr lang="zh-CN" altLang="en-US" sz="28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对资源需求  </a:t>
            </a:r>
            <a:r>
              <a:rPr lang="en-US" altLang="zh-CN" sz="2400" b="1" dirty="0">
                <a:latin typeface="微软雅黑" pitchFamily="34" charset="-122"/>
                <a:ea typeface="微软雅黑" pitchFamily="34" charset="-122"/>
              </a:rPr>
              <a:t>&gt; </a:t>
            </a:r>
            <a:r>
              <a:rPr lang="zh-CN" altLang="en-US" sz="2400" b="1" dirty="0">
                <a:latin typeface="微软雅黑" pitchFamily="34" charset="-122"/>
                <a:ea typeface="微软雅黑" pitchFamily="34" charset="-122"/>
              </a:rPr>
              <a:t>可用资源</a:t>
            </a:r>
            <a:endParaRPr lang="en-US" altLang="zh-CN" sz="2000" b="1" dirty="0">
              <a:latin typeface="微软雅黑" pitchFamily="34" charset="-122"/>
              <a:ea typeface="微软雅黑" pitchFamily="34" charset="-122"/>
            </a:endParaRPr>
          </a:p>
        </p:txBody>
      </p:sp>
      <p:grpSp>
        <p:nvGrpSpPr>
          <p:cNvPr id="40" name="组合 39">
            <a:extLst>
              <a:ext uri="{FF2B5EF4-FFF2-40B4-BE49-F238E27FC236}">
                <a16:creationId xmlns:a16="http://schemas.microsoft.com/office/drawing/2014/main" id="{A88852A1-CB7E-A7E2-5801-B89CFC1B4A1B}"/>
              </a:ext>
            </a:extLst>
          </p:cNvPr>
          <p:cNvGrpSpPr/>
          <p:nvPr/>
        </p:nvGrpSpPr>
        <p:grpSpPr>
          <a:xfrm>
            <a:off x="0" y="-272687"/>
            <a:ext cx="7243834" cy="1428589"/>
            <a:chOff x="551030" y="-368704"/>
            <a:chExt cx="7243834" cy="1428589"/>
          </a:xfrm>
        </p:grpSpPr>
        <p:grpSp>
          <p:nvGrpSpPr>
            <p:cNvPr id="41" name="组合 40">
              <a:extLst>
                <a:ext uri="{FF2B5EF4-FFF2-40B4-BE49-F238E27FC236}">
                  <a16:creationId xmlns:a16="http://schemas.microsoft.com/office/drawing/2014/main" id="{BF927A72-D918-A933-6B16-90FA06B57A08}"/>
                </a:ext>
              </a:extLst>
            </p:cNvPr>
            <p:cNvGrpSpPr/>
            <p:nvPr/>
          </p:nvGrpSpPr>
          <p:grpSpPr>
            <a:xfrm>
              <a:off x="1201632" y="303925"/>
              <a:ext cx="6593232" cy="686825"/>
              <a:chOff x="1839059" y="967769"/>
              <a:chExt cx="6593232" cy="686825"/>
            </a:xfrm>
          </p:grpSpPr>
          <p:sp>
            <p:nvSpPr>
              <p:cNvPr id="43" name="矩形: 圆角 42">
                <a:extLst>
                  <a:ext uri="{FF2B5EF4-FFF2-40B4-BE49-F238E27FC236}">
                    <a16:creationId xmlns:a16="http://schemas.microsoft.com/office/drawing/2014/main" id="{2DEB3CD9-DE10-904F-B1AD-93B8416F1F82}"/>
                  </a:ext>
                </a:extLst>
              </p:cNvPr>
              <p:cNvSpPr/>
              <p:nvPr/>
            </p:nvSpPr>
            <p:spPr>
              <a:xfrm>
                <a:off x="1839059" y="967769"/>
                <a:ext cx="5935134"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4" name="文本框 43">
                <a:extLst>
                  <a:ext uri="{FF2B5EF4-FFF2-40B4-BE49-F238E27FC236}">
                    <a16:creationId xmlns:a16="http://schemas.microsoft.com/office/drawing/2014/main" id="{C28D1D15-307E-FDF4-D25F-AAA0A091C063}"/>
                  </a:ext>
                </a:extLst>
              </p:cNvPr>
              <p:cNvSpPr txBox="1"/>
              <p:nvPr/>
            </p:nvSpPr>
            <p:spPr>
              <a:xfrm>
                <a:off x="2795619" y="1009434"/>
                <a:ext cx="5636672"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网络中的拥塞现象分析</a:t>
                </a:r>
              </a:p>
            </p:txBody>
          </p:sp>
        </p:grpSp>
        <p:pic>
          <p:nvPicPr>
            <p:cNvPr id="42" name="图片 41">
              <a:extLst>
                <a:ext uri="{FF2B5EF4-FFF2-40B4-BE49-F238E27FC236}">
                  <a16:creationId xmlns:a16="http://schemas.microsoft.com/office/drawing/2014/main" id="{035944A9-CA3B-EE61-7958-CEB12D268D2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2" name="灯片编号占位符 1">
            <a:extLst>
              <a:ext uri="{FF2B5EF4-FFF2-40B4-BE49-F238E27FC236}">
                <a16:creationId xmlns:a16="http://schemas.microsoft.com/office/drawing/2014/main" id="{183B2547-2B33-483A-B54C-EB5C01265BF0}"/>
              </a:ext>
            </a:extLst>
          </p:cNvPr>
          <p:cNvSpPr>
            <a:spLocks noGrp="1"/>
          </p:cNvSpPr>
          <p:nvPr>
            <p:ph type="sldNum" sz="quarter" idx="12"/>
          </p:nvPr>
        </p:nvSpPr>
        <p:spPr/>
        <p:txBody>
          <a:bodyPr/>
          <a:lstStyle/>
          <a:p>
            <a:fld id="{5956A083-5018-4B52-82A0-83241B8E3D94}" type="slidenum">
              <a:rPr lang="zh-CN" altLang="en-US" smtClean="0"/>
              <a:t>7</a:t>
            </a:fld>
            <a:endParaRPr lang="zh-CN" altLang="en-US"/>
          </a:p>
        </p:txBody>
      </p:sp>
    </p:spTree>
    <p:extLst>
      <p:ext uri="{BB962C8B-B14F-4D97-AF65-F5344CB8AC3E}">
        <p14:creationId xmlns:p14="http://schemas.microsoft.com/office/powerpoint/2010/main" val="1557904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B318F-31B6-BCE1-6CC7-C145ACE95FE9}"/>
            </a:ext>
          </a:extLst>
        </p:cNvPr>
        <p:cNvGrpSpPr/>
        <p:nvPr/>
      </p:nvGrpSpPr>
      <p:grpSpPr>
        <a:xfrm>
          <a:off x="0" y="0"/>
          <a:ext cx="0" cy="0"/>
          <a:chOff x="0" y="0"/>
          <a:chExt cx="0" cy="0"/>
        </a:xfrm>
      </p:grpSpPr>
      <p:grpSp>
        <p:nvGrpSpPr>
          <p:cNvPr id="9" name="组合 8">
            <a:extLst>
              <a:ext uri="{FF2B5EF4-FFF2-40B4-BE49-F238E27FC236}">
                <a16:creationId xmlns:a16="http://schemas.microsoft.com/office/drawing/2014/main" id="{34B6E904-B9EC-DA9B-8375-2DE00BAE3F61}"/>
              </a:ext>
            </a:extLst>
          </p:cNvPr>
          <p:cNvGrpSpPr/>
          <p:nvPr/>
        </p:nvGrpSpPr>
        <p:grpSpPr>
          <a:xfrm>
            <a:off x="301702" y="1301800"/>
            <a:ext cx="5003724" cy="565146"/>
            <a:chOff x="722008" y="1303131"/>
            <a:chExt cx="3875256" cy="539619"/>
          </a:xfrm>
        </p:grpSpPr>
        <p:grpSp>
          <p:nvGrpSpPr>
            <p:cNvPr id="10" name="组合 9">
              <a:extLst>
                <a:ext uri="{FF2B5EF4-FFF2-40B4-BE49-F238E27FC236}">
                  <a16:creationId xmlns:a16="http://schemas.microsoft.com/office/drawing/2014/main" id="{57B73A82-BD8A-65EB-6A93-420023EE8A49}"/>
                </a:ext>
              </a:extLst>
            </p:cNvPr>
            <p:cNvGrpSpPr/>
            <p:nvPr/>
          </p:nvGrpSpPr>
          <p:grpSpPr>
            <a:xfrm>
              <a:off x="722008" y="1303131"/>
              <a:ext cx="546594" cy="475865"/>
              <a:chOff x="708742" y="1296102"/>
              <a:chExt cx="454744" cy="283828"/>
            </a:xfrm>
          </p:grpSpPr>
          <p:sp>
            <p:nvSpPr>
              <p:cNvPr id="13" name="平行四边形 12">
                <a:extLst>
                  <a:ext uri="{FF2B5EF4-FFF2-40B4-BE49-F238E27FC236}">
                    <a16:creationId xmlns:a16="http://schemas.microsoft.com/office/drawing/2014/main" id="{6212DC3C-0508-49DA-5368-15438CBB477F}"/>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4" name="平行四边形 13">
                <a:extLst>
                  <a:ext uri="{FF2B5EF4-FFF2-40B4-BE49-F238E27FC236}">
                    <a16:creationId xmlns:a16="http://schemas.microsoft.com/office/drawing/2014/main" id="{C603465A-C181-ED7D-0738-DBC1B37751D1}"/>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1" name="流程图: 手动输入 6">
              <a:extLst>
                <a:ext uri="{FF2B5EF4-FFF2-40B4-BE49-F238E27FC236}">
                  <a16:creationId xmlns:a16="http://schemas.microsoft.com/office/drawing/2014/main" id="{069F2DF2-4772-E794-2E84-C9B50564EE49}"/>
                </a:ext>
              </a:extLst>
            </p:cNvPr>
            <p:cNvSpPr/>
            <p:nvPr/>
          </p:nvSpPr>
          <p:spPr>
            <a:xfrm rot="5400000" flipV="1">
              <a:off x="2555000" y="-259864"/>
              <a:ext cx="475861" cy="3608666"/>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sp>
          <p:nvSpPr>
            <p:cNvPr id="12" name="Text Box 79">
              <a:extLst>
                <a:ext uri="{FF2B5EF4-FFF2-40B4-BE49-F238E27FC236}">
                  <a16:creationId xmlns:a16="http://schemas.microsoft.com/office/drawing/2014/main" id="{572C3497-352B-816B-C0EA-08A0206EEEC2}"/>
                </a:ext>
              </a:extLst>
            </p:cNvPr>
            <p:cNvSpPr txBox="1">
              <a:spLocks noChangeArrowheads="1"/>
            </p:cNvSpPr>
            <p:nvPr/>
          </p:nvSpPr>
          <p:spPr bwMode="auto">
            <a:xfrm>
              <a:off x="1268602" y="1372550"/>
              <a:ext cx="2872041"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拥塞的影响</a:t>
              </a:r>
            </a:p>
          </p:txBody>
        </p:sp>
      </p:grpSp>
      <p:grpSp>
        <p:nvGrpSpPr>
          <p:cNvPr id="40" name="组合 39">
            <a:extLst>
              <a:ext uri="{FF2B5EF4-FFF2-40B4-BE49-F238E27FC236}">
                <a16:creationId xmlns:a16="http://schemas.microsoft.com/office/drawing/2014/main" id="{C2EFF1CD-7E17-602B-5575-4AC19D889D79}"/>
              </a:ext>
            </a:extLst>
          </p:cNvPr>
          <p:cNvGrpSpPr/>
          <p:nvPr/>
        </p:nvGrpSpPr>
        <p:grpSpPr>
          <a:xfrm>
            <a:off x="0" y="-272687"/>
            <a:ext cx="7243834" cy="1428589"/>
            <a:chOff x="551030" y="-368704"/>
            <a:chExt cx="7243834" cy="1428589"/>
          </a:xfrm>
        </p:grpSpPr>
        <p:grpSp>
          <p:nvGrpSpPr>
            <p:cNvPr id="41" name="组合 40">
              <a:extLst>
                <a:ext uri="{FF2B5EF4-FFF2-40B4-BE49-F238E27FC236}">
                  <a16:creationId xmlns:a16="http://schemas.microsoft.com/office/drawing/2014/main" id="{2FAA7202-59DE-6065-321C-F5B03F1AAE09}"/>
                </a:ext>
              </a:extLst>
            </p:cNvPr>
            <p:cNvGrpSpPr/>
            <p:nvPr/>
          </p:nvGrpSpPr>
          <p:grpSpPr>
            <a:xfrm>
              <a:off x="1201631" y="303925"/>
              <a:ext cx="6593233" cy="686825"/>
              <a:chOff x="1839058" y="967769"/>
              <a:chExt cx="6593233" cy="686825"/>
            </a:xfrm>
          </p:grpSpPr>
          <p:sp>
            <p:nvSpPr>
              <p:cNvPr id="43" name="矩形: 圆角 42">
                <a:extLst>
                  <a:ext uri="{FF2B5EF4-FFF2-40B4-BE49-F238E27FC236}">
                    <a16:creationId xmlns:a16="http://schemas.microsoft.com/office/drawing/2014/main" id="{4D66C002-7E39-DFEE-6F3A-9D7B5452584D}"/>
                  </a:ext>
                </a:extLst>
              </p:cNvPr>
              <p:cNvSpPr/>
              <p:nvPr/>
            </p:nvSpPr>
            <p:spPr>
              <a:xfrm>
                <a:off x="1839058" y="967769"/>
                <a:ext cx="6007053"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4" name="文本框 43">
                <a:extLst>
                  <a:ext uri="{FF2B5EF4-FFF2-40B4-BE49-F238E27FC236}">
                    <a16:creationId xmlns:a16="http://schemas.microsoft.com/office/drawing/2014/main" id="{59446838-2725-D498-1D5B-0D56B1F81CAB}"/>
                  </a:ext>
                </a:extLst>
              </p:cNvPr>
              <p:cNvSpPr txBox="1"/>
              <p:nvPr/>
            </p:nvSpPr>
            <p:spPr>
              <a:xfrm>
                <a:off x="2795619" y="1009434"/>
                <a:ext cx="5636672"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网络中的拥塞现象分析</a:t>
                </a:r>
              </a:p>
            </p:txBody>
          </p:sp>
        </p:grpSp>
        <p:pic>
          <p:nvPicPr>
            <p:cNvPr id="42" name="图片 41">
              <a:extLst>
                <a:ext uri="{FF2B5EF4-FFF2-40B4-BE49-F238E27FC236}">
                  <a16:creationId xmlns:a16="http://schemas.microsoft.com/office/drawing/2014/main" id="{6DE2D74E-7F3F-60ED-67DB-22A39C7130D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2" name="圆角矩形 39">
            <a:extLst>
              <a:ext uri="{FF2B5EF4-FFF2-40B4-BE49-F238E27FC236}">
                <a16:creationId xmlns:a16="http://schemas.microsoft.com/office/drawing/2014/main" id="{C3E5B68A-1691-D7F9-784F-36C0BB805953}"/>
              </a:ext>
            </a:extLst>
          </p:cNvPr>
          <p:cNvSpPr/>
          <p:nvPr/>
        </p:nvSpPr>
        <p:spPr>
          <a:xfrm>
            <a:off x="5676581" y="2493860"/>
            <a:ext cx="6232244"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 name="Group 23">
            <a:extLst>
              <a:ext uri="{FF2B5EF4-FFF2-40B4-BE49-F238E27FC236}">
                <a16:creationId xmlns:a16="http://schemas.microsoft.com/office/drawing/2014/main" id="{A8C45B2F-A8AC-3D42-7E8A-88C555468533}"/>
              </a:ext>
            </a:extLst>
          </p:cNvPr>
          <p:cNvGrpSpPr>
            <a:grpSpLocks/>
          </p:cNvGrpSpPr>
          <p:nvPr/>
        </p:nvGrpSpPr>
        <p:grpSpPr bwMode="auto">
          <a:xfrm>
            <a:off x="6078337" y="3947212"/>
            <a:ext cx="4605001" cy="1692477"/>
            <a:chOff x="651" y="2544"/>
            <a:chExt cx="3908" cy="1556"/>
          </a:xfrm>
        </p:grpSpPr>
        <p:sp>
          <p:nvSpPr>
            <p:cNvPr id="5" name="Line 24">
              <a:extLst>
                <a:ext uri="{FF2B5EF4-FFF2-40B4-BE49-F238E27FC236}">
                  <a16:creationId xmlns:a16="http://schemas.microsoft.com/office/drawing/2014/main" id="{EA008D8A-EB29-E3C7-A702-75062C747F85}"/>
                </a:ext>
              </a:extLst>
            </p:cNvPr>
            <p:cNvSpPr>
              <a:spLocks noChangeShapeType="1"/>
            </p:cNvSpPr>
            <p:nvPr/>
          </p:nvSpPr>
          <p:spPr bwMode="auto">
            <a:xfrm>
              <a:off x="2585" y="3737"/>
              <a:ext cx="848"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6" name="Line 25">
              <a:extLst>
                <a:ext uri="{FF2B5EF4-FFF2-40B4-BE49-F238E27FC236}">
                  <a16:creationId xmlns:a16="http://schemas.microsoft.com/office/drawing/2014/main" id="{FBCA237D-EF51-BFF8-44A0-A85B68AF6058}"/>
                </a:ext>
              </a:extLst>
            </p:cNvPr>
            <p:cNvSpPr>
              <a:spLocks noChangeShapeType="1"/>
            </p:cNvSpPr>
            <p:nvPr/>
          </p:nvSpPr>
          <p:spPr bwMode="auto">
            <a:xfrm>
              <a:off x="1633" y="3737"/>
              <a:ext cx="94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grpSp>
          <p:nvGrpSpPr>
            <p:cNvPr id="7" name="Group 26">
              <a:extLst>
                <a:ext uri="{FF2B5EF4-FFF2-40B4-BE49-F238E27FC236}">
                  <a16:creationId xmlns:a16="http://schemas.microsoft.com/office/drawing/2014/main" id="{812F0CAE-8320-C5D1-7F31-5FD0A4573DA8}"/>
                </a:ext>
              </a:extLst>
            </p:cNvPr>
            <p:cNvGrpSpPr>
              <a:grpSpLocks/>
            </p:cNvGrpSpPr>
            <p:nvPr/>
          </p:nvGrpSpPr>
          <p:grpSpPr bwMode="auto">
            <a:xfrm>
              <a:off x="651" y="2544"/>
              <a:ext cx="3908" cy="1556"/>
              <a:chOff x="651" y="2544"/>
              <a:chExt cx="3908" cy="1556"/>
            </a:xfrm>
          </p:grpSpPr>
          <p:grpSp>
            <p:nvGrpSpPr>
              <p:cNvPr id="8" name="Group 27">
                <a:extLst>
                  <a:ext uri="{FF2B5EF4-FFF2-40B4-BE49-F238E27FC236}">
                    <a16:creationId xmlns:a16="http://schemas.microsoft.com/office/drawing/2014/main" id="{E72662E9-371A-6871-61EA-DEECB780B5D3}"/>
                  </a:ext>
                </a:extLst>
              </p:cNvPr>
              <p:cNvGrpSpPr>
                <a:grpSpLocks/>
              </p:cNvGrpSpPr>
              <p:nvPr/>
            </p:nvGrpSpPr>
            <p:grpSpPr bwMode="auto">
              <a:xfrm>
                <a:off x="651" y="2544"/>
                <a:ext cx="3908" cy="1252"/>
                <a:chOff x="651" y="2544"/>
                <a:chExt cx="3908" cy="1252"/>
              </a:xfrm>
            </p:grpSpPr>
            <p:sp>
              <p:nvSpPr>
                <p:cNvPr id="17" name="Freeform 28">
                  <a:extLst>
                    <a:ext uri="{FF2B5EF4-FFF2-40B4-BE49-F238E27FC236}">
                      <a16:creationId xmlns:a16="http://schemas.microsoft.com/office/drawing/2014/main" id="{ED36EE92-FAF5-648C-2015-6F8A222C1E8D}"/>
                    </a:ext>
                  </a:extLst>
                </p:cNvPr>
                <p:cNvSpPr>
                  <a:spLocks/>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18" name="Line 29">
                  <a:extLst>
                    <a:ext uri="{FF2B5EF4-FFF2-40B4-BE49-F238E27FC236}">
                      <a16:creationId xmlns:a16="http://schemas.microsoft.com/office/drawing/2014/main" id="{B40E7E14-FE31-3A51-AB57-58E2714C6177}"/>
                    </a:ext>
                  </a:extLst>
                </p:cNvPr>
                <p:cNvSpPr>
                  <a:spLocks noChangeShapeType="1"/>
                </p:cNvSpPr>
                <p:nvPr/>
              </p:nvSpPr>
              <p:spPr bwMode="auto">
                <a:xfrm>
                  <a:off x="2576" y="2611"/>
                  <a:ext cx="0" cy="94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19" name="Text Box 30">
                  <a:extLst>
                    <a:ext uri="{FF2B5EF4-FFF2-40B4-BE49-F238E27FC236}">
                      <a16:creationId xmlns:a16="http://schemas.microsoft.com/office/drawing/2014/main" id="{1C33335B-46CE-4B89-7C08-38E18CC11BA1}"/>
                    </a:ext>
                  </a:extLst>
                </p:cNvPr>
                <p:cNvSpPr txBox="1">
                  <a:spLocks noChangeArrowheads="1"/>
                </p:cNvSpPr>
                <p:nvPr/>
              </p:nvSpPr>
              <p:spPr bwMode="auto">
                <a:xfrm>
                  <a:off x="3532" y="2544"/>
                  <a:ext cx="1027"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66"/>
                      </a:solidFill>
                      <a:latin typeface="微软雅黑" pitchFamily="34" charset="-122"/>
                      <a:ea typeface="微软雅黑" pitchFamily="34" charset="-122"/>
                    </a:rPr>
                    <a:t>无拥塞控制</a:t>
                  </a:r>
                </a:p>
              </p:txBody>
            </p:sp>
            <p:sp>
              <p:nvSpPr>
                <p:cNvPr id="20" name="Line 31">
                  <a:extLst>
                    <a:ext uri="{FF2B5EF4-FFF2-40B4-BE49-F238E27FC236}">
                      <a16:creationId xmlns:a16="http://schemas.microsoft.com/office/drawing/2014/main" id="{317C4B5D-ACDC-AD3F-213C-35832F30CE2B}"/>
                    </a:ext>
                  </a:extLst>
                </p:cNvPr>
                <p:cNvSpPr>
                  <a:spLocks noChangeShapeType="1"/>
                </p:cNvSpPr>
                <p:nvPr/>
              </p:nvSpPr>
              <p:spPr bwMode="auto">
                <a:xfrm flipH="1">
                  <a:off x="3125" y="2759"/>
                  <a:ext cx="453" cy="1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21" name="Line 32">
                  <a:extLst>
                    <a:ext uri="{FF2B5EF4-FFF2-40B4-BE49-F238E27FC236}">
                      <a16:creationId xmlns:a16="http://schemas.microsoft.com/office/drawing/2014/main" id="{62C5C3D6-1DC7-5F49-AA86-5F5E1E0C4781}"/>
                    </a:ext>
                  </a:extLst>
                </p:cNvPr>
                <p:cNvSpPr>
                  <a:spLocks noChangeShapeType="1"/>
                </p:cNvSpPr>
                <p:nvPr/>
              </p:nvSpPr>
              <p:spPr bwMode="auto">
                <a:xfrm>
                  <a:off x="1619" y="2848"/>
                  <a:ext cx="0" cy="71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22" name="Line 33">
                  <a:extLst>
                    <a:ext uri="{FF2B5EF4-FFF2-40B4-BE49-F238E27FC236}">
                      <a16:creationId xmlns:a16="http://schemas.microsoft.com/office/drawing/2014/main" id="{5B1D44E9-3FDA-0A95-A4E3-7E9CB45ABEAD}"/>
                    </a:ext>
                  </a:extLst>
                </p:cNvPr>
                <p:cNvSpPr>
                  <a:spLocks noChangeShapeType="1"/>
                </p:cNvSpPr>
                <p:nvPr/>
              </p:nvSpPr>
              <p:spPr bwMode="auto">
                <a:xfrm>
                  <a:off x="2576"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23" name="Line 34">
                  <a:extLst>
                    <a:ext uri="{FF2B5EF4-FFF2-40B4-BE49-F238E27FC236}">
                      <a16:creationId xmlns:a16="http://schemas.microsoft.com/office/drawing/2014/main" id="{CA771BC6-4BCA-C044-4A92-770D5F7DC7F9}"/>
                    </a:ext>
                  </a:extLst>
                </p:cNvPr>
                <p:cNvSpPr>
                  <a:spLocks noChangeShapeType="1"/>
                </p:cNvSpPr>
                <p:nvPr/>
              </p:nvSpPr>
              <p:spPr bwMode="auto">
                <a:xfrm>
                  <a:off x="3424"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24" name="Line 35">
                  <a:extLst>
                    <a:ext uri="{FF2B5EF4-FFF2-40B4-BE49-F238E27FC236}">
                      <a16:creationId xmlns:a16="http://schemas.microsoft.com/office/drawing/2014/main" id="{DBE22035-5A2E-79E0-4A0C-DCC5FDCE0E1B}"/>
                    </a:ext>
                  </a:extLst>
                </p:cNvPr>
                <p:cNvSpPr>
                  <a:spLocks noChangeShapeType="1"/>
                </p:cNvSpPr>
                <p:nvPr/>
              </p:nvSpPr>
              <p:spPr bwMode="auto">
                <a:xfrm>
                  <a:off x="1619"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grpSp>
          <p:sp>
            <p:nvSpPr>
              <p:cNvPr id="15" name="Text Box 36">
                <a:extLst>
                  <a:ext uri="{FF2B5EF4-FFF2-40B4-BE49-F238E27FC236}">
                    <a16:creationId xmlns:a16="http://schemas.microsoft.com/office/drawing/2014/main" id="{A73DFA00-827E-2706-304B-8E96B49CC18D}"/>
                  </a:ext>
                </a:extLst>
              </p:cNvPr>
              <p:cNvSpPr txBox="1">
                <a:spLocks noChangeArrowheads="1"/>
              </p:cNvSpPr>
              <p:nvPr/>
            </p:nvSpPr>
            <p:spPr bwMode="auto">
              <a:xfrm>
                <a:off x="2748" y="3589"/>
                <a:ext cx="461" cy="283"/>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0000FF"/>
                    </a:solidFill>
                    <a:latin typeface="微软雅黑" pitchFamily="34" charset="-122"/>
                    <a:ea typeface="微软雅黑" pitchFamily="34" charset="-122"/>
                  </a:rPr>
                  <a:t>拥塞</a:t>
                </a:r>
              </a:p>
            </p:txBody>
          </p:sp>
          <p:sp>
            <p:nvSpPr>
              <p:cNvPr id="16" name="Text Box 37">
                <a:extLst>
                  <a:ext uri="{FF2B5EF4-FFF2-40B4-BE49-F238E27FC236}">
                    <a16:creationId xmlns:a16="http://schemas.microsoft.com/office/drawing/2014/main" id="{4AED5D6F-DE5C-86EC-83CD-51BB66BD578C}"/>
                  </a:ext>
                </a:extLst>
              </p:cNvPr>
              <p:cNvSpPr txBox="1">
                <a:spLocks noChangeArrowheads="1"/>
              </p:cNvSpPr>
              <p:nvPr/>
            </p:nvSpPr>
            <p:spPr bwMode="auto">
              <a:xfrm>
                <a:off x="1872" y="3619"/>
                <a:ext cx="461" cy="481"/>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eaLnBrk="1" hangingPunct="1"/>
                <a:r>
                  <a:rPr lang="zh-CN" altLang="en-US" sz="1400" dirty="0">
                    <a:latin typeface="微软雅黑" pitchFamily="34" charset="-122"/>
                    <a:ea typeface="微软雅黑" pitchFamily="34" charset="-122"/>
                  </a:rPr>
                  <a:t>轻度</a:t>
                </a:r>
              </a:p>
              <a:p>
                <a:pPr algn="ctr" eaLnBrk="1" hangingPunct="1"/>
                <a:r>
                  <a:rPr lang="zh-CN" altLang="en-US" sz="1400" dirty="0">
                    <a:latin typeface="微软雅黑" pitchFamily="34" charset="-122"/>
                    <a:ea typeface="微软雅黑" pitchFamily="34" charset="-122"/>
                  </a:rPr>
                  <a:t>拥塞</a:t>
                </a:r>
              </a:p>
            </p:txBody>
          </p:sp>
        </p:grpSp>
      </p:grpSp>
      <p:sp>
        <p:nvSpPr>
          <p:cNvPr id="25" name="Line 3">
            <a:extLst>
              <a:ext uri="{FF2B5EF4-FFF2-40B4-BE49-F238E27FC236}">
                <a16:creationId xmlns:a16="http://schemas.microsoft.com/office/drawing/2014/main" id="{1D8938CF-7EAE-BC22-E370-7335320FDB1A}"/>
              </a:ext>
            </a:extLst>
          </p:cNvPr>
          <p:cNvSpPr>
            <a:spLocks noChangeShapeType="1"/>
          </p:cNvSpPr>
          <p:nvPr/>
        </p:nvSpPr>
        <p:spPr bwMode="auto">
          <a:xfrm rot="16200000">
            <a:off x="4885662" y="3864002"/>
            <a:ext cx="2385349"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26" name="Text Box 4">
            <a:extLst>
              <a:ext uri="{FF2B5EF4-FFF2-40B4-BE49-F238E27FC236}">
                <a16:creationId xmlns:a16="http://schemas.microsoft.com/office/drawing/2014/main" id="{AE46BA3F-D0DC-2B8A-5292-BC3258B4745D}"/>
              </a:ext>
            </a:extLst>
          </p:cNvPr>
          <p:cNvSpPr txBox="1">
            <a:spLocks noChangeArrowheads="1"/>
          </p:cNvSpPr>
          <p:nvPr/>
        </p:nvSpPr>
        <p:spPr bwMode="auto">
          <a:xfrm>
            <a:off x="10626750" y="5081694"/>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提供的负载</a:t>
            </a:r>
          </a:p>
        </p:txBody>
      </p:sp>
      <p:grpSp>
        <p:nvGrpSpPr>
          <p:cNvPr id="27" name="Group 6">
            <a:extLst>
              <a:ext uri="{FF2B5EF4-FFF2-40B4-BE49-F238E27FC236}">
                <a16:creationId xmlns:a16="http://schemas.microsoft.com/office/drawing/2014/main" id="{F01F355D-90FF-331A-A499-7C38AC521D9A}"/>
              </a:ext>
            </a:extLst>
          </p:cNvPr>
          <p:cNvGrpSpPr>
            <a:grpSpLocks/>
          </p:cNvGrpSpPr>
          <p:nvPr/>
        </p:nvGrpSpPr>
        <p:grpSpPr bwMode="auto">
          <a:xfrm>
            <a:off x="6078336" y="3104237"/>
            <a:ext cx="4810036" cy="1952440"/>
            <a:chOff x="651" y="1764"/>
            <a:chExt cx="4082" cy="1795"/>
          </a:xfrm>
        </p:grpSpPr>
        <p:sp>
          <p:nvSpPr>
            <p:cNvPr id="28" name="Line 7">
              <a:extLst>
                <a:ext uri="{FF2B5EF4-FFF2-40B4-BE49-F238E27FC236}">
                  <a16:creationId xmlns:a16="http://schemas.microsoft.com/office/drawing/2014/main" id="{0B319AAF-7427-44BA-8637-B9C835A73345}"/>
                </a:ext>
              </a:extLst>
            </p:cNvPr>
            <p:cNvSpPr>
              <a:spLocks noChangeShapeType="1"/>
            </p:cNvSpPr>
            <p:nvPr/>
          </p:nvSpPr>
          <p:spPr bwMode="auto">
            <a:xfrm flipV="1">
              <a:off x="651" y="2077"/>
              <a:ext cx="1925" cy="1482"/>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29" name="Line 8">
              <a:extLst>
                <a:ext uri="{FF2B5EF4-FFF2-40B4-BE49-F238E27FC236}">
                  <a16:creationId xmlns:a16="http://schemas.microsoft.com/office/drawing/2014/main" id="{163D3508-DA16-20FE-093E-6F10FF02F256}"/>
                </a:ext>
              </a:extLst>
            </p:cNvPr>
            <p:cNvSpPr>
              <a:spLocks noChangeShapeType="1"/>
            </p:cNvSpPr>
            <p:nvPr/>
          </p:nvSpPr>
          <p:spPr bwMode="auto">
            <a:xfrm>
              <a:off x="2576" y="2077"/>
              <a:ext cx="2157"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0" name="Text Box 9">
              <a:extLst>
                <a:ext uri="{FF2B5EF4-FFF2-40B4-BE49-F238E27FC236}">
                  <a16:creationId xmlns:a16="http://schemas.microsoft.com/office/drawing/2014/main" id="{9E7120F6-975C-FCFB-C97A-70D3B9D00ED1}"/>
                </a:ext>
              </a:extLst>
            </p:cNvPr>
            <p:cNvSpPr txBox="1">
              <a:spLocks noChangeArrowheads="1"/>
            </p:cNvSpPr>
            <p:nvPr/>
          </p:nvSpPr>
          <p:spPr bwMode="auto">
            <a:xfrm>
              <a:off x="2901" y="1764"/>
              <a:ext cx="137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CC00CC"/>
                  </a:solidFill>
                  <a:latin typeface="微软雅黑" pitchFamily="34" charset="-122"/>
                  <a:ea typeface="微软雅黑" pitchFamily="34" charset="-122"/>
                </a:rPr>
                <a:t>理想的拥塞控制</a:t>
              </a:r>
            </a:p>
          </p:txBody>
        </p:sp>
      </p:grpSp>
      <p:grpSp>
        <p:nvGrpSpPr>
          <p:cNvPr id="31" name="Group 18">
            <a:extLst>
              <a:ext uri="{FF2B5EF4-FFF2-40B4-BE49-F238E27FC236}">
                <a16:creationId xmlns:a16="http://schemas.microsoft.com/office/drawing/2014/main" id="{80581EC1-B36E-0643-C90D-BFF2A3EA2227}"/>
              </a:ext>
            </a:extLst>
          </p:cNvPr>
          <p:cNvGrpSpPr>
            <a:grpSpLocks/>
          </p:cNvGrpSpPr>
          <p:nvPr/>
        </p:nvGrpSpPr>
        <p:grpSpPr bwMode="auto">
          <a:xfrm>
            <a:off x="9257530" y="4329000"/>
            <a:ext cx="2651294" cy="792941"/>
            <a:chOff x="3349" y="2890"/>
            <a:chExt cx="2250" cy="729"/>
          </a:xfrm>
        </p:grpSpPr>
        <p:grpSp>
          <p:nvGrpSpPr>
            <p:cNvPr id="32" name="Group 19">
              <a:extLst>
                <a:ext uri="{FF2B5EF4-FFF2-40B4-BE49-F238E27FC236}">
                  <a16:creationId xmlns:a16="http://schemas.microsoft.com/office/drawing/2014/main" id="{C8110121-E0D9-2D42-48D5-35FD5E84ED7F}"/>
                </a:ext>
              </a:extLst>
            </p:cNvPr>
            <p:cNvGrpSpPr>
              <a:grpSpLocks/>
            </p:cNvGrpSpPr>
            <p:nvPr/>
          </p:nvGrpSpPr>
          <p:grpSpPr bwMode="auto">
            <a:xfrm>
              <a:off x="3477" y="2890"/>
              <a:ext cx="2122" cy="600"/>
              <a:chOff x="3477" y="2890"/>
              <a:chExt cx="2122" cy="600"/>
            </a:xfrm>
          </p:grpSpPr>
          <p:sp>
            <p:nvSpPr>
              <p:cNvPr id="34" name="Text Box 20">
                <a:extLst>
                  <a:ext uri="{FF2B5EF4-FFF2-40B4-BE49-F238E27FC236}">
                    <a16:creationId xmlns:a16="http://schemas.microsoft.com/office/drawing/2014/main" id="{CFD22061-6416-DE98-50A0-499DCC70CBC6}"/>
                  </a:ext>
                </a:extLst>
              </p:cNvPr>
              <p:cNvSpPr txBox="1">
                <a:spLocks noChangeArrowheads="1"/>
              </p:cNvSpPr>
              <p:nvPr/>
            </p:nvSpPr>
            <p:spPr bwMode="auto">
              <a:xfrm>
                <a:off x="3881" y="2890"/>
                <a:ext cx="171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C00000"/>
                    </a:solidFill>
                    <a:latin typeface="微软雅黑" pitchFamily="34" charset="-122"/>
                    <a:ea typeface="微软雅黑" pitchFamily="34" charset="-122"/>
                  </a:rPr>
                  <a:t>死锁（吞吐量 </a:t>
                </a:r>
                <a:r>
                  <a:rPr lang="en-US" altLang="zh-CN" sz="1600" dirty="0">
                    <a:solidFill>
                      <a:srgbClr val="C00000"/>
                    </a:solidFill>
                    <a:latin typeface="微软雅黑" pitchFamily="34" charset="-122"/>
                    <a:ea typeface="微软雅黑" pitchFamily="34" charset="-122"/>
                  </a:rPr>
                  <a:t>= 0</a:t>
                </a:r>
                <a:r>
                  <a:rPr lang="zh-CN" altLang="en-US" sz="1600" dirty="0">
                    <a:solidFill>
                      <a:srgbClr val="C00000"/>
                    </a:solidFill>
                    <a:latin typeface="微软雅黑" pitchFamily="34" charset="-122"/>
                    <a:ea typeface="微软雅黑" pitchFamily="34" charset="-122"/>
                  </a:rPr>
                  <a:t>）</a:t>
                </a:r>
              </a:p>
            </p:txBody>
          </p:sp>
          <p:sp>
            <p:nvSpPr>
              <p:cNvPr id="35" name="Line 21">
                <a:extLst>
                  <a:ext uri="{FF2B5EF4-FFF2-40B4-BE49-F238E27FC236}">
                    <a16:creationId xmlns:a16="http://schemas.microsoft.com/office/drawing/2014/main" id="{5EA267CB-A489-848A-24A3-76B8B98A9C87}"/>
                  </a:ext>
                </a:extLst>
              </p:cNvPr>
              <p:cNvSpPr>
                <a:spLocks noChangeShapeType="1"/>
              </p:cNvSpPr>
              <p:nvPr/>
            </p:nvSpPr>
            <p:spPr bwMode="auto">
              <a:xfrm flipH="1">
                <a:off x="3477" y="3104"/>
                <a:ext cx="457" cy="386"/>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
          <p:nvSpPr>
            <p:cNvPr id="33" name="Oval 22">
              <a:extLst>
                <a:ext uri="{FF2B5EF4-FFF2-40B4-BE49-F238E27FC236}">
                  <a16:creationId xmlns:a16="http://schemas.microsoft.com/office/drawing/2014/main" id="{B45DE9AE-BA94-CB62-ADE5-58846F1D67E4}"/>
                </a:ext>
              </a:extLst>
            </p:cNvPr>
            <p:cNvSpPr>
              <a:spLocks noChangeArrowheads="1"/>
            </p:cNvSpPr>
            <p:nvPr/>
          </p:nvSpPr>
          <p:spPr bwMode="auto">
            <a:xfrm>
              <a:off x="3349" y="3485"/>
              <a:ext cx="141" cy="134"/>
            </a:xfrm>
            <a:prstGeom prst="ellipse">
              <a:avLst/>
            </a:prstGeom>
            <a:solidFill>
              <a:srgbClr val="C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
        <p:nvSpPr>
          <p:cNvPr id="3" name="文本框 2">
            <a:extLst>
              <a:ext uri="{FF2B5EF4-FFF2-40B4-BE49-F238E27FC236}">
                <a16:creationId xmlns:a16="http://schemas.microsoft.com/office/drawing/2014/main" id="{BF3C5844-2790-184C-6EBE-B7F8FE7D303B}"/>
              </a:ext>
            </a:extLst>
          </p:cNvPr>
          <p:cNvSpPr txBox="1"/>
          <p:nvPr/>
        </p:nvSpPr>
        <p:spPr>
          <a:xfrm>
            <a:off x="354620" y="2046636"/>
            <a:ext cx="5340751" cy="3912097"/>
          </a:xfrm>
          <a:prstGeom prst="rect">
            <a:avLst/>
          </a:prstGeom>
          <a:noFill/>
        </p:spPr>
        <p:txBody>
          <a:bodyPr wrap="square">
            <a:spAutoFit/>
          </a:bodyPr>
          <a:lstStyle/>
          <a:p>
            <a:pPr marL="342900" indent="-342900">
              <a:lnSpc>
                <a:spcPct val="150000"/>
              </a:lnSpc>
              <a:buClr>
                <a:srgbClr val="009FF6"/>
              </a:buClr>
              <a:buFont typeface="Wingdings" panose="05000000000000000000" pitchFamily="2" charset="2"/>
              <a:buChar char="n"/>
            </a:pPr>
            <a:r>
              <a:rPr kumimoji="1" lang="zh-CN" altLang="en-US" sz="2400" dirty="0">
                <a:solidFill>
                  <a:schemeClr val="tx1">
                    <a:lumMod val="85000"/>
                    <a:lumOff val="15000"/>
                  </a:schemeClr>
                </a:solidFill>
                <a:ea typeface="思源黑体 CN Medium" panose="020B0600000000000000" pitchFamily="34" charset="-122"/>
              </a:rPr>
              <a:t>时延增加：数据在队列中排队时间变长</a:t>
            </a:r>
          </a:p>
          <a:p>
            <a:pPr marL="342900" indent="-342900">
              <a:lnSpc>
                <a:spcPct val="150000"/>
              </a:lnSpc>
              <a:buClr>
                <a:srgbClr val="009FF6"/>
              </a:buClr>
              <a:buFont typeface="Wingdings" panose="05000000000000000000" pitchFamily="2" charset="2"/>
              <a:buChar char="n"/>
            </a:pPr>
            <a:r>
              <a:rPr kumimoji="1" lang="zh-CN" altLang="en-US" sz="2400" dirty="0">
                <a:solidFill>
                  <a:schemeClr val="tx1">
                    <a:lumMod val="85000"/>
                    <a:lumOff val="15000"/>
                  </a:schemeClr>
                </a:solidFill>
                <a:ea typeface="思源黑体 CN Medium" panose="020B0600000000000000" pitchFamily="34" charset="-122"/>
              </a:rPr>
              <a:t>丢包严重：缓冲区满，导致新到数据被丢弃</a:t>
            </a:r>
          </a:p>
          <a:p>
            <a:pPr marL="342900" indent="-342900">
              <a:lnSpc>
                <a:spcPct val="150000"/>
              </a:lnSpc>
              <a:buClr>
                <a:srgbClr val="009FF6"/>
              </a:buClr>
              <a:buFont typeface="Wingdings" panose="05000000000000000000" pitchFamily="2" charset="2"/>
              <a:buChar char="n"/>
            </a:pPr>
            <a:r>
              <a:rPr kumimoji="1" lang="zh-CN" altLang="en-US" sz="2400" dirty="0">
                <a:solidFill>
                  <a:schemeClr val="tx1">
                    <a:lumMod val="85000"/>
                    <a:lumOff val="15000"/>
                  </a:schemeClr>
                </a:solidFill>
                <a:ea typeface="思源黑体 CN Medium" panose="020B0600000000000000" pitchFamily="34" charset="-122"/>
              </a:rPr>
              <a:t>吞吐量下降：有效数据传输率降低</a:t>
            </a:r>
          </a:p>
          <a:p>
            <a:pPr marL="342900" indent="-342900">
              <a:lnSpc>
                <a:spcPct val="150000"/>
              </a:lnSpc>
              <a:buClr>
                <a:srgbClr val="009FF6"/>
              </a:buClr>
              <a:buFont typeface="Wingdings" panose="05000000000000000000" pitchFamily="2" charset="2"/>
              <a:buChar char="n"/>
            </a:pPr>
            <a:r>
              <a:rPr kumimoji="1" lang="zh-CN" altLang="en-US" sz="2400" dirty="0">
                <a:solidFill>
                  <a:schemeClr val="tx1">
                    <a:lumMod val="85000"/>
                    <a:lumOff val="15000"/>
                  </a:schemeClr>
                </a:solidFill>
                <a:ea typeface="思源黑体 CN Medium" panose="020B0600000000000000" pitchFamily="34" charset="-122"/>
              </a:rPr>
              <a:t>连接重传频繁：</a:t>
            </a:r>
            <a:r>
              <a:rPr kumimoji="1" lang="en-US" altLang="zh-CN" sz="2400" dirty="0">
                <a:solidFill>
                  <a:schemeClr val="tx1">
                    <a:lumMod val="85000"/>
                    <a:lumOff val="15000"/>
                  </a:schemeClr>
                </a:solidFill>
                <a:ea typeface="思源黑体 CN Medium" panose="020B0600000000000000" pitchFamily="34" charset="-122"/>
              </a:rPr>
              <a:t>TCP</a:t>
            </a:r>
            <a:r>
              <a:rPr kumimoji="1" lang="zh-CN" altLang="en-US" sz="2400" dirty="0">
                <a:solidFill>
                  <a:schemeClr val="tx1">
                    <a:lumMod val="85000"/>
                    <a:lumOff val="15000"/>
                  </a:schemeClr>
                </a:solidFill>
                <a:ea typeface="思源黑体 CN Medium" panose="020B0600000000000000" pitchFamily="34" charset="-122"/>
              </a:rPr>
              <a:t>误以为丢包是网络错误，触发慢启动</a:t>
            </a:r>
          </a:p>
        </p:txBody>
      </p:sp>
      <p:sp>
        <p:nvSpPr>
          <p:cNvPr id="36" name="灯片编号占位符 35">
            <a:extLst>
              <a:ext uri="{FF2B5EF4-FFF2-40B4-BE49-F238E27FC236}">
                <a16:creationId xmlns:a16="http://schemas.microsoft.com/office/drawing/2014/main" id="{4B517F5A-0E74-4A91-B2DA-241A70264327}"/>
              </a:ext>
            </a:extLst>
          </p:cNvPr>
          <p:cNvSpPr>
            <a:spLocks noGrp="1"/>
          </p:cNvSpPr>
          <p:nvPr>
            <p:ph type="sldNum" sz="quarter" idx="12"/>
          </p:nvPr>
        </p:nvSpPr>
        <p:spPr/>
        <p:txBody>
          <a:bodyPr/>
          <a:lstStyle/>
          <a:p>
            <a:fld id="{5956A083-5018-4B52-82A0-83241B8E3D94}" type="slidenum">
              <a:rPr lang="zh-CN" altLang="en-US" smtClean="0"/>
              <a:t>8</a:t>
            </a:fld>
            <a:endParaRPr lang="zh-CN" altLang="en-US"/>
          </a:p>
        </p:txBody>
      </p:sp>
    </p:spTree>
    <p:extLst>
      <p:ext uri="{BB962C8B-B14F-4D97-AF65-F5344CB8AC3E}">
        <p14:creationId xmlns:p14="http://schemas.microsoft.com/office/powerpoint/2010/main" val="1532221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86F79-A1AC-1698-DC0C-3EBCCED98979}"/>
            </a:ext>
          </a:extLst>
        </p:cNvPr>
        <p:cNvGrpSpPr/>
        <p:nvPr/>
      </p:nvGrpSpPr>
      <p:grpSpPr>
        <a:xfrm>
          <a:off x="0" y="0"/>
          <a:ext cx="0" cy="0"/>
          <a:chOff x="0" y="0"/>
          <a:chExt cx="0" cy="0"/>
        </a:xfrm>
      </p:grpSpPr>
      <p:grpSp>
        <p:nvGrpSpPr>
          <p:cNvPr id="9" name="组合 8">
            <a:extLst>
              <a:ext uri="{FF2B5EF4-FFF2-40B4-BE49-F238E27FC236}">
                <a16:creationId xmlns:a16="http://schemas.microsoft.com/office/drawing/2014/main" id="{2DE0B1CE-42C4-8617-98FB-0E597513DC0A}"/>
              </a:ext>
            </a:extLst>
          </p:cNvPr>
          <p:cNvGrpSpPr/>
          <p:nvPr/>
        </p:nvGrpSpPr>
        <p:grpSpPr>
          <a:xfrm>
            <a:off x="301702" y="1301801"/>
            <a:ext cx="6171017" cy="526730"/>
            <a:chOff x="722008" y="1303131"/>
            <a:chExt cx="4779295" cy="502938"/>
          </a:xfrm>
        </p:grpSpPr>
        <p:grpSp>
          <p:nvGrpSpPr>
            <p:cNvPr id="10" name="组合 9">
              <a:extLst>
                <a:ext uri="{FF2B5EF4-FFF2-40B4-BE49-F238E27FC236}">
                  <a16:creationId xmlns:a16="http://schemas.microsoft.com/office/drawing/2014/main" id="{CDC65AD4-C672-1BF7-3FB5-354CD994B7A6}"/>
                </a:ext>
              </a:extLst>
            </p:cNvPr>
            <p:cNvGrpSpPr/>
            <p:nvPr/>
          </p:nvGrpSpPr>
          <p:grpSpPr>
            <a:xfrm>
              <a:off x="722008" y="1303131"/>
              <a:ext cx="546594" cy="475865"/>
              <a:chOff x="708742" y="1296102"/>
              <a:chExt cx="454744" cy="283828"/>
            </a:xfrm>
          </p:grpSpPr>
          <p:sp>
            <p:nvSpPr>
              <p:cNvPr id="13" name="平行四边形 12">
                <a:extLst>
                  <a:ext uri="{FF2B5EF4-FFF2-40B4-BE49-F238E27FC236}">
                    <a16:creationId xmlns:a16="http://schemas.microsoft.com/office/drawing/2014/main" id="{63D697C9-01E3-E007-AD0A-92B52F2C951A}"/>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4" name="平行四边形 13">
                <a:extLst>
                  <a:ext uri="{FF2B5EF4-FFF2-40B4-BE49-F238E27FC236}">
                    <a16:creationId xmlns:a16="http://schemas.microsoft.com/office/drawing/2014/main" id="{B952F529-EC92-AD9F-6167-83CEF94F9735}"/>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1" name="流程图: 手动输入 6">
              <a:extLst>
                <a:ext uri="{FF2B5EF4-FFF2-40B4-BE49-F238E27FC236}">
                  <a16:creationId xmlns:a16="http://schemas.microsoft.com/office/drawing/2014/main" id="{DC4CCDD2-7028-D397-19E6-A009C1EF8905}"/>
                </a:ext>
              </a:extLst>
            </p:cNvPr>
            <p:cNvSpPr/>
            <p:nvPr/>
          </p:nvSpPr>
          <p:spPr>
            <a:xfrm rot="5400000" flipV="1">
              <a:off x="2214260" y="80876"/>
              <a:ext cx="475861" cy="2927186"/>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sp>
          <p:nvSpPr>
            <p:cNvPr id="12" name="Text Box 79">
              <a:extLst>
                <a:ext uri="{FF2B5EF4-FFF2-40B4-BE49-F238E27FC236}">
                  <a16:creationId xmlns:a16="http://schemas.microsoft.com/office/drawing/2014/main" id="{17F65C50-B5AE-8F35-EC1D-EAAA5B3AC9C5}"/>
                </a:ext>
              </a:extLst>
            </p:cNvPr>
            <p:cNvSpPr txBox="1">
              <a:spLocks noChangeArrowheads="1"/>
            </p:cNvSpPr>
            <p:nvPr/>
          </p:nvSpPr>
          <p:spPr bwMode="auto">
            <a:xfrm>
              <a:off x="1351235" y="1335869"/>
              <a:ext cx="4150068"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拥塞控制和流量控制的区别</a:t>
              </a:r>
            </a:p>
          </p:txBody>
        </p:sp>
      </p:grpSp>
      <p:grpSp>
        <p:nvGrpSpPr>
          <p:cNvPr id="55" name="组合 54">
            <a:extLst>
              <a:ext uri="{FF2B5EF4-FFF2-40B4-BE49-F238E27FC236}">
                <a16:creationId xmlns:a16="http://schemas.microsoft.com/office/drawing/2014/main" id="{947DB832-B45A-6268-3EF3-076D6C638874}"/>
              </a:ext>
            </a:extLst>
          </p:cNvPr>
          <p:cNvGrpSpPr/>
          <p:nvPr/>
        </p:nvGrpSpPr>
        <p:grpSpPr>
          <a:xfrm>
            <a:off x="0" y="-272687"/>
            <a:ext cx="7335748" cy="1428589"/>
            <a:chOff x="551030" y="-368704"/>
            <a:chExt cx="7335748" cy="1428589"/>
          </a:xfrm>
        </p:grpSpPr>
        <p:grpSp>
          <p:nvGrpSpPr>
            <p:cNvPr id="56" name="组合 55">
              <a:extLst>
                <a:ext uri="{FF2B5EF4-FFF2-40B4-BE49-F238E27FC236}">
                  <a16:creationId xmlns:a16="http://schemas.microsoft.com/office/drawing/2014/main" id="{300BC257-5CB2-FC1B-5D10-6B5DDB89794F}"/>
                </a:ext>
              </a:extLst>
            </p:cNvPr>
            <p:cNvGrpSpPr/>
            <p:nvPr/>
          </p:nvGrpSpPr>
          <p:grpSpPr>
            <a:xfrm>
              <a:off x="1201632" y="303925"/>
              <a:ext cx="6685146" cy="686825"/>
              <a:chOff x="1839059" y="967769"/>
              <a:chExt cx="6685146" cy="686825"/>
            </a:xfrm>
          </p:grpSpPr>
          <p:sp>
            <p:nvSpPr>
              <p:cNvPr id="58" name="矩形: 圆角 57">
                <a:extLst>
                  <a:ext uri="{FF2B5EF4-FFF2-40B4-BE49-F238E27FC236}">
                    <a16:creationId xmlns:a16="http://schemas.microsoft.com/office/drawing/2014/main" id="{47D4F526-0F92-40D6-3559-F7A7AFA30EF5}"/>
                  </a:ext>
                </a:extLst>
              </p:cNvPr>
              <p:cNvSpPr/>
              <p:nvPr/>
            </p:nvSpPr>
            <p:spPr>
              <a:xfrm>
                <a:off x="1839059" y="967769"/>
                <a:ext cx="5935134"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59" name="文本框 58">
                <a:extLst>
                  <a:ext uri="{FF2B5EF4-FFF2-40B4-BE49-F238E27FC236}">
                    <a16:creationId xmlns:a16="http://schemas.microsoft.com/office/drawing/2014/main" id="{3B8481B0-C684-345E-988D-25F0F96B96E1}"/>
                  </a:ext>
                </a:extLst>
              </p:cNvPr>
              <p:cNvSpPr txBox="1"/>
              <p:nvPr/>
            </p:nvSpPr>
            <p:spPr>
              <a:xfrm>
                <a:off x="2795619" y="1009434"/>
                <a:ext cx="5728586"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网络中的拥塞现象分析</a:t>
                </a:r>
              </a:p>
            </p:txBody>
          </p:sp>
        </p:grpSp>
        <p:pic>
          <p:nvPicPr>
            <p:cNvPr id="57" name="图片 56">
              <a:extLst>
                <a:ext uri="{FF2B5EF4-FFF2-40B4-BE49-F238E27FC236}">
                  <a16:creationId xmlns:a16="http://schemas.microsoft.com/office/drawing/2014/main" id="{D26042C7-6303-243C-BF7E-8A32C9B8F5F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aphicFrame>
        <p:nvGraphicFramePr>
          <p:cNvPr id="5" name="图示 4">
            <a:extLst>
              <a:ext uri="{FF2B5EF4-FFF2-40B4-BE49-F238E27FC236}">
                <a16:creationId xmlns:a16="http://schemas.microsoft.com/office/drawing/2014/main" id="{2E872883-E7F7-5034-6925-F1DB764C80D1}"/>
              </a:ext>
            </a:extLst>
          </p:cNvPr>
          <p:cNvGraphicFramePr/>
          <p:nvPr>
            <p:extLst>
              <p:ext uri="{D42A27DB-BD31-4B8C-83A1-F6EECF244321}">
                <p14:modId xmlns:p14="http://schemas.microsoft.com/office/powerpoint/2010/main" val="2177385702"/>
              </p:ext>
            </p:extLst>
          </p:nvPr>
        </p:nvGraphicFramePr>
        <p:xfrm>
          <a:off x="2027089" y="1953209"/>
          <a:ext cx="8137823" cy="4152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灯片编号占位符 1">
            <a:extLst>
              <a:ext uri="{FF2B5EF4-FFF2-40B4-BE49-F238E27FC236}">
                <a16:creationId xmlns:a16="http://schemas.microsoft.com/office/drawing/2014/main" id="{5ABF01E1-F4B5-4D03-B961-B89832D7C3D4}"/>
              </a:ext>
            </a:extLst>
          </p:cNvPr>
          <p:cNvSpPr>
            <a:spLocks noGrp="1"/>
          </p:cNvSpPr>
          <p:nvPr>
            <p:ph type="sldNum" sz="quarter" idx="12"/>
          </p:nvPr>
        </p:nvSpPr>
        <p:spPr/>
        <p:txBody>
          <a:bodyPr/>
          <a:lstStyle/>
          <a:p>
            <a:fld id="{5956A083-5018-4B52-82A0-83241B8E3D94}" type="slidenum">
              <a:rPr lang="zh-CN" altLang="en-US" smtClean="0"/>
              <a:t>9</a:t>
            </a:fld>
            <a:endParaRPr lang="zh-CN" altLang="en-US"/>
          </a:p>
        </p:txBody>
      </p:sp>
    </p:spTree>
    <p:extLst>
      <p:ext uri="{BB962C8B-B14F-4D97-AF65-F5344CB8AC3E}">
        <p14:creationId xmlns:p14="http://schemas.microsoft.com/office/powerpoint/2010/main" val="267617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899F6D40-EA5A-1B56-BB1B-42F9910FAD7E}"/>
              </a:ext>
            </a:extLst>
          </p:cNvPr>
          <p:cNvGrpSpPr/>
          <p:nvPr/>
        </p:nvGrpSpPr>
        <p:grpSpPr>
          <a:xfrm>
            <a:off x="1959429" y="2398988"/>
            <a:ext cx="9146383" cy="2267383"/>
            <a:chOff x="501376" y="2519622"/>
            <a:chExt cx="9146383" cy="2267383"/>
          </a:xfrm>
        </p:grpSpPr>
        <p:grpSp>
          <p:nvGrpSpPr>
            <p:cNvPr id="5" name="组合 4">
              <a:extLst>
                <a:ext uri="{FF2B5EF4-FFF2-40B4-BE49-F238E27FC236}">
                  <a16:creationId xmlns:a16="http://schemas.microsoft.com/office/drawing/2014/main" id="{939287E3-FF60-BD2F-7880-E5EEFB9623E7}"/>
                </a:ext>
              </a:extLst>
            </p:cNvPr>
            <p:cNvGrpSpPr/>
            <p:nvPr/>
          </p:nvGrpSpPr>
          <p:grpSpPr>
            <a:xfrm>
              <a:off x="501376" y="2519622"/>
              <a:ext cx="8999982" cy="1694679"/>
              <a:chOff x="376034" y="1889716"/>
              <a:chExt cx="6749994" cy="1271009"/>
            </a:xfrm>
          </p:grpSpPr>
          <p:sp>
            <p:nvSpPr>
              <p:cNvPr id="7" name="矩形 6">
                <a:extLst>
                  <a:ext uri="{FF2B5EF4-FFF2-40B4-BE49-F238E27FC236}">
                    <a16:creationId xmlns:a16="http://schemas.microsoft.com/office/drawing/2014/main" id="{669B413D-14DE-5DA4-C526-27B275A4EE87}"/>
                  </a:ext>
                </a:extLst>
              </p:cNvPr>
              <p:cNvSpPr/>
              <p:nvPr/>
            </p:nvSpPr>
            <p:spPr>
              <a:xfrm>
                <a:off x="957025" y="1889716"/>
                <a:ext cx="5851608" cy="848742"/>
              </a:xfrm>
              <a:prstGeom prst="rect">
                <a:avLst/>
              </a:prstGeom>
            </p:spPr>
            <p:txBody>
              <a:bodyPr wrap="none">
                <a:spAutoFit/>
              </a:bodyPr>
              <a:lstStyle/>
              <a:p>
                <a:pPr algn="ctr">
                  <a:lnSpc>
                    <a:spcPct val="110000"/>
                  </a:lnSpc>
                </a:pPr>
                <a:r>
                  <a:rPr lang="zh-CN" altLang="en-US" sz="6600" dirty="0">
                    <a:solidFill>
                      <a:schemeClr val="tx1">
                        <a:lumMod val="85000"/>
                        <a:lumOff val="15000"/>
                      </a:schemeClr>
                    </a:solidFill>
                    <a:latin typeface="造字工房朗倩（非商用）常规体" pitchFamily="50" charset="-122"/>
                    <a:ea typeface="造字工房朗倩（非商用）常规体" pitchFamily="50" charset="-122"/>
                  </a:rPr>
                  <a:t>拥塞控制的基本方法</a:t>
                </a:r>
              </a:p>
            </p:txBody>
          </p:sp>
          <p:sp>
            <p:nvSpPr>
              <p:cNvPr id="8" name="矩形 7">
                <a:extLst>
                  <a:ext uri="{FF2B5EF4-FFF2-40B4-BE49-F238E27FC236}">
                    <a16:creationId xmlns:a16="http://schemas.microsoft.com/office/drawing/2014/main" id="{0E4DEF9A-F811-9E0F-E677-A05C52933640}"/>
                  </a:ext>
                </a:extLst>
              </p:cNvPr>
              <p:cNvSpPr/>
              <p:nvPr/>
            </p:nvSpPr>
            <p:spPr>
              <a:xfrm>
                <a:off x="805390" y="2620757"/>
                <a:ext cx="5891282" cy="438581"/>
              </a:xfrm>
              <a:prstGeom prst="rect">
                <a:avLst/>
              </a:prstGeom>
            </p:spPr>
            <p:txBody>
              <a:bodyPr wrap="none">
                <a:spAutoFit/>
              </a:bodyPr>
              <a:lstStyle/>
              <a:p>
                <a:r>
                  <a:rPr lang="en-US" altLang="zh-CN" sz="4800" spc="300" baseline="-25000" dirty="0">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rPr>
                  <a:t>he basic methods of congestion control</a:t>
                </a:r>
                <a:endParaRPr lang="zh-CN" altLang="en-US" sz="4800" spc="300" baseline="-25000" dirty="0">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DBE71DD8-11CB-68BA-DDCC-264DF81FFAC8}"/>
                  </a:ext>
                </a:extLst>
              </p:cNvPr>
              <p:cNvSpPr/>
              <p:nvPr/>
            </p:nvSpPr>
            <p:spPr>
              <a:xfrm>
                <a:off x="423160" y="2251425"/>
                <a:ext cx="514805" cy="807913"/>
              </a:xfrm>
              <a:prstGeom prst="rect">
                <a:avLst/>
              </a:prstGeom>
            </p:spPr>
            <p:txBody>
              <a:bodyPr wrap="none">
                <a:spAutoFit/>
              </a:bodyPr>
              <a:lstStyle/>
              <a:p>
                <a:r>
                  <a:rPr lang="en-US" altLang="zh-CN" sz="9600" baseline="-25000" dirty="0">
                    <a:solidFill>
                      <a:srgbClr val="2E95D1"/>
                    </a:solidFill>
                    <a:latin typeface="Times New Roman" panose="02020603050405020304" pitchFamily="18" charset="0"/>
                    <a:cs typeface="Times New Roman" panose="02020603050405020304" pitchFamily="18" charset="0"/>
                  </a:rPr>
                  <a:t>T</a:t>
                </a:r>
                <a:endParaRPr lang="zh-CN" altLang="en-US" sz="9600" baseline="-25000" dirty="0">
                  <a:solidFill>
                    <a:srgbClr val="2E95D1"/>
                  </a:solidFill>
                  <a:latin typeface="Times New Roman" panose="02020603050405020304" pitchFamily="18" charset="0"/>
                  <a:cs typeface="Times New Roman" panose="02020603050405020304" pitchFamily="18" charset="0"/>
                </a:endParaRPr>
              </a:p>
            </p:txBody>
          </p:sp>
          <p:cxnSp>
            <p:nvCxnSpPr>
              <p:cNvPr id="10" name="直接连接符 9">
                <a:extLst>
                  <a:ext uri="{FF2B5EF4-FFF2-40B4-BE49-F238E27FC236}">
                    <a16:creationId xmlns:a16="http://schemas.microsoft.com/office/drawing/2014/main" id="{8D2CC29B-593E-C867-75CA-639E707DC072}"/>
                  </a:ext>
                </a:extLst>
              </p:cNvPr>
              <p:cNvCxnSpPr>
                <a:cxnSpLocks/>
              </p:cNvCxnSpPr>
              <p:nvPr/>
            </p:nvCxnSpPr>
            <p:spPr>
              <a:xfrm>
                <a:off x="376034" y="3160725"/>
                <a:ext cx="6749994" cy="0"/>
              </a:xfrm>
              <a:prstGeom prst="line">
                <a:avLst/>
              </a:prstGeom>
              <a:ln w="9525">
                <a:solidFill>
                  <a:srgbClr val="2E3047"/>
                </a:solidFill>
              </a:ln>
              <a:effectLst/>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730D7D49-A91D-9542-A899-4D50C4EBBA81}"/>
                </a:ext>
              </a:extLst>
            </p:cNvPr>
            <p:cNvSpPr/>
            <p:nvPr/>
          </p:nvSpPr>
          <p:spPr>
            <a:xfrm>
              <a:off x="8408317" y="4079119"/>
              <a:ext cx="1239442" cy="707886"/>
            </a:xfrm>
            <a:prstGeom prst="rect">
              <a:avLst/>
            </a:prstGeom>
            <a:effectLst/>
          </p:spPr>
          <p:txBody>
            <a:bodyPr wrap="none">
              <a:spAutoFit/>
            </a:bodyPr>
            <a:lstStyle/>
            <a:p>
              <a:pPr algn="ctr"/>
              <a:r>
                <a:rPr kumimoji="1" lang="en-US" altLang="zh-CN" sz="4000" b="1" dirty="0">
                  <a:solidFill>
                    <a:srgbClr val="2E95D1"/>
                  </a:solidFill>
                  <a:latin typeface="造字工房朗倩（非商用）细体" pitchFamily="50" charset="-122"/>
                  <a:ea typeface="造字工房朗倩（非商用）细体" pitchFamily="50" charset="-122"/>
                </a:rPr>
                <a:t>……</a:t>
              </a:r>
            </a:p>
          </p:txBody>
        </p:sp>
      </p:grpSp>
      <p:grpSp>
        <p:nvGrpSpPr>
          <p:cNvPr id="11" name="组合 10">
            <a:extLst>
              <a:ext uri="{FF2B5EF4-FFF2-40B4-BE49-F238E27FC236}">
                <a16:creationId xmlns:a16="http://schemas.microsoft.com/office/drawing/2014/main" id="{E63658B2-D42E-167D-3515-3EFE2200D510}"/>
              </a:ext>
            </a:extLst>
          </p:cNvPr>
          <p:cNvGrpSpPr/>
          <p:nvPr/>
        </p:nvGrpSpPr>
        <p:grpSpPr>
          <a:xfrm>
            <a:off x="824456" y="1780458"/>
            <a:ext cx="1479553" cy="1353390"/>
            <a:chOff x="787397" y="1578243"/>
            <a:chExt cx="1679793" cy="1536555"/>
          </a:xfrm>
        </p:grpSpPr>
        <p:sp>
          <p:nvSpPr>
            <p:cNvPr id="12" name="Oval 6">
              <a:extLst>
                <a:ext uri="{FF2B5EF4-FFF2-40B4-BE49-F238E27FC236}">
                  <a16:creationId xmlns:a16="http://schemas.microsoft.com/office/drawing/2014/main" id="{3712AE8E-7B45-6A03-C5C2-56D41DFC160D}"/>
                </a:ext>
              </a:extLst>
            </p:cNvPr>
            <p:cNvSpPr/>
            <p:nvPr/>
          </p:nvSpPr>
          <p:spPr>
            <a:xfrm>
              <a:off x="934434" y="1608992"/>
              <a:ext cx="1532756" cy="1505806"/>
            </a:xfrm>
            <a:prstGeom prst="ellipse">
              <a:avLst/>
            </a:prstGeom>
            <a:solidFill>
              <a:schemeClr val="bg1"/>
            </a:solidFill>
            <a:ln>
              <a:gradFill>
                <a:gsLst>
                  <a:gs pos="0">
                    <a:srgbClr val="2E95D1"/>
                  </a:gs>
                  <a:gs pos="100000">
                    <a:srgbClr val="1F25A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Narkisim" panose="020E0502050101010101" pitchFamily="34" charset="-79"/>
              </a:endParaRPr>
            </a:p>
          </p:txBody>
        </p:sp>
        <p:pic>
          <p:nvPicPr>
            <p:cNvPr id="13" name="图片 12">
              <a:extLst>
                <a:ext uri="{FF2B5EF4-FFF2-40B4-BE49-F238E27FC236}">
                  <a16:creationId xmlns:a16="http://schemas.microsoft.com/office/drawing/2014/main" id="{DBC83444-7200-FBBB-275C-A9E63CE62F67}"/>
                </a:ext>
              </a:extLst>
            </p:cNvPr>
            <p:cNvPicPr>
              <a:picLocks noChangeAspect="1"/>
            </p:cNvPicPr>
            <p:nvPr/>
          </p:nvPicPr>
          <p:blipFill rotWithShape="1">
            <a:blip r:embed="rId2"/>
            <a:srcRect r="16607"/>
            <a:stretch>
              <a:fillRect/>
            </a:stretch>
          </p:blipFill>
          <p:spPr>
            <a:xfrm>
              <a:off x="787397" y="1578243"/>
              <a:ext cx="1602532" cy="1404482"/>
            </a:xfrm>
            <a:prstGeom prst="rect">
              <a:avLst/>
            </a:prstGeom>
            <a:effectLst/>
          </p:spPr>
        </p:pic>
      </p:grpSp>
      <p:sp>
        <p:nvSpPr>
          <p:cNvPr id="2" name="灯片编号占位符 1">
            <a:extLst>
              <a:ext uri="{FF2B5EF4-FFF2-40B4-BE49-F238E27FC236}">
                <a16:creationId xmlns:a16="http://schemas.microsoft.com/office/drawing/2014/main" id="{D9704F69-11E2-4C65-9701-396488D4A5A0}"/>
              </a:ext>
            </a:extLst>
          </p:cNvPr>
          <p:cNvSpPr>
            <a:spLocks noGrp="1"/>
          </p:cNvSpPr>
          <p:nvPr>
            <p:ph type="sldNum" sz="quarter" idx="12"/>
          </p:nvPr>
        </p:nvSpPr>
        <p:spPr/>
        <p:txBody>
          <a:bodyPr/>
          <a:lstStyle/>
          <a:p>
            <a:fld id="{5956A083-5018-4B52-82A0-83241B8E3D94}" type="slidenum">
              <a:rPr lang="zh-CN" altLang="en-US" smtClean="0"/>
              <a:t>10</a:t>
            </a:fld>
            <a:endParaRPr lang="zh-CN" altLang="en-US"/>
          </a:p>
        </p:txBody>
      </p:sp>
    </p:spTree>
    <p:extLst>
      <p:ext uri="{BB962C8B-B14F-4D97-AF65-F5344CB8AC3E}">
        <p14:creationId xmlns:p14="http://schemas.microsoft.com/office/powerpoint/2010/main" val="3925577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0DC907F6-6020-6D2F-D668-B2E9780B0216}"/>
              </a:ext>
            </a:extLst>
          </p:cNvPr>
          <p:cNvGrpSpPr/>
          <p:nvPr/>
        </p:nvGrpSpPr>
        <p:grpSpPr>
          <a:xfrm>
            <a:off x="0" y="-272687"/>
            <a:ext cx="7243834" cy="1428589"/>
            <a:chOff x="551030" y="-368704"/>
            <a:chExt cx="7243834" cy="1428589"/>
          </a:xfrm>
        </p:grpSpPr>
        <p:grpSp>
          <p:nvGrpSpPr>
            <p:cNvPr id="5" name="组合 4">
              <a:extLst>
                <a:ext uri="{FF2B5EF4-FFF2-40B4-BE49-F238E27FC236}">
                  <a16:creationId xmlns:a16="http://schemas.microsoft.com/office/drawing/2014/main" id="{3C9BAD89-87F0-96B6-D74D-99CA28674774}"/>
                </a:ext>
              </a:extLst>
            </p:cNvPr>
            <p:cNvGrpSpPr/>
            <p:nvPr/>
          </p:nvGrpSpPr>
          <p:grpSpPr>
            <a:xfrm>
              <a:off x="1201632" y="303925"/>
              <a:ext cx="6593232" cy="686825"/>
              <a:chOff x="1839059" y="967769"/>
              <a:chExt cx="6593232" cy="686825"/>
            </a:xfrm>
          </p:grpSpPr>
          <p:sp>
            <p:nvSpPr>
              <p:cNvPr id="7" name="矩形: 圆角 6">
                <a:extLst>
                  <a:ext uri="{FF2B5EF4-FFF2-40B4-BE49-F238E27FC236}">
                    <a16:creationId xmlns:a16="http://schemas.microsoft.com/office/drawing/2014/main" id="{6FB0E010-0C12-99D8-2643-60B32C8C72F4}"/>
                  </a:ext>
                </a:extLst>
              </p:cNvPr>
              <p:cNvSpPr/>
              <p:nvPr/>
            </p:nvSpPr>
            <p:spPr>
              <a:xfrm>
                <a:off x="1839059" y="967769"/>
                <a:ext cx="6275482"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8" name="文本框 7">
                <a:extLst>
                  <a:ext uri="{FF2B5EF4-FFF2-40B4-BE49-F238E27FC236}">
                    <a16:creationId xmlns:a16="http://schemas.microsoft.com/office/drawing/2014/main" id="{CE799030-483D-C476-4914-C7CC6AECB766}"/>
                  </a:ext>
                </a:extLst>
              </p:cNvPr>
              <p:cNvSpPr txBox="1"/>
              <p:nvPr/>
            </p:nvSpPr>
            <p:spPr>
              <a:xfrm>
                <a:off x="2795619" y="1009434"/>
                <a:ext cx="5636672"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拥塞控制的基本方法</a:t>
                </a:r>
              </a:p>
            </p:txBody>
          </p:sp>
        </p:grpSp>
        <p:pic>
          <p:nvPicPr>
            <p:cNvPr id="6" name="图片 5">
              <a:extLst>
                <a:ext uri="{FF2B5EF4-FFF2-40B4-BE49-F238E27FC236}">
                  <a16:creationId xmlns:a16="http://schemas.microsoft.com/office/drawing/2014/main" id="{95A6DCB4-4A04-94C3-5E82-5B6DE7ACE67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9" name="组合 8">
            <a:extLst>
              <a:ext uri="{FF2B5EF4-FFF2-40B4-BE49-F238E27FC236}">
                <a16:creationId xmlns:a16="http://schemas.microsoft.com/office/drawing/2014/main" id="{7E078C7A-29F5-2881-8C56-B9B7526B6ED5}"/>
              </a:ext>
            </a:extLst>
          </p:cNvPr>
          <p:cNvGrpSpPr/>
          <p:nvPr/>
        </p:nvGrpSpPr>
        <p:grpSpPr>
          <a:xfrm>
            <a:off x="301702" y="1301800"/>
            <a:ext cx="3374948" cy="565146"/>
            <a:chOff x="722008" y="1303131"/>
            <a:chExt cx="2613811" cy="539619"/>
          </a:xfrm>
        </p:grpSpPr>
        <p:grpSp>
          <p:nvGrpSpPr>
            <p:cNvPr id="10" name="组合 9">
              <a:extLst>
                <a:ext uri="{FF2B5EF4-FFF2-40B4-BE49-F238E27FC236}">
                  <a16:creationId xmlns:a16="http://schemas.microsoft.com/office/drawing/2014/main" id="{292FDC36-D276-9BD7-A9DD-4799E041B24F}"/>
                </a:ext>
              </a:extLst>
            </p:cNvPr>
            <p:cNvGrpSpPr/>
            <p:nvPr/>
          </p:nvGrpSpPr>
          <p:grpSpPr>
            <a:xfrm>
              <a:off x="722008" y="1303131"/>
              <a:ext cx="546594" cy="475865"/>
              <a:chOff x="708742" y="1296102"/>
              <a:chExt cx="454744" cy="283828"/>
            </a:xfrm>
          </p:grpSpPr>
          <p:sp>
            <p:nvSpPr>
              <p:cNvPr id="13" name="平行四边形 12">
                <a:extLst>
                  <a:ext uri="{FF2B5EF4-FFF2-40B4-BE49-F238E27FC236}">
                    <a16:creationId xmlns:a16="http://schemas.microsoft.com/office/drawing/2014/main" id="{09C191FC-DC10-A814-268F-9E900EBA7E69}"/>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4" name="平行四边形 13">
                <a:extLst>
                  <a:ext uri="{FF2B5EF4-FFF2-40B4-BE49-F238E27FC236}">
                    <a16:creationId xmlns:a16="http://schemas.microsoft.com/office/drawing/2014/main" id="{BBF26AA6-D865-0581-7CDC-717CF5B33D2B}"/>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1" name="流程图: 手动输入 6">
              <a:extLst>
                <a:ext uri="{FF2B5EF4-FFF2-40B4-BE49-F238E27FC236}">
                  <a16:creationId xmlns:a16="http://schemas.microsoft.com/office/drawing/2014/main" id="{9ACD571B-8449-F324-24D9-1C1B4E5F8978}"/>
                </a:ext>
              </a:extLst>
            </p:cNvPr>
            <p:cNvSpPr/>
            <p:nvPr/>
          </p:nvSpPr>
          <p:spPr>
            <a:xfrm rot="5400000" flipV="1">
              <a:off x="1865265" y="429873"/>
              <a:ext cx="475861" cy="222919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sp>
          <p:nvSpPr>
            <p:cNvPr id="12" name="Text Box 79">
              <a:extLst>
                <a:ext uri="{FF2B5EF4-FFF2-40B4-BE49-F238E27FC236}">
                  <a16:creationId xmlns:a16="http://schemas.microsoft.com/office/drawing/2014/main" id="{175D91E2-E11C-4278-3A66-412903BF1C60}"/>
                </a:ext>
              </a:extLst>
            </p:cNvPr>
            <p:cNvSpPr txBox="1">
              <a:spLocks noChangeArrowheads="1"/>
            </p:cNvSpPr>
            <p:nvPr/>
          </p:nvSpPr>
          <p:spPr bwMode="auto">
            <a:xfrm>
              <a:off x="1268602" y="1372550"/>
              <a:ext cx="2067217"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拥塞控制的分类</a:t>
              </a:r>
            </a:p>
          </p:txBody>
        </p:sp>
      </p:grpSp>
      <p:sp>
        <p:nvSpPr>
          <p:cNvPr id="16" name="文本框 15">
            <a:extLst>
              <a:ext uri="{FF2B5EF4-FFF2-40B4-BE49-F238E27FC236}">
                <a16:creationId xmlns:a16="http://schemas.microsoft.com/office/drawing/2014/main" id="{2BBFF98C-8684-069F-F379-BE18EA481492}"/>
              </a:ext>
            </a:extLst>
          </p:cNvPr>
          <p:cNvSpPr txBox="1"/>
          <p:nvPr/>
        </p:nvSpPr>
        <p:spPr>
          <a:xfrm>
            <a:off x="1007463" y="2154682"/>
            <a:ext cx="3048000" cy="461665"/>
          </a:xfrm>
          <a:prstGeom prst="rect">
            <a:avLst/>
          </a:prstGeom>
          <a:noFill/>
        </p:spPr>
        <p:txBody>
          <a:bodyPr wrap="square">
            <a:spAutoFit/>
          </a:bodyPr>
          <a:lstStyle/>
          <a:p>
            <a:r>
              <a:rPr kumimoji="1" lang="zh-CN" altLang="zh-CN" sz="2400" dirty="0">
                <a:solidFill>
                  <a:schemeClr val="tx1">
                    <a:lumMod val="85000"/>
                    <a:lumOff val="15000"/>
                  </a:schemeClr>
                </a:solidFill>
                <a:ea typeface="思源黑体 CN Medium" panose="020B0600000000000000" pitchFamily="34" charset="-122"/>
              </a:rPr>
              <a:t>按控制机制</a:t>
            </a:r>
            <a:r>
              <a:rPr kumimoji="1" lang="zh-CN" altLang="en-US" sz="2400" dirty="0">
                <a:solidFill>
                  <a:schemeClr val="tx1">
                    <a:lumMod val="85000"/>
                    <a:lumOff val="15000"/>
                  </a:schemeClr>
                </a:solidFill>
                <a:ea typeface="思源黑体 CN Medium" panose="020B0600000000000000" pitchFamily="34" charset="-122"/>
              </a:rPr>
              <a:t>分类</a:t>
            </a:r>
          </a:p>
        </p:txBody>
      </p:sp>
      <p:sp>
        <p:nvSpPr>
          <p:cNvPr id="19" name="文本框 18">
            <a:extLst>
              <a:ext uri="{FF2B5EF4-FFF2-40B4-BE49-F238E27FC236}">
                <a16:creationId xmlns:a16="http://schemas.microsoft.com/office/drawing/2014/main" id="{8AE01BAB-51FA-97FC-B50B-32B915297D27}"/>
              </a:ext>
            </a:extLst>
          </p:cNvPr>
          <p:cNvSpPr txBox="1"/>
          <p:nvPr/>
        </p:nvSpPr>
        <p:spPr>
          <a:xfrm>
            <a:off x="1024737" y="2616347"/>
            <a:ext cx="3165788" cy="1144031"/>
          </a:xfrm>
          <a:prstGeom prst="rect">
            <a:avLst/>
          </a:prstGeom>
          <a:noFill/>
        </p:spPr>
        <p:txBody>
          <a:bodyPr wrap="square">
            <a:spAutoFit/>
          </a:bodyPr>
          <a:lstStyle/>
          <a:p>
            <a:pPr marL="342900" indent="-342900">
              <a:lnSpc>
                <a:spcPct val="150000"/>
              </a:lnSpc>
              <a:buClr>
                <a:srgbClr val="009FF6"/>
              </a:buClr>
              <a:buFont typeface="Wingdings" panose="05000000000000000000" pitchFamily="2" charset="2"/>
              <a:buChar char="p"/>
            </a:pPr>
            <a:r>
              <a:rPr kumimoji="1" lang="zh-CN" altLang="en-US" sz="2400" dirty="0">
                <a:solidFill>
                  <a:schemeClr val="tx1">
                    <a:lumMod val="85000"/>
                    <a:lumOff val="15000"/>
                  </a:schemeClr>
                </a:solidFill>
                <a:ea typeface="思源黑体 CN Medium" panose="020B0600000000000000" pitchFamily="34" charset="-122"/>
              </a:rPr>
              <a:t>开环控制</a:t>
            </a:r>
          </a:p>
          <a:p>
            <a:pPr marL="342900" indent="-342900">
              <a:lnSpc>
                <a:spcPct val="150000"/>
              </a:lnSpc>
              <a:buClr>
                <a:srgbClr val="009FF6"/>
              </a:buClr>
              <a:buFont typeface="Wingdings" panose="05000000000000000000" pitchFamily="2" charset="2"/>
              <a:buChar char="p"/>
            </a:pPr>
            <a:r>
              <a:rPr kumimoji="1" lang="zh-CN" altLang="en-US" sz="2400" dirty="0">
                <a:solidFill>
                  <a:schemeClr val="tx1">
                    <a:lumMod val="85000"/>
                    <a:lumOff val="15000"/>
                  </a:schemeClr>
                </a:solidFill>
                <a:ea typeface="思源黑体 CN Medium" panose="020B0600000000000000" pitchFamily="34" charset="-122"/>
              </a:rPr>
              <a:t>闭环控制</a:t>
            </a:r>
          </a:p>
        </p:txBody>
      </p:sp>
      <p:sp>
        <p:nvSpPr>
          <p:cNvPr id="20" name="文本框 19">
            <a:extLst>
              <a:ext uri="{FF2B5EF4-FFF2-40B4-BE49-F238E27FC236}">
                <a16:creationId xmlns:a16="http://schemas.microsoft.com/office/drawing/2014/main" id="{C7AB7C78-5B3D-ED61-6025-AC1B081F2162}"/>
              </a:ext>
            </a:extLst>
          </p:cNvPr>
          <p:cNvSpPr txBox="1"/>
          <p:nvPr/>
        </p:nvSpPr>
        <p:spPr>
          <a:xfrm>
            <a:off x="1007463" y="4241654"/>
            <a:ext cx="6096000" cy="461665"/>
          </a:xfrm>
          <a:prstGeom prst="rect">
            <a:avLst/>
          </a:prstGeom>
          <a:noFill/>
        </p:spPr>
        <p:txBody>
          <a:bodyPr wrap="square">
            <a:spAutoFit/>
          </a:bodyPr>
          <a:lstStyle/>
          <a:p>
            <a:r>
              <a:rPr kumimoji="1" lang="zh-CN" altLang="zh-CN" sz="2400" dirty="0">
                <a:solidFill>
                  <a:schemeClr val="tx1">
                    <a:lumMod val="85000"/>
                    <a:lumOff val="15000"/>
                  </a:schemeClr>
                </a:solidFill>
                <a:ea typeface="思源黑体 CN Medium" panose="020B0600000000000000" pitchFamily="34" charset="-122"/>
              </a:rPr>
              <a:t>按</a:t>
            </a:r>
            <a:r>
              <a:rPr kumimoji="1" lang="zh-CN" altLang="en-US" sz="2400" dirty="0">
                <a:solidFill>
                  <a:schemeClr val="tx1">
                    <a:lumMod val="85000"/>
                    <a:lumOff val="15000"/>
                  </a:schemeClr>
                </a:solidFill>
                <a:ea typeface="思源黑体 CN Medium" panose="020B0600000000000000" pitchFamily="34" charset="-122"/>
              </a:rPr>
              <a:t>实现位置分类</a:t>
            </a:r>
          </a:p>
        </p:txBody>
      </p:sp>
      <p:sp>
        <p:nvSpPr>
          <p:cNvPr id="21" name="文本框 20">
            <a:extLst>
              <a:ext uri="{FF2B5EF4-FFF2-40B4-BE49-F238E27FC236}">
                <a16:creationId xmlns:a16="http://schemas.microsoft.com/office/drawing/2014/main" id="{F8673470-AFC9-837E-75BC-3FA159C9B1C2}"/>
              </a:ext>
            </a:extLst>
          </p:cNvPr>
          <p:cNvSpPr txBox="1"/>
          <p:nvPr/>
        </p:nvSpPr>
        <p:spPr>
          <a:xfrm>
            <a:off x="1024737" y="4703319"/>
            <a:ext cx="6096000" cy="1144031"/>
          </a:xfrm>
          <a:prstGeom prst="rect">
            <a:avLst/>
          </a:prstGeom>
          <a:noFill/>
        </p:spPr>
        <p:txBody>
          <a:bodyPr wrap="square">
            <a:spAutoFit/>
          </a:bodyPr>
          <a:lstStyle/>
          <a:p>
            <a:pPr marL="342900" indent="-342900">
              <a:lnSpc>
                <a:spcPct val="150000"/>
              </a:lnSpc>
              <a:buClr>
                <a:srgbClr val="009FF6"/>
              </a:buClr>
              <a:buFont typeface="Wingdings" panose="05000000000000000000" pitchFamily="2" charset="2"/>
              <a:buChar char="p"/>
            </a:pPr>
            <a:r>
              <a:rPr kumimoji="1" lang="zh-CN" altLang="en-US" sz="2400" dirty="0">
                <a:solidFill>
                  <a:schemeClr val="tx1">
                    <a:lumMod val="85000"/>
                    <a:lumOff val="15000"/>
                  </a:schemeClr>
                </a:solidFill>
                <a:ea typeface="思源黑体 CN Medium" panose="020B0600000000000000" pitchFamily="34" charset="-122"/>
              </a:rPr>
              <a:t>端到端控制</a:t>
            </a:r>
          </a:p>
          <a:p>
            <a:pPr marL="342900" indent="-342900">
              <a:lnSpc>
                <a:spcPct val="150000"/>
              </a:lnSpc>
              <a:buClr>
                <a:srgbClr val="009FF6"/>
              </a:buClr>
              <a:buFont typeface="Wingdings" panose="05000000000000000000" pitchFamily="2" charset="2"/>
              <a:buChar char="p"/>
            </a:pPr>
            <a:r>
              <a:rPr kumimoji="1" lang="zh-CN" altLang="en-US" sz="2400" dirty="0">
                <a:solidFill>
                  <a:schemeClr val="tx1">
                    <a:lumMod val="85000"/>
                    <a:lumOff val="15000"/>
                  </a:schemeClr>
                </a:solidFill>
                <a:ea typeface="思源黑体 CN Medium" panose="020B0600000000000000" pitchFamily="34" charset="-122"/>
              </a:rPr>
              <a:t>网络辅助控制</a:t>
            </a:r>
          </a:p>
        </p:txBody>
      </p:sp>
      <p:sp>
        <p:nvSpPr>
          <p:cNvPr id="22" name="文本框 21">
            <a:extLst>
              <a:ext uri="{FF2B5EF4-FFF2-40B4-BE49-F238E27FC236}">
                <a16:creationId xmlns:a16="http://schemas.microsoft.com/office/drawing/2014/main" id="{C20976BF-3604-6547-11A4-0D17C3A55AF0}"/>
              </a:ext>
            </a:extLst>
          </p:cNvPr>
          <p:cNvSpPr txBox="1"/>
          <p:nvPr/>
        </p:nvSpPr>
        <p:spPr>
          <a:xfrm>
            <a:off x="5620178" y="2202545"/>
            <a:ext cx="6096000" cy="461665"/>
          </a:xfrm>
          <a:prstGeom prst="rect">
            <a:avLst/>
          </a:prstGeom>
          <a:noFill/>
        </p:spPr>
        <p:txBody>
          <a:bodyPr wrap="square">
            <a:spAutoFit/>
          </a:bodyPr>
          <a:lstStyle/>
          <a:p>
            <a:r>
              <a:rPr kumimoji="1" lang="zh-CN" altLang="zh-CN" sz="2400" dirty="0">
                <a:solidFill>
                  <a:schemeClr val="tx1">
                    <a:lumMod val="85000"/>
                    <a:lumOff val="15000"/>
                  </a:schemeClr>
                </a:solidFill>
                <a:ea typeface="思源黑体 CN Medium" panose="020B0600000000000000" pitchFamily="34" charset="-122"/>
              </a:rPr>
              <a:t>按控制</a:t>
            </a:r>
            <a:r>
              <a:rPr kumimoji="1" lang="zh-CN" altLang="en-US" sz="2400" dirty="0">
                <a:solidFill>
                  <a:schemeClr val="tx1">
                    <a:lumMod val="85000"/>
                    <a:lumOff val="15000"/>
                  </a:schemeClr>
                </a:solidFill>
                <a:ea typeface="思源黑体 CN Medium" panose="020B0600000000000000" pitchFamily="34" charset="-122"/>
              </a:rPr>
              <a:t>时机分类</a:t>
            </a:r>
          </a:p>
        </p:txBody>
      </p:sp>
      <p:sp>
        <p:nvSpPr>
          <p:cNvPr id="23" name="文本框 22">
            <a:extLst>
              <a:ext uri="{FF2B5EF4-FFF2-40B4-BE49-F238E27FC236}">
                <a16:creationId xmlns:a16="http://schemas.microsoft.com/office/drawing/2014/main" id="{2914CB32-0173-0F11-45E6-37FAA436CCF9}"/>
              </a:ext>
            </a:extLst>
          </p:cNvPr>
          <p:cNvSpPr txBox="1"/>
          <p:nvPr/>
        </p:nvSpPr>
        <p:spPr>
          <a:xfrm>
            <a:off x="5620178" y="2659105"/>
            <a:ext cx="6096000" cy="1142108"/>
          </a:xfrm>
          <a:prstGeom prst="rect">
            <a:avLst/>
          </a:prstGeom>
          <a:noFill/>
        </p:spPr>
        <p:txBody>
          <a:bodyPr wrap="square">
            <a:spAutoFit/>
          </a:bodyPr>
          <a:lstStyle/>
          <a:p>
            <a:pPr marL="342900" indent="-342900">
              <a:lnSpc>
                <a:spcPct val="150000"/>
              </a:lnSpc>
              <a:buClr>
                <a:srgbClr val="009FF6"/>
              </a:buClr>
              <a:buFont typeface="Wingdings" panose="05000000000000000000" pitchFamily="2" charset="2"/>
              <a:buChar char="p"/>
            </a:pPr>
            <a:r>
              <a:rPr kumimoji="1" lang="zh-CN" altLang="en-US" sz="2400" dirty="0">
                <a:solidFill>
                  <a:schemeClr val="tx1">
                    <a:lumMod val="85000"/>
                    <a:lumOff val="15000"/>
                  </a:schemeClr>
                </a:solidFill>
                <a:ea typeface="思源黑体 CN Medium" panose="020B0600000000000000" pitchFamily="34" charset="-122"/>
              </a:rPr>
              <a:t>拥塞避免（事先）</a:t>
            </a:r>
            <a:endParaRPr kumimoji="1" lang="en-US" altLang="zh-CN" sz="2400" dirty="0">
              <a:solidFill>
                <a:schemeClr val="tx1">
                  <a:lumMod val="85000"/>
                  <a:lumOff val="15000"/>
                </a:schemeClr>
              </a:solidFill>
              <a:ea typeface="思源黑体 CN Medium" panose="020B0600000000000000" pitchFamily="34" charset="-122"/>
            </a:endParaRPr>
          </a:p>
          <a:p>
            <a:pPr marL="342900" indent="-342900">
              <a:lnSpc>
                <a:spcPct val="150000"/>
              </a:lnSpc>
              <a:buClr>
                <a:srgbClr val="009FF6"/>
              </a:buClr>
              <a:buFont typeface="Wingdings" panose="05000000000000000000" pitchFamily="2" charset="2"/>
              <a:buChar char="p"/>
            </a:pPr>
            <a:r>
              <a:rPr kumimoji="1" lang="zh-CN" altLang="en-US" sz="2400" dirty="0">
                <a:solidFill>
                  <a:schemeClr val="tx1">
                    <a:lumMod val="85000"/>
                    <a:lumOff val="15000"/>
                  </a:schemeClr>
                </a:solidFill>
                <a:ea typeface="思源黑体 CN Medium" panose="020B0600000000000000" pitchFamily="34" charset="-122"/>
              </a:rPr>
              <a:t>拥塞控制（事后）</a:t>
            </a:r>
          </a:p>
        </p:txBody>
      </p:sp>
      <p:sp>
        <p:nvSpPr>
          <p:cNvPr id="26" name="矩形 25">
            <a:extLst>
              <a:ext uri="{FF2B5EF4-FFF2-40B4-BE49-F238E27FC236}">
                <a16:creationId xmlns:a16="http://schemas.microsoft.com/office/drawing/2014/main" id="{A0237EE8-04C3-F5C5-65D1-706AC7775A48}"/>
              </a:ext>
            </a:extLst>
          </p:cNvPr>
          <p:cNvSpPr/>
          <p:nvPr/>
        </p:nvSpPr>
        <p:spPr>
          <a:xfrm>
            <a:off x="6306363" y="4567448"/>
            <a:ext cx="1239442" cy="707886"/>
          </a:xfrm>
          <a:prstGeom prst="rect">
            <a:avLst/>
          </a:prstGeom>
          <a:effectLst/>
        </p:spPr>
        <p:txBody>
          <a:bodyPr wrap="none">
            <a:spAutoFit/>
          </a:bodyPr>
          <a:lstStyle/>
          <a:p>
            <a:pPr algn="ctr"/>
            <a:r>
              <a:rPr kumimoji="1" lang="en-US" altLang="zh-CN" sz="4000" b="1" dirty="0">
                <a:solidFill>
                  <a:srgbClr val="2E95D1"/>
                </a:solidFill>
                <a:latin typeface="造字工房朗倩（非商用）细体" pitchFamily="50" charset="-122"/>
                <a:ea typeface="造字工房朗倩（非商用）细体" pitchFamily="50" charset="-122"/>
              </a:rPr>
              <a:t>……</a:t>
            </a:r>
          </a:p>
        </p:txBody>
      </p:sp>
      <p:sp>
        <p:nvSpPr>
          <p:cNvPr id="2" name="灯片编号占位符 1">
            <a:extLst>
              <a:ext uri="{FF2B5EF4-FFF2-40B4-BE49-F238E27FC236}">
                <a16:creationId xmlns:a16="http://schemas.microsoft.com/office/drawing/2014/main" id="{9C1BC5A8-0210-4A8B-9132-3A1E065425EA}"/>
              </a:ext>
            </a:extLst>
          </p:cNvPr>
          <p:cNvSpPr>
            <a:spLocks noGrp="1"/>
          </p:cNvSpPr>
          <p:nvPr>
            <p:ph type="sldNum" sz="quarter" idx="12"/>
          </p:nvPr>
        </p:nvSpPr>
        <p:spPr/>
        <p:txBody>
          <a:bodyPr/>
          <a:lstStyle/>
          <a:p>
            <a:fld id="{5956A083-5018-4B52-82A0-83241B8E3D94}" type="slidenum">
              <a:rPr lang="zh-CN" altLang="en-US" smtClean="0"/>
              <a:t>11</a:t>
            </a:fld>
            <a:endParaRPr lang="zh-CN" altLang="en-US"/>
          </a:p>
        </p:txBody>
      </p:sp>
    </p:spTree>
    <p:extLst>
      <p:ext uri="{BB962C8B-B14F-4D97-AF65-F5344CB8AC3E}">
        <p14:creationId xmlns:p14="http://schemas.microsoft.com/office/powerpoint/2010/main" val="1655068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1AAEE-5350-AC36-9DB9-08CF39C10085}"/>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03DA67FF-D059-3536-B2BE-1ACD67E873A8}"/>
              </a:ext>
            </a:extLst>
          </p:cNvPr>
          <p:cNvGrpSpPr/>
          <p:nvPr/>
        </p:nvGrpSpPr>
        <p:grpSpPr>
          <a:xfrm>
            <a:off x="0" y="-272687"/>
            <a:ext cx="7243834" cy="1428589"/>
            <a:chOff x="551030" y="-368704"/>
            <a:chExt cx="7243834" cy="1428589"/>
          </a:xfrm>
        </p:grpSpPr>
        <p:grpSp>
          <p:nvGrpSpPr>
            <p:cNvPr id="5" name="组合 4">
              <a:extLst>
                <a:ext uri="{FF2B5EF4-FFF2-40B4-BE49-F238E27FC236}">
                  <a16:creationId xmlns:a16="http://schemas.microsoft.com/office/drawing/2014/main" id="{AAAEC181-0F4E-77F4-13DF-DBE2A6448B7C}"/>
                </a:ext>
              </a:extLst>
            </p:cNvPr>
            <p:cNvGrpSpPr/>
            <p:nvPr/>
          </p:nvGrpSpPr>
          <p:grpSpPr>
            <a:xfrm>
              <a:off x="1201632" y="303925"/>
              <a:ext cx="6593232" cy="686825"/>
              <a:chOff x="1839059" y="967769"/>
              <a:chExt cx="6593232" cy="686825"/>
            </a:xfrm>
          </p:grpSpPr>
          <p:sp>
            <p:nvSpPr>
              <p:cNvPr id="7" name="矩形: 圆角 6">
                <a:extLst>
                  <a:ext uri="{FF2B5EF4-FFF2-40B4-BE49-F238E27FC236}">
                    <a16:creationId xmlns:a16="http://schemas.microsoft.com/office/drawing/2014/main" id="{D86B236F-A14F-E808-41D7-F9A3CAFA6D17}"/>
                  </a:ext>
                </a:extLst>
              </p:cNvPr>
              <p:cNvSpPr/>
              <p:nvPr/>
            </p:nvSpPr>
            <p:spPr>
              <a:xfrm>
                <a:off x="1839059" y="967769"/>
                <a:ext cx="6275482"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8" name="文本框 7">
                <a:extLst>
                  <a:ext uri="{FF2B5EF4-FFF2-40B4-BE49-F238E27FC236}">
                    <a16:creationId xmlns:a16="http://schemas.microsoft.com/office/drawing/2014/main" id="{D383EFAA-691B-8E45-83CC-2AEF26AD9657}"/>
                  </a:ext>
                </a:extLst>
              </p:cNvPr>
              <p:cNvSpPr txBox="1"/>
              <p:nvPr/>
            </p:nvSpPr>
            <p:spPr>
              <a:xfrm>
                <a:off x="2795619" y="1009434"/>
                <a:ext cx="5636672"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拥塞控制的基本方法</a:t>
                </a:r>
              </a:p>
            </p:txBody>
          </p:sp>
        </p:grpSp>
        <p:pic>
          <p:nvPicPr>
            <p:cNvPr id="6" name="图片 5">
              <a:extLst>
                <a:ext uri="{FF2B5EF4-FFF2-40B4-BE49-F238E27FC236}">
                  <a16:creationId xmlns:a16="http://schemas.microsoft.com/office/drawing/2014/main" id="{3271F6CB-EDF7-BB80-117D-55D187AE4E2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9" name="组合 8">
            <a:extLst>
              <a:ext uri="{FF2B5EF4-FFF2-40B4-BE49-F238E27FC236}">
                <a16:creationId xmlns:a16="http://schemas.microsoft.com/office/drawing/2014/main" id="{14CB23D5-4C3A-9318-9348-7AD1DA3C81FD}"/>
              </a:ext>
            </a:extLst>
          </p:cNvPr>
          <p:cNvGrpSpPr/>
          <p:nvPr/>
        </p:nvGrpSpPr>
        <p:grpSpPr>
          <a:xfrm>
            <a:off x="301702" y="1301800"/>
            <a:ext cx="4331943" cy="565146"/>
            <a:chOff x="722008" y="1303131"/>
            <a:chExt cx="3354979" cy="539619"/>
          </a:xfrm>
        </p:grpSpPr>
        <p:grpSp>
          <p:nvGrpSpPr>
            <p:cNvPr id="10" name="组合 9">
              <a:extLst>
                <a:ext uri="{FF2B5EF4-FFF2-40B4-BE49-F238E27FC236}">
                  <a16:creationId xmlns:a16="http://schemas.microsoft.com/office/drawing/2014/main" id="{7C548D8C-1A8C-6C92-CD01-4EB6B470AE74}"/>
                </a:ext>
              </a:extLst>
            </p:cNvPr>
            <p:cNvGrpSpPr/>
            <p:nvPr/>
          </p:nvGrpSpPr>
          <p:grpSpPr>
            <a:xfrm>
              <a:off x="722008" y="1303131"/>
              <a:ext cx="546594" cy="475865"/>
              <a:chOff x="708742" y="1296102"/>
              <a:chExt cx="454744" cy="283828"/>
            </a:xfrm>
          </p:grpSpPr>
          <p:sp>
            <p:nvSpPr>
              <p:cNvPr id="13" name="平行四边形 12">
                <a:extLst>
                  <a:ext uri="{FF2B5EF4-FFF2-40B4-BE49-F238E27FC236}">
                    <a16:creationId xmlns:a16="http://schemas.microsoft.com/office/drawing/2014/main" id="{E77AFAAD-01D1-57BC-57BF-1F77473941F5}"/>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4" name="平行四边形 13">
                <a:extLst>
                  <a:ext uri="{FF2B5EF4-FFF2-40B4-BE49-F238E27FC236}">
                    <a16:creationId xmlns:a16="http://schemas.microsoft.com/office/drawing/2014/main" id="{0D6A4147-3EE8-EE3F-9343-5F5FEACA2CD7}"/>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1" name="流程图: 手动输入 6">
              <a:extLst>
                <a:ext uri="{FF2B5EF4-FFF2-40B4-BE49-F238E27FC236}">
                  <a16:creationId xmlns:a16="http://schemas.microsoft.com/office/drawing/2014/main" id="{786C7F4A-4076-7988-EFE6-B9F2AB749A95}"/>
                </a:ext>
              </a:extLst>
            </p:cNvPr>
            <p:cNvSpPr/>
            <p:nvPr/>
          </p:nvSpPr>
          <p:spPr>
            <a:xfrm rot="5400000" flipV="1">
              <a:off x="1865265" y="429873"/>
              <a:ext cx="475861" cy="222919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sp>
          <p:nvSpPr>
            <p:cNvPr id="12" name="Text Box 79">
              <a:extLst>
                <a:ext uri="{FF2B5EF4-FFF2-40B4-BE49-F238E27FC236}">
                  <a16:creationId xmlns:a16="http://schemas.microsoft.com/office/drawing/2014/main" id="{DCECE109-72B7-6ED0-F201-2AA3FD8EBFAF}"/>
                </a:ext>
              </a:extLst>
            </p:cNvPr>
            <p:cNvSpPr txBox="1">
              <a:spLocks noChangeArrowheads="1"/>
            </p:cNvSpPr>
            <p:nvPr/>
          </p:nvSpPr>
          <p:spPr bwMode="auto">
            <a:xfrm>
              <a:off x="1268602" y="1372550"/>
              <a:ext cx="2808385"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拥塞控制的一般原理</a:t>
              </a:r>
            </a:p>
          </p:txBody>
        </p:sp>
      </p:grpSp>
      <p:sp>
        <p:nvSpPr>
          <p:cNvPr id="2" name="Rectangle 68">
            <a:extLst>
              <a:ext uri="{FF2B5EF4-FFF2-40B4-BE49-F238E27FC236}">
                <a16:creationId xmlns:a16="http://schemas.microsoft.com/office/drawing/2014/main" id="{CFA4097C-7B0F-A297-9971-F2B870C090A6}"/>
              </a:ext>
            </a:extLst>
          </p:cNvPr>
          <p:cNvSpPr>
            <a:spLocks noChangeArrowheads="1"/>
          </p:cNvSpPr>
          <p:nvPr/>
        </p:nvSpPr>
        <p:spPr bwMode="auto">
          <a:xfrm>
            <a:off x="734411" y="2254023"/>
            <a:ext cx="10937032" cy="21757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拥塞控制的前提：</a:t>
            </a:r>
            <a:r>
              <a:rPr lang="zh-CN" altLang="en-US" sz="2400" dirty="0">
                <a:latin typeface="微软雅黑" pitchFamily="34" charset="-122"/>
                <a:ea typeface="微软雅黑" pitchFamily="34" charset="-122"/>
              </a:rPr>
              <a:t>网络能够</a:t>
            </a:r>
            <a:r>
              <a:rPr lang="zh-CN" altLang="en-US" sz="2400" dirty="0">
                <a:solidFill>
                  <a:srgbClr val="0000FF"/>
                </a:solidFill>
                <a:latin typeface="微软雅黑" pitchFamily="34" charset="-122"/>
                <a:ea typeface="微软雅黑" pitchFamily="34" charset="-122"/>
              </a:rPr>
              <a:t>承受</a:t>
            </a:r>
            <a:r>
              <a:rPr lang="zh-CN" altLang="en-US" sz="2400" dirty="0">
                <a:latin typeface="微软雅黑" pitchFamily="34" charset="-122"/>
                <a:ea typeface="微软雅黑" pitchFamily="34" charset="-122"/>
              </a:rPr>
              <a:t>现有的网络负荷。</a:t>
            </a:r>
            <a:endParaRPr lang="en-US" altLang="zh-CN" sz="2400"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400" dirty="0">
                <a:latin typeface="微软雅黑" pitchFamily="34" charset="-122"/>
                <a:ea typeface="微软雅黑" pitchFamily="34" charset="-122"/>
              </a:rPr>
              <a:t>实践证明，拥塞控制是很难设计的，因为它是一个</a:t>
            </a:r>
            <a:r>
              <a:rPr lang="zh-CN" altLang="en-US" sz="2400" dirty="0">
                <a:solidFill>
                  <a:srgbClr val="C00000"/>
                </a:solidFill>
                <a:latin typeface="微软雅黑" pitchFamily="34" charset="-122"/>
                <a:ea typeface="微软雅黑" pitchFamily="34" charset="-122"/>
              </a:rPr>
              <a:t>动态问题。</a:t>
            </a:r>
          </a:p>
          <a:p>
            <a:pPr marL="342900" indent="-342900">
              <a:lnSpc>
                <a:spcPts val="3300"/>
              </a:lnSpc>
              <a:buClr>
                <a:srgbClr val="0070C0"/>
              </a:buClr>
              <a:buFont typeface="Wingdings" pitchFamily="2" charset="2"/>
              <a:buChar char="l"/>
            </a:pPr>
            <a:r>
              <a:rPr lang="zh-CN" altLang="en-US" sz="2400" dirty="0">
                <a:latin typeface="微软雅黑" pitchFamily="34" charset="-122"/>
                <a:ea typeface="微软雅黑" pitchFamily="34" charset="-122"/>
              </a:rPr>
              <a:t>分组的丢失是网络发生拥塞的</a:t>
            </a:r>
            <a:r>
              <a:rPr lang="zh-CN" altLang="en-US" sz="2400" dirty="0">
                <a:solidFill>
                  <a:srgbClr val="C00000"/>
                </a:solidFill>
                <a:latin typeface="微软雅黑" pitchFamily="34" charset="-122"/>
                <a:ea typeface="微软雅黑" pitchFamily="34" charset="-122"/>
              </a:rPr>
              <a:t>征兆，</a:t>
            </a:r>
            <a:r>
              <a:rPr lang="zh-CN" altLang="en-US" sz="2400" dirty="0">
                <a:latin typeface="微软雅黑" pitchFamily="34" charset="-122"/>
                <a:ea typeface="微软雅黑" pitchFamily="34" charset="-122"/>
              </a:rPr>
              <a:t>而不是原因。</a:t>
            </a:r>
          </a:p>
          <a:p>
            <a:pPr marL="342900" indent="-342900">
              <a:lnSpc>
                <a:spcPts val="3300"/>
              </a:lnSpc>
              <a:buClr>
                <a:srgbClr val="0070C0"/>
              </a:buClr>
              <a:buFont typeface="Wingdings" pitchFamily="2" charset="2"/>
              <a:buChar char="l"/>
            </a:pPr>
            <a:r>
              <a:rPr lang="zh-CN" altLang="en-US" sz="2400" dirty="0">
                <a:latin typeface="微软雅黑" pitchFamily="34" charset="-122"/>
                <a:ea typeface="微软雅黑" pitchFamily="34" charset="-122"/>
              </a:rPr>
              <a:t>在许多情况下，甚至正是</a:t>
            </a:r>
            <a:r>
              <a:rPr lang="zh-CN" altLang="en-US" sz="2400" dirty="0">
                <a:solidFill>
                  <a:srgbClr val="C00000"/>
                </a:solidFill>
                <a:latin typeface="微软雅黑" pitchFamily="34" charset="-122"/>
                <a:ea typeface="微软雅黑" pitchFamily="34" charset="-122"/>
              </a:rPr>
              <a:t>拥塞控制本身</a:t>
            </a:r>
            <a:r>
              <a:rPr lang="zh-CN" altLang="en-US" sz="2400" dirty="0">
                <a:latin typeface="微软雅黑" pitchFamily="34" charset="-122"/>
                <a:ea typeface="微软雅黑" pitchFamily="34" charset="-122"/>
              </a:rPr>
              <a:t>成为引起网络性能恶化、甚至发生死锁的原因。</a:t>
            </a:r>
          </a:p>
        </p:txBody>
      </p:sp>
      <p:sp>
        <p:nvSpPr>
          <p:cNvPr id="3" name="灯片编号占位符 2">
            <a:extLst>
              <a:ext uri="{FF2B5EF4-FFF2-40B4-BE49-F238E27FC236}">
                <a16:creationId xmlns:a16="http://schemas.microsoft.com/office/drawing/2014/main" id="{CBB5F9CE-B6AE-40E6-AFF0-DBE979F55B87}"/>
              </a:ext>
            </a:extLst>
          </p:cNvPr>
          <p:cNvSpPr>
            <a:spLocks noGrp="1"/>
          </p:cNvSpPr>
          <p:nvPr>
            <p:ph type="sldNum" sz="quarter" idx="12"/>
          </p:nvPr>
        </p:nvSpPr>
        <p:spPr/>
        <p:txBody>
          <a:bodyPr/>
          <a:lstStyle/>
          <a:p>
            <a:fld id="{5956A083-5018-4B52-82A0-83241B8E3D94}" type="slidenum">
              <a:rPr lang="zh-CN" altLang="en-US" smtClean="0"/>
              <a:t>12</a:t>
            </a:fld>
            <a:endParaRPr lang="zh-CN" altLang="en-US"/>
          </a:p>
        </p:txBody>
      </p:sp>
    </p:spTree>
    <p:extLst>
      <p:ext uri="{BB962C8B-B14F-4D97-AF65-F5344CB8AC3E}">
        <p14:creationId xmlns:p14="http://schemas.microsoft.com/office/powerpoint/2010/main" val="1911555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1F2E-D59B-2567-E7A8-C2839D08AB4C}"/>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0BDE3207-6A9C-E698-B2F7-506309C6B8FA}"/>
              </a:ext>
            </a:extLst>
          </p:cNvPr>
          <p:cNvGrpSpPr/>
          <p:nvPr/>
        </p:nvGrpSpPr>
        <p:grpSpPr>
          <a:xfrm>
            <a:off x="0" y="-272687"/>
            <a:ext cx="7243834" cy="1428589"/>
            <a:chOff x="551030" y="-368704"/>
            <a:chExt cx="7243834" cy="1428589"/>
          </a:xfrm>
        </p:grpSpPr>
        <p:grpSp>
          <p:nvGrpSpPr>
            <p:cNvPr id="7" name="组合 6">
              <a:extLst>
                <a:ext uri="{FF2B5EF4-FFF2-40B4-BE49-F238E27FC236}">
                  <a16:creationId xmlns:a16="http://schemas.microsoft.com/office/drawing/2014/main" id="{260C78D6-FACA-A0A0-8FFA-416868958B4A}"/>
                </a:ext>
              </a:extLst>
            </p:cNvPr>
            <p:cNvGrpSpPr/>
            <p:nvPr/>
          </p:nvGrpSpPr>
          <p:grpSpPr>
            <a:xfrm>
              <a:off x="1201632" y="303925"/>
              <a:ext cx="6593232" cy="686825"/>
              <a:chOff x="1839059" y="967769"/>
              <a:chExt cx="6593232" cy="686825"/>
            </a:xfrm>
          </p:grpSpPr>
          <p:sp>
            <p:nvSpPr>
              <p:cNvPr id="9" name="矩形: 圆角 8">
                <a:extLst>
                  <a:ext uri="{FF2B5EF4-FFF2-40B4-BE49-F238E27FC236}">
                    <a16:creationId xmlns:a16="http://schemas.microsoft.com/office/drawing/2014/main" id="{1D1E17C0-CDB8-C322-49F3-574D066482C7}"/>
                  </a:ext>
                </a:extLst>
              </p:cNvPr>
              <p:cNvSpPr/>
              <p:nvPr/>
            </p:nvSpPr>
            <p:spPr>
              <a:xfrm>
                <a:off x="1839059" y="967769"/>
                <a:ext cx="6275482"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10" name="文本框 9">
                <a:extLst>
                  <a:ext uri="{FF2B5EF4-FFF2-40B4-BE49-F238E27FC236}">
                    <a16:creationId xmlns:a16="http://schemas.microsoft.com/office/drawing/2014/main" id="{04E3DC7D-4484-6BD6-8025-313F5298933B}"/>
                  </a:ext>
                </a:extLst>
              </p:cNvPr>
              <p:cNvSpPr txBox="1"/>
              <p:nvPr/>
            </p:nvSpPr>
            <p:spPr>
              <a:xfrm>
                <a:off x="2795619" y="1009434"/>
                <a:ext cx="5636672"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开环控制</a:t>
                </a:r>
                <a:r>
                  <a:rPr lang="en-US" altLang="zh-CN"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 vs </a:t>
                </a:r>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闭环控制</a:t>
                </a:r>
              </a:p>
            </p:txBody>
          </p:sp>
        </p:grpSp>
        <p:pic>
          <p:nvPicPr>
            <p:cNvPr id="8" name="图片 7">
              <a:extLst>
                <a:ext uri="{FF2B5EF4-FFF2-40B4-BE49-F238E27FC236}">
                  <a16:creationId xmlns:a16="http://schemas.microsoft.com/office/drawing/2014/main" id="{6AFDD141-8CBC-AB7A-67B0-EAD441A5494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11" name="组合 10">
            <a:extLst>
              <a:ext uri="{FF2B5EF4-FFF2-40B4-BE49-F238E27FC236}">
                <a16:creationId xmlns:a16="http://schemas.microsoft.com/office/drawing/2014/main" id="{444BAB2A-09FC-B323-57D1-A0EC7A04E843}"/>
              </a:ext>
            </a:extLst>
          </p:cNvPr>
          <p:cNvGrpSpPr/>
          <p:nvPr/>
        </p:nvGrpSpPr>
        <p:grpSpPr>
          <a:xfrm>
            <a:off x="6434953" y="1638204"/>
            <a:ext cx="5483070" cy="3350854"/>
            <a:chOff x="1403750" y="3593123"/>
            <a:chExt cx="5483070" cy="3350854"/>
          </a:xfrm>
        </p:grpSpPr>
        <p:grpSp>
          <p:nvGrpSpPr>
            <p:cNvPr id="12" name="组合 11">
              <a:extLst>
                <a:ext uri="{FF2B5EF4-FFF2-40B4-BE49-F238E27FC236}">
                  <a16:creationId xmlns:a16="http://schemas.microsoft.com/office/drawing/2014/main" id="{4EB958FE-FE6F-3741-A446-754C54729DAE}"/>
                </a:ext>
              </a:extLst>
            </p:cNvPr>
            <p:cNvGrpSpPr/>
            <p:nvPr/>
          </p:nvGrpSpPr>
          <p:grpSpPr>
            <a:xfrm>
              <a:off x="1403750" y="3593123"/>
              <a:ext cx="490436" cy="476221"/>
              <a:chOff x="1403750" y="3593123"/>
              <a:chExt cx="808892" cy="785446"/>
            </a:xfrm>
          </p:grpSpPr>
          <p:sp>
            <p:nvSpPr>
              <p:cNvPr id="14" name="对话气泡: 椭圆形 13">
                <a:extLst>
                  <a:ext uri="{FF2B5EF4-FFF2-40B4-BE49-F238E27FC236}">
                    <a16:creationId xmlns:a16="http://schemas.microsoft.com/office/drawing/2014/main" id="{047ED18B-C9DB-A11B-7066-E2219BD39A02}"/>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ound-web-cam_17861">
                <a:extLst>
                  <a:ext uri="{FF2B5EF4-FFF2-40B4-BE49-F238E27FC236}">
                    <a16:creationId xmlns:a16="http://schemas.microsoft.com/office/drawing/2014/main" id="{08DE7610-55D9-42A1-B951-6592A4A0949B}"/>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13" name="Text Box 79">
              <a:extLst>
                <a:ext uri="{FF2B5EF4-FFF2-40B4-BE49-F238E27FC236}">
                  <a16:creationId xmlns:a16="http://schemas.microsoft.com/office/drawing/2014/main" id="{9A37BBD4-065E-5246-7292-63A953B178C4}"/>
                </a:ext>
              </a:extLst>
            </p:cNvPr>
            <p:cNvSpPr txBox="1">
              <a:spLocks noChangeArrowheads="1"/>
            </p:cNvSpPr>
            <p:nvPr/>
          </p:nvSpPr>
          <p:spPr bwMode="auto">
            <a:xfrm>
              <a:off x="1985932" y="3593123"/>
              <a:ext cx="4900888" cy="335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pPr>
                <a:lnSpc>
                  <a:spcPct val="150000"/>
                </a:lnSpc>
              </a:pPr>
              <a:r>
                <a:rPr kumimoji="1" lang="zh-CN" altLang="en-US" sz="2400" dirty="0">
                  <a:solidFill>
                    <a:srgbClr val="009FF6"/>
                  </a:solidFill>
                  <a:latin typeface="Times New Roman" panose="02020803070505020304" pitchFamily="18" charset="0"/>
                  <a:ea typeface="思源黑体 CN Normal" panose="020B0400000000000000" pitchFamily="34" charset="-122"/>
                  <a:cs typeface="Times New Roman" panose="02020803070505020304" pitchFamily="18" charset="0"/>
                </a:rPr>
                <a:t>闭环控制：</a:t>
              </a:r>
              <a:endParaRPr kumimoji="1" lang="en-US" altLang="zh-CN" sz="2400" dirty="0">
                <a:solidFill>
                  <a:srgbClr val="009FF6"/>
                </a:solidFill>
                <a:latin typeface="Times New Roman" panose="02020803070505020304" pitchFamily="18" charset="0"/>
                <a:ea typeface="思源黑体 CN Normal" panose="020B0400000000000000" pitchFamily="34" charset="-122"/>
                <a:cs typeface="Times New Roman" panose="02020803070505020304" pitchFamily="18" charset="0"/>
              </a:endParaRPr>
            </a:p>
            <a:p>
              <a:pPr marL="342900" indent="-342900">
                <a:lnSpc>
                  <a:spcPct val="150000"/>
                </a:lnSpc>
                <a:buClr>
                  <a:srgbClr val="009FF6"/>
                </a:buClr>
                <a:buFont typeface="Wingdings" panose="05000000000000000000" pitchFamily="2" charset="2"/>
                <a:buChar char="p"/>
              </a:pPr>
              <a:r>
                <a:rPr kumimoji="1" lang="zh-CN" altLang="en-US" sz="2400" dirty="0">
                  <a:latin typeface="Times New Roman" panose="02020803070505020304" pitchFamily="18" charset="0"/>
                  <a:ea typeface="思源黑体 CN Normal" panose="020B0400000000000000" pitchFamily="34" charset="-122"/>
                  <a:cs typeface="Times New Roman" panose="02020803070505020304" pitchFamily="18" charset="0"/>
                </a:rPr>
                <a:t>基于反馈环路的概念。</a:t>
              </a:r>
            </a:p>
            <a:p>
              <a:pPr marL="342900" indent="-342900">
                <a:lnSpc>
                  <a:spcPct val="150000"/>
                </a:lnSpc>
                <a:buClr>
                  <a:srgbClr val="009FF6"/>
                </a:buClr>
                <a:buFont typeface="Wingdings" panose="05000000000000000000" pitchFamily="2" charset="2"/>
                <a:buChar char="p"/>
              </a:pPr>
              <a:r>
                <a:rPr kumimoji="1" lang="zh-CN" altLang="en-US" sz="2400" dirty="0">
                  <a:latin typeface="Times New Roman" panose="02020803070505020304" pitchFamily="18" charset="0"/>
                  <a:ea typeface="思源黑体 CN Normal" panose="020B0400000000000000" pitchFamily="34" charset="-122"/>
                  <a:cs typeface="Times New Roman" panose="02020803070505020304" pitchFamily="18" charset="0"/>
                </a:rPr>
                <a:t>根据网络</a:t>
              </a:r>
              <a:r>
                <a:rPr kumimoji="1" lang="zh-CN" altLang="en-US" sz="2400" dirty="0">
                  <a:solidFill>
                    <a:srgbClr val="FF0000"/>
                  </a:solidFill>
                  <a:latin typeface="Times New Roman" panose="02020803070505020304" pitchFamily="18" charset="0"/>
                  <a:ea typeface="思源黑体 CN Normal" panose="020B0400000000000000" pitchFamily="34" charset="-122"/>
                  <a:cs typeface="Times New Roman" panose="02020803070505020304" pitchFamily="18" charset="0"/>
                </a:rPr>
                <a:t>当前运行状态</a:t>
              </a:r>
              <a:r>
                <a:rPr kumimoji="1" lang="zh-CN" altLang="en-US" sz="2400" dirty="0">
                  <a:latin typeface="Times New Roman" panose="02020803070505020304" pitchFamily="18" charset="0"/>
                  <a:ea typeface="思源黑体 CN Normal" panose="020B0400000000000000" pitchFamily="34" charset="-122"/>
                  <a:cs typeface="Times New Roman" panose="02020803070505020304" pitchFamily="18" charset="0"/>
                </a:rPr>
                <a:t>采取相应控制措施。</a:t>
              </a:r>
            </a:p>
            <a:p>
              <a:pPr marL="342900" indent="-342900">
                <a:lnSpc>
                  <a:spcPct val="150000"/>
                </a:lnSpc>
                <a:buClr>
                  <a:srgbClr val="009FF6"/>
                </a:buClr>
                <a:buFont typeface="Wingdings" panose="05000000000000000000" pitchFamily="2" charset="2"/>
                <a:buChar char="p"/>
              </a:pPr>
              <a:r>
                <a:rPr kumimoji="1" lang="zh-CN" altLang="en-US" sz="2400" dirty="0">
                  <a:solidFill>
                    <a:srgbClr val="FF0000"/>
                  </a:solidFill>
                  <a:latin typeface="Times New Roman" panose="02020803070505020304" pitchFamily="18" charset="0"/>
                  <a:ea typeface="思源黑体 CN Normal" panose="020B0400000000000000" pitchFamily="34" charset="-122"/>
                  <a:cs typeface="Times New Roman" panose="02020803070505020304" pitchFamily="18" charset="0"/>
                </a:rPr>
                <a:t>思路</a:t>
              </a:r>
              <a:r>
                <a:rPr kumimoji="1" lang="zh-CN" altLang="en-US" sz="2400" dirty="0">
                  <a:latin typeface="Times New Roman" panose="02020803070505020304" pitchFamily="18" charset="0"/>
                  <a:ea typeface="思源黑体 CN Normal" panose="020B0400000000000000" pitchFamily="34" charset="-122"/>
                  <a:cs typeface="Times New Roman" panose="02020803070505020304" pitchFamily="18" charset="0"/>
                </a:rPr>
                <a:t>：在发生拥塞后，采取措施进行控制，</a:t>
              </a:r>
              <a:r>
                <a:rPr kumimoji="1" lang="zh-CN" altLang="en-US" sz="2400" dirty="0">
                  <a:solidFill>
                    <a:srgbClr val="FF0000"/>
                  </a:solidFill>
                  <a:latin typeface="Times New Roman" panose="02020803070505020304" pitchFamily="18" charset="0"/>
                  <a:ea typeface="思源黑体 CN Normal" panose="020B0400000000000000" pitchFamily="34" charset="-122"/>
                  <a:cs typeface="Times New Roman" panose="02020803070505020304" pitchFamily="18" charset="0"/>
                </a:rPr>
                <a:t>消除</a:t>
              </a:r>
              <a:r>
                <a:rPr kumimoji="1" lang="zh-CN" altLang="en-US" sz="2400" dirty="0">
                  <a:latin typeface="Times New Roman" panose="02020803070505020304" pitchFamily="18" charset="0"/>
                  <a:ea typeface="思源黑体 CN Normal" panose="020B0400000000000000" pitchFamily="34" charset="-122"/>
                  <a:cs typeface="Times New Roman" panose="02020803070505020304" pitchFamily="18" charset="0"/>
                </a:rPr>
                <a:t>拥塞。</a:t>
              </a:r>
            </a:p>
          </p:txBody>
        </p:sp>
      </p:grpSp>
      <p:grpSp>
        <p:nvGrpSpPr>
          <p:cNvPr id="16" name="组合 15">
            <a:extLst>
              <a:ext uri="{FF2B5EF4-FFF2-40B4-BE49-F238E27FC236}">
                <a16:creationId xmlns:a16="http://schemas.microsoft.com/office/drawing/2014/main" id="{3C834935-E4E8-828E-F978-43A58DC4471A}"/>
              </a:ext>
            </a:extLst>
          </p:cNvPr>
          <p:cNvGrpSpPr/>
          <p:nvPr/>
        </p:nvGrpSpPr>
        <p:grpSpPr>
          <a:xfrm>
            <a:off x="669501" y="1638204"/>
            <a:ext cx="5483070" cy="3350854"/>
            <a:chOff x="1403750" y="3593123"/>
            <a:chExt cx="5483070" cy="3350854"/>
          </a:xfrm>
        </p:grpSpPr>
        <p:grpSp>
          <p:nvGrpSpPr>
            <p:cNvPr id="17" name="组合 16">
              <a:extLst>
                <a:ext uri="{FF2B5EF4-FFF2-40B4-BE49-F238E27FC236}">
                  <a16:creationId xmlns:a16="http://schemas.microsoft.com/office/drawing/2014/main" id="{A1E09D8B-80EB-DAC6-1BCE-EA0070FECD5D}"/>
                </a:ext>
              </a:extLst>
            </p:cNvPr>
            <p:cNvGrpSpPr/>
            <p:nvPr/>
          </p:nvGrpSpPr>
          <p:grpSpPr>
            <a:xfrm>
              <a:off x="1403750" y="3593123"/>
              <a:ext cx="490436" cy="476221"/>
              <a:chOff x="1403750" y="3593123"/>
              <a:chExt cx="808892" cy="785446"/>
            </a:xfrm>
          </p:grpSpPr>
          <p:sp>
            <p:nvSpPr>
              <p:cNvPr id="19" name="对话气泡: 椭圆形 18">
                <a:extLst>
                  <a:ext uri="{FF2B5EF4-FFF2-40B4-BE49-F238E27FC236}">
                    <a16:creationId xmlns:a16="http://schemas.microsoft.com/office/drawing/2014/main" id="{079E3133-383D-3CCB-EC29-E4E84696F8C4}"/>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round-web-cam_17861">
                <a:extLst>
                  <a:ext uri="{FF2B5EF4-FFF2-40B4-BE49-F238E27FC236}">
                    <a16:creationId xmlns:a16="http://schemas.microsoft.com/office/drawing/2014/main" id="{03D0E67A-9BFC-0A13-5457-689091F12BC0}"/>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18" name="Text Box 79">
              <a:extLst>
                <a:ext uri="{FF2B5EF4-FFF2-40B4-BE49-F238E27FC236}">
                  <a16:creationId xmlns:a16="http://schemas.microsoft.com/office/drawing/2014/main" id="{FCD73CF6-05A2-333D-99FB-6E1DF5198EAD}"/>
                </a:ext>
              </a:extLst>
            </p:cNvPr>
            <p:cNvSpPr txBox="1">
              <a:spLocks noChangeArrowheads="1"/>
            </p:cNvSpPr>
            <p:nvPr/>
          </p:nvSpPr>
          <p:spPr bwMode="auto">
            <a:xfrm>
              <a:off x="1985932" y="3593123"/>
              <a:ext cx="4900888" cy="335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pPr>
                <a:lnSpc>
                  <a:spcPct val="150000"/>
                </a:lnSpc>
              </a:pPr>
              <a:r>
                <a:rPr kumimoji="1" lang="zh-CN" altLang="en-US" sz="2400" dirty="0">
                  <a:solidFill>
                    <a:srgbClr val="009FF6"/>
                  </a:solidFill>
                  <a:latin typeface="Times New Roman" panose="02020803070505020304" pitchFamily="18" charset="0"/>
                  <a:ea typeface="思源黑体 CN Normal" panose="020B0400000000000000" pitchFamily="34" charset="-122"/>
                  <a:cs typeface="Times New Roman" panose="02020803070505020304" pitchFamily="18" charset="0"/>
                </a:rPr>
                <a:t>开环控制：</a:t>
              </a:r>
              <a:endParaRPr kumimoji="1" lang="en-US" altLang="zh-CN" sz="2400" dirty="0">
                <a:solidFill>
                  <a:srgbClr val="009FF6"/>
                </a:solidFill>
                <a:latin typeface="Times New Roman" panose="02020803070505020304" pitchFamily="18" charset="0"/>
                <a:ea typeface="思源黑体 CN Normal" panose="020B0400000000000000" pitchFamily="34" charset="-122"/>
                <a:cs typeface="Times New Roman" panose="02020803070505020304" pitchFamily="18" charset="0"/>
              </a:endParaRPr>
            </a:p>
            <a:p>
              <a:pPr marL="342900" indent="-342900">
                <a:lnSpc>
                  <a:spcPct val="150000"/>
                </a:lnSpc>
                <a:buClr>
                  <a:srgbClr val="009FF6"/>
                </a:buClr>
                <a:buFont typeface="Wingdings" panose="05000000000000000000" pitchFamily="2" charset="2"/>
                <a:buChar char="p"/>
              </a:pPr>
              <a:r>
                <a:rPr kumimoji="1" lang="zh-CN" altLang="en-US" sz="2400" dirty="0">
                  <a:latin typeface="Times New Roman" panose="02020803070505020304" pitchFamily="18" charset="0"/>
                  <a:ea typeface="思源黑体 CN Normal" panose="020B0400000000000000" pitchFamily="34" charset="-122"/>
                  <a:cs typeface="Times New Roman" panose="02020803070505020304" pitchFamily="18" charset="0"/>
                </a:rPr>
                <a:t>在设计网络时，事先</a:t>
              </a:r>
              <a:r>
                <a:rPr kumimoji="1" lang="zh-CN" altLang="en-US" sz="2400" dirty="0">
                  <a:solidFill>
                    <a:srgbClr val="FF0000"/>
                  </a:solidFill>
                  <a:latin typeface="Times New Roman" panose="02020803070505020304" pitchFamily="18" charset="0"/>
                  <a:ea typeface="思源黑体 CN Normal" panose="020B0400000000000000" pitchFamily="34" charset="-122"/>
                  <a:cs typeface="Times New Roman" panose="02020803070505020304" pitchFamily="18" charset="0"/>
                </a:rPr>
                <a:t>考虑周全</a:t>
              </a:r>
              <a:r>
                <a:rPr kumimoji="1" lang="zh-CN" altLang="en-US" sz="2400" dirty="0">
                  <a:latin typeface="Times New Roman" panose="02020803070505020304" pitchFamily="18" charset="0"/>
                  <a:ea typeface="思源黑体 CN Normal" panose="020B0400000000000000" pitchFamily="34" charset="-122"/>
                  <a:cs typeface="Times New Roman" panose="02020803070505020304" pitchFamily="18" charset="0"/>
                </a:rPr>
                <a:t>，力求工作时不发生拥塞。</a:t>
              </a:r>
            </a:p>
            <a:p>
              <a:pPr marL="342900" indent="-342900">
                <a:lnSpc>
                  <a:spcPct val="150000"/>
                </a:lnSpc>
                <a:buClr>
                  <a:srgbClr val="009FF6"/>
                </a:buClr>
                <a:buFont typeface="Wingdings" panose="05000000000000000000" pitchFamily="2" charset="2"/>
                <a:buChar char="p"/>
              </a:pPr>
              <a:r>
                <a:rPr kumimoji="1" lang="zh-CN" altLang="en-US" sz="2400" dirty="0">
                  <a:solidFill>
                    <a:srgbClr val="FF0000"/>
                  </a:solidFill>
                  <a:latin typeface="Times New Roman" panose="02020803070505020304" pitchFamily="18" charset="0"/>
                  <a:ea typeface="思源黑体 CN Normal" panose="020B0400000000000000" pitchFamily="34" charset="-122"/>
                  <a:cs typeface="Times New Roman" panose="02020803070505020304" pitchFamily="18" charset="0"/>
                </a:rPr>
                <a:t>思路</a:t>
              </a:r>
              <a:r>
                <a:rPr kumimoji="1" lang="zh-CN" altLang="en-US" sz="2400" dirty="0">
                  <a:latin typeface="Times New Roman" panose="02020803070505020304" pitchFamily="18" charset="0"/>
                  <a:ea typeface="思源黑体 CN Normal" panose="020B0400000000000000" pitchFamily="34" charset="-122"/>
                  <a:cs typeface="Times New Roman" panose="02020803070505020304" pitchFamily="18" charset="0"/>
                </a:rPr>
                <a:t>：力争</a:t>
              </a:r>
              <a:r>
                <a:rPr kumimoji="1" lang="zh-CN" altLang="en-US" sz="2400" dirty="0">
                  <a:solidFill>
                    <a:srgbClr val="FF0000"/>
                  </a:solidFill>
                  <a:latin typeface="Times New Roman" panose="02020803070505020304" pitchFamily="18" charset="0"/>
                  <a:ea typeface="思源黑体 CN Normal" panose="020B0400000000000000" pitchFamily="34" charset="-122"/>
                  <a:cs typeface="Times New Roman" panose="02020803070505020304" pitchFamily="18" charset="0"/>
                </a:rPr>
                <a:t>避免</a:t>
              </a:r>
              <a:r>
                <a:rPr kumimoji="1" lang="zh-CN" altLang="en-US" sz="2400" dirty="0">
                  <a:latin typeface="Times New Roman" panose="02020803070505020304" pitchFamily="18" charset="0"/>
                  <a:ea typeface="思源黑体 CN Normal" panose="020B0400000000000000" pitchFamily="34" charset="-122"/>
                  <a:cs typeface="Times New Roman" panose="02020803070505020304" pitchFamily="18" charset="0"/>
                </a:rPr>
                <a:t>发生拥塞。</a:t>
              </a:r>
            </a:p>
            <a:p>
              <a:pPr marL="342900" indent="-342900">
                <a:lnSpc>
                  <a:spcPct val="150000"/>
                </a:lnSpc>
                <a:buClr>
                  <a:srgbClr val="009FF6"/>
                </a:buClr>
                <a:buFont typeface="Wingdings" panose="05000000000000000000" pitchFamily="2" charset="2"/>
                <a:buChar char="p"/>
              </a:pPr>
              <a:r>
                <a:rPr kumimoji="1" lang="zh-CN" altLang="en-US" sz="2400" dirty="0">
                  <a:latin typeface="Times New Roman" panose="02020803070505020304" pitchFamily="18" charset="0"/>
                  <a:ea typeface="思源黑体 CN Normal" panose="020B0400000000000000" pitchFamily="34" charset="-122"/>
                  <a:cs typeface="Times New Roman" panose="02020803070505020304" pitchFamily="18" charset="0"/>
                </a:rPr>
                <a:t>但一旦整个系统运行起来，就不再中途进行改正了。</a:t>
              </a:r>
            </a:p>
          </p:txBody>
        </p:sp>
      </p:grpSp>
      <p:sp>
        <p:nvSpPr>
          <p:cNvPr id="2" name="灯片编号占位符 1">
            <a:extLst>
              <a:ext uri="{FF2B5EF4-FFF2-40B4-BE49-F238E27FC236}">
                <a16:creationId xmlns:a16="http://schemas.microsoft.com/office/drawing/2014/main" id="{BFDBBFCE-70A8-453D-9C33-5D79C948AC98}"/>
              </a:ext>
            </a:extLst>
          </p:cNvPr>
          <p:cNvSpPr>
            <a:spLocks noGrp="1"/>
          </p:cNvSpPr>
          <p:nvPr>
            <p:ph type="sldNum" sz="quarter" idx="12"/>
          </p:nvPr>
        </p:nvSpPr>
        <p:spPr/>
        <p:txBody>
          <a:bodyPr/>
          <a:lstStyle/>
          <a:p>
            <a:fld id="{5956A083-5018-4B52-82A0-83241B8E3D94}" type="slidenum">
              <a:rPr lang="zh-CN" altLang="en-US" smtClean="0"/>
              <a:t>13</a:t>
            </a:fld>
            <a:endParaRPr lang="zh-CN" altLang="en-US"/>
          </a:p>
        </p:txBody>
      </p:sp>
    </p:spTree>
    <p:extLst>
      <p:ext uri="{BB962C8B-B14F-4D97-AF65-F5344CB8AC3E}">
        <p14:creationId xmlns:p14="http://schemas.microsoft.com/office/powerpoint/2010/main" val="348830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5E2D3-4C99-5B1B-2374-6219EB88F918}"/>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F45CD4B5-34DC-F9D4-8CFA-F5861B938368}"/>
              </a:ext>
            </a:extLst>
          </p:cNvPr>
          <p:cNvGrpSpPr/>
          <p:nvPr/>
        </p:nvGrpSpPr>
        <p:grpSpPr>
          <a:xfrm>
            <a:off x="0" y="-272687"/>
            <a:ext cx="5085708" cy="1428589"/>
            <a:chOff x="551030" y="-368704"/>
            <a:chExt cx="5085708" cy="1428589"/>
          </a:xfrm>
        </p:grpSpPr>
        <p:grpSp>
          <p:nvGrpSpPr>
            <p:cNvPr id="7" name="组合 6">
              <a:extLst>
                <a:ext uri="{FF2B5EF4-FFF2-40B4-BE49-F238E27FC236}">
                  <a16:creationId xmlns:a16="http://schemas.microsoft.com/office/drawing/2014/main" id="{C7E0CF3A-61DA-C5E9-37DE-189B17449E38}"/>
                </a:ext>
              </a:extLst>
            </p:cNvPr>
            <p:cNvGrpSpPr/>
            <p:nvPr/>
          </p:nvGrpSpPr>
          <p:grpSpPr>
            <a:xfrm>
              <a:off x="1201632" y="303925"/>
              <a:ext cx="4435106" cy="686825"/>
              <a:chOff x="1839059" y="967769"/>
              <a:chExt cx="4435106" cy="686825"/>
            </a:xfrm>
          </p:grpSpPr>
          <p:sp>
            <p:nvSpPr>
              <p:cNvPr id="9" name="矩形: 圆角 8">
                <a:extLst>
                  <a:ext uri="{FF2B5EF4-FFF2-40B4-BE49-F238E27FC236}">
                    <a16:creationId xmlns:a16="http://schemas.microsoft.com/office/drawing/2014/main" id="{EC18B6C1-0654-4A7B-D75B-ACF1030AA3EF}"/>
                  </a:ext>
                </a:extLst>
              </p:cNvPr>
              <p:cNvSpPr/>
              <p:nvPr/>
            </p:nvSpPr>
            <p:spPr>
              <a:xfrm>
                <a:off x="1839059" y="967769"/>
                <a:ext cx="4435106"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10" name="文本框 9">
                <a:extLst>
                  <a:ext uri="{FF2B5EF4-FFF2-40B4-BE49-F238E27FC236}">
                    <a16:creationId xmlns:a16="http://schemas.microsoft.com/office/drawing/2014/main" id="{CA12E781-3E2E-0396-5F6D-D8F4F89E85FD}"/>
                  </a:ext>
                </a:extLst>
              </p:cNvPr>
              <p:cNvSpPr txBox="1"/>
              <p:nvPr/>
            </p:nvSpPr>
            <p:spPr>
              <a:xfrm>
                <a:off x="2795619" y="1009434"/>
                <a:ext cx="3139500"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闭环控制措施</a:t>
                </a:r>
              </a:p>
            </p:txBody>
          </p:sp>
        </p:grpSp>
        <p:pic>
          <p:nvPicPr>
            <p:cNvPr id="8" name="图片 7">
              <a:extLst>
                <a:ext uri="{FF2B5EF4-FFF2-40B4-BE49-F238E27FC236}">
                  <a16:creationId xmlns:a16="http://schemas.microsoft.com/office/drawing/2014/main" id="{96391447-42DA-F97E-EB6A-5BC822070D7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aphicFrame>
        <p:nvGraphicFramePr>
          <p:cNvPr id="2" name="图示 1">
            <a:extLst>
              <a:ext uri="{FF2B5EF4-FFF2-40B4-BE49-F238E27FC236}">
                <a16:creationId xmlns:a16="http://schemas.microsoft.com/office/drawing/2014/main" id="{7ADFF0DE-8A60-4DFF-5125-B3F761E532BD}"/>
              </a:ext>
            </a:extLst>
          </p:cNvPr>
          <p:cNvGraphicFramePr/>
          <p:nvPr>
            <p:extLst>
              <p:ext uri="{D42A27DB-BD31-4B8C-83A1-F6EECF244321}">
                <p14:modId xmlns:p14="http://schemas.microsoft.com/office/powerpoint/2010/main" val="2302618921"/>
              </p:ext>
            </p:extLst>
          </p:nvPr>
        </p:nvGraphicFramePr>
        <p:xfrm>
          <a:off x="3224062" y="1253447"/>
          <a:ext cx="5743876" cy="47055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灯片编号占位符 2">
            <a:extLst>
              <a:ext uri="{FF2B5EF4-FFF2-40B4-BE49-F238E27FC236}">
                <a16:creationId xmlns:a16="http://schemas.microsoft.com/office/drawing/2014/main" id="{2052B8BF-15CC-493F-A13E-DF8F5693C882}"/>
              </a:ext>
            </a:extLst>
          </p:cNvPr>
          <p:cNvSpPr>
            <a:spLocks noGrp="1"/>
          </p:cNvSpPr>
          <p:nvPr>
            <p:ph type="sldNum" sz="quarter" idx="12"/>
          </p:nvPr>
        </p:nvSpPr>
        <p:spPr/>
        <p:txBody>
          <a:bodyPr/>
          <a:lstStyle/>
          <a:p>
            <a:fld id="{5956A083-5018-4B52-82A0-83241B8E3D94}" type="slidenum">
              <a:rPr lang="zh-CN" altLang="en-US" smtClean="0"/>
              <a:t>14</a:t>
            </a:fld>
            <a:endParaRPr lang="zh-CN" altLang="en-US"/>
          </a:p>
        </p:txBody>
      </p:sp>
    </p:spTree>
    <p:extLst>
      <p:ext uri="{BB962C8B-B14F-4D97-AF65-F5344CB8AC3E}">
        <p14:creationId xmlns:p14="http://schemas.microsoft.com/office/powerpoint/2010/main" val="1747333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C74FF-173E-1998-2AC4-12A36DD9DAE8}"/>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8ED3DFB9-FEA9-C628-3E2C-59AB73F41293}"/>
              </a:ext>
            </a:extLst>
          </p:cNvPr>
          <p:cNvGrpSpPr/>
          <p:nvPr/>
        </p:nvGrpSpPr>
        <p:grpSpPr>
          <a:xfrm>
            <a:off x="0" y="-272687"/>
            <a:ext cx="5085708" cy="1428589"/>
            <a:chOff x="551030" y="-368704"/>
            <a:chExt cx="5085708" cy="1428589"/>
          </a:xfrm>
        </p:grpSpPr>
        <p:grpSp>
          <p:nvGrpSpPr>
            <p:cNvPr id="7" name="组合 6">
              <a:extLst>
                <a:ext uri="{FF2B5EF4-FFF2-40B4-BE49-F238E27FC236}">
                  <a16:creationId xmlns:a16="http://schemas.microsoft.com/office/drawing/2014/main" id="{0F3780A6-B762-6E02-5FBE-D40F3E9E221D}"/>
                </a:ext>
              </a:extLst>
            </p:cNvPr>
            <p:cNvGrpSpPr/>
            <p:nvPr/>
          </p:nvGrpSpPr>
          <p:grpSpPr>
            <a:xfrm>
              <a:off x="1201632" y="303925"/>
              <a:ext cx="4435106" cy="686825"/>
              <a:chOff x="1839059" y="967769"/>
              <a:chExt cx="4435106" cy="686825"/>
            </a:xfrm>
          </p:grpSpPr>
          <p:sp>
            <p:nvSpPr>
              <p:cNvPr id="9" name="矩形: 圆角 8">
                <a:extLst>
                  <a:ext uri="{FF2B5EF4-FFF2-40B4-BE49-F238E27FC236}">
                    <a16:creationId xmlns:a16="http://schemas.microsoft.com/office/drawing/2014/main" id="{80C1D46F-1148-2A9E-4F0E-82AD1A843045}"/>
                  </a:ext>
                </a:extLst>
              </p:cNvPr>
              <p:cNvSpPr/>
              <p:nvPr/>
            </p:nvSpPr>
            <p:spPr>
              <a:xfrm>
                <a:off x="1839059" y="967769"/>
                <a:ext cx="4435106"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10" name="文本框 9">
                <a:extLst>
                  <a:ext uri="{FF2B5EF4-FFF2-40B4-BE49-F238E27FC236}">
                    <a16:creationId xmlns:a16="http://schemas.microsoft.com/office/drawing/2014/main" id="{9331A678-9222-7030-42FE-99CB5EEABBDA}"/>
                  </a:ext>
                </a:extLst>
              </p:cNvPr>
              <p:cNvSpPr txBox="1"/>
              <p:nvPr/>
            </p:nvSpPr>
            <p:spPr>
              <a:xfrm>
                <a:off x="2795619" y="1009434"/>
                <a:ext cx="3139500"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闭环控制措施</a:t>
                </a:r>
              </a:p>
            </p:txBody>
          </p:sp>
        </p:grpSp>
        <p:pic>
          <p:nvPicPr>
            <p:cNvPr id="8" name="图片 7">
              <a:extLst>
                <a:ext uri="{FF2B5EF4-FFF2-40B4-BE49-F238E27FC236}">
                  <a16:creationId xmlns:a16="http://schemas.microsoft.com/office/drawing/2014/main" id="{3E4CD0ED-66C4-8EFC-6AE3-96620B83915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aphicFrame>
        <p:nvGraphicFramePr>
          <p:cNvPr id="2" name="图示 1">
            <a:extLst>
              <a:ext uri="{FF2B5EF4-FFF2-40B4-BE49-F238E27FC236}">
                <a16:creationId xmlns:a16="http://schemas.microsoft.com/office/drawing/2014/main" id="{FE2548B8-214B-805F-2FF9-46F41FAE5137}"/>
              </a:ext>
            </a:extLst>
          </p:cNvPr>
          <p:cNvGraphicFramePr/>
          <p:nvPr>
            <p:extLst>
              <p:ext uri="{D42A27DB-BD31-4B8C-83A1-F6EECF244321}">
                <p14:modId xmlns:p14="http://schemas.microsoft.com/office/powerpoint/2010/main" val="3237550884"/>
              </p:ext>
            </p:extLst>
          </p:nvPr>
        </p:nvGraphicFramePr>
        <p:xfrm>
          <a:off x="491136" y="1397286"/>
          <a:ext cx="5743876" cy="47055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线形标注 1 2">
            <a:extLst>
              <a:ext uri="{FF2B5EF4-FFF2-40B4-BE49-F238E27FC236}">
                <a16:creationId xmlns:a16="http://schemas.microsoft.com/office/drawing/2014/main" id="{60C50FD8-C01F-7FC6-8CB5-44BF5B509922}"/>
              </a:ext>
            </a:extLst>
          </p:cNvPr>
          <p:cNvSpPr/>
          <p:nvPr/>
        </p:nvSpPr>
        <p:spPr>
          <a:xfrm>
            <a:off x="6471174" y="1658059"/>
            <a:ext cx="5549590" cy="3345455"/>
          </a:xfrm>
          <a:prstGeom prst="borderCallout1">
            <a:avLst>
              <a:gd name="adj1" fmla="val 8441"/>
              <a:gd name="adj2" fmla="val -96"/>
              <a:gd name="adj3" fmla="val 696"/>
              <a:gd name="adj4" fmla="val -10217"/>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ct val="150000"/>
              </a:lnSpc>
              <a:buClr>
                <a:srgbClr val="0070C0"/>
              </a:buClr>
              <a:buFont typeface="Wingdings" pitchFamily="2" charset="2"/>
              <a:buChar char="l"/>
            </a:pPr>
            <a:r>
              <a:rPr lang="zh-CN" altLang="en-US" sz="2000" dirty="0">
                <a:solidFill>
                  <a:schemeClr val="tx1"/>
                </a:solidFill>
                <a:latin typeface="微软雅黑" pitchFamily="34" charset="-122"/>
                <a:ea typeface="微软雅黑" pitchFamily="34" charset="-122"/>
              </a:rPr>
              <a:t>主要指标有：</a:t>
            </a:r>
          </a:p>
          <a:p>
            <a:pPr marL="358775" indent="-179388">
              <a:lnSpc>
                <a:spcPct val="150000"/>
              </a:lnSpc>
              <a:buClr>
                <a:srgbClr val="9900CC"/>
              </a:buClr>
              <a:buFont typeface="+mj-lt"/>
              <a:buAutoNum type="arabicPeriod"/>
            </a:pPr>
            <a:r>
              <a:rPr lang="zh-CN" altLang="en-US" sz="2000" dirty="0">
                <a:solidFill>
                  <a:schemeClr val="tx1"/>
                </a:solidFill>
                <a:latin typeface="微软雅黑" pitchFamily="34" charset="-122"/>
                <a:ea typeface="微软雅黑" pitchFamily="34" charset="-122"/>
              </a:rPr>
              <a:t>由于缺少缓存空间而被丢弃的分组的百分数；</a:t>
            </a:r>
          </a:p>
          <a:p>
            <a:pPr marL="358775" indent="-179388">
              <a:lnSpc>
                <a:spcPct val="150000"/>
              </a:lnSpc>
              <a:buClr>
                <a:srgbClr val="9900CC"/>
              </a:buClr>
              <a:buFont typeface="+mj-lt"/>
              <a:buAutoNum type="arabicPeriod"/>
            </a:pPr>
            <a:r>
              <a:rPr lang="zh-CN" altLang="en-US" sz="2000" dirty="0">
                <a:solidFill>
                  <a:schemeClr val="tx1"/>
                </a:solidFill>
                <a:latin typeface="微软雅黑" pitchFamily="34" charset="-122"/>
                <a:ea typeface="微软雅黑" pitchFamily="34" charset="-122"/>
              </a:rPr>
              <a:t>平均队列长度；</a:t>
            </a:r>
          </a:p>
          <a:p>
            <a:pPr marL="358775" indent="-179388">
              <a:lnSpc>
                <a:spcPct val="150000"/>
              </a:lnSpc>
              <a:buClr>
                <a:srgbClr val="9900CC"/>
              </a:buClr>
              <a:buFont typeface="+mj-lt"/>
              <a:buAutoNum type="arabicPeriod"/>
            </a:pPr>
            <a:r>
              <a:rPr lang="zh-CN" altLang="en-US" sz="2000" dirty="0">
                <a:solidFill>
                  <a:schemeClr val="tx1"/>
                </a:solidFill>
                <a:latin typeface="微软雅黑" pitchFamily="34" charset="-122"/>
                <a:ea typeface="微软雅黑" pitchFamily="34" charset="-122"/>
              </a:rPr>
              <a:t>超时重传的分组数；</a:t>
            </a:r>
          </a:p>
          <a:p>
            <a:pPr marL="358775" indent="-179388">
              <a:lnSpc>
                <a:spcPct val="150000"/>
              </a:lnSpc>
              <a:buClr>
                <a:srgbClr val="9900CC"/>
              </a:buClr>
              <a:buFont typeface="+mj-lt"/>
              <a:buAutoNum type="arabicPeriod"/>
            </a:pPr>
            <a:r>
              <a:rPr lang="zh-CN" altLang="en-US" sz="2000" dirty="0">
                <a:solidFill>
                  <a:schemeClr val="tx1"/>
                </a:solidFill>
                <a:latin typeface="微软雅黑" pitchFamily="34" charset="-122"/>
                <a:ea typeface="微软雅黑" pitchFamily="34" charset="-122"/>
              </a:rPr>
              <a:t>平均分组时延；</a:t>
            </a:r>
          </a:p>
          <a:p>
            <a:pPr marL="358775" indent="-179388">
              <a:lnSpc>
                <a:spcPct val="150000"/>
              </a:lnSpc>
              <a:buClr>
                <a:srgbClr val="9900CC"/>
              </a:buClr>
              <a:buFont typeface="+mj-lt"/>
              <a:buAutoNum type="arabicPeriod"/>
            </a:pPr>
            <a:r>
              <a:rPr lang="zh-CN" altLang="en-US" sz="2000" dirty="0">
                <a:solidFill>
                  <a:schemeClr val="tx1"/>
                </a:solidFill>
                <a:latin typeface="微软雅黑" pitchFamily="34" charset="-122"/>
                <a:ea typeface="微软雅黑" pitchFamily="34" charset="-122"/>
              </a:rPr>
              <a:t>分组时延的标准差，等等。</a:t>
            </a:r>
          </a:p>
          <a:p>
            <a:pPr marL="179388" indent="-179388">
              <a:lnSpc>
                <a:spcPct val="150000"/>
              </a:lnSpc>
              <a:buClr>
                <a:srgbClr val="0070C0"/>
              </a:buClr>
              <a:buFont typeface="Wingdings" pitchFamily="2" charset="2"/>
              <a:buChar char="l"/>
            </a:pPr>
            <a:r>
              <a:rPr lang="zh-CN" altLang="en-US" sz="2000" dirty="0">
                <a:solidFill>
                  <a:srgbClr val="0000FF"/>
                </a:solidFill>
                <a:latin typeface="微软雅黑" pitchFamily="34" charset="-122"/>
                <a:ea typeface="微软雅黑" pitchFamily="34" charset="-122"/>
              </a:rPr>
              <a:t>这些指标的上升都标志着拥塞的增长。</a:t>
            </a:r>
          </a:p>
        </p:txBody>
      </p:sp>
      <p:sp>
        <p:nvSpPr>
          <p:cNvPr id="4" name="灯片编号占位符 3">
            <a:extLst>
              <a:ext uri="{FF2B5EF4-FFF2-40B4-BE49-F238E27FC236}">
                <a16:creationId xmlns:a16="http://schemas.microsoft.com/office/drawing/2014/main" id="{F56A43AC-551E-4571-B4F0-0E8A53520961}"/>
              </a:ext>
            </a:extLst>
          </p:cNvPr>
          <p:cNvSpPr>
            <a:spLocks noGrp="1"/>
          </p:cNvSpPr>
          <p:nvPr>
            <p:ph type="sldNum" sz="quarter" idx="12"/>
          </p:nvPr>
        </p:nvSpPr>
        <p:spPr/>
        <p:txBody>
          <a:bodyPr/>
          <a:lstStyle/>
          <a:p>
            <a:fld id="{5956A083-5018-4B52-82A0-83241B8E3D94}" type="slidenum">
              <a:rPr lang="zh-CN" altLang="en-US" smtClean="0"/>
              <a:t>15</a:t>
            </a:fld>
            <a:endParaRPr lang="zh-CN" altLang="en-US"/>
          </a:p>
        </p:txBody>
      </p:sp>
    </p:spTree>
    <p:extLst>
      <p:ext uri="{BB962C8B-B14F-4D97-AF65-F5344CB8AC3E}">
        <p14:creationId xmlns:p14="http://schemas.microsoft.com/office/powerpoint/2010/main" val="440231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AF6C6-E103-0544-76A2-5F92D4177D54}"/>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3744F2EB-2E8B-CBC3-EAF7-17DAFB1E5E22}"/>
              </a:ext>
            </a:extLst>
          </p:cNvPr>
          <p:cNvGrpSpPr/>
          <p:nvPr/>
        </p:nvGrpSpPr>
        <p:grpSpPr>
          <a:xfrm>
            <a:off x="0" y="-272687"/>
            <a:ext cx="5085708" cy="1428589"/>
            <a:chOff x="551030" y="-368704"/>
            <a:chExt cx="5085708" cy="1428589"/>
          </a:xfrm>
        </p:grpSpPr>
        <p:grpSp>
          <p:nvGrpSpPr>
            <p:cNvPr id="7" name="组合 6">
              <a:extLst>
                <a:ext uri="{FF2B5EF4-FFF2-40B4-BE49-F238E27FC236}">
                  <a16:creationId xmlns:a16="http://schemas.microsoft.com/office/drawing/2014/main" id="{8CE9016C-0AD7-FF41-7BC9-CC8E3EC4FB5D}"/>
                </a:ext>
              </a:extLst>
            </p:cNvPr>
            <p:cNvGrpSpPr/>
            <p:nvPr/>
          </p:nvGrpSpPr>
          <p:grpSpPr>
            <a:xfrm>
              <a:off x="1201632" y="303925"/>
              <a:ext cx="4435106" cy="686825"/>
              <a:chOff x="1839059" y="967769"/>
              <a:chExt cx="4435106" cy="686825"/>
            </a:xfrm>
          </p:grpSpPr>
          <p:sp>
            <p:nvSpPr>
              <p:cNvPr id="9" name="矩形: 圆角 8">
                <a:extLst>
                  <a:ext uri="{FF2B5EF4-FFF2-40B4-BE49-F238E27FC236}">
                    <a16:creationId xmlns:a16="http://schemas.microsoft.com/office/drawing/2014/main" id="{A16166A8-EC74-5069-3802-2199C56B7EAA}"/>
                  </a:ext>
                </a:extLst>
              </p:cNvPr>
              <p:cNvSpPr/>
              <p:nvPr/>
            </p:nvSpPr>
            <p:spPr>
              <a:xfrm>
                <a:off x="1839059" y="967769"/>
                <a:ext cx="4435106"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10" name="文本框 9">
                <a:extLst>
                  <a:ext uri="{FF2B5EF4-FFF2-40B4-BE49-F238E27FC236}">
                    <a16:creationId xmlns:a16="http://schemas.microsoft.com/office/drawing/2014/main" id="{3F734CF4-25CC-F571-948C-F5F153F5945F}"/>
                  </a:ext>
                </a:extLst>
              </p:cNvPr>
              <p:cNvSpPr txBox="1"/>
              <p:nvPr/>
            </p:nvSpPr>
            <p:spPr>
              <a:xfrm>
                <a:off x="2795619" y="1009434"/>
                <a:ext cx="3139500"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闭环控制措施</a:t>
                </a:r>
              </a:p>
            </p:txBody>
          </p:sp>
        </p:grpSp>
        <p:pic>
          <p:nvPicPr>
            <p:cNvPr id="8" name="图片 7">
              <a:extLst>
                <a:ext uri="{FF2B5EF4-FFF2-40B4-BE49-F238E27FC236}">
                  <a16:creationId xmlns:a16="http://schemas.microsoft.com/office/drawing/2014/main" id="{A1356B7D-FF07-5C41-58E3-EF89194FEC1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aphicFrame>
        <p:nvGraphicFramePr>
          <p:cNvPr id="2" name="图示 1">
            <a:extLst>
              <a:ext uri="{FF2B5EF4-FFF2-40B4-BE49-F238E27FC236}">
                <a16:creationId xmlns:a16="http://schemas.microsoft.com/office/drawing/2014/main" id="{A88CE194-EA1A-AD08-3458-93D259F2E5B6}"/>
              </a:ext>
            </a:extLst>
          </p:cNvPr>
          <p:cNvGraphicFramePr/>
          <p:nvPr>
            <p:extLst>
              <p:ext uri="{D42A27DB-BD31-4B8C-83A1-F6EECF244321}">
                <p14:modId xmlns:p14="http://schemas.microsoft.com/office/powerpoint/2010/main" val="3840322560"/>
              </p:ext>
            </p:extLst>
          </p:nvPr>
        </p:nvGraphicFramePr>
        <p:xfrm>
          <a:off x="429491" y="1273996"/>
          <a:ext cx="5743876" cy="47055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线形标注 1 2">
            <a:extLst>
              <a:ext uri="{FF2B5EF4-FFF2-40B4-BE49-F238E27FC236}">
                <a16:creationId xmlns:a16="http://schemas.microsoft.com/office/drawing/2014/main" id="{4251AB4D-19F1-EEBE-6664-2453761C1E85}"/>
              </a:ext>
            </a:extLst>
          </p:cNvPr>
          <p:cNvSpPr/>
          <p:nvPr/>
        </p:nvSpPr>
        <p:spPr>
          <a:xfrm>
            <a:off x="6471174" y="2424703"/>
            <a:ext cx="5476270" cy="2579660"/>
          </a:xfrm>
          <a:prstGeom prst="borderCallout1">
            <a:avLst>
              <a:gd name="adj1" fmla="val 42353"/>
              <a:gd name="adj2" fmla="val -96"/>
              <a:gd name="adj3" fmla="val 34925"/>
              <a:gd name="adj4" fmla="val -9366"/>
            </a:avLst>
          </a:prstGeom>
          <a:noFill/>
          <a:ln w="9525" cap="flat" cmpd="sng" algn="ctr">
            <a:solidFill>
              <a:srgbClr val="000066"/>
            </a:solidFill>
            <a:prstDash val="solid"/>
          </a:ln>
          <a:effectLst/>
        </p:spPr>
        <p:txBody>
          <a:bodyPr rtlCol="0" anchor="ctr"/>
          <a:lstStyle/>
          <a:p>
            <a:pPr marL="179388" marR="0" lvl="0" indent="-179388" defTabSz="914400" eaLnBrk="1" fontAlgn="auto" latinLnBrk="0" hangingPunct="1">
              <a:lnSpc>
                <a:spcPct val="150000"/>
              </a:lnSpc>
              <a:spcBef>
                <a:spcPts val="0"/>
              </a:spcBef>
              <a:spcAft>
                <a:spcPts val="0"/>
              </a:spcAft>
              <a:buClr>
                <a:srgbClr val="9900CC"/>
              </a:buClr>
              <a:buSzTx/>
              <a:buFont typeface="+mj-lt"/>
              <a:buAutoNum type="arabicPeriod"/>
              <a:tabLst/>
              <a:defRPr/>
            </a:pPr>
            <a:r>
              <a:rPr kumimoji="0" lang="zh-CN" altLang="en-US" sz="2000" i="0" u="none" strike="noStrike" kern="0" cap="none" spc="0" normalizeH="0" baseline="0" noProof="0" dirty="0">
                <a:ln>
                  <a:noFill/>
                </a:ln>
                <a:solidFill>
                  <a:prstClr val="black"/>
                </a:solidFill>
                <a:effectLst/>
                <a:uLnTx/>
                <a:uFillTx/>
                <a:latin typeface="微软雅黑" pitchFamily="34" charset="-122"/>
                <a:ea typeface="微软雅黑" pitchFamily="34" charset="-122"/>
                <a:cs typeface="+mn-cs"/>
              </a:rPr>
              <a:t>将拥塞发生的信息传送到产生分组的</a:t>
            </a:r>
            <a:r>
              <a:rPr kumimoji="0" lang="zh-CN" altLang="en-US" sz="2000" i="0" u="none" strike="noStrike" kern="0" cap="none" spc="0" normalizeH="0" baseline="0" noProof="0" dirty="0">
                <a:ln>
                  <a:noFill/>
                </a:ln>
                <a:solidFill>
                  <a:srgbClr val="C00000"/>
                </a:solidFill>
                <a:effectLst/>
                <a:uLnTx/>
                <a:uFillTx/>
                <a:latin typeface="微软雅黑" pitchFamily="34" charset="-122"/>
                <a:ea typeface="微软雅黑" pitchFamily="34" charset="-122"/>
                <a:cs typeface="+mn-cs"/>
              </a:rPr>
              <a:t>源站。</a:t>
            </a:r>
          </a:p>
          <a:p>
            <a:pPr marL="179388" marR="0" lvl="0" indent="-179388" defTabSz="914400" eaLnBrk="1" fontAlgn="auto" latinLnBrk="0" hangingPunct="1">
              <a:lnSpc>
                <a:spcPct val="150000"/>
              </a:lnSpc>
              <a:spcBef>
                <a:spcPts val="0"/>
              </a:spcBef>
              <a:spcAft>
                <a:spcPts val="0"/>
              </a:spcAft>
              <a:buClr>
                <a:srgbClr val="9900CC"/>
              </a:buClr>
              <a:buSzTx/>
              <a:buFont typeface="+mj-lt"/>
              <a:buAutoNum type="arabicPeriod"/>
              <a:tabLst/>
              <a:defRPr/>
            </a:pPr>
            <a:r>
              <a:rPr kumimoji="0" lang="zh-CN" altLang="en-US" sz="2000" i="0" u="none" strike="noStrike" kern="0" cap="none" spc="0" normalizeH="0" baseline="0" noProof="0" dirty="0">
                <a:ln>
                  <a:noFill/>
                </a:ln>
                <a:solidFill>
                  <a:prstClr val="black"/>
                </a:solidFill>
                <a:effectLst/>
                <a:uLnTx/>
                <a:uFillTx/>
                <a:latin typeface="微软雅黑" pitchFamily="34" charset="-122"/>
                <a:ea typeface="微软雅黑" pitchFamily="34" charset="-122"/>
                <a:cs typeface="+mn-cs"/>
              </a:rPr>
              <a:t>在路由器转发的分组中保留一个比特或字段，用该</a:t>
            </a:r>
            <a:r>
              <a:rPr kumimoji="0" lang="zh-CN" altLang="en-US" sz="2000" i="0" u="none" strike="noStrike" kern="0" cap="none" spc="0" normalizeH="0" baseline="0" noProof="0" dirty="0">
                <a:ln>
                  <a:noFill/>
                </a:ln>
                <a:solidFill>
                  <a:srgbClr val="C00000"/>
                </a:solidFill>
                <a:effectLst/>
                <a:uLnTx/>
                <a:uFillTx/>
                <a:latin typeface="微软雅黑" pitchFamily="34" charset="-122"/>
                <a:ea typeface="微软雅黑" pitchFamily="34" charset="-122"/>
                <a:cs typeface="+mn-cs"/>
              </a:rPr>
              <a:t>比特或字段</a:t>
            </a:r>
            <a:r>
              <a:rPr kumimoji="0" lang="zh-CN" altLang="en-US" sz="2000" i="0" u="none" strike="noStrike" kern="0" cap="none" spc="0" normalizeH="0" baseline="0" noProof="0" dirty="0">
                <a:ln>
                  <a:noFill/>
                </a:ln>
                <a:solidFill>
                  <a:prstClr val="black"/>
                </a:solidFill>
                <a:effectLst/>
                <a:uLnTx/>
                <a:uFillTx/>
                <a:latin typeface="微软雅黑" pitchFamily="34" charset="-122"/>
                <a:ea typeface="微软雅黑" pitchFamily="34" charset="-122"/>
                <a:cs typeface="+mn-cs"/>
              </a:rPr>
              <a:t>的值表示网络没有拥塞或产生了拥塞。</a:t>
            </a:r>
          </a:p>
          <a:p>
            <a:pPr marL="179388" marR="0" lvl="0" indent="-179388" defTabSz="914400" eaLnBrk="1" fontAlgn="auto" latinLnBrk="0" hangingPunct="1">
              <a:lnSpc>
                <a:spcPct val="150000"/>
              </a:lnSpc>
              <a:spcBef>
                <a:spcPts val="0"/>
              </a:spcBef>
              <a:spcAft>
                <a:spcPts val="0"/>
              </a:spcAft>
              <a:buClr>
                <a:srgbClr val="9900CC"/>
              </a:buClr>
              <a:buSzTx/>
              <a:buFont typeface="+mj-lt"/>
              <a:buAutoNum type="arabicPeriod"/>
              <a:tabLst/>
              <a:defRPr/>
            </a:pPr>
            <a:r>
              <a:rPr kumimoji="0" lang="zh-CN" altLang="en-US" sz="2000" i="0" u="none" strike="noStrike" kern="0" cap="none" spc="0" normalizeH="0" baseline="0" noProof="0" dirty="0">
                <a:ln>
                  <a:noFill/>
                </a:ln>
                <a:solidFill>
                  <a:srgbClr val="C00000"/>
                </a:solidFill>
                <a:effectLst/>
                <a:uLnTx/>
                <a:uFillTx/>
                <a:latin typeface="微软雅黑" pitchFamily="34" charset="-122"/>
                <a:ea typeface="微软雅黑" pitchFamily="34" charset="-122"/>
                <a:cs typeface="+mn-cs"/>
              </a:rPr>
              <a:t>周期性</a:t>
            </a:r>
            <a:r>
              <a:rPr kumimoji="0" lang="zh-CN" altLang="en-US" sz="2000" i="0" u="none" strike="noStrike" kern="0" cap="none" spc="0" normalizeH="0" baseline="0" noProof="0" dirty="0">
                <a:ln>
                  <a:noFill/>
                </a:ln>
                <a:solidFill>
                  <a:prstClr val="black"/>
                </a:solidFill>
                <a:effectLst/>
                <a:uLnTx/>
                <a:uFillTx/>
                <a:latin typeface="微软雅黑" pitchFamily="34" charset="-122"/>
                <a:ea typeface="微软雅黑" pitchFamily="34" charset="-122"/>
                <a:cs typeface="+mn-cs"/>
              </a:rPr>
              <a:t>地发出探测分组等。</a:t>
            </a:r>
          </a:p>
        </p:txBody>
      </p:sp>
      <p:sp>
        <p:nvSpPr>
          <p:cNvPr id="4" name="灯片编号占位符 3">
            <a:extLst>
              <a:ext uri="{FF2B5EF4-FFF2-40B4-BE49-F238E27FC236}">
                <a16:creationId xmlns:a16="http://schemas.microsoft.com/office/drawing/2014/main" id="{5896053E-4E26-49DB-8B20-FB2ED67F68AA}"/>
              </a:ext>
            </a:extLst>
          </p:cNvPr>
          <p:cNvSpPr>
            <a:spLocks noGrp="1"/>
          </p:cNvSpPr>
          <p:nvPr>
            <p:ph type="sldNum" sz="quarter" idx="12"/>
          </p:nvPr>
        </p:nvSpPr>
        <p:spPr/>
        <p:txBody>
          <a:bodyPr/>
          <a:lstStyle/>
          <a:p>
            <a:fld id="{5956A083-5018-4B52-82A0-83241B8E3D94}" type="slidenum">
              <a:rPr lang="zh-CN" altLang="en-US" smtClean="0"/>
              <a:t>16</a:t>
            </a:fld>
            <a:endParaRPr lang="zh-CN" altLang="en-US"/>
          </a:p>
        </p:txBody>
      </p:sp>
    </p:spTree>
    <p:extLst>
      <p:ext uri="{BB962C8B-B14F-4D97-AF65-F5344CB8AC3E}">
        <p14:creationId xmlns:p14="http://schemas.microsoft.com/office/powerpoint/2010/main" val="378382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F7299-35E8-A116-0985-7B21724B8205}"/>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E15D5CFD-7729-6825-1DA1-91EE2466DEE2}"/>
              </a:ext>
            </a:extLst>
          </p:cNvPr>
          <p:cNvGrpSpPr/>
          <p:nvPr/>
        </p:nvGrpSpPr>
        <p:grpSpPr>
          <a:xfrm>
            <a:off x="0" y="-272687"/>
            <a:ext cx="5085708" cy="1428589"/>
            <a:chOff x="551030" y="-368704"/>
            <a:chExt cx="5085708" cy="1428589"/>
          </a:xfrm>
        </p:grpSpPr>
        <p:grpSp>
          <p:nvGrpSpPr>
            <p:cNvPr id="7" name="组合 6">
              <a:extLst>
                <a:ext uri="{FF2B5EF4-FFF2-40B4-BE49-F238E27FC236}">
                  <a16:creationId xmlns:a16="http://schemas.microsoft.com/office/drawing/2014/main" id="{F0171E3A-805C-31BC-98D1-F6EE06D1E7E5}"/>
                </a:ext>
              </a:extLst>
            </p:cNvPr>
            <p:cNvGrpSpPr/>
            <p:nvPr/>
          </p:nvGrpSpPr>
          <p:grpSpPr>
            <a:xfrm>
              <a:off x="1201632" y="303925"/>
              <a:ext cx="4435106" cy="686825"/>
              <a:chOff x="1839059" y="967769"/>
              <a:chExt cx="4435106" cy="686825"/>
            </a:xfrm>
          </p:grpSpPr>
          <p:sp>
            <p:nvSpPr>
              <p:cNvPr id="9" name="矩形: 圆角 8">
                <a:extLst>
                  <a:ext uri="{FF2B5EF4-FFF2-40B4-BE49-F238E27FC236}">
                    <a16:creationId xmlns:a16="http://schemas.microsoft.com/office/drawing/2014/main" id="{20A3B70A-9EF3-0632-615B-48D41D015487}"/>
                  </a:ext>
                </a:extLst>
              </p:cNvPr>
              <p:cNvSpPr/>
              <p:nvPr/>
            </p:nvSpPr>
            <p:spPr>
              <a:xfrm>
                <a:off x="1839059" y="967769"/>
                <a:ext cx="4435106"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10" name="文本框 9">
                <a:extLst>
                  <a:ext uri="{FF2B5EF4-FFF2-40B4-BE49-F238E27FC236}">
                    <a16:creationId xmlns:a16="http://schemas.microsoft.com/office/drawing/2014/main" id="{7BE58A53-DDC2-2562-BA60-198870E4A12B}"/>
                  </a:ext>
                </a:extLst>
              </p:cNvPr>
              <p:cNvSpPr txBox="1"/>
              <p:nvPr/>
            </p:nvSpPr>
            <p:spPr>
              <a:xfrm>
                <a:off x="2795619" y="1009434"/>
                <a:ext cx="3139500"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闭环控制措施</a:t>
                </a:r>
              </a:p>
            </p:txBody>
          </p:sp>
        </p:grpSp>
        <p:pic>
          <p:nvPicPr>
            <p:cNvPr id="8" name="图片 7">
              <a:extLst>
                <a:ext uri="{FF2B5EF4-FFF2-40B4-BE49-F238E27FC236}">
                  <a16:creationId xmlns:a16="http://schemas.microsoft.com/office/drawing/2014/main" id="{63F24169-04D8-CB76-705E-B5CF4FE6F05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aphicFrame>
        <p:nvGraphicFramePr>
          <p:cNvPr id="2" name="图示 1">
            <a:extLst>
              <a:ext uri="{FF2B5EF4-FFF2-40B4-BE49-F238E27FC236}">
                <a16:creationId xmlns:a16="http://schemas.microsoft.com/office/drawing/2014/main" id="{E3CCC2B0-84E6-23EF-8521-C50DB264E969}"/>
              </a:ext>
            </a:extLst>
          </p:cNvPr>
          <p:cNvGraphicFramePr/>
          <p:nvPr/>
        </p:nvGraphicFramePr>
        <p:xfrm>
          <a:off x="429491" y="1273996"/>
          <a:ext cx="5743876" cy="47055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线形标注 1 2">
            <a:extLst>
              <a:ext uri="{FF2B5EF4-FFF2-40B4-BE49-F238E27FC236}">
                <a16:creationId xmlns:a16="http://schemas.microsoft.com/office/drawing/2014/main" id="{3D2DC275-E006-78C9-4095-8D41BF3E2887}"/>
              </a:ext>
            </a:extLst>
          </p:cNvPr>
          <p:cNvSpPr/>
          <p:nvPr/>
        </p:nvSpPr>
        <p:spPr>
          <a:xfrm>
            <a:off x="6501995" y="3750067"/>
            <a:ext cx="5066705" cy="1623317"/>
          </a:xfrm>
          <a:prstGeom prst="borderCallout1">
            <a:avLst>
              <a:gd name="adj1" fmla="val 74102"/>
              <a:gd name="adj2" fmla="val -96"/>
              <a:gd name="adj3" fmla="val 89195"/>
              <a:gd name="adj4" fmla="val -9915"/>
            </a:avLst>
          </a:prstGeom>
          <a:noFill/>
          <a:ln w="9525" cap="flat" cmpd="sng" algn="ctr">
            <a:solidFill>
              <a:srgbClr val="000066"/>
            </a:solidFill>
            <a:prstDash val="solid"/>
          </a:ln>
          <a:effectLst/>
        </p:spPr>
        <p:txBody>
          <a:bodyPr rtlCol="0" anchor="ctr"/>
          <a:lstStyle/>
          <a:p>
            <a:pPr marL="179388" marR="0" lvl="0" indent="-179388" defTabSz="914400" eaLnBrk="1" fontAlgn="auto" latinLnBrk="0" hangingPunct="1">
              <a:lnSpc>
                <a:spcPct val="150000"/>
              </a:lnSpc>
              <a:spcBef>
                <a:spcPts val="0"/>
              </a:spcBef>
              <a:spcAft>
                <a:spcPts val="0"/>
              </a:spcAft>
              <a:buClr>
                <a:srgbClr val="0070C0"/>
              </a:buClr>
              <a:buSzTx/>
              <a:buFont typeface="Wingdings" pitchFamily="2" charset="2"/>
              <a:buChar char="l"/>
              <a:tabLst/>
              <a:defRPr/>
            </a:pPr>
            <a:r>
              <a:rPr kumimoji="0" lang="zh-CN" altLang="en-US" sz="2000" i="0" u="none" strike="noStrike" kern="0" cap="none" spc="0" normalizeH="0" baseline="0" noProof="0" dirty="0">
                <a:ln>
                  <a:noFill/>
                </a:ln>
                <a:solidFill>
                  <a:prstClr val="black"/>
                </a:solidFill>
                <a:effectLst/>
                <a:uLnTx/>
                <a:uFillTx/>
                <a:latin typeface="微软雅黑" pitchFamily="34" charset="-122"/>
                <a:ea typeface="微软雅黑" pitchFamily="34" charset="-122"/>
                <a:cs typeface="+mn-cs"/>
              </a:rPr>
              <a:t>过于频繁，会使系统产生不稳定的振荡。</a:t>
            </a:r>
          </a:p>
          <a:p>
            <a:pPr marL="179388" marR="0" lvl="0" indent="-179388" defTabSz="914400" eaLnBrk="1" fontAlgn="auto" latinLnBrk="0" hangingPunct="1">
              <a:lnSpc>
                <a:spcPct val="150000"/>
              </a:lnSpc>
              <a:spcBef>
                <a:spcPts val="0"/>
              </a:spcBef>
              <a:spcAft>
                <a:spcPts val="0"/>
              </a:spcAft>
              <a:buClr>
                <a:srgbClr val="0070C0"/>
              </a:buClr>
              <a:buSzTx/>
              <a:buFont typeface="Wingdings" pitchFamily="2" charset="2"/>
              <a:buChar char="l"/>
              <a:tabLst/>
              <a:defRPr/>
            </a:pPr>
            <a:r>
              <a:rPr kumimoji="0" lang="zh-CN" altLang="en-US" sz="2000" i="0" u="none" strike="noStrike" kern="0" cap="none" spc="0" normalizeH="0" baseline="0" noProof="0" dirty="0">
                <a:ln>
                  <a:noFill/>
                </a:ln>
                <a:solidFill>
                  <a:prstClr val="black"/>
                </a:solidFill>
                <a:effectLst/>
                <a:uLnTx/>
                <a:uFillTx/>
                <a:latin typeface="微软雅黑" pitchFamily="34" charset="-122"/>
                <a:ea typeface="微软雅黑" pitchFamily="34" charset="-122"/>
                <a:cs typeface="+mn-cs"/>
              </a:rPr>
              <a:t>过于迟缓，不具有任何实用价值。</a:t>
            </a:r>
          </a:p>
          <a:p>
            <a:pPr marL="179388" marR="0" lvl="0" indent="-179388" defTabSz="914400" eaLnBrk="1" fontAlgn="auto" latinLnBrk="0" hangingPunct="1">
              <a:lnSpc>
                <a:spcPct val="150000"/>
              </a:lnSpc>
              <a:spcBef>
                <a:spcPts val="0"/>
              </a:spcBef>
              <a:spcAft>
                <a:spcPts val="0"/>
              </a:spcAft>
              <a:buClr>
                <a:srgbClr val="0070C0"/>
              </a:buClr>
              <a:buSzTx/>
              <a:buFont typeface="Wingdings" pitchFamily="2" charset="2"/>
              <a:buChar char="l"/>
              <a:tabLst/>
              <a:defRPr/>
            </a:pPr>
            <a:r>
              <a:rPr kumimoji="0" lang="zh-CN" altLang="en-US" sz="2000" i="0" u="none" strike="noStrike" kern="0" cap="none" spc="0" normalizeH="0" baseline="0" noProof="0" dirty="0">
                <a:ln>
                  <a:noFill/>
                </a:ln>
                <a:solidFill>
                  <a:srgbClr val="0000FF"/>
                </a:solidFill>
                <a:effectLst/>
                <a:uLnTx/>
                <a:uFillTx/>
                <a:latin typeface="微软雅黑" pitchFamily="34" charset="-122"/>
                <a:ea typeface="微软雅黑" pitchFamily="34" charset="-122"/>
                <a:cs typeface="+mn-cs"/>
              </a:rPr>
              <a:t>选择正确的时间常数是相当困难的。</a:t>
            </a:r>
          </a:p>
        </p:txBody>
      </p:sp>
      <p:sp>
        <p:nvSpPr>
          <p:cNvPr id="3" name="灯片编号占位符 2">
            <a:extLst>
              <a:ext uri="{FF2B5EF4-FFF2-40B4-BE49-F238E27FC236}">
                <a16:creationId xmlns:a16="http://schemas.microsoft.com/office/drawing/2014/main" id="{6F90B1EC-427A-4BEA-BCD0-75BB4B7F8C44}"/>
              </a:ext>
            </a:extLst>
          </p:cNvPr>
          <p:cNvSpPr>
            <a:spLocks noGrp="1"/>
          </p:cNvSpPr>
          <p:nvPr>
            <p:ph type="sldNum" sz="quarter" idx="12"/>
          </p:nvPr>
        </p:nvSpPr>
        <p:spPr/>
        <p:txBody>
          <a:bodyPr/>
          <a:lstStyle/>
          <a:p>
            <a:fld id="{5956A083-5018-4B52-82A0-83241B8E3D94}" type="slidenum">
              <a:rPr lang="zh-CN" altLang="en-US" smtClean="0"/>
              <a:t>17</a:t>
            </a:fld>
            <a:endParaRPr lang="zh-CN" altLang="en-US"/>
          </a:p>
        </p:txBody>
      </p:sp>
    </p:spTree>
    <p:extLst>
      <p:ext uri="{BB962C8B-B14F-4D97-AF65-F5344CB8AC3E}">
        <p14:creationId xmlns:p14="http://schemas.microsoft.com/office/powerpoint/2010/main" val="92850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9">
            <a:extLst>
              <a:ext uri="{FF2B5EF4-FFF2-40B4-BE49-F238E27FC236}">
                <a16:creationId xmlns:a16="http://schemas.microsoft.com/office/drawing/2014/main" id="{8E111662-405C-2EF3-34B9-EF6908BEFF8F}"/>
              </a:ext>
            </a:extLst>
          </p:cNvPr>
          <p:cNvSpPr txBox="1">
            <a:spLocks noChangeArrowheads="1"/>
          </p:cNvSpPr>
          <p:nvPr/>
        </p:nvSpPr>
        <p:spPr bwMode="auto">
          <a:xfrm>
            <a:off x="1141037" y="2741127"/>
            <a:ext cx="6768683" cy="47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nSpc>
                <a:spcPct val="110000"/>
              </a:lnSpc>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网络层不为拥塞控制提供任何帮助和支持</a:t>
            </a:r>
          </a:p>
        </p:txBody>
      </p:sp>
      <p:grpSp>
        <p:nvGrpSpPr>
          <p:cNvPr id="5" name="组合 4">
            <a:extLst>
              <a:ext uri="{FF2B5EF4-FFF2-40B4-BE49-F238E27FC236}">
                <a16:creationId xmlns:a16="http://schemas.microsoft.com/office/drawing/2014/main" id="{2975B6B9-A22D-0A37-1EC4-F90DF6E17155}"/>
              </a:ext>
            </a:extLst>
          </p:cNvPr>
          <p:cNvGrpSpPr/>
          <p:nvPr/>
        </p:nvGrpSpPr>
        <p:grpSpPr>
          <a:xfrm>
            <a:off x="650601" y="1941361"/>
            <a:ext cx="7350863" cy="476221"/>
            <a:chOff x="1403750" y="3593123"/>
            <a:chExt cx="7350863" cy="476221"/>
          </a:xfrm>
        </p:grpSpPr>
        <p:grpSp>
          <p:nvGrpSpPr>
            <p:cNvPr id="6" name="组合 5">
              <a:extLst>
                <a:ext uri="{FF2B5EF4-FFF2-40B4-BE49-F238E27FC236}">
                  <a16:creationId xmlns:a16="http://schemas.microsoft.com/office/drawing/2014/main" id="{813FBD6A-D488-A24A-3D2E-5E8C522CAE86}"/>
                </a:ext>
              </a:extLst>
            </p:cNvPr>
            <p:cNvGrpSpPr/>
            <p:nvPr/>
          </p:nvGrpSpPr>
          <p:grpSpPr>
            <a:xfrm>
              <a:off x="1403750" y="3593123"/>
              <a:ext cx="490436" cy="476221"/>
              <a:chOff x="1403750" y="3593123"/>
              <a:chExt cx="808892" cy="785446"/>
            </a:xfrm>
          </p:grpSpPr>
          <p:sp>
            <p:nvSpPr>
              <p:cNvPr id="8" name="对话气泡: 椭圆形 7">
                <a:extLst>
                  <a:ext uri="{FF2B5EF4-FFF2-40B4-BE49-F238E27FC236}">
                    <a16:creationId xmlns:a16="http://schemas.microsoft.com/office/drawing/2014/main" id="{0EB2CED8-61C4-8A66-1373-FADA58B0931A}"/>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ound-web-cam_17861">
                <a:extLst>
                  <a:ext uri="{FF2B5EF4-FFF2-40B4-BE49-F238E27FC236}">
                    <a16:creationId xmlns:a16="http://schemas.microsoft.com/office/drawing/2014/main" id="{81DAC1DF-BA97-EBEB-1823-C673E02D896E}"/>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7" name="Text Box 79">
              <a:extLst>
                <a:ext uri="{FF2B5EF4-FFF2-40B4-BE49-F238E27FC236}">
                  <a16:creationId xmlns:a16="http://schemas.microsoft.com/office/drawing/2014/main" id="{CB9B97B0-45D8-A48E-479C-D01E6A6141C2}"/>
                </a:ext>
              </a:extLst>
            </p:cNvPr>
            <p:cNvSpPr txBox="1">
              <a:spLocks noChangeArrowheads="1"/>
            </p:cNvSpPr>
            <p:nvPr/>
          </p:nvSpPr>
          <p:spPr bwMode="auto">
            <a:xfrm>
              <a:off x="1985931" y="3593123"/>
              <a:ext cx="6768682" cy="47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端到端拥塞控制</a:t>
              </a:r>
            </a:p>
          </p:txBody>
        </p:sp>
      </p:grpSp>
      <p:sp>
        <p:nvSpPr>
          <p:cNvPr id="10" name="Text Box 79">
            <a:extLst>
              <a:ext uri="{FF2B5EF4-FFF2-40B4-BE49-F238E27FC236}">
                <a16:creationId xmlns:a16="http://schemas.microsoft.com/office/drawing/2014/main" id="{37023F26-1A1D-DFEA-F09C-7C108A19B1B0}"/>
              </a:ext>
            </a:extLst>
          </p:cNvPr>
          <p:cNvSpPr txBox="1">
            <a:spLocks noChangeArrowheads="1"/>
          </p:cNvSpPr>
          <p:nvPr/>
        </p:nvSpPr>
        <p:spPr bwMode="auto">
          <a:xfrm>
            <a:off x="1141037" y="3470555"/>
            <a:ext cx="10664048" cy="470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nSpc>
                <a:spcPct val="110000"/>
              </a:lnSpc>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端系统通过对网络行为（丢包或时延增加）的观测判断网络是否发生拥塞</a:t>
            </a:r>
          </a:p>
        </p:txBody>
      </p:sp>
      <p:grpSp>
        <p:nvGrpSpPr>
          <p:cNvPr id="16" name="组合 15">
            <a:extLst>
              <a:ext uri="{FF2B5EF4-FFF2-40B4-BE49-F238E27FC236}">
                <a16:creationId xmlns:a16="http://schemas.microsoft.com/office/drawing/2014/main" id="{8488DF84-5710-00CA-247C-D9458023E33F}"/>
              </a:ext>
            </a:extLst>
          </p:cNvPr>
          <p:cNvGrpSpPr/>
          <p:nvPr/>
        </p:nvGrpSpPr>
        <p:grpSpPr>
          <a:xfrm>
            <a:off x="0" y="-272687"/>
            <a:ext cx="7931649" cy="1428589"/>
            <a:chOff x="551030" y="-368704"/>
            <a:chExt cx="7931649" cy="1428589"/>
          </a:xfrm>
        </p:grpSpPr>
        <p:grpSp>
          <p:nvGrpSpPr>
            <p:cNvPr id="17" name="组合 16">
              <a:extLst>
                <a:ext uri="{FF2B5EF4-FFF2-40B4-BE49-F238E27FC236}">
                  <a16:creationId xmlns:a16="http://schemas.microsoft.com/office/drawing/2014/main" id="{CA16430F-4F13-DE9F-E8C9-1B10F0C197CD}"/>
                </a:ext>
              </a:extLst>
            </p:cNvPr>
            <p:cNvGrpSpPr/>
            <p:nvPr/>
          </p:nvGrpSpPr>
          <p:grpSpPr>
            <a:xfrm>
              <a:off x="1201631" y="303925"/>
              <a:ext cx="7281048" cy="687996"/>
              <a:chOff x="1839058" y="967769"/>
              <a:chExt cx="7281048" cy="687996"/>
            </a:xfrm>
          </p:grpSpPr>
          <p:sp>
            <p:nvSpPr>
              <p:cNvPr id="19" name="矩形: 圆角 18">
                <a:extLst>
                  <a:ext uri="{FF2B5EF4-FFF2-40B4-BE49-F238E27FC236}">
                    <a16:creationId xmlns:a16="http://schemas.microsoft.com/office/drawing/2014/main" id="{A1010AFF-6611-E79C-D2C1-26C6B628F1C0}"/>
                  </a:ext>
                </a:extLst>
              </p:cNvPr>
              <p:cNvSpPr/>
              <p:nvPr/>
            </p:nvSpPr>
            <p:spPr>
              <a:xfrm>
                <a:off x="1839058" y="967769"/>
                <a:ext cx="7281048"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20" name="文本框 19">
                <a:extLst>
                  <a:ext uri="{FF2B5EF4-FFF2-40B4-BE49-F238E27FC236}">
                    <a16:creationId xmlns:a16="http://schemas.microsoft.com/office/drawing/2014/main" id="{EC6D087C-5D2E-DF79-916B-AAB8875DCE9B}"/>
                  </a:ext>
                </a:extLst>
              </p:cNvPr>
              <p:cNvSpPr txBox="1"/>
              <p:nvPr/>
            </p:nvSpPr>
            <p:spPr>
              <a:xfrm>
                <a:off x="2795618" y="1009434"/>
                <a:ext cx="6129279"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端到端控制 </a:t>
                </a:r>
                <a:r>
                  <a:rPr lang="en-US" altLang="zh-CN"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vs </a:t>
                </a:r>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网络辅助控制</a:t>
                </a:r>
              </a:p>
            </p:txBody>
          </p:sp>
        </p:grpSp>
        <p:pic>
          <p:nvPicPr>
            <p:cNvPr id="18" name="图片 17">
              <a:extLst>
                <a:ext uri="{FF2B5EF4-FFF2-40B4-BE49-F238E27FC236}">
                  <a16:creationId xmlns:a16="http://schemas.microsoft.com/office/drawing/2014/main" id="{23DDD5BA-3952-7D8A-C2E7-AD07DC3D4A5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2" name="灯片编号占位符 1">
            <a:extLst>
              <a:ext uri="{FF2B5EF4-FFF2-40B4-BE49-F238E27FC236}">
                <a16:creationId xmlns:a16="http://schemas.microsoft.com/office/drawing/2014/main" id="{6FFF83C7-1C6B-483D-81D1-26103DDE89CA}"/>
              </a:ext>
            </a:extLst>
          </p:cNvPr>
          <p:cNvSpPr>
            <a:spLocks noGrp="1"/>
          </p:cNvSpPr>
          <p:nvPr>
            <p:ph type="sldNum" sz="quarter" idx="12"/>
          </p:nvPr>
        </p:nvSpPr>
        <p:spPr/>
        <p:txBody>
          <a:bodyPr/>
          <a:lstStyle/>
          <a:p>
            <a:fld id="{5956A083-5018-4B52-82A0-83241B8E3D94}" type="slidenum">
              <a:rPr lang="zh-CN" altLang="en-US" smtClean="0"/>
              <a:t>18</a:t>
            </a:fld>
            <a:endParaRPr lang="zh-CN" altLang="en-US"/>
          </a:p>
        </p:txBody>
      </p:sp>
    </p:spTree>
    <p:extLst>
      <p:ext uri="{BB962C8B-B14F-4D97-AF65-F5344CB8AC3E}">
        <p14:creationId xmlns:p14="http://schemas.microsoft.com/office/powerpoint/2010/main" val="1237861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wipe(left)">
                                      <p:cBhvr>
                                        <p:cTn id="11" dur="500"/>
                                        <p:tgtEl>
                                          <p:spTgt spid="4">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wipe(left)">
                                      <p:cBhvr>
                                        <p:cTn id="15"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0"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34221-6D78-3E50-9B10-45390F14B910}"/>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26EE46D4-7753-5CE8-4002-6447FDF96C38}"/>
              </a:ext>
            </a:extLst>
          </p:cNvPr>
          <p:cNvGrpSpPr/>
          <p:nvPr/>
        </p:nvGrpSpPr>
        <p:grpSpPr>
          <a:xfrm>
            <a:off x="0" y="-272687"/>
            <a:ext cx="7931649" cy="1428589"/>
            <a:chOff x="551030" y="-368704"/>
            <a:chExt cx="7931649" cy="1428589"/>
          </a:xfrm>
        </p:grpSpPr>
        <p:grpSp>
          <p:nvGrpSpPr>
            <p:cNvPr id="8" name="组合 7">
              <a:extLst>
                <a:ext uri="{FF2B5EF4-FFF2-40B4-BE49-F238E27FC236}">
                  <a16:creationId xmlns:a16="http://schemas.microsoft.com/office/drawing/2014/main" id="{CFE11042-70C8-9E9F-88A1-7A5FAF1DB3F8}"/>
                </a:ext>
              </a:extLst>
            </p:cNvPr>
            <p:cNvGrpSpPr/>
            <p:nvPr/>
          </p:nvGrpSpPr>
          <p:grpSpPr>
            <a:xfrm>
              <a:off x="1201631" y="303925"/>
              <a:ext cx="7281048" cy="687996"/>
              <a:chOff x="1839058" y="967769"/>
              <a:chExt cx="7281048" cy="687996"/>
            </a:xfrm>
          </p:grpSpPr>
          <p:sp>
            <p:nvSpPr>
              <p:cNvPr id="10" name="矩形: 圆角 9">
                <a:extLst>
                  <a:ext uri="{FF2B5EF4-FFF2-40B4-BE49-F238E27FC236}">
                    <a16:creationId xmlns:a16="http://schemas.microsoft.com/office/drawing/2014/main" id="{7B2BBE11-AD6F-AD74-B7BB-95A86E122EDA}"/>
                  </a:ext>
                </a:extLst>
              </p:cNvPr>
              <p:cNvSpPr/>
              <p:nvPr/>
            </p:nvSpPr>
            <p:spPr>
              <a:xfrm>
                <a:off x="1839058" y="967769"/>
                <a:ext cx="7281048"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11" name="文本框 10">
                <a:extLst>
                  <a:ext uri="{FF2B5EF4-FFF2-40B4-BE49-F238E27FC236}">
                    <a16:creationId xmlns:a16="http://schemas.microsoft.com/office/drawing/2014/main" id="{CBC5B29D-6689-8F6F-6DEC-CABAF51408C7}"/>
                  </a:ext>
                </a:extLst>
              </p:cNvPr>
              <p:cNvSpPr txBox="1"/>
              <p:nvPr/>
            </p:nvSpPr>
            <p:spPr>
              <a:xfrm>
                <a:off x="2795618" y="1009434"/>
                <a:ext cx="6129279"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端到端控制 </a:t>
                </a:r>
                <a:r>
                  <a:rPr lang="en-US" altLang="zh-CN"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vs </a:t>
                </a:r>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网络辅助控制</a:t>
                </a:r>
              </a:p>
            </p:txBody>
          </p:sp>
        </p:grpSp>
        <p:pic>
          <p:nvPicPr>
            <p:cNvPr id="9" name="图片 8">
              <a:extLst>
                <a:ext uri="{FF2B5EF4-FFF2-40B4-BE49-F238E27FC236}">
                  <a16:creationId xmlns:a16="http://schemas.microsoft.com/office/drawing/2014/main" id="{4B46A0DF-747F-403B-A06D-02B0615CF37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12" name="Text Box 79">
            <a:extLst>
              <a:ext uri="{FF2B5EF4-FFF2-40B4-BE49-F238E27FC236}">
                <a16:creationId xmlns:a16="http://schemas.microsoft.com/office/drawing/2014/main" id="{33F81E0E-5DD2-04F4-3CFF-C7032CD85F01}"/>
              </a:ext>
            </a:extLst>
          </p:cNvPr>
          <p:cNvSpPr txBox="1">
            <a:spLocks noChangeArrowheads="1"/>
          </p:cNvSpPr>
          <p:nvPr/>
        </p:nvSpPr>
        <p:spPr bwMode="auto">
          <a:xfrm>
            <a:off x="1180261" y="2560936"/>
            <a:ext cx="10143413" cy="470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nSpc>
                <a:spcPct val="110000"/>
              </a:lnSpc>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直接网络反馈：路由器以阻塞分组的形式通知发送方“网络拥塞了”</a:t>
            </a:r>
          </a:p>
        </p:txBody>
      </p:sp>
      <p:grpSp>
        <p:nvGrpSpPr>
          <p:cNvPr id="13" name="组合 12">
            <a:extLst>
              <a:ext uri="{FF2B5EF4-FFF2-40B4-BE49-F238E27FC236}">
                <a16:creationId xmlns:a16="http://schemas.microsoft.com/office/drawing/2014/main" id="{37094186-5C99-C051-06C3-87DFF71F04C0}"/>
              </a:ext>
            </a:extLst>
          </p:cNvPr>
          <p:cNvGrpSpPr/>
          <p:nvPr/>
        </p:nvGrpSpPr>
        <p:grpSpPr>
          <a:xfrm>
            <a:off x="689825" y="1831508"/>
            <a:ext cx="7350863" cy="476221"/>
            <a:chOff x="1403750" y="3593123"/>
            <a:chExt cx="7350863" cy="476221"/>
          </a:xfrm>
        </p:grpSpPr>
        <p:grpSp>
          <p:nvGrpSpPr>
            <p:cNvPr id="14" name="组合 13">
              <a:extLst>
                <a:ext uri="{FF2B5EF4-FFF2-40B4-BE49-F238E27FC236}">
                  <a16:creationId xmlns:a16="http://schemas.microsoft.com/office/drawing/2014/main" id="{85B03DA7-C8FE-CD6C-614E-D4DE0DCDBC50}"/>
                </a:ext>
              </a:extLst>
            </p:cNvPr>
            <p:cNvGrpSpPr/>
            <p:nvPr/>
          </p:nvGrpSpPr>
          <p:grpSpPr>
            <a:xfrm>
              <a:off x="1403750" y="3593123"/>
              <a:ext cx="490436" cy="476221"/>
              <a:chOff x="1403750" y="3593123"/>
              <a:chExt cx="808892" cy="785446"/>
            </a:xfrm>
          </p:grpSpPr>
          <p:sp>
            <p:nvSpPr>
              <p:cNvPr id="16" name="对话气泡: 椭圆形 15">
                <a:extLst>
                  <a:ext uri="{FF2B5EF4-FFF2-40B4-BE49-F238E27FC236}">
                    <a16:creationId xmlns:a16="http://schemas.microsoft.com/office/drawing/2014/main" id="{A284F772-D8CE-E6EF-6865-F4863DDF9E2E}"/>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ound-web-cam_17861">
                <a:extLst>
                  <a:ext uri="{FF2B5EF4-FFF2-40B4-BE49-F238E27FC236}">
                    <a16:creationId xmlns:a16="http://schemas.microsoft.com/office/drawing/2014/main" id="{02B16BFC-4C30-D8F5-E309-CE6355D75506}"/>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15" name="Text Box 79">
              <a:extLst>
                <a:ext uri="{FF2B5EF4-FFF2-40B4-BE49-F238E27FC236}">
                  <a16:creationId xmlns:a16="http://schemas.microsoft.com/office/drawing/2014/main" id="{738D14BA-8960-44FB-75AE-C1D28331D9F9}"/>
                </a:ext>
              </a:extLst>
            </p:cNvPr>
            <p:cNvSpPr txBox="1">
              <a:spLocks noChangeArrowheads="1"/>
            </p:cNvSpPr>
            <p:nvPr/>
          </p:nvSpPr>
          <p:spPr bwMode="auto">
            <a:xfrm>
              <a:off x="1985931" y="3593123"/>
              <a:ext cx="6768682" cy="47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网络辅助的拥塞控制</a:t>
              </a:r>
            </a:p>
          </p:txBody>
        </p:sp>
      </p:grpSp>
      <p:sp>
        <p:nvSpPr>
          <p:cNvPr id="18" name="Text Box 79">
            <a:extLst>
              <a:ext uri="{FF2B5EF4-FFF2-40B4-BE49-F238E27FC236}">
                <a16:creationId xmlns:a16="http://schemas.microsoft.com/office/drawing/2014/main" id="{2C28FBAC-7D38-6DDF-C2C1-B0D6B3DC877E}"/>
              </a:ext>
            </a:extLst>
          </p:cNvPr>
          <p:cNvSpPr txBox="1">
            <a:spLocks noChangeArrowheads="1"/>
          </p:cNvSpPr>
          <p:nvPr/>
        </p:nvSpPr>
        <p:spPr bwMode="auto">
          <a:xfrm>
            <a:off x="1180261" y="3388835"/>
            <a:ext cx="10144433" cy="87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nSpc>
                <a:spcPct val="110000"/>
              </a:lnSpc>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经由接收方的网络反馈：路由器标识从发送方流向接收方分组中的某个字段以指示拥塞的产生，由接收方通知发送方“网络拥塞了”</a:t>
            </a:r>
          </a:p>
        </p:txBody>
      </p:sp>
      <p:sp>
        <p:nvSpPr>
          <p:cNvPr id="2" name="灯片编号占位符 1">
            <a:extLst>
              <a:ext uri="{FF2B5EF4-FFF2-40B4-BE49-F238E27FC236}">
                <a16:creationId xmlns:a16="http://schemas.microsoft.com/office/drawing/2014/main" id="{981877B8-F83A-4E02-99F7-400EB76D366D}"/>
              </a:ext>
            </a:extLst>
          </p:cNvPr>
          <p:cNvSpPr>
            <a:spLocks noGrp="1"/>
          </p:cNvSpPr>
          <p:nvPr>
            <p:ph type="sldNum" sz="quarter" idx="12"/>
          </p:nvPr>
        </p:nvSpPr>
        <p:spPr/>
        <p:txBody>
          <a:bodyPr/>
          <a:lstStyle/>
          <a:p>
            <a:fld id="{5956A083-5018-4B52-82A0-83241B8E3D94}" type="slidenum">
              <a:rPr lang="zh-CN" altLang="en-US" smtClean="0"/>
              <a:t>19</a:t>
            </a:fld>
            <a:endParaRPr lang="zh-CN" altLang="en-US"/>
          </a:p>
        </p:txBody>
      </p:sp>
    </p:spTree>
    <p:extLst>
      <p:ext uri="{BB962C8B-B14F-4D97-AF65-F5344CB8AC3E}">
        <p14:creationId xmlns:p14="http://schemas.microsoft.com/office/powerpoint/2010/main" val="133812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animEffect transition="in" filter="wipe(left)">
                                      <p:cBhvr>
                                        <p:cTn id="15" dur="500"/>
                                        <p:tgtEl>
                                          <p:spTgt spid="12">
                                            <p:txEl>
                                              <p:pRg st="0" end="0"/>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Effect transition="in" filter="wipe(left)">
                                      <p:cBhvr>
                                        <p:cTn id="19"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P spid="18"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308DA-F537-E701-276A-E461A3A03ED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D169605-32CB-BAB8-8628-3A7E0F4B3506}"/>
              </a:ext>
            </a:extLst>
          </p:cNvPr>
          <p:cNvGrpSpPr/>
          <p:nvPr/>
        </p:nvGrpSpPr>
        <p:grpSpPr>
          <a:xfrm>
            <a:off x="0" y="-272687"/>
            <a:ext cx="7243834" cy="1428589"/>
            <a:chOff x="551030" y="-368704"/>
            <a:chExt cx="7243834" cy="1428589"/>
          </a:xfrm>
        </p:grpSpPr>
        <p:grpSp>
          <p:nvGrpSpPr>
            <p:cNvPr id="3" name="组合 2">
              <a:extLst>
                <a:ext uri="{FF2B5EF4-FFF2-40B4-BE49-F238E27FC236}">
                  <a16:creationId xmlns:a16="http://schemas.microsoft.com/office/drawing/2014/main" id="{47032C76-17C5-E7CC-AFF6-77E8554566BF}"/>
                </a:ext>
              </a:extLst>
            </p:cNvPr>
            <p:cNvGrpSpPr/>
            <p:nvPr/>
          </p:nvGrpSpPr>
          <p:grpSpPr>
            <a:xfrm>
              <a:off x="1201632" y="303925"/>
              <a:ext cx="6593232" cy="686825"/>
              <a:chOff x="1839059" y="967769"/>
              <a:chExt cx="6593232" cy="686825"/>
            </a:xfrm>
          </p:grpSpPr>
          <p:sp>
            <p:nvSpPr>
              <p:cNvPr id="5" name="矩形: 圆角 4">
                <a:extLst>
                  <a:ext uri="{FF2B5EF4-FFF2-40B4-BE49-F238E27FC236}">
                    <a16:creationId xmlns:a16="http://schemas.microsoft.com/office/drawing/2014/main" id="{A05AE084-95D6-20C3-C000-15EF481D073C}"/>
                  </a:ext>
                </a:extLst>
              </p:cNvPr>
              <p:cNvSpPr/>
              <p:nvPr/>
            </p:nvSpPr>
            <p:spPr>
              <a:xfrm>
                <a:off x="1839059" y="967769"/>
                <a:ext cx="6275482"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6" name="文本框 5">
                <a:extLst>
                  <a:ext uri="{FF2B5EF4-FFF2-40B4-BE49-F238E27FC236}">
                    <a16:creationId xmlns:a16="http://schemas.microsoft.com/office/drawing/2014/main" id="{347D6FDC-CA20-3B61-209C-C3D13C466BFD}"/>
                  </a:ext>
                </a:extLst>
              </p:cNvPr>
              <p:cNvSpPr txBox="1"/>
              <p:nvPr/>
            </p:nvSpPr>
            <p:spPr>
              <a:xfrm>
                <a:off x="2795619" y="1009434"/>
                <a:ext cx="5636672"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拥塞避免 </a:t>
                </a:r>
                <a:r>
                  <a:rPr lang="en-US" altLang="zh-CN"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vs </a:t>
                </a:r>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a:t>
                </a:r>
              </a:p>
            </p:txBody>
          </p:sp>
        </p:grpSp>
        <p:pic>
          <p:nvPicPr>
            <p:cNvPr id="4" name="图片 3">
              <a:extLst>
                <a:ext uri="{FF2B5EF4-FFF2-40B4-BE49-F238E27FC236}">
                  <a16:creationId xmlns:a16="http://schemas.microsoft.com/office/drawing/2014/main" id="{292C90D8-42A5-7567-F4A8-BCF1CEA7B62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9" name="文本框 8">
            <a:extLst>
              <a:ext uri="{FF2B5EF4-FFF2-40B4-BE49-F238E27FC236}">
                <a16:creationId xmlns:a16="http://schemas.microsoft.com/office/drawing/2014/main" id="{353E148B-BE14-D18D-BA2E-B1D441D01722}"/>
              </a:ext>
            </a:extLst>
          </p:cNvPr>
          <p:cNvSpPr txBox="1"/>
          <p:nvPr/>
        </p:nvSpPr>
        <p:spPr>
          <a:xfrm>
            <a:off x="952198" y="1285145"/>
            <a:ext cx="4736387" cy="461665"/>
          </a:xfrm>
          <a:prstGeom prst="rect">
            <a:avLst/>
          </a:prstGeom>
          <a:noFill/>
        </p:spPr>
        <p:txBody>
          <a:bodyPr wrap="square" rtlCol="0">
            <a:spAutoFit/>
          </a:bodyPr>
          <a:lstStyle/>
          <a:p>
            <a:r>
              <a:rPr kumimoji="1" lang="zh-CN" altLang="en-US" sz="2400" dirty="0">
                <a:latin typeface="Times New Roman" panose="02020803070505020304" pitchFamily="18" charset="0"/>
                <a:ea typeface="思源黑体 CN Normal" panose="020B0400000000000000" pitchFamily="34" charset="-122"/>
                <a:cs typeface="Times New Roman" panose="02020803070505020304" pitchFamily="18" charset="0"/>
              </a:rPr>
              <a:t>控制时机的不同选择</a:t>
            </a:r>
          </a:p>
        </p:txBody>
      </p:sp>
      <p:sp>
        <p:nvSpPr>
          <p:cNvPr id="10" name="对话气泡: 椭圆形 9">
            <a:extLst>
              <a:ext uri="{FF2B5EF4-FFF2-40B4-BE49-F238E27FC236}">
                <a16:creationId xmlns:a16="http://schemas.microsoft.com/office/drawing/2014/main" id="{A86967C2-4386-8E0E-D43B-E91FAEEC5A47}"/>
              </a:ext>
            </a:extLst>
          </p:cNvPr>
          <p:cNvSpPr/>
          <p:nvPr/>
        </p:nvSpPr>
        <p:spPr>
          <a:xfrm>
            <a:off x="362319" y="1263273"/>
            <a:ext cx="490436" cy="476221"/>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round-web-cam_17861">
            <a:extLst>
              <a:ext uri="{FF2B5EF4-FFF2-40B4-BE49-F238E27FC236}">
                <a16:creationId xmlns:a16="http://schemas.microsoft.com/office/drawing/2014/main" id="{50E4293F-1C48-3A57-1AD5-8995C2878930}"/>
              </a:ext>
            </a:extLst>
          </p:cNvPr>
          <p:cNvSpPr>
            <a:spLocks noChangeAspect="1"/>
          </p:cNvSpPr>
          <p:nvPr/>
        </p:nvSpPr>
        <p:spPr bwMode="auto">
          <a:xfrm>
            <a:off x="461762" y="1331319"/>
            <a:ext cx="291550" cy="340129"/>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aphicFrame>
        <p:nvGraphicFramePr>
          <p:cNvPr id="23" name="表格 22">
            <a:extLst>
              <a:ext uri="{FF2B5EF4-FFF2-40B4-BE49-F238E27FC236}">
                <a16:creationId xmlns:a16="http://schemas.microsoft.com/office/drawing/2014/main" id="{C8010E7F-38A0-004B-F1F1-CE97E67DCD6F}"/>
              </a:ext>
            </a:extLst>
          </p:cNvPr>
          <p:cNvGraphicFramePr>
            <a:graphicFrameLocks noGrp="1"/>
          </p:cNvGraphicFramePr>
          <p:nvPr>
            <p:extLst>
              <p:ext uri="{D42A27DB-BD31-4B8C-83A1-F6EECF244321}">
                <p14:modId xmlns:p14="http://schemas.microsoft.com/office/powerpoint/2010/main" val="613218804"/>
              </p:ext>
            </p:extLst>
          </p:nvPr>
        </p:nvGraphicFramePr>
        <p:xfrm>
          <a:off x="1497173" y="1828531"/>
          <a:ext cx="9197654" cy="3887783"/>
        </p:xfrm>
        <a:graphic>
          <a:graphicData uri="http://schemas.openxmlformats.org/drawingml/2006/table">
            <a:tbl>
              <a:tblPr firstRow="1" bandRow="1">
                <a:tableStyleId>{5C22544A-7EE6-4342-B048-85BDC9FD1C3A}</a:tableStyleId>
              </a:tblPr>
              <a:tblGrid>
                <a:gridCol w="1215205">
                  <a:extLst>
                    <a:ext uri="{9D8B030D-6E8A-4147-A177-3AD203B41FA5}">
                      <a16:colId xmlns:a16="http://schemas.microsoft.com/office/drawing/2014/main" val="1666455294"/>
                    </a:ext>
                  </a:extLst>
                </a:gridCol>
                <a:gridCol w="4202130">
                  <a:extLst>
                    <a:ext uri="{9D8B030D-6E8A-4147-A177-3AD203B41FA5}">
                      <a16:colId xmlns:a16="http://schemas.microsoft.com/office/drawing/2014/main" val="1872628749"/>
                    </a:ext>
                  </a:extLst>
                </a:gridCol>
                <a:gridCol w="3780319">
                  <a:extLst>
                    <a:ext uri="{9D8B030D-6E8A-4147-A177-3AD203B41FA5}">
                      <a16:colId xmlns:a16="http://schemas.microsoft.com/office/drawing/2014/main" val="2189500823"/>
                    </a:ext>
                  </a:extLst>
                </a:gridCol>
              </a:tblGrid>
              <a:tr h="729367">
                <a:tc>
                  <a:txBody>
                    <a:bodyPr/>
                    <a:lstStyle/>
                    <a:p>
                      <a:r>
                        <a:rPr kumimoji="1" lang="zh-CN" altLang="en-US" sz="2400" b="1" kern="1200" dirty="0">
                          <a:solidFill>
                            <a:schemeClr val="bg1"/>
                          </a:solidFill>
                          <a:latin typeface="Times New Roman" panose="02020803070505020304" pitchFamily="18" charset="0"/>
                          <a:ea typeface="思源黑体 CN Normal" panose="020B0400000000000000" pitchFamily="34" charset="-122"/>
                          <a:cs typeface="Times New Roman" panose="02020803070505020304" pitchFamily="18" charset="0"/>
                        </a:rPr>
                        <a:t>类型</a:t>
                      </a:r>
                    </a:p>
                  </a:txBody>
                  <a:tcPr marL="114300" marR="114300" marT="114300" marB="114300" anchor="ctr"/>
                </a:tc>
                <a:tc>
                  <a:txBody>
                    <a:bodyPr/>
                    <a:lstStyle/>
                    <a:p>
                      <a:r>
                        <a:rPr kumimoji="1" lang="zh-CN" altLang="en-US" sz="2400" b="1" kern="1200" dirty="0">
                          <a:solidFill>
                            <a:schemeClr val="bg1"/>
                          </a:solidFill>
                          <a:latin typeface="Times New Roman" panose="02020803070505020304" pitchFamily="18" charset="0"/>
                          <a:ea typeface="思源黑体 CN Normal" panose="020B0400000000000000" pitchFamily="34" charset="-122"/>
                          <a:cs typeface="Times New Roman" panose="02020803070505020304" pitchFamily="18" charset="0"/>
                        </a:rPr>
                        <a:t>拥塞避免</a:t>
                      </a:r>
                    </a:p>
                  </a:txBody>
                  <a:tcPr marL="114300" marR="114300" marT="114300" marB="114300" anchor="ctr"/>
                </a:tc>
                <a:tc>
                  <a:txBody>
                    <a:bodyPr/>
                    <a:lstStyle/>
                    <a:p>
                      <a:r>
                        <a:rPr kumimoji="1" lang="zh-CN" altLang="en-US" sz="2400" b="1" kern="1200" dirty="0">
                          <a:solidFill>
                            <a:schemeClr val="bg1"/>
                          </a:solidFill>
                          <a:latin typeface="Times New Roman" panose="02020803070505020304" pitchFamily="18" charset="0"/>
                          <a:ea typeface="思源黑体 CN Normal" panose="020B0400000000000000" pitchFamily="34" charset="-122"/>
                          <a:cs typeface="Times New Roman" panose="02020803070505020304" pitchFamily="18" charset="0"/>
                        </a:rPr>
                        <a:t>拥塞控制</a:t>
                      </a:r>
                    </a:p>
                  </a:txBody>
                  <a:tcPr marL="114300" marR="114300" marT="114300" marB="114300" anchor="ctr"/>
                </a:tc>
                <a:extLst>
                  <a:ext uri="{0D108BD9-81ED-4DB2-BD59-A6C34878D82A}">
                    <a16:rowId xmlns:a16="http://schemas.microsoft.com/office/drawing/2014/main" val="2206751359"/>
                  </a:ext>
                </a:extLst>
              </a:tr>
              <a:tr h="789604">
                <a:tc>
                  <a:txBody>
                    <a:bodyPr/>
                    <a:lstStyle/>
                    <a:p>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原理</a:t>
                      </a:r>
                    </a:p>
                  </a:txBody>
                  <a:tcPr marL="114300" marR="114300" marT="114300" marB="114300" anchor="ctr"/>
                </a:tc>
                <a:tc>
                  <a:txBody>
                    <a:bodyPr/>
                    <a:lstStyle/>
                    <a:p>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预感拥塞到来之前主动调整</a:t>
                      </a:r>
                    </a:p>
                  </a:txBody>
                  <a:tcPr marL="114300" marR="114300" marT="114300" marB="114300"/>
                </a:tc>
                <a:tc>
                  <a:txBody>
                    <a:bodyPr/>
                    <a:lstStyle/>
                    <a:p>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拥塞已发生后再减速</a:t>
                      </a:r>
                    </a:p>
                  </a:txBody>
                  <a:tcPr marL="114300" marR="114300" marT="114300" marB="114300"/>
                </a:tc>
                <a:extLst>
                  <a:ext uri="{0D108BD9-81ED-4DB2-BD59-A6C34878D82A}">
                    <a16:rowId xmlns:a16="http://schemas.microsoft.com/office/drawing/2014/main" val="193808994"/>
                  </a:ext>
                </a:extLst>
              </a:tr>
              <a:tr h="789604">
                <a:tc>
                  <a:txBody>
                    <a:bodyPr/>
                    <a:lstStyle/>
                    <a:p>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特点</a:t>
                      </a:r>
                    </a:p>
                  </a:txBody>
                  <a:tcPr marL="114300" marR="114300" marT="114300" marB="114300"/>
                </a:tc>
                <a:tc>
                  <a:txBody>
                    <a:bodyPr/>
                    <a:lstStyle/>
                    <a:p>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预防机制、稳定</a:t>
                      </a:r>
                    </a:p>
                  </a:txBody>
                  <a:tcPr marL="114300" marR="114300" marT="114300" marB="114300"/>
                </a:tc>
                <a:tc>
                  <a:txBody>
                    <a:bodyPr/>
                    <a:lstStyle/>
                    <a:p>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反应机制、恢复</a:t>
                      </a:r>
                    </a:p>
                  </a:txBody>
                  <a:tcPr marL="114300" marR="114300" marT="114300" marB="114300"/>
                </a:tc>
                <a:extLst>
                  <a:ext uri="{0D108BD9-81ED-4DB2-BD59-A6C34878D82A}">
                    <a16:rowId xmlns:a16="http://schemas.microsoft.com/office/drawing/2014/main" val="2079328131"/>
                  </a:ext>
                </a:extLst>
              </a:tr>
              <a:tr h="789604">
                <a:tc>
                  <a:txBody>
                    <a:bodyPr/>
                    <a:lstStyle/>
                    <a:p>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优点</a:t>
                      </a:r>
                    </a:p>
                  </a:txBody>
                  <a:tcPr marL="114300" marR="114300" marT="114300" marB="114300"/>
                </a:tc>
                <a:tc>
                  <a:txBody>
                    <a:bodyPr/>
                    <a:lstStyle/>
                    <a:p>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减少丢包，提高效率</a:t>
                      </a:r>
                    </a:p>
                  </a:txBody>
                  <a:tcPr marL="114300" marR="114300" marT="114300" marB="114300"/>
                </a:tc>
                <a:tc>
                  <a:txBody>
                    <a:bodyPr/>
                    <a:lstStyle/>
                    <a:p>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能处理突发情况</a:t>
                      </a:r>
                    </a:p>
                  </a:txBody>
                  <a:tcPr marL="114300" marR="114300" marT="114300" marB="114300"/>
                </a:tc>
                <a:extLst>
                  <a:ext uri="{0D108BD9-81ED-4DB2-BD59-A6C34878D82A}">
                    <a16:rowId xmlns:a16="http://schemas.microsoft.com/office/drawing/2014/main" val="3521890730"/>
                  </a:ext>
                </a:extLst>
              </a:tr>
              <a:tr h="789604">
                <a:tc>
                  <a:txBody>
                    <a:bodyPr/>
                    <a:lstStyle/>
                    <a:p>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实例</a:t>
                      </a:r>
                    </a:p>
                  </a:txBody>
                  <a:tcPr marL="114300" marR="114300" marT="114300" marB="114300"/>
                </a:tc>
                <a:tc>
                  <a:txBody>
                    <a:bodyPr/>
                    <a:lstStyle/>
                    <a:p>
                      <a:r>
                        <a:rPr kumimoji="1" lang="en-US" altLang="zh-CN"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TCP Vegas</a:t>
                      </a: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a:t>
                      </a:r>
                      <a:r>
                        <a:rPr kumimoji="1" lang="en-US" altLang="zh-CN"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RED</a:t>
                      </a:r>
                      <a:endPar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endParaRPr>
                    </a:p>
                  </a:txBody>
                  <a:tcPr marL="114300" marR="114300" marT="114300" marB="114300"/>
                </a:tc>
                <a:tc>
                  <a:txBody>
                    <a:bodyPr/>
                    <a:lstStyle/>
                    <a:p>
                      <a:r>
                        <a:rPr kumimoji="1" lang="en-US" altLang="zh-CN"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TCP Reno </a:t>
                      </a: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快速重传等</a:t>
                      </a:r>
                    </a:p>
                  </a:txBody>
                  <a:tcPr marL="114300" marR="114300" marT="114300" marB="114300"/>
                </a:tc>
                <a:extLst>
                  <a:ext uri="{0D108BD9-81ED-4DB2-BD59-A6C34878D82A}">
                    <a16:rowId xmlns:a16="http://schemas.microsoft.com/office/drawing/2014/main" val="185840442"/>
                  </a:ext>
                </a:extLst>
              </a:tr>
            </a:tbl>
          </a:graphicData>
        </a:graphic>
      </p:graphicFrame>
      <p:sp>
        <p:nvSpPr>
          <p:cNvPr id="7" name="灯片编号占位符 6">
            <a:extLst>
              <a:ext uri="{FF2B5EF4-FFF2-40B4-BE49-F238E27FC236}">
                <a16:creationId xmlns:a16="http://schemas.microsoft.com/office/drawing/2014/main" id="{DB7A97E6-C44B-488B-8922-A6701C4F9F73}"/>
              </a:ext>
            </a:extLst>
          </p:cNvPr>
          <p:cNvSpPr>
            <a:spLocks noGrp="1"/>
          </p:cNvSpPr>
          <p:nvPr>
            <p:ph type="sldNum" sz="quarter" idx="12"/>
          </p:nvPr>
        </p:nvSpPr>
        <p:spPr/>
        <p:txBody>
          <a:bodyPr/>
          <a:lstStyle/>
          <a:p>
            <a:fld id="{5956A083-5018-4B52-82A0-83241B8E3D94}" type="slidenum">
              <a:rPr lang="zh-CN" altLang="en-US" smtClean="0"/>
              <a:t>20</a:t>
            </a:fld>
            <a:endParaRPr lang="zh-CN" altLang="en-US"/>
          </a:p>
        </p:txBody>
      </p:sp>
    </p:spTree>
    <p:extLst>
      <p:ext uri="{BB962C8B-B14F-4D97-AF65-F5344CB8AC3E}">
        <p14:creationId xmlns:p14="http://schemas.microsoft.com/office/powerpoint/2010/main" val="882144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9B44A-B19B-1D74-C377-EEA10363752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23280E6-1412-C5AB-B157-743F72AA5007}"/>
              </a:ext>
            </a:extLst>
          </p:cNvPr>
          <p:cNvGrpSpPr/>
          <p:nvPr/>
        </p:nvGrpSpPr>
        <p:grpSpPr>
          <a:xfrm>
            <a:off x="0" y="-272687"/>
            <a:ext cx="7243834" cy="1428589"/>
            <a:chOff x="551030" y="-368704"/>
            <a:chExt cx="7243834" cy="1428589"/>
          </a:xfrm>
        </p:grpSpPr>
        <p:grpSp>
          <p:nvGrpSpPr>
            <p:cNvPr id="3" name="组合 2">
              <a:extLst>
                <a:ext uri="{FF2B5EF4-FFF2-40B4-BE49-F238E27FC236}">
                  <a16:creationId xmlns:a16="http://schemas.microsoft.com/office/drawing/2014/main" id="{F9B9977A-D169-5801-76F9-6FB82E7518B6}"/>
                </a:ext>
              </a:extLst>
            </p:cNvPr>
            <p:cNvGrpSpPr/>
            <p:nvPr/>
          </p:nvGrpSpPr>
          <p:grpSpPr>
            <a:xfrm>
              <a:off x="1201632" y="303925"/>
              <a:ext cx="6593232" cy="686825"/>
              <a:chOff x="1839059" y="967769"/>
              <a:chExt cx="6593232" cy="686825"/>
            </a:xfrm>
          </p:grpSpPr>
          <p:sp>
            <p:nvSpPr>
              <p:cNvPr id="5" name="矩形: 圆角 4">
                <a:extLst>
                  <a:ext uri="{FF2B5EF4-FFF2-40B4-BE49-F238E27FC236}">
                    <a16:creationId xmlns:a16="http://schemas.microsoft.com/office/drawing/2014/main" id="{5A5369BA-8B58-76E7-9F55-21FEE331A81F}"/>
                  </a:ext>
                </a:extLst>
              </p:cNvPr>
              <p:cNvSpPr/>
              <p:nvPr/>
            </p:nvSpPr>
            <p:spPr>
              <a:xfrm>
                <a:off x="1839059" y="967769"/>
                <a:ext cx="6275482"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6" name="文本框 5">
                <a:extLst>
                  <a:ext uri="{FF2B5EF4-FFF2-40B4-BE49-F238E27FC236}">
                    <a16:creationId xmlns:a16="http://schemas.microsoft.com/office/drawing/2014/main" id="{459034F4-9756-BDA6-3639-FF4D66F446FE}"/>
                  </a:ext>
                </a:extLst>
              </p:cNvPr>
              <p:cNvSpPr txBox="1"/>
              <p:nvPr/>
            </p:nvSpPr>
            <p:spPr>
              <a:xfrm>
                <a:off x="2795619" y="1009434"/>
                <a:ext cx="5636672"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拥塞控制方法对比一览表</a:t>
                </a:r>
              </a:p>
            </p:txBody>
          </p:sp>
        </p:grpSp>
        <p:pic>
          <p:nvPicPr>
            <p:cNvPr id="4" name="图片 3">
              <a:extLst>
                <a:ext uri="{FF2B5EF4-FFF2-40B4-BE49-F238E27FC236}">
                  <a16:creationId xmlns:a16="http://schemas.microsoft.com/office/drawing/2014/main" id="{27AF9756-D3EF-E908-6F5F-DDADF8F4EDA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aphicFrame>
        <p:nvGraphicFramePr>
          <p:cNvPr id="9" name="表格 8">
            <a:extLst>
              <a:ext uri="{FF2B5EF4-FFF2-40B4-BE49-F238E27FC236}">
                <a16:creationId xmlns:a16="http://schemas.microsoft.com/office/drawing/2014/main" id="{C82D5E4C-73AF-0F24-FC6C-0650B511EE7A}"/>
              </a:ext>
            </a:extLst>
          </p:cNvPr>
          <p:cNvGraphicFramePr>
            <a:graphicFrameLocks noGrp="1"/>
          </p:cNvGraphicFramePr>
          <p:nvPr>
            <p:extLst>
              <p:ext uri="{D42A27DB-BD31-4B8C-83A1-F6EECF244321}">
                <p14:modId xmlns:p14="http://schemas.microsoft.com/office/powerpoint/2010/main" val="2623774136"/>
              </p:ext>
            </p:extLst>
          </p:nvPr>
        </p:nvGraphicFramePr>
        <p:xfrm>
          <a:off x="605319" y="1407741"/>
          <a:ext cx="10981362" cy="4297680"/>
        </p:xfrm>
        <a:graphic>
          <a:graphicData uri="http://schemas.openxmlformats.org/drawingml/2006/table">
            <a:tbl>
              <a:tblPr/>
              <a:tblGrid>
                <a:gridCol w="1890445">
                  <a:extLst>
                    <a:ext uri="{9D8B030D-6E8A-4147-A177-3AD203B41FA5}">
                      <a16:colId xmlns:a16="http://schemas.microsoft.com/office/drawing/2014/main" val="2297116677"/>
                    </a:ext>
                  </a:extLst>
                </a:gridCol>
                <a:gridCol w="2003461">
                  <a:extLst>
                    <a:ext uri="{9D8B030D-6E8A-4147-A177-3AD203B41FA5}">
                      <a16:colId xmlns:a16="http://schemas.microsoft.com/office/drawing/2014/main" val="464441502"/>
                    </a:ext>
                  </a:extLst>
                </a:gridCol>
                <a:gridCol w="2686864">
                  <a:extLst>
                    <a:ext uri="{9D8B030D-6E8A-4147-A177-3AD203B41FA5}">
                      <a16:colId xmlns:a16="http://schemas.microsoft.com/office/drawing/2014/main" val="2088797230"/>
                    </a:ext>
                  </a:extLst>
                </a:gridCol>
                <a:gridCol w="2599618">
                  <a:extLst>
                    <a:ext uri="{9D8B030D-6E8A-4147-A177-3AD203B41FA5}">
                      <a16:colId xmlns:a16="http://schemas.microsoft.com/office/drawing/2014/main" val="4151485836"/>
                    </a:ext>
                  </a:extLst>
                </a:gridCol>
                <a:gridCol w="1800974">
                  <a:extLst>
                    <a:ext uri="{9D8B030D-6E8A-4147-A177-3AD203B41FA5}">
                      <a16:colId xmlns:a16="http://schemas.microsoft.com/office/drawing/2014/main" val="808986142"/>
                    </a:ext>
                  </a:extLst>
                </a:gridCol>
              </a:tblGrid>
              <a:tr h="0">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方法</a:t>
                      </a:r>
                    </a:p>
                  </a:txBody>
                  <a:tcPr anchor="ctr">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控制机制</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适用场景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优点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缺点</a:t>
                      </a:r>
                    </a:p>
                  </a:txBody>
                  <a:tcPr anchor="ctr">
                    <a:lnL w="12700" cap="flat" cmpd="sng" algn="ctr">
                      <a:no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867919364"/>
                  </a:ext>
                </a:extLst>
              </a:tr>
              <a:tr h="0">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开环控制</a:t>
                      </a:r>
                    </a:p>
                  </a:txBody>
                  <a:tcPr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资源预留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c>
                  <a:txBody>
                    <a:bodyPr/>
                    <a:lstStyle/>
                    <a:p>
                      <a:pPr algn="ctr"/>
                      <a:r>
                        <a:rPr kumimoji="1" lang="en-US" altLang="zh-CN"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ATM</a:t>
                      </a: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等电路型网络</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c>
                  <a:txBody>
                    <a:bodyPr/>
                    <a:lstStyle/>
                    <a:p>
                      <a:pPr algn="ctr"/>
                      <a:r>
                        <a:rPr kumimoji="1" lang="zh-CN" altLang="en-US" sz="2400" kern="120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简单、实时性好</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tc>
                  <a:txBody>
                    <a:bodyPr/>
                    <a:lstStyle/>
                    <a:p>
                      <a:pPr algn="ctr"/>
                      <a:r>
                        <a:rPr kumimoji="1" lang="zh-CN" altLang="en-US" sz="2400" kern="120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缺乏灵活性</a:t>
                      </a:r>
                    </a:p>
                  </a:txBody>
                  <a:tcPr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676715308"/>
                  </a:ext>
                </a:extLst>
              </a:tr>
              <a:tr h="0">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闭环控制</a:t>
                      </a: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动态反馈</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互联网环境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自适应强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实现复杂</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25196088"/>
                  </a:ext>
                </a:extLst>
              </a:tr>
              <a:tr h="0">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端到端控制</a:t>
                      </a:r>
                    </a:p>
                  </a:txBody>
                  <a:tcPr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应用层控制</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40000"/>
                        <a:lumOff val="60000"/>
                      </a:schemeClr>
                    </a:solidFill>
                  </a:tcPr>
                </a:tc>
                <a:tc>
                  <a:txBody>
                    <a:bodyPr/>
                    <a:lstStyle/>
                    <a:p>
                      <a:pPr algn="ctr"/>
                      <a:r>
                        <a:rPr kumimoji="1" 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TCP/IP</a:t>
                      </a: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协议族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不依赖网络设备</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40000"/>
                        <a:lumOff val="60000"/>
                      </a:schemeClr>
                    </a:solidFill>
                  </a:tcPr>
                </a:tc>
                <a:tc>
                  <a:txBody>
                    <a:bodyPr/>
                    <a:lstStyle/>
                    <a:p>
                      <a:pPr algn="ctr"/>
                      <a:r>
                        <a:rPr kumimoji="1" lang="zh-CN" altLang="en-US" sz="2400" kern="120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反应不及时</a:t>
                      </a:r>
                    </a:p>
                  </a:txBody>
                  <a:tcPr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144620973"/>
                  </a:ext>
                </a:extLst>
              </a:tr>
              <a:tr h="0">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网络辅助</a:t>
                      </a: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网络层辅助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高速网络</a:t>
                      </a:r>
                      <a:r>
                        <a:rPr kumimoji="1" lang="en-US" altLang="zh-CN"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a:t>
                      </a: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数据中心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精准控制</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需设备支持</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4264626481"/>
                  </a:ext>
                </a:extLst>
              </a:tr>
              <a:tr h="0">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拥塞避免</a:t>
                      </a:r>
                    </a:p>
                  </a:txBody>
                  <a:tcPr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6">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预测控制</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6">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低延迟需求场景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6">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降低丢包概率</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6">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预测可能失误</a:t>
                      </a:r>
                    </a:p>
                  </a:txBody>
                  <a:tcPr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417123271"/>
                  </a:ext>
                </a:extLst>
              </a:tr>
              <a:tr h="0">
                <a:tc>
                  <a:txBody>
                    <a:bodyPr/>
                    <a:lstStyle/>
                    <a:p>
                      <a:pPr algn="ctr"/>
                      <a:r>
                        <a:rPr kumimoji="1" lang="zh-CN" altLang="en-US" sz="2400" kern="120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拥塞控制</a:t>
                      </a: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kumimoji="1" lang="zh-CN" altLang="en-US" sz="2400" kern="120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反馈控制</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面对突发流量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可自动恢复</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kumimoji="1" lang="zh-CN" altLang="en-US" sz="2400" kern="1200" dirty="0">
                          <a:solidFill>
                            <a:schemeClr val="tx1"/>
                          </a:solidFill>
                          <a:latin typeface="Times New Roman" panose="02020803070505020304" pitchFamily="18" charset="0"/>
                          <a:ea typeface="思源黑体 CN Normal" panose="020B0400000000000000" pitchFamily="34" charset="-122"/>
                          <a:cs typeface="Times New Roman" panose="02020803070505020304" pitchFamily="18" charset="0"/>
                        </a:rPr>
                        <a:t>丢包后才反应</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443727024"/>
                  </a:ext>
                </a:extLst>
              </a:tr>
            </a:tbl>
          </a:graphicData>
        </a:graphic>
      </p:graphicFrame>
      <p:sp>
        <p:nvSpPr>
          <p:cNvPr id="7" name="灯片编号占位符 6">
            <a:extLst>
              <a:ext uri="{FF2B5EF4-FFF2-40B4-BE49-F238E27FC236}">
                <a16:creationId xmlns:a16="http://schemas.microsoft.com/office/drawing/2014/main" id="{84194B69-1198-4E8D-A78C-CB4C7835492B}"/>
              </a:ext>
            </a:extLst>
          </p:cNvPr>
          <p:cNvSpPr>
            <a:spLocks noGrp="1"/>
          </p:cNvSpPr>
          <p:nvPr>
            <p:ph type="sldNum" sz="quarter" idx="12"/>
          </p:nvPr>
        </p:nvSpPr>
        <p:spPr/>
        <p:txBody>
          <a:bodyPr/>
          <a:lstStyle/>
          <a:p>
            <a:fld id="{5956A083-5018-4B52-82A0-83241B8E3D94}" type="slidenum">
              <a:rPr lang="zh-CN" altLang="en-US" smtClean="0"/>
              <a:t>21</a:t>
            </a:fld>
            <a:endParaRPr lang="zh-CN" altLang="en-US"/>
          </a:p>
        </p:txBody>
      </p:sp>
    </p:spTree>
    <p:extLst>
      <p:ext uri="{BB962C8B-B14F-4D97-AF65-F5344CB8AC3E}">
        <p14:creationId xmlns:p14="http://schemas.microsoft.com/office/powerpoint/2010/main" val="1082534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4A328-34DB-421F-B96B-4FD37DF2F762}"/>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F27B9A5-7446-7BA5-832D-F1BCF8F5D598}"/>
              </a:ext>
            </a:extLst>
          </p:cNvPr>
          <p:cNvGrpSpPr/>
          <p:nvPr/>
        </p:nvGrpSpPr>
        <p:grpSpPr>
          <a:xfrm>
            <a:off x="1887697" y="2398988"/>
            <a:ext cx="10304303" cy="2267383"/>
            <a:chOff x="429644" y="2519622"/>
            <a:chExt cx="10304303" cy="2267383"/>
          </a:xfrm>
        </p:grpSpPr>
        <p:grpSp>
          <p:nvGrpSpPr>
            <p:cNvPr id="3" name="组合 2">
              <a:extLst>
                <a:ext uri="{FF2B5EF4-FFF2-40B4-BE49-F238E27FC236}">
                  <a16:creationId xmlns:a16="http://schemas.microsoft.com/office/drawing/2014/main" id="{A9CB444B-AC85-DB3C-EC6A-6F8A84732AE3}"/>
                </a:ext>
              </a:extLst>
            </p:cNvPr>
            <p:cNvGrpSpPr/>
            <p:nvPr/>
          </p:nvGrpSpPr>
          <p:grpSpPr>
            <a:xfrm>
              <a:off x="429644" y="2519622"/>
              <a:ext cx="10304303" cy="1694679"/>
              <a:chOff x="322235" y="1889716"/>
              <a:chExt cx="7728236" cy="1271009"/>
            </a:xfrm>
          </p:grpSpPr>
          <p:sp>
            <p:nvSpPr>
              <p:cNvPr id="5" name="矩形 4">
                <a:extLst>
                  <a:ext uri="{FF2B5EF4-FFF2-40B4-BE49-F238E27FC236}">
                    <a16:creationId xmlns:a16="http://schemas.microsoft.com/office/drawing/2014/main" id="{E144C08D-A8FC-9049-0A05-CB06B568EC03}"/>
                  </a:ext>
                </a:extLst>
              </p:cNvPr>
              <p:cNvSpPr/>
              <p:nvPr/>
            </p:nvSpPr>
            <p:spPr>
              <a:xfrm>
                <a:off x="322235" y="1889716"/>
                <a:ext cx="7728236" cy="848742"/>
              </a:xfrm>
              <a:prstGeom prst="rect">
                <a:avLst/>
              </a:prstGeom>
            </p:spPr>
            <p:txBody>
              <a:bodyPr wrap="square">
                <a:spAutoFit/>
              </a:bodyPr>
              <a:lstStyle/>
              <a:p>
                <a:pPr algn="ctr">
                  <a:lnSpc>
                    <a:spcPct val="110000"/>
                  </a:lnSpc>
                </a:pPr>
                <a:r>
                  <a:rPr lang="zh-CN" altLang="en-US" sz="6600" dirty="0">
                    <a:solidFill>
                      <a:schemeClr val="tx1">
                        <a:lumMod val="85000"/>
                        <a:lumOff val="15000"/>
                      </a:schemeClr>
                    </a:solidFill>
                    <a:latin typeface="造字工房朗倩（非商用）常规体" pitchFamily="50" charset="-122"/>
                    <a:ea typeface="造字工房朗倩（非商用）常规体" pitchFamily="50" charset="-122"/>
                  </a:rPr>
                  <a:t>路由器上的分组排队规则</a:t>
                </a:r>
              </a:p>
            </p:txBody>
          </p:sp>
          <p:sp>
            <p:nvSpPr>
              <p:cNvPr id="6" name="矩形 5">
                <a:extLst>
                  <a:ext uri="{FF2B5EF4-FFF2-40B4-BE49-F238E27FC236}">
                    <a16:creationId xmlns:a16="http://schemas.microsoft.com/office/drawing/2014/main" id="{79802B80-0F98-9DAC-7295-44CDD9D56FAB}"/>
                  </a:ext>
                </a:extLst>
              </p:cNvPr>
              <p:cNvSpPr/>
              <p:nvPr/>
            </p:nvSpPr>
            <p:spPr>
              <a:xfrm>
                <a:off x="805390" y="2620757"/>
                <a:ext cx="5623180" cy="438581"/>
              </a:xfrm>
              <a:prstGeom prst="rect">
                <a:avLst/>
              </a:prstGeom>
            </p:spPr>
            <p:txBody>
              <a:bodyPr wrap="none">
                <a:spAutoFit/>
              </a:bodyPr>
              <a:lstStyle/>
              <a:p>
                <a:r>
                  <a:rPr lang="en-US" altLang="zh-CN" sz="4800" spc="300" baseline="-25000" dirty="0">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rPr>
                  <a:t>he packet queuing rules on the router</a:t>
                </a:r>
                <a:endParaRPr lang="zh-CN" altLang="en-US" sz="4800" spc="300" baseline="-25000" dirty="0">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E14EF6A2-E4F7-EE0D-EC56-7106C7922BF9}"/>
                  </a:ext>
                </a:extLst>
              </p:cNvPr>
              <p:cNvSpPr/>
              <p:nvPr/>
            </p:nvSpPr>
            <p:spPr>
              <a:xfrm>
                <a:off x="423160" y="2251425"/>
                <a:ext cx="514805" cy="807913"/>
              </a:xfrm>
              <a:prstGeom prst="rect">
                <a:avLst/>
              </a:prstGeom>
            </p:spPr>
            <p:txBody>
              <a:bodyPr wrap="none">
                <a:spAutoFit/>
              </a:bodyPr>
              <a:lstStyle/>
              <a:p>
                <a:r>
                  <a:rPr lang="en-US" altLang="zh-CN" sz="9600" baseline="-25000" dirty="0">
                    <a:solidFill>
                      <a:srgbClr val="2E95D1"/>
                    </a:solidFill>
                    <a:latin typeface="Times New Roman" panose="02020603050405020304" pitchFamily="18" charset="0"/>
                    <a:cs typeface="Times New Roman" panose="02020603050405020304" pitchFamily="18" charset="0"/>
                  </a:rPr>
                  <a:t>T</a:t>
                </a:r>
                <a:endParaRPr lang="zh-CN" altLang="en-US" sz="9600" baseline="-25000" dirty="0">
                  <a:solidFill>
                    <a:srgbClr val="2E95D1"/>
                  </a:solidFill>
                  <a:latin typeface="Times New Roman" panose="02020603050405020304" pitchFamily="18" charset="0"/>
                  <a:cs typeface="Times New Roman" panose="02020603050405020304" pitchFamily="18" charset="0"/>
                </a:endParaRPr>
              </a:p>
            </p:txBody>
          </p:sp>
          <p:cxnSp>
            <p:nvCxnSpPr>
              <p:cNvPr id="8" name="直接连接符 7">
                <a:extLst>
                  <a:ext uri="{FF2B5EF4-FFF2-40B4-BE49-F238E27FC236}">
                    <a16:creationId xmlns:a16="http://schemas.microsoft.com/office/drawing/2014/main" id="{0E187994-147B-8639-C35F-E8C5A7FBAB24}"/>
                  </a:ext>
                </a:extLst>
              </p:cNvPr>
              <p:cNvCxnSpPr>
                <a:cxnSpLocks/>
              </p:cNvCxnSpPr>
              <p:nvPr/>
            </p:nvCxnSpPr>
            <p:spPr>
              <a:xfrm>
                <a:off x="376034" y="3160725"/>
                <a:ext cx="6749994" cy="0"/>
              </a:xfrm>
              <a:prstGeom prst="line">
                <a:avLst/>
              </a:prstGeom>
              <a:ln w="9525">
                <a:solidFill>
                  <a:srgbClr val="2E3047"/>
                </a:solidFill>
              </a:ln>
              <a:effectLst/>
            </p:spPr>
            <p:style>
              <a:lnRef idx="1">
                <a:schemeClr val="accent1"/>
              </a:lnRef>
              <a:fillRef idx="0">
                <a:schemeClr val="accent1"/>
              </a:fillRef>
              <a:effectRef idx="0">
                <a:schemeClr val="accent1"/>
              </a:effectRef>
              <a:fontRef idx="minor">
                <a:schemeClr val="tx1"/>
              </a:fontRef>
            </p:style>
          </p:cxnSp>
        </p:grpSp>
        <p:sp>
          <p:nvSpPr>
            <p:cNvPr id="4" name="矩形 3">
              <a:extLst>
                <a:ext uri="{FF2B5EF4-FFF2-40B4-BE49-F238E27FC236}">
                  <a16:creationId xmlns:a16="http://schemas.microsoft.com/office/drawing/2014/main" id="{61A14ECB-1942-9E29-518C-D55DBC2AF065}"/>
                </a:ext>
              </a:extLst>
            </p:cNvPr>
            <p:cNvSpPr/>
            <p:nvPr/>
          </p:nvSpPr>
          <p:spPr>
            <a:xfrm>
              <a:off x="8408317" y="4079119"/>
              <a:ext cx="1239442" cy="707886"/>
            </a:xfrm>
            <a:prstGeom prst="rect">
              <a:avLst/>
            </a:prstGeom>
            <a:effectLst/>
          </p:spPr>
          <p:txBody>
            <a:bodyPr wrap="none">
              <a:spAutoFit/>
            </a:bodyPr>
            <a:lstStyle/>
            <a:p>
              <a:pPr algn="ctr"/>
              <a:r>
                <a:rPr kumimoji="1" lang="en-US" altLang="zh-CN" sz="4000" b="1" dirty="0">
                  <a:solidFill>
                    <a:srgbClr val="2E95D1"/>
                  </a:solidFill>
                  <a:latin typeface="造字工房朗倩（非商用）细体" pitchFamily="50" charset="-122"/>
                  <a:ea typeface="造字工房朗倩（非商用）细体" pitchFamily="50" charset="-122"/>
                </a:rPr>
                <a:t>……</a:t>
              </a:r>
            </a:p>
          </p:txBody>
        </p:sp>
      </p:grpSp>
      <p:grpSp>
        <p:nvGrpSpPr>
          <p:cNvPr id="9" name="组合 8">
            <a:extLst>
              <a:ext uri="{FF2B5EF4-FFF2-40B4-BE49-F238E27FC236}">
                <a16:creationId xmlns:a16="http://schemas.microsoft.com/office/drawing/2014/main" id="{E0FFFA4F-63CF-B1A8-93EE-6BD952A14AB8}"/>
              </a:ext>
            </a:extLst>
          </p:cNvPr>
          <p:cNvGrpSpPr/>
          <p:nvPr/>
        </p:nvGrpSpPr>
        <p:grpSpPr>
          <a:xfrm>
            <a:off x="824456" y="1780458"/>
            <a:ext cx="1479553" cy="1353390"/>
            <a:chOff x="787397" y="1578243"/>
            <a:chExt cx="1679793" cy="1536555"/>
          </a:xfrm>
        </p:grpSpPr>
        <p:sp>
          <p:nvSpPr>
            <p:cNvPr id="10" name="Oval 6">
              <a:extLst>
                <a:ext uri="{FF2B5EF4-FFF2-40B4-BE49-F238E27FC236}">
                  <a16:creationId xmlns:a16="http://schemas.microsoft.com/office/drawing/2014/main" id="{3DEE5D29-5A39-5061-A4BD-7BFC6B5784E4}"/>
                </a:ext>
              </a:extLst>
            </p:cNvPr>
            <p:cNvSpPr/>
            <p:nvPr/>
          </p:nvSpPr>
          <p:spPr>
            <a:xfrm>
              <a:off x="934434" y="1608992"/>
              <a:ext cx="1532756" cy="1505806"/>
            </a:xfrm>
            <a:prstGeom prst="ellipse">
              <a:avLst/>
            </a:prstGeom>
            <a:solidFill>
              <a:schemeClr val="bg1"/>
            </a:solidFill>
            <a:ln>
              <a:gradFill>
                <a:gsLst>
                  <a:gs pos="0">
                    <a:srgbClr val="2E95D1"/>
                  </a:gs>
                  <a:gs pos="100000">
                    <a:srgbClr val="1F25A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Narkisim" panose="020E0502050101010101" pitchFamily="34" charset="-79"/>
              </a:endParaRPr>
            </a:p>
          </p:txBody>
        </p:sp>
        <p:pic>
          <p:nvPicPr>
            <p:cNvPr id="11" name="图片 10">
              <a:extLst>
                <a:ext uri="{FF2B5EF4-FFF2-40B4-BE49-F238E27FC236}">
                  <a16:creationId xmlns:a16="http://schemas.microsoft.com/office/drawing/2014/main" id="{0FBE58C4-BFA0-C2ED-575D-1156C6903465}"/>
                </a:ext>
              </a:extLst>
            </p:cNvPr>
            <p:cNvPicPr>
              <a:picLocks noChangeAspect="1"/>
            </p:cNvPicPr>
            <p:nvPr/>
          </p:nvPicPr>
          <p:blipFill rotWithShape="1">
            <a:blip r:embed="rId2"/>
            <a:srcRect r="16607"/>
            <a:stretch>
              <a:fillRect/>
            </a:stretch>
          </p:blipFill>
          <p:spPr>
            <a:xfrm>
              <a:off x="787397" y="1578243"/>
              <a:ext cx="1602532" cy="1404482"/>
            </a:xfrm>
            <a:prstGeom prst="rect">
              <a:avLst/>
            </a:prstGeom>
            <a:effectLst/>
          </p:spPr>
        </p:pic>
      </p:grpSp>
      <p:sp>
        <p:nvSpPr>
          <p:cNvPr id="12" name="灯片编号占位符 11">
            <a:extLst>
              <a:ext uri="{FF2B5EF4-FFF2-40B4-BE49-F238E27FC236}">
                <a16:creationId xmlns:a16="http://schemas.microsoft.com/office/drawing/2014/main" id="{69FC500E-081E-46EF-A804-09C74D902AE6}"/>
              </a:ext>
            </a:extLst>
          </p:cNvPr>
          <p:cNvSpPr>
            <a:spLocks noGrp="1"/>
          </p:cNvSpPr>
          <p:nvPr>
            <p:ph type="sldNum" sz="quarter" idx="12"/>
          </p:nvPr>
        </p:nvSpPr>
        <p:spPr/>
        <p:txBody>
          <a:bodyPr/>
          <a:lstStyle/>
          <a:p>
            <a:fld id="{5956A083-5018-4B52-82A0-83241B8E3D94}" type="slidenum">
              <a:rPr lang="zh-CN" altLang="en-US" smtClean="0"/>
              <a:t>22</a:t>
            </a:fld>
            <a:endParaRPr lang="zh-CN" altLang="en-US"/>
          </a:p>
        </p:txBody>
      </p:sp>
    </p:spTree>
    <p:extLst>
      <p:ext uri="{BB962C8B-B14F-4D97-AF65-F5344CB8AC3E}">
        <p14:creationId xmlns:p14="http://schemas.microsoft.com/office/powerpoint/2010/main" val="1315924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F05E4-238A-356A-A218-F6F4CFD57DC6}"/>
            </a:ext>
          </a:extLst>
        </p:cNvPr>
        <p:cNvGrpSpPr/>
        <p:nvPr/>
      </p:nvGrpSpPr>
      <p:grpSpPr>
        <a:xfrm>
          <a:off x="0" y="0"/>
          <a:ext cx="0" cy="0"/>
          <a:chOff x="0" y="0"/>
          <a:chExt cx="0" cy="0"/>
        </a:xfrm>
      </p:grpSpPr>
      <p:grpSp>
        <p:nvGrpSpPr>
          <p:cNvPr id="63" name="组合 62">
            <a:extLst>
              <a:ext uri="{FF2B5EF4-FFF2-40B4-BE49-F238E27FC236}">
                <a16:creationId xmlns:a16="http://schemas.microsoft.com/office/drawing/2014/main" id="{948B2BB4-FD32-A70E-1A82-C738959CC84A}"/>
              </a:ext>
            </a:extLst>
          </p:cNvPr>
          <p:cNvGrpSpPr/>
          <p:nvPr/>
        </p:nvGrpSpPr>
        <p:grpSpPr>
          <a:xfrm>
            <a:off x="0" y="-272687"/>
            <a:ext cx="4746662" cy="1428589"/>
            <a:chOff x="551030" y="-368704"/>
            <a:chExt cx="4746662" cy="1428589"/>
          </a:xfrm>
        </p:grpSpPr>
        <p:grpSp>
          <p:nvGrpSpPr>
            <p:cNvPr id="64" name="组合 63">
              <a:extLst>
                <a:ext uri="{FF2B5EF4-FFF2-40B4-BE49-F238E27FC236}">
                  <a16:creationId xmlns:a16="http://schemas.microsoft.com/office/drawing/2014/main" id="{8CECCCB1-B710-E942-14F8-662F0EF753F2}"/>
                </a:ext>
              </a:extLst>
            </p:cNvPr>
            <p:cNvGrpSpPr/>
            <p:nvPr/>
          </p:nvGrpSpPr>
          <p:grpSpPr>
            <a:xfrm>
              <a:off x="1201632" y="303925"/>
              <a:ext cx="4096060" cy="686825"/>
              <a:chOff x="1839059" y="967769"/>
              <a:chExt cx="4096060" cy="686825"/>
            </a:xfrm>
          </p:grpSpPr>
          <p:sp>
            <p:nvSpPr>
              <p:cNvPr id="66" name="矩形: 圆角 65">
                <a:extLst>
                  <a:ext uri="{FF2B5EF4-FFF2-40B4-BE49-F238E27FC236}">
                    <a16:creationId xmlns:a16="http://schemas.microsoft.com/office/drawing/2014/main" id="{7AF22D96-6F09-FFB6-1BB2-AA8EEEB8025B}"/>
                  </a:ext>
                </a:extLst>
              </p:cNvPr>
              <p:cNvSpPr/>
              <p:nvPr/>
            </p:nvSpPr>
            <p:spPr>
              <a:xfrm>
                <a:off x="1839059" y="967769"/>
                <a:ext cx="2898141"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67" name="文本框 66">
                <a:extLst>
                  <a:ext uri="{FF2B5EF4-FFF2-40B4-BE49-F238E27FC236}">
                    <a16:creationId xmlns:a16="http://schemas.microsoft.com/office/drawing/2014/main" id="{F4A48661-8B43-519C-1875-99A198209F98}"/>
                  </a:ext>
                </a:extLst>
              </p:cNvPr>
              <p:cNvSpPr txBox="1"/>
              <p:nvPr/>
            </p:nvSpPr>
            <p:spPr>
              <a:xfrm>
                <a:off x="2795619" y="1009434"/>
                <a:ext cx="3139500" cy="645160"/>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路由器</a:t>
                </a:r>
              </a:p>
            </p:txBody>
          </p:sp>
        </p:grpSp>
        <p:pic>
          <p:nvPicPr>
            <p:cNvPr id="65" name="图片 64">
              <a:extLst>
                <a:ext uri="{FF2B5EF4-FFF2-40B4-BE49-F238E27FC236}">
                  <a16:creationId xmlns:a16="http://schemas.microsoft.com/office/drawing/2014/main" id="{B68EB015-A211-CC01-9DBE-5BD9444BCFC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68" name="Rectangle 8">
            <a:extLst>
              <a:ext uri="{FF2B5EF4-FFF2-40B4-BE49-F238E27FC236}">
                <a16:creationId xmlns:a16="http://schemas.microsoft.com/office/drawing/2014/main" id="{4E29A711-BD71-BDE8-A8F6-0D57ADE44C8B}"/>
              </a:ext>
            </a:extLst>
          </p:cNvPr>
          <p:cNvSpPr>
            <a:spLocks noChangeArrowheads="1"/>
          </p:cNvSpPr>
          <p:nvPr/>
        </p:nvSpPr>
        <p:spPr bwMode="auto">
          <a:xfrm>
            <a:off x="458057" y="1501960"/>
            <a:ext cx="11461800" cy="3247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ct val="150000"/>
              </a:lnSpc>
              <a:buClr>
                <a:srgbClr val="0070C0"/>
              </a:buClr>
              <a:buFont typeface="Wingdings" pitchFamily="2" charset="2"/>
              <a:buChar char="l"/>
            </a:pPr>
            <a:r>
              <a:rPr lang="zh-CN" altLang="en-US" sz="2800" dirty="0">
                <a:latin typeface="微软雅黑" pitchFamily="34" charset="-122"/>
                <a:ea typeface="微软雅黑" pitchFamily="34" charset="-122"/>
              </a:rPr>
              <a:t>路由器工作在网络层，用于互连网络。</a:t>
            </a:r>
            <a:endParaRPr lang="en-US" altLang="zh-CN" sz="2800" dirty="0">
              <a:latin typeface="微软雅黑" pitchFamily="34" charset="-122"/>
              <a:ea typeface="微软雅黑" pitchFamily="34" charset="-122"/>
            </a:endParaRPr>
          </a:p>
          <a:p>
            <a:pPr marL="285750" indent="-285750">
              <a:lnSpc>
                <a:spcPct val="150000"/>
              </a:lnSpc>
              <a:buClr>
                <a:srgbClr val="0070C0"/>
              </a:buClr>
              <a:buFont typeface="Wingdings" pitchFamily="2" charset="2"/>
              <a:buChar char="l"/>
            </a:pPr>
            <a:r>
              <a:rPr lang="zh-CN" altLang="en-US" sz="2800" dirty="0">
                <a:latin typeface="微软雅黑" pitchFamily="34" charset="-122"/>
                <a:ea typeface="微软雅黑" pitchFamily="34" charset="-122"/>
              </a:rPr>
              <a:t>是互联网中的关键设备。</a:t>
            </a:r>
            <a:endParaRPr lang="en-US" altLang="zh-CN" sz="2800" dirty="0">
              <a:latin typeface="微软雅黑" pitchFamily="34" charset="-122"/>
              <a:ea typeface="微软雅黑" pitchFamily="34" charset="-122"/>
            </a:endParaRPr>
          </a:p>
          <a:p>
            <a:pPr marL="285750" indent="-285750">
              <a:lnSpc>
                <a:spcPct val="150000"/>
              </a:lnSpc>
              <a:buClr>
                <a:srgbClr val="0070C0"/>
              </a:buClr>
              <a:buFont typeface="Wingdings" pitchFamily="2" charset="2"/>
              <a:buChar char="l"/>
            </a:pPr>
            <a:r>
              <a:rPr lang="zh-CN" altLang="en-US" sz="2800" dirty="0">
                <a:solidFill>
                  <a:srgbClr val="0000FF"/>
                </a:solidFill>
                <a:latin typeface="微软雅黑" pitchFamily="34" charset="-122"/>
                <a:ea typeface="微软雅黑" pitchFamily="34" charset="-122"/>
              </a:rPr>
              <a:t>路由器的主要工作：</a:t>
            </a:r>
            <a:r>
              <a:rPr lang="zh-CN" altLang="en-US" sz="2800" dirty="0">
                <a:solidFill>
                  <a:srgbClr val="C00000"/>
                </a:solidFill>
                <a:latin typeface="微软雅黑" pitchFamily="34" charset="-122"/>
                <a:ea typeface="微软雅黑" pitchFamily="34" charset="-122"/>
              </a:rPr>
              <a:t>转发分组。</a:t>
            </a:r>
          </a:p>
          <a:p>
            <a:pPr marL="280988">
              <a:lnSpc>
                <a:spcPct val="150000"/>
              </a:lnSpc>
              <a:buClr>
                <a:srgbClr val="7030A0"/>
              </a:buClr>
            </a:pPr>
            <a:r>
              <a:rPr lang="zh-CN" altLang="en-US" sz="2800" dirty="0">
                <a:latin typeface="微软雅黑" pitchFamily="34" charset="-122"/>
                <a:ea typeface="微软雅黑" pitchFamily="34" charset="-122"/>
              </a:rPr>
              <a:t>把从某个输入端口收到的分组，按照分组要去的目的地（即目的网络），把该分组从路由器的某个合适的输出端口转发给下一跳路由器。</a:t>
            </a:r>
          </a:p>
        </p:txBody>
      </p:sp>
      <p:sp>
        <p:nvSpPr>
          <p:cNvPr id="2" name="灯片编号占位符 1">
            <a:extLst>
              <a:ext uri="{FF2B5EF4-FFF2-40B4-BE49-F238E27FC236}">
                <a16:creationId xmlns:a16="http://schemas.microsoft.com/office/drawing/2014/main" id="{67653DBA-4CDF-41A9-A88D-C2428EC6F3EE}"/>
              </a:ext>
            </a:extLst>
          </p:cNvPr>
          <p:cNvSpPr>
            <a:spLocks noGrp="1"/>
          </p:cNvSpPr>
          <p:nvPr>
            <p:ph type="sldNum" sz="quarter" idx="12"/>
          </p:nvPr>
        </p:nvSpPr>
        <p:spPr/>
        <p:txBody>
          <a:bodyPr/>
          <a:lstStyle/>
          <a:p>
            <a:fld id="{5956A083-5018-4B52-82A0-83241B8E3D94}" type="slidenum">
              <a:rPr lang="zh-CN" altLang="en-US" smtClean="0"/>
              <a:t>23</a:t>
            </a:fld>
            <a:endParaRPr lang="zh-CN" altLang="en-US"/>
          </a:p>
        </p:txBody>
      </p:sp>
    </p:spTree>
    <p:extLst>
      <p:ext uri="{BB962C8B-B14F-4D97-AF65-F5344CB8AC3E}">
        <p14:creationId xmlns:p14="http://schemas.microsoft.com/office/powerpoint/2010/main" val="987105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07CF8-574E-E05F-FBD2-52250F794B39}"/>
            </a:ext>
          </a:extLst>
        </p:cNvPr>
        <p:cNvGrpSpPr/>
        <p:nvPr/>
      </p:nvGrpSpPr>
      <p:grpSpPr>
        <a:xfrm>
          <a:off x="0" y="0"/>
          <a:ext cx="0" cy="0"/>
          <a:chOff x="0" y="0"/>
          <a:chExt cx="0" cy="0"/>
        </a:xfrm>
      </p:grpSpPr>
      <p:grpSp>
        <p:nvGrpSpPr>
          <p:cNvPr id="22" name="组合 21">
            <a:extLst>
              <a:ext uri="{FF2B5EF4-FFF2-40B4-BE49-F238E27FC236}">
                <a16:creationId xmlns:a16="http://schemas.microsoft.com/office/drawing/2014/main" id="{E61F86B8-2A04-7A79-1F53-F9A6A314488C}"/>
              </a:ext>
            </a:extLst>
          </p:cNvPr>
          <p:cNvGrpSpPr/>
          <p:nvPr/>
        </p:nvGrpSpPr>
        <p:grpSpPr>
          <a:xfrm>
            <a:off x="0" y="-272687"/>
            <a:ext cx="6369978" cy="1428589"/>
            <a:chOff x="551030" y="-368704"/>
            <a:chExt cx="6369978" cy="1428589"/>
          </a:xfrm>
        </p:grpSpPr>
        <p:grpSp>
          <p:nvGrpSpPr>
            <p:cNvPr id="23" name="组合 22">
              <a:extLst>
                <a:ext uri="{FF2B5EF4-FFF2-40B4-BE49-F238E27FC236}">
                  <a16:creationId xmlns:a16="http://schemas.microsoft.com/office/drawing/2014/main" id="{6BE0BDAA-9BA5-61CA-3010-724B4DF7702A}"/>
                </a:ext>
              </a:extLst>
            </p:cNvPr>
            <p:cNvGrpSpPr/>
            <p:nvPr/>
          </p:nvGrpSpPr>
          <p:grpSpPr>
            <a:xfrm>
              <a:off x="1201631" y="303925"/>
              <a:ext cx="5719377" cy="687996"/>
              <a:chOff x="1839058" y="967769"/>
              <a:chExt cx="5719377" cy="687996"/>
            </a:xfrm>
          </p:grpSpPr>
          <p:sp>
            <p:nvSpPr>
              <p:cNvPr id="25" name="矩形: 圆角 24">
                <a:extLst>
                  <a:ext uri="{FF2B5EF4-FFF2-40B4-BE49-F238E27FC236}">
                    <a16:creationId xmlns:a16="http://schemas.microsoft.com/office/drawing/2014/main" id="{330DFE03-A2CF-0D21-8F60-FA91403F22B5}"/>
                  </a:ext>
                </a:extLst>
              </p:cNvPr>
              <p:cNvSpPr/>
              <p:nvPr/>
            </p:nvSpPr>
            <p:spPr>
              <a:xfrm>
                <a:off x="1839058" y="967769"/>
                <a:ext cx="5534442"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26" name="文本框 25">
                <a:extLst>
                  <a:ext uri="{FF2B5EF4-FFF2-40B4-BE49-F238E27FC236}">
                    <a16:creationId xmlns:a16="http://schemas.microsoft.com/office/drawing/2014/main" id="{55E3A301-5F7E-DBA8-034A-D2DEDE5B2218}"/>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路由器分组排队策略</a:t>
                </a:r>
              </a:p>
            </p:txBody>
          </p:sp>
        </p:grpSp>
        <p:pic>
          <p:nvPicPr>
            <p:cNvPr id="24" name="图片 23">
              <a:extLst>
                <a:ext uri="{FF2B5EF4-FFF2-40B4-BE49-F238E27FC236}">
                  <a16:creationId xmlns:a16="http://schemas.microsoft.com/office/drawing/2014/main" id="{2015ACC0-B081-1057-FDE0-3312391447F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106" name="灯片编号占位符 3">
            <a:extLst>
              <a:ext uri="{FF2B5EF4-FFF2-40B4-BE49-F238E27FC236}">
                <a16:creationId xmlns:a16="http://schemas.microsoft.com/office/drawing/2014/main" id="{5B73039F-FAB2-5FE3-6CF9-A91CC8E585CB}"/>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24</a:t>
            </a:fld>
            <a:endParaRPr lang="zh-CN" altLang="en-US"/>
          </a:p>
        </p:txBody>
      </p:sp>
      <p:sp>
        <p:nvSpPr>
          <p:cNvPr id="2" name="内容占位符 2">
            <a:extLst>
              <a:ext uri="{FF2B5EF4-FFF2-40B4-BE49-F238E27FC236}">
                <a16:creationId xmlns:a16="http://schemas.microsoft.com/office/drawing/2014/main" id="{FD1969B0-C8DD-D43B-2E76-AC151E526208}"/>
              </a:ext>
            </a:extLst>
          </p:cNvPr>
          <p:cNvSpPr>
            <a:spLocks noGrp="1"/>
          </p:cNvSpPr>
          <p:nvPr/>
        </p:nvSpPr>
        <p:spPr>
          <a:xfrm>
            <a:off x="1012068" y="1279760"/>
            <a:ext cx="8229600" cy="4751387"/>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2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8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4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2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9pPr>
          </a:lstStyle>
          <a:p>
            <a:pPr>
              <a:lnSpc>
                <a:spcPct val="150000"/>
              </a:lnSpc>
            </a:pPr>
            <a:r>
              <a:rPr lang="zh-CN" altLang="en-US" sz="2400" dirty="0">
                <a:solidFill>
                  <a:srgbClr val="1969C2"/>
                </a:solidFill>
                <a:latin typeface="微软雅黑" panose="020B0503020204020204" pitchFamily="34" charset="-122"/>
                <a:ea typeface="微软雅黑" panose="020B0503020204020204" pitchFamily="34" charset="-122"/>
                <a:cs typeface="微软雅黑" panose="020B0503020204020204" pitchFamily="34" charset="-122"/>
              </a:rPr>
              <a:t>被动队列管理</a:t>
            </a:r>
            <a:endParaRPr lang="en-US" altLang="zh-CN" sz="2400" dirty="0">
              <a:solidFill>
                <a:srgbClr val="1969C2"/>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pitchFamily="2" charset="2"/>
              <a:buChar char="p"/>
            </a:pPr>
            <a:r>
              <a:rPr lang="zh-CN" altLang="zh-CN" sz="2400" dirty="0">
                <a:latin typeface="微软雅黑" panose="020B0503020204020204" pitchFamily="34" charset="-122"/>
                <a:ea typeface="微软雅黑" panose="020B0503020204020204" pitchFamily="34" charset="-122"/>
              </a:rPr>
              <a:t>先进先出（</a:t>
            </a:r>
            <a:r>
              <a:rPr lang="en-US" altLang="zh-CN" sz="2400" dirty="0">
                <a:latin typeface="微软雅黑" panose="020B0503020204020204" pitchFamily="34" charset="-122"/>
                <a:ea typeface="微软雅黑" panose="020B0503020204020204" pitchFamily="34" charset="-122"/>
              </a:rPr>
              <a:t>FIFO</a:t>
            </a:r>
            <a:r>
              <a:rPr lang="zh-CN"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zh-CN" sz="2400" dirty="0">
                <a:latin typeface="微软雅黑" panose="020B0503020204020204" pitchFamily="34" charset="-122"/>
                <a:ea typeface="微软雅黑" panose="020B0503020204020204" pitchFamily="34" charset="-122"/>
              </a:rPr>
              <a:t>公平排队（</a:t>
            </a:r>
            <a:r>
              <a:rPr lang="en-US" altLang="zh-CN" sz="2400" dirty="0">
                <a:latin typeface="微软雅黑" panose="020B0503020204020204" pitchFamily="34" charset="-122"/>
                <a:ea typeface="微软雅黑" panose="020B0503020204020204" pitchFamily="34" charset="-122"/>
              </a:rPr>
              <a:t>Fair Queuing</a:t>
            </a:r>
            <a:r>
              <a:rPr lang="zh-CN"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2400" dirty="0">
                <a:solidFill>
                  <a:srgbClr val="1969C2"/>
                </a:solidFill>
                <a:latin typeface="微软雅黑" panose="020B0503020204020204" pitchFamily="34" charset="-122"/>
                <a:ea typeface="微软雅黑" panose="020B0503020204020204" pitchFamily="34" charset="-122"/>
                <a:cs typeface="微软雅黑" panose="020B0503020204020204" pitchFamily="34" charset="-122"/>
              </a:rPr>
              <a:t>主动队列管理</a:t>
            </a:r>
            <a:endParaRPr lang="en-US" altLang="zh-CN" sz="2400" dirty="0">
              <a:solidFill>
                <a:srgbClr val="1969C2"/>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pitchFamily="2" charset="2"/>
              <a:buChar char="p"/>
            </a:pPr>
            <a:r>
              <a:rPr lang="en-US" altLang="zh-CN" sz="2400" dirty="0" err="1">
                <a:latin typeface="微软雅黑" panose="020B0503020204020204" pitchFamily="34" charset="-122"/>
                <a:ea typeface="微软雅黑" panose="020B0503020204020204" pitchFamily="34" charset="-122"/>
              </a:rPr>
              <a:t>DECbit</a:t>
            </a:r>
            <a:r>
              <a:rPr lang="zh-CN" altLang="zh-CN" sz="2400" dirty="0">
                <a:latin typeface="微软雅黑" panose="020B0503020204020204" pitchFamily="34" charset="-122"/>
                <a:ea typeface="微软雅黑" panose="020B0503020204020204" pitchFamily="34" charset="-122"/>
              </a:rPr>
              <a:t>算法</a:t>
            </a:r>
            <a:endParaRPr lang="en-US" altLang="zh-CN" sz="24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随机早期检测（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RED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pitchFamily="2" charset="2"/>
              <a:buChar char="p"/>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显式拥塞通知（</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ECN</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4170" lvl="1" indent="0">
              <a:buNone/>
            </a:pPr>
            <a:endParaRPr lang="en-US" altLang="zh-CN" dirty="0">
              <a:ea typeface="楷体" panose="02010609060101010101" pitchFamily="49" charset="-122"/>
            </a:endParaRPr>
          </a:p>
          <a:p>
            <a:endParaRPr lang="zh-CN" altLang="en-US" dirty="0">
              <a:ea typeface="楷体" panose="02010609060101010101" pitchFamily="49" charset="-122"/>
            </a:endParaRPr>
          </a:p>
        </p:txBody>
      </p:sp>
    </p:spTree>
    <p:extLst>
      <p:ext uri="{BB962C8B-B14F-4D97-AF65-F5344CB8AC3E}">
        <p14:creationId xmlns:p14="http://schemas.microsoft.com/office/powerpoint/2010/main" val="383105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E9336-77B8-5658-CCA3-42ACCD1075F8}"/>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E5A1D70A-F0DD-2A03-10A1-908022BE90F5}"/>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25</a:t>
            </a:fld>
            <a:endParaRPr lang="zh-CN" altLang="en-US"/>
          </a:p>
        </p:txBody>
      </p:sp>
      <p:grpSp>
        <p:nvGrpSpPr>
          <p:cNvPr id="21" name="组合 20">
            <a:extLst>
              <a:ext uri="{FF2B5EF4-FFF2-40B4-BE49-F238E27FC236}">
                <a16:creationId xmlns:a16="http://schemas.microsoft.com/office/drawing/2014/main" id="{8469F1CE-0917-1715-F6DA-E5CAC3BB8C95}"/>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12391B01-80EC-C6F7-ECA8-B5C70F9D2360}"/>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02F3BFFF-DC7E-7B94-DA8A-3E0045944EB2}"/>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010E6AE9-B804-F5E7-2672-0B2D0D3B3FAE}"/>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被动队列管理</a:t>
                </a:r>
              </a:p>
            </p:txBody>
          </p:sp>
        </p:grpSp>
        <p:pic>
          <p:nvPicPr>
            <p:cNvPr id="28" name="图片 27">
              <a:extLst>
                <a:ext uri="{FF2B5EF4-FFF2-40B4-BE49-F238E27FC236}">
                  <a16:creationId xmlns:a16="http://schemas.microsoft.com/office/drawing/2014/main" id="{8C79CC74-825E-8C4B-1FBF-EFA030B0DC6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31" name="组合 30">
            <a:extLst>
              <a:ext uri="{FF2B5EF4-FFF2-40B4-BE49-F238E27FC236}">
                <a16:creationId xmlns:a16="http://schemas.microsoft.com/office/drawing/2014/main" id="{65E1FDD9-18DF-3A45-8B01-A0D1ADD5544C}"/>
              </a:ext>
            </a:extLst>
          </p:cNvPr>
          <p:cNvGrpSpPr/>
          <p:nvPr/>
        </p:nvGrpSpPr>
        <p:grpSpPr>
          <a:xfrm>
            <a:off x="515938" y="1339655"/>
            <a:ext cx="4364287" cy="526734"/>
            <a:chOff x="722008" y="1303131"/>
            <a:chExt cx="4167150" cy="502942"/>
          </a:xfrm>
        </p:grpSpPr>
        <p:grpSp>
          <p:nvGrpSpPr>
            <p:cNvPr id="32" name="组合 31">
              <a:extLst>
                <a:ext uri="{FF2B5EF4-FFF2-40B4-BE49-F238E27FC236}">
                  <a16:creationId xmlns:a16="http://schemas.microsoft.com/office/drawing/2014/main" id="{C276424E-4D2C-B90E-8865-188D9287DA47}"/>
                </a:ext>
              </a:extLst>
            </p:cNvPr>
            <p:cNvGrpSpPr/>
            <p:nvPr/>
          </p:nvGrpSpPr>
          <p:grpSpPr>
            <a:xfrm>
              <a:off x="722008" y="1303131"/>
              <a:ext cx="546594" cy="475865"/>
              <a:chOff x="708742" y="1296102"/>
              <a:chExt cx="454744" cy="283828"/>
            </a:xfrm>
          </p:grpSpPr>
          <p:sp>
            <p:nvSpPr>
              <p:cNvPr id="35" name="平行四边形 34">
                <a:extLst>
                  <a:ext uri="{FF2B5EF4-FFF2-40B4-BE49-F238E27FC236}">
                    <a16:creationId xmlns:a16="http://schemas.microsoft.com/office/drawing/2014/main" id="{2D0868DB-0E6D-234F-C79B-2373087C42C8}"/>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36" name="平行四边形 35">
                <a:extLst>
                  <a:ext uri="{FF2B5EF4-FFF2-40B4-BE49-F238E27FC236}">
                    <a16:creationId xmlns:a16="http://schemas.microsoft.com/office/drawing/2014/main" id="{7C0FAF99-77EE-2C42-A687-5C214D845EC0}"/>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33" name="流程图: 手动输入 6">
              <a:extLst>
                <a:ext uri="{FF2B5EF4-FFF2-40B4-BE49-F238E27FC236}">
                  <a16:creationId xmlns:a16="http://schemas.microsoft.com/office/drawing/2014/main" id="{56F1CCA1-9089-EC0B-435D-2238BD18D6B6}"/>
                </a:ext>
              </a:extLst>
            </p:cNvPr>
            <p:cNvSpPr/>
            <p:nvPr/>
          </p:nvSpPr>
          <p:spPr>
            <a:xfrm rot="5400000" flipV="1">
              <a:off x="2666612" y="-371474"/>
              <a:ext cx="475861" cy="383188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34" name="Text Box 79">
              <a:extLst>
                <a:ext uri="{FF2B5EF4-FFF2-40B4-BE49-F238E27FC236}">
                  <a16:creationId xmlns:a16="http://schemas.microsoft.com/office/drawing/2014/main" id="{C5B3A34B-9354-6073-8B93-41C75E24C0B1}"/>
                </a:ext>
              </a:extLst>
            </p:cNvPr>
            <p:cNvSpPr txBox="1">
              <a:spLocks noChangeArrowheads="1"/>
            </p:cNvSpPr>
            <p:nvPr/>
          </p:nvSpPr>
          <p:spPr bwMode="auto">
            <a:xfrm>
              <a:off x="1351235" y="1335873"/>
              <a:ext cx="3537923"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先进先出（</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FIFO</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）策略</a:t>
              </a:r>
            </a:p>
          </p:txBody>
        </p:sp>
      </p:grpSp>
      <p:sp>
        <p:nvSpPr>
          <p:cNvPr id="37" name="Rectangle 68">
            <a:extLst>
              <a:ext uri="{FF2B5EF4-FFF2-40B4-BE49-F238E27FC236}">
                <a16:creationId xmlns:a16="http://schemas.microsoft.com/office/drawing/2014/main" id="{8737F4D7-51A5-64A0-67BB-E7CD5211D98F}"/>
              </a:ext>
            </a:extLst>
          </p:cNvPr>
          <p:cNvSpPr>
            <a:spLocks noChangeArrowheads="1"/>
          </p:cNvSpPr>
          <p:nvPr/>
        </p:nvSpPr>
        <p:spPr bwMode="auto">
          <a:xfrm>
            <a:off x="737414" y="2124037"/>
            <a:ext cx="10616386" cy="3351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先进先出</a:t>
            </a:r>
            <a:r>
              <a:rPr lang="en-US" altLang="zh-CN" sz="2400" dirty="0">
                <a:solidFill>
                  <a:srgbClr val="C00000"/>
                </a:solidFill>
                <a:latin typeface="微软雅黑" pitchFamily="34" charset="-122"/>
                <a:ea typeface="微软雅黑" pitchFamily="34" charset="-122"/>
              </a:rPr>
              <a:t>FIFO </a:t>
            </a:r>
            <a:r>
              <a:rPr lang="en-US" altLang="zh-CN" sz="2400" dirty="0">
                <a:latin typeface="微软雅黑" pitchFamily="34" charset="-122"/>
                <a:ea typeface="微软雅黑" pitchFamily="34" charset="-122"/>
              </a:rPr>
              <a:t>(First In First Out) </a:t>
            </a:r>
            <a:r>
              <a:rPr lang="zh-CN" altLang="en-US" sz="2400" dirty="0">
                <a:latin typeface="微软雅黑" pitchFamily="34" charset="-122"/>
                <a:ea typeface="微软雅黑" pitchFamily="34" charset="-122"/>
              </a:rPr>
              <a:t>处理规则：</a:t>
            </a:r>
          </a:p>
          <a:p>
            <a:pPr marL="342900" indent="-342900">
              <a:lnSpc>
                <a:spcPct val="1500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尾部丢弃策略 </a:t>
            </a:r>
            <a:r>
              <a:rPr lang="en-US" altLang="zh-CN" sz="2400" dirty="0">
                <a:latin typeface="微软雅黑" pitchFamily="34" charset="-122"/>
                <a:ea typeface="微软雅黑" pitchFamily="34" charset="-122"/>
              </a:rPr>
              <a:t>(tail-drop policy)</a:t>
            </a:r>
            <a:r>
              <a:rPr lang="zh-CN" altLang="en-US" sz="2400" dirty="0">
                <a:latin typeface="微软雅黑" pitchFamily="34" charset="-122"/>
                <a:ea typeface="微软雅黑" pitchFamily="34" charset="-122"/>
              </a:rPr>
              <a:t>：当队列已满时，以后到达的所有分组（如果能够继续排队，这些分组都将排在队列的尾部）将都被丢弃。</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路由器的尾部丢弃往往会导致一连串分组的丢失，这就使发送方出现超时重传，使 </a:t>
            </a:r>
            <a:r>
              <a:rPr lang="en-US" altLang="zh-CN" sz="2400" dirty="0">
                <a:latin typeface="微软雅黑" pitchFamily="34" charset="-122"/>
                <a:ea typeface="微软雅黑" pitchFamily="34" charset="-122"/>
              </a:rPr>
              <a:t>TCP </a:t>
            </a:r>
            <a:r>
              <a:rPr lang="zh-CN" altLang="en-US" sz="2400" dirty="0">
                <a:latin typeface="微软雅黑" pitchFamily="34" charset="-122"/>
                <a:ea typeface="微软雅黑" pitchFamily="34" charset="-122"/>
              </a:rPr>
              <a:t>进入拥塞控制的慢开始状态，结果使 </a:t>
            </a:r>
            <a:r>
              <a:rPr lang="en-US" altLang="zh-CN" sz="2400" dirty="0">
                <a:latin typeface="微软雅黑" pitchFamily="34" charset="-122"/>
                <a:ea typeface="微软雅黑" pitchFamily="34" charset="-122"/>
              </a:rPr>
              <a:t>TCP </a:t>
            </a:r>
            <a:r>
              <a:rPr lang="zh-CN" altLang="en-US" sz="2400" dirty="0">
                <a:latin typeface="微软雅黑" pitchFamily="34" charset="-122"/>
                <a:ea typeface="微软雅黑" pitchFamily="34" charset="-122"/>
              </a:rPr>
              <a:t>连接的发送方突然把数据的发送速率降低到很小的数值。</a:t>
            </a:r>
          </a:p>
        </p:txBody>
      </p:sp>
    </p:spTree>
    <p:extLst>
      <p:ext uri="{BB962C8B-B14F-4D97-AF65-F5344CB8AC3E}">
        <p14:creationId xmlns:p14="http://schemas.microsoft.com/office/powerpoint/2010/main" val="1706666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91514-916A-E95E-E3EB-BF2A06EAD972}"/>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9E8B4B1C-2337-B8BE-DEE2-FF1B0DBD3264}"/>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26</a:t>
            </a:fld>
            <a:endParaRPr lang="zh-CN" altLang="en-US"/>
          </a:p>
        </p:txBody>
      </p:sp>
      <p:grpSp>
        <p:nvGrpSpPr>
          <p:cNvPr id="21" name="组合 20">
            <a:extLst>
              <a:ext uri="{FF2B5EF4-FFF2-40B4-BE49-F238E27FC236}">
                <a16:creationId xmlns:a16="http://schemas.microsoft.com/office/drawing/2014/main" id="{08D92A28-F7B0-3BF4-F5A3-10802E604312}"/>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529F06B6-83A8-765A-87DF-9F7614A30350}"/>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D5B1D8EB-61B4-B787-1BBF-7872B6737820}"/>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6F4E0930-A0C0-D93A-8054-4DB6BE48E5F7}"/>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被动队列管理</a:t>
                </a:r>
              </a:p>
            </p:txBody>
          </p:sp>
        </p:grpSp>
        <p:pic>
          <p:nvPicPr>
            <p:cNvPr id="28" name="图片 27">
              <a:extLst>
                <a:ext uri="{FF2B5EF4-FFF2-40B4-BE49-F238E27FC236}">
                  <a16:creationId xmlns:a16="http://schemas.microsoft.com/office/drawing/2014/main" id="{D1DBD1CA-C5AC-62A1-1103-605DA2520EF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538A4238-1B74-943A-EE97-67B1ED4BC95C}"/>
              </a:ext>
            </a:extLst>
          </p:cNvPr>
          <p:cNvGrpSpPr/>
          <p:nvPr/>
        </p:nvGrpSpPr>
        <p:grpSpPr>
          <a:xfrm>
            <a:off x="515938" y="1339655"/>
            <a:ext cx="4364287" cy="526734"/>
            <a:chOff x="722008" y="1303131"/>
            <a:chExt cx="4167150" cy="502942"/>
          </a:xfrm>
        </p:grpSpPr>
        <p:grpSp>
          <p:nvGrpSpPr>
            <p:cNvPr id="3" name="组合 2">
              <a:extLst>
                <a:ext uri="{FF2B5EF4-FFF2-40B4-BE49-F238E27FC236}">
                  <a16:creationId xmlns:a16="http://schemas.microsoft.com/office/drawing/2014/main" id="{9134AD88-81F8-9717-4F60-B70788A9DA6E}"/>
                </a:ext>
              </a:extLst>
            </p:cNvPr>
            <p:cNvGrpSpPr/>
            <p:nvPr/>
          </p:nvGrpSpPr>
          <p:grpSpPr>
            <a:xfrm>
              <a:off x="722008" y="1303131"/>
              <a:ext cx="546594" cy="475865"/>
              <a:chOff x="708742" y="1296102"/>
              <a:chExt cx="454744" cy="283828"/>
            </a:xfrm>
          </p:grpSpPr>
          <p:sp>
            <p:nvSpPr>
              <p:cNvPr id="6" name="平行四边形 5">
                <a:extLst>
                  <a:ext uri="{FF2B5EF4-FFF2-40B4-BE49-F238E27FC236}">
                    <a16:creationId xmlns:a16="http://schemas.microsoft.com/office/drawing/2014/main" id="{DF836858-9504-DBB5-400F-8D6097026CCF}"/>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7" name="平行四边形 6">
                <a:extLst>
                  <a:ext uri="{FF2B5EF4-FFF2-40B4-BE49-F238E27FC236}">
                    <a16:creationId xmlns:a16="http://schemas.microsoft.com/office/drawing/2014/main" id="{AA396944-23F6-B81F-2505-01959B81D0D6}"/>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4" name="流程图: 手动输入 6">
              <a:extLst>
                <a:ext uri="{FF2B5EF4-FFF2-40B4-BE49-F238E27FC236}">
                  <a16:creationId xmlns:a16="http://schemas.microsoft.com/office/drawing/2014/main" id="{E8DD2373-6905-3743-3CDA-BDC702CEB466}"/>
                </a:ext>
              </a:extLst>
            </p:cNvPr>
            <p:cNvSpPr/>
            <p:nvPr/>
          </p:nvSpPr>
          <p:spPr>
            <a:xfrm rot="5400000" flipV="1">
              <a:off x="2666612" y="-371474"/>
              <a:ext cx="475861" cy="383188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5" name="Text Box 79">
              <a:extLst>
                <a:ext uri="{FF2B5EF4-FFF2-40B4-BE49-F238E27FC236}">
                  <a16:creationId xmlns:a16="http://schemas.microsoft.com/office/drawing/2014/main" id="{AA6BA2A7-3FA6-4F6D-FA0C-24F263FD3167}"/>
                </a:ext>
              </a:extLst>
            </p:cNvPr>
            <p:cNvSpPr txBox="1">
              <a:spLocks noChangeArrowheads="1"/>
            </p:cNvSpPr>
            <p:nvPr/>
          </p:nvSpPr>
          <p:spPr bwMode="auto">
            <a:xfrm>
              <a:off x="1351235" y="1335873"/>
              <a:ext cx="3537923"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先进先出（</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FIFO</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）策略</a:t>
              </a:r>
            </a:p>
          </p:txBody>
        </p:sp>
      </p:grpSp>
      <p:sp>
        <p:nvSpPr>
          <p:cNvPr id="8" name="圆角矩形 37">
            <a:extLst>
              <a:ext uri="{FF2B5EF4-FFF2-40B4-BE49-F238E27FC236}">
                <a16:creationId xmlns:a16="http://schemas.microsoft.com/office/drawing/2014/main" id="{320B5ECE-F60B-C9AB-1CEF-EA38C60985B2}"/>
              </a:ext>
            </a:extLst>
          </p:cNvPr>
          <p:cNvSpPr/>
          <p:nvPr/>
        </p:nvSpPr>
        <p:spPr>
          <a:xfrm>
            <a:off x="958890" y="1897110"/>
            <a:ext cx="10336430" cy="41647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9" name="Rectangle 9">
            <a:extLst>
              <a:ext uri="{FF2B5EF4-FFF2-40B4-BE49-F238E27FC236}">
                <a16:creationId xmlns:a16="http://schemas.microsoft.com/office/drawing/2014/main" id="{E44040A6-4C91-9655-6DD9-DD858FE2B190}"/>
              </a:ext>
            </a:extLst>
          </p:cNvPr>
          <p:cNvSpPr>
            <a:spLocks noChangeArrowheads="1"/>
          </p:cNvSpPr>
          <p:nvPr/>
        </p:nvSpPr>
        <p:spPr bwMode="auto">
          <a:xfrm>
            <a:off x="4228594" y="3864346"/>
            <a:ext cx="562245" cy="299499"/>
          </a:xfrm>
          <a:prstGeom prst="rect">
            <a:avLst/>
          </a:prstGeom>
          <a:solidFill>
            <a:srgbClr val="FFFF00"/>
          </a:solidFill>
          <a:ln w="9525">
            <a:solidFill>
              <a:schemeClr val="tx1"/>
            </a:solidFill>
            <a:miter lim="800000"/>
            <a:headEnd/>
            <a:tailEnd/>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 name="Rectangle 10">
            <a:extLst>
              <a:ext uri="{FF2B5EF4-FFF2-40B4-BE49-F238E27FC236}">
                <a16:creationId xmlns:a16="http://schemas.microsoft.com/office/drawing/2014/main" id="{545C9A8A-14DE-FF6E-C9FD-6E8CD9CD7C85}"/>
              </a:ext>
            </a:extLst>
          </p:cNvPr>
          <p:cNvSpPr>
            <a:spLocks noChangeArrowheads="1"/>
          </p:cNvSpPr>
          <p:nvPr/>
        </p:nvSpPr>
        <p:spPr bwMode="auto">
          <a:xfrm>
            <a:off x="3586339" y="3966672"/>
            <a:ext cx="562245" cy="299499"/>
          </a:xfrm>
          <a:prstGeom prst="rect">
            <a:avLst/>
          </a:prstGeom>
          <a:solidFill>
            <a:srgbClr val="FFFF00"/>
          </a:solidFill>
          <a:ln w="9525">
            <a:solidFill>
              <a:schemeClr val="tx1"/>
            </a:solidFill>
            <a:miter lim="800000"/>
            <a:headEnd/>
            <a:tailEnd/>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 name="Rectangle 11">
            <a:extLst>
              <a:ext uri="{FF2B5EF4-FFF2-40B4-BE49-F238E27FC236}">
                <a16:creationId xmlns:a16="http://schemas.microsoft.com/office/drawing/2014/main" id="{BC466294-FEDF-1361-0AE7-CF33362A648E}"/>
              </a:ext>
            </a:extLst>
          </p:cNvPr>
          <p:cNvSpPr>
            <a:spLocks noChangeArrowheads="1"/>
          </p:cNvSpPr>
          <p:nvPr/>
        </p:nvSpPr>
        <p:spPr bwMode="auto">
          <a:xfrm>
            <a:off x="2994457" y="4130293"/>
            <a:ext cx="562245" cy="299499"/>
          </a:xfrm>
          <a:prstGeom prst="rect">
            <a:avLst/>
          </a:prstGeom>
          <a:solidFill>
            <a:srgbClr val="FFFF00"/>
          </a:solidFill>
          <a:ln w="9525">
            <a:solidFill>
              <a:schemeClr val="tx1"/>
            </a:solidFill>
            <a:miter lim="800000"/>
            <a:headEnd/>
            <a:tailEnd/>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Rectangle 17">
            <a:extLst>
              <a:ext uri="{FF2B5EF4-FFF2-40B4-BE49-F238E27FC236}">
                <a16:creationId xmlns:a16="http://schemas.microsoft.com/office/drawing/2014/main" id="{2E68B963-F79F-E911-D926-C6832B725AA3}"/>
              </a:ext>
            </a:extLst>
          </p:cNvPr>
          <p:cNvSpPr>
            <a:spLocks noChangeArrowheads="1"/>
          </p:cNvSpPr>
          <p:nvPr/>
        </p:nvSpPr>
        <p:spPr bwMode="auto">
          <a:xfrm>
            <a:off x="2357052" y="4359095"/>
            <a:ext cx="562245" cy="299499"/>
          </a:xfrm>
          <a:prstGeom prst="rect">
            <a:avLst/>
          </a:prstGeom>
          <a:solidFill>
            <a:srgbClr val="FFFF00"/>
          </a:solidFill>
          <a:ln w="9525">
            <a:solidFill>
              <a:schemeClr val="tx1"/>
            </a:solidFill>
            <a:miter lim="800000"/>
            <a:headEnd/>
            <a:tailEnd/>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 name="Rectangle 18">
            <a:extLst>
              <a:ext uri="{FF2B5EF4-FFF2-40B4-BE49-F238E27FC236}">
                <a16:creationId xmlns:a16="http://schemas.microsoft.com/office/drawing/2014/main" id="{E8458ECA-5889-B8EE-EF49-F1DB81B3DE26}"/>
              </a:ext>
            </a:extLst>
          </p:cNvPr>
          <p:cNvSpPr>
            <a:spLocks noChangeArrowheads="1"/>
          </p:cNvSpPr>
          <p:nvPr/>
        </p:nvSpPr>
        <p:spPr bwMode="auto">
          <a:xfrm>
            <a:off x="1727262" y="4646860"/>
            <a:ext cx="562245" cy="299499"/>
          </a:xfrm>
          <a:prstGeom prst="rect">
            <a:avLst/>
          </a:prstGeom>
          <a:solidFill>
            <a:srgbClr val="FFFF00"/>
          </a:solidFill>
          <a:ln w="9525">
            <a:solidFill>
              <a:schemeClr val="tx1"/>
            </a:solidFill>
            <a:miter lim="800000"/>
            <a:headEnd/>
            <a:tailEnd/>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矩形 13">
            <a:extLst>
              <a:ext uri="{FF2B5EF4-FFF2-40B4-BE49-F238E27FC236}">
                <a16:creationId xmlns:a16="http://schemas.microsoft.com/office/drawing/2014/main" id="{26A80632-B304-C917-A58E-E6CA453CE86E}"/>
              </a:ext>
            </a:extLst>
          </p:cNvPr>
          <p:cNvSpPr/>
          <p:nvPr/>
        </p:nvSpPr>
        <p:spPr>
          <a:xfrm>
            <a:off x="2405274" y="2235461"/>
            <a:ext cx="7665480" cy="861774"/>
          </a:xfrm>
          <a:prstGeom prst="rect">
            <a:avLst/>
          </a:prstGeom>
          <a:solidFill>
            <a:srgbClr val="000099"/>
          </a:solid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000"/>
              </a:lnSpc>
            </a:pPr>
            <a:r>
              <a:rPr lang="zh-CN" altLang="en-US" sz="2000" dirty="0">
                <a:solidFill>
                  <a:schemeClr val="bg1"/>
                </a:solidFill>
                <a:latin typeface="微软雅黑" pitchFamily="34" charset="-122"/>
                <a:ea typeface="微软雅黑" pitchFamily="34" charset="-122"/>
              </a:rPr>
              <a:t>在最简单的情况下，路由器队列通常采用</a:t>
            </a:r>
            <a:endParaRPr lang="en-US" altLang="zh-CN" sz="2000" dirty="0">
              <a:solidFill>
                <a:schemeClr val="bg1"/>
              </a:solidFill>
              <a:latin typeface="微软雅黑" pitchFamily="34" charset="-122"/>
              <a:ea typeface="微软雅黑" pitchFamily="34" charset="-122"/>
            </a:endParaRPr>
          </a:p>
          <a:p>
            <a:pPr algn="ctr">
              <a:lnSpc>
                <a:spcPts val="2000"/>
              </a:lnSpc>
            </a:pPr>
            <a:r>
              <a:rPr lang="zh-CN" altLang="en-US" sz="2000" dirty="0">
                <a:solidFill>
                  <a:srgbClr val="FFC000"/>
                </a:solidFill>
                <a:latin typeface="微软雅黑" pitchFamily="34" charset="-122"/>
                <a:ea typeface="微软雅黑" pitchFamily="34" charset="-122"/>
              </a:rPr>
              <a:t>先进先出</a:t>
            </a:r>
            <a:r>
              <a:rPr lang="zh-CN" altLang="en-US" sz="2000" dirty="0">
                <a:solidFill>
                  <a:schemeClr val="bg1"/>
                </a:solidFill>
                <a:latin typeface="微软雅黑" pitchFamily="34" charset="-122"/>
                <a:ea typeface="微软雅黑" pitchFamily="34" charset="-122"/>
              </a:rPr>
              <a:t> </a:t>
            </a:r>
            <a:r>
              <a:rPr lang="en-US" altLang="zh-CN" sz="2000" dirty="0">
                <a:solidFill>
                  <a:schemeClr val="bg1"/>
                </a:solidFill>
                <a:latin typeface="微软雅黑" pitchFamily="34" charset="-122"/>
                <a:ea typeface="微软雅黑" pitchFamily="34" charset="-122"/>
              </a:rPr>
              <a:t>(FIFO) </a:t>
            </a:r>
            <a:r>
              <a:rPr lang="zh-CN" altLang="en-US" sz="2000" dirty="0">
                <a:solidFill>
                  <a:schemeClr val="bg1"/>
                </a:solidFill>
                <a:latin typeface="微软雅黑" pitchFamily="34" charset="-122"/>
                <a:ea typeface="微软雅黑" pitchFamily="34" charset="-122"/>
              </a:rPr>
              <a:t>处理规则与</a:t>
            </a:r>
            <a:r>
              <a:rPr lang="zh-CN" altLang="en-US" sz="2000" dirty="0">
                <a:solidFill>
                  <a:srgbClr val="FFC000"/>
                </a:solidFill>
                <a:latin typeface="微软雅黑" pitchFamily="34" charset="-122"/>
                <a:ea typeface="微软雅黑" pitchFamily="34" charset="-122"/>
              </a:rPr>
              <a:t>尾部丢弃策略 </a:t>
            </a:r>
            <a:r>
              <a:rPr lang="en-US" altLang="zh-CN" sz="2000" dirty="0">
                <a:solidFill>
                  <a:schemeClr val="bg1"/>
                </a:solidFill>
                <a:latin typeface="微软雅黑" pitchFamily="34" charset="-122"/>
                <a:ea typeface="微软雅黑" pitchFamily="34" charset="-122"/>
              </a:rPr>
              <a:t>(tail-drop policy)</a:t>
            </a:r>
            <a:r>
              <a:rPr lang="zh-CN" altLang="en-US" sz="2000" dirty="0">
                <a:solidFill>
                  <a:schemeClr val="bg1"/>
                </a:solidFill>
                <a:latin typeface="微软雅黑" pitchFamily="34" charset="-122"/>
                <a:ea typeface="微软雅黑" pitchFamily="34" charset="-122"/>
              </a:rPr>
              <a:t>。</a:t>
            </a:r>
            <a:endParaRPr lang="en-US" altLang="zh-CN" sz="2000" dirty="0">
              <a:solidFill>
                <a:schemeClr val="bg1"/>
              </a:solidFill>
              <a:latin typeface="微软雅黑" pitchFamily="34" charset="-122"/>
              <a:ea typeface="微软雅黑" pitchFamily="34" charset="-122"/>
            </a:endParaRPr>
          </a:p>
          <a:p>
            <a:pPr algn="ctr">
              <a:lnSpc>
                <a:spcPts val="2000"/>
              </a:lnSpc>
            </a:pPr>
            <a:r>
              <a:rPr lang="zh-CN" altLang="en-US" sz="2000" dirty="0">
                <a:solidFill>
                  <a:schemeClr val="bg1"/>
                </a:solidFill>
                <a:latin typeface="微软雅黑" pitchFamily="34" charset="-122"/>
                <a:ea typeface="微软雅黑" pitchFamily="34" charset="-122"/>
              </a:rPr>
              <a:t>当队列已满时，以后到达的所有分组将都被丢弃</a:t>
            </a:r>
            <a:r>
              <a:rPr lang="zh-CN" altLang="en-US" sz="2000" b="1" dirty="0">
                <a:solidFill>
                  <a:schemeClr val="bg1"/>
                </a:solidFill>
                <a:latin typeface="微软雅黑" pitchFamily="34" charset="-122"/>
                <a:ea typeface="微软雅黑" pitchFamily="34" charset="-122"/>
              </a:rPr>
              <a:t>。</a:t>
            </a:r>
          </a:p>
        </p:txBody>
      </p:sp>
      <p:grpSp>
        <p:nvGrpSpPr>
          <p:cNvPr id="15" name="组合 14">
            <a:extLst>
              <a:ext uri="{FF2B5EF4-FFF2-40B4-BE49-F238E27FC236}">
                <a16:creationId xmlns:a16="http://schemas.microsoft.com/office/drawing/2014/main" id="{1AD30084-E234-D2FD-AAA8-50AD299D9D6A}"/>
              </a:ext>
            </a:extLst>
          </p:cNvPr>
          <p:cNvGrpSpPr/>
          <p:nvPr/>
        </p:nvGrpSpPr>
        <p:grpSpPr>
          <a:xfrm>
            <a:off x="4947776" y="3420210"/>
            <a:ext cx="5122978" cy="1497497"/>
            <a:chOff x="4235261" y="2103118"/>
            <a:chExt cx="4165845" cy="1143000"/>
          </a:xfrm>
        </p:grpSpPr>
        <p:grpSp>
          <p:nvGrpSpPr>
            <p:cNvPr id="23" name="组合 22">
              <a:extLst>
                <a:ext uri="{FF2B5EF4-FFF2-40B4-BE49-F238E27FC236}">
                  <a16:creationId xmlns:a16="http://schemas.microsoft.com/office/drawing/2014/main" id="{912C7E89-DB91-BF0A-833E-CAD0F0DF9DC4}"/>
                </a:ext>
              </a:extLst>
            </p:cNvPr>
            <p:cNvGrpSpPr/>
            <p:nvPr/>
          </p:nvGrpSpPr>
          <p:grpSpPr>
            <a:xfrm>
              <a:off x="4235261" y="2103118"/>
              <a:ext cx="3864782" cy="1143000"/>
              <a:chOff x="4313639" y="2103118"/>
              <a:chExt cx="3864782" cy="1143000"/>
            </a:xfrm>
          </p:grpSpPr>
          <p:sp>
            <p:nvSpPr>
              <p:cNvPr id="25" name="Freeform 24">
                <a:extLst>
                  <a:ext uri="{FF2B5EF4-FFF2-40B4-BE49-F238E27FC236}">
                    <a16:creationId xmlns:a16="http://schemas.microsoft.com/office/drawing/2014/main" id="{CEA71A3A-D536-8D8A-59C2-964EED3A97A6}"/>
                  </a:ext>
                </a:extLst>
              </p:cNvPr>
              <p:cNvSpPr>
                <a:spLocks/>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Line 20">
                <a:extLst>
                  <a:ext uri="{FF2B5EF4-FFF2-40B4-BE49-F238E27FC236}">
                    <a16:creationId xmlns:a16="http://schemas.microsoft.com/office/drawing/2014/main" id="{BAB32003-5A8A-0DBB-458C-2C19B648CA8B}"/>
                  </a:ext>
                </a:extLst>
              </p:cNvPr>
              <p:cNvSpPr>
                <a:spLocks noChangeShapeType="1"/>
              </p:cNvSpPr>
              <p:nvPr/>
            </p:nvSpPr>
            <p:spPr bwMode="auto">
              <a:xfrm>
                <a:off x="6603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Line 21">
                <a:extLst>
                  <a:ext uri="{FF2B5EF4-FFF2-40B4-BE49-F238E27FC236}">
                    <a16:creationId xmlns:a16="http://schemas.microsoft.com/office/drawing/2014/main" id="{08A91E96-0766-C5DD-3876-3668C1E40006}"/>
                  </a:ext>
                </a:extLst>
              </p:cNvPr>
              <p:cNvSpPr>
                <a:spLocks noChangeShapeType="1"/>
              </p:cNvSpPr>
              <p:nvPr/>
            </p:nvSpPr>
            <p:spPr bwMode="auto">
              <a:xfrm>
                <a:off x="5841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Line 22">
                <a:extLst>
                  <a:ext uri="{FF2B5EF4-FFF2-40B4-BE49-F238E27FC236}">
                    <a16:creationId xmlns:a16="http://schemas.microsoft.com/office/drawing/2014/main" id="{4A1FBBC1-9002-8C7E-FF70-32FC20B94774}"/>
                  </a:ext>
                </a:extLst>
              </p:cNvPr>
              <p:cNvSpPr>
                <a:spLocks noChangeShapeType="1"/>
              </p:cNvSpPr>
              <p:nvPr/>
            </p:nvSpPr>
            <p:spPr bwMode="auto">
              <a:xfrm>
                <a:off x="5079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Line 25">
                <a:extLst>
                  <a:ext uri="{FF2B5EF4-FFF2-40B4-BE49-F238E27FC236}">
                    <a16:creationId xmlns:a16="http://schemas.microsoft.com/office/drawing/2014/main" id="{CA05D963-A82E-8DC5-F78A-00C6E288E76D}"/>
                  </a:ext>
                </a:extLst>
              </p:cNvPr>
              <p:cNvSpPr>
                <a:spLocks noChangeShapeType="1"/>
              </p:cNvSpPr>
              <p:nvPr/>
            </p:nvSpPr>
            <p:spPr bwMode="auto">
              <a:xfrm>
                <a:off x="7387039"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Oval 2058">
                <a:extLst>
                  <a:ext uri="{FF2B5EF4-FFF2-40B4-BE49-F238E27FC236}">
                    <a16:creationId xmlns:a16="http://schemas.microsoft.com/office/drawing/2014/main" id="{344F3EC6-D53F-B082-9DD3-EE4F5BF544E8}"/>
                  </a:ext>
                </a:extLst>
              </p:cNvPr>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4" name="Line 25">
              <a:extLst>
                <a:ext uri="{FF2B5EF4-FFF2-40B4-BE49-F238E27FC236}">
                  <a16:creationId xmlns:a16="http://schemas.microsoft.com/office/drawing/2014/main" id="{0E780C01-011B-99CD-9D1D-3CFF5A365D32}"/>
                </a:ext>
              </a:extLst>
            </p:cNvPr>
            <p:cNvSpPr>
              <a:spLocks noChangeShapeType="1"/>
            </p:cNvSpPr>
            <p:nvPr/>
          </p:nvSpPr>
          <p:spPr bwMode="auto">
            <a:xfrm>
              <a:off x="8113106"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6" name="Line 25">
            <a:extLst>
              <a:ext uri="{FF2B5EF4-FFF2-40B4-BE49-F238E27FC236}">
                <a16:creationId xmlns:a16="http://schemas.microsoft.com/office/drawing/2014/main" id="{27F1EC27-C1C4-D27E-15C9-8BAC5EB154DC}"/>
              </a:ext>
            </a:extLst>
          </p:cNvPr>
          <p:cNvSpPr>
            <a:spLocks noChangeShapeType="1"/>
          </p:cNvSpPr>
          <p:nvPr/>
        </p:nvSpPr>
        <p:spPr bwMode="auto">
          <a:xfrm flipV="1">
            <a:off x="4982474" y="4961562"/>
            <a:ext cx="0" cy="648915"/>
          </a:xfrm>
          <a:prstGeom prst="line">
            <a:avLst/>
          </a:prstGeom>
          <a:noFill/>
          <a:ln w="381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 name="Text Box 26">
            <a:extLst>
              <a:ext uri="{FF2B5EF4-FFF2-40B4-BE49-F238E27FC236}">
                <a16:creationId xmlns:a16="http://schemas.microsoft.com/office/drawing/2014/main" id="{E8611902-A38E-801D-6D8A-64C034584C3B}"/>
              </a:ext>
            </a:extLst>
          </p:cNvPr>
          <p:cNvSpPr txBox="1">
            <a:spLocks noChangeArrowheads="1"/>
          </p:cNvSpPr>
          <p:nvPr/>
        </p:nvSpPr>
        <p:spPr bwMode="auto">
          <a:xfrm>
            <a:off x="4985424" y="5139347"/>
            <a:ext cx="1551811" cy="310582"/>
          </a:xfrm>
          <a:prstGeom prst="rect">
            <a:avLst/>
          </a:prstGeom>
          <a:noFill/>
          <a:ln>
            <a:noFill/>
          </a:ln>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1" hangingPunct="1"/>
            <a:r>
              <a:rPr lang="zh-CN" altLang="en-US" sz="1400" b="1" dirty="0">
                <a:solidFill>
                  <a:srgbClr val="000099"/>
                </a:solidFill>
                <a:effectLst/>
                <a:latin typeface="微软雅黑" pitchFamily="34" charset="-122"/>
                <a:ea typeface="微软雅黑" pitchFamily="34" charset="-122"/>
              </a:rPr>
              <a:t>最大队列长度</a:t>
            </a:r>
            <a:endParaRPr lang="en-US" altLang="zh-TW" sz="1400" b="1" dirty="0">
              <a:solidFill>
                <a:srgbClr val="000099"/>
              </a:solidFill>
              <a:effectLst/>
              <a:latin typeface="微软雅黑" pitchFamily="34" charset="-122"/>
              <a:ea typeface="微软雅黑" pitchFamily="34" charset="-122"/>
            </a:endParaRPr>
          </a:p>
        </p:txBody>
      </p:sp>
      <p:sp>
        <p:nvSpPr>
          <p:cNvPr id="18" name="Rectangle 5">
            <a:extLst>
              <a:ext uri="{FF2B5EF4-FFF2-40B4-BE49-F238E27FC236}">
                <a16:creationId xmlns:a16="http://schemas.microsoft.com/office/drawing/2014/main" id="{26C17AE4-CBC8-2753-CDCB-22C21A40E9EE}"/>
              </a:ext>
            </a:extLst>
          </p:cNvPr>
          <p:cNvSpPr>
            <a:spLocks noChangeArrowheads="1"/>
          </p:cNvSpPr>
          <p:nvPr/>
        </p:nvSpPr>
        <p:spPr bwMode="auto">
          <a:xfrm>
            <a:off x="7939493" y="3861611"/>
            <a:ext cx="562245" cy="299499"/>
          </a:xfrm>
          <a:prstGeom prst="rect">
            <a:avLst/>
          </a:prstGeom>
          <a:solidFill>
            <a:srgbClr val="FFFF00"/>
          </a:solidFill>
          <a:ln w="9525" algn="ctr">
            <a:solidFill>
              <a:schemeClr val="tx1"/>
            </a:solidFill>
            <a:miter lim="800000"/>
            <a:headEnd/>
            <a:tailEnd/>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 name="Rectangle 6">
            <a:extLst>
              <a:ext uri="{FF2B5EF4-FFF2-40B4-BE49-F238E27FC236}">
                <a16:creationId xmlns:a16="http://schemas.microsoft.com/office/drawing/2014/main" id="{BCE0B206-2497-7CDA-63ED-6E10B5F4205D}"/>
              </a:ext>
            </a:extLst>
          </p:cNvPr>
          <p:cNvSpPr>
            <a:spLocks noChangeArrowheads="1"/>
          </p:cNvSpPr>
          <p:nvPr/>
        </p:nvSpPr>
        <p:spPr bwMode="auto">
          <a:xfrm>
            <a:off x="6923677" y="3861611"/>
            <a:ext cx="562245" cy="299499"/>
          </a:xfrm>
          <a:prstGeom prst="rect">
            <a:avLst/>
          </a:prstGeom>
          <a:solidFill>
            <a:srgbClr val="FFFF00"/>
          </a:solidFill>
          <a:ln w="9525">
            <a:solidFill>
              <a:schemeClr val="tx1"/>
            </a:solidFill>
            <a:miter lim="800000"/>
            <a:headEnd/>
            <a:tailEnd/>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Rectangle 7">
            <a:extLst>
              <a:ext uri="{FF2B5EF4-FFF2-40B4-BE49-F238E27FC236}">
                <a16:creationId xmlns:a16="http://schemas.microsoft.com/office/drawing/2014/main" id="{4ECF2D83-5777-9A33-D718-5FDC1444BCE8}"/>
              </a:ext>
            </a:extLst>
          </p:cNvPr>
          <p:cNvSpPr>
            <a:spLocks noChangeArrowheads="1"/>
          </p:cNvSpPr>
          <p:nvPr/>
        </p:nvSpPr>
        <p:spPr bwMode="auto">
          <a:xfrm>
            <a:off x="5974990" y="3864346"/>
            <a:ext cx="562245" cy="299499"/>
          </a:xfrm>
          <a:prstGeom prst="rect">
            <a:avLst/>
          </a:prstGeom>
          <a:solidFill>
            <a:srgbClr val="FFFF00"/>
          </a:solidFill>
          <a:ln w="9525" algn="ctr">
            <a:solidFill>
              <a:schemeClr val="tx1"/>
            </a:solidFill>
            <a:miter lim="800000"/>
            <a:headEnd/>
            <a:tailEnd/>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Rectangle 8">
            <a:extLst>
              <a:ext uri="{FF2B5EF4-FFF2-40B4-BE49-F238E27FC236}">
                <a16:creationId xmlns:a16="http://schemas.microsoft.com/office/drawing/2014/main" id="{DA07B88F-C5BE-0B25-7EE5-9A1838E42998}"/>
              </a:ext>
            </a:extLst>
          </p:cNvPr>
          <p:cNvSpPr>
            <a:spLocks noChangeArrowheads="1"/>
          </p:cNvSpPr>
          <p:nvPr/>
        </p:nvSpPr>
        <p:spPr bwMode="auto">
          <a:xfrm>
            <a:off x="5127753" y="3864346"/>
            <a:ext cx="562245" cy="299499"/>
          </a:xfrm>
          <a:prstGeom prst="rect">
            <a:avLst/>
          </a:prstGeom>
          <a:solidFill>
            <a:srgbClr val="FFFF00"/>
          </a:solidFill>
          <a:ln w="9525">
            <a:solidFill>
              <a:schemeClr val="tx1"/>
            </a:solidFill>
            <a:miter lim="800000"/>
            <a:headEnd/>
            <a:tailEnd/>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Tree>
    <p:extLst>
      <p:ext uri="{BB962C8B-B14F-4D97-AF65-F5344CB8AC3E}">
        <p14:creationId xmlns:p14="http://schemas.microsoft.com/office/powerpoint/2010/main" val="42808052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6F885-67B0-68D7-DA06-AF4CCEAC1AB7}"/>
            </a:ext>
          </a:extLst>
        </p:cNvPr>
        <p:cNvGrpSpPr/>
        <p:nvPr/>
      </p:nvGrpSpPr>
      <p:grpSpPr>
        <a:xfrm>
          <a:off x="0" y="0"/>
          <a:ext cx="0" cy="0"/>
          <a:chOff x="0" y="0"/>
          <a:chExt cx="0" cy="0"/>
        </a:xfrm>
      </p:grpSpPr>
      <p:grpSp>
        <p:nvGrpSpPr>
          <p:cNvPr id="21" name="组合 20">
            <a:extLst>
              <a:ext uri="{FF2B5EF4-FFF2-40B4-BE49-F238E27FC236}">
                <a16:creationId xmlns:a16="http://schemas.microsoft.com/office/drawing/2014/main" id="{7050D848-CFAF-3B9A-3507-731BE533DD7C}"/>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904CE554-35B3-24E1-3F57-164A9F5D0B52}"/>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089D3A73-376E-4504-04CF-19C7B48957BD}"/>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C282B6F1-8B4C-798D-E1CD-1490585334FE}"/>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被动队列管理</a:t>
                </a:r>
              </a:p>
            </p:txBody>
          </p:sp>
        </p:grpSp>
        <p:pic>
          <p:nvPicPr>
            <p:cNvPr id="28" name="图片 27">
              <a:extLst>
                <a:ext uri="{FF2B5EF4-FFF2-40B4-BE49-F238E27FC236}">
                  <a16:creationId xmlns:a16="http://schemas.microsoft.com/office/drawing/2014/main" id="{9A73D4DD-6AFB-98FD-44AF-9F7100F1153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D72333EB-E33F-B3B7-84C4-D72673C8F8D5}"/>
              </a:ext>
            </a:extLst>
          </p:cNvPr>
          <p:cNvGrpSpPr/>
          <p:nvPr/>
        </p:nvGrpSpPr>
        <p:grpSpPr>
          <a:xfrm>
            <a:off x="515938" y="1339655"/>
            <a:ext cx="4364287" cy="526734"/>
            <a:chOff x="722008" y="1303131"/>
            <a:chExt cx="4167150" cy="502942"/>
          </a:xfrm>
        </p:grpSpPr>
        <p:grpSp>
          <p:nvGrpSpPr>
            <p:cNvPr id="3" name="组合 2">
              <a:extLst>
                <a:ext uri="{FF2B5EF4-FFF2-40B4-BE49-F238E27FC236}">
                  <a16:creationId xmlns:a16="http://schemas.microsoft.com/office/drawing/2014/main" id="{1FA97E13-BA41-9504-95AF-7404D3B03134}"/>
                </a:ext>
              </a:extLst>
            </p:cNvPr>
            <p:cNvGrpSpPr/>
            <p:nvPr/>
          </p:nvGrpSpPr>
          <p:grpSpPr>
            <a:xfrm>
              <a:off x="722008" y="1303131"/>
              <a:ext cx="546594" cy="475865"/>
              <a:chOff x="708742" y="1296102"/>
              <a:chExt cx="454744" cy="283828"/>
            </a:xfrm>
          </p:grpSpPr>
          <p:sp>
            <p:nvSpPr>
              <p:cNvPr id="6" name="平行四边形 5">
                <a:extLst>
                  <a:ext uri="{FF2B5EF4-FFF2-40B4-BE49-F238E27FC236}">
                    <a16:creationId xmlns:a16="http://schemas.microsoft.com/office/drawing/2014/main" id="{9DC16E1C-6E45-4813-4B95-86BF1210EE47}"/>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7" name="平行四边形 6">
                <a:extLst>
                  <a:ext uri="{FF2B5EF4-FFF2-40B4-BE49-F238E27FC236}">
                    <a16:creationId xmlns:a16="http://schemas.microsoft.com/office/drawing/2014/main" id="{7E23104C-491A-AA62-994C-3AE98FDAE5A0}"/>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4" name="流程图: 手动输入 6">
              <a:extLst>
                <a:ext uri="{FF2B5EF4-FFF2-40B4-BE49-F238E27FC236}">
                  <a16:creationId xmlns:a16="http://schemas.microsoft.com/office/drawing/2014/main" id="{A8BA1BD6-1E47-8D28-4113-9DF9B715C84C}"/>
                </a:ext>
              </a:extLst>
            </p:cNvPr>
            <p:cNvSpPr/>
            <p:nvPr/>
          </p:nvSpPr>
          <p:spPr>
            <a:xfrm rot="5400000" flipV="1">
              <a:off x="2666612" y="-371474"/>
              <a:ext cx="475861" cy="383188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5" name="Text Box 79">
              <a:extLst>
                <a:ext uri="{FF2B5EF4-FFF2-40B4-BE49-F238E27FC236}">
                  <a16:creationId xmlns:a16="http://schemas.microsoft.com/office/drawing/2014/main" id="{FB410A56-F696-1A25-8FDE-9725E66F2724}"/>
                </a:ext>
              </a:extLst>
            </p:cNvPr>
            <p:cNvSpPr txBox="1">
              <a:spLocks noChangeArrowheads="1"/>
            </p:cNvSpPr>
            <p:nvPr/>
          </p:nvSpPr>
          <p:spPr bwMode="auto">
            <a:xfrm>
              <a:off x="1351235" y="1335873"/>
              <a:ext cx="3537923"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先进先出（</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FIFO</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）策略</a:t>
              </a:r>
            </a:p>
          </p:txBody>
        </p:sp>
      </p:grpSp>
      <p:sp>
        <p:nvSpPr>
          <p:cNvPr id="8" name="灯片编号占位符 7">
            <a:extLst>
              <a:ext uri="{FF2B5EF4-FFF2-40B4-BE49-F238E27FC236}">
                <a16:creationId xmlns:a16="http://schemas.microsoft.com/office/drawing/2014/main" id="{890B6F9A-65B3-4EC1-BD64-EBCFFA1AD42B}"/>
              </a:ext>
            </a:extLst>
          </p:cNvPr>
          <p:cNvSpPr>
            <a:spLocks noGrp="1"/>
          </p:cNvSpPr>
          <p:nvPr>
            <p:ph type="sldNum" sz="quarter" idx="12"/>
          </p:nvPr>
        </p:nvSpPr>
        <p:spPr/>
        <p:txBody>
          <a:bodyPr/>
          <a:lstStyle/>
          <a:p>
            <a:fld id="{5956A083-5018-4B52-82A0-83241B8E3D94}" type="slidenum">
              <a:rPr lang="zh-CN" altLang="en-US" smtClean="0"/>
              <a:t>27</a:t>
            </a:fld>
            <a:endParaRPr lang="zh-CN" altLang="en-US"/>
          </a:p>
        </p:txBody>
      </p:sp>
      <p:grpSp>
        <p:nvGrpSpPr>
          <p:cNvPr id="10" name="组合 9">
            <a:extLst>
              <a:ext uri="{FF2B5EF4-FFF2-40B4-BE49-F238E27FC236}">
                <a16:creationId xmlns:a16="http://schemas.microsoft.com/office/drawing/2014/main" id="{E13120A7-4EE6-9C43-A9B3-2689A0B8EDCE}"/>
              </a:ext>
            </a:extLst>
          </p:cNvPr>
          <p:cNvGrpSpPr/>
          <p:nvPr/>
        </p:nvGrpSpPr>
        <p:grpSpPr>
          <a:xfrm>
            <a:off x="973761" y="1866389"/>
            <a:ext cx="10304590" cy="4269600"/>
            <a:chOff x="973761" y="1866389"/>
            <a:chExt cx="10304590" cy="4269600"/>
          </a:xfrm>
        </p:grpSpPr>
        <p:pic>
          <p:nvPicPr>
            <p:cNvPr id="88" name="图片 87">
              <a:extLst>
                <a:ext uri="{FF2B5EF4-FFF2-40B4-BE49-F238E27FC236}">
                  <a16:creationId xmlns:a16="http://schemas.microsoft.com/office/drawing/2014/main" id="{EB0B2E3F-36C4-C4C1-00E3-12F65C14E742}"/>
                </a:ext>
              </a:extLst>
            </p:cNvPr>
            <p:cNvPicPr>
              <a:picLocks noChangeAspect="1"/>
            </p:cNvPicPr>
            <p:nvPr/>
          </p:nvPicPr>
          <p:blipFill>
            <a:blip r:embed="rId3"/>
            <a:stretch>
              <a:fillRect/>
            </a:stretch>
          </p:blipFill>
          <p:spPr>
            <a:xfrm>
              <a:off x="973761" y="1866389"/>
              <a:ext cx="10304590" cy="4269600"/>
            </a:xfrm>
            <a:prstGeom prst="rect">
              <a:avLst/>
            </a:prstGeom>
          </p:spPr>
        </p:pic>
        <p:sp>
          <p:nvSpPr>
            <p:cNvPr id="9" name="矩形 8">
              <a:extLst>
                <a:ext uri="{FF2B5EF4-FFF2-40B4-BE49-F238E27FC236}">
                  <a16:creationId xmlns:a16="http://schemas.microsoft.com/office/drawing/2014/main" id="{044D6964-BAB6-A942-8D64-6511124570F1}"/>
                </a:ext>
              </a:extLst>
            </p:cNvPr>
            <p:cNvSpPr/>
            <p:nvPr/>
          </p:nvSpPr>
          <p:spPr>
            <a:xfrm>
              <a:off x="2345361" y="2061958"/>
              <a:ext cx="7755569" cy="436693"/>
            </a:xfrm>
            <a:prstGeom prst="rect">
              <a:avLst/>
            </a:prstGeom>
            <a:solidFill>
              <a:srgbClr val="0000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b="1" dirty="0">
                  <a:solidFill>
                    <a:schemeClr val="bg1"/>
                  </a:solidFill>
                  <a:latin typeface="Microsoft YaHei" panose="020B0503020204020204" pitchFamily="34" charset="-122"/>
                  <a:ea typeface="Microsoft YaHei" panose="020B0503020204020204" pitchFamily="34" charset="-122"/>
                </a:rPr>
                <a:t>分组丢弃使发送方出现超时重传，使</a:t>
              </a:r>
              <a:r>
                <a:rPr kumimoji="1" lang="en-US" altLang="zh-CN" sz="2000" b="1" dirty="0">
                  <a:solidFill>
                    <a:schemeClr val="bg1"/>
                  </a:solidFill>
                  <a:latin typeface="Microsoft YaHei" panose="020B0503020204020204" pitchFamily="34" charset="-122"/>
                  <a:ea typeface="Microsoft YaHei" panose="020B0503020204020204" pitchFamily="34" charset="-122"/>
                </a:rPr>
                <a:t>TCP</a:t>
              </a:r>
              <a:r>
                <a:rPr kumimoji="1" lang="zh-CN" altLang="en-US" sz="2000" b="1" dirty="0">
                  <a:solidFill>
                    <a:schemeClr val="bg1"/>
                  </a:solidFill>
                  <a:latin typeface="Microsoft YaHei" panose="020B0503020204020204" pitchFamily="34" charset="-122"/>
                  <a:ea typeface="Microsoft YaHei" panose="020B0503020204020204" pitchFamily="34" charset="-122"/>
                </a:rPr>
                <a:t>连接进入</a:t>
              </a:r>
              <a:r>
                <a:rPr kumimoji="1" lang="zh-CN" altLang="en-US" sz="2000" b="1" dirty="0">
                  <a:solidFill>
                    <a:srgbClr val="FFC000"/>
                  </a:solidFill>
                  <a:latin typeface="Microsoft YaHei" panose="020B0503020204020204" pitchFamily="34" charset="-122"/>
                  <a:ea typeface="Microsoft YaHei" panose="020B0503020204020204" pitchFamily="34" charset="-122"/>
                </a:rPr>
                <a:t>慢启动</a:t>
              </a:r>
              <a:r>
                <a:rPr kumimoji="1" lang="zh-CN" altLang="en-US" sz="2000" b="1" dirty="0">
                  <a:solidFill>
                    <a:schemeClr val="bg1"/>
                  </a:solidFill>
                  <a:latin typeface="Microsoft YaHei" panose="020B0503020204020204" pitchFamily="34" charset="-122"/>
                  <a:ea typeface="Microsoft YaHei" panose="020B0503020204020204" pitchFamily="34" charset="-122"/>
                </a:rPr>
                <a:t>状态</a:t>
              </a:r>
            </a:p>
          </p:txBody>
        </p:sp>
      </p:grpSp>
    </p:spTree>
    <p:extLst>
      <p:ext uri="{BB962C8B-B14F-4D97-AF65-F5344CB8AC3E}">
        <p14:creationId xmlns:p14="http://schemas.microsoft.com/office/powerpoint/2010/main" val="3837085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A8A53-8E55-51C4-E25D-A7CC09F7FB61}"/>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6745DBD0-776F-B101-71D4-7D5C44EA98BD}"/>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28</a:t>
            </a:fld>
            <a:endParaRPr lang="zh-CN" altLang="en-US"/>
          </a:p>
        </p:txBody>
      </p:sp>
      <p:grpSp>
        <p:nvGrpSpPr>
          <p:cNvPr id="21" name="组合 20">
            <a:extLst>
              <a:ext uri="{FF2B5EF4-FFF2-40B4-BE49-F238E27FC236}">
                <a16:creationId xmlns:a16="http://schemas.microsoft.com/office/drawing/2014/main" id="{7A7869BC-19AE-088F-B60A-577549378F3E}"/>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60DFAA02-D59D-E5A1-A6A9-576F603B330D}"/>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D730C4D6-6A9A-98CB-716B-8BCE153AB5CB}"/>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B2D9651F-12FD-4FA3-D66A-221538E226AC}"/>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被动队列管理</a:t>
                </a:r>
              </a:p>
            </p:txBody>
          </p:sp>
        </p:grpSp>
        <p:pic>
          <p:nvPicPr>
            <p:cNvPr id="28" name="图片 27">
              <a:extLst>
                <a:ext uri="{FF2B5EF4-FFF2-40B4-BE49-F238E27FC236}">
                  <a16:creationId xmlns:a16="http://schemas.microsoft.com/office/drawing/2014/main" id="{970C406D-A574-960C-732F-A61B4ECAEAB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31" name="组合 30">
            <a:extLst>
              <a:ext uri="{FF2B5EF4-FFF2-40B4-BE49-F238E27FC236}">
                <a16:creationId xmlns:a16="http://schemas.microsoft.com/office/drawing/2014/main" id="{8435A9E9-8C1B-C1A9-E281-8DA73F411B34}"/>
              </a:ext>
            </a:extLst>
          </p:cNvPr>
          <p:cNvGrpSpPr/>
          <p:nvPr/>
        </p:nvGrpSpPr>
        <p:grpSpPr>
          <a:xfrm>
            <a:off x="515938" y="1339655"/>
            <a:ext cx="3959809" cy="526734"/>
            <a:chOff x="722008" y="1303131"/>
            <a:chExt cx="3780942" cy="502942"/>
          </a:xfrm>
        </p:grpSpPr>
        <p:grpSp>
          <p:nvGrpSpPr>
            <p:cNvPr id="32" name="组合 31">
              <a:extLst>
                <a:ext uri="{FF2B5EF4-FFF2-40B4-BE49-F238E27FC236}">
                  <a16:creationId xmlns:a16="http://schemas.microsoft.com/office/drawing/2014/main" id="{CB23AA79-693C-5AF5-A72D-5EECA99527CC}"/>
                </a:ext>
              </a:extLst>
            </p:cNvPr>
            <p:cNvGrpSpPr/>
            <p:nvPr/>
          </p:nvGrpSpPr>
          <p:grpSpPr>
            <a:xfrm>
              <a:off x="722008" y="1303131"/>
              <a:ext cx="546594" cy="475865"/>
              <a:chOff x="708742" y="1296102"/>
              <a:chExt cx="454744" cy="283828"/>
            </a:xfrm>
          </p:grpSpPr>
          <p:sp>
            <p:nvSpPr>
              <p:cNvPr id="35" name="平行四边形 34">
                <a:extLst>
                  <a:ext uri="{FF2B5EF4-FFF2-40B4-BE49-F238E27FC236}">
                    <a16:creationId xmlns:a16="http://schemas.microsoft.com/office/drawing/2014/main" id="{C7753E4B-EDA0-E433-98D8-76570127B982}"/>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36" name="平行四边形 35">
                <a:extLst>
                  <a:ext uri="{FF2B5EF4-FFF2-40B4-BE49-F238E27FC236}">
                    <a16:creationId xmlns:a16="http://schemas.microsoft.com/office/drawing/2014/main" id="{3D240CA4-F6F3-7E41-06AC-3F60931C8DA7}"/>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33" name="流程图: 手动输入 6">
              <a:extLst>
                <a:ext uri="{FF2B5EF4-FFF2-40B4-BE49-F238E27FC236}">
                  <a16:creationId xmlns:a16="http://schemas.microsoft.com/office/drawing/2014/main" id="{ABB03F52-89B3-273E-4F40-A3A4FC093556}"/>
                </a:ext>
              </a:extLst>
            </p:cNvPr>
            <p:cNvSpPr/>
            <p:nvPr/>
          </p:nvSpPr>
          <p:spPr>
            <a:xfrm rot="5400000" flipV="1">
              <a:off x="2432591" y="-137453"/>
              <a:ext cx="475861" cy="336384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34" name="Text Box 79">
              <a:extLst>
                <a:ext uri="{FF2B5EF4-FFF2-40B4-BE49-F238E27FC236}">
                  <a16:creationId xmlns:a16="http://schemas.microsoft.com/office/drawing/2014/main" id="{F1B96F07-2B3F-6CB3-0BE2-945466F34763}"/>
                </a:ext>
              </a:extLst>
            </p:cNvPr>
            <p:cNvSpPr txBox="1">
              <a:spLocks noChangeArrowheads="1"/>
            </p:cNvSpPr>
            <p:nvPr/>
          </p:nvSpPr>
          <p:spPr bwMode="auto">
            <a:xfrm>
              <a:off x="1351236" y="1335873"/>
              <a:ext cx="3151714"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局限性</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全局同步</a:t>
              </a:r>
            </a:p>
          </p:txBody>
        </p:sp>
      </p:grpSp>
      <p:sp>
        <p:nvSpPr>
          <p:cNvPr id="2" name="圆角矩形 4">
            <a:extLst>
              <a:ext uri="{FF2B5EF4-FFF2-40B4-BE49-F238E27FC236}">
                <a16:creationId xmlns:a16="http://schemas.microsoft.com/office/drawing/2014/main" id="{7023EA6C-1CD9-DAB8-BB6A-63738E501D30}"/>
              </a:ext>
            </a:extLst>
          </p:cNvPr>
          <p:cNvSpPr/>
          <p:nvPr/>
        </p:nvSpPr>
        <p:spPr>
          <a:xfrm>
            <a:off x="1075882" y="2008718"/>
            <a:ext cx="10125042" cy="39266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Rectangle 9">
            <a:extLst>
              <a:ext uri="{FF2B5EF4-FFF2-40B4-BE49-F238E27FC236}">
                <a16:creationId xmlns:a16="http://schemas.microsoft.com/office/drawing/2014/main" id="{2272968E-CF10-F200-1597-4A8A00F8C1ED}"/>
              </a:ext>
            </a:extLst>
          </p:cNvPr>
          <p:cNvSpPr>
            <a:spLocks noChangeArrowheads="1"/>
          </p:cNvSpPr>
          <p:nvPr/>
        </p:nvSpPr>
        <p:spPr bwMode="auto">
          <a:xfrm>
            <a:off x="4748071" y="379343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4" name="Rectangle 10">
            <a:extLst>
              <a:ext uri="{FF2B5EF4-FFF2-40B4-BE49-F238E27FC236}">
                <a16:creationId xmlns:a16="http://schemas.microsoft.com/office/drawing/2014/main" id="{416A622B-1B06-66EB-0C8A-50CF61B0D441}"/>
              </a:ext>
            </a:extLst>
          </p:cNvPr>
          <p:cNvSpPr>
            <a:spLocks noChangeArrowheads="1"/>
          </p:cNvSpPr>
          <p:nvPr/>
        </p:nvSpPr>
        <p:spPr bwMode="auto">
          <a:xfrm>
            <a:off x="4215218" y="3793435"/>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5" name="Rectangle 11">
            <a:extLst>
              <a:ext uri="{FF2B5EF4-FFF2-40B4-BE49-F238E27FC236}">
                <a16:creationId xmlns:a16="http://schemas.microsoft.com/office/drawing/2014/main" id="{CD67AC0F-9A9B-8F1C-FBA1-32782A7056CB}"/>
              </a:ext>
            </a:extLst>
          </p:cNvPr>
          <p:cNvSpPr>
            <a:spLocks noChangeArrowheads="1"/>
          </p:cNvSpPr>
          <p:nvPr/>
        </p:nvSpPr>
        <p:spPr bwMode="auto">
          <a:xfrm>
            <a:off x="3643176" y="379343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6" name="Rectangle 12">
            <a:extLst>
              <a:ext uri="{FF2B5EF4-FFF2-40B4-BE49-F238E27FC236}">
                <a16:creationId xmlns:a16="http://schemas.microsoft.com/office/drawing/2014/main" id="{209A887C-36A8-FF7C-37EE-BB8C45F13B0A}"/>
              </a:ext>
            </a:extLst>
          </p:cNvPr>
          <p:cNvSpPr>
            <a:spLocks noChangeArrowheads="1"/>
          </p:cNvSpPr>
          <p:nvPr/>
        </p:nvSpPr>
        <p:spPr bwMode="auto">
          <a:xfrm>
            <a:off x="4748071" y="425063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7" name="Rectangle 13">
            <a:extLst>
              <a:ext uri="{FF2B5EF4-FFF2-40B4-BE49-F238E27FC236}">
                <a16:creationId xmlns:a16="http://schemas.microsoft.com/office/drawing/2014/main" id="{212B1FAF-FAB9-2A3D-8DB4-B496D6436A59}"/>
              </a:ext>
            </a:extLst>
          </p:cNvPr>
          <p:cNvSpPr>
            <a:spLocks noChangeArrowheads="1"/>
          </p:cNvSpPr>
          <p:nvPr/>
        </p:nvSpPr>
        <p:spPr bwMode="auto">
          <a:xfrm>
            <a:off x="4215218" y="4250635"/>
            <a:ext cx="457200" cy="228600"/>
          </a:xfrm>
          <a:prstGeom prst="rect">
            <a:avLst/>
          </a:prstGeom>
          <a:solidFill>
            <a:srgbClr val="FF66FF"/>
          </a:solidFill>
          <a:ln w="9525">
            <a:solidFill>
              <a:schemeClr val="tx1"/>
            </a:solidFill>
            <a:miter lim="800000"/>
            <a:headEnd/>
            <a:tailEnd/>
          </a:ln>
          <a:effectLst/>
        </p:spPr>
        <p:txBody>
          <a:bodyPr wrap="none" anchor="ctr"/>
          <a:lstStyle/>
          <a:p>
            <a:endParaRPr lang="zh-CN" altLang="en-US"/>
          </a:p>
        </p:txBody>
      </p:sp>
      <p:sp>
        <p:nvSpPr>
          <p:cNvPr id="8" name="Rectangle 14">
            <a:extLst>
              <a:ext uri="{FF2B5EF4-FFF2-40B4-BE49-F238E27FC236}">
                <a16:creationId xmlns:a16="http://schemas.microsoft.com/office/drawing/2014/main" id="{00BD5C8B-D066-E62A-15EF-791A2251AABE}"/>
              </a:ext>
            </a:extLst>
          </p:cNvPr>
          <p:cNvSpPr>
            <a:spLocks noChangeArrowheads="1"/>
          </p:cNvSpPr>
          <p:nvPr/>
        </p:nvSpPr>
        <p:spPr bwMode="auto">
          <a:xfrm>
            <a:off x="3643176" y="425063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9" name="Rectangle 22">
            <a:extLst>
              <a:ext uri="{FF2B5EF4-FFF2-40B4-BE49-F238E27FC236}">
                <a16:creationId xmlns:a16="http://schemas.microsoft.com/office/drawing/2014/main" id="{23ECD9A4-FF2A-1D66-DF7F-9DC00F856E81}"/>
              </a:ext>
            </a:extLst>
          </p:cNvPr>
          <p:cNvSpPr>
            <a:spLocks noChangeArrowheads="1"/>
          </p:cNvSpPr>
          <p:nvPr/>
        </p:nvSpPr>
        <p:spPr bwMode="auto">
          <a:xfrm>
            <a:off x="3031945" y="3793435"/>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10" name="Rectangle 23">
            <a:extLst>
              <a:ext uri="{FF2B5EF4-FFF2-40B4-BE49-F238E27FC236}">
                <a16:creationId xmlns:a16="http://schemas.microsoft.com/office/drawing/2014/main" id="{493F06E0-4318-9A31-0319-6FB17CD0C07E}"/>
              </a:ext>
            </a:extLst>
          </p:cNvPr>
          <p:cNvSpPr>
            <a:spLocks noChangeArrowheads="1"/>
          </p:cNvSpPr>
          <p:nvPr/>
        </p:nvSpPr>
        <p:spPr bwMode="auto">
          <a:xfrm>
            <a:off x="2433777" y="364103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1" name="Rectangle 24">
            <a:extLst>
              <a:ext uri="{FF2B5EF4-FFF2-40B4-BE49-F238E27FC236}">
                <a16:creationId xmlns:a16="http://schemas.microsoft.com/office/drawing/2014/main" id="{84C0040F-DB0C-C89D-2C8C-5DAB295039F8}"/>
              </a:ext>
            </a:extLst>
          </p:cNvPr>
          <p:cNvSpPr>
            <a:spLocks noChangeArrowheads="1"/>
          </p:cNvSpPr>
          <p:nvPr/>
        </p:nvSpPr>
        <p:spPr bwMode="auto">
          <a:xfrm>
            <a:off x="3031945" y="4250635"/>
            <a:ext cx="457200" cy="228600"/>
          </a:xfrm>
          <a:prstGeom prst="rect">
            <a:avLst/>
          </a:prstGeom>
          <a:solidFill>
            <a:srgbClr val="FF66FF"/>
          </a:solidFill>
          <a:ln w="9525">
            <a:solidFill>
              <a:schemeClr val="tx1"/>
            </a:solidFill>
            <a:miter lim="800000"/>
            <a:headEnd/>
            <a:tailEnd/>
          </a:ln>
          <a:effectLst/>
        </p:spPr>
        <p:txBody>
          <a:bodyPr wrap="none" anchor="ctr"/>
          <a:lstStyle/>
          <a:p>
            <a:endParaRPr lang="zh-CN" altLang="en-US"/>
          </a:p>
        </p:txBody>
      </p:sp>
      <p:sp>
        <p:nvSpPr>
          <p:cNvPr id="12" name="Rectangle 25">
            <a:extLst>
              <a:ext uri="{FF2B5EF4-FFF2-40B4-BE49-F238E27FC236}">
                <a16:creationId xmlns:a16="http://schemas.microsoft.com/office/drawing/2014/main" id="{2E3DE5CB-B313-54D5-A6D2-98C3A9AA4D89}"/>
              </a:ext>
            </a:extLst>
          </p:cNvPr>
          <p:cNvSpPr>
            <a:spLocks noChangeArrowheads="1"/>
          </p:cNvSpPr>
          <p:nvPr/>
        </p:nvSpPr>
        <p:spPr bwMode="auto">
          <a:xfrm>
            <a:off x="2433777" y="440303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3" name="矩形 12">
            <a:extLst>
              <a:ext uri="{FF2B5EF4-FFF2-40B4-BE49-F238E27FC236}">
                <a16:creationId xmlns:a16="http://schemas.microsoft.com/office/drawing/2014/main" id="{6764AE34-4493-D2E6-BBAE-F0495858E3F6}"/>
              </a:ext>
            </a:extLst>
          </p:cNvPr>
          <p:cNvSpPr/>
          <p:nvPr/>
        </p:nvSpPr>
        <p:spPr>
          <a:xfrm>
            <a:off x="2890977" y="2350612"/>
            <a:ext cx="6578819" cy="961289"/>
          </a:xfrm>
          <a:prstGeom prst="rect">
            <a:avLst/>
          </a:prstGeom>
          <a:solidFill>
            <a:srgbClr val="000099"/>
          </a:solidFill>
        </p:spPr>
        <p:txBody>
          <a:bodyPr wrap="square" anchor="ctr">
            <a:spAutoFit/>
          </a:bodyPr>
          <a:lstStyle/>
          <a:p>
            <a:pPr algn="ctr">
              <a:lnSpc>
                <a:spcPct val="150000"/>
              </a:lnSpc>
            </a:pPr>
            <a:r>
              <a:rPr lang="zh-CN" altLang="en-US" sz="2000" b="1" dirty="0">
                <a:solidFill>
                  <a:schemeClr val="bg1"/>
                </a:solidFill>
                <a:latin typeface="微软雅黑" pitchFamily="34" charset="-122"/>
                <a:ea typeface="微软雅黑" pitchFamily="34" charset="-122"/>
              </a:rPr>
              <a:t>若路由器进行了尾部丢弃，</a:t>
            </a:r>
            <a:endParaRPr lang="en-US" altLang="zh-CN" sz="2000" b="1" dirty="0">
              <a:solidFill>
                <a:schemeClr val="bg1"/>
              </a:solidFill>
              <a:latin typeface="微软雅黑" pitchFamily="34" charset="-122"/>
              <a:ea typeface="微软雅黑" pitchFamily="34" charset="-122"/>
            </a:endParaRPr>
          </a:p>
          <a:p>
            <a:pPr algn="ctr">
              <a:lnSpc>
                <a:spcPct val="150000"/>
              </a:lnSpc>
            </a:pPr>
            <a:r>
              <a:rPr lang="zh-CN" altLang="en-US" sz="2000" b="1" dirty="0">
                <a:solidFill>
                  <a:schemeClr val="bg1"/>
                </a:solidFill>
                <a:latin typeface="微软雅黑" pitchFamily="34" charset="-122"/>
                <a:ea typeface="微软雅黑" pitchFamily="34" charset="-122"/>
              </a:rPr>
              <a:t>所有到达的分组都被丢弃，不论它们属于哪个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连接。</a:t>
            </a:r>
          </a:p>
        </p:txBody>
      </p:sp>
      <p:grpSp>
        <p:nvGrpSpPr>
          <p:cNvPr id="14" name="组合 13">
            <a:extLst>
              <a:ext uri="{FF2B5EF4-FFF2-40B4-BE49-F238E27FC236}">
                <a16:creationId xmlns:a16="http://schemas.microsoft.com/office/drawing/2014/main" id="{0CE8F5D3-CAFE-3D2E-7992-74E8E19E918A}"/>
              </a:ext>
            </a:extLst>
          </p:cNvPr>
          <p:cNvGrpSpPr/>
          <p:nvPr/>
        </p:nvGrpSpPr>
        <p:grpSpPr>
          <a:xfrm>
            <a:off x="5816355" y="3661181"/>
            <a:ext cx="4165845" cy="1143000"/>
            <a:chOff x="4235261" y="2103118"/>
            <a:chExt cx="4165845" cy="1143000"/>
          </a:xfrm>
        </p:grpSpPr>
        <p:grpSp>
          <p:nvGrpSpPr>
            <p:cNvPr id="15" name="组合 14">
              <a:extLst>
                <a:ext uri="{FF2B5EF4-FFF2-40B4-BE49-F238E27FC236}">
                  <a16:creationId xmlns:a16="http://schemas.microsoft.com/office/drawing/2014/main" id="{6192DC74-C913-09C0-EE93-3AC8B7A1F8F9}"/>
                </a:ext>
              </a:extLst>
            </p:cNvPr>
            <p:cNvGrpSpPr/>
            <p:nvPr/>
          </p:nvGrpSpPr>
          <p:grpSpPr>
            <a:xfrm>
              <a:off x="4235261" y="2103118"/>
              <a:ext cx="3864782" cy="1143000"/>
              <a:chOff x="4313639" y="2103118"/>
              <a:chExt cx="3864782" cy="1143000"/>
            </a:xfrm>
          </p:grpSpPr>
          <p:sp>
            <p:nvSpPr>
              <p:cNvPr id="17" name="Freeform 24">
                <a:extLst>
                  <a:ext uri="{FF2B5EF4-FFF2-40B4-BE49-F238E27FC236}">
                    <a16:creationId xmlns:a16="http://schemas.microsoft.com/office/drawing/2014/main" id="{99003104-C399-0302-7943-FC95762B329E}"/>
                  </a:ext>
                </a:extLst>
              </p:cNvPr>
              <p:cNvSpPr>
                <a:spLocks/>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headEnd/>
                <a:tailEnd/>
              </a:ln>
              <a:effectLst/>
            </p:spPr>
            <p:txBody>
              <a:bodyPr/>
              <a:lstStyle/>
              <a:p>
                <a:endParaRPr lang="zh-CN" altLang="en-US"/>
              </a:p>
            </p:txBody>
          </p:sp>
          <p:sp>
            <p:nvSpPr>
              <p:cNvPr id="18" name="Line 20">
                <a:extLst>
                  <a:ext uri="{FF2B5EF4-FFF2-40B4-BE49-F238E27FC236}">
                    <a16:creationId xmlns:a16="http://schemas.microsoft.com/office/drawing/2014/main" id="{05D4E451-040F-B118-8958-AFB9C0166213}"/>
                  </a:ext>
                </a:extLst>
              </p:cNvPr>
              <p:cNvSpPr>
                <a:spLocks noChangeShapeType="1"/>
              </p:cNvSpPr>
              <p:nvPr/>
            </p:nvSpPr>
            <p:spPr bwMode="auto">
              <a:xfrm>
                <a:off x="6603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1">
                <a:extLst>
                  <a:ext uri="{FF2B5EF4-FFF2-40B4-BE49-F238E27FC236}">
                    <a16:creationId xmlns:a16="http://schemas.microsoft.com/office/drawing/2014/main" id="{FBC3115E-4E28-0EED-5DFE-19746D8D5C8A}"/>
                  </a:ext>
                </a:extLst>
              </p:cNvPr>
              <p:cNvSpPr>
                <a:spLocks noChangeShapeType="1"/>
              </p:cNvSpPr>
              <p:nvPr/>
            </p:nvSpPr>
            <p:spPr bwMode="auto">
              <a:xfrm>
                <a:off x="5841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2">
                <a:extLst>
                  <a:ext uri="{FF2B5EF4-FFF2-40B4-BE49-F238E27FC236}">
                    <a16:creationId xmlns:a16="http://schemas.microsoft.com/office/drawing/2014/main" id="{17C02C30-B5C7-05E3-FE68-42D53E09A950}"/>
                  </a:ext>
                </a:extLst>
              </p:cNvPr>
              <p:cNvSpPr>
                <a:spLocks noChangeShapeType="1"/>
              </p:cNvSpPr>
              <p:nvPr/>
            </p:nvSpPr>
            <p:spPr bwMode="auto">
              <a:xfrm>
                <a:off x="5079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25">
                <a:extLst>
                  <a:ext uri="{FF2B5EF4-FFF2-40B4-BE49-F238E27FC236}">
                    <a16:creationId xmlns:a16="http://schemas.microsoft.com/office/drawing/2014/main" id="{FF455D65-8765-6E70-CD95-1678147DDB5A}"/>
                  </a:ext>
                </a:extLst>
              </p:cNvPr>
              <p:cNvSpPr>
                <a:spLocks noChangeShapeType="1"/>
              </p:cNvSpPr>
              <p:nvPr/>
            </p:nvSpPr>
            <p:spPr bwMode="auto">
              <a:xfrm>
                <a:off x="7387039"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Oval 2058">
                <a:extLst>
                  <a:ext uri="{FF2B5EF4-FFF2-40B4-BE49-F238E27FC236}">
                    <a16:creationId xmlns:a16="http://schemas.microsoft.com/office/drawing/2014/main" id="{75F1336F-451E-1008-8BFB-42B5CD5BFB15}"/>
                  </a:ext>
                </a:extLst>
              </p:cNvPr>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a:p>
            </p:txBody>
          </p:sp>
        </p:grpSp>
        <p:sp>
          <p:nvSpPr>
            <p:cNvPr id="16" name="Line 25">
              <a:extLst>
                <a:ext uri="{FF2B5EF4-FFF2-40B4-BE49-F238E27FC236}">
                  <a16:creationId xmlns:a16="http://schemas.microsoft.com/office/drawing/2014/main" id="{5D79B402-BA4E-D690-8772-AD67063748BE}"/>
                </a:ext>
              </a:extLst>
            </p:cNvPr>
            <p:cNvSpPr>
              <a:spLocks noChangeShapeType="1"/>
            </p:cNvSpPr>
            <p:nvPr/>
          </p:nvSpPr>
          <p:spPr bwMode="auto">
            <a:xfrm>
              <a:off x="8113106"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4" name="Rectangle 5">
            <a:extLst>
              <a:ext uri="{FF2B5EF4-FFF2-40B4-BE49-F238E27FC236}">
                <a16:creationId xmlns:a16="http://schemas.microsoft.com/office/drawing/2014/main" id="{5AE98FD3-D78D-C881-A7D0-E57FB504DC9A}"/>
              </a:ext>
            </a:extLst>
          </p:cNvPr>
          <p:cNvSpPr>
            <a:spLocks noChangeArrowheads="1"/>
          </p:cNvSpPr>
          <p:nvPr/>
        </p:nvSpPr>
        <p:spPr bwMode="auto">
          <a:xfrm>
            <a:off x="8304790" y="4099804"/>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5" name="Rectangle 6">
            <a:extLst>
              <a:ext uri="{FF2B5EF4-FFF2-40B4-BE49-F238E27FC236}">
                <a16:creationId xmlns:a16="http://schemas.microsoft.com/office/drawing/2014/main" id="{DDA1064F-83B2-2C75-D121-88AFE0818B76}"/>
              </a:ext>
            </a:extLst>
          </p:cNvPr>
          <p:cNvSpPr>
            <a:spLocks noChangeArrowheads="1"/>
          </p:cNvSpPr>
          <p:nvPr/>
        </p:nvSpPr>
        <p:spPr bwMode="auto">
          <a:xfrm>
            <a:off x="7542790" y="4099804"/>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26" name="Rectangle 7">
            <a:extLst>
              <a:ext uri="{FF2B5EF4-FFF2-40B4-BE49-F238E27FC236}">
                <a16:creationId xmlns:a16="http://schemas.microsoft.com/office/drawing/2014/main" id="{2C24C253-4D4B-9DC2-D963-83241641E904}"/>
              </a:ext>
            </a:extLst>
          </p:cNvPr>
          <p:cNvSpPr>
            <a:spLocks noChangeArrowheads="1"/>
          </p:cNvSpPr>
          <p:nvPr/>
        </p:nvSpPr>
        <p:spPr bwMode="auto">
          <a:xfrm>
            <a:off x="6704590" y="4099804"/>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37" name="Rectangle 8">
            <a:extLst>
              <a:ext uri="{FF2B5EF4-FFF2-40B4-BE49-F238E27FC236}">
                <a16:creationId xmlns:a16="http://schemas.microsoft.com/office/drawing/2014/main" id="{13D97056-292C-F2BD-6BB4-51F3EA568FCC}"/>
              </a:ext>
            </a:extLst>
          </p:cNvPr>
          <p:cNvSpPr>
            <a:spLocks noChangeArrowheads="1"/>
          </p:cNvSpPr>
          <p:nvPr/>
        </p:nvSpPr>
        <p:spPr bwMode="auto">
          <a:xfrm>
            <a:off x="5942590" y="4099804"/>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38" name="Line 25">
            <a:extLst>
              <a:ext uri="{FF2B5EF4-FFF2-40B4-BE49-F238E27FC236}">
                <a16:creationId xmlns:a16="http://schemas.microsoft.com/office/drawing/2014/main" id="{00387C56-5A19-33A4-11EC-4C04EED384D5}"/>
              </a:ext>
            </a:extLst>
          </p:cNvPr>
          <p:cNvSpPr>
            <a:spLocks noChangeShapeType="1"/>
          </p:cNvSpPr>
          <p:nvPr/>
        </p:nvSpPr>
        <p:spPr bwMode="auto">
          <a:xfrm flipV="1">
            <a:off x="5875846" y="4835546"/>
            <a:ext cx="0" cy="495300"/>
          </a:xfrm>
          <a:prstGeom prst="line">
            <a:avLst/>
          </a:prstGeom>
          <a:noFill/>
          <a:ln w="381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Text Box 26">
            <a:extLst>
              <a:ext uri="{FF2B5EF4-FFF2-40B4-BE49-F238E27FC236}">
                <a16:creationId xmlns:a16="http://schemas.microsoft.com/office/drawing/2014/main" id="{44C9FFA2-9024-D7C9-7B33-35244BFDC5E2}"/>
              </a:ext>
            </a:extLst>
          </p:cNvPr>
          <p:cNvSpPr txBox="1">
            <a:spLocks noChangeArrowheads="1"/>
          </p:cNvSpPr>
          <p:nvPr/>
        </p:nvSpPr>
        <p:spPr bwMode="auto">
          <a:xfrm>
            <a:off x="5878797" y="5013330"/>
            <a:ext cx="1261884" cy="307777"/>
          </a:xfrm>
          <a:prstGeom prst="rect">
            <a:avLst/>
          </a:prstGeom>
          <a:noFill/>
          <a:ln>
            <a:noFill/>
          </a:ln>
          <a:effectLst/>
        </p:spPr>
        <p:txBody>
          <a:bodyPr wrap="square">
            <a:spAutoFit/>
          </a:bodyPr>
          <a:lstStyle/>
          <a:p>
            <a:pPr algn="l" eaLnBrk="1" hangingPunct="1"/>
            <a:r>
              <a:rPr lang="zh-CN" altLang="en-US" sz="1400" b="1" dirty="0">
                <a:solidFill>
                  <a:srgbClr val="000099"/>
                </a:solidFill>
                <a:effectLst/>
                <a:latin typeface="微软雅黑" pitchFamily="34" charset="-122"/>
                <a:ea typeface="微软雅黑" pitchFamily="34" charset="-122"/>
              </a:rPr>
              <a:t>最大队列长度</a:t>
            </a:r>
            <a:endParaRPr lang="en-US" altLang="zh-TW" sz="1400" b="1" dirty="0">
              <a:solidFill>
                <a:srgbClr val="000099"/>
              </a:solidFill>
              <a:effectLst/>
              <a:latin typeface="微软雅黑" pitchFamily="34" charset="-122"/>
              <a:ea typeface="微软雅黑" pitchFamily="34" charset="-122"/>
            </a:endParaRPr>
          </a:p>
        </p:txBody>
      </p:sp>
    </p:spTree>
    <p:extLst>
      <p:ext uri="{BB962C8B-B14F-4D97-AF65-F5344CB8AC3E}">
        <p14:creationId xmlns:p14="http://schemas.microsoft.com/office/powerpoint/2010/main" val="2740627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2000" fill="hold"/>
                                        <p:tgtEl>
                                          <p:spTgt spid="24"/>
                                        </p:tgtEl>
                                        <p:attrNameLst>
                                          <p:attrName>ppt_x</p:attrName>
                                        </p:attrNameLst>
                                      </p:cBhvr>
                                      <p:tavLst>
                                        <p:tav tm="0">
                                          <p:val>
                                            <p:strVal val="0-#ppt_w/2"/>
                                          </p:val>
                                        </p:tav>
                                        <p:tav tm="100000">
                                          <p:val>
                                            <p:strVal val="#ppt_x"/>
                                          </p:val>
                                        </p:tav>
                                      </p:tavLst>
                                    </p:anim>
                                    <p:anim calcmode="lin" valueType="num">
                                      <p:cBhvr additive="base">
                                        <p:cTn id="8" dur="20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2000" fill="hold"/>
                                        <p:tgtEl>
                                          <p:spTgt spid="25"/>
                                        </p:tgtEl>
                                        <p:attrNameLst>
                                          <p:attrName>ppt_x</p:attrName>
                                        </p:attrNameLst>
                                      </p:cBhvr>
                                      <p:tavLst>
                                        <p:tav tm="0">
                                          <p:val>
                                            <p:strVal val="0-#ppt_w/2"/>
                                          </p:val>
                                        </p:tav>
                                        <p:tav tm="100000">
                                          <p:val>
                                            <p:strVal val="#ppt_x"/>
                                          </p:val>
                                        </p:tav>
                                      </p:tavLst>
                                    </p:anim>
                                    <p:anim calcmode="lin" valueType="num">
                                      <p:cBhvr additive="base">
                                        <p:cTn id="12" dur="20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2000" fill="hold"/>
                                        <p:tgtEl>
                                          <p:spTgt spid="26"/>
                                        </p:tgtEl>
                                        <p:attrNameLst>
                                          <p:attrName>ppt_x</p:attrName>
                                        </p:attrNameLst>
                                      </p:cBhvr>
                                      <p:tavLst>
                                        <p:tav tm="0">
                                          <p:val>
                                            <p:strVal val="0-#ppt_w/2"/>
                                          </p:val>
                                        </p:tav>
                                        <p:tav tm="100000">
                                          <p:val>
                                            <p:strVal val="#ppt_x"/>
                                          </p:val>
                                        </p:tav>
                                      </p:tavLst>
                                    </p:anim>
                                    <p:anim calcmode="lin" valueType="num">
                                      <p:cBhvr additive="base">
                                        <p:cTn id="16" dur="2000" fill="hold"/>
                                        <p:tgtEl>
                                          <p:spTgt spid="2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2000" fill="hold"/>
                                        <p:tgtEl>
                                          <p:spTgt spid="37"/>
                                        </p:tgtEl>
                                        <p:attrNameLst>
                                          <p:attrName>ppt_x</p:attrName>
                                        </p:attrNameLst>
                                      </p:cBhvr>
                                      <p:tavLst>
                                        <p:tav tm="0">
                                          <p:val>
                                            <p:strVal val="0-#ppt_w/2"/>
                                          </p:val>
                                        </p:tav>
                                        <p:tav tm="100000">
                                          <p:val>
                                            <p:strVal val="#ppt_x"/>
                                          </p:val>
                                        </p:tav>
                                      </p:tavLst>
                                    </p:anim>
                                    <p:anim calcmode="lin" valueType="num">
                                      <p:cBhvr additive="base">
                                        <p:cTn id="20" dur="2000" fill="hold"/>
                                        <p:tgtEl>
                                          <p:spTgt spid="3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2000" fill="hold"/>
                                        <p:tgtEl>
                                          <p:spTgt spid="3"/>
                                        </p:tgtEl>
                                        <p:attrNameLst>
                                          <p:attrName>ppt_x</p:attrName>
                                        </p:attrNameLst>
                                      </p:cBhvr>
                                      <p:tavLst>
                                        <p:tav tm="0">
                                          <p:val>
                                            <p:strVal val="0-#ppt_w/2"/>
                                          </p:val>
                                        </p:tav>
                                        <p:tav tm="100000">
                                          <p:val>
                                            <p:strVal val="#ppt_x"/>
                                          </p:val>
                                        </p:tav>
                                      </p:tavLst>
                                    </p:anim>
                                    <p:anim calcmode="lin" valueType="num">
                                      <p:cBhvr additive="base">
                                        <p:cTn id="24" dur="2000" fill="hold"/>
                                        <p:tgtEl>
                                          <p:spTgt spid="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2000" fill="hold"/>
                                        <p:tgtEl>
                                          <p:spTgt spid="6"/>
                                        </p:tgtEl>
                                        <p:attrNameLst>
                                          <p:attrName>ppt_x</p:attrName>
                                        </p:attrNameLst>
                                      </p:cBhvr>
                                      <p:tavLst>
                                        <p:tav tm="0">
                                          <p:val>
                                            <p:strVal val="0-#ppt_w/2"/>
                                          </p:val>
                                        </p:tav>
                                        <p:tav tm="100000">
                                          <p:val>
                                            <p:strVal val="#ppt_x"/>
                                          </p:val>
                                        </p:tav>
                                      </p:tavLst>
                                    </p:anim>
                                    <p:anim calcmode="lin" valueType="num">
                                      <p:cBhvr additive="base">
                                        <p:cTn id="28" dur="2000" fill="hold"/>
                                        <p:tgtEl>
                                          <p:spTgt spid="6"/>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2000" fill="hold"/>
                                        <p:tgtEl>
                                          <p:spTgt spid="4"/>
                                        </p:tgtEl>
                                        <p:attrNameLst>
                                          <p:attrName>ppt_x</p:attrName>
                                        </p:attrNameLst>
                                      </p:cBhvr>
                                      <p:tavLst>
                                        <p:tav tm="0">
                                          <p:val>
                                            <p:strVal val="0-#ppt_w/2"/>
                                          </p:val>
                                        </p:tav>
                                        <p:tav tm="100000">
                                          <p:val>
                                            <p:strVal val="#ppt_x"/>
                                          </p:val>
                                        </p:tav>
                                      </p:tavLst>
                                    </p:anim>
                                    <p:anim calcmode="lin" valueType="num">
                                      <p:cBhvr additive="base">
                                        <p:cTn id="32" dur="2000" fill="hold"/>
                                        <p:tgtEl>
                                          <p:spTgt spid="4"/>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2000" fill="hold"/>
                                        <p:tgtEl>
                                          <p:spTgt spid="7"/>
                                        </p:tgtEl>
                                        <p:attrNameLst>
                                          <p:attrName>ppt_x</p:attrName>
                                        </p:attrNameLst>
                                      </p:cBhvr>
                                      <p:tavLst>
                                        <p:tav tm="0">
                                          <p:val>
                                            <p:strVal val="0-#ppt_w/2"/>
                                          </p:val>
                                        </p:tav>
                                        <p:tav tm="100000">
                                          <p:val>
                                            <p:strVal val="#ppt_x"/>
                                          </p:val>
                                        </p:tav>
                                      </p:tavLst>
                                    </p:anim>
                                    <p:anim calcmode="lin" valueType="num">
                                      <p:cBhvr additive="base">
                                        <p:cTn id="36" dur="2000" fill="hold"/>
                                        <p:tgtEl>
                                          <p:spTgt spid="7"/>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2000" fill="hold"/>
                                        <p:tgtEl>
                                          <p:spTgt spid="5"/>
                                        </p:tgtEl>
                                        <p:attrNameLst>
                                          <p:attrName>ppt_x</p:attrName>
                                        </p:attrNameLst>
                                      </p:cBhvr>
                                      <p:tavLst>
                                        <p:tav tm="0">
                                          <p:val>
                                            <p:strVal val="0-#ppt_w/2"/>
                                          </p:val>
                                        </p:tav>
                                        <p:tav tm="100000">
                                          <p:val>
                                            <p:strVal val="#ppt_x"/>
                                          </p:val>
                                        </p:tav>
                                      </p:tavLst>
                                    </p:anim>
                                    <p:anim calcmode="lin" valueType="num">
                                      <p:cBhvr additive="base">
                                        <p:cTn id="40" dur="2000" fill="hold"/>
                                        <p:tgtEl>
                                          <p:spTgt spid="5"/>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2000" fill="hold"/>
                                        <p:tgtEl>
                                          <p:spTgt spid="8"/>
                                        </p:tgtEl>
                                        <p:attrNameLst>
                                          <p:attrName>ppt_x</p:attrName>
                                        </p:attrNameLst>
                                      </p:cBhvr>
                                      <p:tavLst>
                                        <p:tav tm="0">
                                          <p:val>
                                            <p:strVal val="0-#ppt_w/2"/>
                                          </p:val>
                                        </p:tav>
                                        <p:tav tm="100000">
                                          <p:val>
                                            <p:strVal val="#ppt_x"/>
                                          </p:val>
                                        </p:tav>
                                      </p:tavLst>
                                    </p:anim>
                                    <p:anim calcmode="lin" valueType="num">
                                      <p:cBhvr additive="base">
                                        <p:cTn id="44" dur="2000" fill="hold"/>
                                        <p:tgtEl>
                                          <p:spTgt spid="8"/>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2000" fill="hold"/>
                                        <p:tgtEl>
                                          <p:spTgt spid="11"/>
                                        </p:tgtEl>
                                        <p:attrNameLst>
                                          <p:attrName>ppt_x</p:attrName>
                                        </p:attrNameLst>
                                      </p:cBhvr>
                                      <p:tavLst>
                                        <p:tav tm="0">
                                          <p:val>
                                            <p:strVal val="0-#ppt_w/2"/>
                                          </p:val>
                                        </p:tav>
                                        <p:tav tm="100000">
                                          <p:val>
                                            <p:strVal val="#ppt_x"/>
                                          </p:val>
                                        </p:tav>
                                      </p:tavLst>
                                    </p:anim>
                                    <p:anim calcmode="lin" valueType="num">
                                      <p:cBhvr additive="base">
                                        <p:cTn id="48" dur="2000" fill="hold"/>
                                        <p:tgtEl>
                                          <p:spTgt spid="11"/>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additive="base">
                                        <p:cTn id="51" dur="2000" fill="hold"/>
                                        <p:tgtEl>
                                          <p:spTgt spid="9"/>
                                        </p:tgtEl>
                                        <p:attrNameLst>
                                          <p:attrName>ppt_x</p:attrName>
                                        </p:attrNameLst>
                                      </p:cBhvr>
                                      <p:tavLst>
                                        <p:tav tm="0">
                                          <p:val>
                                            <p:strVal val="0-#ppt_w/2"/>
                                          </p:val>
                                        </p:tav>
                                        <p:tav tm="100000">
                                          <p:val>
                                            <p:strVal val="#ppt_x"/>
                                          </p:val>
                                        </p:tav>
                                      </p:tavLst>
                                    </p:anim>
                                    <p:anim calcmode="lin" valueType="num">
                                      <p:cBhvr additive="base">
                                        <p:cTn id="52" dur="2000" fill="hold"/>
                                        <p:tgtEl>
                                          <p:spTgt spid="9"/>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2000" fill="hold"/>
                                        <p:tgtEl>
                                          <p:spTgt spid="10"/>
                                        </p:tgtEl>
                                        <p:attrNameLst>
                                          <p:attrName>ppt_x</p:attrName>
                                        </p:attrNameLst>
                                      </p:cBhvr>
                                      <p:tavLst>
                                        <p:tav tm="0">
                                          <p:val>
                                            <p:strVal val="0-#ppt_w/2"/>
                                          </p:val>
                                        </p:tav>
                                        <p:tav tm="100000">
                                          <p:val>
                                            <p:strVal val="#ppt_x"/>
                                          </p:val>
                                        </p:tav>
                                      </p:tavLst>
                                    </p:anim>
                                    <p:anim calcmode="lin" valueType="num">
                                      <p:cBhvr additive="base">
                                        <p:cTn id="56" dur="2000" fill="hold"/>
                                        <p:tgtEl>
                                          <p:spTgt spid="10"/>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additive="base">
                                        <p:cTn id="59" dur="2000" fill="hold"/>
                                        <p:tgtEl>
                                          <p:spTgt spid="12"/>
                                        </p:tgtEl>
                                        <p:attrNameLst>
                                          <p:attrName>ppt_x</p:attrName>
                                        </p:attrNameLst>
                                      </p:cBhvr>
                                      <p:tavLst>
                                        <p:tav tm="0">
                                          <p:val>
                                            <p:strVal val="0-#ppt_w/2"/>
                                          </p:val>
                                        </p:tav>
                                        <p:tav tm="100000">
                                          <p:val>
                                            <p:strVal val="#ppt_x"/>
                                          </p:val>
                                        </p:tav>
                                      </p:tavLst>
                                    </p:anim>
                                    <p:anim calcmode="lin" valueType="num">
                                      <p:cBhvr additive="base">
                                        <p:cTn id="60" dur="2000" fill="hold"/>
                                        <p:tgtEl>
                                          <p:spTgt spid="12"/>
                                        </p:tgtEl>
                                        <p:attrNameLst>
                                          <p:attrName>ppt_y</p:attrName>
                                        </p:attrNameLst>
                                      </p:cBhvr>
                                      <p:tavLst>
                                        <p:tav tm="0">
                                          <p:val>
                                            <p:strVal val="#ppt_y"/>
                                          </p:val>
                                        </p:tav>
                                        <p:tav tm="100000">
                                          <p:val>
                                            <p:strVal val="#ppt_y"/>
                                          </p:val>
                                        </p:tav>
                                      </p:tavLst>
                                    </p:anim>
                                  </p:childTnLst>
                                </p:cTn>
                              </p:par>
                            </p:childTnLst>
                          </p:cTn>
                        </p:par>
                        <p:par>
                          <p:cTn id="61" fill="hold">
                            <p:stCondLst>
                              <p:cond delay="2000"/>
                            </p:stCondLst>
                            <p:childTnLst>
                              <p:par>
                                <p:cTn id="62" presetID="2" presetClass="exit" presetSubtype="4" fill="hold" grpId="1" nodeType="afterEffect">
                                  <p:stCondLst>
                                    <p:cond delay="1000"/>
                                  </p:stCondLst>
                                  <p:childTnLst>
                                    <p:anim calcmode="lin" valueType="num">
                                      <p:cBhvr additive="base">
                                        <p:cTn id="63" dur="2000"/>
                                        <p:tgtEl>
                                          <p:spTgt spid="3"/>
                                        </p:tgtEl>
                                        <p:attrNameLst>
                                          <p:attrName>ppt_x</p:attrName>
                                        </p:attrNameLst>
                                      </p:cBhvr>
                                      <p:tavLst>
                                        <p:tav tm="0">
                                          <p:val>
                                            <p:strVal val="ppt_x"/>
                                          </p:val>
                                        </p:tav>
                                        <p:tav tm="100000">
                                          <p:val>
                                            <p:strVal val="ppt_x"/>
                                          </p:val>
                                        </p:tav>
                                      </p:tavLst>
                                    </p:anim>
                                    <p:anim calcmode="lin" valueType="num">
                                      <p:cBhvr additive="base">
                                        <p:cTn id="64" dur="2000"/>
                                        <p:tgtEl>
                                          <p:spTgt spid="3"/>
                                        </p:tgtEl>
                                        <p:attrNameLst>
                                          <p:attrName>ppt_y</p:attrName>
                                        </p:attrNameLst>
                                      </p:cBhvr>
                                      <p:tavLst>
                                        <p:tav tm="0">
                                          <p:val>
                                            <p:strVal val="ppt_y"/>
                                          </p:val>
                                        </p:tav>
                                        <p:tav tm="100000">
                                          <p:val>
                                            <p:strVal val="1+ppt_h/2"/>
                                          </p:val>
                                        </p:tav>
                                      </p:tavLst>
                                    </p:anim>
                                    <p:set>
                                      <p:cBhvr>
                                        <p:cTn id="65" dur="1" fill="hold">
                                          <p:stCondLst>
                                            <p:cond delay="1999"/>
                                          </p:stCondLst>
                                        </p:cTn>
                                        <p:tgtEl>
                                          <p:spTgt spid="3"/>
                                        </p:tgtEl>
                                        <p:attrNameLst>
                                          <p:attrName>style.visibility</p:attrName>
                                        </p:attrNameLst>
                                      </p:cBhvr>
                                      <p:to>
                                        <p:strVal val="hidden"/>
                                      </p:to>
                                    </p:set>
                                  </p:childTnLst>
                                </p:cTn>
                              </p:par>
                              <p:par>
                                <p:cTn id="66" presetID="2" presetClass="exit" presetSubtype="4" fill="hold" grpId="1" nodeType="withEffect">
                                  <p:stCondLst>
                                    <p:cond delay="1000"/>
                                  </p:stCondLst>
                                  <p:childTnLst>
                                    <p:anim calcmode="lin" valueType="num">
                                      <p:cBhvr additive="base">
                                        <p:cTn id="67" dur="2000"/>
                                        <p:tgtEl>
                                          <p:spTgt spid="6"/>
                                        </p:tgtEl>
                                        <p:attrNameLst>
                                          <p:attrName>ppt_x</p:attrName>
                                        </p:attrNameLst>
                                      </p:cBhvr>
                                      <p:tavLst>
                                        <p:tav tm="0">
                                          <p:val>
                                            <p:strVal val="ppt_x"/>
                                          </p:val>
                                        </p:tav>
                                        <p:tav tm="100000">
                                          <p:val>
                                            <p:strVal val="ppt_x"/>
                                          </p:val>
                                        </p:tav>
                                      </p:tavLst>
                                    </p:anim>
                                    <p:anim calcmode="lin" valueType="num">
                                      <p:cBhvr additive="base">
                                        <p:cTn id="68" dur="2000"/>
                                        <p:tgtEl>
                                          <p:spTgt spid="6"/>
                                        </p:tgtEl>
                                        <p:attrNameLst>
                                          <p:attrName>ppt_y</p:attrName>
                                        </p:attrNameLst>
                                      </p:cBhvr>
                                      <p:tavLst>
                                        <p:tav tm="0">
                                          <p:val>
                                            <p:strVal val="ppt_y"/>
                                          </p:val>
                                        </p:tav>
                                        <p:tav tm="100000">
                                          <p:val>
                                            <p:strVal val="1+ppt_h/2"/>
                                          </p:val>
                                        </p:tav>
                                      </p:tavLst>
                                    </p:anim>
                                    <p:set>
                                      <p:cBhvr>
                                        <p:cTn id="69" dur="1" fill="hold">
                                          <p:stCondLst>
                                            <p:cond delay="1999"/>
                                          </p:stCondLst>
                                        </p:cTn>
                                        <p:tgtEl>
                                          <p:spTgt spid="6"/>
                                        </p:tgtEl>
                                        <p:attrNameLst>
                                          <p:attrName>style.visibility</p:attrName>
                                        </p:attrNameLst>
                                      </p:cBhvr>
                                      <p:to>
                                        <p:strVal val="hidden"/>
                                      </p:to>
                                    </p:set>
                                  </p:childTnLst>
                                </p:cTn>
                              </p:par>
                              <p:par>
                                <p:cTn id="70" presetID="2" presetClass="exit" presetSubtype="4" fill="hold" grpId="1" nodeType="withEffect">
                                  <p:stCondLst>
                                    <p:cond delay="1000"/>
                                  </p:stCondLst>
                                  <p:childTnLst>
                                    <p:anim calcmode="lin" valueType="num">
                                      <p:cBhvr additive="base">
                                        <p:cTn id="71" dur="2000"/>
                                        <p:tgtEl>
                                          <p:spTgt spid="4"/>
                                        </p:tgtEl>
                                        <p:attrNameLst>
                                          <p:attrName>ppt_x</p:attrName>
                                        </p:attrNameLst>
                                      </p:cBhvr>
                                      <p:tavLst>
                                        <p:tav tm="0">
                                          <p:val>
                                            <p:strVal val="ppt_x"/>
                                          </p:val>
                                        </p:tav>
                                        <p:tav tm="100000">
                                          <p:val>
                                            <p:strVal val="ppt_x"/>
                                          </p:val>
                                        </p:tav>
                                      </p:tavLst>
                                    </p:anim>
                                    <p:anim calcmode="lin" valueType="num">
                                      <p:cBhvr additive="base">
                                        <p:cTn id="72" dur="2000"/>
                                        <p:tgtEl>
                                          <p:spTgt spid="4"/>
                                        </p:tgtEl>
                                        <p:attrNameLst>
                                          <p:attrName>ppt_y</p:attrName>
                                        </p:attrNameLst>
                                      </p:cBhvr>
                                      <p:tavLst>
                                        <p:tav tm="0">
                                          <p:val>
                                            <p:strVal val="ppt_y"/>
                                          </p:val>
                                        </p:tav>
                                        <p:tav tm="100000">
                                          <p:val>
                                            <p:strVal val="1+ppt_h/2"/>
                                          </p:val>
                                        </p:tav>
                                      </p:tavLst>
                                    </p:anim>
                                    <p:set>
                                      <p:cBhvr>
                                        <p:cTn id="73" dur="1" fill="hold">
                                          <p:stCondLst>
                                            <p:cond delay="1999"/>
                                          </p:stCondLst>
                                        </p:cTn>
                                        <p:tgtEl>
                                          <p:spTgt spid="4"/>
                                        </p:tgtEl>
                                        <p:attrNameLst>
                                          <p:attrName>style.visibility</p:attrName>
                                        </p:attrNameLst>
                                      </p:cBhvr>
                                      <p:to>
                                        <p:strVal val="hidden"/>
                                      </p:to>
                                    </p:set>
                                  </p:childTnLst>
                                </p:cTn>
                              </p:par>
                              <p:par>
                                <p:cTn id="74" presetID="2" presetClass="exit" presetSubtype="4" fill="hold" grpId="1" nodeType="withEffect">
                                  <p:stCondLst>
                                    <p:cond delay="1000"/>
                                  </p:stCondLst>
                                  <p:childTnLst>
                                    <p:anim calcmode="lin" valueType="num">
                                      <p:cBhvr additive="base">
                                        <p:cTn id="75" dur="2000"/>
                                        <p:tgtEl>
                                          <p:spTgt spid="7"/>
                                        </p:tgtEl>
                                        <p:attrNameLst>
                                          <p:attrName>ppt_x</p:attrName>
                                        </p:attrNameLst>
                                      </p:cBhvr>
                                      <p:tavLst>
                                        <p:tav tm="0">
                                          <p:val>
                                            <p:strVal val="ppt_x"/>
                                          </p:val>
                                        </p:tav>
                                        <p:tav tm="100000">
                                          <p:val>
                                            <p:strVal val="ppt_x"/>
                                          </p:val>
                                        </p:tav>
                                      </p:tavLst>
                                    </p:anim>
                                    <p:anim calcmode="lin" valueType="num">
                                      <p:cBhvr additive="base">
                                        <p:cTn id="76" dur="2000"/>
                                        <p:tgtEl>
                                          <p:spTgt spid="7"/>
                                        </p:tgtEl>
                                        <p:attrNameLst>
                                          <p:attrName>ppt_y</p:attrName>
                                        </p:attrNameLst>
                                      </p:cBhvr>
                                      <p:tavLst>
                                        <p:tav tm="0">
                                          <p:val>
                                            <p:strVal val="ppt_y"/>
                                          </p:val>
                                        </p:tav>
                                        <p:tav tm="100000">
                                          <p:val>
                                            <p:strVal val="1+ppt_h/2"/>
                                          </p:val>
                                        </p:tav>
                                      </p:tavLst>
                                    </p:anim>
                                    <p:set>
                                      <p:cBhvr>
                                        <p:cTn id="77" dur="1" fill="hold">
                                          <p:stCondLst>
                                            <p:cond delay="1999"/>
                                          </p:stCondLst>
                                        </p:cTn>
                                        <p:tgtEl>
                                          <p:spTgt spid="7"/>
                                        </p:tgtEl>
                                        <p:attrNameLst>
                                          <p:attrName>style.visibility</p:attrName>
                                        </p:attrNameLst>
                                      </p:cBhvr>
                                      <p:to>
                                        <p:strVal val="hidden"/>
                                      </p:to>
                                    </p:set>
                                  </p:childTnLst>
                                </p:cTn>
                              </p:par>
                              <p:par>
                                <p:cTn id="78" presetID="2" presetClass="exit" presetSubtype="4" fill="hold" grpId="1" nodeType="withEffect">
                                  <p:stCondLst>
                                    <p:cond delay="1000"/>
                                  </p:stCondLst>
                                  <p:childTnLst>
                                    <p:anim calcmode="lin" valueType="num">
                                      <p:cBhvr additive="base">
                                        <p:cTn id="79" dur="2000"/>
                                        <p:tgtEl>
                                          <p:spTgt spid="5"/>
                                        </p:tgtEl>
                                        <p:attrNameLst>
                                          <p:attrName>ppt_x</p:attrName>
                                        </p:attrNameLst>
                                      </p:cBhvr>
                                      <p:tavLst>
                                        <p:tav tm="0">
                                          <p:val>
                                            <p:strVal val="ppt_x"/>
                                          </p:val>
                                        </p:tav>
                                        <p:tav tm="100000">
                                          <p:val>
                                            <p:strVal val="ppt_x"/>
                                          </p:val>
                                        </p:tav>
                                      </p:tavLst>
                                    </p:anim>
                                    <p:anim calcmode="lin" valueType="num">
                                      <p:cBhvr additive="base">
                                        <p:cTn id="80" dur="2000"/>
                                        <p:tgtEl>
                                          <p:spTgt spid="5"/>
                                        </p:tgtEl>
                                        <p:attrNameLst>
                                          <p:attrName>ppt_y</p:attrName>
                                        </p:attrNameLst>
                                      </p:cBhvr>
                                      <p:tavLst>
                                        <p:tav tm="0">
                                          <p:val>
                                            <p:strVal val="ppt_y"/>
                                          </p:val>
                                        </p:tav>
                                        <p:tav tm="100000">
                                          <p:val>
                                            <p:strVal val="1+ppt_h/2"/>
                                          </p:val>
                                        </p:tav>
                                      </p:tavLst>
                                    </p:anim>
                                    <p:set>
                                      <p:cBhvr>
                                        <p:cTn id="81" dur="1" fill="hold">
                                          <p:stCondLst>
                                            <p:cond delay="1999"/>
                                          </p:stCondLst>
                                        </p:cTn>
                                        <p:tgtEl>
                                          <p:spTgt spid="5"/>
                                        </p:tgtEl>
                                        <p:attrNameLst>
                                          <p:attrName>style.visibility</p:attrName>
                                        </p:attrNameLst>
                                      </p:cBhvr>
                                      <p:to>
                                        <p:strVal val="hidden"/>
                                      </p:to>
                                    </p:set>
                                  </p:childTnLst>
                                </p:cTn>
                              </p:par>
                              <p:par>
                                <p:cTn id="82" presetID="2" presetClass="exit" presetSubtype="4" fill="hold" grpId="1" nodeType="withEffect">
                                  <p:stCondLst>
                                    <p:cond delay="1000"/>
                                  </p:stCondLst>
                                  <p:childTnLst>
                                    <p:anim calcmode="lin" valueType="num">
                                      <p:cBhvr additive="base">
                                        <p:cTn id="83" dur="2000"/>
                                        <p:tgtEl>
                                          <p:spTgt spid="8"/>
                                        </p:tgtEl>
                                        <p:attrNameLst>
                                          <p:attrName>ppt_x</p:attrName>
                                        </p:attrNameLst>
                                      </p:cBhvr>
                                      <p:tavLst>
                                        <p:tav tm="0">
                                          <p:val>
                                            <p:strVal val="ppt_x"/>
                                          </p:val>
                                        </p:tav>
                                        <p:tav tm="100000">
                                          <p:val>
                                            <p:strVal val="ppt_x"/>
                                          </p:val>
                                        </p:tav>
                                      </p:tavLst>
                                    </p:anim>
                                    <p:anim calcmode="lin" valueType="num">
                                      <p:cBhvr additive="base">
                                        <p:cTn id="84" dur="2000"/>
                                        <p:tgtEl>
                                          <p:spTgt spid="8"/>
                                        </p:tgtEl>
                                        <p:attrNameLst>
                                          <p:attrName>ppt_y</p:attrName>
                                        </p:attrNameLst>
                                      </p:cBhvr>
                                      <p:tavLst>
                                        <p:tav tm="0">
                                          <p:val>
                                            <p:strVal val="ppt_y"/>
                                          </p:val>
                                        </p:tav>
                                        <p:tav tm="100000">
                                          <p:val>
                                            <p:strVal val="1+ppt_h/2"/>
                                          </p:val>
                                        </p:tav>
                                      </p:tavLst>
                                    </p:anim>
                                    <p:set>
                                      <p:cBhvr>
                                        <p:cTn id="85" dur="1" fill="hold">
                                          <p:stCondLst>
                                            <p:cond delay="1999"/>
                                          </p:stCondLst>
                                        </p:cTn>
                                        <p:tgtEl>
                                          <p:spTgt spid="8"/>
                                        </p:tgtEl>
                                        <p:attrNameLst>
                                          <p:attrName>style.visibility</p:attrName>
                                        </p:attrNameLst>
                                      </p:cBhvr>
                                      <p:to>
                                        <p:strVal val="hidden"/>
                                      </p:to>
                                    </p:set>
                                  </p:childTnLst>
                                </p:cTn>
                              </p:par>
                              <p:par>
                                <p:cTn id="86" presetID="2" presetClass="exit" presetSubtype="4" fill="hold" grpId="1" nodeType="withEffect">
                                  <p:stCondLst>
                                    <p:cond delay="1000"/>
                                  </p:stCondLst>
                                  <p:childTnLst>
                                    <p:anim calcmode="lin" valueType="num">
                                      <p:cBhvr additive="base">
                                        <p:cTn id="87" dur="2000"/>
                                        <p:tgtEl>
                                          <p:spTgt spid="11"/>
                                        </p:tgtEl>
                                        <p:attrNameLst>
                                          <p:attrName>ppt_x</p:attrName>
                                        </p:attrNameLst>
                                      </p:cBhvr>
                                      <p:tavLst>
                                        <p:tav tm="0">
                                          <p:val>
                                            <p:strVal val="ppt_x"/>
                                          </p:val>
                                        </p:tav>
                                        <p:tav tm="100000">
                                          <p:val>
                                            <p:strVal val="ppt_x"/>
                                          </p:val>
                                        </p:tav>
                                      </p:tavLst>
                                    </p:anim>
                                    <p:anim calcmode="lin" valueType="num">
                                      <p:cBhvr additive="base">
                                        <p:cTn id="88" dur="2000"/>
                                        <p:tgtEl>
                                          <p:spTgt spid="11"/>
                                        </p:tgtEl>
                                        <p:attrNameLst>
                                          <p:attrName>ppt_y</p:attrName>
                                        </p:attrNameLst>
                                      </p:cBhvr>
                                      <p:tavLst>
                                        <p:tav tm="0">
                                          <p:val>
                                            <p:strVal val="ppt_y"/>
                                          </p:val>
                                        </p:tav>
                                        <p:tav tm="100000">
                                          <p:val>
                                            <p:strVal val="1+ppt_h/2"/>
                                          </p:val>
                                        </p:tav>
                                      </p:tavLst>
                                    </p:anim>
                                    <p:set>
                                      <p:cBhvr>
                                        <p:cTn id="89" dur="1" fill="hold">
                                          <p:stCondLst>
                                            <p:cond delay="1999"/>
                                          </p:stCondLst>
                                        </p:cTn>
                                        <p:tgtEl>
                                          <p:spTgt spid="11"/>
                                        </p:tgtEl>
                                        <p:attrNameLst>
                                          <p:attrName>style.visibility</p:attrName>
                                        </p:attrNameLst>
                                      </p:cBhvr>
                                      <p:to>
                                        <p:strVal val="hidden"/>
                                      </p:to>
                                    </p:set>
                                  </p:childTnLst>
                                </p:cTn>
                              </p:par>
                              <p:par>
                                <p:cTn id="90" presetID="2" presetClass="exit" presetSubtype="4" fill="hold" grpId="1" nodeType="withEffect">
                                  <p:stCondLst>
                                    <p:cond delay="1000"/>
                                  </p:stCondLst>
                                  <p:childTnLst>
                                    <p:anim calcmode="lin" valueType="num">
                                      <p:cBhvr additive="base">
                                        <p:cTn id="91" dur="2000"/>
                                        <p:tgtEl>
                                          <p:spTgt spid="9"/>
                                        </p:tgtEl>
                                        <p:attrNameLst>
                                          <p:attrName>ppt_x</p:attrName>
                                        </p:attrNameLst>
                                      </p:cBhvr>
                                      <p:tavLst>
                                        <p:tav tm="0">
                                          <p:val>
                                            <p:strVal val="ppt_x"/>
                                          </p:val>
                                        </p:tav>
                                        <p:tav tm="100000">
                                          <p:val>
                                            <p:strVal val="ppt_x"/>
                                          </p:val>
                                        </p:tav>
                                      </p:tavLst>
                                    </p:anim>
                                    <p:anim calcmode="lin" valueType="num">
                                      <p:cBhvr additive="base">
                                        <p:cTn id="92" dur="2000"/>
                                        <p:tgtEl>
                                          <p:spTgt spid="9"/>
                                        </p:tgtEl>
                                        <p:attrNameLst>
                                          <p:attrName>ppt_y</p:attrName>
                                        </p:attrNameLst>
                                      </p:cBhvr>
                                      <p:tavLst>
                                        <p:tav tm="0">
                                          <p:val>
                                            <p:strVal val="ppt_y"/>
                                          </p:val>
                                        </p:tav>
                                        <p:tav tm="100000">
                                          <p:val>
                                            <p:strVal val="1+ppt_h/2"/>
                                          </p:val>
                                        </p:tav>
                                      </p:tavLst>
                                    </p:anim>
                                    <p:set>
                                      <p:cBhvr>
                                        <p:cTn id="93" dur="1" fill="hold">
                                          <p:stCondLst>
                                            <p:cond delay="1999"/>
                                          </p:stCondLst>
                                        </p:cTn>
                                        <p:tgtEl>
                                          <p:spTgt spid="9"/>
                                        </p:tgtEl>
                                        <p:attrNameLst>
                                          <p:attrName>style.visibility</p:attrName>
                                        </p:attrNameLst>
                                      </p:cBhvr>
                                      <p:to>
                                        <p:strVal val="hidden"/>
                                      </p:to>
                                    </p:set>
                                  </p:childTnLst>
                                </p:cTn>
                              </p:par>
                              <p:par>
                                <p:cTn id="94" presetID="2" presetClass="exit" presetSubtype="4" fill="hold" grpId="1" nodeType="withEffect">
                                  <p:stCondLst>
                                    <p:cond delay="1000"/>
                                  </p:stCondLst>
                                  <p:childTnLst>
                                    <p:anim calcmode="lin" valueType="num">
                                      <p:cBhvr additive="base">
                                        <p:cTn id="95" dur="2000"/>
                                        <p:tgtEl>
                                          <p:spTgt spid="10"/>
                                        </p:tgtEl>
                                        <p:attrNameLst>
                                          <p:attrName>ppt_x</p:attrName>
                                        </p:attrNameLst>
                                      </p:cBhvr>
                                      <p:tavLst>
                                        <p:tav tm="0">
                                          <p:val>
                                            <p:strVal val="ppt_x"/>
                                          </p:val>
                                        </p:tav>
                                        <p:tav tm="100000">
                                          <p:val>
                                            <p:strVal val="ppt_x"/>
                                          </p:val>
                                        </p:tav>
                                      </p:tavLst>
                                    </p:anim>
                                    <p:anim calcmode="lin" valueType="num">
                                      <p:cBhvr additive="base">
                                        <p:cTn id="96" dur="2000"/>
                                        <p:tgtEl>
                                          <p:spTgt spid="10"/>
                                        </p:tgtEl>
                                        <p:attrNameLst>
                                          <p:attrName>ppt_y</p:attrName>
                                        </p:attrNameLst>
                                      </p:cBhvr>
                                      <p:tavLst>
                                        <p:tav tm="0">
                                          <p:val>
                                            <p:strVal val="ppt_y"/>
                                          </p:val>
                                        </p:tav>
                                        <p:tav tm="100000">
                                          <p:val>
                                            <p:strVal val="1+ppt_h/2"/>
                                          </p:val>
                                        </p:tav>
                                      </p:tavLst>
                                    </p:anim>
                                    <p:set>
                                      <p:cBhvr>
                                        <p:cTn id="97" dur="1" fill="hold">
                                          <p:stCondLst>
                                            <p:cond delay="1999"/>
                                          </p:stCondLst>
                                        </p:cTn>
                                        <p:tgtEl>
                                          <p:spTgt spid="10"/>
                                        </p:tgtEl>
                                        <p:attrNameLst>
                                          <p:attrName>style.visibility</p:attrName>
                                        </p:attrNameLst>
                                      </p:cBhvr>
                                      <p:to>
                                        <p:strVal val="hidden"/>
                                      </p:to>
                                    </p:set>
                                  </p:childTnLst>
                                </p:cTn>
                              </p:par>
                              <p:par>
                                <p:cTn id="98" presetID="2" presetClass="exit" presetSubtype="4" fill="hold" grpId="1" nodeType="withEffect">
                                  <p:stCondLst>
                                    <p:cond delay="1000"/>
                                  </p:stCondLst>
                                  <p:childTnLst>
                                    <p:anim calcmode="lin" valueType="num">
                                      <p:cBhvr additive="base">
                                        <p:cTn id="99" dur="2000"/>
                                        <p:tgtEl>
                                          <p:spTgt spid="12"/>
                                        </p:tgtEl>
                                        <p:attrNameLst>
                                          <p:attrName>ppt_x</p:attrName>
                                        </p:attrNameLst>
                                      </p:cBhvr>
                                      <p:tavLst>
                                        <p:tav tm="0">
                                          <p:val>
                                            <p:strVal val="ppt_x"/>
                                          </p:val>
                                        </p:tav>
                                        <p:tav tm="100000">
                                          <p:val>
                                            <p:strVal val="ppt_x"/>
                                          </p:val>
                                        </p:tav>
                                      </p:tavLst>
                                    </p:anim>
                                    <p:anim calcmode="lin" valueType="num">
                                      <p:cBhvr additive="base">
                                        <p:cTn id="100" dur="2000"/>
                                        <p:tgtEl>
                                          <p:spTgt spid="12"/>
                                        </p:tgtEl>
                                        <p:attrNameLst>
                                          <p:attrName>ppt_y</p:attrName>
                                        </p:attrNameLst>
                                      </p:cBhvr>
                                      <p:tavLst>
                                        <p:tav tm="0">
                                          <p:val>
                                            <p:strVal val="ppt_y"/>
                                          </p:val>
                                        </p:tav>
                                        <p:tav tm="100000">
                                          <p:val>
                                            <p:strVal val="1+ppt_h/2"/>
                                          </p:val>
                                        </p:tav>
                                      </p:tavLst>
                                    </p:anim>
                                    <p:set>
                                      <p:cBhvr>
                                        <p:cTn id="101" dur="1" fill="hold">
                                          <p:stCondLst>
                                            <p:cond delay="19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24" grpId="0" animBg="1"/>
      <p:bldP spid="25" grpId="0" animBg="1"/>
      <p:bldP spid="26" grpId="0" animBg="1"/>
      <p:bldP spid="3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EFCF7-2895-4E99-60BF-585E1428B852}"/>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5B46E3A2-9B1B-C710-1C6C-59E1B6F5DC4F}"/>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29</a:t>
            </a:fld>
            <a:endParaRPr lang="zh-CN" altLang="en-US"/>
          </a:p>
        </p:txBody>
      </p:sp>
      <p:grpSp>
        <p:nvGrpSpPr>
          <p:cNvPr id="21" name="组合 20">
            <a:extLst>
              <a:ext uri="{FF2B5EF4-FFF2-40B4-BE49-F238E27FC236}">
                <a16:creationId xmlns:a16="http://schemas.microsoft.com/office/drawing/2014/main" id="{FFA4FEC0-CA66-0EC0-E39C-FE3641333F2E}"/>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E2CA112D-2DF5-5679-DA06-5D82DFD454F3}"/>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3D45CCD9-0B94-E60C-9975-62EF1D85F085}"/>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1C351DE9-0B94-279C-D958-6061A979E554}"/>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被动队列管理</a:t>
                </a:r>
              </a:p>
            </p:txBody>
          </p:sp>
        </p:grpSp>
        <p:pic>
          <p:nvPicPr>
            <p:cNvPr id="28" name="图片 27">
              <a:extLst>
                <a:ext uri="{FF2B5EF4-FFF2-40B4-BE49-F238E27FC236}">
                  <a16:creationId xmlns:a16="http://schemas.microsoft.com/office/drawing/2014/main" id="{CB90532C-59B6-1298-DD2C-AD5804C544A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8DF890F8-3D5F-3E9B-0745-C1CAB689FAB0}"/>
              </a:ext>
            </a:extLst>
          </p:cNvPr>
          <p:cNvGrpSpPr/>
          <p:nvPr/>
        </p:nvGrpSpPr>
        <p:grpSpPr>
          <a:xfrm>
            <a:off x="515938" y="1339655"/>
            <a:ext cx="3959809" cy="526734"/>
            <a:chOff x="722008" y="1303131"/>
            <a:chExt cx="3780942" cy="502942"/>
          </a:xfrm>
        </p:grpSpPr>
        <p:grpSp>
          <p:nvGrpSpPr>
            <p:cNvPr id="3" name="组合 2">
              <a:extLst>
                <a:ext uri="{FF2B5EF4-FFF2-40B4-BE49-F238E27FC236}">
                  <a16:creationId xmlns:a16="http://schemas.microsoft.com/office/drawing/2014/main" id="{FC6A0AEB-60E6-6461-548E-BF133C06E2C6}"/>
                </a:ext>
              </a:extLst>
            </p:cNvPr>
            <p:cNvGrpSpPr/>
            <p:nvPr/>
          </p:nvGrpSpPr>
          <p:grpSpPr>
            <a:xfrm>
              <a:off x="722008" y="1303131"/>
              <a:ext cx="546594" cy="475865"/>
              <a:chOff x="708742" y="1296102"/>
              <a:chExt cx="454744" cy="283828"/>
            </a:xfrm>
          </p:grpSpPr>
          <p:sp>
            <p:nvSpPr>
              <p:cNvPr id="6" name="平行四边形 5">
                <a:extLst>
                  <a:ext uri="{FF2B5EF4-FFF2-40B4-BE49-F238E27FC236}">
                    <a16:creationId xmlns:a16="http://schemas.microsoft.com/office/drawing/2014/main" id="{31BA7C8C-EEFC-9BA6-707C-27DAED7BFF5B}"/>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7" name="平行四边形 6">
                <a:extLst>
                  <a:ext uri="{FF2B5EF4-FFF2-40B4-BE49-F238E27FC236}">
                    <a16:creationId xmlns:a16="http://schemas.microsoft.com/office/drawing/2014/main" id="{2594BBC9-E596-196D-EDAD-DF6853FA3473}"/>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4" name="流程图: 手动输入 6">
              <a:extLst>
                <a:ext uri="{FF2B5EF4-FFF2-40B4-BE49-F238E27FC236}">
                  <a16:creationId xmlns:a16="http://schemas.microsoft.com/office/drawing/2014/main" id="{8C0D8019-87DA-037B-C09D-0E03F9D180A6}"/>
                </a:ext>
              </a:extLst>
            </p:cNvPr>
            <p:cNvSpPr/>
            <p:nvPr/>
          </p:nvSpPr>
          <p:spPr>
            <a:xfrm rot="5400000" flipV="1">
              <a:off x="2432591" y="-137453"/>
              <a:ext cx="475861" cy="336384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5" name="Text Box 79">
              <a:extLst>
                <a:ext uri="{FF2B5EF4-FFF2-40B4-BE49-F238E27FC236}">
                  <a16:creationId xmlns:a16="http://schemas.microsoft.com/office/drawing/2014/main" id="{DD5F323F-9823-4499-90E9-B040929ADAD6}"/>
                </a:ext>
              </a:extLst>
            </p:cNvPr>
            <p:cNvSpPr txBox="1">
              <a:spLocks noChangeArrowheads="1"/>
            </p:cNvSpPr>
            <p:nvPr/>
          </p:nvSpPr>
          <p:spPr bwMode="auto">
            <a:xfrm>
              <a:off x="1351236" y="1335873"/>
              <a:ext cx="3151714"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局限性</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全局同步</a:t>
              </a:r>
            </a:p>
          </p:txBody>
        </p:sp>
      </p:grpSp>
      <p:sp>
        <p:nvSpPr>
          <p:cNvPr id="8" name="圆角矩形 37">
            <a:extLst>
              <a:ext uri="{FF2B5EF4-FFF2-40B4-BE49-F238E27FC236}">
                <a16:creationId xmlns:a16="http://schemas.microsoft.com/office/drawing/2014/main" id="{96211FD3-F4D4-E45C-5DCB-35B2B053FF79}"/>
              </a:ext>
            </a:extLst>
          </p:cNvPr>
          <p:cNvSpPr/>
          <p:nvPr/>
        </p:nvSpPr>
        <p:spPr>
          <a:xfrm>
            <a:off x="645438" y="1992547"/>
            <a:ext cx="10818250" cy="403283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465D55AA-4290-5F37-B61F-23EDFD30BBB6}"/>
              </a:ext>
            </a:extLst>
          </p:cNvPr>
          <p:cNvSpPr/>
          <p:nvPr/>
        </p:nvSpPr>
        <p:spPr>
          <a:xfrm>
            <a:off x="2328524" y="2350454"/>
            <a:ext cx="8216605" cy="605294"/>
          </a:xfrm>
          <a:prstGeom prst="rect">
            <a:avLst/>
          </a:prstGeom>
          <a:solidFill>
            <a:srgbClr val="000099"/>
          </a:solidFill>
        </p:spPr>
        <p:txBody>
          <a:bodyPr wrap="square" anchor="ctr">
            <a:spAutoFit/>
          </a:bodyPr>
          <a:lstStyle/>
          <a:p>
            <a:pPr algn="ctr">
              <a:lnSpc>
                <a:spcPts val="2000"/>
              </a:lnSpc>
            </a:pPr>
            <a:r>
              <a:rPr lang="zh-CN" altLang="en-US" sz="2000" b="1" dirty="0">
                <a:solidFill>
                  <a:schemeClr val="bg1"/>
                </a:solidFill>
                <a:latin typeface="微软雅黑" pitchFamily="34" charset="-122"/>
                <a:ea typeface="微软雅黑" pitchFamily="34" charset="-122"/>
              </a:rPr>
              <a:t>分组丢弃使发送方出现超时重传，使多个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连接</a:t>
            </a:r>
            <a:r>
              <a:rPr lang="zh-CN" altLang="en-US" sz="2000" b="1" dirty="0">
                <a:solidFill>
                  <a:srgbClr val="FFC000"/>
                </a:solidFill>
                <a:latin typeface="微软雅黑" pitchFamily="34" charset="-122"/>
                <a:ea typeface="微软雅黑" pitchFamily="34" charset="-122"/>
              </a:rPr>
              <a:t>同时</a:t>
            </a:r>
            <a:r>
              <a:rPr lang="zh-CN" altLang="en-US" sz="2000" b="1" dirty="0">
                <a:solidFill>
                  <a:schemeClr val="bg1"/>
                </a:solidFill>
                <a:latin typeface="微软雅黑" pitchFamily="34" charset="-122"/>
                <a:ea typeface="微软雅黑" pitchFamily="34" charset="-122"/>
              </a:rPr>
              <a:t>进入慢启动状态，</a:t>
            </a:r>
            <a:endParaRPr lang="en-US" altLang="zh-CN" sz="2000" b="1" dirty="0">
              <a:solidFill>
                <a:schemeClr val="bg1"/>
              </a:solidFill>
              <a:latin typeface="微软雅黑" pitchFamily="34" charset="-122"/>
              <a:ea typeface="微软雅黑" pitchFamily="34" charset="-122"/>
            </a:endParaRPr>
          </a:p>
          <a:p>
            <a:pPr algn="ctr">
              <a:lnSpc>
                <a:spcPts val="2000"/>
              </a:lnSpc>
            </a:pPr>
            <a:r>
              <a:rPr lang="zh-CN" altLang="en-US" sz="2000" b="1" dirty="0">
                <a:solidFill>
                  <a:schemeClr val="bg1"/>
                </a:solidFill>
                <a:latin typeface="微软雅黑" pitchFamily="34" charset="-122"/>
                <a:ea typeface="微软雅黑" pitchFamily="34" charset="-122"/>
              </a:rPr>
              <a:t>发生</a:t>
            </a:r>
            <a:r>
              <a:rPr lang="zh-CN" altLang="en-US" sz="2000" b="1" dirty="0">
                <a:solidFill>
                  <a:srgbClr val="FFC000"/>
                </a:solidFill>
                <a:latin typeface="微软雅黑" pitchFamily="34" charset="-122"/>
                <a:ea typeface="微软雅黑" pitchFamily="34" charset="-122"/>
              </a:rPr>
              <a:t>全局同步 </a:t>
            </a:r>
            <a:r>
              <a:rPr lang="en-US" altLang="zh-CN" sz="2000" b="1" dirty="0">
                <a:solidFill>
                  <a:schemeClr val="bg1"/>
                </a:solidFill>
                <a:latin typeface="微软雅黑" pitchFamily="34" charset="-122"/>
                <a:ea typeface="微软雅黑" pitchFamily="34" charset="-122"/>
              </a:rPr>
              <a:t>(global </a:t>
            </a:r>
            <a:r>
              <a:rPr lang="en-US" altLang="zh-CN" sz="2000" b="1" dirty="0" err="1">
                <a:solidFill>
                  <a:schemeClr val="bg1"/>
                </a:solidFill>
                <a:latin typeface="微软雅黑" pitchFamily="34" charset="-122"/>
                <a:ea typeface="微软雅黑" pitchFamily="34" charset="-122"/>
              </a:rPr>
              <a:t>syncronization</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a:t>
            </a:r>
          </a:p>
        </p:txBody>
      </p:sp>
      <p:sp>
        <p:nvSpPr>
          <p:cNvPr id="10" name="Line 6">
            <a:extLst>
              <a:ext uri="{FF2B5EF4-FFF2-40B4-BE49-F238E27FC236}">
                <a16:creationId xmlns:a16="http://schemas.microsoft.com/office/drawing/2014/main" id="{F1C8B248-18BA-C103-CF58-943BB29E8518}"/>
              </a:ext>
            </a:extLst>
          </p:cNvPr>
          <p:cNvSpPr>
            <a:spLocks noChangeShapeType="1"/>
          </p:cNvSpPr>
          <p:nvPr/>
        </p:nvSpPr>
        <p:spPr bwMode="auto">
          <a:xfrm>
            <a:off x="3885691" y="5692819"/>
            <a:ext cx="4724400"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11" name="Line 7">
            <a:extLst>
              <a:ext uri="{FF2B5EF4-FFF2-40B4-BE49-F238E27FC236}">
                <a16:creationId xmlns:a16="http://schemas.microsoft.com/office/drawing/2014/main" id="{C84B6331-D9FD-4198-0BB2-EF8EBCD20A15}"/>
              </a:ext>
            </a:extLst>
          </p:cNvPr>
          <p:cNvSpPr>
            <a:spLocks noChangeShapeType="1"/>
          </p:cNvSpPr>
          <p:nvPr/>
        </p:nvSpPr>
        <p:spPr bwMode="auto">
          <a:xfrm>
            <a:off x="3885691" y="4168819"/>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12" name="Text Box 8">
            <a:extLst>
              <a:ext uri="{FF2B5EF4-FFF2-40B4-BE49-F238E27FC236}">
                <a16:creationId xmlns:a16="http://schemas.microsoft.com/office/drawing/2014/main" id="{120D0BFF-9B54-CCC9-AFFA-9D06E1CE44C5}"/>
              </a:ext>
            </a:extLst>
          </p:cNvPr>
          <p:cNvSpPr txBox="1">
            <a:spLocks noChangeArrowheads="1"/>
          </p:cNvSpPr>
          <p:nvPr/>
        </p:nvSpPr>
        <p:spPr bwMode="auto">
          <a:xfrm>
            <a:off x="2514091" y="3762164"/>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队列长度</a:t>
            </a:r>
            <a:endParaRPr kumimoji="1" lang="en-US" altLang="ko-KR" sz="1400" b="1" dirty="0">
              <a:effectLst/>
              <a:latin typeface="微软雅黑" pitchFamily="34" charset="-122"/>
              <a:ea typeface="微软雅黑" pitchFamily="34" charset="-122"/>
            </a:endParaRPr>
          </a:p>
        </p:txBody>
      </p:sp>
      <p:sp>
        <p:nvSpPr>
          <p:cNvPr id="13" name="Text Box 9">
            <a:extLst>
              <a:ext uri="{FF2B5EF4-FFF2-40B4-BE49-F238E27FC236}">
                <a16:creationId xmlns:a16="http://schemas.microsoft.com/office/drawing/2014/main" id="{B69F1E46-22E2-190F-82C4-1AD34DFB0C1B}"/>
              </a:ext>
            </a:extLst>
          </p:cNvPr>
          <p:cNvSpPr txBox="1">
            <a:spLocks noChangeArrowheads="1"/>
          </p:cNvSpPr>
          <p:nvPr/>
        </p:nvSpPr>
        <p:spPr bwMode="auto">
          <a:xfrm>
            <a:off x="8670511" y="5582419"/>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时间</a:t>
            </a:r>
            <a:endParaRPr kumimoji="1" lang="en-US" altLang="ko-KR" sz="1400" b="1" dirty="0">
              <a:effectLst/>
              <a:latin typeface="微软雅黑" pitchFamily="34" charset="-122"/>
              <a:ea typeface="微软雅黑" pitchFamily="34" charset="-122"/>
            </a:endParaRPr>
          </a:p>
        </p:txBody>
      </p:sp>
      <p:sp>
        <p:nvSpPr>
          <p:cNvPr id="14" name="Line 12">
            <a:extLst>
              <a:ext uri="{FF2B5EF4-FFF2-40B4-BE49-F238E27FC236}">
                <a16:creationId xmlns:a16="http://schemas.microsoft.com/office/drawing/2014/main" id="{EF59EA20-1D51-9DBB-47DD-B7E805A11F0D}"/>
              </a:ext>
            </a:extLst>
          </p:cNvPr>
          <p:cNvSpPr>
            <a:spLocks noChangeShapeType="1"/>
          </p:cNvSpPr>
          <p:nvPr/>
        </p:nvSpPr>
        <p:spPr bwMode="auto">
          <a:xfrm>
            <a:off x="3885691" y="5451519"/>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15" name="组合 14">
            <a:extLst>
              <a:ext uri="{FF2B5EF4-FFF2-40B4-BE49-F238E27FC236}">
                <a16:creationId xmlns:a16="http://schemas.microsoft.com/office/drawing/2014/main" id="{7836E58D-A16B-F5B7-571B-5776BC4300DC}"/>
              </a:ext>
            </a:extLst>
          </p:cNvPr>
          <p:cNvGrpSpPr/>
          <p:nvPr/>
        </p:nvGrpSpPr>
        <p:grpSpPr>
          <a:xfrm>
            <a:off x="3885691" y="4168819"/>
            <a:ext cx="3659188" cy="1295400"/>
            <a:chOff x="2286000" y="2511834"/>
            <a:chExt cx="3659188" cy="1295400"/>
          </a:xfrm>
        </p:grpSpPr>
        <p:sp>
          <p:nvSpPr>
            <p:cNvPr id="16" name="Freeform 10">
              <a:extLst>
                <a:ext uri="{FF2B5EF4-FFF2-40B4-BE49-F238E27FC236}">
                  <a16:creationId xmlns:a16="http://schemas.microsoft.com/office/drawing/2014/main" id="{72858D48-5178-7655-4E9E-1A0511FC7076}"/>
                </a:ext>
              </a:extLst>
            </p:cNvPr>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17" name="Line 11">
              <a:extLst>
                <a:ext uri="{FF2B5EF4-FFF2-40B4-BE49-F238E27FC236}">
                  <a16:creationId xmlns:a16="http://schemas.microsoft.com/office/drawing/2014/main" id="{26778B1D-0FB9-E481-017A-82653D199EF2}"/>
                </a:ext>
              </a:extLst>
            </p:cNvPr>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18" name="Freeform 13">
              <a:extLst>
                <a:ext uri="{FF2B5EF4-FFF2-40B4-BE49-F238E27FC236}">
                  <a16:creationId xmlns:a16="http://schemas.microsoft.com/office/drawing/2014/main" id="{05841197-0BE0-57AB-B1BB-9B04CDE34700}"/>
                </a:ext>
              </a:extLst>
            </p:cNvPr>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19" name="Line 14">
              <a:extLst>
                <a:ext uri="{FF2B5EF4-FFF2-40B4-BE49-F238E27FC236}">
                  <a16:creationId xmlns:a16="http://schemas.microsoft.com/office/drawing/2014/main" id="{C405B2FF-BBC9-FDEA-BC69-1559C03F0FD5}"/>
                </a:ext>
              </a:extLst>
            </p:cNvPr>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20" name="Freeform 15">
              <a:extLst>
                <a:ext uri="{FF2B5EF4-FFF2-40B4-BE49-F238E27FC236}">
                  <a16:creationId xmlns:a16="http://schemas.microsoft.com/office/drawing/2014/main" id="{7102B7B4-993F-750D-2983-B473354DE9A3}"/>
                </a:ext>
              </a:extLst>
            </p:cNvPr>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22" name="Line 16">
              <a:extLst>
                <a:ext uri="{FF2B5EF4-FFF2-40B4-BE49-F238E27FC236}">
                  <a16:creationId xmlns:a16="http://schemas.microsoft.com/office/drawing/2014/main" id="{73D31CF7-2416-E887-D3B6-69BF30314B86}"/>
                </a:ext>
              </a:extLst>
            </p:cNvPr>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23" name="Freeform 17">
              <a:extLst>
                <a:ext uri="{FF2B5EF4-FFF2-40B4-BE49-F238E27FC236}">
                  <a16:creationId xmlns:a16="http://schemas.microsoft.com/office/drawing/2014/main" id="{058D76D9-2006-2545-4140-50DEB8CF00AE}"/>
                </a:ext>
              </a:extLst>
            </p:cNvPr>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24" name="Line 18">
              <a:extLst>
                <a:ext uri="{FF2B5EF4-FFF2-40B4-BE49-F238E27FC236}">
                  <a16:creationId xmlns:a16="http://schemas.microsoft.com/office/drawing/2014/main" id="{49746255-A17C-E985-570B-EF6070325469}"/>
                </a:ext>
              </a:extLst>
            </p:cNvPr>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25" name="Text Box 19">
            <a:extLst>
              <a:ext uri="{FF2B5EF4-FFF2-40B4-BE49-F238E27FC236}">
                <a16:creationId xmlns:a16="http://schemas.microsoft.com/office/drawing/2014/main" id="{F37CAC53-8854-A9C6-5D50-1BEE29DF5E4C}"/>
              </a:ext>
            </a:extLst>
          </p:cNvPr>
          <p:cNvSpPr txBox="1">
            <a:spLocks noChangeArrowheads="1"/>
          </p:cNvSpPr>
          <p:nvPr/>
        </p:nvSpPr>
        <p:spPr bwMode="auto">
          <a:xfrm>
            <a:off x="8549427" y="4060126"/>
            <a:ext cx="105155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itchFamily="2" charset="2"/>
              <a:buNone/>
            </a:pPr>
            <a:r>
              <a:rPr kumimoji="1" lang="zh-CN" altLang="en-US" sz="1400" b="1" dirty="0">
                <a:solidFill>
                  <a:srgbClr val="C00000"/>
                </a:solidFill>
                <a:effectLst/>
                <a:latin typeface="微软雅黑" pitchFamily="34" charset="-122"/>
                <a:ea typeface="微软雅黑" pitchFamily="34" charset="-122"/>
              </a:rPr>
              <a:t>队列满</a:t>
            </a:r>
            <a:endParaRPr kumimoji="1" lang="en-US" altLang="ko-KR" sz="1400" b="1" dirty="0">
              <a:solidFill>
                <a:srgbClr val="C00000"/>
              </a:solidFill>
              <a:effectLst/>
              <a:latin typeface="微软雅黑" pitchFamily="34" charset="-122"/>
              <a:ea typeface="微软雅黑" pitchFamily="34" charset="-122"/>
            </a:endParaRPr>
          </a:p>
        </p:txBody>
      </p:sp>
      <p:sp>
        <p:nvSpPr>
          <p:cNvPr id="26" name="Rectangle 20">
            <a:extLst>
              <a:ext uri="{FF2B5EF4-FFF2-40B4-BE49-F238E27FC236}">
                <a16:creationId xmlns:a16="http://schemas.microsoft.com/office/drawing/2014/main" id="{A69BB88D-A569-AA0F-9144-B305BD2F076D}"/>
              </a:ext>
            </a:extLst>
          </p:cNvPr>
          <p:cNvSpPr>
            <a:spLocks noChangeArrowheads="1"/>
          </p:cNvSpPr>
          <p:nvPr/>
        </p:nvSpPr>
        <p:spPr bwMode="auto">
          <a:xfrm>
            <a:off x="3609536" y="3089597"/>
            <a:ext cx="1983865" cy="636033"/>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algn="l" eaLnBrk="1" latinLnBrk="1" hangingPunct="1"/>
            <a:r>
              <a:rPr kumimoji="1" lang="zh-CN" altLang="en-US" sz="1400" b="1" dirty="0">
                <a:effectLst/>
                <a:latin typeface="微软雅黑" pitchFamily="34" charset="-122"/>
                <a:ea typeface="微软雅黑" pitchFamily="34" charset="-122"/>
              </a:rPr>
              <a:t>队列满时，</a:t>
            </a:r>
            <a:r>
              <a:rPr kumimoji="1" lang="en-US" altLang="zh-CN" sz="1400" b="1" dirty="0">
                <a:effectLst/>
                <a:latin typeface="微软雅黑" pitchFamily="34" charset="-122"/>
                <a:ea typeface="微软雅黑" pitchFamily="34" charset="-122"/>
              </a:rPr>
              <a:t>TCP </a:t>
            </a:r>
            <a:r>
              <a:rPr kumimoji="1" lang="zh-CN" altLang="en-US" sz="1400" b="1" dirty="0">
                <a:effectLst/>
                <a:latin typeface="微软雅黑" pitchFamily="34" charset="-122"/>
                <a:ea typeface="微软雅黑" pitchFamily="34" charset="-122"/>
              </a:rPr>
              <a:t>重传定时器超时，重新开始慢启动，减少数据率。</a:t>
            </a:r>
            <a:endParaRPr kumimoji="1" lang="en-US" altLang="ko-KR" sz="1400" b="1" dirty="0">
              <a:effectLst/>
              <a:latin typeface="微软雅黑" pitchFamily="34" charset="-122"/>
              <a:ea typeface="微软雅黑" pitchFamily="34" charset="-122"/>
            </a:endParaRPr>
          </a:p>
        </p:txBody>
      </p:sp>
      <p:sp>
        <p:nvSpPr>
          <p:cNvPr id="37" name="Line 21">
            <a:extLst>
              <a:ext uri="{FF2B5EF4-FFF2-40B4-BE49-F238E27FC236}">
                <a16:creationId xmlns:a16="http://schemas.microsoft.com/office/drawing/2014/main" id="{C1CDBD85-2940-0A67-DA00-68F2E8B8F926}"/>
              </a:ext>
            </a:extLst>
          </p:cNvPr>
          <p:cNvSpPr>
            <a:spLocks noChangeShapeType="1"/>
          </p:cNvSpPr>
          <p:nvPr/>
        </p:nvSpPr>
        <p:spPr bwMode="auto">
          <a:xfrm>
            <a:off x="5596444" y="3731869"/>
            <a:ext cx="133503" cy="398850"/>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38" name="Rectangle 22">
            <a:extLst>
              <a:ext uri="{FF2B5EF4-FFF2-40B4-BE49-F238E27FC236}">
                <a16:creationId xmlns:a16="http://schemas.microsoft.com/office/drawing/2014/main" id="{3A40241C-E57B-5B98-5711-B55A1CCF69E2}"/>
              </a:ext>
            </a:extLst>
          </p:cNvPr>
          <p:cNvSpPr>
            <a:spLocks noChangeArrowheads="1"/>
          </p:cNvSpPr>
          <p:nvPr/>
        </p:nvSpPr>
        <p:spPr bwMode="auto">
          <a:xfrm>
            <a:off x="5793511" y="3106487"/>
            <a:ext cx="1511625"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400" b="1" dirty="0">
                <a:latin typeface="微软雅黑" pitchFamily="34" charset="-122"/>
                <a:ea typeface="微软雅黑" pitchFamily="34" charset="-122"/>
              </a:rPr>
              <a:t>分组离开队列，之后执行慢启动增大数据传输率。</a:t>
            </a:r>
            <a:endParaRPr kumimoji="1" lang="en-US" altLang="ko-KR" sz="1400" b="1" dirty="0">
              <a:latin typeface="微软雅黑" pitchFamily="34" charset="-122"/>
              <a:ea typeface="微软雅黑" pitchFamily="34" charset="-122"/>
            </a:endParaRPr>
          </a:p>
        </p:txBody>
      </p:sp>
      <p:sp>
        <p:nvSpPr>
          <p:cNvPr id="39" name="Rectangle 23">
            <a:extLst>
              <a:ext uri="{FF2B5EF4-FFF2-40B4-BE49-F238E27FC236}">
                <a16:creationId xmlns:a16="http://schemas.microsoft.com/office/drawing/2014/main" id="{70EF389D-E334-6800-E732-25392F3164B7}"/>
              </a:ext>
            </a:extLst>
          </p:cNvPr>
          <p:cNvSpPr>
            <a:spLocks noChangeArrowheads="1"/>
          </p:cNvSpPr>
          <p:nvPr/>
        </p:nvSpPr>
        <p:spPr bwMode="auto">
          <a:xfrm>
            <a:off x="7424954" y="3106698"/>
            <a:ext cx="2176032" cy="723656"/>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400" b="1" dirty="0">
                <a:latin typeface="微软雅黑" pitchFamily="34" charset="-122"/>
                <a:ea typeface="微软雅黑" pitchFamily="34" charset="-122"/>
              </a:rPr>
              <a:t>队列又满时，</a:t>
            </a:r>
            <a:r>
              <a:rPr kumimoji="1" lang="en-US" altLang="zh-CN" sz="1400" b="1" dirty="0">
                <a:latin typeface="微软雅黑" pitchFamily="34" charset="-122"/>
                <a:ea typeface="微软雅黑" pitchFamily="34" charset="-122"/>
              </a:rPr>
              <a:t>TCP </a:t>
            </a:r>
            <a:r>
              <a:rPr kumimoji="1" lang="zh-CN" altLang="en-US" sz="1400" b="1" dirty="0">
                <a:latin typeface="微软雅黑" pitchFamily="34" charset="-122"/>
                <a:ea typeface="微软雅黑" pitchFamily="34" charset="-122"/>
              </a:rPr>
              <a:t>重传定时器超时，重新再次开始慢启动，减少数据率。</a:t>
            </a:r>
            <a:endParaRPr kumimoji="1" lang="en-US" altLang="ko-KR" sz="1400" b="1" dirty="0">
              <a:latin typeface="微软雅黑" pitchFamily="34" charset="-122"/>
              <a:ea typeface="微软雅黑" pitchFamily="34" charset="-122"/>
            </a:endParaRPr>
          </a:p>
        </p:txBody>
      </p:sp>
      <p:sp>
        <p:nvSpPr>
          <p:cNvPr id="40" name="Line 24">
            <a:extLst>
              <a:ext uri="{FF2B5EF4-FFF2-40B4-BE49-F238E27FC236}">
                <a16:creationId xmlns:a16="http://schemas.microsoft.com/office/drawing/2014/main" id="{E9722838-9962-6456-7C72-BBBF75A0709D}"/>
              </a:ext>
            </a:extLst>
          </p:cNvPr>
          <p:cNvSpPr>
            <a:spLocks noChangeShapeType="1"/>
          </p:cNvSpPr>
          <p:nvPr/>
        </p:nvSpPr>
        <p:spPr bwMode="auto">
          <a:xfrm>
            <a:off x="6236475" y="3824991"/>
            <a:ext cx="133503" cy="806723"/>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dirty="0"/>
          </a:p>
        </p:txBody>
      </p:sp>
      <p:sp>
        <p:nvSpPr>
          <p:cNvPr id="41" name="Line 25">
            <a:extLst>
              <a:ext uri="{FF2B5EF4-FFF2-40B4-BE49-F238E27FC236}">
                <a16:creationId xmlns:a16="http://schemas.microsoft.com/office/drawing/2014/main" id="{92F4ECFF-0F6A-5DEB-EC9C-DCB5EF347C20}"/>
              </a:ext>
            </a:extLst>
          </p:cNvPr>
          <p:cNvSpPr>
            <a:spLocks noChangeShapeType="1"/>
          </p:cNvSpPr>
          <p:nvPr/>
        </p:nvSpPr>
        <p:spPr bwMode="auto">
          <a:xfrm flipH="1">
            <a:off x="6656634" y="3798676"/>
            <a:ext cx="768319" cy="338807"/>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42" name="Line 5">
            <a:extLst>
              <a:ext uri="{FF2B5EF4-FFF2-40B4-BE49-F238E27FC236}">
                <a16:creationId xmlns:a16="http://schemas.microsoft.com/office/drawing/2014/main" id="{572CF5EC-DBDE-1CD7-E32C-D1092859EDD6}"/>
              </a:ext>
            </a:extLst>
          </p:cNvPr>
          <p:cNvSpPr>
            <a:spLocks noChangeShapeType="1"/>
          </p:cNvSpPr>
          <p:nvPr/>
        </p:nvSpPr>
        <p:spPr bwMode="auto">
          <a:xfrm flipV="1">
            <a:off x="3898754" y="3824991"/>
            <a:ext cx="1588" cy="18678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43" name="组合 42">
            <a:extLst>
              <a:ext uri="{FF2B5EF4-FFF2-40B4-BE49-F238E27FC236}">
                <a16:creationId xmlns:a16="http://schemas.microsoft.com/office/drawing/2014/main" id="{398D842D-1F6D-8B36-9D42-7349C76C8B93}"/>
              </a:ext>
            </a:extLst>
          </p:cNvPr>
          <p:cNvGrpSpPr/>
          <p:nvPr/>
        </p:nvGrpSpPr>
        <p:grpSpPr>
          <a:xfrm>
            <a:off x="3885691" y="4921045"/>
            <a:ext cx="3659188" cy="534646"/>
            <a:chOff x="2286000" y="2511834"/>
            <a:chExt cx="3659188" cy="1295400"/>
          </a:xfrm>
        </p:grpSpPr>
        <p:sp>
          <p:nvSpPr>
            <p:cNvPr id="44" name="Freeform 10">
              <a:extLst>
                <a:ext uri="{FF2B5EF4-FFF2-40B4-BE49-F238E27FC236}">
                  <a16:creationId xmlns:a16="http://schemas.microsoft.com/office/drawing/2014/main" id="{AC4D9B09-CAE8-E012-FAF7-AC2C12D20EF1}"/>
                </a:ext>
              </a:extLst>
            </p:cNvPr>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45" name="Line 11">
              <a:extLst>
                <a:ext uri="{FF2B5EF4-FFF2-40B4-BE49-F238E27FC236}">
                  <a16:creationId xmlns:a16="http://schemas.microsoft.com/office/drawing/2014/main" id="{B8140A52-3ECD-9C78-170D-112F08D4CFF7}"/>
                </a:ext>
              </a:extLst>
            </p:cNvPr>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46" name="Freeform 13">
              <a:extLst>
                <a:ext uri="{FF2B5EF4-FFF2-40B4-BE49-F238E27FC236}">
                  <a16:creationId xmlns:a16="http://schemas.microsoft.com/office/drawing/2014/main" id="{83F1913E-B983-C642-4955-1DF7320C9152}"/>
                </a:ext>
              </a:extLst>
            </p:cNvPr>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47" name="Line 14">
              <a:extLst>
                <a:ext uri="{FF2B5EF4-FFF2-40B4-BE49-F238E27FC236}">
                  <a16:creationId xmlns:a16="http://schemas.microsoft.com/office/drawing/2014/main" id="{CFAD8B60-48E2-C243-22DE-5D04AB0B25ED}"/>
                </a:ext>
              </a:extLst>
            </p:cNvPr>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48" name="Freeform 15">
              <a:extLst>
                <a:ext uri="{FF2B5EF4-FFF2-40B4-BE49-F238E27FC236}">
                  <a16:creationId xmlns:a16="http://schemas.microsoft.com/office/drawing/2014/main" id="{2E4CD8B1-BD5D-C2CB-F0B6-872E4F40ACDB}"/>
                </a:ext>
              </a:extLst>
            </p:cNvPr>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49" name="Line 16">
              <a:extLst>
                <a:ext uri="{FF2B5EF4-FFF2-40B4-BE49-F238E27FC236}">
                  <a16:creationId xmlns:a16="http://schemas.microsoft.com/office/drawing/2014/main" id="{0A1F06BF-CE3A-68FD-145F-75FAEA83DCE0}"/>
                </a:ext>
              </a:extLst>
            </p:cNvPr>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50" name="Freeform 17">
              <a:extLst>
                <a:ext uri="{FF2B5EF4-FFF2-40B4-BE49-F238E27FC236}">
                  <a16:creationId xmlns:a16="http://schemas.microsoft.com/office/drawing/2014/main" id="{5EA18939-4E26-1DEE-D1D6-277334CBC6F3}"/>
                </a:ext>
              </a:extLst>
            </p:cNvPr>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51" name="Line 18">
              <a:extLst>
                <a:ext uri="{FF2B5EF4-FFF2-40B4-BE49-F238E27FC236}">
                  <a16:creationId xmlns:a16="http://schemas.microsoft.com/office/drawing/2014/main" id="{0276964D-10C2-CECC-AE6F-69C06FBC64A8}"/>
                </a:ext>
              </a:extLst>
            </p:cNvPr>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grpSp>
        <p:nvGrpSpPr>
          <p:cNvPr id="52" name="组合 51">
            <a:extLst>
              <a:ext uri="{FF2B5EF4-FFF2-40B4-BE49-F238E27FC236}">
                <a16:creationId xmlns:a16="http://schemas.microsoft.com/office/drawing/2014/main" id="{77FDB90A-B7CE-E811-039A-161FBC213676}"/>
              </a:ext>
            </a:extLst>
          </p:cNvPr>
          <p:cNvGrpSpPr/>
          <p:nvPr/>
        </p:nvGrpSpPr>
        <p:grpSpPr>
          <a:xfrm>
            <a:off x="3885691" y="4758904"/>
            <a:ext cx="3659188" cy="714261"/>
            <a:chOff x="2286000" y="2511834"/>
            <a:chExt cx="3659188" cy="1295400"/>
          </a:xfrm>
        </p:grpSpPr>
        <p:sp>
          <p:nvSpPr>
            <p:cNvPr id="53" name="Freeform 10">
              <a:extLst>
                <a:ext uri="{FF2B5EF4-FFF2-40B4-BE49-F238E27FC236}">
                  <a16:creationId xmlns:a16="http://schemas.microsoft.com/office/drawing/2014/main" id="{2E562AC8-2E31-50D1-B4B2-1E5BB2770B76}"/>
                </a:ext>
              </a:extLst>
            </p:cNvPr>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54" name="Line 11">
              <a:extLst>
                <a:ext uri="{FF2B5EF4-FFF2-40B4-BE49-F238E27FC236}">
                  <a16:creationId xmlns:a16="http://schemas.microsoft.com/office/drawing/2014/main" id="{1C498BC7-D335-7898-C014-7EA8188D6AD4}"/>
                </a:ext>
              </a:extLst>
            </p:cNvPr>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55" name="Freeform 13">
              <a:extLst>
                <a:ext uri="{FF2B5EF4-FFF2-40B4-BE49-F238E27FC236}">
                  <a16:creationId xmlns:a16="http://schemas.microsoft.com/office/drawing/2014/main" id="{4B608761-D8D8-3B10-4D75-A6A5B4F28BCA}"/>
                </a:ext>
              </a:extLst>
            </p:cNvPr>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56" name="Line 14">
              <a:extLst>
                <a:ext uri="{FF2B5EF4-FFF2-40B4-BE49-F238E27FC236}">
                  <a16:creationId xmlns:a16="http://schemas.microsoft.com/office/drawing/2014/main" id="{34EC2099-FA22-F1F6-4499-26FDD6EDEF02}"/>
                </a:ext>
              </a:extLst>
            </p:cNvPr>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57" name="Freeform 15">
              <a:extLst>
                <a:ext uri="{FF2B5EF4-FFF2-40B4-BE49-F238E27FC236}">
                  <a16:creationId xmlns:a16="http://schemas.microsoft.com/office/drawing/2014/main" id="{50293F7D-A638-DF31-FBEB-6F15FF83B2F2}"/>
                </a:ext>
              </a:extLst>
            </p:cNvPr>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58" name="Line 16">
              <a:extLst>
                <a:ext uri="{FF2B5EF4-FFF2-40B4-BE49-F238E27FC236}">
                  <a16:creationId xmlns:a16="http://schemas.microsoft.com/office/drawing/2014/main" id="{7A66915D-304C-24E6-43CE-DB8F6C37D9C9}"/>
                </a:ext>
              </a:extLst>
            </p:cNvPr>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59" name="Freeform 17">
              <a:extLst>
                <a:ext uri="{FF2B5EF4-FFF2-40B4-BE49-F238E27FC236}">
                  <a16:creationId xmlns:a16="http://schemas.microsoft.com/office/drawing/2014/main" id="{38031ACE-3C37-8F9F-DEE2-E67896BA4CFF}"/>
                </a:ext>
              </a:extLst>
            </p:cNvPr>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0" name="Line 18">
              <a:extLst>
                <a:ext uri="{FF2B5EF4-FFF2-40B4-BE49-F238E27FC236}">
                  <a16:creationId xmlns:a16="http://schemas.microsoft.com/office/drawing/2014/main" id="{82CC0224-94E1-0CC7-4F33-EDC780BA42E0}"/>
                </a:ext>
              </a:extLst>
            </p:cNvPr>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Tree>
    <p:extLst>
      <p:ext uri="{BB962C8B-B14F-4D97-AF65-F5344CB8AC3E}">
        <p14:creationId xmlns:p14="http://schemas.microsoft.com/office/powerpoint/2010/main" val="27954501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4BAEA-E4C2-1334-48E4-48B3270D4CE3}"/>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7FDE6890-B510-5C0E-4E00-02BA9D31C990}"/>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30</a:t>
            </a:fld>
            <a:endParaRPr lang="zh-CN" altLang="en-US"/>
          </a:p>
        </p:txBody>
      </p:sp>
      <p:grpSp>
        <p:nvGrpSpPr>
          <p:cNvPr id="21" name="组合 20">
            <a:extLst>
              <a:ext uri="{FF2B5EF4-FFF2-40B4-BE49-F238E27FC236}">
                <a16:creationId xmlns:a16="http://schemas.microsoft.com/office/drawing/2014/main" id="{49BECF38-F784-7933-FBAC-BC4F875F1085}"/>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AD986453-D7B4-5E93-13BE-B7B52DAB4225}"/>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D618F0C7-0677-D286-5578-A86D7EE86D7C}"/>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7327E5D6-84CF-556A-78CC-F2C314FC33DE}"/>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被动队列管理</a:t>
                </a:r>
              </a:p>
            </p:txBody>
          </p:sp>
        </p:grpSp>
        <p:pic>
          <p:nvPicPr>
            <p:cNvPr id="28" name="图片 27">
              <a:extLst>
                <a:ext uri="{FF2B5EF4-FFF2-40B4-BE49-F238E27FC236}">
                  <a16:creationId xmlns:a16="http://schemas.microsoft.com/office/drawing/2014/main" id="{AE0B698A-4513-C114-6CE3-5EF47C2025C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F274045C-EE21-09A3-788E-6B5EFE96EE46}"/>
              </a:ext>
            </a:extLst>
          </p:cNvPr>
          <p:cNvGrpSpPr/>
          <p:nvPr/>
        </p:nvGrpSpPr>
        <p:grpSpPr>
          <a:xfrm>
            <a:off x="515938" y="1339655"/>
            <a:ext cx="5658831" cy="526734"/>
            <a:chOff x="722008" y="1303131"/>
            <a:chExt cx="5403219" cy="502942"/>
          </a:xfrm>
        </p:grpSpPr>
        <p:grpSp>
          <p:nvGrpSpPr>
            <p:cNvPr id="3" name="组合 2">
              <a:extLst>
                <a:ext uri="{FF2B5EF4-FFF2-40B4-BE49-F238E27FC236}">
                  <a16:creationId xmlns:a16="http://schemas.microsoft.com/office/drawing/2014/main" id="{E3ABD7A1-8ADE-5550-6511-268C100EA48D}"/>
                </a:ext>
              </a:extLst>
            </p:cNvPr>
            <p:cNvGrpSpPr/>
            <p:nvPr/>
          </p:nvGrpSpPr>
          <p:grpSpPr>
            <a:xfrm>
              <a:off x="722008" y="1303131"/>
              <a:ext cx="546594" cy="475865"/>
              <a:chOff x="708742" y="1296102"/>
              <a:chExt cx="454744" cy="283828"/>
            </a:xfrm>
          </p:grpSpPr>
          <p:sp>
            <p:nvSpPr>
              <p:cNvPr id="6" name="平行四边形 5">
                <a:extLst>
                  <a:ext uri="{FF2B5EF4-FFF2-40B4-BE49-F238E27FC236}">
                    <a16:creationId xmlns:a16="http://schemas.microsoft.com/office/drawing/2014/main" id="{DAA7261E-AC16-C444-F15D-BCD80DC542B6}"/>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7" name="平行四边形 6">
                <a:extLst>
                  <a:ext uri="{FF2B5EF4-FFF2-40B4-BE49-F238E27FC236}">
                    <a16:creationId xmlns:a16="http://schemas.microsoft.com/office/drawing/2014/main" id="{4A0683B1-E680-2028-19B8-2CBAC2823253}"/>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4" name="流程图: 手动输入 6">
              <a:extLst>
                <a:ext uri="{FF2B5EF4-FFF2-40B4-BE49-F238E27FC236}">
                  <a16:creationId xmlns:a16="http://schemas.microsoft.com/office/drawing/2014/main" id="{D1D01649-AD73-02CC-65A0-6F170BD8CCB0}"/>
                </a:ext>
              </a:extLst>
            </p:cNvPr>
            <p:cNvSpPr/>
            <p:nvPr/>
          </p:nvSpPr>
          <p:spPr>
            <a:xfrm rot="5400000" flipV="1">
              <a:off x="2666612" y="-371474"/>
              <a:ext cx="475861" cy="383188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5" name="Text Box 79">
              <a:extLst>
                <a:ext uri="{FF2B5EF4-FFF2-40B4-BE49-F238E27FC236}">
                  <a16:creationId xmlns:a16="http://schemas.microsoft.com/office/drawing/2014/main" id="{EE933082-9FC3-8CCD-C0E1-4AC79B015DA2}"/>
                </a:ext>
              </a:extLst>
            </p:cNvPr>
            <p:cNvSpPr txBox="1">
              <a:spLocks noChangeArrowheads="1"/>
            </p:cNvSpPr>
            <p:nvPr/>
          </p:nvSpPr>
          <p:spPr bwMode="auto">
            <a:xfrm>
              <a:off x="1351235" y="1335873"/>
              <a:ext cx="4773992"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公平排队（</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Fair Queuing</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）策略</a:t>
              </a:r>
            </a:p>
          </p:txBody>
        </p:sp>
      </p:grpSp>
      <p:sp>
        <p:nvSpPr>
          <p:cNvPr id="8" name="Rectangle 68">
            <a:extLst>
              <a:ext uri="{FF2B5EF4-FFF2-40B4-BE49-F238E27FC236}">
                <a16:creationId xmlns:a16="http://schemas.microsoft.com/office/drawing/2014/main" id="{58C7018B-4528-726E-4CC8-4766E77DF9B2}"/>
              </a:ext>
            </a:extLst>
          </p:cNvPr>
          <p:cNvSpPr>
            <a:spLocks noChangeArrowheads="1"/>
          </p:cNvSpPr>
          <p:nvPr/>
        </p:nvSpPr>
        <p:spPr bwMode="auto">
          <a:xfrm>
            <a:off x="737414" y="2124037"/>
            <a:ext cx="10616386" cy="3351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基本原理：为每个数据流维护独立的虚拟队列</a:t>
            </a:r>
          </a:p>
          <a:p>
            <a:pPr marL="342900" indent="-342900">
              <a:lnSpc>
                <a:spcPct val="1500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虚拟时间戳（</a:t>
            </a:r>
            <a:r>
              <a:rPr lang="en-US" altLang="zh-CN" sz="2400" dirty="0">
                <a:solidFill>
                  <a:srgbClr val="C00000"/>
                </a:solidFill>
                <a:latin typeface="微软雅黑" pitchFamily="34" charset="-122"/>
                <a:ea typeface="微软雅黑" pitchFamily="34" charset="-122"/>
              </a:rPr>
              <a:t>Virtual Finish Time</a:t>
            </a:r>
            <a:r>
              <a:rPr lang="zh-CN" altLang="en-US" sz="2400" dirty="0">
                <a:solidFill>
                  <a:srgbClr val="C00000"/>
                </a:solidFill>
                <a:latin typeface="微软雅黑" pitchFamily="34" charset="-122"/>
                <a:ea typeface="微软雅黑" pitchFamily="34" charset="-122"/>
              </a:rPr>
              <a:t>）：</a:t>
            </a:r>
            <a:r>
              <a:rPr lang="zh-CN" altLang="en-US" sz="2400" dirty="0">
                <a:latin typeface="微软雅黑" pitchFamily="34" charset="-122"/>
                <a:ea typeface="微软雅黑" pitchFamily="34" charset="-122"/>
              </a:rPr>
              <a:t>为每个到达的分组计算完成时间戳：</a:t>
            </a:r>
            <a:r>
              <a:rPr lang="en-US" altLang="zh-CN" sz="2400" dirty="0">
                <a:latin typeface="微软雅黑" pitchFamily="34" charset="-122"/>
                <a:ea typeface="微软雅黑" pitchFamily="34" charset="-122"/>
              </a:rPr>
              <a:t>F = max(</a:t>
            </a:r>
            <a:r>
              <a:rPr lang="zh-CN" altLang="en-US" sz="2400" dirty="0">
                <a:latin typeface="微软雅黑" pitchFamily="34" charset="-122"/>
                <a:ea typeface="微软雅黑" pitchFamily="34" charset="-122"/>
              </a:rPr>
              <a:t>当前时间</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上一个分组的</a:t>
            </a:r>
            <a:r>
              <a:rPr lang="en-US" altLang="zh-CN" sz="2400" dirty="0">
                <a:latin typeface="微软雅黑" pitchFamily="34" charset="-122"/>
                <a:ea typeface="微软雅黑" pitchFamily="34" charset="-122"/>
              </a:rPr>
              <a:t>F) + </a:t>
            </a:r>
            <a:r>
              <a:rPr lang="zh-CN" altLang="en-US" sz="2400" dirty="0">
                <a:latin typeface="微软雅黑" pitchFamily="34" charset="-122"/>
                <a:ea typeface="微软雅黑" pitchFamily="34" charset="-122"/>
              </a:rPr>
              <a:t>分组长度</a:t>
            </a:r>
            <a:r>
              <a:rPr lang="en-US" altLang="zh-CN" sz="2400" dirty="0">
                <a:latin typeface="微软雅黑" pitchFamily="34" charset="-122"/>
                <a:ea typeface="微软雅黑" pitchFamily="34" charset="-122"/>
              </a:rPr>
              <a:t>/</a:t>
            </a:r>
            <a:r>
              <a:rPr lang="zh-CN" altLang="en-US" sz="2400" dirty="0">
                <a:latin typeface="微软雅黑" pitchFamily="34" charset="-122"/>
                <a:ea typeface="微软雅黑" pitchFamily="34" charset="-122"/>
              </a:rPr>
              <a:t>流权重。</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优先发送时间戳最小的分组。</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优点：每个流都有机会发送，防止带宽独占。</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缺点：实现复杂，状态信息多；大量流时，管理成本高。</a:t>
            </a:r>
          </a:p>
        </p:txBody>
      </p:sp>
    </p:spTree>
    <p:extLst>
      <p:ext uri="{BB962C8B-B14F-4D97-AF65-F5344CB8AC3E}">
        <p14:creationId xmlns:p14="http://schemas.microsoft.com/office/powerpoint/2010/main" val="265017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1AE7F-54FF-2D7E-EA16-8EA89AE4CD39}"/>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D82A1CA5-EFDC-3E42-3529-D3A6537A78E1}"/>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31</a:t>
            </a:fld>
            <a:endParaRPr lang="zh-CN" altLang="en-US"/>
          </a:p>
        </p:txBody>
      </p:sp>
      <p:grpSp>
        <p:nvGrpSpPr>
          <p:cNvPr id="21" name="组合 20">
            <a:extLst>
              <a:ext uri="{FF2B5EF4-FFF2-40B4-BE49-F238E27FC236}">
                <a16:creationId xmlns:a16="http://schemas.microsoft.com/office/drawing/2014/main" id="{A5BDE428-A214-0078-4BF4-92B5646AB620}"/>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FDDCB3FF-2FD3-8E44-00FF-0BCA07F0F6B5}"/>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28A686C0-C6AC-8102-66AA-2F9C6CAE369B}"/>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2C9234B9-47C1-5D27-84BC-2907382998F7}"/>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被动队列管理</a:t>
                </a:r>
              </a:p>
            </p:txBody>
          </p:sp>
        </p:grpSp>
        <p:pic>
          <p:nvPicPr>
            <p:cNvPr id="28" name="图片 27">
              <a:extLst>
                <a:ext uri="{FF2B5EF4-FFF2-40B4-BE49-F238E27FC236}">
                  <a16:creationId xmlns:a16="http://schemas.microsoft.com/office/drawing/2014/main" id="{91BCDF5B-C2E7-800F-CEDC-E373F88481D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65191286-9E45-ACD5-7184-EDB27C148483}"/>
              </a:ext>
            </a:extLst>
          </p:cNvPr>
          <p:cNvGrpSpPr/>
          <p:nvPr/>
        </p:nvGrpSpPr>
        <p:grpSpPr>
          <a:xfrm>
            <a:off x="515938" y="1339655"/>
            <a:ext cx="5658831" cy="526734"/>
            <a:chOff x="722008" y="1303131"/>
            <a:chExt cx="5403219" cy="502942"/>
          </a:xfrm>
        </p:grpSpPr>
        <p:grpSp>
          <p:nvGrpSpPr>
            <p:cNvPr id="3" name="组合 2">
              <a:extLst>
                <a:ext uri="{FF2B5EF4-FFF2-40B4-BE49-F238E27FC236}">
                  <a16:creationId xmlns:a16="http://schemas.microsoft.com/office/drawing/2014/main" id="{53C63BE9-2E59-DB07-5A6C-69D6A03E602F}"/>
                </a:ext>
              </a:extLst>
            </p:cNvPr>
            <p:cNvGrpSpPr/>
            <p:nvPr/>
          </p:nvGrpSpPr>
          <p:grpSpPr>
            <a:xfrm>
              <a:off x="722008" y="1303131"/>
              <a:ext cx="546594" cy="475865"/>
              <a:chOff x="708742" y="1296102"/>
              <a:chExt cx="454744" cy="283828"/>
            </a:xfrm>
          </p:grpSpPr>
          <p:sp>
            <p:nvSpPr>
              <p:cNvPr id="6" name="平行四边形 5">
                <a:extLst>
                  <a:ext uri="{FF2B5EF4-FFF2-40B4-BE49-F238E27FC236}">
                    <a16:creationId xmlns:a16="http://schemas.microsoft.com/office/drawing/2014/main" id="{769027DD-B33D-DA31-74AE-9AC610F96148}"/>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7" name="平行四边形 6">
                <a:extLst>
                  <a:ext uri="{FF2B5EF4-FFF2-40B4-BE49-F238E27FC236}">
                    <a16:creationId xmlns:a16="http://schemas.microsoft.com/office/drawing/2014/main" id="{40ECA827-7B84-033D-F931-BE4FF771DA31}"/>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4" name="流程图: 手动输入 6">
              <a:extLst>
                <a:ext uri="{FF2B5EF4-FFF2-40B4-BE49-F238E27FC236}">
                  <a16:creationId xmlns:a16="http://schemas.microsoft.com/office/drawing/2014/main" id="{82304BAD-BB32-281B-2280-9BAD63356620}"/>
                </a:ext>
              </a:extLst>
            </p:cNvPr>
            <p:cNvSpPr/>
            <p:nvPr/>
          </p:nvSpPr>
          <p:spPr>
            <a:xfrm rot="5400000" flipV="1">
              <a:off x="2666612" y="-371474"/>
              <a:ext cx="475861" cy="383188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5" name="Text Box 79">
              <a:extLst>
                <a:ext uri="{FF2B5EF4-FFF2-40B4-BE49-F238E27FC236}">
                  <a16:creationId xmlns:a16="http://schemas.microsoft.com/office/drawing/2014/main" id="{43891683-26E0-B64A-049C-CF3426A3EC8A}"/>
                </a:ext>
              </a:extLst>
            </p:cNvPr>
            <p:cNvSpPr txBox="1">
              <a:spLocks noChangeArrowheads="1"/>
            </p:cNvSpPr>
            <p:nvPr/>
          </p:nvSpPr>
          <p:spPr bwMode="auto">
            <a:xfrm>
              <a:off x="1351235" y="1335873"/>
              <a:ext cx="4773992"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公平排队（</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Fair Queuing</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）策略</a:t>
              </a:r>
            </a:p>
          </p:txBody>
        </p:sp>
      </p:grpSp>
      <p:pic>
        <p:nvPicPr>
          <p:cNvPr id="9" name="图片 8">
            <a:extLst>
              <a:ext uri="{FF2B5EF4-FFF2-40B4-BE49-F238E27FC236}">
                <a16:creationId xmlns:a16="http://schemas.microsoft.com/office/drawing/2014/main" id="{05F8CD7D-292E-877D-03A4-E9A2C4C717EE}"/>
              </a:ext>
            </a:extLst>
          </p:cNvPr>
          <p:cNvPicPr>
            <a:picLocks noChangeAspect="1"/>
          </p:cNvPicPr>
          <p:nvPr/>
        </p:nvPicPr>
        <p:blipFill>
          <a:blip r:embed="rId3"/>
          <a:stretch>
            <a:fillRect/>
          </a:stretch>
        </p:blipFill>
        <p:spPr>
          <a:xfrm>
            <a:off x="1607161" y="2127605"/>
            <a:ext cx="9257978" cy="3756861"/>
          </a:xfrm>
          <a:prstGeom prst="rect">
            <a:avLst/>
          </a:prstGeom>
        </p:spPr>
      </p:pic>
    </p:spTree>
    <p:extLst>
      <p:ext uri="{BB962C8B-B14F-4D97-AF65-F5344CB8AC3E}">
        <p14:creationId xmlns:p14="http://schemas.microsoft.com/office/powerpoint/2010/main" val="31271846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FF74D-56E0-5F1E-2172-DF8B77CD9983}"/>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E2F8D361-BC88-AD4B-1423-A09D3B0C6C64}"/>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32</a:t>
            </a:fld>
            <a:endParaRPr lang="zh-CN" altLang="en-US"/>
          </a:p>
        </p:txBody>
      </p:sp>
      <p:grpSp>
        <p:nvGrpSpPr>
          <p:cNvPr id="21" name="组合 20">
            <a:extLst>
              <a:ext uri="{FF2B5EF4-FFF2-40B4-BE49-F238E27FC236}">
                <a16:creationId xmlns:a16="http://schemas.microsoft.com/office/drawing/2014/main" id="{1DEDE0AE-7D15-FFA0-FC7A-12057B7C5EC8}"/>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73ED438F-30F9-C25C-5F6E-C98EF358718E}"/>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6FCB8A7B-E438-6C4F-864C-C7C6ABA11ED3}"/>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BFCAB523-B0D7-57F9-8CCA-5731AF74D230}"/>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被动队列管理</a:t>
                </a:r>
              </a:p>
            </p:txBody>
          </p:sp>
        </p:grpSp>
        <p:pic>
          <p:nvPicPr>
            <p:cNvPr id="28" name="图片 27">
              <a:extLst>
                <a:ext uri="{FF2B5EF4-FFF2-40B4-BE49-F238E27FC236}">
                  <a16:creationId xmlns:a16="http://schemas.microsoft.com/office/drawing/2014/main" id="{43232DEC-3330-DD49-B09B-CCE52DB3D6D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DD10D093-78DD-4D54-B588-B3196B89996D}"/>
              </a:ext>
            </a:extLst>
          </p:cNvPr>
          <p:cNvGrpSpPr/>
          <p:nvPr/>
        </p:nvGrpSpPr>
        <p:grpSpPr>
          <a:xfrm>
            <a:off x="515938" y="1339655"/>
            <a:ext cx="4343737" cy="526734"/>
            <a:chOff x="722008" y="1303131"/>
            <a:chExt cx="4147529" cy="502942"/>
          </a:xfrm>
        </p:grpSpPr>
        <p:grpSp>
          <p:nvGrpSpPr>
            <p:cNvPr id="3" name="组合 2">
              <a:extLst>
                <a:ext uri="{FF2B5EF4-FFF2-40B4-BE49-F238E27FC236}">
                  <a16:creationId xmlns:a16="http://schemas.microsoft.com/office/drawing/2014/main" id="{66A32EFE-5E91-3A41-AC62-8E837C073C05}"/>
                </a:ext>
              </a:extLst>
            </p:cNvPr>
            <p:cNvGrpSpPr/>
            <p:nvPr/>
          </p:nvGrpSpPr>
          <p:grpSpPr>
            <a:xfrm>
              <a:off x="722008" y="1303131"/>
              <a:ext cx="546594" cy="475865"/>
              <a:chOff x="708742" y="1296102"/>
              <a:chExt cx="454744" cy="283828"/>
            </a:xfrm>
          </p:grpSpPr>
          <p:sp>
            <p:nvSpPr>
              <p:cNvPr id="6" name="平行四边形 5">
                <a:extLst>
                  <a:ext uri="{FF2B5EF4-FFF2-40B4-BE49-F238E27FC236}">
                    <a16:creationId xmlns:a16="http://schemas.microsoft.com/office/drawing/2014/main" id="{5C71DE6D-8173-4CD7-7FD8-845A2947C1B2}"/>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7" name="平行四边形 6">
                <a:extLst>
                  <a:ext uri="{FF2B5EF4-FFF2-40B4-BE49-F238E27FC236}">
                    <a16:creationId xmlns:a16="http://schemas.microsoft.com/office/drawing/2014/main" id="{7359150A-37AF-9C1F-7D87-EEB096B4F56F}"/>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4" name="流程图: 手动输入 6">
              <a:extLst>
                <a:ext uri="{FF2B5EF4-FFF2-40B4-BE49-F238E27FC236}">
                  <a16:creationId xmlns:a16="http://schemas.microsoft.com/office/drawing/2014/main" id="{55FA22ED-5EEA-2E8E-8971-DADEA5127223}"/>
                </a:ext>
              </a:extLst>
            </p:cNvPr>
            <p:cNvSpPr/>
            <p:nvPr/>
          </p:nvSpPr>
          <p:spPr>
            <a:xfrm rot="5400000" flipV="1">
              <a:off x="2509819" y="-214681"/>
              <a:ext cx="475861" cy="35183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5" name="Text Box 79">
              <a:extLst>
                <a:ext uri="{FF2B5EF4-FFF2-40B4-BE49-F238E27FC236}">
                  <a16:creationId xmlns:a16="http://schemas.microsoft.com/office/drawing/2014/main" id="{DD77BB35-CE89-5D45-DC13-36DFD8535683}"/>
                </a:ext>
              </a:extLst>
            </p:cNvPr>
            <p:cNvSpPr txBox="1">
              <a:spLocks noChangeArrowheads="1"/>
            </p:cNvSpPr>
            <p:nvPr/>
          </p:nvSpPr>
          <p:spPr bwMode="auto">
            <a:xfrm>
              <a:off x="1351235" y="1335873"/>
              <a:ext cx="3518302"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公平排队策略局限性</a:t>
              </a:r>
            </a:p>
          </p:txBody>
        </p:sp>
      </p:grpSp>
      <p:sp>
        <p:nvSpPr>
          <p:cNvPr id="10" name="文本框 9">
            <a:extLst>
              <a:ext uri="{FF2B5EF4-FFF2-40B4-BE49-F238E27FC236}">
                <a16:creationId xmlns:a16="http://schemas.microsoft.com/office/drawing/2014/main" id="{F8464209-C129-4785-55E7-A8C4407B1232}"/>
              </a:ext>
            </a:extLst>
          </p:cNvPr>
          <p:cNvSpPr txBox="1"/>
          <p:nvPr/>
        </p:nvSpPr>
        <p:spPr>
          <a:xfrm>
            <a:off x="866914" y="2257702"/>
            <a:ext cx="10387844" cy="1765996"/>
          </a:xfrm>
          <a:prstGeom prst="rect">
            <a:avLst/>
          </a:prstGeom>
          <a:noFill/>
        </p:spPr>
        <p:txBody>
          <a:bodyPr wrap="square">
            <a:spAutoFit/>
          </a:bodyPr>
          <a:lstStyle/>
          <a:p>
            <a:pPr marL="342900" indent="-342900" algn="l">
              <a:lnSpc>
                <a:spcPct val="150000"/>
              </a:lnSpc>
              <a:spcBef>
                <a:spcPts val="300"/>
              </a:spcBef>
              <a:spcAft>
                <a:spcPts val="300"/>
              </a:spcAft>
              <a:buClr>
                <a:srgbClr val="1969C2"/>
              </a:buClr>
              <a:buFont typeface="Wingdings" panose="05000000000000000000" pitchFamily="2" charset="2"/>
              <a:buChar char="n"/>
            </a:pPr>
            <a:r>
              <a:rPr lang="zh-CN" altLang="en-US" sz="2400" i="0" dirty="0">
                <a:solidFill>
                  <a:srgbClr val="FF0000"/>
                </a:solidFill>
                <a:effectLst/>
                <a:latin typeface="微软雅黑" panose="020B0503020204020204" pitchFamily="34" charset="-122"/>
                <a:ea typeface="微软雅黑" panose="020B0503020204020204" pitchFamily="34" charset="-122"/>
              </a:rPr>
              <a:t>无法区分流的重要性</a:t>
            </a:r>
            <a:r>
              <a:rPr lang="zh-CN" altLang="en-US" sz="2400" i="0" dirty="0">
                <a:solidFill>
                  <a:srgbClr val="404040"/>
                </a:solidFill>
                <a:effectLst/>
                <a:latin typeface="微软雅黑" panose="020B0503020204020204" pitchFamily="34" charset="-122"/>
                <a:ea typeface="微软雅黑" panose="020B0503020204020204" pitchFamily="34" charset="-122"/>
              </a:rPr>
              <a:t>：所有流按权重公平分配，无法优先处理关键业务（如紧急控制消息）。</a:t>
            </a:r>
          </a:p>
          <a:p>
            <a:pPr marL="342900" indent="-342900" algn="l">
              <a:lnSpc>
                <a:spcPct val="150000"/>
              </a:lnSpc>
              <a:spcBef>
                <a:spcPts val="300"/>
              </a:spcBef>
              <a:spcAft>
                <a:spcPts val="300"/>
              </a:spcAft>
              <a:buClr>
                <a:srgbClr val="1969C2"/>
              </a:buClr>
              <a:buFont typeface="Wingdings" panose="05000000000000000000" pitchFamily="2" charset="2"/>
              <a:buChar char="n"/>
            </a:pPr>
            <a:r>
              <a:rPr lang="zh-CN" altLang="en-US" sz="2400" i="0" dirty="0">
                <a:solidFill>
                  <a:srgbClr val="FF0000"/>
                </a:solidFill>
                <a:effectLst/>
                <a:latin typeface="微软雅黑" panose="020B0503020204020204" pitchFamily="34" charset="-122"/>
                <a:ea typeface="微软雅黑" panose="020B0503020204020204" pitchFamily="34" charset="-122"/>
              </a:rPr>
              <a:t>计算复杂度高：</a:t>
            </a:r>
            <a:r>
              <a:rPr lang="zh-CN" altLang="en-US" sz="2400" i="0" dirty="0">
                <a:solidFill>
                  <a:srgbClr val="404040"/>
                </a:solidFill>
                <a:effectLst/>
                <a:latin typeface="微软雅黑" panose="020B0503020204020204" pitchFamily="34" charset="-122"/>
                <a:ea typeface="微软雅黑" panose="020B0503020204020204" pitchFamily="34" charset="-122"/>
              </a:rPr>
              <a:t>需为每个分组计算时间戳 → 高速链路中成为性能瓶颈。</a:t>
            </a:r>
          </a:p>
        </p:txBody>
      </p:sp>
    </p:spTree>
    <p:extLst>
      <p:ext uri="{BB962C8B-B14F-4D97-AF65-F5344CB8AC3E}">
        <p14:creationId xmlns:p14="http://schemas.microsoft.com/office/powerpoint/2010/main" val="2822556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B5B7E-333F-4507-4844-CE204CCC1824}"/>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17A146B8-FBBE-AFC2-BEFB-CEA234CAC875}"/>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33</a:t>
            </a:fld>
            <a:endParaRPr lang="zh-CN" altLang="en-US"/>
          </a:p>
        </p:txBody>
      </p:sp>
      <p:grpSp>
        <p:nvGrpSpPr>
          <p:cNvPr id="21" name="组合 20">
            <a:extLst>
              <a:ext uri="{FF2B5EF4-FFF2-40B4-BE49-F238E27FC236}">
                <a16:creationId xmlns:a16="http://schemas.microsoft.com/office/drawing/2014/main" id="{637F29D3-1259-8EC9-E445-F269C424A108}"/>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DEFE08C6-06B3-8FCD-9CE1-F662A67AAAE9}"/>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DC869D8E-1272-68BF-ADF9-B99BCAE0B8FF}"/>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1F55B800-47B9-194E-12C1-FFD2BE05DB20}"/>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主动队列管理</a:t>
                </a:r>
              </a:p>
            </p:txBody>
          </p:sp>
        </p:grpSp>
        <p:pic>
          <p:nvPicPr>
            <p:cNvPr id="28" name="图片 27">
              <a:extLst>
                <a:ext uri="{FF2B5EF4-FFF2-40B4-BE49-F238E27FC236}">
                  <a16:creationId xmlns:a16="http://schemas.microsoft.com/office/drawing/2014/main" id="{FEA099E1-54D5-3FC1-2B78-A195F61343F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9" name="Rectangle 68">
            <a:extLst>
              <a:ext uri="{FF2B5EF4-FFF2-40B4-BE49-F238E27FC236}">
                <a16:creationId xmlns:a16="http://schemas.microsoft.com/office/drawing/2014/main" id="{6341880D-CFA0-E551-CB6F-5A9AEAC3B1E7}"/>
              </a:ext>
            </a:extLst>
          </p:cNvPr>
          <p:cNvSpPr>
            <a:spLocks noChangeArrowheads="1"/>
          </p:cNvSpPr>
          <p:nvPr/>
        </p:nvSpPr>
        <p:spPr bwMode="auto">
          <a:xfrm>
            <a:off x="502800" y="1529477"/>
            <a:ext cx="11186399" cy="3351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en-US" altLang="zh-CN" sz="2400" dirty="0">
                <a:latin typeface="微软雅黑" pitchFamily="34" charset="-122"/>
                <a:ea typeface="微软雅黑" pitchFamily="34" charset="-122"/>
              </a:rPr>
              <a:t>1998 </a:t>
            </a:r>
            <a:r>
              <a:rPr lang="zh-CN" altLang="en-US" sz="2400" dirty="0">
                <a:latin typeface="微软雅黑" pitchFamily="34" charset="-122"/>
                <a:ea typeface="微软雅黑" pitchFamily="34" charset="-122"/>
              </a:rPr>
              <a:t>年提出了主动队列管理 </a:t>
            </a:r>
            <a:r>
              <a:rPr lang="en-US" altLang="zh-CN" sz="2400" dirty="0">
                <a:latin typeface="微软雅黑" pitchFamily="34" charset="-122"/>
                <a:ea typeface="微软雅黑" pitchFamily="34" charset="-122"/>
              </a:rPr>
              <a:t>AQM (Active Queue Management)</a:t>
            </a:r>
            <a:r>
              <a:rPr lang="zh-CN" altLang="en-US" sz="2400" dirty="0">
                <a:latin typeface="微软雅黑" pitchFamily="34" charset="-122"/>
                <a:ea typeface="微软雅黑" pitchFamily="34" charset="-122"/>
              </a:rPr>
              <a:t>。</a:t>
            </a:r>
          </a:p>
          <a:p>
            <a:pPr marL="342900" indent="-342900">
              <a:lnSpc>
                <a:spcPct val="1500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主动：</a:t>
            </a:r>
            <a:r>
              <a:rPr lang="zh-CN" altLang="en-US" sz="2400" dirty="0">
                <a:latin typeface="微软雅黑" pitchFamily="34" charset="-122"/>
                <a:ea typeface="微软雅黑" pitchFamily="34" charset="-122"/>
              </a:rPr>
              <a:t>不要等到路由器的队列长度已经达到最大值时才不得不丢弃后面到达的分组，而是在队列长度</a:t>
            </a:r>
            <a:r>
              <a:rPr lang="zh-CN" altLang="en-US" sz="2400" dirty="0">
                <a:solidFill>
                  <a:srgbClr val="0000FF"/>
                </a:solidFill>
                <a:latin typeface="微软雅黑" pitchFamily="34" charset="-122"/>
                <a:ea typeface="微软雅黑" pitchFamily="34" charset="-122"/>
              </a:rPr>
              <a:t>达到某个值得警惕的数值时</a:t>
            </a:r>
            <a:r>
              <a:rPr lang="zh-CN" altLang="en-US" sz="2400" dirty="0">
                <a:latin typeface="微软雅黑" pitchFamily="34" charset="-122"/>
                <a:ea typeface="微软雅黑" pitchFamily="34" charset="-122"/>
              </a:rPr>
              <a:t>（即当网络拥塞有了某些拥塞征兆时），就</a:t>
            </a:r>
            <a:r>
              <a:rPr lang="zh-CN" altLang="en-US" sz="2400" dirty="0">
                <a:solidFill>
                  <a:srgbClr val="0000FF"/>
                </a:solidFill>
                <a:latin typeface="微软雅黑" pitchFamily="34" charset="-122"/>
                <a:ea typeface="微软雅黑" pitchFamily="34" charset="-122"/>
              </a:rPr>
              <a:t>主动丢弃</a:t>
            </a:r>
            <a:r>
              <a:rPr lang="zh-CN" altLang="en-US" sz="2400" dirty="0">
                <a:latin typeface="微软雅黑" pitchFamily="34" charset="-122"/>
                <a:ea typeface="微软雅黑" pitchFamily="34" charset="-122"/>
              </a:rPr>
              <a:t>到达的分组。</a:t>
            </a:r>
          </a:p>
          <a:p>
            <a:pPr marL="342900" indent="-342900">
              <a:lnSpc>
                <a:spcPct val="150000"/>
              </a:lnSpc>
              <a:buClr>
                <a:srgbClr val="0070C0"/>
              </a:buClr>
              <a:buFont typeface="Wingdings" pitchFamily="2" charset="2"/>
              <a:buChar char="l"/>
            </a:pPr>
            <a:r>
              <a:rPr lang="en-US" altLang="zh-CN" sz="2400" dirty="0">
                <a:latin typeface="微软雅黑" pitchFamily="34" charset="-122"/>
                <a:ea typeface="微软雅黑" pitchFamily="34" charset="-122"/>
              </a:rPr>
              <a:t>AQM </a:t>
            </a:r>
            <a:r>
              <a:rPr lang="zh-CN" altLang="en-US" sz="2400" dirty="0">
                <a:latin typeface="微软雅黑" pitchFamily="34" charset="-122"/>
                <a:ea typeface="微软雅黑" pitchFamily="34" charset="-122"/>
              </a:rPr>
              <a:t>可以有不同实现方法，其中曾流行多年的就是</a:t>
            </a:r>
            <a:r>
              <a:rPr lang="zh-CN" altLang="en-US" sz="2400" dirty="0">
                <a:solidFill>
                  <a:srgbClr val="C00000"/>
                </a:solidFill>
                <a:latin typeface="微软雅黑" pitchFamily="34" charset="-122"/>
                <a:ea typeface="微软雅黑" pitchFamily="34" charset="-122"/>
              </a:rPr>
              <a:t>随机早期检测 </a:t>
            </a:r>
            <a:r>
              <a:rPr lang="en-US" altLang="zh-CN" sz="2400" dirty="0">
                <a:solidFill>
                  <a:srgbClr val="C00000"/>
                </a:solidFill>
                <a:latin typeface="微软雅黑" pitchFamily="34" charset="-122"/>
                <a:ea typeface="微软雅黑" pitchFamily="34" charset="-122"/>
              </a:rPr>
              <a:t>RED</a:t>
            </a:r>
            <a:r>
              <a:rPr lang="en-US" altLang="zh-CN" sz="2400" dirty="0">
                <a:solidFill>
                  <a:srgbClr val="0000FF"/>
                </a:solidFill>
                <a:latin typeface="微软雅黑" pitchFamily="34" charset="-122"/>
                <a:ea typeface="微软雅黑" pitchFamily="34" charset="-122"/>
              </a:rPr>
              <a:t> </a:t>
            </a:r>
            <a:r>
              <a:rPr lang="en-US" altLang="zh-CN" sz="2400" dirty="0">
                <a:latin typeface="微软雅黑" pitchFamily="34" charset="-122"/>
                <a:ea typeface="微软雅黑" pitchFamily="34" charset="-122"/>
              </a:rPr>
              <a:t>(Random Early Detection)</a:t>
            </a:r>
            <a:r>
              <a:rPr lang="zh-CN" altLang="en-US" sz="2400" dirty="0">
                <a:latin typeface="微软雅黑" pitchFamily="34" charset="-122"/>
                <a:ea typeface="微软雅黑" pitchFamily="34" charset="-122"/>
              </a:rPr>
              <a:t>。</a:t>
            </a:r>
          </a:p>
        </p:txBody>
      </p:sp>
    </p:spTree>
    <p:extLst>
      <p:ext uri="{BB962C8B-B14F-4D97-AF65-F5344CB8AC3E}">
        <p14:creationId xmlns:p14="http://schemas.microsoft.com/office/powerpoint/2010/main" val="3431053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D2D35-C011-18EF-0CF5-076CE7570B0D}"/>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171BA913-2775-30E0-96EC-0968A1B927AA}"/>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34</a:t>
            </a:fld>
            <a:endParaRPr lang="zh-CN" altLang="en-US"/>
          </a:p>
        </p:txBody>
      </p:sp>
      <p:grpSp>
        <p:nvGrpSpPr>
          <p:cNvPr id="21" name="组合 20">
            <a:extLst>
              <a:ext uri="{FF2B5EF4-FFF2-40B4-BE49-F238E27FC236}">
                <a16:creationId xmlns:a16="http://schemas.microsoft.com/office/drawing/2014/main" id="{A44FB755-D0CD-728B-5424-45F46A56E6EC}"/>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B43B745F-398D-DB49-AE1E-D1850E1FFF35}"/>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34250E2B-D31C-E19A-878D-C40C3BF8340C}"/>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2F1592CA-1755-60C7-4B5B-DA16904F1656}"/>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主动队列管理</a:t>
                </a:r>
              </a:p>
            </p:txBody>
          </p:sp>
        </p:grpSp>
        <p:pic>
          <p:nvPicPr>
            <p:cNvPr id="28" name="图片 27">
              <a:extLst>
                <a:ext uri="{FF2B5EF4-FFF2-40B4-BE49-F238E27FC236}">
                  <a16:creationId xmlns:a16="http://schemas.microsoft.com/office/drawing/2014/main" id="{530339B2-8AC3-7B36-B1A7-73A529C34FB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57232B1D-296A-5975-4E95-2858D613E32F}"/>
              </a:ext>
            </a:extLst>
          </p:cNvPr>
          <p:cNvGrpSpPr/>
          <p:nvPr/>
        </p:nvGrpSpPr>
        <p:grpSpPr>
          <a:xfrm>
            <a:off x="515938" y="1339655"/>
            <a:ext cx="5011559" cy="526734"/>
            <a:chOff x="722008" y="1303131"/>
            <a:chExt cx="4785185" cy="502942"/>
          </a:xfrm>
        </p:grpSpPr>
        <p:grpSp>
          <p:nvGrpSpPr>
            <p:cNvPr id="3" name="组合 2">
              <a:extLst>
                <a:ext uri="{FF2B5EF4-FFF2-40B4-BE49-F238E27FC236}">
                  <a16:creationId xmlns:a16="http://schemas.microsoft.com/office/drawing/2014/main" id="{1D71ECE9-0F1B-A52D-D8CA-B4C0931383F4}"/>
                </a:ext>
              </a:extLst>
            </p:cNvPr>
            <p:cNvGrpSpPr/>
            <p:nvPr/>
          </p:nvGrpSpPr>
          <p:grpSpPr>
            <a:xfrm>
              <a:off x="722008" y="1303131"/>
              <a:ext cx="546594" cy="475865"/>
              <a:chOff x="708742" y="1296102"/>
              <a:chExt cx="454744" cy="283828"/>
            </a:xfrm>
          </p:grpSpPr>
          <p:sp>
            <p:nvSpPr>
              <p:cNvPr id="6" name="平行四边形 5">
                <a:extLst>
                  <a:ext uri="{FF2B5EF4-FFF2-40B4-BE49-F238E27FC236}">
                    <a16:creationId xmlns:a16="http://schemas.microsoft.com/office/drawing/2014/main" id="{67FE7646-C1F8-3BAD-3D0D-1C6B5B1EED15}"/>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7" name="平行四边形 6">
                <a:extLst>
                  <a:ext uri="{FF2B5EF4-FFF2-40B4-BE49-F238E27FC236}">
                    <a16:creationId xmlns:a16="http://schemas.microsoft.com/office/drawing/2014/main" id="{3EE44D9C-80C1-CD6B-FF34-DE06BDCCF013}"/>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4" name="流程图: 手动输入 6">
              <a:extLst>
                <a:ext uri="{FF2B5EF4-FFF2-40B4-BE49-F238E27FC236}">
                  <a16:creationId xmlns:a16="http://schemas.microsoft.com/office/drawing/2014/main" id="{AC0AD8D4-83CB-B9D4-230C-2081EB31F448}"/>
                </a:ext>
              </a:extLst>
            </p:cNvPr>
            <p:cNvSpPr/>
            <p:nvPr/>
          </p:nvSpPr>
          <p:spPr>
            <a:xfrm rot="5400000" flipV="1">
              <a:off x="2583227" y="-288088"/>
              <a:ext cx="475861" cy="366511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5" name="Text Box 79">
              <a:extLst>
                <a:ext uri="{FF2B5EF4-FFF2-40B4-BE49-F238E27FC236}">
                  <a16:creationId xmlns:a16="http://schemas.microsoft.com/office/drawing/2014/main" id="{35ABB544-6B3C-F293-9103-CEE914BE164A}"/>
                </a:ext>
              </a:extLst>
            </p:cNvPr>
            <p:cNvSpPr txBox="1">
              <a:spLocks noChangeArrowheads="1"/>
            </p:cNvSpPr>
            <p:nvPr/>
          </p:nvSpPr>
          <p:spPr bwMode="auto">
            <a:xfrm>
              <a:off x="1351236" y="1335873"/>
              <a:ext cx="4155957"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随机早期检测（</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RED</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a:t>
              </a:r>
            </a:p>
          </p:txBody>
        </p:sp>
      </p:grpSp>
      <p:sp>
        <p:nvSpPr>
          <p:cNvPr id="8" name="Rectangle 68">
            <a:extLst>
              <a:ext uri="{FF2B5EF4-FFF2-40B4-BE49-F238E27FC236}">
                <a16:creationId xmlns:a16="http://schemas.microsoft.com/office/drawing/2014/main" id="{8CC93BCE-8825-FCAB-0DAE-B229892C670F}"/>
              </a:ext>
            </a:extLst>
          </p:cNvPr>
          <p:cNvSpPr>
            <a:spLocks noChangeArrowheads="1"/>
          </p:cNvSpPr>
          <p:nvPr/>
        </p:nvSpPr>
        <p:spPr bwMode="auto">
          <a:xfrm>
            <a:off x="795141" y="2152397"/>
            <a:ext cx="10970603" cy="3368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400" dirty="0">
                <a:latin typeface="微软雅黑" pitchFamily="34" charset="-122"/>
                <a:ea typeface="微软雅黑" pitchFamily="34" charset="-122"/>
              </a:rPr>
              <a:t>路由器队列维持两个参数：</a:t>
            </a:r>
            <a:endParaRPr lang="en-US" altLang="zh-CN" sz="2400" dirty="0">
              <a:latin typeface="微软雅黑" pitchFamily="34" charset="-122"/>
              <a:ea typeface="微软雅黑" pitchFamily="34" charset="-122"/>
            </a:endParaRPr>
          </a:p>
          <a:p>
            <a:pPr marL="631825" lvl="1" indent="-342900">
              <a:lnSpc>
                <a:spcPts val="3000"/>
              </a:lnSpc>
              <a:buClr>
                <a:srgbClr val="9900CC"/>
              </a:buClr>
              <a:buSzPct val="85000"/>
              <a:buFont typeface="Wingdings" panose="05000000000000000000" pitchFamily="2" charset="2"/>
              <a:buChar char="u"/>
            </a:pPr>
            <a:r>
              <a:rPr lang="zh-CN" altLang="en-US" sz="2400" dirty="0">
                <a:latin typeface="微软雅黑" pitchFamily="34" charset="-122"/>
                <a:ea typeface="微软雅黑" pitchFamily="34" charset="-122"/>
              </a:rPr>
              <a:t>队列长度</a:t>
            </a:r>
            <a:r>
              <a:rPr lang="zh-CN" altLang="en-US" sz="2400" dirty="0">
                <a:solidFill>
                  <a:srgbClr val="C00000"/>
                </a:solidFill>
                <a:latin typeface="微软雅黑" pitchFamily="34" charset="-122"/>
                <a:ea typeface="微软雅黑" pitchFamily="34" charset="-122"/>
              </a:rPr>
              <a:t>最小</a:t>
            </a:r>
            <a:r>
              <a:rPr lang="zh-CN" altLang="en-US" sz="2400" dirty="0">
                <a:latin typeface="微软雅黑" pitchFamily="34" charset="-122"/>
                <a:ea typeface="微软雅黑" pitchFamily="34" charset="-122"/>
              </a:rPr>
              <a:t>门限 </a:t>
            </a:r>
            <a:r>
              <a:rPr lang="en-US" altLang="zh-CN" sz="2400" dirty="0" err="1">
                <a:latin typeface="微软雅黑" pitchFamily="34" charset="-122"/>
                <a:ea typeface="微软雅黑" pitchFamily="34" charset="-122"/>
              </a:rPr>
              <a:t>TH</a:t>
            </a:r>
            <a:r>
              <a:rPr lang="en-US" altLang="zh-CN" sz="2400" baseline="-25000" dirty="0" err="1">
                <a:latin typeface="微软雅黑" pitchFamily="34" charset="-122"/>
                <a:ea typeface="微软雅黑" pitchFamily="34" charset="-122"/>
              </a:rPr>
              <a:t>min</a:t>
            </a:r>
            <a:r>
              <a:rPr lang="en-US" altLang="zh-CN" sz="2400" dirty="0">
                <a:latin typeface="微软雅黑" pitchFamily="34" charset="-122"/>
                <a:ea typeface="微软雅黑" pitchFamily="34" charset="-122"/>
              </a:rPr>
              <a:t> </a:t>
            </a:r>
          </a:p>
          <a:p>
            <a:pPr marL="631825" lvl="1" indent="-342900">
              <a:lnSpc>
                <a:spcPts val="3000"/>
              </a:lnSpc>
              <a:buClr>
                <a:srgbClr val="9900CC"/>
              </a:buClr>
              <a:buSzPct val="85000"/>
              <a:buFont typeface="Wingdings" panose="05000000000000000000" pitchFamily="2" charset="2"/>
              <a:buChar char="u"/>
            </a:pPr>
            <a:r>
              <a:rPr lang="zh-CN" altLang="en-US" sz="2400" dirty="0">
                <a:latin typeface="微软雅黑" pitchFamily="34" charset="-122"/>
                <a:ea typeface="微软雅黑" pitchFamily="34" charset="-122"/>
              </a:rPr>
              <a:t>队列长度</a:t>
            </a:r>
            <a:r>
              <a:rPr lang="zh-CN" altLang="en-US" sz="2400" dirty="0">
                <a:solidFill>
                  <a:srgbClr val="C00000"/>
                </a:solidFill>
                <a:latin typeface="微软雅黑" pitchFamily="34" charset="-122"/>
                <a:ea typeface="微软雅黑" pitchFamily="34" charset="-122"/>
              </a:rPr>
              <a:t>最大</a:t>
            </a:r>
            <a:r>
              <a:rPr lang="zh-CN" altLang="en-US" sz="2400" dirty="0">
                <a:latin typeface="微软雅黑" pitchFamily="34" charset="-122"/>
                <a:ea typeface="微软雅黑" pitchFamily="34" charset="-122"/>
              </a:rPr>
              <a:t>门限 </a:t>
            </a:r>
            <a:r>
              <a:rPr lang="en-US" altLang="zh-CN" sz="2400" dirty="0" err="1">
                <a:latin typeface="微软雅黑" pitchFamily="34" charset="-122"/>
                <a:ea typeface="微软雅黑" pitchFamily="34" charset="-122"/>
              </a:rPr>
              <a:t>TH</a:t>
            </a:r>
            <a:r>
              <a:rPr lang="en-US" altLang="zh-CN" sz="2400" baseline="-25000" dirty="0" err="1">
                <a:latin typeface="微软雅黑" pitchFamily="34" charset="-122"/>
                <a:ea typeface="微软雅黑" pitchFamily="34" charset="-122"/>
              </a:rPr>
              <a:t>max</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en-US" altLang="zh-CN" sz="2400" dirty="0">
                <a:latin typeface="微软雅黑" pitchFamily="34" charset="-122"/>
                <a:ea typeface="微软雅黑" pitchFamily="34" charset="-122"/>
              </a:rPr>
              <a:t>RED </a:t>
            </a:r>
            <a:r>
              <a:rPr lang="zh-CN" altLang="en-US" sz="2400" dirty="0">
                <a:latin typeface="微软雅黑" pitchFamily="34" charset="-122"/>
                <a:ea typeface="微软雅黑" pitchFamily="34" charset="-122"/>
              </a:rPr>
              <a:t>对每一个到达的分组都先计算平均队列长度 </a:t>
            </a:r>
            <a:r>
              <a:rPr lang="en-US" altLang="zh-CN" sz="2400" i="1" dirty="0">
                <a:latin typeface="微软雅黑" pitchFamily="34" charset="-122"/>
                <a:ea typeface="微软雅黑" pitchFamily="34" charset="-122"/>
              </a:rPr>
              <a:t>L</a:t>
            </a:r>
            <a:r>
              <a:rPr lang="en-US" altLang="zh-CN" sz="2400" baseline="-25000" dirty="0">
                <a:latin typeface="微软雅黑" pitchFamily="34" charset="-122"/>
                <a:ea typeface="微软雅黑" pitchFamily="34" charset="-122"/>
              </a:rPr>
              <a:t>AV</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a:t>
            </a:r>
          </a:p>
          <a:p>
            <a:pPr marL="720725" indent="-360363">
              <a:lnSpc>
                <a:spcPts val="3300"/>
              </a:lnSpc>
              <a:buClr>
                <a:srgbClr val="7030A0"/>
              </a:buClr>
              <a:buFont typeface="+mj-lt"/>
              <a:buAutoNum type="arabicPeriod"/>
            </a:pPr>
            <a:r>
              <a:rPr lang="zh-CN" altLang="en-US" sz="2400" dirty="0">
                <a:latin typeface="微软雅黑" pitchFamily="34" charset="-122"/>
                <a:ea typeface="微软雅黑" pitchFamily="34" charset="-122"/>
              </a:rPr>
              <a:t>若平均队列长度</a:t>
            </a:r>
            <a:r>
              <a:rPr lang="zh-CN" altLang="en-US" sz="2400" dirty="0">
                <a:solidFill>
                  <a:srgbClr val="C00000"/>
                </a:solidFill>
                <a:latin typeface="微软雅黑" pitchFamily="34" charset="-122"/>
                <a:ea typeface="微软雅黑" pitchFamily="34" charset="-122"/>
              </a:rPr>
              <a:t>小于最小</a:t>
            </a:r>
            <a:r>
              <a:rPr lang="zh-CN" altLang="en-US" sz="2400" dirty="0">
                <a:latin typeface="微软雅黑" pitchFamily="34" charset="-122"/>
                <a:ea typeface="微软雅黑" pitchFamily="34" charset="-122"/>
              </a:rPr>
              <a:t>门限 </a:t>
            </a:r>
            <a:r>
              <a:rPr lang="en-US" altLang="zh-CN" sz="2400" dirty="0" err="1">
                <a:latin typeface="微软雅黑" pitchFamily="34" charset="-122"/>
                <a:ea typeface="微软雅黑" pitchFamily="34" charset="-122"/>
              </a:rPr>
              <a:t>TH</a:t>
            </a:r>
            <a:r>
              <a:rPr lang="en-US" altLang="zh-CN" sz="2400" baseline="-25000" dirty="0" err="1">
                <a:latin typeface="微软雅黑" pitchFamily="34" charset="-122"/>
                <a:ea typeface="微软雅黑" pitchFamily="34" charset="-122"/>
              </a:rPr>
              <a:t>min</a:t>
            </a:r>
            <a:r>
              <a:rPr lang="zh-CN" altLang="en-US" sz="2400" dirty="0">
                <a:latin typeface="微软雅黑" pitchFamily="34" charset="-122"/>
                <a:ea typeface="微软雅黑" pitchFamily="34" charset="-122"/>
              </a:rPr>
              <a:t>，则将新到达的分组放入队列进行排队。</a:t>
            </a:r>
          </a:p>
          <a:p>
            <a:pPr marL="720725" indent="-360363">
              <a:lnSpc>
                <a:spcPts val="3300"/>
              </a:lnSpc>
              <a:buClr>
                <a:srgbClr val="7030A0"/>
              </a:buClr>
              <a:buFont typeface="+mj-lt"/>
              <a:buAutoNum type="arabicPeriod"/>
            </a:pPr>
            <a:r>
              <a:rPr lang="zh-CN" altLang="en-US" sz="2400" dirty="0">
                <a:latin typeface="微软雅黑" pitchFamily="34" charset="-122"/>
                <a:ea typeface="微软雅黑" pitchFamily="34" charset="-122"/>
              </a:rPr>
              <a:t>若平均队列长度</a:t>
            </a:r>
            <a:r>
              <a:rPr lang="zh-CN" altLang="en-US" sz="2400" dirty="0">
                <a:solidFill>
                  <a:srgbClr val="C00000"/>
                </a:solidFill>
                <a:latin typeface="微软雅黑" pitchFamily="34" charset="-122"/>
                <a:ea typeface="微软雅黑" pitchFamily="34" charset="-122"/>
              </a:rPr>
              <a:t>超过最大</a:t>
            </a:r>
            <a:r>
              <a:rPr lang="zh-CN" altLang="en-US" sz="2400" dirty="0">
                <a:latin typeface="微软雅黑" pitchFamily="34" charset="-122"/>
                <a:ea typeface="微软雅黑" pitchFamily="34" charset="-122"/>
              </a:rPr>
              <a:t>门限 </a:t>
            </a:r>
            <a:r>
              <a:rPr lang="en-US" altLang="zh-CN" sz="2400" dirty="0" err="1">
                <a:latin typeface="微软雅黑" pitchFamily="34" charset="-122"/>
                <a:ea typeface="微软雅黑" pitchFamily="34" charset="-122"/>
              </a:rPr>
              <a:t>TH</a:t>
            </a:r>
            <a:r>
              <a:rPr lang="en-US" altLang="zh-CN" sz="2400" baseline="-25000" dirty="0" err="1">
                <a:latin typeface="微软雅黑" pitchFamily="34" charset="-122"/>
                <a:ea typeface="微软雅黑" pitchFamily="34" charset="-122"/>
              </a:rPr>
              <a:t>max</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，则将新到达的分组丢弃。</a:t>
            </a:r>
          </a:p>
          <a:p>
            <a:pPr marL="720725" indent="-360363">
              <a:lnSpc>
                <a:spcPts val="3300"/>
              </a:lnSpc>
              <a:buClr>
                <a:srgbClr val="7030A0"/>
              </a:buClr>
              <a:buFont typeface="+mj-lt"/>
              <a:buAutoNum type="arabicPeriod"/>
            </a:pPr>
            <a:r>
              <a:rPr lang="zh-CN" altLang="en-US" sz="2400" dirty="0">
                <a:latin typeface="微软雅黑" pitchFamily="34" charset="-122"/>
                <a:ea typeface="微软雅黑" pitchFamily="34" charset="-122"/>
              </a:rPr>
              <a:t>若平均队列长度</a:t>
            </a:r>
            <a:r>
              <a:rPr lang="zh-CN" altLang="en-US" sz="2400" dirty="0">
                <a:solidFill>
                  <a:srgbClr val="C00000"/>
                </a:solidFill>
                <a:latin typeface="微软雅黑" pitchFamily="34" charset="-122"/>
                <a:ea typeface="微软雅黑" pitchFamily="34" charset="-122"/>
              </a:rPr>
              <a:t>介于</a:t>
            </a:r>
            <a:r>
              <a:rPr lang="zh-CN" altLang="en-US" sz="2400" dirty="0">
                <a:latin typeface="微软雅黑" pitchFamily="34" charset="-122"/>
                <a:ea typeface="微软雅黑" pitchFamily="34" charset="-122"/>
              </a:rPr>
              <a:t>在最小门限 </a:t>
            </a:r>
            <a:r>
              <a:rPr lang="en-US" altLang="zh-CN" sz="2400" dirty="0" err="1">
                <a:latin typeface="微软雅黑" pitchFamily="34" charset="-122"/>
                <a:ea typeface="微软雅黑" pitchFamily="34" charset="-122"/>
              </a:rPr>
              <a:t>TH</a:t>
            </a:r>
            <a:r>
              <a:rPr lang="en-US" altLang="zh-CN" sz="2400" baseline="-25000" dirty="0" err="1">
                <a:latin typeface="微软雅黑" pitchFamily="34" charset="-122"/>
                <a:ea typeface="微软雅黑" pitchFamily="34" charset="-122"/>
              </a:rPr>
              <a:t>min</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和最大门限 </a:t>
            </a:r>
            <a:r>
              <a:rPr lang="en-US" altLang="zh-CN" sz="2400" dirty="0" err="1">
                <a:latin typeface="微软雅黑" pitchFamily="34" charset="-122"/>
                <a:ea typeface="微软雅黑" pitchFamily="34" charset="-122"/>
              </a:rPr>
              <a:t>TH</a:t>
            </a:r>
            <a:r>
              <a:rPr lang="en-US" altLang="zh-CN" sz="2400" baseline="-25000" dirty="0" err="1">
                <a:latin typeface="微软雅黑" pitchFamily="34" charset="-122"/>
                <a:ea typeface="微软雅黑" pitchFamily="34" charset="-122"/>
              </a:rPr>
              <a:t>ax</a:t>
            </a:r>
            <a:r>
              <a:rPr lang="en-US" altLang="zh-CN" sz="2400" dirty="0">
                <a:latin typeface="微软雅黑" pitchFamily="34" charset="-122"/>
                <a:ea typeface="微软雅黑" pitchFamily="34" charset="-122"/>
              </a:rPr>
              <a:t> </a:t>
            </a:r>
            <a:r>
              <a:rPr lang="zh-CN" altLang="en-US" sz="2400" dirty="0">
                <a:solidFill>
                  <a:srgbClr val="C00000"/>
                </a:solidFill>
                <a:latin typeface="微软雅黑" pitchFamily="34" charset="-122"/>
                <a:ea typeface="微软雅黑" pitchFamily="34" charset="-122"/>
              </a:rPr>
              <a:t>之间</a:t>
            </a:r>
            <a:r>
              <a:rPr lang="zh-CN" altLang="en-US" sz="2400" dirty="0">
                <a:latin typeface="微软雅黑" pitchFamily="34" charset="-122"/>
                <a:ea typeface="微软雅黑" pitchFamily="34" charset="-122"/>
              </a:rPr>
              <a:t>，则按照某一</a:t>
            </a:r>
            <a:r>
              <a:rPr lang="zh-CN" altLang="en-US" sz="2400" dirty="0">
                <a:solidFill>
                  <a:srgbClr val="0000FF"/>
                </a:solidFill>
                <a:latin typeface="微软雅黑" pitchFamily="34" charset="-122"/>
                <a:ea typeface="微软雅黑" pitchFamily="34" charset="-122"/>
              </a:rPr>
              <a:t>概率 </a:t>
            </a:r>
            <a:r>
              <a:rPr lang="en-US" altLang="zh-CN" sz="2400" i="1" dirty="0">
                <a:solidFill>
                  <a:srgbClr val="0000FF"/>
                </a:solidFill>
                <a:latin typeface="微软雅黑" pitchFamily="34" charset="-122"/>
                <a:ea typeface="微软雅黑" pitchFamily="34" charset="-122"/>
              </a:rPr>
              <a:t>p</a:t>
            </a:r>
            <a:r>
              <a:rPr lang="en-US" altLang="zh-CN" sz="2400" dirty="0">
                <a:solidFill>
                  <a:srgbClr val="0000FF"/>
                </a:solidFill>
                <a:latin typeface="微软雅黑" pitchFamily="34" charset="-122"/>
                <a:ea typeface="微软雅黑" pitchFamily="34" charset="-122"/>
              </a:rPr>
              <a:t> </a:t>
            </a:r>
            <a:r>
              <a:rPr lang="zh-CN" altLang="en-US" sz="2400" dirty="0">
                <a:latin typeface="微软雅黑" pitchFamily="34" charset="-122"/>
                <a:ea typeface="微软雅黑" pitchFamily="34" charset="-122"/>
              </a:rPr>
              <a:t>将新到达的分组丢弃。</a:t>
            </a:r>
          </a:p>
        </p:txBody>
      </p:sp>
    </p:spTree>
    <p:extLst>
      <p:ext uri="{BB962C8B-B14F-4D97-AF65-F5344CB8AC3E}">
        <p14:creationId xmlns:p14="http://schemas.microsoft.com/office/powerpoint/2010/main" val="38429756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4D84F-C657-D03F-68C4-26DA74014990}"/>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010B02B1-1599-F28C-4D87-102E40FAD777}"/>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35</a:t>
            </a:fld>
            <a:endParaRPr lang="zh-CN" altLang="en-US"/>
          </a:p>
        </p:txBody>
      </p:sp>
      <p:grpSp>
        <p:nvGrpSpPr>
          <p:cNvPr id="21" name="组合 20">
            <a:extLst>
              <a:ext uri="{FF2B5EF4-FFF2-40B4-BE49-F238E27FC236}">
                <a16:creationId xmlns:a16="http://schemas.microsoft.com/office/drawing/2014/main" id="{3A8A8814-355F-A4AD-6092-5E68AED34F8B}"/>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E5983DD6-D6E3-A399-D216-C2629D99FF10}"/>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F649E7F5-515A-43FF-AEBE-FF16F150DF9B}"/>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02110ED6-E330-47EA-7AAF-3D493DE7C3DF}"/>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主动队列管理</a:t>
                </a:r>
              </a:p>
            </p:txBody>
          </p:sp>
        </p:grpSp>
        <p:pic>
          <p:nvPicPr>
            <p:cNvPr id="28" name="图片 27">
              <a:extLst>
                <a:ext uri="{FF2B5EF4-FFF2-40B4-BE49-F238E27FC236}">
                  <a16:creationId xmlns:a16="http://schemas.microsoft.com/office/drawing/2014/main" id="{AFE6CF7C-D662-84CA-9F34-12DF1467CC3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1B2475E1-6152-4760-117D-2DC023FF6781}"/>
              </a:ext>
            </a:extLst>
          </p:cNvPr>
          <p:cNvGrpSpPr/>
          <p:nvPr/>
        </p:nvGrpSpPr>
        <p:grpSpPr>
          <a:xfrm>
            <a:off x="515938" y="1339655"/>
            <a:ext cx="5011559" cy="526734"/>
            <a:chOff x="722008" y="1303131"/>
            <a:chExt cx="4785185" cy="502942"/>
          </a:xfrm>
        </p:grpSpPr>
        <p:grpSp>
          <p:nvGrpSpPr>
            <p:cNvPr id="3" name="组合 2">
              <a:extLst>
                <a:ext uri="{FF2B5EF4-FFF2-40B4-BE49-F238E27FC236}">
                  <a16:creationId xmlns:a16="http://schemas.microsoft.com/office/drawing/2014/main" id="{81B95AC2-3753-2EF3-9391-F8D42B745399}"/>
                </a:ext>
              </a:extLst>
            </p:cNvPr>
            <p:cNvGrpSpPr/>
            <p:nvPr/>
          </p:nvGrpSpPr>
          <p:grpSpPr>
            <a:xfrm>
              <a:off x="722008" y="1303131"/>
              <a:ext cx="546594" cy="475865"/>
              <a:chOff x="708742" y="1296102"/>
              <a:chExt cx="454744" cy="283828"/>
            </a:xfrm>
          </p:grpSpPr>
          <p:sp>
            <p:nvSpPr>
              <p:cNvPr id="6" name="平行四边形 5">
                <a:extLst>
                  <a:ext uri="{FF2B5EF4-FFF2-40B4-BE49-F238E27FC236}">
                    <a16:creationId xmlns:a16="http://schemas.microsoft.com/office/drawing/2014/main" id="{72C61BA7-4929-FBD6-790E-4531603AB93C}"/>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7" name="平行四边形 6">
                <a:extLst>
                  <a:ext uri="{FF2B5EF4-FFF2-40B4-BE49-F238E27FC236}">
                    <a16:creationId xmlns:a16="http://schemas.microsoft.com/office/drawing/2014/main" id="{EC41D137-E76E-0C05-AE93-F64B88AB04B0}"/>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4" name="流程图: 手动输入 6">
              <a:extLst>
                <a:ext uri="{FF2B5EF4-FFF2-40B4-BE49-F238E27FC236}">
                  <a16:creationId xmlns:a16="http://schemas.microsoft.com/office/drawing/2014/main" id="{1C690407-875D-F71D-91D0-7993D7466A7D}"/>
                </a:ext>
              </a:extLst>
            </p:cNvPr>
            <p:cNvSpPr/>
            <p:nvPr/>
          </p:nvSpPr>
          <p:spPr>
            <a:xfrm rot="5400000" flipV="1">
              <a:off x="2583227" y="-288088"/>
              <a:ext cx="475861" cy="366511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5" name="Text Box 79">
              <a:extLst>
                <a:ext uri="{FF2B5EF4-FFF2-40B4-BE49-F238E27FC236}">
                  <a16:creationId xmlns:a16="http://schemas.microsoft.com/office/drawing/2014/main" id="{70AD48E9-DA40-CAE0-A344-96823FFBFD86}"/>
                </a:ext>
              </a:extLst>
            </p:cNvPr>
            <p:cNvSpPr txBox="1">
              <a:spLocks noChangeArrowheads="1"/>
            </p:cNvSpPr>
            <p:nvPr/>
          </p:nvSpPr>
          <p:spPr bwMode="auto">
            <a:xfrm>
              <a:off x="1351236" y="1335873"/>
              <a:ext cx="4155957"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随机早期检测（</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RED</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a:t>
              </a:r>
            </a:p>
          </p:txBody>
        </p:sp>
      </p:grpSp>
      <p:sp>
        <p:nvSpPr>
          <p:cNvPr id="8" name="圆角矩形 4">
            <a:extLst>
              <a:ext uri="{FF2B5EF4-FFF2-40B4-BE49-F238E27FC236}">
                <a16:creationId xmlns:a16="http://schemas.microsoft.com/office/drawing/2014/main" id="{CDDFC196-2559-8EF9-D4FB-A74C4CCEDE50}"/>
              </a:ext>
            </a:extLst>
          </p:cNvPr>
          <p:cNvSpPr/>
          <p:nvPr/>
        </p:nvSpPr>
        <p:spPr>
          <a:xfrm>
            <a:off x="1088390" y="2428804"/>
            <a:ext cx="10428940" cy="337124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Rectangle 68">
            <a:extLst>
              <a:ext uri="{FF2B5EF4-FFF2-40B4-BE49-F238E27FC236}">
                <a16:creationId xmlns:a16="http://schemas.microsoft.com/office/drawing/2014/main" id="{2C1414FF-C788-5F60-FEA7-88479D1C6308}"/>
              </a:ext>
            </a:extLst>
          </p:cNvPr>
          <p:cNvSpPr>
            <a:spLocks noChangeArrowheads="1"/>
          </p:cNvSpPr>
          <p:nvPr/>
        </p:nvSpPr>
        <p:spPr bwMode="auto">
          <a:xfrm>
            <a:off x="1629802" y="1955747"/>
            <a:ext cx="10187572"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2700"/>
              </a:lnSpc>
              <a:buClr>
                <a:srgbClr val="0070C0"/>
              </a:buClr>
            </a:pPr>
            <a:r>
              <a:rPr lang="en-US" altLang="zh-CN" sz="2400" dirty="0">
                <a:latin typeface="微软雅黑" pitchFamily="34" charset="-122"/>
                <a:ea typeface="微软雅黑" pitchFamily="34" charset="-122"/>
              </a:rPr>
              <a:t>RED </a:t>
            </a:r>
            <a:r>
              <a:rPr lang="zh-CN" altLang="en-US" sz="2400" dirty="0">
                <a:latin typeface="微软雅黑" pitchFamily="34" charset="-122"/>
                <a:ea typeface="微软雅黑" pitchFamily="34" charset="-122"/>
              </a:rPr>
              <a:t>路由器到达队列维持</a:t>
            </a:r>
            <a:r>
              <a:rPr lang="zh-CN" altLang="en-US" sz="2400" dirty="0">
                <a:solidFill>
                  <a:srgbClr val="C00000"/>
                </a:solidFill>
                <a:latin typeface="微软雅黑" pitchFamily="34" charset="-122"/>
                <a:ea typeface="微软雅黑" pitchFamily="34" charset="-122"/>
              </a:rPr>
              <a:t>两个参数：</a:t>
            </a:r>
            <a:r>
              <a:rPr lang="en-US" altLang="zh-CN" sz="2400" dirty="0" err="1">
                <a:latin typeface="微软雅黑" pitchFamily="34" charset="-122"/>
                <a:ea typeface="微软雅黑" pitchFamily="34" charset="-122"/>
              </a:rPr>
              <a:t>Th</a:t>
            </a:r>
            <a:r>
              <a:rPr lang="en-US" altLang="zh-CN" sz="2400" baseline="-25000" dirty="0" err="1">
                <a:latin typeface="微软雅黑" pitchFamily="34" charset="-122"/>
                <a:ea typeface="微软雅黑" pitchFamily="34" charset="-122"/>
              </a:rPr>
              <a:t>min</a:t>
            </a:r>
            <a:r>
              <a:rPr lang="zh-CN" altLang="en-US" sz="2400" dirty="0">
                <a:latin typeface="微软雅黑" pitchFamily="34" charset="-122"/>
                <a:ea typeface="微软雅黑" pitchFamily="34" charset="-122"/>
              </a:rPr>
              <a:t>， </a:t>
            </a:r>
            <a:r>
              <a:rPr lang="en-US" altLang="zh-CN" sz="2400" dirty="0" err="1">
                <a:latin typeface="微软雅黑" pitchFamily="34" charset="-122"/>
                <a:ea typeface="微软雅黑" pitchFamily="34" charset="-122"/>
              </a:rPr>
              <a:t>Th</a:t>
            </a:r>
            <a:r>
              <a:rPr lang="en-US" altLang="zh-CN" sz="2400" baseline="-25000" dirty="0" err="1">
                <a:latin typeface="微软雅黑" pitchFamily="34" charset="-122"/>
                <a:ea typeface="微软雅黑" pitchFamily="34" charset="-122"/>
              </a:rPr>
              <a:t>max</a:t>
            </a:r>
            <a:r>
              <a:rPr lang="zh-CN" altLang="en-US" sz="2400" dirty="0">
                <a:latin typeface="微软雅黑" pitchFamily="34" charset="-122"/>
                <a:ea typeface="微软雅黑" pitchFamily="34" charset="-122"/>
              </a:rPr>
              <a:t>，分成为</a:t>
            </a:r>
            <a:r>
              <a:rPr lang="zh-CN" altLang="en-US" sz="2400" dirty="0">
                <a:solidFill>
                  <a:srgbClr val="C00000"/>
                </a:solidFill>
                <a:latin typeface="微软雅黑" pitchFamily="34" charset="-122"/>
                <a:ea typeface="微软雅黑" pitchFamily="34" charset="-122"/>
              </a:rPr>
              <a:t>三个区域： </a:t>
            </a:r>
          </a:p>
        </p:txBody>
      </p:sp>
      <p:grpSp>
        <p:nvGrpSpPr>
          <p:cNvPr id="10" name="组合 9">
            <a:extLst>
              <a:ext uri="{FF2B5EF4-FFF2-40B4-BE49-F238E27FC236}">
                <a16:creationId xmlns:a16="http://schemas.microsoft.com/office/drawing/2014/main" id="{924E21B9-255D-3885-B8B4-F677CDC8CCC7}"/>
              </a:ext>
            </a:extLst>
          </p:cNvPr>
          <p:cNvGrpSpPr/>
          <p:nvPr/>
        </p:nvGrpSpPr>
        <p:grpSpPr>
          <a:xfrm>
            <a:off x="2781274" y="2592064"/>
            <a:ext cx="7482610" cy="3062455"/>
            <a:chOff x="687987" y="2057562"/>
            <a:chExt cx="9420483" cy="3642911"/>
          </a:xfrm>
        </p:grpSpPr>
        <p:sp>
          <p:nvSpPr>
            <p:cNvPr id="11" name="Rectangle 35">
              <a:extLst>
                <a:ext uri="{FF2B5EF4-FFF2-40B4-BE49-F238E27FC236}">
                  <a16:creationId xmlns:a16="http://schemas.microsoft.com/office/drawing/2014/main" id="{B5C22A0C-6545-7FF0-BBE5-C190C408B4B8}"/>
                </a:ext>
              </a:extLst>
            </p:cNvPr>
            <p:cNvSpPr>
              <a:spLocks noChangeArrowheads="1"/>
            </p:cNvSpPr>
            <p:nvPr/>
          </p:nvSpPr>
          <p:spPr bwMode="auto">
            <a:xfrm>
              <a:off x="2952883" y="2059150"/>
              <a:ext cx="3437863" cy="3013075"/>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2" name="Rectangle 34">
              <a:extLst>
                <a:ext uri="{FF2B5EF4-FFF2-40B4-BE49-F238E27FC236}">
                  <a16:creationId xmlns:a16="http://schemas.microsoft.com/office/drawing/2014/main" id="{8D32BB20-C81F-344E-ADC1-0C85F97E5521}"/>
                </a:ext>
              </a:extLst>
            </p:cNvPr>
            <p:cNvSpPr>
              <a:spLocks noChangeArrowheads="1"/>
            </p:cNvSpPr>
            <p:nvPr/>
          </p:nvSpPr>
          <p:spPr bwMode="auto">
            <a:xfrm>
              <a:off x="6394185" y="2057562"/>
              <a:ext cx="1024996" cy="24765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3" name="Rectangle 33">
              <a:extLst>
                <a:ext uri="{FF2B5EF4-FFF2-40B4-BE49-F238E27FC236}">
                  <a16:creationId xmlns:a16="http://schemas.microsoft.com/office/drawing/2014/main" id="{D520B202-C04C-A99B-A23A-9DF5E942C132}"/>
                </a:ext>
              </a:extLst>
            </p:cNvPr>
            <p:cNvSpPr>
              <a:spLocks noChangeArrowheads="1"/>
            </p:cNvSpPr>
            <p:nvPr/>
          </p:nvSpPr>
          <p:spPr bwMode="auto">
            <a:xfrm>
              <a:off x="1676798" y="2057563"/>
              <a:ext cx="1276085" cy="3444875"/>
            </a:xfrm>
            <a:prstGeom prst="rect">
              <a:avLst/>
            </a:prstGeom>
            <a:solidFill>
              <a:srgbClr val="66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4" name="Rectangle 4">
              <a:extLst>
                <a:ext uri="{FF2B5EF4-FFF2-40B4-BE49-F238E27FC236}">
                  <a16:creationId xmlns:a16="http://schemas.microsoft.com/office/drawing/2014/main" id="{4BA363E1-9A2D-6859-D606-9000870C52D1}"/>
                </a:ext>
              </a:extLst>
            </p:cNvPr>
            <p:cNvSpPr>
              <a:spLocks noChangeArrowheads="1"/>
            </p:cNvSpPr>
            <p:nvPr/>
          </p:nvSpPr>
          <p:spPr bwMode="auto">
            <a:xfrm>
              <a:off x="4975358" y="2757649"/>
              <a:ext cx="2445544" cy="1276350"/>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5" name="Freeform 5">
              <a:extLst>
                <a:ext uri="{FF2B5EF4-FFF2-40B4-BE49-F238E27FC236}">
                  <a16:creationId xmlns:a16="http://schemas.microsoft.com/office/drawing/2014/main" id="{09FF7F76-1D12-4FA9-1DE5-00DD14C0E55F}"/>
                </a:ext>
              </a:extLst>
            </p:cNvPr>
            <p:cNvSpPr>
              <a:spLocks/>
            </p:cNvSpPr>
            <p:nvPr/>
          </p:nvSpPr>
          <p:spPr bwMode="auto">
            <a:xfrm>
              <a:off x="1948525" y="2757649"/>
              <a:ext cx="5472377" cy="1276350"/>
            </a:xfrm>
            <a:custGeom>
              <a:avLst/>
              <a:gdLst>
                <a:gd name="T0" fmla="*/ 0 w 1920"/>
                <a:gd name="T1" fmla="*/ 0 h 528"/>
                <a:gd name="T2" fmla="*/ 1920 w 1920"/>
                <a:gd name="T3" fmla="*/ 0 h 528"/>
                <a:gd name="T4" fmla="*/ 1920 w 1920"/>
                <a:gd name="T5" fmla="*/ 528 h 528"/>
                <a:gd name="T6" fmla="*/ 0 w 1920"/>
                <a:gd name="T7" fmla="*/ 528 h 528"/>
              </a:gdLst>
              <a:ahLst/>
              <a:cxnLst>
                <a:cxn ang="0">
                  <a:pos x="T0" y="T1"/>
                </a:cxn>
                <a:cxn ang="0">
                  <a:pos x="T2" y="T3"/>
                </a:cxn>
                <a:cxn ang="0">
                  <a:pos x="T4" y="T5"/>
                </a:cxn>
                <a:cxn ang="0">
                  <a:pos x="T6" y="T7"/>
                </a:cxn>
              </a:cxnLst>
              <a:rect l="0" t="0" r="r" b="b"/>
              <a:pathLst>
                <a:path w="1920" h="528">
                  <a:moveTo>
                    <a:pt x="0" y="0"/>
                  </a:moveTo>
                  <a:lnTo>
                    <a:pt x="1920" y="0"/>
                  </a:lnTo>
                  <a:lnTo>
                    <a:pt x="1920" y="528"/>
                  </a:lnTo>
                  <a:lnTo>
                    <a:pt x="0" y="52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6" name="Line 6">
              <a:extLst>
                <a:ext uri="{FF2B5EF4-FFF2-40B4-BE49-F238E27FC236}">
                  <a16:creationId xmlns:a16="http://schemas.microsoft.com/office/drawing/2014/main" id="{2FE176D6-B5C3-0195-F87B-F9159CF37169}"/>
                </a:ext>
              </a:extLst>
            </p:cNvPr>
            <p:cNvSpPr>
              <a:spLocks noChangeShapeType="1"/>
            </p:cNvSpPr>
            <p:nvPr/>
          </p:nvSpPr>
          <p:spPr bwMode="auto">
            <a:xfrm>
              <a:off x="7073504"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7" name="Line 7">
              <a:extLst>
                <a:ext uri="{FF2B5EF4-FFF2-40B4-BE49-F238E27FC236}">
                  <a16:creationId xmlns:a16="http://schemas.microsoft.com/office/drawing/2014/main" id="{A658AB88-2D98-39F3-CD1C-0FCE82C8F69F}"/>
                </a:ext>
              </a:extLst>
            </p:cNvPr>
            <p:cNvSpPr>
              <a:spLocks noChangeShapeType="1"/>
            </p:cNvSpPr>
            <p:nvPr/>
          </p:nvSpPr>
          <p:spPr bwMode="auto">
            <a:xfrm>
              <a:off x="6724385"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8" name="Line 8">
              <a:extLst>
                <a:ext uri="{FF2B5EF4-FFF2-40B4-BE49-F238E27FC236}">
                  <a16:creationId xmlns:a16="http://schemas.microsoft.com/office/drawing/2014/main" id="{2BD4E665-DEC0-73C2-A853-7567C8BF1F7D}"/>
                </a:ext>
              </a:extLst>
            </p:cNvPr>
            <p:cNvSpPr>
              <a:spLocks noChangeShapeType="1"/>
            </p:cNvSpPr>
            <p:nvPr/>
          </p:nvSpPr>
          <p:spPr bwMode="auto">
            <a:xfrm>
              <a:off x="6373548" y="2290924"/>
              <a:ext cx="0" cy="2032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9" name="Line 9">
              <a:extLst>
                <a:ext uri="{FF2B5EF4-FFF2-40B4-BE49-F238E27FC236}">
                  <a16:creationId xmlns:a16="http://schemas.microsoft.com/office/drawing/2014/main" id="{ACB595A1-54B4-534A-E073-4685005A8326}"/>
                </a:ext>
              </a:extLst>
            </p:cNvPr>
            <p:cNvSpPr>
              <a:spLocks noChangeShapeType="1"/>
            </p:cNvSpPr>
            <p:nvPr/>
          </p:nvSpPr>
          <p:spPr bwMode="auto">
            <a:xfrm>
              <a:off x="6024431"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0" name="Line 10">
              <a:extLst>
                <a:ext uri="{FF2B5EF4-FFF2-40B4-BE49-F238E27FC236}">
                  <a16:creationId xmlns:a16="http://schemas.microsoft.com/office/drawing/2014/main" id="{7FD6BBD0-D647-6FDB-FC94-936DB0A895C2}"/>
                </a:ext>
              </a:extLst>
            </p:cNvPr>
            <p:cNvSpPr>
              <a:spLocks noChangeShapeType="1"/>
            </p:cNvSpPr>
            <p:nvPr/>
          </p:nvSpPr>
          <p:spPr bwMode="auto">
            <a:xfrm>
              <a:off x="5675313"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2" name="Line 11">
              <a:extLst>
                <a:ext uri="{FF2B5EF4-FFF2-40B4-BE49-F238E27FC236}">
                  <a16:creationId xmlns:a16="http://schemas.microsoft.com/office/drawing/2014/main" id="{B0B08854-0F06-A68C-B9AA-B7E8696204D3}"/>
                </a:ext>
              </a:extLst>
            </p:cNvPr>
            <p:cNvSpPr>
              <a:spLocks noChangeShapeType="1"/>
            </p:cNvSpPr>
            <p:nvPr/>
          </p:nvSpPr>
          <p:spPr bwMode="auto">
            <a:xfrm>
              <a:off x="5324475"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3" name="Line 12">
              <a:extLst>
                <a:ext uri="{FF2B5EF4-FFF2-40B4-BE49-F238E27FC236}">
                  <a16:creationId xmlns:a16="http://schemas.microsoft.com/office/drawing/2014/main" id="{1AD977B5-FEC1-8A22-2BA5-CCF8BEED27D4}"/>
                </a:ext>
              </a:extLst>
            </p:cNvPr>
            <p:cNvSpPr>
              <a:spLocks noChangeShapeType="1"/>
            </p:cNvSpPr>
            <p:nvPr/>
          </p:nvSpPr>
          <p:spPr bwMode="auto">
            <a:xfrm>
              <a:off x="2964921" y="2309975"/>
              <a:ext cx="0" cy="316071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4" name="AutoShape 13">
              <a:extLst>
                <a:ext uri="{FF2B5EF4-FFF2-40B4-BE49-F238E27FC236}">
                  <a16:creationId xmlns:a16="http://schemas.microsoft.com/office/drawing/2014/main" id="{DD220BC0-B7F3-A16A-A266-8A21332776CE}"/>
                </a:ext>
              </a:extLst>
            </p:cNvPr>
            <p:cNvSpPr>
              <a:spLocks noChangeArrowheads="1"/>
            </p:cNvSpPr>
            <p:nvPr/>
          </p:nvSpPr>
          <p:spPr bwMode="auto">
            <a:xfrm>
              <a:off x="7305676" y="3105313"/>
              <a:ext cx="1049073" cy="465137"/>
            </a:xfrm>
            <a:prstGeom prst="rightArrow">
              <a:avLst>
                <a:gd name="adj1" fmla="val 50000"/>
                <a:gd name="adj2" fmla="val 52048"/>
              </a:avLst>
            </a:prstGeom>
            <a:solidFill>
              <a:srgbClr val="FF00FF"/>
            </a:solidFill>
            <a:ln w="9525">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25" name="Text Box 14">
              <a:extLst>
                <a:ext uri="{FF2B5EF4-FFF2-40B4-BE49-F238E27FC236}">
                  <a16:creationId xmlns:a16="http://schemas.microsoft.com/office/drawing/2014/main" id="{E55E1DC0-38FC-65D9-6331-FE4B6588890F}"/>
                </a:ext>
              </a:extLst>
            </p:cNvPr>
            <p:cNvSpPr txBox="1">
              <a:spLocks noChangeArrowheads="1"/>
            </p:cNvSpPr>
            <p:nvPr/>
          </p:nvSpPr>
          <p:spPr bwMode="auto">
            <a:xfrm>
              <a:off x="8227370" y="2986250"/>
              <a:ext cx="1104334" cy="768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dirty="0">
                  <a:latin typeface="微软雅黑" pitchFamily="34" charset="-122"/>
                  <a:ea typeface="微软雅黑" pitchFamily="34" charset="-122"/>
                </a:rPr>
                <a:t>从队首</a:t>
              </a:r>
            </a:p>
            <a:p>
              <a:pPr algn="ctr"/>
              <a:r>
                <a:rPr kumimoji="1" lang="zh-CN" altLang="en-US" dirty="0">
                  <a:latin typeface="微软雅黑" pitchFamily="34" charset="-122"/>
                  <a:ea typeface="微软雅黑" pitchFamily="34" charset="-122"/>
                </a:rPr>
                <a:t>发送</a:t>
              </a:r>
            </a:p>
          </p:txBody>
        </p:sp>
        <p:sp>
          <p:nvSpPr>
            <p:cNvPr id="26" name="Line 15">
              <a:extLst>
                <a:ext uri="{FF2B5EF4-FFF2-40B4-BE49-F238E27FC236}">
                  <a16:creationId xmlns:a16="http://schemas.microsoft.com/office/drawing/2014/main" id="{F95F594A-3EB5-9529-251B-16C54D815CAE}"/>
                </a:ext>
              </a:extLst>
            </p:cNvPr>
            <p:cNvSpPr>
              <a:spLocks noChangeShapeType="1"/>
            </p:cNvSpPr>
            <p:nvPr/>
          </p:nvSpPr>
          <p:spPr bwMode="auto">
            <a:xfrm>
              <a:off x="4975358"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1" name="Text Box 16">
              <a:extLst>
                <a:ext uri="{FF2B5EF4-FFF2-40B4-BE49-F238E27FC236}">
                  <a16:creationId xmlns:a16="http://schemas.microsoft.com/office/drawing/2014/main" id="{711F3349-84CA-F2FD-DB9A-2C10DCFE4B2D}"/>
                </a:ext>
              </a:extLst>
            </p:cNvPr>
            <p:cNvSpPr txBox="1">
              <a:spLocks noChangeArrowheads="1"/>
            </p:cNvSpPr>
            <p:nvPr/>
          </p:nvSpPr>
          <p:spPr bwMode="auto">
            <a:xfrm>
              <a:off x="7571468" y="4363378"/>
              <a:ext cx="2537002" cy="439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b="1" dirty="0">
                  <a:solidFill>
                    <a:srgbClr val="C00000"/>
                  </a:solidFill>
                  <a:latin typeface="微软雅黑" pitchFamily="34" charset="-122"/>
                  <a:ea typeface="微软雅黑" pitchFamily="34" charset="-122"/>
                </a:rPr>
                <a:t>最小门限 </a:t>
              </a:r>
              <a:r>
                <a:rPr kumimoji="1" lang="en-US" altLang="zh-CN" b="1" dirty="0" err="1">
                  <a:solidFill>
                    <a:srgbClr val="C00000"/>
                  </a:solidFill>
                  <a:latin typeface="微软雅黑" pitchFamily="34" charset="-122"/>
                  <a:ea typeface="微软雅黑" pitchFamily="34" charset="-122"/>
                </a:rPr>
                <a:t>Th</a:t>
              </a:r>
              <a:r>
                <a:rPr kumimoji="1" lang="en-US" altLang="zh-CN" b="1" baseline="-25000" dirty="0" err="1">
                  <a:solidFill>
                    <a:srgbClr val="C00000"/>
                  </a:solidFill>
                  <a:latin typeface="微软雅黑" pitchFamily="34" charset="-122"/>
                  <a:ea typeface="微软雅黑" pitchFamily="34" charset="-122"/>
                </a:rPr>
                <a:t>min</a:t>
              </a:r>
              <a:endParaRPr kumimoji="1" lang="en-US" altLang="zh-CN" b="1" baseline="-25000" dirty="0">
                <a:solidFill>
                  <a:srgbClr val="C00000"/>
                </a:solidFill>
                <a:latin typeface="微软雅黑" pitchFamily="34" charset="-122"/>
                <a:ea typeface="微软雅黑" pitchFamily="34" charset="-122"/>
              </a:endParaRPr>
            </a:p>
          </p:txBody>
        </p:sp>
        <p:sp>
          <p:nvSpPr>
            <p:cNvPr id="32" name="Text Box 17">
              <a:extLst>
                <a:ext uri="{FF2B5EF4-FFF2-40B4-BE49-F238E27FC236}">
                  <a16:creationId xmlns:a16="http://schemas.microsoft.com/office/drawing/2014/main" id="{A4E5A993-6004-9B98-5C87-D0A5AF2EDF08}"/>
                </a:ext>
              </a:extLst>
            </p:cNvPr>
            <p:cNvSpPr txBox="1">
              <a:spLocks noChangeArrowheads="1"/>
            </p:cNvSpPr>
            <p:nvPr/>
          </p:nvSpPr>
          <p:spPr bwMode="auto">
            <a:xfrm>
              <a:off x="4244446" y="5261138"/>
              <a:ext cx="2264773" cy="439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C00000"/>
                  </a:solidFill>
                  <a:latin typeface="微软雅黑" pitchFamily="34" charset="-122"/>
                  <a:ea typeface="微软雅黑" pitchFamily="34" charset="-122"/>
                </a:rPr>
                <a:t>最大门限 </a:t>
              </a:r>
              <a:r>
                <a:rPr kumimoji="1" lang="en-US" altLang="zh-CN" b="1" dirty="0" err="1">
                  <a:solidFill>
                    <a:srgbClr val="C00000"/>
                  </a:solidFill>
                  <a:latin typeface="微软雅黑" pitchFamily="34" charset="-122"/>
                  <a:ea typeface="微软雅黑" pitchFamily="34" charset="-122"/>
                </a:rPr>
                <a:t>Th</a:t>
              </a:r>
              <a:r>
                <a:rPr kumimoji="1" lang="en-US" altLang="zh-CN" b="1" baseline="-25000" dirty="0" err="1">
                  <a:solidFill>
                    <a:srgbClr val="C00000"/>
                  </a:solidFill>
                  <a:latin typeface="微软雅黑" pitchFamily="34" charset="-122"/>
                  <a:ea typeface="微软雅黑" pitchFamily="34" charset="-122"/>
                </a:rPr>
                <a:t>max</a:t>
              </a:r>
              <a:endParaRPr kumimoji="1" lang="en-US" altLang="zh-CN" b="1" baseline="-25000" dirty="0">
                <a:solidFill>
                  <a:srgbClr val="C00000"/>
                </a:solidFill>
                <a:latin typeface="微软雅黑" pitchFamily="34" charset="-122"/>
                <a:ea typeface="微软雅黑" pitchFamily="34" charset="-122"/>
              </a:endParaRPr>
            </a:p>
          </p:txBody>
        </p:sp>
        <p:sp>
          <p:nvSpPr>
            <p:cNvPr id="33" name="AutoShape 18">
              <a:extLst>
                <a:ext uri="{FF2B5EF4-FFF2-40B4-BE49-F238E27FC236}">
                  <a16:creationId xmlns:a16="http://schemas.microsoft.com/office/drawing/2014/main" id="{1A3463A8-5DF0-46A9-D1C9-CCD1DDC4A0FD}"/>
                </a:ext>
              </a:extLst>
            </p:cNvPr>
            <p:cNvSpPr>
              <a:spLocks noChangeArrowheads="1"/>
            </p:cNvSpPr>
            <p:nvPr/>
          </p:nvSpPr>
          <p:spPr bwMode="auto">
            <a:xfrm>
              <a:off x="1434443" y="3138648"/>
              <a:ext cx="2146300" cy="431800"/>
            </a:xfrm>
            <a:prstGeom prst="rightArrow">
              <a:avLst>
                <a:gd name="adj1" fmla="val 50000"/>
                <a:gd name="adj2" fmla="val 114706"/>
              </a:avLst>
            </a:prstGeom>
            <a:solidFill>
              <a:schemeClr val="accent6">
                <a:lumMod val="75000"/>
              </a:schemeClr>
            </a:solidFill>
            <a:ln w="9525">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34" name="Text Box 19">
              <a:extLst>
                <a:ext uri="{FF2B5EF4-FFF2-40B4-BE49-F238E27FC236}">
                  <a16:creationId xmlns:a16="http://schemas.microsoft.com/office/drawing/2014/main" id="{D4C74542-2043-7368-D937-617F8C4CC0B2}"/>
                </a:ext>
              </a:extLst>
            </p:cNvPr>
            <p:cNvSpPr txBox="1">
              <a:spLocks noChangeArrowheads="1"/>
            </p:cNvSpPr>
            <p:nvPr/>
          </p:nvSpPr>
          <p:spPr bwMode="auto">
            <a:xfrm>
              <a:off x="687987" y="2979077"/>
              <a:ext cx="813720" cy="768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b="1" dirty="0">
                  <a:latin typeface="微软雅黑" pitchFamily="34" charset="-122"/>
                  <a:ea typeface="微软雅黑" pitchFamily="34" charset="-122"/>
                </a:rPr>
                <a:t>分组</a:t>
              </a:r>
            </a:p>
            <a:p>
              <a:pPr algn="ctr"/>
              <a:r>
                <a:rPr kumimoji="1" lang="zh-CN" altLang="en-US" b="1" dirty="0">
                  <a:latin typeface="微软雅黑" pitchFamily="34" charset="-122"/>
                  <a:ea typeface="微软雅黑" pitchFamily="34" charset="-122"/>
                </a:rPr>
                <a:t>到达</a:t>
              </a:r>
            </a:p>
          </p:txBody>
        </p:sp>
        <p:sp>
          <p:nvSpPr>
            <p:cNvPr id="35" name="Text Box 20">
              <a:extLst>
                <a:ext uri="{FF2B5EF4-FFF2-40B4-BE49-F238E27FC236}">
                  <a16:creationId xmlns:a16="http://schemas.microsoft.com/office/drawing/2014/main" id="{A8ADBCDB-2834-09E7-21BB-AC061A888D1B}"/>
                </a:ext>
              </a:extLst>
            </p:cNvPr>
            <p:cNvSpPr txBox="1">
              <a:spLocks noChangeArrowheads="1"/>
            </p:cNvSpPr>
            <p:nvPr/>
          </p:nvSpPr>
          <p:spPr bwMode="auto">
            <a:xfrm>
              <a:off x="5059758" y="4698462"/>
              <a:ext cx="2444388" cy="439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0000FF"/>
                  </a:solidFill>
                  <a:latin typeface="微软雅黑" pitchFamily="34" charset="-122"/>
                  <a:ea typeface="微软雅黑" pitchFamily="34" charset="-122"/>
                </a:rPr>
                <a:t>平均队列长度 </a:t>
              </a:r>
              <a:r>
                <a:rPr kumimoji="1" lang="en-US" altLang="zh-CN" b="1" i="1" dirty="0" err="1">
                  <a:solidFill>
                    <a:srgbClr val="0000FF"/>
                  </a:solidFill>
                  <a:latin typeface="微软雅黑" pitchFamily="34" charset="-122"/>
                  <a:ea typeface="微软雅黑" pitchFamily="34" charset="-122"/>
                </a:rPr>
                <a:t>L</a:t>
              </a:r>
              <a:r>
                <a:rPr kumimoji="1" lang="en-US" altLang="zh-CN" b="1" baseline="-25000" dirty="0" err="1">
                  <a:solidFill>
                    <a:srgbClr val="0000FF"/>
                  </a:solidFill>
                  <a:latin typeface="微软雅黑" pitchFamily="34" charset="-122"/>
                  <a:ea typeface="微软雅黑" pitchFamily="34" charset="-122"/>
                </a:rPr>
                <a:t>av</a:t>
              </a:r>
              <a:endParaRPr kumimoji="1" lang="en-US" altLang="zh-CN" b="1" baseline="-25000" dirty="0">
                <a:solidFill>
                  <a:srgbClr val="0000FF"/>
                </a:solidFill>
                <a:latin typeface="微软雅黑" pitchFamily="34" charset="-122"/>
                <a:ea typeface="微软雅黑" pitchFamily="34" charset="-122"/>
              </a:endParaRPr>
            </a:p>
          </p:txBody>
        </p:sp>
        <p:sp>
          <p:nvSpPr>
            <p:cNvPr id="36" name="Line 21">
              <a:extLst>
                <a:ext uri="{FF2B5EF4-FFF2-40B4-BE49-F238E27FC236}">
                  <a16:creationId xmlns:a16="http://schemas.microsoft.com/office/drawing/2014/main" id="{5B38A36D-AC83-F101-36BF-548671CEE22D}"/>
                </a:ext>
              </a:extLst>
            </p:cNvPr>
            <p:cNvSpPr>
              <a:spLocks noChangeShapeType="1"/>
            </p:cNvSpPr>
            <p:nvPr/>
          </p:nvSpPr>
          <p:spPr bwMode="auto">
            <a:xfrm>
              <a:off x="7420902" y="2295687"/>
              <a:ext cx="0" cy="4619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7" name="Text Box 22">
              <a:extLst>
                <a:ext uri="{FF2B5EF4-FFF2-40B4-BE49-F238E27FC236}">
                  <a16:creationId xmlns:a16="http://schemas.microsoft.com/office/drawing/2014/main" id="{FCC7B3BF-79DD-1DE4-226E-152DDCBC7C70}"/>
                </a:ext>
              </a:extLst>
            </p:cNvPr>
            <p:cNvSpPr txBox="1">
              <a:spLocks noChangeArrowheads="1"/>
            </p:cNvSpPr>
            <p:nvPr/>
          </p:nvSpPr>
          <p:spPr bwMode="auto">
            <a:xfrm>
              <a:off x="6490494" y="2308388"/>
              <a:ext cx="813720" cy="439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微软雅黑" pitchFamily="34" charset="-122"/>
                  <a:ea typeface="微软雅黑" pitchFamily="34" charset="-122"/>
                </a:rPr>
                <a:t>排队</a:t>
              </a:r>
            </a:p>
          </p:txBody>
        </p:sp>
        <p:sp>
          <p:nvSpPr>
            <p:cNvPr id="38" name="Text Box 23">
              <a:extLst>
                <a:ext uri="{FF2B5EF4-FFF2-40B4-BE49-F238E27FC236}">
                  <a16:creationId xmlns:a16="http://schemas.microsoft.com/office/drawing/2014/main" id="{6168C7A1-3FFE-A8F6-F808-4B9AC42CBAF7}"/>
                </a:ext>
              </a:extLst>
            </p:cNvPr>
            <p:cNvSpPr txBox="1">
              <a:spLocks noChangeArrowheads="1"/>
            </p:cNvSpPr>
            <p:nvPr/>
          </p:nvSpPr>
          <p:spPr bwMode="auto">
            <a:xfrm>
              <a:off x="2094705" y="2308388"/>
              <a:ext cx="813720" cy="439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微软雅黑" pitchFamily="34" charset="-122"/>
                  <a:ea typeface="微软雅黑" pitchFamily="34" charset="-122"/>
                </a:rPr>
                <a:t>丢弃</a:t>
              </a:r>
            </a:p>
          </p:txBody>
        </p:sp>
        <p:sp>
          <p:nvSpPr>
            <p:cNvPr id="39" name="Text Box 24">
              <a:extLst>
                <a:ext uri="{FF2B5EF4-FFF2-40B4-BE49-F238E27FC236}">
                  <a16:creationId xmlns:a16="http://schemas.microsoft.com/office/drawing/2014/main" id="{F70D8D9B-D975-F5A6-2697-40EA779A42F6}"/>
                </a:ext>
              </a:extLst>
            </p:cNvPr>
            <p:cNvSpPr txBox="1">
              <a:spLocks noChangeArrowheads="1"/>
            </p:cNvSpPr>
            <p:nvPr/>
          </p:nvSpPr>
          <p:spPr bwMode="auto">
            <a:xfrm>
              <a:off x="3715281" y="2275450"/>
              <a:ext cx="2052867" cy="439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微软雅黑" pitchFamily="34" charset="-122"/>
                  <a:ea typeface="微软雅黑" pitchFamily="34" charset="-122"/>
                </a:rPr>
                <a:t>以概率</a:t>
              </a:r>
              <a:r>
                <a:rPr kumimoji="1" lang="zh-CN" altLang="en-US" b="1" i="1" dirty="0">
                  <a:latin typeface="微软雅黑" pitchFamily="34" charset="-122"/>
                  <a:ea typeface="微软雅黑" pitchFamily="34" charset="-122"/>
                </a:rPr>
                <a:t> </a:t>
              </a:r>
              <a:r>
                <a:rPr kumimoji="1" lang="en-US" altLang="zh-CN" b="1" i="1" dirty="0">
                  <a:latin typeface="微软雅黑" pitchFamily="34" charset="-122"/>
                  <a:ea typeface="微软雅黑" pitchFamily="34" charset="-122"/>
                </a:rPr>
                <a:t>p</a:t>
              </a:r>
              <a:r>
                <a:rPr kumimoji="1" lang="en-US" altLang="zh-CN" b="1" dirty="0">
                  <a:latin typeface="微软雅黑" pitchFamily="34" charset="-122"/>
                  <a:ea typeface="微软雅黑" pitchFamily="34" charset="-122"/>
                </a:rPr>
                <a:t> </a:t>
              </a:r>
              <a:r>
                <a:rPr kumimoji="1" lang="zh-CN" altLang="en-US" b="1" dirty="0">
                  <a:latin typeface="微软雅黑" pitchFamily="34" charset="-122"/>
                  <a:ea typeface="微软雅黑" pitchFamily="34" charset="-122"/>
                </a:rPr>
                <a:t>丢弃</a:t>
              </a:r>
            </a:p>
          </p:txBody>
        </p:sp>
        <p:sp>
          <p:nvSpPr>
            <p:cNvPr id="40" name="Line 25">
              <a:extLst>
                <a:ext uri="{FF2B5EF4-FFF2-40B4-BE49-F238E27FC236}">
                  <a16:creationId xmlns:a16="http://schemas.microsoft.com/office/drawing/2014/main" id="{B30646DC-CCA8-5BF9-4B65-963B219CE9FC}"/>
                </a:ext>
              </a:extLst>
            </p:cNvPr>
            <p:cNvSpPr>
              <a:spLocks noChangeShapeType="1"/>
            </p:cNvSpPr>
            <p:nvPr/>
          </p:nvSpPr>
          <p:spPr bwMode="auto">
            <a:xfrm>
              <a:off x="5009754" y="4686464"/>
              <a:ext cx="2411147"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1" name="Line 26">
              <a:extLst>
                <a:ext uri="{FF2B5EF4-FFF2-40B4-BE49-F238E27FC236}">
                  <a16:creationId xmlns:a16="http://schemas.microsoft.com/office/drawing/2014/main" id="{EE6E58FA-2738-29C3-DECA-4767DCB32610}"/>
                </a:ext>
              </a:extLst>
            </p:cNvPr>
            <p:cNvSpPr>
              <a:spLocks noChangeShapeType="1"/>
            </p:cNvSpPr>
            <p:nvPr/>
          </p:nvSpPr>
          <p:spPr bwMode="auto">
            <a:xfrm flipH="1">
              <a:off x="7420902" y="4076862"/>
              <a:ext cx="15478" cy="150971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2" name="Line 27">
              <a:extLst>
                <a:ext uri="{FF2B5EF4-FFF2-40B4-BE49-F238E27FC236}">
                  <a16:creationId xmlns:a16="http://schemas.microsoft.com/office/drawing/2014/main" id="{DFD45F2C-8013-52E0-C8AE-FBDBB8A25425}"/>
                </a:ext>
              </a:extLst>
            </p:cNvPr>
            <p:cNvSpPr>
              <a:spLocks noChangeShapeType="1"/>
            </p:cNvSpPr>
            <p:nvPr/>
          </p:nvSpPr>
          <p:spPr bwMode="auto">
            <a:xfrm>
              <a:off x="4982237" y="4067337"/>
              <a:ext cx="0" cy="8699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3" name="Line 28">
              <a:extLst>
                <a:ext uri="{FF2B5EF4-FFF2-40B4-BE49-F238E27FC236}">
                  <a16:creationId xmlns:a16="http://schemas.microsoft.com/office/drawing/2014/main" id="{54F40002-6AB6-6538-A6B8-C058385F17F6}"/>
                </a:ext>
              </a:extLst>
            </p:cNvPr>
            <p:cNvSpPr>
              <a:spLocks noChangeShapeType="1"/>
            </p:cNvSpPr>
            <p:nvPr/>
          </p:nvSpPr>
          <p:spPr bwMode="auto">
            <a:xfrm>
              <a:off x="6370109" y="4227674"/>
              <a:ext cx="10903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4" name="Line 29">
              <a:extLst>
                <a:ext uri="{FF2B5EF4-FFF2-40B4-BE49-F238E27FC236}">
                  <a16:creationId xmlns:a16="http://schemas.microsoft.com/office/drawing/2014/main" id="{7451526C-DBCA-603D-FE2D-38100ACA2EE5}"/>
                </a:ext>
              </a:extLst>
            </p:cNvPr>
            <p:cNvSpPr>
              <a:spLocks noChangeShapeType="1"/>
            </p:cNvSpPr>
            <p:nvPr/>
          </p:nvSpPr>
          <p:spPr bwMode="auto">
            <a:xfrm>
              <a:off x="2975239" y="5253199"/>
              <a:ext cx="4437063"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5" name="Line 30">
              <a:extLst>
                <a:ext uri="{FF2B5EF4-FFF2-40B4-BE49-F238E27FC236}">
                  <a16:creationId xmlns:a16="http://schemas.microsoft.com/office/drawing/2014/main" id="{31D94873-DA06-322B-E689-FC1C5A594FE8}"/>
                </a:ext>
              </a:extLst>
            </p:cNvPr>
            <p:cNvSpPr>
              <a:spLocks noChangeShapeType="1"/>
            </p:cNvSpPr>
            <p:nvPr/>
          </p:nvSpPr>
          <p:spPr bwMode="auto">
            <a:xfrm flipH="1" flipV="1">
              <a:off x="6877446" y="4284002"/>
              <a:ext cx="718873" cy="288496"/>
            </a:xfrm>
            <a:prstGeom prst="line">
              <a:avLst/>
            </a:prstGeom>
            <a:noFill/>
            <a:ln w="19050">
              <a:solidFill>
                <a:srgbClr val="0000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46" name="矩形 45">
            <a:extLst>
              <a:ext uri="{FF2B5EF4-FFF2-40B4-BE49-F238E27FC236}">
                <a16:creationId xmlns:a16="http://schemas.microsoft.com/office/drawing/2014/main" id="{21F86214-3696-E68E-8F6D-711CAC9A7607}"/>
              </a:ext>
            </a:extLst>
          </p:cNvPr>
          <p:cNvSpPr/>
          <p:nvPr/>
        </p:nvSpPr>
        <p:spPr>
          <a:xfrm>
            <a:off x="2582699" y="5824791"/>
            <a:ext cx="7600985" cy="461665"/>
          </a:xfrm>
          <a:prstGeom prst="rect">
            <a:avLst/>
          </a:prstGeom>
        </p:spPr>
        <p:txBody>
          <a:bodyPr wrap="square">
            <a:spAutoFit/>
          </a:bodyPr>
          <a:lstStyle/>
          <a:p>
            <a:pPr algn="ctr">
              <a:buClr>
                <a:srgbClr val="0070C0"/>
              </a:buClr>
            </a:pPr>
            <a:r>
              <a:rPr lang="en-US" altLang="zh-CN" sz="2400" dirty="0">
                <a:latin typeface="微软雅黑" pitchFamily="34" charset="-122"/>
                <a:ea typeface="微软雅黑" pitchFamily="34" charset="-122"/>
              </a:rPr>
              <a:t>RED </a:t>
            </a:r>
            <a:r>
              <a:rPr lang="zh-CN" altLang="en-US" sz="2400" dirty="0">
                <a:latin typeface="微软雅黑" pitchFamily="34" charset="-122"/>
                <a:ea typeface="微软雅黑" pitchFamily="34" charset="-122"/>
              </a:rPr>
              <a:t>对每一个到达的分组都先计算</a:t>
            </a:r>
            <a:r>
              <a:rPr lang="zh-CN" altLang="en-US" sz="2400" dirty="0">
                <a:solidFill>
                  <a:srgbClr val="C00000"/>
                </a:solidFill>
                <a:latin typeface="微软雅黑" pitchFamily="34" charset="-122"/>
                <a:ea typeface="微软雅黑" pitchFamily="34" charset="-122"/>
              </a:rPr>
              <a:t>平均队列长度 </a:t>
            </a:r>
            <a:r>
              <a:rPr lang="en-US" altLang="zh-CN" sz="2400" i="1" dirty="0">
                <a:solidFill>
                  <a:srgbClr val="C00000"/>
                </a:solidFill>
                <a:latin typeface="微软雅黑" pitchFamily="34" charset="-122"/>
                <a:ea typeface="微软雅黑" pitchFamily="34" charset="-122"/>
              </a:rPr>
              <a:t>L</a:t>
            </a:r>
            <a:r>
              <a:rPr lang="en-US" altLang="zh-CN" sz="2400" baseline="-25000" dirty="0">
                <a:solidFill>
                  <a:srgbClr val="C00000"/>
                </a:solidFill>
                <a:latin typeface="微软雅黑" pitchFamily="34" charset="-122"/>
                <a:ea typeface="微软雅黑" pitchFamily="34" charset="-122"/>
              </a:rPr>
              <a:t>AV</a:t>
            </a:r>
            <a:r>
              <a:rPr lang="en-US" altLang="zh-CN" sz="2400" dirty="0">
                <a:solidFill>
                  <a:srgbClr val="C00000"/>
                </a:solidFill>
                <a:latin typeface="微软雅黑" pitchFamily="34" charset="-122"/>
                <a:ea typeface="微软雅黑" pitchFamily="34" charset="-122"/>
              </a:rPr>
              <a:t> </a:t>
            </a:r>
            <a:r>
              <a:rPr lang="zh-CN" altLang="en-US" sz="2400" dirty="0">
                <a:solidFill>
                  <a:srgbClr val="C00000"/>
                </a:solidFill>
                <a:latin typeface="微软雅黑" pitchFamily="34" charset="-122"/>
                <a:ea typeface="微软雅黑" pitchFamily="34" charset="-122"/>
              </a:rPr>
              <a:t>。</a:t>
            </a:r>
          </a:p>
        </p:txBody>
      </p:sp>
    </p:spTree>
    <p:extLst>
      <p:ext uri="{BB962C8B-B14F-4D97-AF65-F5344CB8AC3E}">
        <p14:creationId xmlns:p14="http://schemas.microsoft.com/office/powerpoint/2010/main" val="42919710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6F7C2-1478-6BEC-21F3-7E7BABB8DEF2}"/>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F5F0BA86-4C2C-2F9D-EA04-6D1D8BF87D4F}"/>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36</a:t>
            </a:fld>
            <a:endParaRPr lang="zh-CN" altLang="en-US"/>
          </a:p>
        </p:txBody>
      </p:sp>
      <p:grpSp>
        <p:nvGrpSpPr>
          <p:cNvPr id="21" name="组合 20">
            <a:extLst>
              <a:ext uri="{FF2B5EF4-FFF2-40B4-BE49-F238E27FC236}">
                <a16:creationId xmlns:a16="http://schemas.microsoft.com/office/drawing/2014/main" id="{47C7A93A-6640-B404-6587-4CD630C3031D}"/>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C5639F2C-3017-4232-25B9-0C62A11EECE2}"/>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4BC96B12-FA2A-B8AB-3A64-D3A4F0833E34}"/>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D179D53E-32F5-535E-AFD9-99C9D0262A8A}"/>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主动队列管理</a:t>
                </a:r>
              </a:p>
            </p:txBody>
          </p:sp>
        </p:grpSp>
        <p:pic>
          <p:nvPicPr>
            <p:cNvPr id="28" name="图片 27">
              <a:extLst>
                <a:ext uri="{FF2B5EF4-FFF2-40B4-BE49-F238E27FC236}">
                  <a16:creationId xmlns:a16="http://schemas.microsoft.com/office/drawing/2014/main" id="{FF38F928-97E7-A426-7FDB-1FD4BF344C9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841C5D7C-B0B0-2E99-DB7C-A5571CFCCEBF}"/>
              </a:ext>
            </a:extLst>
          </p:cNvPr>
          <p:cNvGrpSpPr/>
          <p:nvPr/>
        </p:nvGrpSpPr>
        <p:grpSpPr>
          <a:xfrm>
            <a:off x="515938" y="1339655"/>
            <a:ext cx="5011559" cy="526734"/>
            <a:chOff x="722008" y="1303131"/>
            <a:chExt cx="4785185" cy="502942"/>
          </a:xfrm>
        </p:grpSpPr>
        <p:grpSp>
          <p:nvGrpSpPr>
            <p:cNvPr id="3" name="组合 2">
              <a:extLst>
                <a:ext uri="{FF2B5EF4-FFF2-40B4-BE49-F238E27FC236}">
                  <a16:creationId xmlns:a16="http://schemas.microsoft.com/office/drawing/2014/main" id="{75AF6A0B-A3CC-2FE7-112F-7E75A1F90A13}"/>
                </a:ext>
              </a:extLst>
            </p:cNvPr>
            <p:cNvGrpSpPr/>
            <p:nvPr/>
          </p:nvGrpSpPr>
          <p:grpSpPr>
            <a:xfrm>
              <a:off x="722008" y="1303131"/>
              <a:ext cx="546594" cy="475865"/>
              <a:chOff x="708742" y="1296102"/>
              <a:chExt cx="454744" cy="283828"/>
            </a:xfrm>
          </p:grpSpPr>
          <p:sp>
            <p:nvSpPr>
              <p:cNvPr id="6" name="平行四边形 5">
                <a:extLst>
                  <a:ext uri="{FF2B5EF4-FFF2-40B4-BE49-F238E27FC236}">
                    <a16:creationId xmlns:a16="http://schemas.microsoft.com/office/drawing/2014/main" id="{52089EEA-A7C5-C25E-E039-C061EBDA2037}"/>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7" name="平行四边形 6">
                <a:extLst>
                  <a:ext uri="{FF2B5EF4-FFF2-40B4-BE49-F238E27FC236}">
                    <a16:creationId xmlns:a16="http://schemas.microsoft.com/office/drawing/2014/main" id="{5428493B-C169-9F22-6E84-536E8C175C2F}"/>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4" name="流程图: 手动输入 6">
              <a:extLst>
                <a:ext uri="{FF2B5EF4-FFF2-40B4-BE49-F238E27FC236}">
                  <a16:creationId xmlns:a16="http://schemas.microsoft.com/office/drawing/2014/main" id="{D975BD6D-7B22-FFCA-7869-85619FC93E77}"/>
                </a:ext>
              </a:extLst>
            </p:cNvPr>
            <p:cNvSpPr/>
            <p:nvPr/>
          </p:nvSpPr>
          <p:spPr>
            <a:xfrm rot="5400000" flipV="1">
              <a:off x="2583227" y="-288088"/>
              <a:ext cx="475861" cy="366511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5" name="Text Box 79">
              <a:extLst>
                <a:ext uri="{FF2B5EF4-FFF2-40B4-BE49-F238E27FC236}">
                  <a16:creationId xmlns:a16="http://schemas.microsoft.com/office/drawing/2014/main" id="{0CEFE776-AC66-F678-A864-309BA5FFFB02}"/>
                </a:ext>
              </a:extLst>
            </p:cNvPr>
            <p:cNvSpPr txBox="1">
              <a:spLocks noChangeArrowheads="1"/>
            </p:cNvSpPr>
            <p:nvPr/>
          </p:nvSpPr>
          <p:spPr bwMode="auto">
            <a:xfrm>
              <a:off x="1351236" y="1335873"/>
              <a:ext cx="4155957"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随机早期检测（</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RED</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a:t>
              </a:r>
            </a:p>
          </p:txBody>
        </p:sp>
      </p:grpSp>
      <p:sp>
        <p:nvSpPr>
          <p:cNvPr id="9" name="Rectangle 68">
            <a:extLst>
              <a:ext uri="{FF2B5EF4-FFF2-40B4-BE49-F238E27FC236}">
                <a16:creationId xmlns:a16="http://schemas.microsoft.com/office/drawing/2014/main" id="{86288B1A-8744-7CA2-9605-350FB9EDAA5E}"/>
              </a:ext>
            </a:extLst>
          </p:cNvPr>
          <p:cNvSpPr>
            <a:spLocks noChangeArrowheads="1"/>
          </p:cNvSpPr>
          <p:nvPr/>
        </p:nvSpPr>
        <p:spPr bwMode="auto">
          <a:xfrm>
            <a:off x="988091" y="1796948"/>
            <a:ext cx="8184960" cy="14217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ct val="150000"/>
              </a:lnSpc>
              <a:buClr>
                <a:srgbClr val="0070C0"/>
              </a:buClr>
              <a:buFont typeface="Wingdings" pitchFamily="2" charset="2"/>
              <a:buChar char="l"/>
            </a:pPr>
            <a:r>
              <a:rPr lang="zh-CN" altLang="en-US" sz="2000" dirty="0">
                <a:latin typeface="微软雅黑" pitchFamily="34" charset="-122"/>
                <a:ea typeface="微软雅黑" pitchFamily="34" charset="-122"/>
              </a:rPr>
              <a:t>当 </a:t>
            </a:r>
            <a:r>
              <a:rPr lang="en-US" altLang="zh-CN" sz="2000" i="1" dirty="0">
                <a:latin typeface="微软雅黑" pitchFamily="34" charset="-122"/>
                <a:ea typeface="微软雅黑" pitchFamily="34" charset="-122"/>
              </a:rPr>
              <a:t>L</a:t>
            </a:r>
            <a:r>
              <a:rPr lang="en-US" altLang="zh-CN" sz="2000" baseline="-25000" dirty="0">
                <a:latin typeface="微软雅黑" pitchFamily="34" charset="-122"/>
                <a:ea typeface="微软雅黑" pitchFamily="34" charset="-122"/>
              </a:rPr>
              <a:t>AV</a:t>
            </a:r>
            <a:r>
              <a:rPr lang="en-US" altLang="zh-CN" sz="2000" dirty="0">
                <a:sym typeface="Symbol" pitchFamily="18" charset="2"/>
              </a:rPr>
              <a:t> </a:t>
            </a:r>
            <a:r>
              <a:rPr lang="en-US" altLang="zh-CN" sz="2000" dirty="0">
                <a:latin typeface="微软雅黑" pitchFamily="34" charset="-122"/>
                <a:ea typeface="微软雅黑" pitchFamily="34" charset="-122"/>
                <a:sym typeface="Symbol" pitchFamily="18" charset="2"/>
              </a:rPr>
              <a:t>   </a:t>
            </a:r>
            <a:r>
              <a:rPr lang="en-US" altLang="zh-CN" sz="2000" dirty="0" err="1">
                <a:latin typeface="微软雅黑" pitchFamily="34" charset="-122"/>
                <a:ea typeface="微软雅黑" pitchFamily="34" charset="-122"/>
              </a:rPr>
              <a:t>Th</a:t>
            </a:r>
            <a:r>
              <a:rPr lang="en-US" altLang="zh-CN" sz="2000" baseline="-25000" dirty="0" err="1">
                <a:latin typeface="微软雅黑" pitchFamily="34" charset="-122"/>
                <a:ea typeface="微软雅黑" pitchFamily="34" charset="-122"/>
              </a:rPr>
              <a:t>min</a:t>
            </a:r>
            <a:r>
              <a:rPr lang="en-US" altLang="zh-CN" sz="2000" baseline="-25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时，丢弃概率 </a:t>
            </a:r>
            <a:r>
              <a:rPr lang="en-US" altLang="zh-CN" sz="2000" i="1" dirty="0">
                <a:latin typeface="微软雅黑" pitchFamily="34" charset="-122"/>
                <a:ea typeface="微软雅黑" pitchFamily="34" charset="-122"/>
              </a:rPr>
              <a:t>p</a:t>
            </a:r>
            <a:r>
              <a:rPr lang="en-US" altLang="zh-CN" sz="2000" dirty="0">
                <a:latin typeface="微软雅黑" pitchFamily="34" charset="-122"/>
                <a:ea typeface="微软雅黑" pitchFamily="34" charset="-122"/>
              </a:rPr>
              <a:t> = 0</a:t>
            </a:r>
            <a:r>
              <a:rPr lang="zh-CN" altLang="en-US" sz="2000" dirty="0">
                <a:latin typeface="微软雅黑" pitchFamily="34" charset="-122"/>
                <a:ea typeface="微软雅黑" pitchFamily="34" charset="-122"/>
              </a:rPr>
              <a:t>。</a:t>
            </a:r>
          </a:p>
          <a:p>
            <a:pPr marL="285750" indent="-285750">
              <a:lnSpc>
                <a:spcPct val="150000"/>
              </a:lnSpc>
              <a:buClr>
                <a:srgbClr val="0070C0"/>
              </a:buClr>
              <a:buFont typeface="Wingdings" pitchFamily="2" charset="2"/>
              <a:buChar char="l"/>
            </a:pPr>
            <a:r>
              <a:rPr lang="zh-CN" altLang="en-US" sz="2000" dirty="0">
                <a:latin typeface="微软雅黑" pitchFamily="34" charset="-122"/>
                <a:ea typeface="微软雅黑" pitchFamily="34" charset="-122"/>
              </a:rPr>
              <a:t>当 </a:t>
            </a:r>
            <a:r>
              <a:rPr lang="en-US" altLang="zh-CN" sz="2000" i="1" dirty="0">
                <a:latin typeface="微软雅黑" pitchFamily="34" charset="-122"/>
                <a:ea typeface="微软雅黑" pitchFamily="34" charset="-122"/>
              </a:rPr>
              <a:t>L</a:t>
            </a:r>
            <a:r>
              <a:rPr lang="en-US" altLang="zh-CN" sz="2000" baseline="-25000" dirty="0">
                <a:latin typeface="微软雅黑" pitchFamily="34" charset="-122"/>
                <a:ea typeface="微软雅黑" pitchFamily="34" charset="-122"/>
              </a:rPr>
              <a:t>AV</a:t>
            </a:r>
            <a:r>
              <a:rPr lang="en-US" altLang="zh-CN" sz="2000" dirty="0">
                <a:sym typeface="Symbol" pitchFamily="18" charset="2"/>
              </a:rPr>
              <a:t> </a:t>
            </a:r>
            <a:r>
              <a:rPr lang="en-US" altLang="zh-CN" sz="2000" dirty="0">
                <a:latin typeface="微软雅黑" pitchFamily="34" charset="-122"/>
                <a:ea typeface="微软雅黑" pitchFamily="34" charset="-122"/>
                <a:sym typeface="Symbol" pitchFamily="18" charset="2"/>
              </a:rPr>
              <a:t>   </a:t>
            </a:r>
            <a:r>
              <a:rPr lang="en-US" altLang="zh-CN" sz="2000" dirty="0" err="1">
                <a:latin typeface="微软雅黑" pitchFamily="34" charset="-122"/>
                <a:ea typeface="微软雅黑" pitchFamily="34" charset="-122"/>
              </a:rPr>
              <a:t>Th</a:t>
            </a:r>
            <a:r>
              <a:rPr lang="en-US" altLang="zh-CN" sz="2000" baseline="-25000" dirty="0" err="1">
                <a:latin typeface="微软雅黑" pitchFamily="34" charset="-122"/>
                <a:ea typeface="微软雅黑" pitchFamily="34" charset="-122"/>
              </a:rPr>
              <a:t>max</a:t>
            </a: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时，丢弃概率 </a:t>
            </a:r>
            <a:r>
              <a:rPr lang="en-US" altLang="zh-CN" sz="2000" i="1" dirty="0">
                <a:latin typeface="微软雅黑" pitchFamily="34" charset="-122"/>
                <a:ea typeface="微软雅黑" pitchFamily="34" charset="-122"/>
              </a:rPr>
              <a:t>p</a:t>
            </a:r>
            <a:r>
              <a:rPr lang="en-US" altLang="zh-CN" sz="2000" dirty="0">
                <a:latin typeface="微软雅黑" pitchFamily="34" charset="-122"/>
                <a:ea typeface="微软雅黑" pitchFamily="34" charset="-122"/>
              </a:rPr>
              <a:t> = 1</a:t>
            </a:r>
            <a:r>
              <a:rPr lang="zh-CN" altLang="en-US" sz="2000" dirty="0">
                <a:latin typeface="微软雅黑" pitchFamily="34" charset="-122"/>
                <a:ea typeface="微软雅黑" pitchFamily="34" charset="-122"/>
              </a:rPr>
              <a:t>。</a:t>
            </a:r>
          </a:p>
          <a:p>
            <a:pPr marL="285750" indent="-285750">
              <a:lnSpc>
                <a:spcPct val="150000"/>
              </a:lnSpc>
              <a:buClr>
                <a:srgbClr val="0070C0"/>
              </a:buClr>
              <a:buFont typeface="Wingdings" pitchFamily="2" charset="2"/>
              <a:buChar char="l"/>
            </a:pPr>
            <a:r>
              <a:rPr lang="zh-CN" altLang="en-US" sz="2000" dirty="0">
                <a:latin typeface="微软雅黑" pitchFamily="34" charset="-122"/>
                <a:ea typeface="微软雅黑" pitchFamily="34" charset="-122"/>
              </a:rPr>
              <a:t>当 </a:t>
            </a:r>
            <a:r>
              <a:rPr lang="en-US" altLang="zh-CN" sz="2000" dirty="0" err="1">
                <a:latin typeface="微软雅黑" pitchFamily="34" charset="-122"/>
                <a:ea typeface="微软雅黑" pitchFamily="34" charset="-122"/>
              </a:rPr>
              <a:t>Th</a:t>
            </a:r>
            <a:r>
              <a:rPr lang="en-US" altLang="zh-CN" sz="2000" baseline="-25000" dirty="0" err="1">
                <a:latin typeface="微软雅黑" pitchFamily="34" charset="-122"/>
                <a:ea typeface="微软雅黑" pitchFamily="34" charset="-122"/>
              </a:rPr>
              <a:t>min</a:t>
            </a:r>
            <a:r>
              <a:rPr lang="en-US" altLang="zh-CN" sz="2000" dirty="0">
                <a:latin typeface="微软雅黑" pitchFamily="34" charset="-122"/>
                <a:ea typeface="微软雅黑" pitchFamily="34" charset="-122"/>
              </a:rPr>
              <a:t> </a:t>
            </a:r>
            <a:r>
              <a:rPr lang="en-US" altLang="zh-CN" sz="2000" dirty="0">
                <a:latin typeface="微软雅黑" pitchFamily="34" charset="-122"/>
                <a:ea typeface="微软雅黑" pitchFamily="34" charset="-122"/>
                <a:sym typeface="Symbol" pitchFamily="18" charset="2"/>
              </a:rPr>
              <a:t>≤ </a:t>
            </a:r>
            <a:r>
              <a:rPr lang="en-US" altLang="zh-CN" sz="2000" i="1" dirty="0">
                <a:latin typeface="微软雅黑" pitchFamily="34" charset="-122"/>
                <a:ea typeface="微软雅黑" pitchFamily="34" charset="-122"/>
              </a:rPr>
              <a:t>L</a:t>
            </a:r>
            <a:r>
              <a:rPr lang="en-US" altLang="zh-CN" sz="2000" baseline="-25000" dirty="0">
                <a:latin typeface="微软雅黑" pitchFamily="34" charset="-122"/>
                <a:ea typeface="微软雅黑" pitchFamily="34" charset="-122"/>
              </a:rPr>
              <a:t>AV</a:t>
            </a:r>
            <a:r>
              <a:rPr lang="en-US" altLang="zh-CN" sz="2000" dirty="0">
                <a:latin typeface="微软雅黑" pitchFamily="34" charset="-122"/>
                <a:ea typeface="微软雅黑" pitchFamily="34" charset="-122"/>
              </a:rPr>
              <a:t> ≤ </a:t>
            </a:r>
            <a:r>
              <a:rPr lang="en-US" altLang="zh-CN" sz="2000" dirty="0" err="1">
                <a:latin typeface="微软雅黑" pitchFamily="34" charset="-122"/>
                <a:ea typeface="微软雅黑" pitchFamily="34" charset="-122"/>
              </a:rPr>
              <a:t>Th</a:t>
            </a:r>
            <a:r>
              <a:rPr lang="en-US" altLang="zh-CN" sz="2000" baseline="-25000" dirty="0" err="1">
                <a:latin typeface="微软雅黑" pitchFamily="34" charset="-122"/>
                <a:ea typeface="微软雅黑" pitchFamily="34" charset="-122"/>
              </a:rPr>
              <a:t>max</a:t>
            </a:r>
            <a:r>
              <a:rPr lang="zh-CN" altLang="en-US" sz="2000" dirty="0">
                <a:latin typeface="微软雅黑" pitchFamily="34" charset="-122"/>
                <a:ea typeface="微软雅黑" pitchFamily="34" charset="-122"/>
              </a:rPr>
              <a:t>时，丢弃概率 </a:t>
            </a:r>
            <a:r>
              <a:rPr lang="en-US" altLang="zh-CN" sz="2000" i="1" dirty="0">
                <a:latin typeface="微软雅黑" pitchFamily="34" charset="-122"/>
                <a:ea typeface="微软雅黑" pitchFamily="34" charset="-122"/>
              </a:rPr>
              <a:t>p</a:t>
            </a:r>
            <a:r>
              <a:rPr lang="zh-CN" altLang="en-US" sz="2000" dirty="0">
                <a:latin typeface="微软雅黑" pitchFamily="34" charset="-122"/>
                <a:ea typeface="微软雅黑" pitchFamily="34" charset="-122"/>
              </a:rPr>
              <a:t>： </a:t>
            </a:r>
            <a:r>
              <a:rPr lang="en-US" altLang="zh-CN" sz="2000" dirty="0">
                <a:latin typeface="微软雅黑" pitchFamily="34" charset="-122"/>
                <a:ea typeface="微软雅黑" pitchFamily="34" charset="-122"/>
              </a:rPr>
              <a:t>0 </a:t>
            </a:r>
            <a:r>
              <a:rPr lang="en-US" altLang="zh-CN" sz="2000" dirty="0">
                <a:latin typeface="微软雅黑" pitchFamily="34" charset="-122"/>
                <a:ea typeface="微软雅黑" pitchFamily="34" charset="-122"/>
                <a:sym typeface="Symbol" pitchFamily="18" charset="2"/>
              </a:rPr>
              <a:t> </a:t>
            </a:r>
            <a:r>
              <a:rPr lang="en-US" altLang="zh-CN" sz="2000" i="1" dirty="0">
                <a:latin typeface="微软雅黑" pitchFamily="34" charset="-122"/>
                <a:ea typeface="微软雅黑" pitchFamily="34" charset="-122"/>
              </a:rPr>
              <a:t>p</a:t>
            </a:r>
            <a:r>
              <a:rPr lang="en-US" altLang="zh-CN" sz="2000" dirty="0">
                <a:latin typeface="微软雅黑" pitchFamily="34" charset="-122"/>
                <a:ea typeface="微软雅黑" pitchFamily="34" charset="-122"/>
              </a:rPr>
              <a:t> </a:t>
            </a:r>
            <a:r>
              <a:rPr lang="en-US" altLang="zh-CN" sz="2000" dirty="0">
                <a:latin typeface="微软雅黑" pitchFamily="34" charset="-122"/>
                <a:ea typeface="微软雅黑" pitchFamily="34" charset="-122"/>
                <a:sym typeface="Symbol" pitchFamily="18" charset="2"/>
              </a:rPr>
              <a:t>  </a:t>
            </a:r>
            <a:r>
              <a:rPr lang="en-US" altLang="zh-CN" sz="2000" dirty="0">
                <a:latin typeface="微软雅黑" pitchFamily="34" charset="-122"/>
                <a:ea typeface="微软雅黑" pitchFamily="34" charset="-122"/>
              </a:rPr>
              <a:t>1 </a:t>
            </a:r>
            <a:r>
              <a:rPr lang="zh-CN" altLang="en-US" sz="2000" dirty="0">
                <a:latin typeface="微软雅黑" pitchFamily="34" charset="-122"/>
                <a:ea typeface="微软雅黑" pitchFamily="34" charset="-122"/>
              </a:rPr>
              <a:t>。</a:t>
            </a:r>
          </a:p>
        </p:txBody>
      </p:sp>
      <p:pic>
        <p:nvPicPr>
          <p:cNvPr id="45" name="图片 44">
            <a:extLst>
              <a:ext uri="{FF2B5EF4-FFF2-40B4-BE49-F238E27FC236}">
                <a16:creationId xmlns:a16="http://schemas.microsoft.com/office/drawing/2014/main" id="{90AB5E5A-D8BF-3B73-91EC-AF9B28C966C2}"/>
              </a:ext>
            </a:extLst>
          </p:cNvPr>
          <p:cNvPicPr>
            <a:picLocks noChangeAspect="1"/>
          </p:cNvPicPr>
          <p:nvPr/>
        </p:nvPicPr>
        <p:blipFill>
          <a:blip r:embed="rId3"/>
          <a:stretch>
            <a:fillRect/>
          </a:stretch>
        </p:blipFill>
        <p:spPr>
          <a:xfrm>
            <a:off x="1174933" y="3242803"/>
            <a:ext cx="9996330" cy="2889505"/>
          </a:xfrm>
          <a:prstGeom prst="rect">
            <a:avLst/>
          </a:prstGeom>
        </p:spPr>
      </p:pic>
    </p:spTree>
    <p:extLst>
      <p:ext uri="{BB962C8B-B14F-4D97-AF65-F5344CB8AC3E}">
        <p14:creationId xmlns:p14="http://schemas.microsoft.com/office/powerpoint/2010/main" val="1305342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5E4B4-8495-2B98-99C9-E36F8D37575C}"/>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7BF53508-081C-4EFC-CEEF-AA3CADDD242B}"/>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37</a:t>
            </a:fld>
            <a:endParaRPr lang="zh-CN" altLang="en-US"/>
          </a:p>
        </p:txBody>
      </p:sp>
      <p:grpSp>
        <p:nvGrpSpPr>
          <p:cNvPr id="21" name="组合 20">
            <a:extLst>
              <a:ext uri="{FF2B5EF4-FFF2-40B4-BE49-F238E27FC236}">
                <a16:creationId xmlns:a16="http://schemas.microsoft.com/office/drawing/2014/main" id="{07CB15D9-8454-6BC0-C65B-663CE4362A4E}"/>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C1C0593D-C51D-EE86-D48D-845F1FD25266}"/>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A41BAC05-0FF2-A3BB-D167-CC51EEB004FC}"/>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52684D00-D8D7-9ADF-9549-F73AF3E8FF43}"/>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主动队列管理</a:t>
                </a:r>
              </a:p>
            </p:txBody>
          </p:sp>
        </p:grpSp>
        <p:pic>
          <p:nvPicPr>
            <p:cNvPr id="28" name="图片 27">
              <a:extLst>
                <a:ext uri="{FF2B5EF4-FFF2-40B4-BE49-F238E27FC236}">
                  <a16:creationId xmlns:a16="http://schemas.microsoft.com/office/drawing/2014/main" id="{FF1BAB32-DCE5-B415-F900-7815B3543B8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FE47D8E7-F83F-61B0-B7D8-69151A232375}"/>
              </a:ext>
            </a:extLst>
          </p:cNvPr>
          <p:cNvGrpSpPr/>
          <p:nvPr/>
        </p:nvGrpSpPr>
        <p:grpSpPr>
          <a:xfrm>
            <a:off x="515938" y="1339655"/>
            <a:ext cx="5997877" cy="526734"/>
            <a:chOff x="722008" y="1303131"/>
            <a:chExt cx="5726951" cy="502942"/>
          </a:xfrm>
        </p:grpSpPr>
        <p:grpSp>
          <p:nvGrpSpPr>
            <p:cNvPr id="3" name="组合 2">
              <a:extLst>
                <a:ext uri="{FF2B5EF4-FFF2-40B4-BE49-F238E27FC236}">
                  <a16:creationId xmlns:a16="http://schemas.microsoft.com/office/drawing/2014/main" id="{D89077FA-C8AB-C2A0-9F44-0554B4C080F9}"/>
                </a:ext>
              </a:extLst>
            </p:cNvPr>
            <p:cNvGrpSpPr/>
            <p:nvPr/>
          </p:nvGrpSpPr>
          <p:grpSpPr>
            <a:xfrm>
              <a:off x="722008" y="1303131"/>
              <a:ext cx="546594" cy="475865"/>
              <a:chOff x="708742" y="1296102"/>
              <a:chExt cx="454744" cy="283828"/>
            </a:xfrm>
          </p:grpSpPr>
          <p:sp>
            <p:nvSpPr>
              <p:cNvPr id="6" name="平行四边形 5">
                <a:extLst>
                  <a:ext uri="{FF2B5EF4-FFF2-40B4-BE49-F238E27FC236}">
                    <a16:creationId xmlns:a16="http://schemas.microsoft.com/office/drawing/2014/main" id="{091A0ED6-983D-0E78-3662-41332E0B4FEC}"/>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7" name="平行四边形 6">
                <a:extLst>
                  <a:ext uri="{FF2B5EF4-FFF2-40B4-BE49-F238E27FC236}">
                    <a16:creationId xmlns:a16="http://schemas.microsoft.com/office/drawing/2014/main" id="{117A4270-8FAA-1129-4AF8-020E8D70E2DC}"/>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4" name="流程图: 手动输入 6">
              <a:extLst>
                <a:ext uri="{FF2B5EF4-FFF2-40B4-BE49-F238E27FC236}">
                  <a16:creationId xmlns:a16="http://schemas.microsoft.com/office/drawing/2014/main" id="{BB1DDEA9-250C-18DF-3E43-EED100880641}"/>
                </a:ext>
              </a:extLst>
            </p:cNvPr>
            <p:cNvSpPr/>
            <p:nvPr/>
          </p:nvSpPr>
          <p:spPr>
            <a:xfrm rot="5400000" flipV="1">
              <a:off x="2583227" y="-288088"/>
              <a:ext cx="475861" cy="366511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5" name="Text Box 79">
              <a:extLst>
                <a:ext uri="{FF2B5EF4-FFF2-40B4-BE49-F238E27FC236}">
                  <a16:creationId xmlns:a16="http://schemas.microsoft.com/office/drawing/2014/main" id="{C2775BFB-2764-0636-142D-978BF0D3C2D7}"/>
                </a:ext>
              </a:extLst>
            </p:cNvPr>
            <p:cNvSpPr txBox="1">
              <a:spLocks noChangeArrowheads="1"/>
            </p:cNvSpPr>
            <p:nvPr/>
          </p:nvSpPr>
          <p:spPr bwMode="auto">
            <a:xfrm>
              <a:off x="1351235" y="1335873"/>
              <a:ext cx="5097724"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随机早期检测局限性</a:t>
              </a:r>
            </a:p>
          </p:txBody>
        </p:sp>
      </p:grpSp>
      <p:sp>
        <p:nvSpPr>
          <p:cNvPr id="9" name="文本框 8">
            <a:extLst>
              <a:ext uri="{FF2B5EF4-FFF2-40B4-BE49-F238E27FC236}">
                <a16:creationId xmlns:a16="http://schemas.microsoft.com/office/drawing/2014/main" id="{D896632A-2C11-2D0F-8866-0A000A27E32C}"/>
              </a:ext>
            </a:extLst>
          </p:cNvPr>
          <p:cNvSpPr txBox="1"/>
          <p:nvPr/>
        </p:nvSpPr>
        <p:spPr>
          <a:xfrm>
            <a:off x="939713" y="2284843"/>
            <a:ext cx="6097712" cy="1938992"/>
          </a:xfrm>
          <a:prstGeom prst="rect">
            <a:avLst/>
          </a:prstGeom>
          <a:noFill/>
        </p:spPr>
        <p:txBody>
          <a:bodyPr wrap="square">
            <a:spAutoFit/>
          </a:bodyPr>
          <a:lstStyle/>
          <a:p>
            <a:pPr marL="342900" indent="-342900">
              <a:buClr>
                <a:srgbClr val="1969C2"/>
              </a:buClr>
              <a:buFont typeface="Wingdings" panose="05000000000000000000" pitchFamily="2" charset="2"/>
              <a:buChar char="p"/>
            </a:pPr>
            <a:r>
              <a:rPr lang="zh-CN" altLang="en-US" sz="2400" dirty="0">
                <a:latin typeface="微软雅黑" panose="020B0503020204020204" pitchFamily="34" charset="-122"/>
                <a:ea typeface="微软雅黑" panose="020B0503020204020204" pitchFamily="34" charset="-122"/>
              </a:rPr>
              <a:t>参数敏感：阈值</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概率需人工调优</a:t>
            </a:r>
          </a:p>
          <a:p>
            <a:pPr marL="342900" indent="-342900">
              <a:buClr>
                <a:srgbClr val="1969C2"/>
              </a:buClr>
              <a:buFont typeface="Wingdings" panose="05000000000000000000" pitchFamily="2" charset="2"/>
              <a:buChar char="p"/>
            </a:pPr>
            <a:endParaRPr lang="zh-CN" altLang="en-US" sz="2400" dirty="0">
              <a:latin typeface="微软雅黑" panose="020B0503020204020204" pitchFamily="34" charset="-122"/>
              <a:ea typeface="微软雅黑" panose="020B0503020204020204" pitchFamily="34" charset="-122"/>
            </a:endParaRPr>
          </a:p>
          <a:p>
            <a:pPr marL="342900" indent="-342900">
              <a:buClr>
                <a:srgbClr val="1969C2"/>
              </a:buClr>
              <a:buFont typeface="Wingdings" panose="05000000000000000000" pitchFamily="2" charset="2"/>
              <a:buChar char="p"/>
            </a:pPr>
            <a:r>
              <a:rPr lang="zh-CN" altLang="en-US" sz="2400" dirty="0">
                <a:latin typeface="微软雅黑" panose="020B0503020204020204" pitchFamily="34" charset="-122"/>
                <a:ea typeface="微软雅黑" panose="020B0503020204020204" pitchFamily="34" charset="-122"/>
              </a:rPr>
              <a:t>无响应流问题：恶意流不受抑制</a:t>
            </a:r>
          </a:p>
          <a:p>
            <a:pPr marL="342900" indent="-342900">
              <a:buClr>
                <a:srgbClr val="1969C2"/>
              </a:buClr>
              <a:buFont typeface="Wingdings" panose="05000000000000000000" pitchFamily="2" charset="2"/>
              <a:buChar char="p"/>
            </a:pPr>
            <a:endParaRPr lang="zh-CN" altLang="en-US" sz="2400" dirty="0">
              <a:latin typeface="微软雅黑" panose="020B0503020204020204" pitchFamily="34" charset="-122"/>
              <a:ea typeface="微软雅黑" panose="020B0503020204020204" pitchFamily="34" charset="-122"/>
            </a:endParaRPr>
          </a:p>
          <a:p>
            <a:pPr marL="342900" indent="-342900">
              <a:buClr>
                <a:srgbClr val="1969C2"/>
              </a:buClr>
              <a:buFont typeface="Wingdings" panose="05000000000000000000" pitchFamily="2" charset="2"/>
              <a:buChar char="p"/>
            </a:pPr>
            <a:r>
              <a:rPr lang="zh-CN" altLang="en-US" sz="2400" dirty="0">
                <a:latin typeface="微软雅黑" panose="020B0503020204020204" pitchFamily="34" charset="-122"/>
                <a:ea typeface="微软雅黑" panose="020B0503020204020204" pitchFamily="34" charset="-122"/>
              </a:rPr>
              <a:t>性能波动：流量突发时效果不稳定</a:t>
            </a:r>
          </a:p>
        </p:txBody>
      </p:sp>
    </p:spTree>
    <p:extLst>
      <p:ext uri="{BB962C8B-B14F-4D97-AF65-F5344CB8AC3E}">
        <p14:creationId xmlns:p14="http://schemas.microsoft.com/office/powerpoint/2010/main" val="32742058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42DCA-63A6-6954-A453-B1D070F5F64D}"/>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4EA4C8C7-EBD5-AFA4-F2CA-73AEED82D034}"/>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38</a:t>
            </a:fld>
            <a:endParaRPr lang="zh-CN" altLang="en-US"/>
          </a:p>
        </p:txBody>
      </p:sp>
      <p:grpSp>
        <p:nvGrpSpPr>
          <p:cNvPr id="21" name="组合 20">
            <a:extLst>
              <a:ext uri="{FF2B5EF4-FFF2-40B4-BE49-F238E27FC236}">
                <a16:creationId xmlns:a16="http://schemas.microsoft.com/office/drawing/2014/main" id="{D39135E9-B3BC-4C6E-3F07-7CC78854315C}"/>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5C44CD44-44DA-9DC5-0863-CC9DC92BF8BC}"/>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CD9BBEA9-BB69-95B9-4C8F-5BC46B9783A7}"/>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C84A0586-CDA0-444F-D5E6-C1E661A1206E}"/>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主动队列管理</a:t>
                </a:r>
              </a:p>
            </p:txBody>
          </p:sp>
        </p:grpSp>
        <p:pic>
          <p:nvPicPr>
            <p:cNvPr id="28" name="图片 27">
              <a:extLst>
                <a:ext uri="{FF2B5EF4-FFF2-40B4-BE49-F238E27FC236}">
                  <a16:creationId xmlns:a16="http://schemas.microsoft.com/office/drawing/2014/main" id="{405AE5DC-D271-D249-1C7C-7644811DCE1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9395107A-C1C2-4D82-799C-97F0D84BA005}"/>
              </a:ext>
            </a:extLst>
          </p:cNvPr>
          <p:cNvGrpSpPr/>
          <p:nvPr/>
        </p:nvGrpSpPr>
        <p:grpSpPr>
          <a:xfrm>
            <a:off x="515938" y="1339655"/>
            <a:ext cx="5288961" cy="526734"/>
            <a:chOff x="722008" y="1303131"/>
            <a:chExt cx="5050057" cy="502942"/>
          </a:xfrm>
        </p:grpSpPr>
        <p:grpSp>
          <p:nvGrpSpPr>
            <p:cNvPr id="3" name="组合 2">
              <a:extLst>
                <a:ext uri="{FF2B5EF4-FFF2-40B4-BE49-F238E27FC236}">
                  <a16:creationId xmlns:a16="http://schemas.microsoft.com/office/drawing/2014/main" id="{89950404-52D9-4FFA-9537-88B8741CF762}"/>
                </a:ext>
              </a:extLst>
            </p:cNvPr>
            <p:cNvGrpSpPr/>
            <p:nvPr/>
          </p:nvGrpSpPr>
          <p:grpSpPr>
            <a:xfrm>
              <a:off x="722008" y="1303131"/>
              <a:ext cx="546594" cy="475865"/>
              <a:chOff x="708742" y="1296102"/>
              <a:chExt cx="454744" cy="283828"/>
            </a:xfrm>
          </p:grpSpPr>
          <p:sp>
            <p:nvSpPr>
              <p:cNvPr id="6" name="平行四边形 5">
                <a:extLst>
                  <a:ext uri="{FF2B5EF4-FFF2-40B4-BE49-F238E27FC236}">
                    <a16:creationId xmlns:a16="http://schemas.microsoft.com/office/drawing/2014/main" id="{E39D2D0E-642D-BAF2-51D6-6382AECB1354}"/>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7" name="平行四边形 6">
                <a:extLst>
                  <a:ext uri="{FF2B5EF4-FFF2-40B4-BE49-F238E27FC236}">
                    <a16:creationId xmlns:a16="http://schemas.microsoft.com/office/drawing/2014/main" id="{D27554AF-E0CA-B0E7-3E44-4BFE7572BD7A}"/>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4" name="流程图: 手动输入 6">
              <a:extLst>
                <a:ext uri="{FF2B5EF4-FFF2-40B4-BE49-F238E27FC236}">
                  <a16:creationId xmlns:a16="http://schemas.microsoft.com/office/drawing/2014/main" id="{A2896CA1-CFAA-6E5C-83B9-BB5A445FFD17}"/>
                </a:ext>
              </a:extLst>
            </p:cNvPr>
            <p:cNvSpPr/>
            <p:nvPr/>
          </p:nvSpPr>
          <p:spPr>
            <a:xfrm rot="5400000" flipV="1">
              <a:off x="3024508" y="-729370"/>
              <a:ext cx="475861" cy="454767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5" name="Text Box 79">
              <a:extLst>
                <a:ext uri="{FF2B5EF4-FFF2-40B4-BE49-F238E27FC236}">
                  <a16:creationId xmlns:a16="http://schemas.microsoft.com/office/drawing/2014/main" id="{62A35CAE-1ACA-5F09-F938-44084E2D2687}"/>
                </a:ext>
              </a:extLst>
            </p:cNvPr>
            <p:cNvSpPr txBox="1">
              <a:spLocks noChangeArrowheads="1"/>
            </p:cNvSpPr>
            <p:nvPr/>
          </p:nvSpPr>
          <p:spPr bwMode="auto">
            <a:xfrm>
              <a:off x="1351236" y="1335873"/>
              <a:ext cx="4420829"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en-US" altLang="zh-CN" sz="2600" dirty="0" err="1">
                  <a:solidFill>
                    <a:schemeClr val="tx1">
                      <a:lumMod val="85000"/>
                      <a:lumOff val="15000"/>
                    </a:schemeClr>
                  </a:solidFill>
                  <a:latin typeface="思源黑体 CN Medium" panose="020B0600000000000000" pitchFamily="34" charset="-122"/>
                  <a:ea typeface="思源黑体 CN Medium" panose="020B0600000000000000" pitchFamily="34" charset="-122"/>
                </a:rPr>
                <a:t>DECbit</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：早期显式反馈机制</a:t>
              </a:r>
            </a:p>
          </p:txBody>
        </p:sp>
      </p:grpSp>
      <p:sp>
        <p:nvSpPr>
          <p:cNvPr id="8" name="Rectangle 68">
            <a:extLst>
              <a:ext uri="{FF2B5EF4-FFF2-40B4-BE49-F238E27FC236}">
                <a16:creationId xmlns:a16="http://schemas.microsoft.com/office/drawing/2014/main" id="{C38BE365-F9F9-BA97-02D6-96832CEB8BC1}"/>
              </a:ext>
            </a:extLst>
          </p:cNvPr>
          <p:cNvSpPr>
            <a:spLocks noChangeArrowheads="1"/>
          </p:cNvSpPr>
          <p:nvPr/>
        </p:nvSpPr>
        <p:spPr bwMode="auto">
          <a:xfrm>
            <a:off x="737414" y="2093315"/>
            <a:ext cx="10616386" cy="3351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基本原理：</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路由器检测拥塞（输出端口平均队列长度≥</a:t>
            </a:r>
            <a:r>
              <a:rPr lang="en-US" altLang="zh-CN" sz="2400" dirty="0">
                <a:latin typeface="微软雅黑" pitchFamily="34" charset="-122"/>
                <a:ea typeface="微软雅黑" pitchFamily="34" charset="-122"/>
              </a:rPr>
              <a:t>1</a:t>
            </a:r>
            <a:r>
              <a:rPr lang="zh-CN" altLang="en-US" sz="2400" dirty="0">
                <a:latin typeface="微软雅黑" pitchFamily="34" charset="-122"/>
                <a:ea typeface="微软雅黑" pitchFamily="34" charset="-122"/>
              </a:rPr>
              <a:t>个分组），在数据包头部设置</a:t>
            </a:r>
            <a:r>
              <a:rPr lang="en-US" altLang="zh-CN" sz="2400" dirty="0">
                <a:latin typeface="微软雅黑" pitchFamily="34" charset="-122"/>
                <a:ea typeface="微软雅黑" pitchFamily="34" charset="-122"/>
              </a:rPr>
              <a:t>1</a:t>
            </a:r>
            <a:r>
              <a:rPr lang="zh-CN" altLang="en-US" sz="2400" dirty="0">
                <a:latin typeface="微软雅黑" pitchFamily="34" charset="-122"/>
                <a:ea typeface="微软雅黑" pitchFamily="34" charset="-122"/>
              </a:rPr>
              <a:t>比特拥塞位。</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接收端通过</a:t>
            </a:r>
            <a:r>
              <a:rPr lang="en-US" altLang="zh-CN" sz="2400" dirty="0">
                <a:latin typeface="微软雅黑" pitchFamily="34" charset="-122"/>
                <a:ea typeface="微软雅黑" pitchFamily="34" charset="-122"/>
              </a:rPr>
              <a:t>ACK</a:t>
            </a:r>
            <a:r>
              <a:rPr lang="zh-CN" altLang="en-US" sz="2400" dirty="0">
                <a:latin typeface="微软雅黑" pitchFamily="34" charset="-122"/>
                <a:ea typeface="微软雅黑" pitchFamily="34" charset="-122"/>
              </a:rPr>
              <a:t>回传拥塞位，发送端根据拥塞比例调整窗口。</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优点：拥塞前提前通知，避免丢包；开销低</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缺点：只支持特定协议（需识别</a:t>
            </a:r>
            <a:r>
              <a:rPr lang="en-US" altLang="zh-CN" sz="2400" dirty="0">
                <a:latin typeface="微软雅黑" pitchFamily="34" charset="-122"/>
                <a:ea typeface="微软雅黑" pitchFamily="34" charset="-122"/>
              </a:rPr>
              <a:t>bit</a:t>
            </a:r>
            <a:r>
              <a:rPr lang="zh-CN" altLang="en-US" sz="2400" dirty="0">
                <a:latin typeface="微软雅黑" pitchFamily="34" charset="-122"/>
                <a:ea typeface="微软雅黑" pitchFamily="34" charset="-122"/>
              </a:rPr>
              <a:t>位）阈值固定，适应性差</a:t>
            </a:r>
          </a:p>
        </p:txBody>
      </p:sp>
    </p:spTree>
    <p:extLst>
      <p:ext uri="{BB962C8B-B14F-4D97-AF65-F5344CB8AC3E}">
        <p14:creationId xmlns:p14="http://schemas.microsoft.com/office/powerpoint/2010/main" val="19430053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01657-4F6E-DA48-82D2-71455EF9C123}"/>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3C394468-0F18-3DE6-56A2-E9BBDA857E9D}"/>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39</a:t>
            </a:fld>
            <a:endParaRPr lang="zh-CN" altLang="en-US"/>
          </a:p>
        </p:txBody>
      </p:sp>
      <p:grpSp>
        <p:nvGrpSpPr>
          <p:cNvPr id="21" name="组合 20">
            <a:extLst>
              <a:ext uri="{FF2B5EF4-FFF2-40B4-BE49-F238E27FC236}">
                <a16:creationId xmlns:a16="http://schemas.microsoft.com/office/drawing/2014/main" id="{F2691B06-982F-1444-B22C-123969E4AD29}"/>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3E71E38A-C243-5E21-25B9-ECF5BA85C28F}"/>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D65820B3-28E4-206F-A662-DC2BA0AD9D61}"/>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C13D99E1-19C0-3936-D9E0-AED5D4871913}"/>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主动队列管理</a:t>
                </a:r>
              </a:p>
            </p:txBody>
          </p:sp>
        </p:grpSp>
        <p:pic>
          <p:nvPicPr>
            <p:cNvPr id="28" name="图片 27">
              <a:extLst>
                <a:ext uri="{FF2B5EF4-FFF2-40B4-BE49-F238E27FC236}">
                  <a16:creationId xmlns:a16="http://schemas.microsoft.com/office/drawing/2014/main" id="{C70AF606-AFC9-470F-CF78-8D51671F1CB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88837D03-AFD0-ADBE-BF0D-77D9830E9C1B}"/>
              </a:ext>
            </a:extLst>
          </p:cNvPr>
          <p:cNvGrpSpPr/>
          <p:nvPr/>
        </p:nvGrpSpPr>
        <p:grpSpPr>
          <a:xfrm>
            <a:off x="515938" y="1339655"/>
            <a:ext cx="5011559" cy="526734"/>
            <a:chOff x="722008" y="1303131"/>
            <a:chExt cx="4785185" cy="502942"/>
          </a:xfrm>
        </p:grpSpPr>
        <p:grpSp>
          <p:nvGrpSpPr>
            <p:cNvPr id="3" name="组合 2">
              <a:extLst>
                <a:ext uri="{FF2B5EF4-FFF2-40B4-BE49-F238E27FC236}">
                  <a16:creationId xmlns:a16="http://schemas.microsoft.com/office/drawing/2014/main" id="{DEE518A9-B1B4-FF43-BB29-F399E8310951}"/>
                </a:ext>
              </a:extLst>
            </p:cNvPr>
            <p:cNvGrpSpPr/>
            <p:nvPr/>
          </p:nvGrpSpPr>
          <p:grpSpPr>
            <a:xfrm>
              <a:off x="722008" y="1303131"/>
              <a:ext cx="546594" cy="475865"/>
              <a:chOff x="708742" y="1296102"/>
              <a:chExt cx="454744" cy="283828"/>
            </a:xfrm>
          </p:grpSpPr>
          <p:sp>
            <p:nvSpPr>
              <p:cNvPr id="6" name="平行四边形 5">
                <a:extLst>
                  <a:ext uri="{FF2B5EF4-FFF2-40B4-BE49-F238E27FC236}">
                    <a16:creationId xmlns:a16="http://schemas.microsoft.com/office/drawing/2014/main" id="{AC788260-BD26-893B-A779-60770067D9C9}"/>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7" name="平行四边形 6">
                <a:extLst>
                  <a:ext uri="{FF2B5EF4-FFF2-40B4-BE49-F238E27FC236}">
                    <a16:creationId xmlns:a16="http://schemas.microsoft.com/office/drawing/2014/main" id="{B2CD59F7-6214-948A-D70D-AA4CAA68D55C}"/>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4" name="流程图: 手动输入 6">
              <a:extLst>
                <a:ext uri="{FF2B5EF4-FFF2-40B4-BE49-F238E27FC236}">
                  <a16:creationId xmlns:a16="http://schemas.microsoft.com/office/drawing/2014/main" id="{E9566184-B25B-D378-1A4A-64DA92529C95}"/>
                </a:ext>
              </a:extLst>
            </p:cNvPr>
            <p:cNvSpPr/>
            <p:nvPr/>
          </p:nvSpPr>
          <p:spPr>
            <a:xfrm rot="5400000" flipV="1">
              <a:off x="2583227" y="-288088"/>
              <a:ext cx="475861" cy="366511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5" name="Text Box 79">
              <a:extLst>
                <a:ext uri="{FF2B5EF4-FFF2-40B4-BE49-F238E27FC236}">
                  <a16:creationId xmlns:a16="http://schemas.microsoft.com/office/drawing/2014/main" id="{BF1CF2F2-FC42-E70C-03B1-CA2D49327548}"/>
                </a:ext>
              </a:extLst>
            </p:cNvPr>
            <p:cNvSpPr txBox="1">
              <a:spLocks noChangeArrowheads="1"/>
            </p:cNvSpPr>
            <p:nvPr/>
          </p:nvSpPr>
          <p:spPr bwMode="auto">
            <a:xfrm>
              <a:off x="1351236" y="1335873"/>
              <a:ext cx="4155957"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显式拥塞通知（</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ECN</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a:t>
              </a:r>
            </a:p>
          </p:txBody>
        </p:sp>
      </p:grpSp>
      <p:sp>
        <p:nvSpPr>
          <p:cNvPr id="13" name="文本框 12">
            <a:extLst>
              <a:ext uri="{FF2B5EF4-FFF2-40B4-BE49-F238E27FC236}">
                <a16:creationId xmlns:a16="http://schemas.microsoft.com/office/drawing/2014/main" id="{0682C1E8-91B2-AC64-6F74-F3C64FE1201A}"/>
              </a:ext>
            </a:extLst>
          </p:cNvPr>
          <p:cNvSpPr txBox="1"/>
          <p:nvPr/>
        </p:nvSpPr>
        <p:spPr>
          <a:xfrm>
            <a:off x="795141" y="2021782"/>
            <a:ext cx="10394910" cy="3416320"/>
          </a:xfrm>
          <a:prstGeom prst="rect">
            <a:avLst/>
          </a:prstGeom>
          <a:noFill/>
        </p:spPr>
        <p:txBody>
          <a:bodyPr wrap="square">
            <a:spAutoFit/>
          </a:bodyPr>
          <a:lstStyle/>
          <a:p>
            <a:pPr marL="342900" indent="-342900">
              <a:lnSpc>
                <a:spcPct val="150000"/>
              </a:lnSpc>
              <a:buClr>
                <a:srgbClr val="1969C2"/>
              </a:buClr>
              <a:buFont typeface="Wingdings" panose="05000000000000000000" pitchFamily="2" charset="2"/>
              <a:buChar char="n"/>
            </a:pPr>
            <a:r>
              <a:rPr lang="zh-CN" altLang="en-US" sz="2400" dirty="0">
                <a:latin typeface="微软雅黑" pitchFamily="34" charset="-122"/>
                <a:ea typeface="微软雅黑" pitchFamily="34" charset="-122"/>
              </a:rPr>
              <a:t>基本原理：路由器在出现拥塞时通知</a:t>
            </a:r>
            <a:r>
              <a:rPr lang="en-US" altLang="zh-CN" sz="2400" dirty="0">
                <a:latin typeface="微软雅黑" pitchFamily="34" charset="-122"/>
                <a:ea typeface="微软雅黑" pitchFamily="34" charset="-122"/>
              </a:rPr>
              <a:t>TCP</a:t>
            </a:r>
            <a:r>
              <a:rPr lang="zh-CN" altLang="en-US" sz="2400" dirty="0">
                <a:latin typeface="微软雅黑" pitchFamily="34" charset="-122"/>
                <a:ea typeface="微软雅黑" pitchFamily="34" charset="-122"/>
              </a:rPr>
              <a:t>。当</a:t>
            </a:r>
            <a:r>
              <a:rPr lang="en-US" altLang="zh-CN" sz="2400" dirty="0">
                <a:latin typeface="微软雅黑" pitchFamily="34" charset="-122"/>
                <a:ea typeface="微软雅黑" pitchFamily="34" charset="-122"/>
              </a:rPr>
              <a:t>TCP</a:t>
            </a:r>
            <a:r>
              <a:rPr lang="zh-CN" altLang="en-US" sz="2400" dirty="0">
                <a:latin typeface="微软雅黑" pitchFamily="34" charset="-122"/>
                <a:ea typeface="微软雅黑" pitchFamily="34" charset="-122"/>
              </a:rPr>
              <a:t>段传递时，路由器使用</a:t>
            </a:r>
            <a:r>
              <a:rPr lang="en-US" altLang="zh-CN" sz="2400" dirty="0">
                <a:latin typeface="微软雅黑" pitchFamily="34" charset="-122"/>
                <a:ea typeface="微软雅黑" pitchFamily="34" charset="-122"/>
              </a:rPr>
              <a:t>IP</a:t>
            </a:r>
            <a:r>
              <a:rPr lang="zh-CN" altLang="en-US" sz="2400" dirty="0">
                <a:latin typeface="微软雅黑" pitchFamily="34" charset="-122"/>
                <a:ea typeface="微软雅黑" pitchFamily="34" charset="-122"/>
              </a:rPr>
              <a:t>首部中的</a:t>
            </a:r>
            <a:r>
              <a:rPr lang="en-US" altLang="zh-CN" sz="2400" dirty="0">
                <a:latin typeface="微软雅黑" pitchFamily="34" charset="-122"/>
                <a:ea typeface="微软雅黑" pitchFamily="34" charset="-122"/>
              </a:rPr>
              <a:t>2</a:t>
            </a:r>
            <a:r>
              <a:rPr lang="zh-CN" altLang="en-US" sz="2400" dirty="0">
                <a:latin typeface="微软雅黑" pitchFamily="34" charset="-122"/>
                <a:ea typeface="微软雅黑" pitchFamily="34" charset="-122"/>
              </a:rPr>
              <a:t>位来记录拥塞，当</a:t>
            </a:r>
            <a:r>
              <a:rPr lang="en-US" altLang="zh-CN" sz="2400" dirty="0">
                <a:latin typeface="微软雅黑" pitchFamily="34" charset="-122"/>
                <a:ea typeface="微软雅黑" pitchFamily="34" charset="-122"/>
              </a:rPr>
              <a:t>TCP</a:t>
            </a:r>
            <a:r>
              <a:rPr lang="zh-CN" altLang="en-US" sz="2400" dirty="0">
                <a:latin typeface="微软雅黑" pitchFamily="34" charset="-122"/>
                <a:ea typeface="微软雅黑" pitchFamily="34" charset="-122"/>
              </a:rPr>
              <a:t>段到达后，接收方知道报文段是否在某个位置经历过拥塞。</a:t>
            </a:r>
            <a:endParaRPr lang="en-US" altLang="zh-CN" sz="2400" dirty="0">
              <a:latin typeface="微软雅黑" pitchFamily="34" charset="-122"/>
              <a:ea typeface="微软雅黑" pitchFamily="34" charset="-122"/>
            </a:endParaRPr>
          </a:p>
          <a:p>
            <a:pPr marL="342900" indent="-342900">
              <a:lnSpc>
                <a:spcPct val="150000"/>
              </a:lnSpc>
              <a:buClr>
                <a:srgbClr val="1969C2"/>
              </a:buClr>
              <a:buFont typeface="Wingdings" panose="05000000000000000000" pitchFamily="2" charset="2"/>
              <a:buChar char="n"/>
            </a:pPr>
            <a:r>
              <a:rPr lang="zh-CN" altLang="en-US" sz="2400" dirty="0">
                <a:latin typeface="微软雅黑" pitchFamily="34" charset="-122"/>
                <a:ea typeface="微软雅黑" pitchFamily="34" charset="-122"/>
              </a:rPr>
              <a:t>接收方使用下一个</a:t>
            </a:r>
            <a:r>
              <a:rPr lang="en-US" altLang="zh-CN" sz="2400" dirty="0">
                <a:latin typeface="微软雅黑" pitchFamily="34" charset="-122"/>
                <a:ea typeface="微软雅黑" pitchFamily="34" charset="-122"/>
              </a:rPr>
              <a:t>ACK</a:t>
            </a:r>
            <a:r>
              <a:rPr lang="zh-CN" altLang="en-US" sz="2400" dirty="0">
                <a:latin typeface="微软雅黑" pitchFamily="34" charset="-122"/>
                <a:ea typeface="微软雅黑" pitchFamily="34" charset="-122"/>
              </a:rPr>
              <a:t>通知发送方有拥塞发生，然后，发送方做出响应，缩小自己的拥塞窗口。</a:t>
            </a:r>
          </a:p>
          <a:p>
            <a:endParaRPr lang="zh-CN" altLang="en-US" dirty="0"/>
          </a:p>
          <a:p>
            <a:r>
              <a:rPr lang="zh-CN" altLang="en-US" dirty="0"/>
              <a:t> </a:t>
            </a:r>
          </a:p>
        </p:txBody>
      </p:sp>
    </p:spTree>
    <p:extLst>
      <p:ext uri="{BB962C8B-B14F-4D97-AF65-F5344CB8AC3E}">
        <p14:creationId xmlns:p14="http://schemas.microsoft.com/office/powerpoint/2010/main" val="5968708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D716C-3361-D09B-28B1-E432AC7E9F0C}"/>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D026DF8B-1474-EF2E-52B3-A707D443A885}"/>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40</a:t>
            </a:fld>
            <a:endParaRPr lang="zh-CN" altLang="en-US"/>
          </a:p>
        </p:txBody>
      </p:sp>
      <p:grpSp>
        <p:nvGrpSpPr>
          <p:cNvPr id="21" name="组合 20">
            <a:extLst>
              <a:ext uri="{FF2B5EF4-FFF2-40B4-BE49-F238E27FC236}">
                <a16:creationId xmlns:a16="http://schemas.microsoft.com/office/drawing/2014/main" id="{97901F3C-BC03-B237-E803-91EECAC3DEE4}"/>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B70B933E-9DC6-F43B-E231-882AB1396B4F}"/>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26839002-817C-0D71-E4EE-D30F541C12A1}"/>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8E5B9194-C2B7-95ED-888C-830DBB22BDE7}"/>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主动队列管理</a:t>
                </a:r>
              </a:p>
            </p:txBody>
          </p:sp>
        </p:grpSp>
        <p:pic>
          <p:nvPicPr>
            <p:cNvPr id="28" name="图片 27">
              <a:extLst>
                <a:ext uri="{FF2B5EF4-FFF2-40B4-BE49-F238E27FC236}">
                  <a16:creationId xmlns:a16="http://schemas.microsoft.com/office/drawing/2014/main" id="{91847C13-47D4-CC57-3603-1A5F5349342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8" name="组合 7">
            <a:extLst>
              <a:ext uri="{FF2B5EF4-FFF2-40B4-BE49-F238E27FC236}">
                <a16:creationId xmlns:a16="http://schemas.microsoft.com/office/drawing/2014/main" id="{93AD0501-FA65-37BA-000E-38D4D3D32B29}"/>
              </a:ext>
            </a:extLst>
          </p:cNvPr>
          <p:cNvGrpSpPr/>
          <p:nvPr/>
        </p:nvGrpSpPr>
        <p:grpSpPr>
          <a:xfrm>
            <a:off x="515938" y="1339655"/>
            <a:ext cx="5011559" cy="526734"/>
            <a:chOff x="722008" y="1303131"/>
            <a:chExt cx="4785185" cy="502942"/>
          </a:xfrm>
        </p:grpSpPr>
        <p:grpSp>
          <p:nvGrpSpPr>
            <p:cNvPr id="9" name="组合 8">
              <a:extLst>
                <a:ext uri="{FF2B5EF4-FFF2-40B4-BE49-F238E27FC236}">
                  <a16:creationId xmlns:a16="http://schemas.microsoft.com/office/drawing/2014/main" id="{CD23472A-8F21-409E-41C9-CBAB2C1017D2}"/>
                </a:ext>
              </a:extLst>
            </p:cNvPr>
            <p:cNvGrpSpPr/>
            <p:nvPr/>
          </p:nvGrpSpPr>
          <p:grpSpPr>
            <a:xfrm>
              <a:off x="722008" y="1303131"/>
              <a:ext cx="546594" cy="475865"/>
              <a:chOff x="708742" y="1296102"/>
              <a:chExt cx="454744" cy="283828"/>
            </a:xfrm>
          </p:grpSpPr>
          <p:sp>
            <p:nvSpPr>
              <p:cNvPr id="12" name="平行四边形 11">
                <a:extLst>
                  <a:ext uri="{FF2B5EF4-FFF2-40B4-BE49-F238E27FC236}">
                    <a16:creationId xmlns:a16="http://schemas.microsoft.com/office/drawing/2014/main" id="{2D4205C7-7C6C-E290-90D7-E9290EA8B5D4}"/>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3" name="平行四边形 12">
                <a:extLst>
                  <a:ext uri="{FF2B5EF4-FFF2-40B4-BE49-F238E27FC236}">
                    <a16:creationId xmlns:a16="http://schemas.microsoft.com/office/drawing/2014/main" id="{B80B8172-165D-0FED-816C-CEEA2FDA396E}"/>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0" name="流程图: 手动输入 6">
              <a:extLst>
                <a:ext uri="{FF2B5EF4-FFF2-40B4-BE49-F238E27FC236}">
                  <a16:creationId xmlns:a16="http://schemas.microsoft.com/office/drawing/2014/main" id="{DF7A83B9-1231-6FCF-2E5A-F0E709D9F455}"/>
                </a:ext>
              </a:extLst>
            </p:cNvPr>
            <p:cNvSpPr/>
            <p:nvPr/>
          </p:nvSpPr>
          <p:spPr>
            <a:xfrm rot="5400000" flipV="1">
              <a:off x="2583227" y="-288088"/>
              <a:ext cx="475861" cy="366511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11" name="Text Box 79">
              <a:extLst>
                <a:ext uri="{FF2B5EF4-FFF2-40B4-BE49-F238E27FC236}">
                  <a16:creationId xmlns:a16="http://schemas.microsoft.com/office/drawing/2014/main" id="{09967907-9035-56C6-86BE-EC565C9AA19D}"/>
                </a:ext>
              </a:extLst>
            </p:cNvPr>
            <p:cNvSpPr txBox="1">
              <a:spLocks noChangeArrowheads="1"/>
            </p:cNvSpPr>
            <p:nvPr/>
          </p:nvSpPr>
          <p:spPr bwMode="auto">
            <a:xfrm>
              <a:off x="1351236" y="1335873"/>
              <a:ext cx="4155957"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显式拥塞通知（</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ECN</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a:t>
              </a:r>
            </a:p>
          </p:txBody>
        </p:sp>
      </p:grpSp>
      <p:pic>
        <p:nvPicPr>
          <p:cNvPr id="14" name="图片 13">
            <a:extLst>
              <a:ext uri="{FF2B5EF4-FFF2-40B4-BE49-F238E27FC236}">
                <a16:creationId xmlns:a16="http://schemas.microsoft.com/office/drawing/2014/main" id="{B32880E7-C12C-CA4C-BBC9-7BC12CA3D4D5}"/>
              </a:ext>
            </a:extLst>
          </p:cNvPr>
          <p:cNvPicPr>
            <a:picLocks noChangeAspect="1"/>
          </p:cNvPicPr>
          <p:nvPr/>
        </p:nvPicPr>
        <p:blipFill>
          <a:blip r:embed="rId3"/>
          <a:stretch>
            <a:fillRect/>
          </a:stretch>
        </p:blipFill>
        <p:spPr>
          <a:xfrm>
            <a:off x="1088390" y="1981430"/>
            <a:ext cx="10410833" cy="2812560"/>
          </a:xfrm>
          <a:prstGeom prst="rect">
            <a:avLst/>
          </a:prstGeom>
        </p:spPr>
      </p:pic>
      <p:sp>
        <p:nvSpPr>
          <p:cNvPr id="16" name="文本框 15">
            <a:extLst>
              <a:ext uri="{FF2B5EF4-FFF2-40B4-BE49-F238E27FC236}">
                <a16:creationId xmlns:a16="http://schemas.microsoft.com/office/drawing/2014/main" id="{D20AB61E-8464-60BE-01D0-2C2ADD855319}"/>
              </a:ext>
            </a:extLst>
          </p:cNvPr>
          <p:cNvSpPr txBox="1"/>
          <p:nvPr/>
        </p:nvSpPr>
        <p:spPr>
          <a:xfrm>
            <a:off x="1251735" y="4909031"/>
            <a:ext cx="7358865" cy="1422954"/>
          </a:xfrm>
          <a:prstGeom prst="rect">
            <a:avLst/>
          </a:prstGeom>
          <a:noFill/>
        </p:spPr>
        <p:txBody>
          <a:bodyPr wrap="square">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ECN </a:t>
            </a:r>
            <a:r>
              <a:rPr lang="zh-CN" altLang="en-US" sz="2000" dirty="0">
                <a:latin typeface="微软雅黑" panose="020B0503020204020204" pitchFamily="34" charset="-122"/>
                <a:ea typeface="微软雅黑" panose="020B0503020204020204" pitchFamily="34" charset="-122"/>
              </a:rPr>
              <a:t>在 </a:t>
            </a:r>
            <a:r>
              <a:rPr lang="en-US" altLang="zh-CN" sz="2000" dirty="0">
                <a:latin typeface="微软雅黑" panose="020B0503020204020204" pitchFamily="34" charset="-122"/>
                <a:ea typeface="微软雅黑" panose="020B0503020204020204" pitchFamily="34" charset="-122"/>
              </a:rPr>
              <a:t>TCP </a:t>
            </a:r>
            <a:r>
              <a:rPr lang="zh-CN" altLang="en-US" sz="2000" dirty="0">
                <a:latin typeface="微软雅黑" panose="020B0503020204020204" pitchFamily="34" charset="-122"/>
                <a:ea typeface="微软雅黑" panose="020B0503020204020204" pitchFamily="34" charset="-122"/>
              </a:rPr>
              <a:t>头中占用 </a:t>
            </a: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位，分别是 </a:t>
            </a:r>
            <a:r>
              <a:rPr lang="en-US" altLang="zh-CN" sz="2000" dirty="0">
                <a:latin typeface="微软雅黑" panose="020B0503020204020204" pitchFamily="34" charset="-122"/>
                <a:ea typeface="微软雅黑" panose="020B0503020204020204" pitchFamily="34" charset="-122"/>
              </a:rPr>
              <a:t>CWR </a:t>
            </a:r>
            <a:r>
              <a:rPr lang="zh-CN" altLang="en-US" sz="2000" dirty="0">
                <a:latin typeface="微软雅黑" panose="020B0503020204020204" pitchFamily="34" charset="-122"/>
                <a:ea typeface="微软雅黑" panose="020B0503020204020204" pitchFamily="34" charset="-122"/>
              </a:rPr>
              <a:t>和 </a:t>
            </a:r>
            <a:r>
              <a:rPr lang="en-US" altLang="zh-CN" sz="2000" dirty="0">
                <a:latin typeface="微软雅黑" panose="020B0503020204020204" pitchFamily="34" charset="-122"/>
                <a:ea typeface="微软雅黑" panose="020B0503020204020204" pitchFamily="34" charset="-122"/>
              </a:rPr>
              <a:t>ECE</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Clr>
                <a:srgbClr val="1969C2"/>
              </a:buClr>
              <a:buFont typeface="Wingdings" panose="05000000000000000000" pitchFamily="2" charset="2"/>
              <a:buChar char="p"/>
            </a:pPr>
            <a:r>
              <a:rPr lang="en-US" altLang="zh-CN" sz="2000" dirty="0">
                <a:latin typeface="微软雅黑" panose="020B0503020204020204" pitchFamily="34" charset="-122"/>
                <a:ea typeface="微软雅黑" panose="020B0503020204020204" pitchFamily="34" charset="-122"/>
              </a:rPr>
              <a:t>CWR: Congestion Window Reduced</a:t>
            </a:r>
            <a:r>
              <a:rPr lang="zh-CN" altLang="en-US" sz="2000" dirty="0">
                <a:latin typeface="微软雅黑" panose="020B0503020204020204" pitchFamily="34" charset="-122"/>
                <a:ea typeface="微软雅黑" panose="020B0503020204020204" pitchFamily="34" charset="-122"/>
              </a:rPr>
              <a:t>，拥塞窗口减少标志</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Clr>
                <a:srgbClr val="1969C2"/>
              </a:buClr>
              <a:buFont typeface="Wingdings" panose="05000000000000000000" pitchFamily="2" charset="2"/>
              <a:buChar char="p"/>
            </a:pPr>
            <a:r>
              <a:rPr lang="en-US" altLang="zh-CN" sz="2000" dirty="0">
                <a:latin typeface="微软雅黑" panose="020B0503020204020204" pitchFamily="34" charset="-122"/>
                <a:ea typeface="微软雅黑" panose="020B0503020204020204" pitchFamily="34" charset="-122"/>
              </a:rPr>
              <a:t>ECE: Echo of Congestion Encountered</a:t>
            </a:r>
            <a:r>
              <a:rPr lang="zh-CN" altLang="en-US" sz="2000" dirty="0">
                <a:latin typeface="微软雅黑" panose="020B0503020204020204" pitchFamily="34" charset="-122"/>
                <a:ea typeface="微软雅黑" panose="020B0503020204020204" pitchFamily="34" charset="-122"/>
              </a:rPr>
              <a:t>，拥塞响应</a:t>
            </a:r>
          </a:p>
        </p:txBody>
      </p:sp>
    </p:spTree>
    <p:extLst>
      <p:ext uri="{BB962C8B-B14F-4D97-AF65-F5344CB8AC3E}">
        <p14:creationId xmlns:p14="http://schemas.microsoft.com/office/powerpoint/2010/main" val="30090885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CB451-6048-80C3-DA9C-68278FBF5A6F}"/>
            </a:ext>
          </a:extLst>
        </p:cNvPr>
        <p:cNvGrpSpPr/>
        <p:nvPr/>
      </p:nvGrpSpPr>
      <p:grpSpPr>
        <a:xfrm>
          <a:off x="0" y="0"/>
          <a:ext cx="0" cy="0"/>
          <a:chOff x="0" y="0"/>
          <a:chExt cx="0" cy="0"/>
        </a:xfrm>
      </p:grpSpPr>
      <p:sp>
        <p:nvSpPr>
          <p:cNvPr id="106" name="灯片编号占位符 3">
            <a:extLst>
              <a:ext uri="{FF2B5EF4-FFF2-40B4-BE49-F238E27FC236}">
                <a16:creationId xmlns:a16="http://schemas.microsoft.com/office/drawing/2014/main" id="{423CEDA3-21DC-7AE3-4759-59BAC2EA44A1}"/>
              </a:ext>
            </a:extLst>
          </p:cNvPr>
          <p:cNvSpPr>
            <a:spLocks noGrp="1"/>
          </p:cNvSpPr>
          <p:nvPr>
            <p:ph type="sldNum" sz="quarter" idx="12"/>
          </p:nvPr>
        </p:nvSpPr>
        <p:spPr>
          <a:xfrm>
            <a:off x="8610600" y="6356350"/>
            <a:ext cx="2743200" cy="365125"/>
          </a:xfrm>
        </p:spPr>
        <p:txBody>
          <a:bodyPr/>
          <a:lstStyle/>
          <a:p>
            <a:fld id="{91F2D4EF-46D4-4764-B373-FC59CD1D281E}" type="slidenum">
              <a:rPr lang="zh-CN" altLang="en-US" smtClean="0"/>
              <a:t>41</a:t>
            </a:fld>
            <a:endParaRPr lang="zh-CN" altLang="en-US"/>
          </a:p>
        </p:txBody>
      </p:sp>
      <p:grpSp>
        <p:nvGrpSpPr>
          <p:cNvPr id="21" name="组合 20">
            <a:extLst>
              <a:ext uri="{FF2B5EF4-FFF2-40B4-BE49-F238E27FC236}">
                <a16:creationId xmlns:a16="http://schemas.microsoft.com/office/drawing/2014/main" id="{48D79556-0B84-7770-07C9-43424610355F}"/>
              </a:ext>
            </a:extLst>
          </p:cNvPr>
          <p:cNvGrpSpPr/>
          <p:nvPr/>
        </p:nvGrpSpPr>
        <p:grpSpPr>
          <a:xfrm>
            <a:off x="0" y="-272687"/>
            <a:ext cx="6369978" cy="1428589"/>
            <a:chOff x="551030" y="-368704"/>
            <a:chExt cx="6369978" cy="1428589"/>
          </a:xfrm>
        </p:grpSpPr>
        <p:grpSp>
          <p:nvGrpSpPr>
            <p:cNvPr id="27" name="组合 26">
              <a:extLst>
                <a:ext uri="{FF2B5EF4-FFF2-40B4-BE49-F238E27FC236}">
                  <a16:creationId xmlns:a16="http://schemas.microsoft.com/office/drawing/2014/main" id="{23665566-E5AF-ED4F-F7E1-5EF0E809E9DE}"/>
                </a:ext>
              </a:extLst>
            </p:cNvPr>
            <p:cNvGrpSpPr/>
            <p:nvPr/>
          </p:nvGrpSpPr>
          <p:grpSpPr>
            <a:xfrm>
              <a:off x="1201631" y="303925"/>
              <a:ext cx="5719377" cy="687996"/>
              <a:chOff x="1839058" y="967769"/>
              <a:chExt cx="5719377" cy="687996"/>
            </a:xfrm>
          </p:grpSpPr>
          <p:sp>
            <p:nvSpPr>
              <p:cNvPr id="29" name="矩形: 圆角 28">
                <a:extLst>
                  <a:ext uri="{FF2B5EF4-FFF2-40B4-BE49-F238E27FC236}">
                    <a16:creationId xmlns:a16="http://schemas.microsoft.com/office/drawing/2014/main" id="{C64E13F6-70BC-06ED-CA93-B0F3E8D375D5}"/>
                  </a:ext>
                </a:extLst>
              </p:cNvPr>
              <p:cNvSpPr/>
              <p:nvPr/>
            </p:nvSpPr>
            <p:spPr>
              <a:xfrm>
                <a:off x="1839058" y="967769"/>
                <a:ext cx="4455655" cy="675443"/>
              </a:xfrm>
              <a:prstGeom prst="roundRect">
                <a:avLst>
                  <a:gd name="adj" fmla="val 50000"/>
                </a:avLst>
              </a:prstGeom>
              <a:solidFill>
                <a:srgbClr val="5A91D2"/>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0" name="文本框 29">
                <a:extLst>
                  <a:ext uri="{FF2B5EF4-FFF2-40B4-BE49-F238E27FC236}">
                    <a16:creationId xmlns:a16="http://schemas.microsoft.com/office/drawing/2014/main" id="{BD5CF01A-6A4B-2142-6A6C-950A6F27061A}"/>
                  </a:ext>
                </a:extLst>
              </p:cNvPr>
              <p:cNvSpPr txBox="1"/>
              <p:nvPr/>
            </p:nvSpPr>
            <p:spPr>
              <a:xfrm>
                <a:off x="2795618" y="1009434"/>
                <a:ext cx="4762817" cy="646331"/>
              </a:xfrm>
              <a:prstGeom prst="rect">
                <a:avLst/>
              </a:prstGeom>
              <a:noFill/>
            </p:spPr>
            <p:txBody>
              <a:bodyPr wrap="square" rtlCol="0">
                <a:spAutoFit/>
              </a:bodyPr>
              <a:lstStyle/>
              <a:p>
                <a:r>
                  <a:rPr lang="zh-CN" altLang="en-US" sz="36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主动队列管理</a:t>
                </a:r>
              </a:p>
            </p:txBody>
          </p:sp>
        </p:grpSp>
        <p:pic>
          <p:nvPicPr>
            <p:cNvPr id="28" name="图片 27">
              <a:extLst>
                <a:ext uri="{FF2B5EF4-FFF2-40B4-BE49-F238E27FC236}">
                  <a16:creationId xmlns:a16="http://schemas.microsoft.com/office/drawing/2014/main" id="{2CF8EDAD-C540-D09F-9273-DC3F35680F7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9" name="文本框 8">
            <a:extLst>
              <a:ext uri="{FF2B5EF4-FFF2-40B4-BE49-F238E27FC236}">
                <a16:creationId xmlns:a16="http://schemas.microsoft.com/office/drawing/2014/main" id="{32BD89C4-20AF-9424-53E2-6115EB9ABBF4}"/>
              </a:ext>
            </a:extLst>
          </p:cNvPr>
          <p:cNvSpPr txBox="1"/>
          <p:nvPr/>
        </p:nvSpPr>
        <p:spPr>
          <a:xfrm>
            <a:off x="982879" y="1828531"/>
            <a:ext cx="8195384" cy="4468018"/>
          </a:xfrm>
          <a:prstGeom prst="rect">
            <a:avLst/>
          </a:prstGeom>
          <a:noFill/>
        </p:spPr>
        <p:txBody>
          <a:bodyPr wrap="square">
            <a:spAutoFit/>
          </a:bodyPr>
          <a:lstStyle/>
          <a:p>
            <a:pPr>
              <a:lnSpc>
                <a:spcPct val="150000"/>
              </a:lnSpc>
            </a:pPr>
            <a:r>
              <a:rPr lang="zh-CN" altLang="en-US" sz="2400" dirty="0"/>
              <a:t>特点：</a:t>
            </a:r>
            <a:endParaRPr lang="en-US" altLang="zh-CN" sz="2400" dirty="0"/>
          </a:p>
          <a:p>
            <a:pPr marL="342900" indent="-342900">
              <a:lnSpc>
                <a:spcPct val="150000"/>
              </a:lnSpc>
              <a:buClr>
                <a:srgbClr val="1969C2"/>
              </a:buClr>
              <a:buFont typeface="Wingdings" panose="05000000000000000000" pitchFamily="2" charset="2"/>
              <a:buChar char="p"/>
            </a:pPr>
            <a:r>
              <a:rPr lang="zh-CN" altLang="en-US" sz="2400" dirty="0"/>
              <a:t>零丢包通知：拥塞时不丢弃数据包</a:t>
            </a:r>
          </a:p>
          <a:p>
            <a:pPr marL="342900" indent="-342900">
              <a:lnSpc>
                <a:spcPct val="150000"/>
              </a:lnSpc>
              <a:buClr>
                <a:srgbClr val="1969C2"/>
              </a:buClr>
              <a:buFont typeface="Wingdings" panose="05000000000000000000" pitchFamily="2" charset="2"/>
              <a:buChar char="p"/>
            </a:pPr>
            <a:r>
              <a:rPr lang="zh-CN" altLang="en-US" sz="2400" dirty="0"/>
              <a:t>精准控制：支持量化拥塞程度</a:t>
            </a:r>
          </a:p>
          <a:p>
            <a:pPr marL="342900" indent="-342900">
              <a:lnSpc>
                <a:spcPct val="150000"/>
              </a:lnSpc>
              <a:buClr>
                <a:srgbClr val="1969C2"/>
              </a:buClr>
              <a:buFont typeface="Wingdings" panose="05000000000000000000" pitchFamily="2" charset="2"/>
              <a:buChar char="p"/>
            </a:pPr>
            <a:r>
              <a:rPr lang="zh-CN" altLang="en-US" sz="2400" dirty="0"/>
              <a:t>标准化协议：</a:t>
            </a:r>
            <a:r>
              <a:rPr lang="en-US" altLang="zh-CN" sz="2400" dirty="0"/>
              <a:t>RFC 3168</a:t>
            </a:r>
            <a:r>
              <a:rPr lang="zh-CN" altLang="en-US" sz="2400" dirty="0"/>
              <a:t>定义，兼容现代网络</a:t>
            </a:r>
          </a:p>
          <a:p>
            <a:pPr>
              <a:lnSpc>
                <a:spcPct val="150000"/>
              </a:lnSpc>
            </a:pPr>
            <a:r>
              <a:rPr lang="zh-CN" altLang="en-US" sz="2400" dirty="0"/>
              <a:t>局限性</a:t>
            </a:r>
          </a:p>
          <a:p>
            <a:pPr marL="342900" indent="-342900">
              <a:lnSpc>
                <a:spcPct val="150000"/>
              </a:lnSpc>
              <a:buClr>
                <a:srgbClr val="1969C2"/>
              </a:buClr>
              <a:buFont typeface="Wingdings" panose="05000000000000000000" pitchFamily="2" charset="2"/>
              <a:buChar char="n"/>
            </a:pPr>
            <a:r>
              <a:rPr lang="zh-CN" altLang="en-US" sz="2400" dirty="0"/>
              <a:t>部署依赖：需端到端支持（路由器</a:t>
            </a:r>
            <a:r>
              <a:rPr lang="en-US" altLang="zh-CN" sz="2400" dirty="0"/>
              <a:t>+</a:t>
            </a:r>
            <a:r>
              <a:rPr lang="zh-CN" altLang="en-US" sz="2400" dirty="0"/>
              <a:t>终端）</a:t>
            </a:r>
          </a:p>
          <a:p>
            <a:pPr marL="342900" indent="-342900">
              <a:lnSpc>
                <a:spcPct val="150000"/>
              </a:lnSpc>
              <a:buClr>
                <a:srgbClr val="1969C2"/>
              </a:buClr>
              <a:buFont typeface="Wingdings" panose="05000000000000000000" pitchFamily="2" charset="2"/>
              <a:buChar char="n"/>
            </a:pPr>
            <a:r>
              <a:rPr lang="zh-CN" altLang="en-US" sz="2400" dirty="0"/>
              <a:t>复杂实现：需修改</a:t>
            </a:r>
            <a:r>
              <a:rPr lang="en-US" altLang="zh-CN" sz="2400" dirty="0"/>
              <a:t>IP/TCP</a:t>
            </a:r>
            <a:r>
              <a:rPr lang="zh-CN" altLang="en-US" sz="2400" dirty="0"/>
              <a:t>协议栈</a:t>
            </a:r>
          </a:p>
          <a:p>
            <a:pPr marL="342900" indent="-342900">
              <a:lnSpc>
                <a:spcPct val="150000"/>
              </a:lnSpc>
              <a:buClr>
                <a:srgbClr val="1969C2"/>
              </a:buClr>
              <a:buFont typeface="Wingdings" panose="05000000000000000000" pitchFamily="2" charset="2"/>
              <a:buChar char="n"/>
            </a:pPr>
            <a:r>
              <a:rPr lang="zh-CN" altLang="en-US" sz="2400" dirty="0"/>
              <a:t>安全风险：可能被恶意节点忽略或伪造</a:t>
            </a:r>
          </a:p>
        </p:txBody>
      </p:sp>
      <p:grpSp>
        <p:nvGrpSpPr>
          <p:cNvPr id="16" name="组合 15">
            <a:extLst>
              <a:ext uri="{FF2B5EF4-FFF2-40B4-BE49-F238E27FC236}">
                <a16:creationId xmlns:a16="http://schemas.microsoft.com/office/drawing/2014/main" id="{9C078ED1-CC32-1F46-20F4-30142ABEDC28}"/>
              </a:ext>
            </a:extLst>
          </p:cNvPr>
          <p:cNvGrpSpPr/>
          <p:nvPr/>
        </p:nvGrpSpPr>
        <p:grpSpPr>
          <a:xfrm>
            <a:off x="515938" y="1339655"/>
            <a:ext cx="5011559" cy="526734"/>
            <a:chOff x="722008" y="1303131"/>
            <a:chExt cx="4785185" cy="502942"/>
          </a:xfrm>
        </p:grpSpPr>
        <p:grpSp>
          <p:nvGrpSpPr>
            <p:cNvPr id="17" name="组合 16">
              <a:extLst>
                <a:ext uri="{FF2B5EF4-FFF2-40B4-BE49-F238E27FC236}">
                  <a16:creationId xmlns:a16="http://schemas.microsoft.com/office/drawing/2014/main" id="{97829AB8-E029-DCF1-A838-3E25384DFC20}"/>
                </a:ext>
              </a:extLst>
            </p:cNvPr>
            <p:cNvGrpSpPr/>
            <p:nvPr/>
          </p:nvGrpSpPr>
          <p:grpSpPr>
            <a:xfrm>
              <a:off x="722008" y="1303131"/>
              <a:ext cx="546594" cy="475865"/>
              <a:chOff x="708742" y="1296102"/>
              <a:chExt cx="454744" cy="283828"/>
            </a:xfrm>
          </p:grpSpPr>
          <p:sp>
            <p:nvSpPr>
              <p:cNvPr id="20" name="平行四边形 19">
                <a:extLst>
                  <a:ext uri="{FF2B5EF4-FFF2-40B4-BE49-F238E27FC236}">
                    <a16:creationId xmlns:a16="http://schemas.microsoft.com/office/drawing/2014/main" id="{BCFEE3DF-408A-84D5-6020-EDB011C6DFB8}"/>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22" name="平行四边形 21">
                <a:extLst>
                  <a:ext uri="{FF2B5EF4-FFF2-40B4-BE49-F238E27FC236}">
                    <a16:creationId xmlns:a16="http://schemas.microsoft.com/office/drawing/2014/main" id="{EC0C34B8-89D8-8139-0BEE-F93E49859382}"/>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8" name="流程图: 手动输入 6">
              <a:extLst>
                <a:ext uri="{FF2B5EF4-FFF2-40B4-BE49-F238E27FC236}">
                  <a16:creationId xmlns:a16="http://schemas.microsoft.com/office/drawing/2014/main" id="{441EBE8B-2EF3-8E45-2DD7-6A2A78FAEFF5}"/>
                </a:ext>
              </a:extLst>
            </p:cNvPr>
            <p:cNvSpPr/>
            <p:nvPr/>
          </p:nvSpPr>
          <p:spPr>
            <a:xfrm rot="5400000" flipV="1">
              <a:off x="2583227" y="-288088"/>
              <a:ext cx="475861" cy="366511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19" name="Text Box 79">
              <a:extLst>
                <a:ext uri="{FF2B5EF4-FFF2-40B4-BE49-F238E27FC236}">
                  <a16:creationId xmlns:a16="http://schemas.microsoft.com/office/drawing/2014/main" id="{8253DC06-2DCF-C5D9-B99F-FEF88EEC30D3}"/>
                </a:ext>
              </a:extLst>
            </p:cNvPr>
            <p:cNvSpPr txBox="1">
              <a:spLocks noChangeArrowheads="1"/>
            </p:cNvSpPr>
            <p:nvPr/>
          </p:nvSpPr>
          <p:spPr bwMode="auto">
            <a:xfrm>
              <a:off x="1351236" y="1335873"/>
              <a:ext cx="4155957"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显式拥塞通知（</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ECN</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a:t>
              </a:r>
            </a:p>
          </p:txBody>
        </p:sp>
      </p:grpSp>
    </p:spTree>
    <p:extLst>
      <p:ext uri="{BB962C8B-B14F-4D97-AF65-F5344CB8AC3E}">
        <p14:creationId xmlns:p14="http://schemas.microsoft.com/office/powerpoint/2010/main" val="23496077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4DEA6-ABA2-9CA2-B9CF-A78A826E5FB5}"/>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C2340283-B21A-A129-3B04-14ABA7C5B58E}"/>
              </a:ext>
            </a:extLst>
          </p:cNvPr>
          <p:cNvGrpSpPr/>
          <p:nvPr/>
        </p:nvGrpSpPr>
        <p:grpSpPr>
          <a:xfrm>
            <a:off x="824456" y="1780458"/>
            <a:ext cx="1479553" cy="1353390"/>
            <a:chOff x="787397" y="1578243"/>
            <a:chExt cx="1679793" cy="1536555"/>
          </a:xfrm>
        </p:grpSpPr>
        <p:sp>
          <p:nvSpPr>
            <p:cNvPr id="12" name="Oval 6">
              <a:extLst>
                <a:ext uri="{FF2B5EF4-FFF2-40B4-BE49-F238E27FC236}">
                  <a16:creationId xmlns:a16="http://schemas.microsoft.com/office/drawing/2014/main" id="{4F487468-A83B-F8E8-676B-F541368E06E1}"/>
                </a:ext>
              </a:extLst>
            </p:cNvPr>
            <p:cNvSpPr/>
            <p:nvPr/>
          </p:nvSpPr>
          <p:spPr>
            <a:xfrm>
              <a:off x="934434" y="1608992"/>
              <a:ext cx="1532756" cy="1505806"/>
            </a:xfrm>
            <a:prstGeom prst="ellipse">
              <a:avLst/>
            </a:prstGeom>
            <a:solidFill>
              <a:schemeClr val="bg1"/>
            </a:solidFill>
            <a:ln>
              <a:gradFill>
                <a:gsLst>
                  <a:gs pos="0">
                    <a:srgbClr val="2E95D1"/>
                  </a:gs>
                  <a:gs pos="100000">
                    <a:srgbClr val="1F25A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4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Narkisim" panose="020E0502050101010101" pitchFamily="34" charset="-79"/>
              </a:endParaRPr>
            </a:p>
          </p:txBody>
        </p:sp>
        <p:pic>
          <p:nvPicPr>
            <p:cNvPr id="13" name="图片 12">
              <a:extLst>
                <a:ext uri="{FF2B5EF4-FFF2-40B4-BE49-F238E27FC236}">
                  <a16:creationId xmlns:a16="http://schemas.microsoft.com/office/drawing/2014/main" id="{C955ED1B-AB19-3043-AABE-A57A6571E3D3}"/>
                </a:ext>
              </a:extLst>
            </p:cNvPr>
            <p:cNvPicPr>
              <a:picLocks noChangeAspect="1"/>
            </p:cNvPicPr>
            <p:nvPr/>
          </p:nvPicPr>
          <p:blipFill rotWithShape="1">
            <a:blip r:embed="rId2"/>
            <a:srcRect r="16607"/>
            <a:stretch>
              <a:fillRect/>
            </a:stretch>
          </p:blipFill>
          <p:spPr>
            <a:xfrm>
              <a:off x="787397" y="1578243"/>
              <a:ext cx="1602532" cy="1404482"/>
            </a:xfrm>
            <a:prstGeom prst="rect">
              <a:avLst/>
            </a:prstGeom>
            <a:effectLst/>
          </p:spPr>
        </p:pic>
      </p:grpSp>
      <p:grpSp>
        <p:nvGrpSpPr>
          <p:cNvPr id="14" name="组合 13">
            <a:extLst>
              <a:ext uri="{FF2B5EF4-FFF2-40B4-BE49-F238E27FC236}">
                <a16:creationId xmlns:a16="http://schemas.microsoft.com/office/drawing/2014/main" id="{E6E0146E-4489-679B-364B-F60082A6A88C}"/>
              </a:ext>
            </a:extLst>
          </p:cNvPr>
          <p:cNvGrpSpPr/>
          <p:nvPr/>
        </p:nvGrpSpPr>
        <p:grpSpPr>
          <a:xfrm>
            <a:off x="2926995" y="2027927"/>
            <a:ext cx="5480619" cy="2220279"/>
            <a:chOff x="2748306" y="2519622"/>
            <a:chExt cx="5480619" cy="2220279"/>
          </a:xfrm>
        </p:grpSpPr>
        <p:grpSp>
          <p:nvGrpSpPr>
            <p:cNvPr id="15" name="组合 14">
              <a:extLst>
                <a:ext uri="{FF2B5EF4-FFF2-40B4-BE49-F238E27FC236}">
                  <a16:creationId xmlns:a16="http://schemas.microsoft.com/office/drawing/2014/main" id="{FF2A98C0-6733-82BE-4D88-5C755213F645}"/>
                </a:ext>
              </a:extLst>
            </p:cNvPr>
            <p:cNvGrpSpPr/>
            <p:nvPr/>
          </p:nvGrpSpPr>
          <p:grpSpPr>
            <a:xfrm>
              <a:off x="2748306" y="2519622"/>
              <a:ext cx="5480619" cy="1694679"/>
              <a:chOff x="2061229" y="1889716"/>
              <a:chExt cx="4110470" cy="1271009"/>
            </a:xfrm>
          </p:grpSpPr>
          <p:sp>
            <p:nvSpPr>
              <p:cNvPr id="17" name="矩形 16">
                <a:extLst>
                  <a:ext uri="{FF2B5EF4-FFF2-40B4-BE49-F238E27FC236}">
                    <a16:creationId xmlns:a16="http://schemas.microsoft.com/office/drawing/2014/main" id="{CE70DB57-418E-1606-3464-97DC2E9E1478}"/>
                  </a:ext>
                </a:extLst>
              </p:cNvPr>
              <p:cNvSpPr/>
              <p:nvPr/>
            </p:nvSpPr>
            <p:spPr>
              <a:xfrm>
                <a:off x="2067923" y="1889716"/>
                <a:ext cx="3629842" cy="907171"/>
              </a:xfrm>
              <a:prstGeom prst="rect">
                <a:avLst/>
              </a:prstGeom>
            </p:spPr>
            <p:txBody>
              <a:bodyPr wrap="none">
                <a:spAutoFit/>
              </a:bodyPr>
              <a:lstStyle/>
              <a:p>
                <a:pPr algn="ctr">
                  <a:lnSpc>
                    <a:spcPct val="110000"/>
                  </a:lnSpc>
                </a:pPr>
                <a:r>
                  <a:rPr lang="en-US" altLang="zh-CN" sz="6600" dirty="0">
                    <a:solidFill>
                      <a:schemeClr val="tx1">
                        <a:lumMod val="85000"/>
                        <a:lumOff val="15000"/>
                      </a:schemeClr>
                    </a:solidFill>
                    <a:latin typeface="造字工房朗倩（非商用）常规体" pitchFamily="50" charset="-122"/>
                    <a:ea typeface="造字工房朗倩（非商用）常规体" pitchFamily="50" charset="-122"/>
                  </a:rPr>
                  <a:t>TCP</a:t>
                </a:r>
                <a:r>
                  <a:rPr lang="zh-CN" altLang="en-US" sz="6600" dirty="0">
                    <a:solidFill>
                      <a:schemeClr val="tx1">
                        <a:lumMod val="85000"/>
                        <a:lumOff val="15000"/>
                      </a:schemeClr>
                    </a:solidFill>
                    <a:latin typeface="造字工房朗倩（非商用）常规体" pitchFamily="50" charset="-122"/>
                    <a:ea typeface="造字工房朗倩（非商用）常规体" pitchFamily="50" charset="-122"/>
                  </a:rPr>
                  <a:t>拥塞控制</a:t>
                </a:r>
              </a:p>
            </p:txBody>
          </p:sp>
          <p:sp>
            <p:nvSpPr>
              <p:cNvPr id="18" name="矩形 17">
                <a:extLst>
                  <a:ext uri="{FF2B5EF4-FFF2-40B4-BE49-F238E27FC236}">
                    <a16:creationId xmlns:a16="http://schemas.microsoft.com/office/drawing/2014/main" id="{D6FFDE0C-6775-F371-6816-63E03043C4E3}"/>
                  </a:ext>
                </a:extLst>
              </p:cNvPr>
              <p:cNvSpPr/>
              <p:nvPr/>
            </p:nvSpPr>
            <p:spPr>
              <a:xfrm>
                <a:off x="2384212" y="2645573"/>
                <a:ext cx="3787487" cy="438581"/>
              </a:xfrm>
              <a:prstGeom prst="rect">
                <a:avLst/>
              </a:prstGeom>
            </p:spPr>
            <p:txBody>
              <a:bodyPr wrap="square">
                <a:spAutoFit/>
              </a:bodyPr>
              <a:lstStyle/>
              <a:p>
                <a:r>
                  <a:rPr lang="en-US" altLang="zh-CN" sz="4800" spc="300" baseline="-25000" dirty="0">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rPr>
                  <a:t>CP Congestion Control</a:t>
                </a:r>
                <a:endParaRPr lang="zh-CN" altLang="en-US" sz="4800" spc="300" baseline="-25000" dirty="0">
                  <a:gradFill>
                    <a:gsLst>
                      <a:gs pos="100000">
                        <a:srgbClr val="2E95D1"/>
                      </a:gs>
                      <a:gs pos="0">
                        <a:srgbClr val="8296EF"/>
                      </a:gs>
                    </a:gsLst>
                    <a:lin ang="10800000" scaled="0"/>
                  </a:gradFill>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49FA96D9-83CF-E0B4-F099-E070F631A93E}"/>
                  </a:ext>
                </a:extLst>
              </p:cNvPr>
              <p:cNvSpPr/>
              <p:nvPr/>
            </p:nvSpPr>
            <p:spPr>
              <a:xfrm>
                <a:off x="2061229" y="2276241"/>
                <a:ext cx="514805" cy="807913"/>
              </a:xfrm>
              <a:prstGeom prst="rect">
                <a:avLst/>
              </a:prstGeom>
            </p:spPr>
            <p:txBody>
              <a:bodyPr wrap="none">
                <a:spAutoFit/>
              </a:bodyPr>
              <a:lstStyle/>
              <a:p>
                <a:r>
                  <a:rPr lang="en-US" altLang="zh-CN" sz="9600" baseline="-25000" dirty="0">
                    <a:solidFill>
                      <a:srgbClr val="2E95D1"/>
                    </a:solidFill>
                    <a:latin typeface="Times New Roman" panose="02020603050405020304" pitchFamily="18" charset="0"/>
                    <a:cs typeface="Times New Roman" panose="02020603050405020304" pitchFamily="18" charset="0"/>
                  </a:rPr>
                  <a:t>T</a:t>
                </a:r>
                <a:endParaRPr lang="zh-CN" altLang="en-US" sz="9600" baseline="-25000" dirty="0">
                  <a:solidFill>
                    <a:srgbClr val="2E95D1"/>
                  </a:solidFill>
                  <a:latin typeface="Times New Roman" panose="02020603050405020304" pitchFamily="18" charset="0"/>
                  <a:cs typeface="Times New Roman" panose="02020603050405020304" pitchFamily="18" charset="0"/>
                </a:endParaRPr>
              </a:p>
            </p:txBody>
          </p:sp>
          <p:cxnSp>
            <p:nvCxnSpPr>
              <p:cNvPr id="20" name="直接连接符 19">
                <a:extLst>
                  <a:ext uri="{FF2B5EF4-FFF2-40B4-BE49-F238E27FC236}">
                    <a16:creationId xmlns:a16="http://schemas.microsoft.com/office/drawing/2014/main" id="{9799D794-6532-AB06-A4B3-21B81A791AE7}"/>
                  </a:ext>
                </a:extLst>
              </p:cNvPr>
              <p:cNvCxnSpPr>
                <a:cxnSpLocks/>
              </p:cNvCxnSpPr>
              <p:nvPr/>
            </p:nvCxnSpPr>
            <p:spPr>
              <a:xfrm>
                <a:off x="2178108" y="3160725"/>
                <a:ext cx="3429006" cy="0"/>
              </a:xfrm>
              <a:prstGeom prst="line">
                <a:avLst/>
              </a:prstGeom>
              <a:ln w="9525">
                <a:solidFill>
                  <a:srgbClr val="2E3047"/>
                </a:solidFill>
              </a:ln>
              <a:effectLst/>
            </p:spPr>
            <p:style>
              <a:lnRef idx="1">
                <a:schemeClr val="accent1"/>
              </a:lnRef>
              <a:fillRef idx="0">
                <a:schemeClr val="accent1"/>
              </a:fillRef>
              <a:effectRef idx="0">
                <a:schemeClr val="accent1"/>
              </a:effectRef>
              <a:fontRef idx="minor">
                <a:schemeClr val="tx1"/>
              </a:fontRef>
            </p:style>
          </p:cxnSp>
        </p:grpSp>
        <p:sp>
          <p:nvSpPr>
            <p:cNvPr id="16" name="矩形 15">
              <a:extLst>
                <a:ext uri="{FF2B5EF4-FFF2-40B4-BE49-F238E27FC236}">
                  <a16:creationId xmlns:a16="http://schemas.microsoft.com/office/drawing/2014/main" id="{C79E2ADF-05BB-EC8A-5BFC-7C9BB0997FD4}"/>
                </a:ext>
              </a:extLst>
            </p:cNvPr>
            <p:cNvSpPr/>
            <p:nvPr/>
          </p:nvSpPr>
          <p:spPr>
            <a:xfrm>
              <a:off x="6357572" y="4032015"/>
              <a:ext cx="1239442" cy="707886"/>
            </a:xfrm>
            <a:prstGeom prst="rect">
              <a:avLst/>
            </a:prstGeom>
            <a:effectLst/>
          </p:spPr>
          <p:txBody>
            <a:bodyPr wrap="none">
              <a:spAutoFit/>
            </a:bodyPr>
            <a:lstStyle/>
            <a:p>
              <a:pPr algn="ctr"/>
              <a:r>
                <a:rPr kumimoji="1" lang="en-US" altLang="zh-CN" sz="4000" b="1" dirty="0">
                  <a:solidFill>
                    <a:srgbClr val="2E95D1"/>
                  </a:solidFill>
                  <a:latin typeface="造字工房朗倩（非商用）细体" pitchFamily="50" charset="-122"/>
                  <a:ea typeface="造字工房朗倩（非商用）细体" pitchFamily="50" charset="-122"/>
                </a:rPr>
                <a:t>……</a:t>
              </a:r>
            </a:p>
          </p:txBody>
        </p:sp>
      </p:grpSp>
      <p:sp>
        <p:nvSpPr>
          <p:cNvPr id="2" name="灯片编号占位符 1">
            <a:extLst>
              <a:ext uri="{FF2B5EF4-FFF2-40B4-BE49-F238E27FC236}">
                <a16:creationId xmlns:a16="http://schemas.microsoft.com/office/drawing/2014/main" id="{7CCC5686-B7F3-4470-A470-443614536CC6}"/>
              </a:ext>
            </a:extLst>
          </p:cNvPr>
          <p:cNvSpPr>
            <a:spLocks noGrp="1"/>
          </p:cNvSpPr>
          <p:nvPr>
            <p:ph type="sldNum" sz="quarter" idx="12"/>
          </p:nvPr>
        </p:nvSpPr>
        <p:spPr/>
        <p:txBody>
          <a:bodyPr/>
          <a:lstStyle/>
          <a:p>
            <a:fld id="{5956A083-5018-4B52-82A0-83241B8E3D94}" type="slidenum">
              <a:rPr lang="zh-CN" altLang="en-US" smtClean="0"/>
              <a:t>42</a:t>
            </a:fld>
            <a:endParaRPr lang="zh-CN" altLang="en-US"/>
          </a:p>
        </p:txBody>
      </p:sp>
    </p:spTree>
    <p:extLst>
      <p:ext uri="{BB962C8B-B14F-4D97-AF65-F5344CB8AC3E}">
        <p14:creationId xmlns:p14="http://schemas.microsoft.com/office/powerpoint/2010/main" val="3662931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8B750E33-3271-55B9-12CA-F7439BA81197}"/>
              </a:ext>
            </a:extLst>
          </p:cNvPr>
          <p:cNvGrpSpPr/>
          <p:nvPr/>
        </p:nvGrpSpPr>
        <p:grpSpPr>
          <a:xfrm>
            <a:off x="0" y="-191523"/>
            <a:ext cx="8665425" cy="1428589"/>
            <a:chOff x="551030" y="-368704"/>
            <a:chExt cx="8665425" cy="1428589"/>
          </a:xfrm>
        </p:grpSpPr>
        <p:grpSp>
          <p:nvGrpSpPr>
            <p:cNvPr id="21" name="组合 20">
              <a:extLst>
                <a:ext uri="{FF2B5EF4-FFF2-40B4-BE49-F238E27FC236}">
                  <a16:creationId xmlns:a16="http://schemas.microsoft.com/office/drawing/2014/main" id="{930C26ED-AFE1-035E-E227-5158AC1E7422}"/>
                </a:ext>
              </a:extLst>
            </p:cNvPr>
            <p:cNvGrpSpPr/>
            <p:nvPr/>
          </p:nvGrpSpPr>
          <p:grpSpPr>
            <a:xfrm>
              <a:off x="1201632" y="303925"/>
              <a:ext cx="8014823" cy="675443"/>
              <a:chOff x="1839059" y="967769"/>
              <a:chExt cx="8014823" cy="675443"/>
            </a:xfrm>
          </p:grpSpPr>
          <p:sp>
            <p:nvSpPr>
              <p:cNvPr id="23" name="矩形: 圆角 22">
                <a:extLst>
                  <a:ext uri="{FF2B5EF4-FFF2-40B4-BE49-F238E27FC236}">
                    <a16:creationId xmlns:a16="http://schemas.microsoft.com/office/drawing/2014/main" id="{D11247DE-5ACD-6F2C-451B-C03FCFBE0F41}"/>
                  </a:ext>
                </a:extLst>
              </p:cNvPr>
              <p:cNvSpPr/>
              <p:nvPr/>
            </p:nvSpPr>
            <p:spPr>
              <a:xfrm>
                <a:off x="1839059" y="967769"/>
                <a:ext cx="4763879"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24" name="文本框 23">
                <a:extLst>
                  <a:ext uri="{FF2B5EF4-FFF2-40B4-BE49-F238E27FC236}">
                    <a16:creationId xmlns:a16="http://schemas.microsoft.com/office/drawing/2014/main" id="{4E0A546D-D92F-3358-48C0-5B6DA101A7F2}"/>
                  </a:ext>
                </a:extLst>
              </p:cNvPr>
              <p:cNvSpPr txBox="1"/>
              <p:nvPr/>
            </p:nvSpPr>
            <p:spPr>
              <a:xfrm>
                <a:off x="2543967" y="1051849"/>
                <a:ext cx="7309915" cy="584775"/>
              </a:xfrm>
              <a:prstGeom prst="rect">
                <a:avLst/>
              </a:prstGeom>
              <a:noFill/>
            </p:spPr>
            <p:txBody>
              <a:bodyPr wrap="square" rtlCol="0">
                <a:spAutoFit/>
              </a:bodyPr>
              <a:lstStyle/>
              <a:p>
                <a:r>
                  <a:rPr lang="en-US" altLang="zh-CN" sz="32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32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拥塞控制的方法</a:t>
                </a:r>
              </a:p>
            </p:txBody>
          </p:sp>
        </p:grpSp>
        <p:pic>
          <p:nvPicPr>
            <p:cNvPr id="22" name="图片 21">
              <a:extLst>
                <a:ext uri="{FF2B5EF4-FFF2-40B4-BE49-F238E27FC236}">
                  <a16:creationId xmlns:a16="http://schemas.microsoft.com/office/drawing/2014/main" id="{467FEB0D-A2FA-D786-71F5-EE06A07DBA2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36" name="Rectangle 8">
            <a:extLst>
              <a:ext uri="{FF2B5EF4-FFF2-40B4-BE49-F238E27FC236}">
                <a16:creationId xmlns:a16="http://schemas.microsoft.com/office/drawing/2014/main" id="{B42E030C-1B26-BA64-0825-A376C550B09D}"/>
              </a:ext>
            </a:extLst>
          </p:cNvPr>
          <p:cNvSpPr>
            <a:spLocks noChangeArrowheads="1"/>
          </p:cNvSpPr>
          <p:nvPr/>
        </p:nvSpPr>
        <p:spPr bwMode="auto">
          <a:xfrm>
            <a:off x="650602" y="1240629"/>
            <a:ext cx="10589326" cy="3351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ct val="150000"/>
              </a:lnSpc>
              <a:buClr>
                <a:srgbClr val="0070C0"/>
              </a:buClr>
              <a:buFont typeface="Wingdings" pitchFamily="2" charset="2"/>
              <a:buChar char="l"/>
            </a:pPr>
            <a:r>
              <a:rPr lang="en-US" altLang="zh-CN" sz="2400" dirty="0">
                <a:latin typeface="微软雅黑" pitchFamily="34" charset="-122"/>
                <a:ea typeface="微软雅黑" pitchFamily="34" charset="-122"/>
              </a:rPr>
              <a:t>TCP </a:t>
            </a:r>
            <a:r>
              <a:rPr lang="zh-CN" altLang="en-US" sz="2400" dirty="0">
                <a:latin typeface="微软雅黑" pitchFamily="34" charset="-122"/>
                <a:ea typeface="微软雅黑" pitchFamily="34" charset="-122"/>
              </a:rPr>
              <a:t>采用基于</a:t>
            </a:r>
            <a:r>
              <a:rPr lang="zh-CN" altLang="en-US" sz="2400" dirty="0">
                <a:solidFill>
                  <a:srgbClr val="C00000"/>
                </a:solidFill>
                <a:latin typeface="微软雅黑" pitchFamily="34" charset="-122"/>
                <a:ea typeface="微软雅黑" pitchFamily="34" charset="-122"/>
              </a:rPr>
              <a:t>滑动窗口的方法</a:t>
            </a:r>
            <a:r>
              <a:rPr lang="zh-CN" altLang="en-US" sz="2400" dirty="0">
                <a:latin typeface="微软雅黑" pitchFamily="34" charset="-122"/>
                <a:ea typeface="微软雅黑" pitchFamily="34" charset="-122"/>
              </a:rPr>
              <a:t>进行拥塞控制，属于闭环控制方法。</a:t>
            </a:r>
          </a:p>
          <a:p>
            <a:pPr marL="285750" indent="-285750">
              <a:lnSpc>
                <a:spcPct val="150000"/>
              </a:lnSpc>
              <a:buClr>
                <a:srgbClr val="0070C0"/>
              </a:buClr>
              <a:buFont typeface="Wingdings" pitchFamily="2" charset="2"/>
              <a:buChar char="l"/>
            </a:pPr>
            <a:r>
              <a:rPr lang="en-US" altLang="zh-CN" sz="2400" dirty="0">
                <a:latin typeface="微软雅黑" pitchFamily="34" charset="-122"/>
                <a:ea typeface="微软雅黑" pitchFamily="34" charset="-122"/>
              </a:rPr>
              <a:t>TCP </a:t>
            </a:r>
            <a:r>
              <a:rPr lang="zh-CN" altLang="en-US" sz="2400" dirty="0">
                <a:latin typeface="微软雅黑" pitchFamily="34" charset="-122"/>
                <a:ea typeface="微软雅黑" pitchFamily="34" charset="-122"/>
              </a:rPr>
              <a:t>发送方维持一个</a:t>
            </a:r>
            <a:r>
              <a:rPr lang="zh-CN" altLang="en-US" sz="2400" dirty="0">
                <a:solidFill>
                  <a:srgbClr val="C00000"/>
                </a:solidFill>
                <a:latin typeface="微软雅黑" pitchFamily="34" charset="-122"/>
                <a:ea typeface="微软雅黑" pitchFamily="34" charset="-122"/>
              </a:rPr>
              <a:t>拥塞窗口 </a:t>
            </a:r>
            <a:r>
              <a:rPr lang="en-US" altLang="zh-CN" sz="2400" dirty="0" err="1">
                <a:solidFill>
                  <a:srgbClr val="C00000"/>
                </a:solidFill>
                <a:latin typeface="微软雅黑" pitchFamily="34" charset="-122"/>
                <a:ea typeface="微软雅黑" pitchFamily="34" charset="-122"/>
              </a:rPr>
              <a:t>cwnd</a:t>
            </a:r>
            <a:r>
              <a:rPr lang="en-US" altLang="zh-CN" sz="2400" dirty="0">
                <a:solidFill>
                  <a:srgbClr val="C00000"/>
                </a:solidFill>
                <a:latin typeface="微软雅黑" pitchFamily="34" charset="-122"/>
                <a:ea typeface="微软雅黑" pitchFamily="34" charset="-122"/>
              </a:rPr>
              <a:t> </a:t>
            </a:r>
            <a:r>
              <a:rPr lang="en-US" altLang="zh-CN" sz="2400" dirty="0">
                <a:latin typeface="微软雅黑" pitchFamily="34" charset="-122"/>
                <a:ea typeface="微软雅黑" pitchFamily="34" charset="-122"/>
              </a:rPr>
              <a:t>(Congestion Window)</a:t>
            </a:r>
          </a:p>
          <a:p>
            <a:pPr marL="285750" indent="-285750">
              <a:lnSpc>
                <a:spcPct val="150000"/>
              </a:lnSpc>
              <a:buClr>
                <a:srgbClr val="0070C0"/>
              </a:buClr>
              <a:buFont typeface="Wingdings" pitchFamily="2" charset="2"/>
              <a:buChar char="l"/>
            </a:pPr>
            <a:r>
              <a:rPr lang="zh-CN" altLang="en-US" sz="2400" dirty="0">
                <a:solidFill>
                  <a:srgbClr val="0000FF"/>
                </a:solidFill>
                <a:latin typeface="微软雅黑" pitchFamily="34" charset="-122"/>
                <a:ea typeface="微软雅黑" pitchFamily="34" charset="-122"/>
              </a:rPr>
              <a:t>拥塞窗口</a:t>
            </a:r>
            <a:r>
              <a:rPr lang="zh-CN" altLang="en-US" sz="2400" dirty="0">
                <a:latin typeface="微软雅黑" pitchFamily="34" charset="-122"/>
                <a:ea typeface="微软雅黑" pitchFamily="34" charset="-122"/>
              </a:rPr>
              <a:t>的大小取决于网络的拥塞程度，并且是</a:t>
            </a:r>
            <a:r>
              <a:rPr lang="zh-CN" altLang="en-US" sz="2400" dirty="0">
                <a:solidFill>
                  <a:srgbClr val="C00000"/>
                </a:solidFill>
                <a:latin typeface="微软雅黑" pitchFamily="34" charset="-122"/>
                <a:ea typeface="微软雅黑" pitchFamily="34" charset="-122"/>
              </a:rPr>
              <a:t>动态变化</a:t>
            </a:r>
            <a:r>
              <a:rPr lang="zh-CN" altLang="en-US" sz="2400" dirty="0">
                <a:latin typeface="微软雅黑" pitchFamily="34" charset="-122"/>
                <a:ea typeface="微软雅黑" pitchFamily="34" charset="-122"/>
              </a:rPr>
              <a:t>的。</a:t>
            </a:r>
            <a:endParaRPr lang="en-US" altLang="zh-CN" sz="2400" dirty="0">
              <a:latin typeface="微软雅黑" pitchFamily="34" charset="-122"/>
              <a:ea typeface="微软雅黑" pitchFamily="34" charset="-122"/>
            </a:endParaRPr>
          </a:p>
          <a:p>
            <a:pPr marL="285750" indent="-28575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发送端利用</a:t>
            </a:r>
            <a:r>
              <a:rPr lang="zh-CN" altLang="en-US" sz="2400" dirty="0">
                <a:solidFill>
                  <a:srgbClr val="0000FF"/>
                </a:solidFill>
                <a:latin typeface="微软雅黑" pitchFamily="34" charset="-122"/>
                <a:ea typeface="微软雅黑" pitchFamily="34" charset="-122"/>
              </a:rPr>
              <a:t>拥塞窗口</a:t>
            </a:r>
            <a:r>
              <a:rPr lang="zh-CN" altLang="en-US" sz="2400" dirty="0">
                <a:latin typeface="微软雅黑" pitchFamily="34" charset="-122"/>
                <a:ea typeface="微软雅黑" pitchFamily="34" charset="-122"/>
              </a:rPr>
              <a:t>根据网络的拥塞情况调整发送的数据量。</a:t>
            </a:r>
            <a:endParaRPr lang="en-US" altLang="zh-CN" sz="2400" dirty="0">
              <a:latin typeface="微软雅黑" pitchFamily="34" charset="-122"/>
              <a:ea typeface="微软雅黑" pitchFamily="34" charset="-122"/>
            </a:endParaRPr>
          </a:p>
          <a:p>
            <a:pPr marL="285750" indent="-28575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发送窗口大小不仅取决于接收方窗口，还取决于网络的拥塞状况。</a:t>
            </a:r>
            <a:endParaRPr lang="en-US" altLang="zh-CN" sz="2400" dirty="0">
              <a:latin typeface="微软雅黑" pitchFamily="34" charset="-122"/>
              <a:ea typeface="微软雅黑" pitchFamily="34" charset="-122"/>
            </a:endParaRPr>
          </a:p>
          <a:p>
            <a:pPr marL="285750" indent="-285750">
              <a:lnSpc>
                <a:spcPct val="1500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真正的发送窗口值</a:t>
            </a:r>
            <a:r>
              <a:rPr lang="zh-CN" altLang="en-US" sz="2400" dirty="0">
                <a:latin typeface="微软雅黑" pitchFamily="34" charset="-122"/>
                <a:ea typeface="微软雅黑" pitchFamily="34" charset="-122"/>
              </a:rPr>
              <a:t>：</a:t>
            </a:r>
          </a:p>
        </p:txBody>
      </p:sp>
      <p:sp>
        <p:nvSpPr>
          <p:cNvPr id="37" name="矩形 36">
            <a:extLst>
              <a:ext uri="{FF2B5EF4-FFF2-40B4-BE49-F238E27FC236}">
                <a16:creationId xmlns:a16="http://schemas.microsoft.com/office/drawing/2014/main" id="{1041343D-7ACA-F41B-74D1-1C95F1ECDDB4}"/>
              </a:ext>
            </a:extLst>
          </p:cNvPr>
          <p:cNvSpPr/>
          <p:nvPr/>
        </p:nvSpPr>
        <p:spPr>
          <a:xfrm>
            <a:off x="1779733" y="4675755"/>
            <a:ext cx="8331064" cy="713709"/>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400" dirty="0">
                <a:latin typeface="微软雅黑" pitchFamily="34" charset="-122"/>
                <a:ea typeface="微软雅黑" pitchFamily="34" charset="-122"/>
              </a:rPr>
              <a:t>真正的发送窗口值 </a:t>
            </a:r>
            <a:r>
              <a:rPr lang="en-US" altLang="zh-CN" sz="2400" dirty="0">
                <a:latin typeface="微软雅黑" pitchFamily="34" charset="-122"/>
                <a:ea typeface="微软雅黑" pitchFamily="34" charset="-122"/>
              </a:rPr>
              <a:t>= Min (</a:t>
            </a:r>
            <a:r>
              <a:rPr lang="zh-CN" altLang="en-US" sz="2400" dirty="0">
                <a:latin typeface="微软雅黑" pitchFamily="34" charset="-122"/>
                <a:ea typeface="微软雅黑" pitchFamily="34" charset="-122"/>
              </a:rPr>
              <a:t>接收方通知的窗口值，拥塞窗口值</a:t>
            </a:r>
            <a:r>
              <a:rPr lang="en-US" altLang="zh-CN" sz="2400" dirty="0">
                <a:latin typeface="微软雅黑" pitchFamily="34" charset="-122"/>
                <a:ea typeface="微软雅黑" pitchFamily="34" charset="-122"/>
              </a:rPr>
              <a:t>)</a:t>
            </a:r>
          </a:p>
        </p:txBody>
      </p:sp>
      <p:sp>
        <p:nvSpPr>
          <p:cNvPr id="2" name="灯片编号占位符 1">
            <a:extLst>
              <a:ext uri="{FF2B5EF4-FFF2-40B4-BE49-F238E27FC236}">
                <a16:creationId xmlns:a16="http://schemas.microsoft.com/office/drawing/2014/main" id="{BC07EEF4-E640-42E1-B233-881BA2319838}"/>
              </a:ext>
            </a:extLst>
          </p:cNvPr>
          <p:cNvSpPr>
            <a:spLocks noGrp="1"/>
          </p:cNvSpPr>
          <p:nvPr>
            <p:ph type="sldNum" sz="quarter" idx="12"/>
          </p:nvPr>
        </p:nvSpPr>
        <p:spPr/>
        <p:txBody>
          <a:bodyPr/>
          <a:lstStyle/>
          <a:p>
            <a:fld id="{5956A083-5018-4B52-82A0-83241B8E3D94}" type="slidenum">
              <a:rPr lang="zh-CN" altLang="en-US" smtClean="0"/>
              <a:t>43</a:t>
            </a:fld>
            <a:endParaRPr lang="zh-CN" altLang="en-US"/>
          </a:p>
        </p:txBody>
      </p:sp>
    </p:spTree>
    <p:extLst>
      <p:ext uri="{BB962C8B-B14F-4D97-AF65-F5344CB8AC3E}">
        <p14:creationId xmlns:p14="http://schemas.microsoft.com/office/powerpoint/2010/main" val="1135823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68">
            <a:extLst>
              <a:ext uri="{FF2B5EF4-FFF2-40B4-BE49-F238E27FC236}">
                <a16:creationId xmlns:a16="http://schemas.microsoft.com/office/drawing/2014/main" id="{EDF266C2-91D2-4C9C-E69E-DB358DF6F3FD}"/>
              </a:ext>
            </a:extLst>
          </p:cNvPr>
          <p:cNvSpPr>
            <a:spLocks noChangeArrowheads="1"/>
          </p:cNvSpPr>
          <p:nvPr/>
        </p:nvSpPr>
        <p:spPr bwMode="auto">
          <a:xfrm>
            <a:off x="681199" y="2219356"/>
            <a:ext cx="7984226" cy="27970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只要网络没有出现拥塞，拥塞窗口就可以再增大一些，以便把更多的分组发送出去，提高网络的利用率。</a:t>
            </a: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但只要网络出现拥塞或有可能出现拥塞，就必须把拥塞窗口减小一些，以减少注入到网络中的分组数，缓解网络出现的拥塞。</a:t>
            </a:r>
          </a:p>
        </p:txBody>
      </p:sp>
      <p:grpSp>
        <p:nvGrpSpPr>
          <p:cNvPr id="53" name="组合 52">
            <a:extLst>
              <a:ext uri="{FF2B5EF4-FFF2-40B4-BE49-F238E27FC236}">
                <a16:creationId xmlns:a16="http://schemas.microsoft.com/office/drawing/2014/main" id="{CF27DAC5-1BA4-AFFD-A9A4-F9B557CD7A2C}"/>
              </a:ext>
            </a:extLst>
          </p:cNvPr>
          <p:cNvGrpSpPr/>
          <p:nvPr/>
        </p:nvGrpSpPr>
        <p:grpSpPr>
          <a:xfrm>
            <a:off x="0" y="-191523"/>
            <a:ext cx="8665425" cy="1428589"/>
            <a:chOff x="551030" y="-368704"/>
            <a:chExt cx="8665425" cy="1428589"/>
          </a:xfrm>
        </p:grpSpPr>
        <p:grpSp>
          <p:nvGrpSpPr>
            <p:cNvPr id="54" name="组合 53">
              <a:extLst>
                <a:ext uri="{FF2B5EF4-FFF2-40B4-BE49-F238E27FC236}">
                  <a16:creationId xmlns:a16="http://schemas.microsoft.com/office/drawing/2014/main" id="{6E9F8E56-BB8F-D1F8-46BE-AB056DFC1BC6}"/>
                </a:ext>
              </a:extLst>
            </p:cNvPr>
            <p:cNvGrpSpPr/>
            <p:nvPr/>
          </p:nvGrpSpPr>
          <p:grpSpPr>
            <a:xfrm>
              <a:off x="1201632" y="303925"/>
              <a:ext cx="8014823" cy="675443"/>
              <a:chOff x="1839059" y="967769"/>
              <a:chExt cx="8014823" cy="675443"/>
            </a:xfrm>
          </p:grpSpPr>
          <p:sp>
            <p:nvSpPr>
              <p:cNvPr id="56" name="矩形: 圆角 55">
                <a:extLst>
                  <a:ext uri="{FF2B5EF4-FFF2-40B4-BE49-F238E27FC236}">
                    <a16:creationId xmlns:a16="http://schemas.microsoft.com/office/drawing/2014/main" id="{937B3F45-558F-818E-C800-8415FBF76979}"/>
                  </a:ext>
                </a:extLst>
              </p:cNvPr>
              <p:cNvSpPr/>
              <p:nvPr/>
            </p:nvSpPr>
            <p:spPr>
              <a:xfrm>
                <a:off x="1839059" y="967769"/>
                <a:ext cx="4763879"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57" name="文本框 56">
                <a:extLst>
                  <a:ext uri="{FF2B5EF4-FFF2-40B4-BE49-F238E27FC236}">
                    <a16:creationId xmlns:a16="http://schemas.microsoft.com/office/drawing/2014/main" id="{00940F89-DEB4-B8DC-AFEF-3687E63B7885}"/>
                  </a:ext>
                </a:extLst>
              </p:cNvPr>
              <p:cNvSpPr txBox="1"/>
              <p:nvPr/>
            </p:nvSpPr>
            <p:spPr>
              <a:xfrm>
                <a:off x="2543967" y="1051849"/>
                <a:ext cx="7309915" cy="584775"/>
              </a:xfrm>
              <a:prstGeom prst="rect">
                <a:avLst/>
              </a:prstGeom>
              <a:noFill/>
            </p:spPr>
            <p:txBody>
              <a:bodyPr wrap="square" rtlCol="0">
                <a:spAutoFit/>
              </a:bodyPr>
              <a:lstStyle/>
              <a:p>
                <a:r>
                  <a:rPr lang="en-US" altLang="zh-CN" sz="32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32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拥塞控制的方法</a:t>
                </a:r>
              </a:p>
            </p:txBody>
          </p:sp>
        </p:grpSp>
        <p:pic>
          <p:nvPicPr>
            <p:cNvPr id="55" name="图片 54">
              <a:extLst>
                <a:ext uri="{FF2B5EF4-FFF2-40B4-BE49-F238E27FC236}">
                  <a16:creationId xmlns:a16="http://schemas.microsoft.com/office/drawing/2014/main" id="{0177DE65-F9E6-E52A-E3E1-32D344BC56B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58" name="组合 57">
            <a:extLst>
              <a:ext uri="{FF2B5EF4-FFF2-40B4-BE49-F238E27FC236}">
                <a16:creationId xmlns:a16="http://schemas.microsoft.com/office/drawing/2014/main" id="{0036A8CE-55AE-718B-4F9A-D22D41108899}"/>
              </a:ext>
            </a:extLst>
          </p:cNvPr>
          <p:cNvGrpSpPr/>
          <p:nvPr/>
        </p:nvGrpSpPr>
        <p:grpSpPr>
          <a:xfrm>
            <a:off x="515938" y="1339655"/>
            <a:ext cx="5011559" cy="526734"/>
            <a:chOff x="722008" y="1303131"/>
            <a:chExt cx="4785185" cy="502942"/>
          </a:xfrm>
        </p:grpSpPr>
        <p:grpSp>
          <p:nvGrpSpPr>
            <p:cNvPr id="59" name="组合 58">
              <a:extLst>
                <a:ext uri="{FF2B5EF4-FFF2-40B4-BE49-F238E27FC236}">
                  <a16:creationId xmlns:a16="http://schemas.microsoft.com/office/drawing/2014/main" id="{C5D1203D-2495-42BE-B0A6-C06C28CFCE9B}"/>
                </a:ext>
              </a:extLst>
            </p:cNvPr>
            <p:cNvGrpSpPr/>
            <p:nvPr/>
          </p:nvGrpSpPr>
          <p:grpSpPr>
            <a:xfrm>
              <a:off x="722008" y="1303131"/>
              <a:ext cx="546594" cy="475865"/>
              <a:chOff x="708742" y="1296102"/>
              <a:chExt cx="454744" cy="283828"/>
            </a:xfrm>
          </p:grpSpPr>
          <p:sp>
            <p:nvSpPr>
              <p:cNvPr id="62" name="平行四边形 61">
                <a:extLst>
                  <a:ext uri="{FF2B5EF4-FFF2-40B4-BE49-F238E27FC236}">
                    <a16:creationId xmlns:a16="http://schemas.microsoft.com/office/drawing/2014/main" id="{FCA6DED4-C735-3D4F-9511-F6426469553F}"/>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63" name="平行四边形 62">
                <a:extLst>
                  <a:ext uri="{FF2B5EF4-FFF2-40B4-BE49-F238E27FC236}">
                    <a16:creationId xmlns:a16="http://schemas.microsoft.com/office/drawing/2014/main" id="{ABADCDD1-CD77-DCAC-55C6-E1CBF37905A3}"/>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60" name="流程图: 手动输入 6">
              <a:extLst>
                <a:ext uri="{FF2B5EF4-FFF2-40B4-BE49-F238E27FC236}">
                  <a16:creationId xmlns:a16="http://schemas.microsoft.com/office/drawing/2014/main" id="{EFD697A4-6562-F3BA-A2F8-458879C94FD8}"/>
                </a:ext>
              </a:extLst>
            </p:cNvPr>
            <p:cNvSpPr/>
            <p:nvPr/>
          </p:nvSpPr>
          <p:spPr>
            <a:xfrm rot="5400000" flipV="1">
              <a:off x="2583227" y="-288088"/>
              <a:ext cx="475861" cy="366511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61" name="Text Box 79">
              <a:extLst>
                <a:ext uri="{FF2B5EF4-FFF2-40B4-BE49-F238E27FC236}">
                  <a16:creationId xmlns:a16="http://schemas.microsoft.com/office/drawing/2014/main" id="{5635BAB1-ED17-0A03-6204-B37FB0E43D04}"/>
                </a:ext>
              </a:extLst>
            </p:cNvPr>
            <p:cNvSpPr txBox="1">
              <a:spLocks noChangeArrowheads="1"/>
            </p:cNvSpPr>
            <p:nvPr/>
          </p:nvSpPr>
          <p:spPr bwMode="auto">
            <a:xfrm>
              <a:off x="1351236" y="1335873"/>
              <a:ext cx="4155957"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控制拥塞窗口变化的原则</a:t>
              </a:r>
            </a:p>
          </p:txBody>
        </p:sp>
      </p:grpSp>
      <p:sp>
        <p:nvSpPr>
          <p:cNvPr id="2" name="灯片编号占位符 1">
            <a:extLst>
              <a:ext uri="{FF2B5EF4-FFF2-40B4-BE49-F238E27FC236}">
                <a16:creationId xmlns:a16="http://schemas.microsoft.com/office/drawing/2014/main" id="{42D09581-CC77-4011-AB81-144A5FB8DD01}"/>
              </a:ext>
            </a:extLst>
          </p:cNvPr>
          <p:cNvSpPr>
            <a:spLocks noGrp="1"/>
          </p:cNvSpPr>
          <p:nvPr>
            <p:ph type="sldNum" sz="quarter" idx="12"/>
          </p:nvPr>
        </p:nvSpPr>
        <p:spPr/>
        <p:txBody>
          <a:bodyPr/>
          <a:lstStyle/>
          <a:p>
            <a:fld id="{5956A083-5018-4B52-82A0-83241B8E3D94}" type="slidenum">
              <a:rPr lang="zh-CN" altLang="en-US" smtClean="0"/>
              <a:t>44</a:t>
            </a:fld>
            <a:endParaRPr lang="zh-CN" altLang="en-US"/>
          </a:p>
        </p:txBody>
      </p:sp>
    </p:spTree>
    <p:extLst>
      <p:ext uri="{BB962C8B-B14F-4D97-AF65-F5344CB8AC3E}">
        <p14:creationId xmlns:p14="http://schemas.microsoft.com/office/powerpoint/2010/main" val="544063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442FD-2FD2-5DA5-CA8F-5FB81BC5449F}"/>
            </a:ext>
          </a:extLst>
        </p:cNvPr>
        <p:cNvGrpSpPr/>
        <p:nvPr/>
      </p:nvGrpSpPr>
      <p:grpSpPr>
        <a:xfrm>
          <a:off x="0" y="0"/>
          <a:ext cx="0" cy="0"/>
          <a:chOff x="0" y="0"/>
          <a:chExt cx="0" cy="0"/>
        </a:xfrm>
      </p:grpSpPr>
      <p:graphicFrame>
        <p:nvGraphicFramePr>
          <p:cNvPr id="2" name="图示 1">
            <a:extLst>
              <a:ext uri="{FF2B5EF4-FFF2-40B4-BE49-F238E27FC236}">
                <a16:creationId xmlns:a16="http://schemas.microsoft.com/office/drawing/2014/main" id="{FAB0E6BE-3003-6E78-B96D-3CCD525ABDD7}"/>
              </a:ext>
            </a:extLst>
          </p:cNvPr>
          <p:cNvGraphicFramePr/>
          <p:nvPr>
            <p:extLst>
              <p:ext uri="{D42A27DB-BD31-4B8C-83A1-F6EECF244321}">
                <p14:modId xmlns:p14="http://schemas.microsoft.com/office/powerpoint/2010/main" val="1451660136"/>
              </p:ext>
            </p:extLst>
          </p:nvPr>
        </p:nvGraphicFramePr>
        <p:xfrm>
          <a:off x="1044447" y="2281824"/>
          <a:ext cx="9967994" cy="15751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矩形 2">
            <a:extLst>
              <a:ext uri="{FF2B5EF4-FFF2-40B4-BE49-F238E27FC236}">
                <a16:creationId xmlns:a16="http://schemas.microsoft.com/office/drawing/2014/main" id="{94673B73-3656-AC14-1767-5BBF2F785012}"/>
              </a:ext>
            </a:extLst>
          </p:cNvPr>
          <p:cNvSpPr/>
          <p:nvPr/>
        </p:nvSpPr>
        <p:spPr>
          <a:xfrm>
            <a:off x="1355510" y="4150027"/>
            <a:ext cx="9110061" cy="838819"/>
          </a:xfrm>
          <a:prstGeom prst="rect">
            <a:avLst/>
          </a:prstGeom>
        </p:spPr>
        <p:txBody>
          <a:bodyPr wrap="square">
            <a:spAutoFit/>
          </a:bodyPr>
          <a:lstStyle/>
          <a:p>
            <a:pPr>
              <a:lnSpc>
                <a:spcPts val="3000"/>
              </a:lnSpc>
            </a:pPr>
            <a:r>
              <a:rPr lang="zh-CN" altLang="en-US" sz="2400" dirty="0">
                <a:latin typeface="微软雅黑" panose="020B0503020204020204" pitchFamily="34" charset="-122"/>
                <a:ea typeface="微软雅黑" panose="020B0503020204020204" pitchFamily="34" charset="-122"/>
              </a:rPr>
              <a:t>因传输出差错而丢弃分组的</a:t>
            </a:r>
            <a:r>
              <a:rPr lang="zh-CN" altLang="en-US" sz="2400" dirty="0">
                <a:solidFill>
                  <a:srgbClr val="C00000"/>
                </a:solidFill>
                <a:latin typeface="微软雅黑" panose="020B0503020204020204" pitchFamily="34" charset="-122"/>
                <a:ea typeface="微软雅黑" panose="020B0503020204020204" pitchFamily="34" charset="-122"/>
              </a:rPr>
              <a:t>概率很小</a:t>
            </a:r>
            <a:r>
              <a:rPr lang="zh-CN" altLang="en-US" sz="2400" dirty="0">
                <a:latin typeface="微软雅黑" panose="020B0503020204020204" pitchFamily="34" charset="-122"/>
                <a:ea typeface="微软雅黑" panose="020B0503020204020204" pitchFamily="34" charset="-122"/>
              </a:rPr>
              <a:t>（远小于</a:t>
            </a: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ts val="3000"/>
              </a:lnSpc>
            </a:pPr>
            <a:r>
              <a:rPr lang="zh-CN" altLang="en-US" sz="2400" dirty="0">
                <a:latin typeface="微软雅黑" panose="020B0503020204020204" pitchFamily="34" charset="-122"/>
                <a:ea typeface="微软雅黑" panose="020B0503020204020204" pitchFamily="34" charset="-122"/>
              </a:rPr>
              <a:t>因此，发送方在超时重传计时器启动时，</a:t>
            </a:r>
            <a:r>
              <a:rPr lang="zh-CN" altLang="en-US" sz="2400" dirty="0">
                <a:solidFill>
                  <a:srgbClr val="C00000"/>
                </a:solidFill>
                <a:latin typeface="微软雅黑" panose="020B0503020204020204" pitchFamily="34" charset="-122"/>
                <a:ea typeface="微软雅黑" panose="020B0503020204020204" pitchFamily="34" charset="-122"/>
              </a:rPr>
              <a:t>就判断网络出现了拥塞。</a:t>
            </a:r>
          </a:p>
        </p:txBody>
      </p:sp>
      <p:grpSp>
        <p:nvGrpSpPr>
          <p:cNvPr id="9" name="组合 8">
            <a:extLst>
              <a:ext uri="{FF2B5EF4-FFF2-40B4-BE49-F238E27FC236}">
                <a16:creationId xmlns:a16="http://schemas.microsoft.com/office/drawing/2014/main" id="{306AE80C-03DB-C0B1-0F27-2EF78C194AD0}"/>
              </a:ext>
            </a:extLst>
          </p:cNvPr>
          <p:cNvGrpSpPr/>
          <p:nvPr/>
        </p:nvGrpSpPr>
        <p:grpSpPr>
          <a:xfrm>
            <a:off x="0" y="-191523"/>
            <a:ext cx="8665425" cy="1428589"/>
            <a:chOff x="551030" y="-368704"/>
            <a:chExt cx="8665425" cy="1428589"/>
          </a:xfrm>
        </p:grpSpPr>
        <p:grpSp>
          <p:nvGrpSpPr>
            <p:cNvPr id="10" name="组合 9">
              <a:extLst>
                <a:ext uri="{FF2B5EF4-FFF2-40B4-BE49-F238E27FC236}">
                  <a16:creationId xmlns:a16="http://schemas.microsoft.com/office/drawing/2014/main" id="{D77C7314-3F23-0773-7A68-560DFAEB799D}"/>
                </a:ext>
              </a:extLst>
            </p:cNvPr>
            <p:cNvGrpSpPr/>
            <p:nvPr/>
          </p:nvGrpSpPr>
          <p:grpSpPr>
            <a:xfrm>
              <a:off x="1201632" y="303925"/>
              <a:ext cx="8014823" cy="675443"/>
              <a:chOff x="1839059" y="967769"/>
              <a:chExt cx="8014823" cy="675443"/>
            </a:xfrm>
          </p:grpSpPr>
          <p:sp>
            <p:nvSpPr>
              <p:cNvPr id="12" name="矩形: 圆角 11">
                <a:extLst>
                  <a:ext uri="{FF2B5EF4-FFF2-40B4-BE49-F238E27FC236}">
                    <a16:creationId xmlns:a16="http://schemas.microsoft.com/office/drawing/2014/main" id="{86FD8DC9-5723-649B-C196-96B691707D77}"/>
                  </a:ext>
                </a:extLst>
              </p:cNvPr>
              <p:cNvSpPr/>
              <p:nvPr/>
            </p:nvSpPr>
            <p:spPr>
              <a:xfrm>
                <a:off x="1839059" y="967769"/>
                <a:ext cx="4763879"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13" name="文本框 12">
                <a:extLst>
                  <a:ext uri="{FF2B5EF4-FFF2-40B4-BE49-F238E27FC236}">
                    <a16:creationId xmlns:a16="http://schemas.microsoft.com/office/drawing/2014/main" id="{0699080C-C9B1-9A24-2DFD-F2566BDA8273}"/>
                  </a:ext>
                </a:extLst>
              </p:cNvPr>
              <p:cNvSpPr txBox="1"/>
              <p:nvPr/>
            </p:nvSpPr>
            <p:spPr>
              <a:xfrm>
                <a:off x="2543967" y="1051849"/>
                <a:ext cx="7309915" cy="584775"/>
              </a:xfrm>
              <a:prstGeom prst="rect">
                <a:avLst/>
              </a:prstGeom>
              <a:noFill/>
            </p:spPr>
            <p:txBody>
              <a:bodyPr wrap="square" rtlCol="0">
                <a:spAutoFit/>
              </a:bodyPr>
              <a:lstStyle/>
              <a:p>
                <a:r>
                  <a:rPr lang="en-US" altLang="zh-CN" sz="32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32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拥塞控制的方法</a:t>
                </a:r>
              </a:p>
            </p:txBody>
          </p:sp>
        </p:grpSp>
        <p:pic>
          <p:nvPicPr>
            <p:cNvPr id="11" name="图片 10">
              <a:extLst>
                <a:ext uri="{FF2B5EF4-FFF2-40B4-BE49-F238E27FC236}">
                  <a16:creationId xmlns:a16="http://schemas.microsoft.com/office/drawing/2014/main" id="{6075B11E-94FD-8EB6-9CD5-E17F465EA591}"/>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14" name="组合 13">
            <a:extLst>
              <a:ext uri="{FF2B5EF4-FFF2-40B4-BE49-F238E27FC236}">
                <a16:creationId xmlns:a16="http://schemas.microsoft.com/office/drawing/2014/main" id="{F65BCEE3-ED4C-4B64-F220-88B3087EA65F}"/>
              </a:ext>
            </a:extLst>
          </p:cNvPr>
          <p:cNvGrpSpPr/>
          <p:nvPr/>
        </p:nvGrpSpPr>
        <p:grpSpPr>
          <a:xfrm>
            <a:off x="515938" y="1339655"/>
            <a:ext cx="6223909" cy="526734"/>
            <a:chOff x="722008" y="1303131"/>
            <a:chExt cx="5942773" cy="502942"/>
          </a:xfrm>
        </p:grpSpPr>
        <p:grpSp>
          <p:nvGrpSpPr>
            <p:cNvPr id="15" name="组合 14">
              <a:extLst>
                <a:ext uri="{FF2B5EF4-FFF2-40B4-BE49-F238E27FC236}">
                  <a16:creationId xmlns:a16="http://schemas.microsoft.com/office/drawing/2014/main" id="{512DA3D4-CBB1-CC74-66F0-D01CA7EE740D}"/>
                </a:ext>
              </a:extLst>
            </p:cNvPr>
            <p:cNvGrpSpPr/>
            <p:nvPr/>
          </p:nvGrpSpPr>
          <p:grpSpPr>
            <a:xfrm>
              <a:off x="722008" y="1303131"/>
              <a:ext cx="546594" cy="475865"/>
              <a:chOff x="708742" y="1296102"/>
              <a:chExt cx="454744" cy="283828"/>
            </a:xfrm>
          </p:grpSpPr>
          <p:sp>
            <p:nvSpPr>
              <p:cNvPr id="18" name="平行四边形 17">
                <a:extLst>
                  <a:ext uri="{FF2B5EF4-FFF2-40B4-BE49-F238E27FC236}">
                    <a16:creationId xmlns:a16="http://schemas.microsoft.com/office/drawing/2014/main" id="{69C051CE-9320-03D1-D1DE-C3D0D494E2B3}"/>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9" name="平行四边形 18">
                <a:extLst>
                  <a:ext uri="{FF2B5EF4-FFF2-40B4-BE49-F238E27FC236}">
                    <a16:creationId xmlns:a16="http://schemas.microsoft.com/office/drawing/2014/main" id="{4D4A8244-026E-9504-DA02-6A93F771FA47}"/>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6" name="流程图: 手动输入 6">
              <a:extLst>
                <a:ext uri="{FF2B5EF4-FFF2-40B4-BE49-F238E27FC236}">
                  <a16:creationId xmlns:a16="http://schemas.microsoft.com/office/drawing/2014/main" id="{629157A6-6C4B-9FFE-B901-91F8CD9D8DC9}"/>
                </a:ext>
              </a:extLst>
            </p:cNvPr>
            <p:cNvSpPr/>
            <p:nvPr/>
          </p:nvSpPr>
          <p:spPr>
            <a:xfrm rot="5400000" flipV="1">
              <a:off x="2583227" y="-288088"/>
              <a:ext cx="475861" cy="366511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 name="connsiteX0-81" fmla="*/ 50 w 10000"/>
                <a:gd name="connsiteY0-82" fmla="*/ 1008 h 10000"/>
                <a:gd name="connsiteX1-83" fmla="*/ 9911 w 10000"/>
                <a:gd name="connsiteY1-84" fmla="*/ 0 h 10000"/>
                <a:gd name="connsiteX2-85" fmla="*/ 10000 w 10000"/>
                <a:gd name="connsiteY2-86" fmla="*/ 10000 h 10000"/>
                <a:gd name="connsiteX3-87" fmla="*/ 0 w 10000"/>
                <a:gd name="connsiteY3-88" fmla="*/ 10000 h 10000"/>
                <a:gd name="connsiteX4-89" fmla="*/ 50 w 10000"/>
                <a:gd name="connsiteY4-90" fmla="*/ 1008 h 10000"/>
                <a:gd name="connsiteX0-91" fmla="*/ 50 w 10000"/>
                <a:gd name="connsiteY0-92" fmla="*/ 1145 h 10000"/>
                <a:gd name="connsiteX1-93" fmla="*/ 9911 w 10000"/>
                <a:gd name="connsiteY1-94" fmla="*/ 0 h 10000"/>
                <a:gd name="connsiteX2-95" fmla="*/ 10000 w 10000"/>
                <a:gd name="connsiteY2-96" fmla="*/ 10000 h 10000"/>
                <a:gd name="connsiteX3-97" fmla="*/ 0 w 10000"/>
                <a:gd name="connsiteY3-98" fmla="*/ 10000 h 10000"/>
                <a:gd name="connsiteX4-99" fmla="*/ 50 w 10000"/>
                <a:gd name="connsiteY4-100" fmla="*/ 1145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1145"/>
                  </a:moveTo>
                  <a:cubicBezTo>
                    <a:pt x="3337" y="860"/>
                    <a:pt x="6624" y="285"/>
                    <a:pt x="9911" y="0"/>
                  </a:cubicBezTo>
                  <a:cubicBezTo>
                    <a:pt x="9941" y="3334"/>
                    <a:pt x="9970" y="6666"/>
                    <a:pt x="10000" y="10000"/>
                  </a:cubicBezTo>
                  <a:lnTo>
                    <a:pt x="0" y="10000"/>
                  </a:lnTo>
                  <a:cubicBezTo>
                    <a:pt x="35" y="6935"/>
                    <a:pt x="15" y="4210"/>
                    <a:pt x="50" y="1145"/>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704020202020204" pitchFamily="34" charset="0"/>
              </a:endParaRPr>
            </a:p>
          </p:txBody>
        </p:sp>
        <p:sp>
          <p:nvSpPr>
            <p:cNvPr id="17" name="Text Box 79">
              <a:extLst>
                <a:ext uri="{FF2B5EF4-FFF2-40B4-BE49-F238E27FC236}">
                  <a16:creationId xmlns:a16="http://schemas.microsoft.com/office/drawing/2014/main" id="{F52B28C8-D2E0-15C4-33FD-56E1C55D9C71}"/>
                </a:ext>
              </a:extLst>
            </p:cNvPr>
            <p:cNvSpPr txBox="1">
              <a:spLocks noChangeArrowheads="1"/>
            </p:cNvSpPr>
            <p:nvPr/>
          </p:nvSpPr>
          <p:spPr bwMode="auto">
            <a:xfrm>
              <a:off x="1351236" y="1335873"/>
              <a:ext cx="5313545"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704020202020204" pitchFamily="34" charset="0"/>
                  <a:ea typeface="宋体" panose="02010600030101010101" pitchFamily="2" charset="-122"/>
                </a:defRPr>
              </a:lvl1pPr>
              <a:lvl2pPr marL="742950" indent="-285750">
                <a:defRPr>
                  <a:solidFill>
                    <a:schemeClr val="tx1"/>
                  </a:solidFill>
                  <a:latin typeface="Arial" panose="020B0704020202020204" pitchFamily="34" charset="0"/>
                  <a:ea typeface="宋体" panose="02010600030101010101" pitchFamily="2" charset="-122"/>
                </a:defRPr>
              </a:lvl2pPr>
              <a:lvl3pPr marL="1143000" indent="-228600">
                <a:defRPr>
                  <a:solidFill>
                    <a:schemeClr val="tx1"/>
                  </a:solidFill>
                  <a:latin typeface="Arial" panose="020B0704020202020204" pitchFamily="34" charset="0"/>
                  <a:ea typeface="宋体" panose="02010600030101010101" pitchFamily="2" charset="-122"/>
                </a:defRPr>
              </a:lvl3pPr>
              <a:lvl4pPr marL="1600200" indent="-228600">
                <a:defRPr>
                  <a:solidFill>
                    <a:schemeClr val="tx1"/>
                  </a:solidFill>
                  <a:latin typeface="Arial" panose="020B0704020202020204" pitchFamily="34" charset="0"/>
                  <a:ea typeface="宋体" panose="02010600030101010101" pitchFamily="2" charset="-122"/>
                </a:defRPr>
              </a:lvl4pPr>
              <a:lvl5pPr marL="2057400" indent="-228600">
                <a:defRPr>
                  <a:solidFill>
                    <a:schemeClr val="tx1"/>
                  </a:solidFill>
                  <a:latin typeface="Arial" panose="020B07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7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发送方判断拥塞的方法：隐式反馈</a:t>
              </a:r>
            </a:p>
          </p:txBody>
        </p:sp>
      </p:grpSp>
      <p:sp>
        <p:nvSpPr>
          <p:cNvPr id="4" name="灯片编号占位符 3">
            <a:extLst>
              <a:ext uri="{FF2B5EF4-FFF2-40B4-BE49-F238E27FC236}">
                <a16:creationId xmlns:a16="http://schemas.microsoft.com/office/drawing/2014/main" id="{911F6F48-07A0-49CB-B9B4-20A5D465E96F}"/>
              </a:ext>
            </a:extLst>
          </p:cNvPr>
          <p:cNvSpPr>
            <a:spLocks noGrp="1"/>
          </p:cNvSpPr>
          <p:nvPr>
            <p:ph type="sldNum" sz="quarter" idx="12"/>
          </p:nvPr>
        </p:nvSpPr>
        <p:spPr/>
        <p:txBody>
          <a:bodyPr/>
          <a:lstStyle/>
          <a:p>
            <a:fld id="{5956A083-5018-4B52-82A0-83241B8E3D94}" type="slidenum">
              <a:rPr lang="zh-CN" altLang="en-US" smtClean="0"/>
              <a:t>45</a:t>
            </a:fld>
            <a:endParaRPr lang="zh-CN" altLang="en-US"/>
          </a:p>
        </p:txBody>
      </p:sp>
    </p:spTree>
    <p:extLst>
      <p:ext uri="{BB962C8B-B14F-4D97-AF65-F5344CB8AC3E}">
        <p14:creationId xmlns:p14="http://schemas.microsoft.com/office/powerpoint/2010/main" val="3998367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D0A279F-3E94-4F2B-B8BD-EECBD952E022}"/>
              </a:ext>
            </a:extLst>
          </p:cNvPr>
          <p:cNvGrpSpPr/>
          <p:nvPr/>
        </p:nvGrpSpPr>
        <p:grpSpPr>
          <a:xfrm>
            <a:off x="101440" y="-186234"/>
            <a:ext cx="6865937" cy="1428589"/>
            <a:chOff x="551030" y="-368704"/>
            <a:chExt cx="6865937" cy="1428589"/>
          </a:xfrm>
        </p:grpSpPr>
        <p:grpSp>
          <p:nvGrpSpPr>
            <p:cNvPr id="5" name="组合 4">
              <a:extLst>
                <a:ext uri="{FF2B5EF4-FFF2-40B4-BE49-F238E27FC236}">
                  <a16:creationId xmlns:a16="http://schemas.microsoft.com/office/drawing/2014/main" id="{BB0A6E4D-D063-413C-C656-76F7AF0A0B5F}"/>
                </a:ext>
              </a:extLst>
            </p:cNvPr>
            <p:cNvGrpSpPr/>
            <p:nvPr/>
          </p:nvGrpSpPr>
          <p:grpSpPr>
            <a:xfrm>
              <a:off x="1201633" y="303925"/>
              <a:ext cx="6215334" cy="675443"/>
              <a:chOff x="1839060" y="967769"/>
              <a:chExt cx="6215334" cy="675443"/>
            </a:xfrm>
          </p:grpSpPr>
          <p:sp>
            <p:nvSpPr>
              <p:cNvPr id="7" name="矩形: 圆角 6">
                <a:extLst>
                  <a:ext uri="{FF2B5EF4-FFF2-40B4-BE49-F238E27FC236}">
                    <a16:creationId xmlns:a16="http://schemas.microsoft.com/office/drawing/2014/main" id="{7AE4B937-FED4-58E0-3563-CB468DA9397F}"/>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8" name="文本框 7">
                <a:extLst>
                  <a:ext uri="{FF2B5EF4-FFF2-40B4-BE49-F238E27FC236}">
                    <a16:creationId xmlns:a16="http://schemas.microsoft.com/office/drawing/2014/main" id="{19F774E1-C9CB-B5EE-E651-E6A17C0E3C86}"/>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6" name="图片 5">
              <a:extLst>
                <a:ext uri="{FF2B5EF4-FFF2-40B4-BE49-F238E27FC236}">
                  <a16:creationId xmlns:a16="http://schemas.microsoft.com/office/drawing/2014/main" id="{262B1D21-051B-DF5B-5D8E-05580DE333D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46" name="Rectangle 68">
            <a:extLst>
              <a:ext uri="{FF2B5EF4-FFF2-40B4-BE49-F238E27FC236}">
                <a16:creationId xmlns:a16="http://schemas.microsoft.com/office/drawing/2014/main" id="{AD0CD4FD-8BE3-8434-74A3-6FC23C6CA767}"/>
              </a:ext>
            </a:extLst>
          </p:cNvPr>
          <p:cNvSpPr>
            <a:spLocks noChangeArrowheads="1"/>
          </p:cNvSpPr>
          <p:nvPr/>
        </p:nvSpPr>
        <p:spPr bwMode="auto">
          <a:xfrm>
            <a:off x="905021" y="1606723"/>
            <a:ext cx="8048776" cy="27970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四个基本过程：</a:t>
            </a:r>
          </a:p>
          <a:p>
            <a:pPr marL="633413" indent="-342900">
              <a:lnSpc>
                <a:spcPct val="150000"/>
              </a:lnSpc>
              <a:buClr>
                <a:srgbClr val="7030A0"/>
              </a:buClr>
              <a:buFont typeface="Wingdings" panose="05000000000000000000" pitchFamily="2" charset="2"/>
              <a:buChar char="l"/>
            </a:pPr>
            <a:r>
              <a:rPr lang="zh-CN" altLang="en-US" sz="2400" dirty="0">
                <a:latin typeface="微软雅黑" pitchFamily="34" charset="-122"/>
                <a:ea typeface="微软雅黑" pitchFamily="34" charset="-122"/>
              </a:rPr>
              <a:t>慢启动 </a:t>
            </a:r>
            <a:r>
              <a:rPr lang="en-US" altLang="zh-CN" sz="2400" dirty="0">
                <a:latin typeface="微软雅黑" pitchFamily="34" charset="-122"/>
                <a:ea typeface="微软雅黑" pitchFamily="34" charset="-122"/>
              </a:rPr>
              <a:t>(slow-start)</a:t>
            </a:r>
          </a:p>
          <a:p>
            <a:pPr marL="633413" indent="-342900">
              <a:lnSpc>
                <a:spcPct val="150000"/>
              </a:lnSpc>
              <a:buClr>
                <a:srgbClr val="7030A0"/>
              </a:buClr>
              <a:buFont typeface="Wingdings" panose="05000000000000000000" pitchFamily="2" charset="2"/>
              <a:buChar char="l"/>
            </a:pPr>
            <a:r>
              <a:rPr lang="zh-CN" altLang="en-US" sz="2400" dirty="0">
                <a:latin typeface="微软雅黑" pitchFamily="34" charset="-122"/>
                <a:ea typeface="微软雅黑" pitchFamily="34" charset="-122"/>
              </a:rPr>
              <a:t>拥塞避免 </a:t>
            </a:r>
            <a:r>
              <a:rPr lang="en-US" altLang="zh-CN" sz="2400" dirty="0">
                <a:latin typeface="微软雅黑" pitchFamily="34" charset="-122"/>
                <a:ea typeface="微软雅黑" pitchFamily="34" charset="-122"/>
              </a:rPr>
              <a:t>(congestion avoidance)</a:t>
            </a:r>
          </a:p>
          <a:p>
            <a:pPr marL="633413" indent="-342900">
              <a:lnSpc>
                <a:spcPct val="150000"/>
              </a:lnSpc>
              <a:buClr>
                <a:srgbClr val="7030A0"/>
              </a:buClr>
              <a:buFont typeface="Wingdings" panose="05000000000000000000" pitchFamily="2" charset="2"/>
              <a:buChar char="l"/>
            </a:pPr>
            <a:r>
              <a:rPr lang="zh-CN" altLang="en-US" sz="2400" dirty="0">
                <a:latin typeface="微软雅黑" pitchFamily="34" charset="-122"/>
                <a:ea typeface="微软雅黑" pitchFamily="34" charset="-122"/>
              </a:rPr>
              <a:t>快速重传 </a:t>
            </a:r>
            <a:r>
              <a:rPr lang="en-US" altLang="zh-CN" sz="2400" dirty="0">
                <a:latin typeface="微软雅黑" pitchFamily="34" charset="-122"/>
                <a:ea typeface="微软雅黑" pitchFamily="34" charset="-122"/>
              </a:rPr>
              <a:t>(fast retransmit)</a:t>
            </a:r>
          </a:p>
          <a:p>
            <a:pPr marL="633413" indent="-342900">
              <a:lnSpc>
                <a:spcPct val="150000"/>
              </a:lnSpc>
              <a:buClr>
                <a:srgbClr val="7030A0"/>
              </a:buClr>
              <a:buFont typeface="Wingdings" panose="05000000000000000000" pitchFamily="2" charset="2"/>
              <a:buChar char="l"/>
            </a:pPr>
            <a:r>
              <a:rPr lang="zh-CN" altLang="en-US" sz="2400" dirty="0">
                <a:latin typeface="微软雅黑" pitchFamily="34" charset="-122"/>
                <a:ea typeface="微软雅黑" pitchFamily="34" charset="-122"/>
              </a:rPr>
              <a:t>快速恢复 </a:t>
            </a:r>
            <a:r>
              <a:rPr lang="en-US" altLang="zh-CN" sz="2400" dirty="0">
                <a:latin typeface="微软雅黑" pitchFamily="34" charset="-122"/>
                <a:ea typeface="微软雅黑" pitchFamily="34" charset="-122"/>
              </a:rPr>
              <a:t>(fast recovery)</a:t>
            </a:r>
          </a:p>
        </p:txBody>
      </p:sp>
      <p:sp>
        <p:nvSpPr>
          <p:cNvPr id="2" name="灯片编号占位符 1">
            <a:extLst>
              <a:ext uri="{FF2B5EF4-FFF2-40B4-BE49-F238E27FC236}">
                <a16:creationId xmlns:a16="http://schemas.microsoft.com/office/drawing/2014/main" id="{23595F5D-85DE-41AD-B960-E35F2D9D3D8A}"/>
              </a:ext>
            </a:extLst>
          </p:cNvPr>
          <p:cNvSpPr>
            <a:spLocks noGrp="1"/>
          </p:cNvSpPr>
          <p:nvPr>
            <p:ph type="sldNum" sz="quarter" idx="12"/>
          </p:nvPr>
        </p:nvSpPr>
        <p:spPr/>
        <p:txBody>
          <a:bodyPr/>
          <a:lstStyle/>
          <a:p>
            <a:fld id="{5956A083-5018-4B52-82A0-83241B8E3D94}" type="slidenum">
              <a:rPr lang="zh-CN" altLang="en-US" smtClean="0"/>
              <a:t>46</a:t>
            </a:fld>
            <a:endParaRPr lang="zh-CN" altLang="en-US"/>
          </a:p>
        </p:txBody>
      </p:sp>
    </p:spTree>
    <p:extLst>
      <p:ext uri="{BB962C8B-B14F-4D97-AF65-F5344CB8AC3E}">
        <p14:creationId xmlns:p14="http://schemas.microsoft.com/office/powerpoint/2010/main" val="36259947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C1DE9258-CC3C-2279-7085-D48A817A3647}"/>
              </a:ext>
            </a:extLst>
          </p:cNvPr>
          <p:cNvGrpSpPr/>
          <p:nvPr/>
        </p:nvGrpSpPr>
        <p:grpSpPr>
          <a:xfrm>
            <a:off x="505664" y="1426139"/>
            <a:ext cx="2189166" cy="525530"/>
            <a:chOff x="722008" y="1303131"/>
            <a:chExt cx="2090280" cy="501792"/>
          </a:xfrm>
        </p:grpSpPr>
        <p:sp>
          <p:nvSpPr>
            <p:cNvPr id="10" name="流程图: 手动输入 6">
              <a:extLst>
                <a:ext uri="{FF2B5EF4-FFF2-40B4-BE49-F238E27FC236}">
                  <a16:creationId xmlns:a16="http://schemas.microsoft.com/office/drawing/2014/main" id="{F624C085-B68A-C682-C8B4-0ED590999DB9}"/>
                </a:ext>
              </a:extLst>
            </p:cNvPr>
            <p:cNvSpPr/>
            <p:nvPr/>
          </p:nvSpPr>
          <p:spPr>
            <a:xfrm rot="5400000" flipV="1">
              <a:off x="1662513" y="632624"/>
              <a:ext cx="475861" cy="182368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1" name="组合 10">
              <a:extLst>
                <a:ext uri="{FF2B5EF4-FFF2-40B4-BE49-F238E27FC236}">
                  <a16:creationId xmlns:a16="http://schemas.microsoft.com/office/drawing/2014/main" id="{02481B68-C982-C8E1-FB1B-9A175EB5E0D2}"/>
                </a:ext>
              </a:extLst>
            </p:cNvPr>
            <p:cNvGrpSpPr/>
            <p:nvPr/>
          </p:nvGrpSpPr>
          <p:grpSpPr>
            <a:xfrm>
              <a:off x="722008" y="1303131"/>
              <a:ext cx="546594" cy="475865"/>
              <a:chOff x="708742" y="1296102"/>
              <a:chExt cx="454744" cy="283828"/>
            </a:xfrm>
          </p:grpSpPr>
          <p:sp>
            <p:nvSpPr>
              <p:cNvPr id="13" name="平行四边形 12">
                <a:extLst>
                  <a:ext uri="{FF2B5EF4-FFF2-40B4-BE49-F238E27FC236}">
                    <a16:creationId xmlns:a16="http://schemas.microsoft.com/office/drawing/2014/main" id="{87ECCF2C-8D0C-9F82-73EE-87150D479618}"/>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4" name="平行四边形 13">
                <a:extLst>
                  <a:ext uri="{FF2B5EF4-FFF2-40B4-BE49-F238E27FC236}">
                    <a16:creationId xmlns:a16="http://schemas.microsoft.com/office/drawing/2014/main" id="{FFE17B8C-C165-0ED6-DA41-558B8212151F}"/>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2" name="Text Box 79">
              <a:extLst>
                <a:ext uri="{FF2B5EF4-FFF2-40B4-BE49-F238E27FC236}">
                  <a16:creationId xmlns:a16="http://schemas.microsoft.com/office/drawing/2014/main" id="{35F0DFA8-150A-F125-3451-49CB3EC26932}"/>
                </a:ext>
              </a:extLst>
            </p:cNvPr>
            <p:cNvSpPr txBox="1">
              <a:spLocks noChangeArrowheads="1"/>
            </p:cNvSpPr>
            <p:nvPr/>
          </p:nvSpPr>
          <p:spPr bwMode="auto">
            <a:xfrm>
              <a:off x="1268603" y="1334724"/>
              <a:ext cx="132540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a:t>
              </a:r>
            </a:p>
          </p:txBody>
        </p:sp>
      </p:grpSp>
      <p:grpSp>
        <p:nvGrpSpPr>
          <p:cNvPr id="34" name="组合 33">
            <a:extLst>
              <a:ext uri="{FF2B5EF4-FFF2-40B4-BE49-F238E27FC236}">
                <a16:creationId xmlns:a16="http://schemas.microsoft.com/office/drawing/2014/main" id="{635404D0-8EFB-2CA8-79A6-3F90C53AB37A}"/>
              </a:ext>
            </a:extLst>
          </p:cNvPr>
          <p:cNvGrpSpPr/>
          <p:nvPr/>
        </p:nvGrpSpPr>
        <p:grpSpPr>
          <a:xfrm>
            <a:off x="101440" y="-186234"/>
            <a:ext cx="6865937" cy="1428589"/>
            <a:chOff x="551030" y="-368704"/>
            <a:chExt cx="6865937" cy="1428589"/>
          </a:xfrm>
        </p:grpSpPr>
        <p:grpSp>
          <p:nvGrpSpPr>
            <p:cNvPr id="35" name="组合 34">
              <a:extLst>
                <a:ext uri="{FF2B5EF4-FFF2-40B4-BE49-F238E27FC236}">
                  <a16:creationId xmlns:a16="http://schemas.microsoft.com/office/drawing/2014/main" id="{0A3E0E90-081C-A261-E431-DD959068304D}"/>
                </a:ext>
              </a:extLst>
            </p:cNvPr>
            <p:cNvGrpSpPr/>
            <p:nvPr/>
          </p:nvGrpSpPr>
          <p:grpSpPr>
            <a:xfrm>
              <a:off x="1201633" y="303925"/>
              <a:ext cx="6215334" cy="675443"/>
              <a:chOff x="1839060" y="967769"/>
              <a:chExt cx="6215334" cy="675443"/>
            </a:xfrm>
          </p:grpSpPr>
          <p:sp>
            <p:nvSpPr>
              <p:cNvPr id="37" name="矩形: 圆角 36">
                <a:extLst>
                  <a:ext uri="{FF2B5EF4-FFF2-40B4-BE49-F238E27FC236}">
                    <a16:creationId xmlns:a16="http://schemas.microsoft.com/office/drawing/2014/main" id="{BFFA7B78-E755-EF98-A05C-29DB6E0C72F7}"/>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38" name="文本框 37">
                <a:extLst>
                  <a:ext uri="{FF2B5EF4-FFF2-40B4-BE49-F238E27FC236}">
                    <a16:creationId xmlns:a16="http://schemas.microsoft.com/office/drawing/2014/main" id="{0D4DAA01-D715-A45B-3395-AF988A72E1F1}"/>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36" name="图片 35">
              <a:extLst>
                <a:ext uri="{FF2B5EF4-FFF2-40B4-BE49-F238E27FC236}">
                  <a16:creationId xmlns:a16="http://schemas.microsoft.com/office/drawing/2014/main" id="{BBA3D4C3-B1FF-60FB-B56E-A8AB3D577DD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39" name="Rectangle 68">
            <a:extLst>
              <a:ext uri="{FF2B5EF4-FFF2-40B4-BE49-F238E27FC236}">
                <a16:creationId xmlns:a16="http://schemas.microsoft.com/office/drawing/2014/main" id="{4325DE0E-FD83-E7C5-1F18-F00EAB918E33}"/>
              </a:ext>
            </a:extLst>
          </p:cNvPr>
          <p:cNvSpPr>
            <a:spLocks noChangeArrowheads="1"/>
          </p:cNvSpPr>
          <p:nvPr/>
        </p:nvSpPr>
        <p:spPr bwMode="auto">
          <a:xfrm>
            <a:off x="784866" y="1894015"/>
            <a:ext cx="8184960" cy="224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目的：</a:t>
            </a:r>
            <a:r>
              <a:rPr lang="zh-CN" altLang="en-US" sz="2400" dirty="0">
                <a:latin typeface="微软雅黑" pitchFamily="34" charset="-122"/>
                <a:ea typeface="微软雅黑" pitchFamily="34" charset="-122"/>
              </a:rPr>
              <a:t>探测网络的负载能力或拥塞程度。</a:t>
            </a:r>
          </a:p>
          <a:p>
            <a:pPr marL="342900" indent="-342900">
              <a:lnSpc>
                <a:spcPct val="1500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算法：</a:t>
            </a:r>
            <a:r>
              <a:rPr lang="zh-CN" altLang="en-US" sz="2400" dirty="0">
                <a:latin typeface="微软雅黑" pitchFamily="34" charset="-122"/>
                <a:ea typeface="微软雅黑" pitchFamily="34" charset="-122"/>
              </a:rPr>
              <a:t>由小到大逐渐增大注入到网络中的数据字节，即：由小到大逐渐</a:t>
            </a:r>
            <a:r>
              <a:rPr lang="zh-CN" altLang="en-US" sz="2400" dirty="0">
                <a:solidFill>
                  <a:srgbClr val="0000FF"/>
                </a:solidFill>
                <a:latin typeface="微软雅黑" pitchFamily="34" charset="-122"/>
                <a:ea typeface="微软雅黑" pitchFamily="34" charset="-122"/>
              </a:rPr>
              <a:t>增大拥塞窗口</a:t>
            </a:r>
            <a:r>
              <a:rPr lang="zh-CN" altLang="en-US" sz="2400" dirty="0">
                <a:latin typeface="微软雅黑" pitchFamily="34" charset="-122"/>
                <a:ea typeface="微软雅黑" pitchFamily="34" charset="-122"/>
              </a:rPr>
              <a:t>数值。</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en-US" altLang="zh-CN" sz="2400" dirty="0">
                <a:solidFill>
                  <a:srgbClr val="C00000"/>
                </a:solidFill>
                <a:latin typeface="微软雅黑" pitchFamily="34" charset="-122"/>
                <a:ea typeface="微软雅黑" pitchFamily="34" charset="-122"/>
              </a:rPr>
              <a:t>2 </a:t>
            </a:r>
            <a:r>
              <a:rPr lang="zh-CN" altLang="en-US" sz="2400" dirty="0">
                <a:solidFill>
                  <a:srgbClr val="C00000"/>
                </a:solidFill>
                <a:latin typeface="微软雅黑" pitchFamily="34" charset="-122"/>
                <a:ea typeface="微软雅黑" pitchFamily="34" charset="-122"/>
              </a:rPr>
              <a:t>个控制变量：</a:t>
            </a:r>
            <a:endParaRPr lang="zh-CN" altLang="en-US" sz="2400" dirty="0">
              <a:solidFill>
                <a:srgbClr val="0000FF"/>
              </a:solidFill>
              <a:latin typeface="微软雅黑" pitchFamily="34" charset="-122"/>
              <a:ea typeface="微软雅黑" pitchFamily="34" charset="-122"/>
            </a:endParaRPr>
          </a:p>
        </p:txBody>
      </p:sp>
      <p:graphicFrame>
        <p:nvGraphicFramePr>
          <p:cNvPr id="40" name="图示 39">
            <a:extLst>
              <a:ext uri="{FF2B5EF4-FFF2-40B4-BE49-F238E27FC236}">
                <a16:creationId xmlns:a16="http://schemas.microsoft.com/office/drawing/2014/main" id="{D73DA56B-0C82-1B80-455B-167C0A629C38}"/>
              </a:ext>
            </a:extLst>
          </p:cNvPr>
          <p:cNvGraphicFramePr/>
          <p:nvPr>
            <p:extLst>
              <p:ext uri="{D42A27DB-BD31-4B8C-83A1-F6EECF244321}">
                <p14:modId xmlns:p14="http://schemas.microsoft.com/office/powerpoint/2010/main" val="508235576"/>
              </p:ext>
            </p:extLst>
          </p:nvPr>
        </p:nvGraphicFramePr>
        <p:xfrm>
          <a:off x="3592582" y="3757263"/>
          <a:ext cx="4842501" cy="23567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灯片编号占位符 1">
            <a:extLst>
              <a:ext uri="{FF2B5EF4-FFF2-40B4-BE49-F238E27FC236}">
                <a16:creationId xmlns:a16="http://schemas.microsoft.com/office/drawing/2014/main" id="{4F742A23-8EA9-443D-AA84-5AE21D63CBAB}"/>
              </a:ext>
            </a:extLst>
          </p:cNvPr>
          <p:cNvSpPr>
            <a:spLocks noGrp="1"/>
          </p:cNvSpPr>
          <p:nvPr>
            <p:ph type="sldNum" sz="quarter" idx="12"/>
          </p:nvPr>
        </p:nvSpPr>
        <p:spPr/>
        <p:txBody>
          <a:bodyPr/>
          <a:lstStyle/>
          <a:p>
            <a:fld id="{5956A083-5018-4B52-82A0-83241B8E3D94}" type="slidenum">
              <a:rPr lang="zh-CN" altLang="en-US" smtClean="0"/>
              <a:t>47</a:t>
            </a:fld>
            <a:endParaRPr lang="zh-CN" altLang="en-US"/>
          </a:p>
        </p:txBody>
      </p:sp>
    </p:spTree>
    <p:extLst>
      <p:ext uri="{BB962C8B-B14F-4D97-AF65-F5344CB8AC3E}">
        <p14:creationId xmlns:p14="http://schemas.microsoft.com/office/powerpoint/2010/main" val="1372843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a:extLst>
              <a:ext uri="{FF2B5EF4-FFF2-40B4-BE49-F238E27FC236}">
                <a16:creationId xmlns:a16="http://schemas.microsoft.com/office/drawing/2014/main" id="{FDDE7017-9C8A-2115-750A-568EBBEFB977}"/>
              </a:ext>
            </a:extLst>
          </p:cNvPr>
          <p:cNvGrpSpPr/>
          <p:nvPr/>
        </p:nvGrpSpPr>
        <p:grpSpPr>
          <a:xfrm>
            <a:off x="101440" y="-186234"/>
            <a:ext cx="6865937" cy="1428589"/>
            <a:chOff x="551030" y="-368704"/>
            <a:chExt cx="6865937" cy="1428589"/>
          </a:xfrm>
        </p:grpSpPr>
        <p:grpSp>
          <p:nvGrpSpPr>
            <p:cNvPr id="47" name="组合 46">
              <a:extLst>
                <a:ext uri="{FF2B5EF4-FFF2-40B4-BE49-F238E27FC236}">
                  <a16:creationId xmlns:a16="http://schemas.microsoft.com/office/drawing/2014/main" id="{E21FD1A3-2DDB-5AB8-6450-B50798137745}"/>
                </a:ext>
              </a:extLst>
            </p:cNvPr>
            <p:cNvGrpSpPr/>
            <p:nvPr/>
          </p:nvGrpSpPr>
          <p:grpSpPr>
            <a:xfrm>
              <a:off x="1201633" y="303925"/>
              <a:ext cx="6215334" cy="675443"/>
              <a:chOff x="1839060" y="967769"/>
              <a:chExt cx="6215334" cy="675443"/>
            </a:xfrm>
          </p:grpSpPr>
          <p:sp>
            <p:nvSpPr>
              <p:cNvPr id="49" name="矩形: 圆角 48">
                <a:extLst>
                  <a:ext uri="{FF2B5EF4-FFF2-40B4-BE49-F238E27FC236}">
                    <a16:creationId xmlns:a16="http://schemas.microsoft.com/office/drawing/2014/main" id="{68C0FCF5-991C-8E4C-843F-6D14D9A19C37}"/>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50" name="文本框 49">
                <a:extLst>
                  <a:ext uri="{FF2B5EF4-FFF2-40B4-BE49-F238E27FC236}">
                    <a16:creationId xmlns:a16="http://schemas.microsoft.com/office/drawing/2014/main" id="{0EC9BF6A-7D0C-BE73-2B37-2B09A0A96C8A}"/>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8" name="图片 47">
              <a:extLst>
                <a:ext uri="{FF2B5EF4-FFF2-40B4-BE49-F238E27FC236}">
                  <a16:creationId xmlns:a16="http://schemas.microsoft.com/office/drawing/2014/main" id="{9853E93D-2330-6AA6-A717-2FD1F61DFF4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51" name="组合 50">
            <a:extLst>
              <a:ext uri="{FF2B5EF4-FFF2-40B4-BE49-F238E27FC236}">
                <a16:creationId xmlns:a16="http://schemas.microsoft.com/office/drawing/2014/main" id="{A7DBE5A0-C1EF-6D1C-4EC7-A99303DFB9B5}"/>
              </a:ext>
            </a:extLst>
          </p:cNvPr>
          <p:cNvGrpSpPr/>
          <p:nvPr/>
        </p:nvGrpSpPr>
        <p:grpSpPr>
          <a:xfrm>
            <a:off x="505664" y="1426139"/>
            <a:ext cx="2189166" cy="525530"/>
            <a:chOff x="722008" y="1303131"/>
            <a:chExt cx="2090280" cy="501792"/>
          </a:xfrm>
        </p:grpSpPr>
        <p:sp>
          <p:nvSpPr>
            <p:cNvPr id="52" name="流程图: 手动输入 6">
              <a:extLst>
                <a:ext uri="{FF2B5EF4-FFF2-40B4-BE49-F238E27FC236}">
                  <a16:creationId xmlns:a16="http://schemas.microsoft.com/office/drawing/2014/main" id="{6AFF252D-A3F3-A326-3158-54CF3B0B269C}"/>
                </a:ext>
              </a:extLst>
            </p:cNvPr>
            <p:cNvSpPr/>
            <p:nvPr/>
          </p:nvSpPr>
          <p:spPr>
            <a:xfrm rot="5400000" flipV="1">
              <a:off x="1662513" y="632624"/>
              <a:ext cx="475861" cy="182368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3" name="组合 52">
              <a:extLst>
                <a:ext uri="{FF2B5EF4-FFF2-40B4-BE49-F238E27FC236}">
                  <a16:creationId xmlns:a16="http://schemas.microsoft.com/office/drawing/2014/main" id="{7CF782FD-62A5-B592-D876-E1AEF5ABF63C}"/>
                </a:ext>
              </a:extLst>
            </p:cNvPr>
            <p:cNvGrpSpPr/>
            <p:nvPr/>
          </p:nvGrpSpPr>
          <p:grpSpPr>
            <a:xfrm>
              <a:off x="722008" y="1303131"/>
              <a:ext cx="546594" cy="475865"/>
              <a:chOff x="708742" y="1296102"/>
              <a:chExt cx="454744" cy="283828"/>
            </a:xfrm>
          </p:grpSpPr>
          <p:sp>
            <p:nvSpPr>
              <p:cNvPr id="55" name="平行四边形 54">
                <a:extLst>
                  <a:ext uri="{FF2B5EF4-FFF2-40B4-BE49-F238E27FC236}">
                    <a16:creationId xmlns:a16="http://schemas.microsoft.com/office/drawing/2014/main" id="{186F678E-4DA5-868E-4F3A-8C026963D28B}"/>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6" name="平行四边形 55">
                <a:extLst>
                  <a:ext uri="{FF2B5EF4-FFF2-40B4-BE49-F238E27FC236}">
                    <a16:creationId xmlns:a16="http://schemas.microsoft.com/office/drawing/2014/main" id="{E8D2A3C7-72C6-3372-07CD-EFB32AF3BDBB}"/>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4" name="Text Box 79">
              <a:extLst>
                <a:ext uri="{FF2B5EF4-FFF2-40B4-BE49-F238E27FC236}">
                  <a16:creationId xmlns:a16="http://schemas.microsoft.com/office/drawing/2014/main" id="{EDA3793C-8330-C10F-C6DE-50EA77A62C33}"/>
                </a:ext>
              </a:extLst>
            </p:cNvPr>
            <p:cNvSpPr txBox="1">
              <a:spLocks noChangeArrowheads="1"/>
            </p:cNvSpPr>
            <p:nvPr/>
          </p:nvSpPr>
          <p:spPr bwMode="auto">
            <a:xfrm>
              <a:off x="1268603" y="1334724"/>
              <a:ext cx="132540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a:t>
              </a:r>
            </a:p>
          </p:txBody>
        </p:sp>
      </p:grpSp>
      <p:sp>
        <p:nvSpPr>
          <p:cNvPr id="57" name="Rectangle 68">
            <a:extLst>
              <a:ext uri="{FF2B5EF4-FFF2-40B4-BE49-F238E27FC236}">
                <a16:creationId xmlns:a16="http://schemas.microsoft.com/office/drawing/2014/main" id="{DC312A00-1FD6-9727-C97D-B6DC7007DC5E}"/>
              </a:ext>
            </a:extLst>
          </p:cNvPr>
          <p:cNvSpPr>
            <a:spLocks noChangeArrowheads="1"/>
          </p:cNvSpPr>
          <p:nvPr/>
        </p:nvSpPr>
        <p:spPr bwMode="auto">
          <a:xfrm>
            <a:off x="865187" y="2157099"/>
            <a:ext cx="7929492" cy="37203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zh-CN" altLang="en-US" sz="2400" b="1" dirty="0">
                <a:solidFill>
                  <a:srgbClr val="C00000"/>
                </a:solidFill>
                <a:latin typeface="微软雅黑" pitchFamily="34" charset="-122"/>
                <a:ea typeface="微软雅黑" pitchFamily="34" charset="-122"/>
              </a:rPr>
              <a:t>拥塞窗口 </a:t>
            </a:r>
            <a:r>
              <a:rPr lang="en-US" altLang="zh-CN" sz="2400" b="1" dirty="0" err="1">
                <a:solidFill>
                  <a:srgbClr val="C00000"/>
                </a:solidFill>
                <a:latin typeface="微软雅黑" pitchFamily="34" charset="-122"/>
                <a:ea typeface="微软雅黑" pitchFamily="34" charset="-122"/>
              </a:rPr>
              <a:t>cwnd</a:t>
            </a:r>
            <a:r>
              <a:rPr lang="en-US" altLang="zh-CN" sz="2400" b="1" dirty="0">
                <a:solidFill>
                  <a:srgbClr val="C00000"/>
                </a:solidFill>
                <a:latin typeface="微软雅黑" pitchFamily="34" charset="-122"/>
                <a:ea typeface="微软雅黑" pitchFamily="34" charset="-122"/>
              </a:rPr>
              <a:t> </a:t>
            </a:r>
            <a:r>
              <a:rPr lang="zh-CN" altLang="en-US" sz="2400" b="1" dirty="0">
                <a:solidFill>
                  <a:srgbClr val="C00000"/>
                </a:solidFill>
                <a:latin typeface="微软雅黑" pitchFamily="34" charset="-122"/>
                <a:ea typeface="微软雅黑" pitchFamily="34" charset="-122"/>
              </a:rPr>
              <a:t>增大：</a:t>
            </a:r>
            <a:r>
              <a:rPr lang="zh-CN" altLang="en-US" sz="2400" b="1" dirty="0">
                <a:latin typeface="微软雅黑" pitchFamily="34" charset="-122"/>
                <a:ea typeface="微软雅黑" pitchFamily="34" charset="-122"/>
              </a:rPr>
              <a:t>在每收到一个</a:t>
            </a:r>
            <a:r>
              <a:rPr lang="zh-CN" altLang="en-US" sz="2400" b="1" dirty="0">
                <a:solidFill>
                  <a:srgbClr val="0000FF"/>
                </a:solidFill>
                <a:latin typeface="微软雅黑" pitchFamily="34" charset="-122"/>
                <a:ea typeface="微软雅黑" pitchFamily="34" charset="-122"/>
              </a:rPr>
              <a:t>对</a:t>
            </a:r>
            <a:r>
              <a:rPr lang="zh-CN" altLang="en-US" sz="2400" b="1" dirty="0">
                <a:solidFill>
                  <a:srgbClr val="C00000"/>
                </a:solidFill>
                <a:latin typeface="微软雅黑" pitchFamily="34" charset="-122"/>
                <a:ea typeface="微软雅黑" pitchFamily="34" charset="-122"/>
              </a:rPr>
              <a:t>新的</a:t>
            </a:r>
            <a:r>
              <a:rPr lang="zh-CN" altLang="en-US" sz="2400" b="1" dirty="0">
                <a:solidFill>
                  <a:srgbClr val="0000FF"/>
                </a:solidFill>
                <a:latin typeface="微软雅黑" pitchFamily="34" charset="-122"/>
                <a:ea typeface="微软雅黑" pitchFamily="34" charset="-122"/>
              </a:rPr>
              <a:t>报文段的确认</a:t>
            </a:r>
            <a:r>
              <a:rPr lang="zh-CN" altLang="en-US" sz="2400" b="1" dirty="0">
                <a:latin typeface="微软雅黑" pitchFamily="34" charset="-122"/>
                <a:ea typeface="微软雅黑" pitchFamily="34" charset="-122"/>
              </a:rPr>
              <a:t>，就把拥塞窗口增加最多一个</a:t>
            </a:r>
            <a:r>
              <a:rPr lang="zh-CN" altLang="en-US" sz="2400" b="1" dirty="0">
                <a:solidFill>
                  <a:srgbClr val="0000FF"/>
                </a:solidFill>
                <a:latin typeface="微软雅黑" pitchFamily="34" charset="-122"/>
                <a:ea typeface="微软雅黑" pitchFamily="34" charset="-122"/>
              </a:rPr>
              <a:t>发送方的最大报文段 </a:t>
            </a:r>
            <a:r>
              <a:rPr lang="en-US" altLang="zh-CN" sz="2400" b="1" dirty="0">
                <a:solidFill>
                  <a:srgbClr val="0000FF"/>
                </a:solidFill>
                <a:latin typeface="微软雅黑" pitchFamily="34" charset="-122"/>
                <a:ea typeface="微软雅黑" pitchFamily="34" charset="-122"/>
              </a:rPr>
              <a:t>SMSS</a:t>
            </a:r>
            <a:r>
              <a:rPr lang="en-US" altLang="zh-CN" sz="2400" b="1" dirty="0">
                <a:latin typeface="微软雅黑" pitchFamily="34" charset="-122"/>
                <a:ea typeface="微软雅黑" pitchFamily="34" charset="-122"/>
              </a:rPr>
              <a:t>  (Sender Maximum Segment Size) </a:t>
            </a:r>
            <a:r>
              <a:rPr lang="zh-CN" altLang="en-US" sz="2400" b="1" dirty="0">
                <a:latin typeface="微软雅黑" pitchFamily="34" charset="-122"/>
                <a:ea typeface="微软雅黑" pitchFamily="34" charset="-122"/>
              </a:rPr>
              <a:t>的数值。</a:t>
            </a:r>
          </a:p>
          <a:p>
            <a:pPr>
              <a:lnSpc>
                <a:spcPct val="150000"/>
              </a:lnSpc>
              <a:buClr>
                <a:srgbClr val="0070C0"/>
              </a:buClr>
            </a:pPr>
            <a:endParaRPr lang="zh-CN" altLang="en-US" sz="2000" b="1" dirty="0">
              <a:latin typeface="微软雅黑" pitchFamily="34" charset="-122"/>
              <a:ea typeface="微软雅黑" pitchFamily="34" charset="-122"/>
            </a:endParaRPr>
          </a:p>
          <a:p>
            <a:pPr>
              <a:lnSpc>
                <a:spcPct val="150000"/>
              </a:lnSpc>
              <a:buClr>
                <a:srgbClr val="0070C0"/>
              </a:buClr>
            </a:pPr>
            <a:r>
              <a:rPr lang="en-US" altLang="zh-CN" sz="2000" b="1" dirty="0">
                <a:latin typeface="微软雅黑" pitchFamily="34" charset="-122"/>
                <a:ea typeface="微软雅黑" pitchFamily="34" charset="-122"/>
              </a:rPr>
              <a:t>      </a:t>
            </a:r>
          </a:p>
          <a:p>
            <a:pPr marL="342900" indent="-342900">
              <a:lnSpc>
                <a:spcPct val="150000"/>
              </a:lnSpc>
              <a:buClr>
                <a:srgbClr val="0070C0"/>
              </a:buClr>
              <a:buFont typeface="Wingdings" panose="05000000000000000000" pitchFamily="2" charset="2"/>
              <a:buChar char="l"/>
            </a:pPr>
            <a:r>
              <a:rPr lang="zh-CN" altLang="en-US" sz="2400" b="1" dirty="0">
                <a:latin typeface="微软雅黑" pitchFamily="34" charset="-122"/>
                <a:ea typeface="微软雅黑" pitchFamily="34" charset="-122"/>
              </a:rPr>
              <a:t>其中 </a:t>
            </a:r>
            <a:r>
              <a:rPr lang="en-US" altLang="zh-CN" sz="2400" b="1" i="1" dirty="0">
                <a:latin typeface="微软雅黑" pitchFamily="34" charset="-122"/>
                <a:ea typeface="微软雅黑" pitchFamily="34" charset="-122"/>
              </a:rPr>
              <a:t>N</a:t>
            </a:r>
            <a:r>
              <a:rPr lang="en-US" altLang="zh-CN" sz="24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是原先未被确认的、但现在被刚收到的确认报文段所确认的字节数。</a:t>
            </a:r>
          </a:p>
        </p:txBody>
      </p:sp>
      <p:sp>
        <p:nvSpPr>
          <p:cNvPr id="58" name="矩形 57">
            <a:extLst>
              <a:ext uri="{FF2B5EF4-FFF2-40B4-BE49-F238E27FC236}">
                <a16:creationId xmlns:a16="http://schemas.microsoft.com/office/drawing/2014/main" id="{1FB0D54E-F778-3E26-09C8-3C8F58F35AF5}"/>
              </a:ext>
            </a:extLst>
          </p:cNvPr>
          <p:cNvSpPr/>
          <p:nvPr/>
        </p:nvSpPr>
        <p:spPr>
          <a:xfrm>
            <a:off x="1223033" y="4025597"/>
            <a:ext cx="7213799" cy="575688"/>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itchFamily="34" charset="-122"/>
                <a:ea typeface="微软雅黑" pitchFamily="34" charset="-122"/>
              </a:rPr>
              <a:t>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每次的增加量 </a:t>
            </a:r>
            <a:r>
              <a:rPr lang="en-US" altLang="zh-CN" sz="2000" b="1" dirty="0">
                <a:latin typeface="微软雅黑" pitchFamily="34" charset="-122"/>
                <a:ea typeface="微软雅黑" pitchFamily="34" charset="-122"/>
              </a:rPr>
              <a:t>= min (</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SMSS</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
        <p:nvSpPr>
          <p:cNvPr id="2" name="灯片编号占位符 1">
            <a:extLst>
              <a:ext uri="{FF2B5EF4-FFF2-40B4-BE49-F238E27FC236}">
                <a16:creationId xmlns:a16="http://schemas.microsoft.com/office/drawing/2014/main" id="{7978F228-31E1-484B-8568-B4225EBEB404}"/>
              </a:ext>
            </a:extLst>
          </p:cNvPr>
          <p:cNvSpPr>
            <a:spLocks noGrp="1"/>
          </p:cNvSpPr>
          <p:nvPr>
            <p:ph type="sldNum" sz="quarter" idx="12"/>
          </p:nvPr>
        </p:nvSpPr>
        <p:spPr/>
        <p:txBody>
          <a:bodyPr/>
          <a:lstStyle/>
          <a:p>
            <a:fld id="{5956A083-5018-4B52-82A0-83241B8E3D94}" type="slidenum">
              <a:rPr lang="zh-CN" altLang="en-US" smtClean="0"/>
              <a:t>48</a:t>
            </a:fld>
            <a:endParaRPr lang="zh-CN" altLang="en-US"/>
          </a:p>
        </p:txBody>
      </p:sp>
    </p:spTree>
    <p:extLst>
      <p:ext uri="{BB962C8B-B14F-4D97-AF65-F5344CB8AC3E}">
        <p14:creationId xmlns:p14="http://schemas.microsoft.com/office/powerpoint/2010/main" val="17484307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A41FC-AF3A-E75A-D9C7-7221B899696D}"/>
            </a:ext>
          </a:extLst>
        </p:cNvPr>
        <p:cNvGrpSpPr/>
        <p:nvPr/>
      </p:nvGrpSpPr>
      <p:grpSpPr>
        <a:xfrm>
          <a:off x="0" y="0"/>
          <a:ext cx="0" cy="0"/>
          <a:chOff x="0" y="0"/>
          <a:chExt cx="0" cy="0"/>
        </a:xfrm>
      </p:grpSpPr>
      <p:grpSp>
        <p:nvGrpSpPr>
          <p:cNvPr id="46" name="组合 45">
            <a:extLst>
              <a:ext uri="{FF2B5EF4-FFF2-40B4-BE49-F238E27FC236}">
                <a16:creationId xmlns:a16="http://schemas.microsoft.com/office/drawing/2014/main" id="{8B676815-42A5-7038-2241-90B82CC064CB}"/>
              </a:ext>
            </a:extLst>
          </p:cNvPr>
          <p:cNvGrpSpPr/>
          <p:nvPr/>
        </p:nvGrpSpPr>
        <p:grpSpPr>
          <a:xfrm>
            <a:off x="101440" y="-186234"/>
            <a:ext cx="6865937" cy="1428589"/>
            <a:chOff x="551030" y="-368704"/>
            <a:chExt cx="6865937" cy="1428589"/>
          </a:xfrm>
        </p:grpSpPr>
        <p:grpSp>
          <p:nvGrpSpPr>
            <p:cNvPr id="47" name="组合 46">
              <a:extLst>
                <a:ext uri="{FF2B5EF4-FFF2-40B4-BE49-F238E27FC236}">
                  <a16:creationId xmlns:a16="http://schemas.microsoft.com/office/drawing/2014/main" id="{3F0CE727-0FDB-592F-CD51-9E8BE827A806}"/>
                </a:ext>
              </a:extLst>
            </p:cNvPr>
            <p:cNvGrpSpPr/>
            <p:nvPr/>
          </p:nvGrpSpPr>
          <p:grpSpPr>
            <a:xfrm>
              <a:off x="1201633" y="303925"/>
              <a:ext cx="6215334" cy="675443"/>
              <a:chOff x="1839060" y="967769"/>
              <a:chExt cx="6215334" cy="675443"/>
            </a:xfrm>
          </p:grpSpPr>
          <p:sp>
            <p:nvSpPr>
              <p:cNvPr id="49" name="矩形: 圆角 48">
                <a:extLst>
                  <a:ext uri="{FF2B5EF4-FFF2-40B4-BE49-F238E27FC236}">
                    <a16:creationId xmlns:a16="http://schemas.microsoft.com/office/drawing/2014/main" id="{2A67E127-016A-5138-F98C-45DA9027D381}"/>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50" name="文本框 49">
                <a:extLst>
                  <a:ext uri="{FF2B5EF4-FFF2-40B4-BE49-F238E27FC236}">
                    <a16:creationId xmlns:a16="http://schemas.microsoft.com/office/drawing/2014/main" id="{846716DF-1EE8-02EC-9494-38F9A06ACACF}"/>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8" name="图片 47">
              <a:extLst>
                <a:ext uri="{FF2B5EF4-FFF2-40B4-BE49-F238E27FC236}">
                  <a16:creationId xmlns:a16="http://schemas.microsoft.com/office/drawing/2014/main" id="{28905576-FE7D-B84D-03A8-F2ECEBADB5C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51" name="组合 50">
            <a:extLst>
              <a:ext uri="{FF2B5EF4-FFF2-40B4-BE49-F238E27FC236}">
                <a16:creationId xmlns:a16="http://schemas.microsoft.com/office/drawing/2014/main" id="{1853501A-3A4A-286E-DD06-37ADFA2DC1C3}"/>
              </a:ext>
            </a:extLst>
          </p:cNvPr>
          <p:cNvGrpSpPr/>
          <p:nvPr/>
        </p:nvGrpSpPr>
        <p:grpSpPr>
          <a:xfrm>
            <a:off x="505664" y="1426139"/>
            <a:ext cx="2189166" cy="525530"/>
            <a:chOff x="722008" y="1303131"/>
            <a:chExt cx="2090280" cy="501792"/>
          </a:xfrm>
        </p:grpSpPr>
        <p:sp>
          <p:nvSpPr>
            <p:cNvPr id="52" name="流程图: 手动输入 6">
              <a:extLst>
                <a:ext uri="{FF2B5EF4-FFF2-40B4-BE49-F238E27FC236}">
                  <a16:creationId xmlns:a16="http://schemas.microsoft.com/office/drawing/2014/main" id="{FA941722-083C-599E-DF58-B38ACC04454B}"/>
                </a:ext>
              </a:extLst>
            </p:cNvPr>
            <p:cNvSpPr/>
            <p:nvPr/>
          </p:nvSpPr>
          <p:spPr>
            <a:xfrm rot="5400000" flipV="1">
              <a:off x="1662513" y="632624"/>
              <a:ext cx="475861" cy="182368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3" name="组合 52">
              <a:extLst>
                <a:ext uri="{FF2B5EF4-FFF2-40B4-BE49-F238E27FC236}">
                  <a16:creationId xmlns:a16="http://schemas.microsoft.com/office/drawing/2014/main" id="{59F15787-4A2B-5059-ACE1-E7A40C94B487}"/>
                </a:ext>
              </a:extLst>
            </p:cNvPr>
            <p:cNvGrpSpPr/>
            <p:nvPr/>
          </p:nvGrpSpPr>
          <p:grpSpPr>
            <a:xfrm>
              <a:off x="722008" y="1303131"/>
              <a:ext cx="546594" cy="475865"/>
              <a:chOff x="708742" y="1296102"/>
              <a:chExt cx="454744" cy="283828"/>
            </a:xfrm>
          </p:grpSpPr>
          <p:sp>
            <p:nvSpPr>
              <p:cNvPr id="55" name="平行四边形 54">
                <a:extLst>
                  <a:ext uri="{FF2B5EF4-FFF2-40B4-BE49-F238E27FC236}">
                    <a16:creationId xmlns:a16="http://schemas.microsoft.com/office/drawing/2014/main" id="{E7DF4F79-C061-A92E-5F46-F30360C53E27}"/>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6" name="平行四边形 55">
                <a:extLst>
                  <a:ext uri="{FF2B5EF4-FFF2-40B4-BE49-F238E27FC236}">
                    <a16:creationId xmlns:a16="http://schemas.microsoft.com/office/drawing/2014/main" id="{65E6E556-9154-93A4-6663-3BF20D529295}"/>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4" name="Text Box 79">
              <a:extLst>
                <a:ext uri="{FF2B5EF4-FFF2-40B4-BE49-F238E27FC236}">
                  <a16:creationId xmlns:a16="http://schemas.microsoft.com/office/drawing/2014/main" id="{D4A433B7-84DE-E297-1361-5F838583BEB0}"/>
                </a:ext>
              </a:extLst>
            </p:cNvPr>
            <p:cNvSpPr txBox="1">
              <a:spLocks noChangeArrowheads="1"/>
            </p:cNvSpPr>
            <p:nvPr/>
          </p:nvSpPr>
          <p:spPr bwMode="auto">
            <a:xfrm>
              <a:off x="1268603" y="1334724"/>
              <a:ext cx="132540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a:t>
              </a:r>
            </a:p>
          </p:txBody>
        </p:sp>
      </p:grpSp>
      <p:sp>
        <p:nvSpPr>
          <p:cNvPr id="2" name="圆角矩形 52">
            <a:extLst>
              <a:ext uri="{FF2B5EF4-FFF2-40B4-BE49-F238E27FC236}">
                <a16:creationId xmlns:a16="http://schemas.microsoft.com/office/drawing/2014/main" id="{1F1B23D7-6941-3896-BE2F-DAB9419A5B51}"/>
              </a:ext>
            </a:extLst>
          </p:cNvPr>
          <p:cNvSpPr/>
          <p:nvPr/>
        </p:nvSpPr>
        <p:spPr>
          <a:xfrm>
            <a:off x="784866" y="1951669"/>
            <a:ext cx="11176254" cy="38731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3F30CC8F-40E5-9EDB-10B8-1BC4746C5630}"/>
              </a:ext>
            </a:extLst>
          </p:cNvPr>
          <p:cNvGrpSpPr/>
          <p:nvPr/>
        </p:nvGrpSpPr>
        <p:grpSpPr>
          <a:xfrm>
            <a:off x="1721228" y="2047561"/>
            <a:ext cx="7488553" cy="3416101"/>
            <a:chOff x="1629449" y="670111"/>
            <a:chExt cx="6306457" cy="3416101"/>
          </a:xfrm>
        </p:grpSpPr>
        <p:sp>
          <p:nvSpPr>
            <p:cNvPr id="4" name="矩形 3">
              <a:extLst>
                <a:ext uri="{FF2B5EF4-FFF2-40B4-BE49-F238E27FC236}">
                  <a16:creationId xmlns:a16="http://schemas.microsoft.com/office/drawing/2014/main" id="{747EAE20-6873-CA70-6A62-1403316DA7B8}"/>
                </a:ext>
              </a:extLst>
            </p:cNvPr>
            <p:cNvSpPr/>
            <p:nvPr/>
          </p:nvSpPr>
          <p:spPr>
            <a:xfrm>
              <a:off x="2690601" y="670111"/>
              <a:ext cx="2799282" cy="822139"/>
            </a:xfrm>
            <a:prstGeom prst="rect">
              <a:avLst/>
            </a:prstGeom>
            <a:solidFill>
              <a:srgbClr val="66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600"/>
                </a:lnSpc>
              </a:pPr>
              <a:r>
                <a:rPr lang="zh-CN" altLang="en-US" b="1" dirty="0">
                  <a:solidFill>
                    <a:schemeClr val="tx1"/>
                  </a:solidFill>
                  <a:latin typeface="微软雅黑" pitchFamily="34" charset="-122"/>
                  <a:ea typeface="微软雅黑" pitchFamily="34" charset="-122"/>
                </a:rPr>
                <a:t>初始拥塞窗口 </a:t>
              </a:r>
              <a:r>
                <a:rPr lang="en-US" altLang="zh-CN" b="1" dirty="0" err="1">
                  <a:solidFill>
                    <a:schemeClr val="tx1"/>
                  </a:solidFill>
                  <a:latin typeface="微软雅黑" pitchFamily="34" charset="-122"/>
                  <a:ea typeface="微软雅黑" pitchFamily="34" charset="-122"/>
                </a:rPr>
                <a:t>cwnd</a:t>
              </a:r>
              <a:r>
                <a:rPr lang="en-US" altLang="zh-CN" b="1" dirty="0">
                  <a:solidFill>
                    <a:schemeClr val="tx1"/>
                  </a:solidFill>
                  <a:latin typeface="微软雅黑" pitchFamily="34" charset="-122"/>
                  <a:ea typeface="微软雅黑" pitchFamily="34" charset="-122"/>
                </a:rPr>
                <a:t> = 1</a:t>
              </a:r>
              <a:r>
                <a:rPr lang="zh-CN" altLang="en-US" b="1" dirty="0">
                  <a:solidFill>
                    <a:schemeClr val="tx1"/>
                  </a:solidFill>
                  <a:latin typeface="微软雅黑" pitchFamily="34" charset="-122"/>
                  <a:ea typeface="微软雅黑" pitchFamily="34" charset="-122"/>
                </a:rPr>
                <a:t>；</a:t>
              </a:r>
              <a:endParaRPr lang="en-US" altLang="zh-CN" b="1" dirty="0">
                <a:solidFill>
                  <a:schemeClr val="tx1"/>
                </a:solidFill>
                <a:latin typeface="微软雅黑" pitchFamily="34" charset="-122"/>
                <a:ea typeface="微软雅黑" pitchFamily="34" charset="-122"/>
              </a:endParaRPr>
            </a:p>
            <a:p>
              <a:pPr algn="ctr">
                <a:lnSpc>
                  <a:spcPts val="1600"/>
                </a:lnSpc>
              </a:pPr>
              <a:r>
                <a:rPr lang="zh-CN" altLang="en-US" b="1" dirty="0">
                  <a:solidFill>
                    <a:schemeClr val="tx1"/>
                  </a:solidFill>
                  <a:latin typeface="微软雅黑" pitchFamily="34" charset="-122"/>
                  <a:ea typeface="微软雅黑" pitchFamily="34" charset="-122"/>
                </a:rPr>
                <a:t> </a:t>
              </a:r>
            </a:p>
            <a:p>
              <a:pPr algn="ctr">
                <a:lnSpc>
                  <a:spcPts val="1600"/>
                </a:lnSpc>
              </a:pPr>
              <a:r>
                <a:rPr lang="zh-CN" altLang="en-US" b="1" dirty="0">
                  <a:solidFill>
                    <a:schemeClr val="tx1"/>
                  </a:solidFill>
                  <a:latin typeface="微软雅黑" pitchFamily="34" charset="-122"/>
                  <a:ea typeface="微软雅黑" pitchFamily="34" charset="-122"/>
                </a:rPr>
                <a:t>慢开始门限 </a:t>
              </a:r>
              <a:r>
                <a:rPr lang="en-US" altLang="zh-CN" b="1" dirty="0">
                  <a:solidFill>
                    <a:schemeClr val="tx1"/>
                  </a:solidFill>
                  <a:latin typeface="微软雅黑" pitchFamily="34" charset="-122"/>
                  <a:ea typeface="微软雅黑" pitchFamily="34" charset="-122"/>
                </a:rPr>
                <a:t>SSTH </a:t>
              </a:r>
              <a:r>
                <a:rPr lang="zh-CN" altLang="en-US" b="1" dirty="0">
                  <a:solidFill>
                    <a:schemeClr val="tx1"/>
                  </a:solidFill>
                  <a:latin typeface="微软雅黑" pitchFamily="34" charset="-122"/>
                  <a:ea typeface="微软雅黑" pitchFamily="34" charset="-122"/>
                </a:rPr>
                <a:t>＝ </a:t>
              </a:r>
              <a:r>
                <a:rPr lang="en-US" altLang="zh-CN" b="1" i="1" dirty="0">
                  <a:solidFill>
                    <a:schemeClr val="tx1"/>
                  </a:solidFill>
                  <a:latin typeface="微软雅黑" pitchFamily="34" charset="-122"/>
                  <a:ea typeface="微软雅黑" pitchFamily="34" charset="-122"/>
                </a:rPr>
                <a:t>n</a:t>
              </a:r>
              <a:r>
                <a:rPr lang="zh-CN" altLang="en-US" b="1" dirty="0">
                  <a:solidFill>
                    <a:schemeClr val="tx1"/>
                  </a:solidFill>
                  <a:latin typeface="微软雅黑" pitchFamily="34" charset="-122"/>
                  <a:ea typeface="微软雅黑" pitchFamily="34" charset="-122"/>
                </a:rPr>
                <a:t>；</a:t>
              </a:r>
            </a:p>
          </p:txBody>
        </p:sp>
        <p:sp>
          <p:nvSpPr>
            <p:cNvPr id="5" name="矩形 4">
              <a:extLst>
                <a:ext uri="{FF2B5EF4-FFF2-40B4-BE49-F238E27FC236}">
                  <a16:creationId xmlns:a16="http://schemas.microsoft.com/office/drawing/2014/main" id="{A8F589AA-ADD2-6BBD-410B-A3E98260A125}"/>
                </a:ext>
              </a:extLst>
            </p:cNvPr>
            <p:cNvSpPr/>
            <p:nvPr/>
          </p:nvSpPr>
          <p:spPr>
            <a:xfrm>
              <a:off x="6170189" y="3606150"/>
              <a:ext cx="1765717"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itchFamily="34" charset="-122"/>
                  <a:ea typeface="微软雅黑" pitchFamily="34" charset="-122"/>
                </a:rPr>
                <a:t>执行拥塞避免算法</a:t>
              </a:r>
            </a:p>
          </p:txBody>
        </p:sp>
        <p:cxnSp>
          <p:nvCxnSpPr>
            <p:cNvPr id="6" name="直接箭头连接符 5">
              <a:extLst>
                <a:ext uri="{FF2B5EF4-FFF2-40B4-BE49-F238E27FC236}">
                  <a16:creationId xmlns:a16="http://schemas.microsoft.com/office/drawing/2014/main" id="{48EF2DC5-874A-587E-8C74-6CA2D8D239EA}"/>
                </a:ext>
              </a:extLst>
            </p:cNvPr>
            <p:cNvCxnSpPr>
              <a:cxnSpLocks/>
              <a:stCxn id="4" idx="2"/>
              <a:endCxn id="13" idx="0"/>
            </p:cNvCxnSpPr>
            <p:nvPr/>
          </p:nvCxnSpPr>
          <p:spPr>
            <a:xfrm flipH="1">
              <a:off x="4090241" y="1492250"/>
              <a:ext cx="2" cy="4756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760B1589-34C0-B011-89A2-DAE0D78AB5FA}"/>
                </a:ext>
              </a:extLst>
            </p:cNvPr>
            <p:cNvCxnSpPr>
              <a:cxnSpLocks/>
              <a:stCxn id="13" idx="2"/>
              <a:endCxn id="14" idx="0"/>
            </p:cNvCxnSpPr>
            <p:nvPr/>
          </p:nvCxnSpPr>
          <p:spPr>
            <a:xfrm>
              <a:off x="4090241" y="2326887"/>
              <a:ext cx="0" cy="2090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DFDADB1F-5F6C-11B3-6EED-AE2F121DFB05}"/>
                </a:ext>
              </a:extLst>
            </p:cNvPr>
            <p:cNvCxnSpPr>
              <a:stCxn id="14" idx="2"/>
              <a:endCxn id="15" idx="0"/>
            </p:cNvCxnSpPr>
            <p:nvPr/>
          </p:nvCxnSpPr>
          <p:spPr>
            <a:xfrm>
              <a:off x="4090241" y="3256983"/>
              <a:ext cx="0" cy="2871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0B26C00A-B0D2-5DDF-2370-A2545AA950CE}"/>
                </a:ext>
              </a:extLst>
            </p:cNvPr>
            <p:cNvGrpSpPr/>
            <p:nvPr/>
          </p:nvGrpSpPr>
          <p:grpSpPr>
            <a:xfrm flipH="1">
              <a:off x="1629449" y="1796319"/>
              <a:ext cx="2420309" cy="2018837"/>
              <a:chOff x="3359287" y="1768655"/>
              <a:chExt cx="4331082" cy="2131518"/>
            </a:xfrm>
          </p:grpSpPr>
          <p:cxnSp>
            <p:nvCxnSpPr>
              <p:cNvPr id="16" name="直接箭头连接符 15">
                <a:extLst>
                  <a:ext uri="{FF2B5EF4-FFF2-40B4-BE49-F238E27FC236}">
                    <a16:creationId xmlns:a16="http://schemas.microsoft.com/office/drawing/2014/main" id="{626655E3-08BE-48AD-89C2-A4CF62BAFAD9}"/>
                  </a:ext>
                </a:extLst>
              </p:cNvPr>
              <p:cNvCxnSpPr/>
              <p:nvPr/>
            </p:nvCxnSpPr>
            <p:spPr>
              <a:xfrm>
                <a:off x="4674447" y="3900172"/>
                <a:ext cx="2975527" cy="1"/>
              </a:xfrm>
              <a:prstGeom prst="straightConnector1">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013A318-496A-6B7E-2DF3-40A886E1EE1B}"/>
                  </a:ext>
                </a:extLst>
              </p:cNvPr>
              <p:cNvCxnSpPr/>
              <p:nvPr/>
            </p:nvCxnSpPr>
            <p:spPr>
              <a:xfrm flipH="1" flipV="1">
                <a:off x="3359287" y="1768655"/>
                <a:ext cx="433108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FD63DF0C-D9AA-7782-BB1C-E4D0A2993B61}"/>
                  </a:ext>
                </a:extLst>
              </p:cNvPr>
              <p:cNvCxnSpPr/>
              <p:nvPr/>
            </p:nvCxnSpPr>
            <p:spPr>
              <a:xfrm>
                <a:off x="7659932" y="1780018"/>
                <a:ext cx="0" cy="212015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 name="直接箭头连接符 9">
              <a:extLst>
                <a:ext uri="{FF2B5EF4-FFF2-40B4-BE49-F238E27FC236}">
                  <a16:creationId xmlns:a16="http://schemas.microsoft.com/office/drawing/2014/main" id="{244BAB33-C02E-617B-8241-EFCB6DB22C8E}"/>
                </a:ext>
              </a:extLst>
            </p:cNvPr>
            <p:cNvCxnSpPr>
              <a:stCxn id="15" idx="3"/>
              <a:endCxn id="5" idx="1"/>
            </p:cNvCxnSpPr>
            <p:nvPr/>
          </p:nvCxnSpPr>
          <p:spPr>
            <a:xfrm flipV="1">
              <a:off x="5386241" y="3815156"/>
              <a:ext cx="783948"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Box 44">
              <a:extLst>
                <a:ext uri="{FF2B5EF4-FFF2-40B4-BE49-F238E27FC236}">
                  <a16:creationId xmlns:a16="http://schemas.microsoft.com/office/drawing/2014/main" id="{606669DE-D0A6-7D06-5DC1-B51D2B6224BB}"/>
                </a:ext>
              </a:extLst>
            </p:cNvPr>
            <p:cNvSpPr txBox="1"/>
            <p:nvPr/>
          </p:nvSpPr>
          <p:spPr>
            <a:xfrm>
              <a:off x="2274582" y="3504231"/>
              <a:ext cx="383563" cy="338554"/>
            </a:xfrm>
            <a:prstGeom prst="rect">
              <a:avLst/>
            </a:prstGeom>
            <a:noFill/>
          </p:spPr>
          <p:txBody>
            <a:bodyPr wrap="square" rtlCol="0">
              <a:spAutoFit/>
            </a:bodyPr>
            <a:lstStyle/>
            <a:p>
              <a:pPr algn="ctr"/>
              <a:r>
                <a:rPr lang="zh-CN" altLang="en-US" sz="1600" b="1" dirty="0">
                  <a:latin typeface="微软雅黑" pitchFamily="34" charset="-122"/>
                  <a:ea typeface="微软雅黑" pitchFamily="34" charset="-122"/>
                </a:rPr>
                <a:t>是</a:t>
              </a:r>
            </a:p>
          </p:txBody>
        </p:sp>
        <p:sp>
          <p:nvSpPr>
            <p:cNvPr id="12" name="TextBox 47">
              <a:extLst>
                <a:ext uri="{FF2B5EF4-FFF2-40B4-BE49-F238E27FC236}">
                  <a16:creationId xmlns:a16="http://schemas.microsoft.com/office/drawing/2014/main" id="{7526838E-55F3-69B8-4DA1-160839CA7621}"/>
                </a:ext>
              </a:extLst>
            </p:cNvPr>
            <p:cNvSpPr txBox="1"/>
            <p:nvPr/>
          </p:nvSpPr>
          <p:spPr>
            <a:xfrm>
              <a:off x="5394651" y="3504231"/>
              <a:ext cx="383563" cy="338554"/>
            </a:xfrm>
            <a:prstGeom prst="rect">
              <a:avLst/>
            </a:prstGeom>
            <a:noFill/>
          </p:spPr>
          <p:txBody>
            <a:bodyPr wrap="square" rtlCol="0">
              <a:spAutoFit/>
            </a:bodyPr>
            <a:lstStyle/>
            <a:p>
              <a:pPr algn="ctr"/>
              <a:r>
                <a:rPr lang="zh-CN" altLang="en-US" sz="1600" b="1" dirty="0">
                  <a:latin typeface="微软雅黑" pitchFamily="34" charset="-122"/>
                  <a:ea typeface="微软雅黑" pitchFamily="34" charset="-122"/>
                </a:rPr>
                <a:t>否</a:t>
              </a:r>
              <a:endParaRPr lang="zh-CN" altLang="en-US" sz="1200" b="1" dirty="0">
                <a:latin typeface="微软雅黑" pitchFamily="34" charset="-122"/>
                <a:ea typeface="微软雅黑" pitchFamily="34" charset="-122"/>
              </a:endParaRPr>
            </a:p>
          </p:txBody>
        </p:sp>
        <p:sp>
          <p:nvSpPr>
            <p:cNvPr id="13" name="矩形 12">
              <a:extLst>
                <a:ext uri="{FF2B5EF4-FFF2-40B4-BE49-F238E27FC236}">
                  <a16:creationId xmlns:a16="http://schemas.microsoft.com/office/drawing/2014/main" id="{3371DB2A-2303-983C-3BBE-63249E76C1D6}"/>
                </a:ext>
              </a:extLst>
            </p:cNvPr>
            <p:cNvSpPr/>
            <p:nvPr/>
          </p:nvSpPr>
          <p:spPr>
            <a:xfrm>
              <a:off x="2794241" y="1967885"/>
              <a:ext cx="2592000" cy="359002"/>
            </a:xfrm>
            <a:prstGeom prst="rect">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0066"/>
                  </a:solidFill>
                  <a:latin typeface="微软雅黑" pitchFamily="34" charset="-122"/>
                  <a:ea typeface="微软雅黑" pitchFamily="34" charset="-122"/>
                </a:rPr>
                <a:t>发送报文段</a:t>
              </a:r>
            </a:p>
          </p:txBody>
        </p:sp>
        <p:sp>
          <p:nvSpPr>
            <p:cNvPr id="14" name="矩形 13">
              <a:extLst>
                <a:ext uri="{FF2B5EF4-FFF2-40B4-BE49-F238E27FC236}">
                  <a16:creationId xmlns:a16="http://schemas.microsoft.com/office/drawing/2014/main" id="{F01F2407-AEBF-D6DF-B97D-40575D93F9D6}"/>
                </a:ext>
              </a:extLst>
            </p:cNvPr>
            <p:cNvSpPr/>
            <p:nvPr/>
          </p:nvSpPr>
          <p:spPr>
            <a:xfrm>
              <a:off x="2794241" y="2535891"/>
              <a:ext cx="2592000" cy="721092"/>
            </a:xfrm>
            <a:prstGeom prst="rect">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zh-CN" altLang="en-US" sz="1600" b="1" dirty="0">
                  <a:solidFill>
                    <a:srgbClr val="000066"/>
                  </a:solidFill>
                  <a:latin typeface="微软雅黑" pitchFamily="34" charset="-122"/>
                  <a:ea typeface="微软雅黑" pitchFamily="34" charset="-122"/>
                </a:rPr>
                <a:t>（重传定时器未超时）</a:t>
              </a:r>
              <a:endParaRPr lang="en-US" altLang="zh-CN" sz="1600" b="1" dirty="0">
                <a:solidFill>
                  <a:srgbClr val="000066"/>
                </a:solidFill>
                <a:latin typeface="微软雅黑" pitchFamily="34" charset="-122"/>
                <a:ea typeface="微软雅黑" pitchFamily="34" charset="-122"/>
              </a:endParaRPr>
            </a:p>
            <a:p>
              <a:pPr algn="ctr">
                <a:lnSpc>
                  <a:spcPts val="1800"/>
                </a:lnSpc>
              </a:pPr>
              <a:r>
                <a:rPr lang="zh-CN" altLang="en-US" sz="1600" b="1" dirty="0">
                  <a:solidFill>
                    <a:srgbClr val="000066"/>
                  </a:solidFill>
                  <a:latin typeface="微软雅黑" pitchFamily="34" charset="-122"/>
                  <a:ea typeface="微软雅黑" pitchFamily="34" charset="-122"/>
                </a:rPr>
                <a:t>每收到一个对新的报文段的确认</a:t>
              </a:r>
            </a:p>
            <a:p>
              <a:pPr algn="ctr">
                <a:lnSpc>
                  <a:spcPts val="1800"/>
                </a:lnSpc>
              </a:pPr>
              <a:r>
                <a:rPr lang="en-US" altLang="zh-CN" sz="1600" b="1" dirty="0" err="1">
                  <a:solidFill>
                    <a:srgbClr val="000066"/>
                  </a:solidFill>
                  <a:latin typeface="微软雅黑" pitchFamily="34" charset="-122"/>
                  <a:ea typeface="微软雅黑" pitchFamily="34" charset="-122"/>
                </a:rPr>
                <a:t>cwnd</a:t>
              </a:r>
              <a:r>
                <a:rPr lang="en-US" altLang="zh-CN" sz="1600" b="1" dirty="0">
                  <a:solidFill>
                    <a:srgbClr val="000066"/>
                  </a:solidFill>
                  <a:latin typeface="微软雅黑" pitchFamily="34" charset="-122"/>
                  <a:ea typeface="微软雅黑" pitchFamily="34" charset="-122"/>
                </a:rPr>
                <a:t>= </a:t>
              </a:r>
              <a:r>
                <a:rPr lang="en-US" altLang="zh-CN" sz="1600" b="1" dirty="0" err="1">
                  <a:solidFill>
                    <a:srgbClr val="000066"/>
                  </a:solidFill>
                  <a:latin typeface="微软雅黑" pitchFamily="34" charset="-122"/>
                  <a:ea typeface="微软雅黑" pitchFamily="34" charset="-122"/>
                </a:rPr>
                <a:t>cwnd</a:t>
              </a:r>
              <a:r>
                <a:rPr lang="en-US" altLang="zh-CN" sz="1600" b="1" dirty="0">
                  <a:solidFill>
                    <a:srgbClr val="000066"/>
                  </a:solidFill>
                  <a:latin typeface="微软雅黑" pitchFamily="34" charset="-122"/>
                  <a:ea typeface="微软雅黑" pitchFamily="34" charset="-122"/>
                </a:rPr>
                <a:t> +1</a:t>
              </a:r>
              <a:endParaRPr lang="zh-CN" altLang="en-US" sz="1600" b="1" dirty="0">
                <a:solidFill>
                  <a:srgbClr val="000066"/>
                </a:solidFill>
                <a:latin typeface="微软雅黑" pitchFamily="34" charset="-122"/>
                <a:ea typeface="微软雅黑" pitchFamily="34" charset="-122"/>
              </a:endParaRPr>
            </a:p>
          </p:txBody>
        </p:sp>
        <p:sp>
          <p:nvSpPr>
            <p:cNvPr id="15" name="流程图: 决策 14">
              <a:extLst>
                <a:ext uri="{FF2B5EF4-FFF2-40B4-BE49-F238E27FC236}">
                  <a16:creationId xmlns:a16="http://schemas.microsoft.com/office/drawing/2014/main" id="{BED8FA19-A699-09DC-A3C3-EC77E275401E}"/>
                </a:ext>
              </a:extLst>
            </p:cNvPr>
            <p:cNvSpPr/>
            <p:nvPr/>
          </p:nvSpPr>
          <p:spPr>
            <a:xfrm>
              <a:off x="2794241" y="3544102"/>
              <a:ext cx="2592000" cy="542110"/>
            </a:xfrm>
            <a:prstGeom prst="flowChartDecision">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err="1">
                  <a:solidFill>
                    <a:srgbClr val="000066"/>
                  </a:solidFill>
                  <a:latin typeface="微软雅黑" pitchFamily="34" charset="-122"/>
                  <a:ea typeface="微软雅黑" pitchFamily="34" charset="-122"/>
                </a:rPr>
                <a:t>cwnd</a:t>
              </a:r>
              <a:r>
                <a:rPr lang="en-US" altLang="zh-CN" sz="1400" b="1" dirty="0">
                  <a:solidFill>
                    <a:srgbClr val="000066"/>
                  </a:solidFill>
                  <a:latin typeface="微软雅黑" pitchFamily="34" charset="-122"/>
                  <a:ea typeface="微软雅黑" pitchFamily="34" charset="-122"/>
                </a:rPr>
                <a:t> &lt; SSTH</a:t>
              </a:r>
              <a:r>
                <a:rPr lang="zh-CN" altLang="en-US" sz="1400" b="1" dirty="0">
                  <a:solidFill>
                    <a:srgbClr val="000066"/>
                  </a:solidFill>
                  <a:latin typeface="微软雅黑" pitchFamily="34" charset="-122"/>
                  <a:ea typeface="微软雅黑" pitchFamily="34" charset="-122"/>
                </a:rPr>
                <a:t>？</a:t>
              </a:r>
            </a:p>
          </p:txBody>
        </p:sp>
      </p:grpSp>
      <p:sp>
        <p:nvSpPr>
          <p:cNvPr id="19" name="矩形 18">
            <a:extLst>
              <a:ext uri="{FF2B5EF4-FFF2-40B4-BE49-F238E27FC236}">
                <a16:creationId xmlns:a16="http://schemas.microsoft.com/office/drawing/2014/main" id="{B6C449AA-82A6-DEC5-7636-AD4F6564CF85}"/>
              </a:ext>
            </a:extLst>
          </p:cNvPr>
          <p:cNvSpPr/>
          <p:nvPr/>
        </p:nvSpPr>
        <p:spPr>
          <a:xfrm>
            <a:off x="6192187" y="2550217"/>
            <a:ext cx="4698417" cy="369332"/>
          </a:xfrm>
          <a:prstGeom prst="rect">
            <a:avLst/>
          </a:prstGeom>
        </p:spPr>
        <p:txBody>
          <a:bodyPr wrap="square">
            <a:spAutoFit/>
          </a:bodyPr>
          <a:lstStyle/>
          <a:p>
            <a:r>
              <a:rPr lang="zh-CN" altLang="en-US" b="1" dirty="0">
                <a:latin typeface="微软雅黑" panose="020B0503020204020204" pitchFamily="34" charset="-122"/>
                <a:ea typeface="微软雅黑" panose="020B0503020204020204" pitchFamily="34" charset="-122"/>
              </a:rPr>
              <a:t>（假设发送方设置 </a:t>
            </a:r>
            <a:r>
              <a:rPr lang="en-US" altLang="zh-CN" b="1" dirty="0" err="1">
                <a:latin typeface="微软雅黑" panose="020B0503020204020204" pitchFamily="34" charset="-122"/>
                <a:ea typeface="微软雅黑" panose="020B0503020204020204" pitchFamily="34" charset="-122"/>
              </a:rPr>
              <a:t>cwnd</a:t>
            </a:r>
            <a:r>
              <a:rPr lang="en-US" altLang="zh-CN" b="1" dirty="0">
                <a:latin typeface="微软雅黑" panose="020B0503020204020204" pitchFamily="34" charset="-122"/>
                <a:ea typeface="微软雅黑" panose="020B0503020204020204" pitchFamily="34" charset="-122"/>
              </a:rPr>
              <a:t> = 1 </a:t>
            </a:r>
            <a:r>
              <a:rPr lang="zh-CN" altLang="en-US" b="1" dirty="0">
                <a:latin typeface="微软雅黑" panose="020B0503020204020204" pitchFamily="34" charset="-122"/>
                <a:ea typeface="微软雅黑" panose="020B0503020204020204" pitchFamily="34" charset="-122"/>
              </a:rPr>
              <a:t>个 </a:t>
            </a:r>
            <a:r>
              <a:rPr lang="en-US" altLang="zh-CN" b="1" dirty="0">
                <a:latin typeface="微软雅黑" panose="020B0503020204020204" pitchFamily="34" charset="-122"/>
                <a:ea typeface="微软雅黑" panose="020B0503020204020204" pitchFamily="34" charset="-122"/>
              </a:rPr>
              <a:t>SMSS</a:t>
            </a:r>
            <a:r>
              <a:rPr lang="zh-CN" altLang="en-US" b="1" dirty="0">
                <a:latin typeface="微软雅黑" panose="020B0503020204020204" pitchFamily="34" charset="-122"/>
                <a:ea typeface="微软雅黑" panose="020B0503020204020204" pitchFamily="34" charset="-122"/>
              </a:rPr>
              <a:t>）</a:t>
            </a:r>
          </a:p>
        </p:txBody>
      </p:sp>
      <p:sp>
        <p:nvSpPr>
          <p:cNvPr id="20" name="灯片编号占位符 19">
            <a:extLst>
              <a:ext uri="{FF2B5EF4-FFF2-40B4-BE49-F238E27FC236}">
                <a16:creationId xmlns:a16="http://schemas.microsoft.com/office/drawing/2014/main" id="{4C3BC0B9-1781-448C-A966-AAAE7B84109C}"/>
              </a:ext>
            </a:extLst>
          </p:cNvPr>
          <p:cNvSpPr>
            <a:spLocks noGrp="1"/>
          </p:cNvSpPr>
          <p:nvPr>
            <p:ph type="sldNum" sz="quarter" idx="12"/>
          </p:nvPr>
        </p:nvSpPr>
        <p:spPr/>
        <p:txBody>
          <a:bodyPr/>
          <a:lstStyle/>
          <a:p>
            <a:fld id="{5956A083-5018-4B52-82A0-83241B8E3D94}" type="slidenum">
              <a:rPr lang="zh-CN" altLang="en-US" smtClean="0"/>
              <a:t>49</a:t>
            </a:fld>
            <a:endParaRPr lang="zh-CN" altLang="en-US"/>
          </a:p>
        </p:txBody>
      </p:sp>
    </p:spTree>
    <p:extLst>
      <p:ext uri="{BB962C8B-B14F-4D97-AF65-F5344CB8AC3E}">
        <p14:creationId xmlns:p14="http://schemas.microsoft.com/office/powerpoint/2010/main" val="31451628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a:extLst>
              <a:ext uri="{FF2B5EF4-FFF2-40B4-BE49-F238E27FC236}">
                <a16:creationId xmlns:a16="http://schemas.microsoft.com/office/drawing/2014/main" id="{F24DE782-DF13-E59E-B9B4-EBEA048CA714}"/>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9DC0DCDD-6052-3DA9-C374-E3308AE4236E}"/>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5972F92E-6339-4DE7-ADC2-4C6E6D6991DA}"/>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9B235C40-59E4-ABA4-2554-F142E10A1D51}"/>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237789D0-EDA9-93AF-6C39-80C88BB16C7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1F1542C9-7710-CA17-824C-F464F002678B}"/>
              </a:ext>
            </a:extLst>
          </p:cNvPr>
          <p:cNvGrpSpPr/>
          <p:nvPr/>
        </p:nvGrpSpPr>
        <p:grpSpPr>
          <a:xfrm>
            <a:off x="505664" y="1426139"/>
            <a:ext cx="2189166" cy="525530"/>
            <a:chOff x="722008" y="1303131"/>
            <a:chExt cx="2090280" cy="501792"/>
          </a:xfrm>
        </p:grpSpPr>
        <p:sp>
          <p:nvSpPr>
            <p:cNvPr id="50" name="流程图: 手动输入 6">
              <a:extLst>
                <a:ext uri="{FF2B5EF4-FFF2-40B4-BE49-F238E27FC236}">
                  <a16:creationId xmlns:a16="http://schemas.microsoft.com/office/drawing/2014/main" id="{1174E5F5-5887-0876-1D36-A52434848395}"/>
                </a:ext>
              </a:extLst>
            </p:cNvPr>
            <p:cNvSpPr/>
            <p:nvPr/>
          </p:nvSpPr>
          <p:spPr>
            <a:xfrm rot="5400000" flipV="1">
              <a:off x="1662513" y="632624"/>
              <a:ext cx="475861" cy="182368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552CC28D-9501-ABE1-38C0-000369E36213}"/>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D9B84556-5C95-897E-DE29-679C7C49097F}"/>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5AB94359-931F-4E7E-7DDD-E809EB7FB7F1}"/>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B8E7CB50-1490-4B46-32B5-6C12D6D5C315}"/>
                </a:ext>
              </a:extLst>
            </p:cNvPr>
            <p:cNvSpPr txBox="1">
              <a:spLocks noChangeArrowheads="1"/>
            </p:cNvSpPr>
            <p:nvPr/>
          </p:nvSpPr>
          <p:spPr bwMode="auto">
            <a:xfrm>
              <a:off x="1268603" y="1334724"/>
              <a:ext cx="132540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a:t>
              </a:r>
            </a:p>
          </p:txBody>
        </p:sp>
      </p:grpSp>
      <p:sp>
        <p:nvSpPr>
          <p:cNvPr id="96" name="圆角矩形 113">
            <a:extLst>
              <a:ext uri="{FF2B5EF4-FFF2-40B4-BE49-F238E27FC236}">
                <a16:creationId xmlns:a16="http://schemas.microsoft.com/office/drawing/2014/main" id="{DF82FA5D-2D52-215B-660E-3CF3FF97C74D}"/>
              </a:ext>
            </a:extLst>
          </p:cNvPr>
          <p:cNvSpPr/>
          <p:nvPr/>
        </p:nvSpPr>
        <p:spPr>
          <a:xfrm>
            <a:off x="2069144" y="2115432"/>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Text Box 155">
            <a:extLst>
              <a:ext uri="{FF2B5EF4-FFF2-40B4-BE49-F238E27FC236}">
                <a16:creationId xmlns:a16="http://schemas.microsoft.com/office/drawing/2014/main" id="{5FC1C9D8-4850-F95C-F27A-637E89A55D41}"/>
              </a:ext>
            </a:extLst>
          </p:cNvPr>
          <p:cNvSpPr txBox="1">
            <a:spLocks noChangeArrowheads="1"/>
          </p:cNvSpPr>
          <p:nvPr/>
        </p:nvSpPr>
        <p:spPr bwMode="auto">
          <a:xfrm>
            <a:off x="3918408" y="2197736"/>
            <a:ext cx="4374038"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发送方每收到一个对新报文段的确认</a:t>
            </a:r>
          </a:p>
          <a:p>
            <a:pPr algn="ctr">
              <a:lnSpc>
                <a:spcPct val="110000"/>
              </a:lnSpc>
            </a:pPr>
            <a:r>
              <a:rPr lang="zh-CN" altLang="en-US" sz="1600" b="1" dirty="0">
                <a:solidFill>
                  <a:schemeClr val="bg1"/>
                </a:solidFill>
                <a:latin typeface="微软雅黑" pitchFamily="34" charset="-122"/>
                <a:ea typeface="微软雅黑" pitchFamily="34" charset="-122"/>
              </a:rPr>
              <a:t>（重传的不算在内）就使 </a:t>
            </a:r>
            <a:r>
              <a:rPr lang="en-US" altLang="zh-CN" sz="1600" b="1" dirty="0" err="1">
                <a:solidFill>
                  <a:schemeClr val="bg1"/>
                </a:solidFill>
                <a:latin typeface="微软雅黑" pitchFamily="34" charset="-122"/>
                <a:ea typeface="微软雅黑" pitchFamily="34" charset="-122"/>
              </a:rPr>
              <a:t>cwnd</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加 </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 </a:t>
            </a:r>
          </a:p>
        </p:txBody>
      </p:sp>
      <p:sp>
        <p:nvSpPr>
          <p:cNvPr id="98" name="Rectangle 2">
            <a:extLst>
              <a:ext uri="{FF2B5EF4-FFF2-40B4-BE49-F238E27FC236}">
                <a16:creationId xmlns:a16="http://schemas.microsoft.com/office/drawing/2014/main" id="{FB358EA4-A261-307E-9B11-2ED1A913F4EC}"/>
              </a:ext>
            </a:extLst>
          </p:cNvPr>
          <p:cNvSpPr>
            <a:spLocks noChangeArrowheads="1"/>
          </p:cNvSpPr>
          <p:nvPr/>
        </p:nvSpPr>
        <p:spPr bwMode="auto">
          <a:xfrm>
            <a:off x="5137957" y="3752309"/>
            <a:ext cx="4768069"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99" name="Rectangle 3">
            <a:extLst>
              <a:ext uri="{FF2B5EF4-FFF2-40B4-BE49-F238E27FC236}">
                <a16:creationId xmlns:a16="http://schemas.microsoft.com/office/drawing/2014/main" id="{5512C07D-B36D-83D2-1059-D429C13C308D}"/>
              </a:ext>
            </a:extLst>
          </p:cNvPr>
          <p:cNvSpPr>
            <a:spLocks noChangeArrowheads="1"/>
          </p:cNvSpPr>
          <p:nvPr/>
        </p:nvSpPr>
        <p:spPr bwMode="auto">
          <a:xfrm>
            <a:off x="5142875" y="4371163"/>
            <a:ext cx="4761551" cy="885249"/>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00" name="Rectangle 4">
            <a:extLst>
              <a:ext uri="{FF2B5EF4-FFF2-40B4-BE49-F238E27FC236}">
                <a16:creationId xmlns:a16="http://schemas.microsoft.com/office/drawing/2014/main" id="{F6A32B51-7A8B-C669-1706-BCE28FD06F44}"/>
              </a:ext>
            </a:extLst>
          </p:cNvPr>
          <p:cNvSpPr>
            <a:spLocks noChangeArrowheads="1"/>
          </p:cNvSpPr>
          <p:nvPr/>
        </p:nvSpPr>
        <p:spPr bwMode="auto">
          <a:xfrm>
            <a:off x="5136318" y="3238372"/>
            <a:ext cx="4770241"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01" name="Text Box 5">
            <a:extLst>
              <a:ext uri="{FF2B5EF4-FFF2-40B4-BE49-F238E27FC236}">
                <a16:creationId xmlns:a16="http://schemas.microsoft.com/office/drawing/2014/main" id="{95253DA3-5366-C2A4-F34B-A0A1314E4E7B}"/>
              </a:ext>
            </a:extLst>
          </p:cNvPr>
          <p:cNvSpPr txBox="1">
            <a:spLocks noChangeArrowheads="1"/>
          </p:cNvSpPr>
          <p:nvPr/>
        </p:nvSpPr>
        <p:spPr bwMode="auto">
          <a:xfrm>
            <a:off x="4874021" y="284492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102" name="Text Box 6">
            <a:extLst>
              <a:ext uri="{FF2B5EF4-FFF2-40B4-BE49-F238E27FC236}">
                <a16:creationId xmlns:a16="http://schemas.microsoft.com/office/drawing/2014/main" id="{7A3274EA-A528-6B77-DACA-4740ACDCE031}"/>
              </a:ext>
            </a:extLst>
          </p:cNvPr>
          <p:cNvSpPr txBox="1">
            <a:spLocks noChangeArrowheads="1"/>
          </p:cNvSpPr>
          <p:nvPr/>
        </p:nvSpPr>
        <p:spPr bwMode="auto">
          <a:xfrm>
            <a:off x="6584684" y="284410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接收方</a:t>
            </a:r>
          </a:p>
        </p:txBody>
      </p:sp>
      <p:sp>
        <p:nvSpPr>
          <p:cNvPr id="103" name="Text Box 7">
            <a:extLst>
              <a:ext uri="{FF2B5EF4-FFF2-40B4-BE49-F238E27FC236}">
                <a16:creationId xmlns:a16="http://schemas.microsoft.com/office/drawing/2014/main" id="{3CBA9AE3-C6B5-0A61-F408-3966D7A178FC}"/>
              </a:ext>
            </a:extLst>
          </p:cNvPr>
          <p:cNvSpPr txBox="1">
            <a:spLocks noChangeArrowheads="1"/>
          </p:cNvSpPr>
          <p:nvPr/>
        </p:nvSpPr>
        <p:spPr bwMode="auto">
          <a:xfrm>
            <a:off x="4421100" y="3115421"/>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104" name="Line 8">
            <a:extLst>
              <a:ext uri="{FF2B5EF4-FFF2-40B4-BE49-F238E27FC236}">
                <a16:creationId xmlns:a16="http://schemas.microsoft.com/office/drawing/2014/main" id="{A952A060-2950-1F63-A5F4-61ED6FA63FC5}"/>
              </a:ext>
            </a:extLst>
          </p:cNvPr>
          <p:cNvSpPr>
            <a:spLocks noChangeShapeType="1"/>
          </p:cNvSpPr>
          <p:nvPr/>
        </p:nvSpPr>
        <p:spPr bwMode="auto">
          <a:xfrm>
            <a:off x="5137957" y="3254766"/>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05" name="Line 9">
            <a:extLst>
              <a:ext uri="{FF2B5EF4-FFF2-40B4-BE49-F238E27FC236}">
                <a16:creationId xmlns:a16="http://schemas.microsoft.com/office/drawing/2014/main" id="{900FE609-5C25-2489-8442-0F539E7A494B}"/>
              </a:ext>
            </a:extLst>
          </p:cNvPr>
          <p:cNvSpPr>
            <a:spLocks noChangeShapeType="1"/>
          </p:cNvSpPr>
          <p:nvPr/>
        </p:nvSpPr>
        <p:spPr bwMode="auto">
          <a:xfrm>
            <a:off x="5137957" y="3765424"/>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06" name="Line 10">
            <a:extLst>
              <a:ext uri="{FF2B5EF4-FFF2-40B4-BE49-F238E27FC236}">
                <a16:creationId xmlns:a16="http://schemas.microsoft.com/office/drawing/2014/main" id="{DAFD7062-B7C2-BE45-425B-7C23F589E91F}"/>
              </a:ext>
            </a:extLst>
          </p:cNvPr>
          <p:cNvSpPr>
            <a:spLocks noChangeShapeType="1"/>
          </p:cNvSpPr>
          <p:nvPr/>
        </p:nvSpPr>
        <p:spPr bwMode="auto">
          <a:xfrm flipH="1">
            <a:off x="5137957" y="3490013"/>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07" name="Text Box 11">
            <a:extLst>
              <a:ext uri="{FF2B5EF4-FFF2-40B4-BE49-F238E27FC236}">
                <a16:creationId xmlns:a16="http://schemas.microsoft.com/office/drawing/2014/main" id="{F9579A8D-3995-3531-1864-247C5EA238A8}"/>
              </a:ext>
            </a:extLst>
          </p:cNvPr>
          <p:cNvSpPr txBox="1">
            <a:spLocks noChangeArrowheads="1"/>
          </p:cNvSpPr>
          <p:nvPr/>
        </p:nvSpPr>
        <p:spPr bwMode="auto">
          <a:xfrm>
            <a:off x="6805176" y="3337388"/>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08" name="Line 12">
            <a:extLst>
              <a:ext uri="{FF2B5EF4-FFF2-40B4-BE49-F238E27FC236}">
                <a16:creationId xmlns:a16="http://schemas.microsoft.com/office/drawing/2014/main" id="{183063CB-600F-74D9-4243-9865E6F7682F}"/>
              </a:ext>
            </a:extLst>
          </p:cNvPr>
          <p:cNvSpPr>
            <a:spLocks noChangeShapeType="1"/>
          </p:cNvSpPr>
          <p:nvPr/>
        </p:nvSpPr>
        <p:spPr bwMode="auto">
          <a:xfrm>
            <a:off x="5137957" y="5321410"/>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09" name="Line 13">
            <a:extLst>
              <a:ext uri="{FF2B5EF4-FFF2-40B4-BE49-F238E27FC236}">
                <a16:creationId xmlns:a16="http://schemas.microsoft.com/office/drawing/2014/main" id="{F91F36C0-8800-8CA9-C3C0-F85A0B574AE8}"/>
              </a:ext>
            </a:extLst>
          </p:cNvPr>
          <p:cNvSpPr>
            <a:spLocks noChangeShapeType="1"/>
          </p:cNvSpPr>
          <p:nvPr/>
        </p:nvSpPr>
        <p:spPr bwMode="auto">
          <a:xfrm flipH="1">
            <a:off x="5137957" y="4589197"/>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nvGrpSpPr>
          <p:cNvPr id="110" name="Group 14">
            <a:extLst>
              <a:ext uri="{FF2B5EF4-FFF2-40B4-BE49-F238E27FC236}">
                <a16:creationId xmlns:a16="http://schemas.microsoft.com/office/drawing/2014/main" id="{DC1629F6-E2B7-7C21-B3A1-C654975D19E3}"/>
              </a:ext>
            </a:extLst>
          </p:cNvPr>
          <p:cNvGrpSpPr>
            <a:grpSpLocks/>
          </p:cNvGrpSpPr>
          <p:nvPr/>
        </p:nvGrpSpPr>
        <p:grpSpPr bwMode="auto">
          <a:xfrm>
            <a:off x="5137957" y="3173618"/>
            <a:ext cx="1709023" cy="2515583"/>
            <a:chOff x="2042" y="674"/>
            <a:chExt cx="1569" cy="2711"/>
          </a:xfrm>
        </p:grpSpPr>
        <p:sp>
          <p:nvSpPr>
            <p:cNvPr id="111" name="Line 15">
              <a:extLst>
                <a:ext uri="{FF2B5EF4-FFF2-40B4-BE49-F238E27FC236}">
                  <a16:creationId xmlns:a16="http://schemas.microsoft.com/office/drawing/2014/main" id="{0DF94912-1B4B-A54E-AD72-8DC6FC85C2E5}"/>
                </a:ext>
              </a:extLst>
            </p:cNvPr>
            <p:cNvSpPr>
              <a:spLocks noChangeShapeType="1"/>
            </p:cNvSpPr>
            <p:nvPr/>
          </p:nvSpPr>
          <p:spPr bwMode="auto">
            <a:xfrm>
              <a:off x="2042"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2" name="Line 16">
              <a:extLst>
                <a:ext uri="{FF2B5EF4-FFF2-40B4-BE49-F238E27FC236}">
                  <a16:creationId xmlns:a16="http://schemas.microsoft.com/office/drawing/2014/main" id="{46D79195-2ADB-67A8-595F-322D41CE3783}"/>
                </a:ext>
              </a:extLst>
            </p:cNvPr>
            <p:cNvSpPr>
              <a:spLocks noChangeShapeType="1"/>
            </p:cNvSpPr>
            <p:nvPr/>
          </p:nvSpPr>
          <p:spPr bwMode="auto">
            <a:xfrm>
              <a:off x="3611"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13" name="Text Box 17">
            <a:extLst>
              <a:ext uri="{FF2B5EF4-FFF2-40B4-BE49-F238E27FC236}">
                <a16:creationId xmlns:a16="http://schemas.microsoft.com/office/drawing/2014/main" id="{B3F18C20-5174-9104-8051-E51D94C0FE44}"/>
              </a:ext>
            </a:extLst>
          </p:cNvPr>
          <p:cNvSpPr txBox="1">
            <a:spLocks noChangeArrowheads="1"/>
          </p:cNvSpPr>
          <p:nvPr/>
        </p:nvSpPr>
        <p:spPr bwMode="auto">
          <a:xfrm>
            <a:off x="4082866" y="3640750"/>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sp>
        <p:nvSpPr>
          <p:cNvPr id="114" name="Line 18">
            <a:extLst>
              <a:ext uri="{FF2B5EF4-FFF2-40B4-BE49-F238E27FC236}">
                <a16:creationId xmlns:a16="http://schemas.microsoft.com/office/drawing/2014/main" id="{6FA9D1F3-3E3C-95E4-B394-9D057D4727E0}"/>
              </a:ext>
            </a:extLst>
          </p:cNvPr>
          <p:cNvSpPr>
            <a:spLocks noChangeShapeType="1"/>
          </p:cNvSpPr>
          <p:nvPr/>
        </p:nvSpPr>
        <p:spPr bwMode="auto">
          <a:xfrm>
            <a:off x="5137957" y="3930178"/>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5" name="Text Box 19">
            <a:extLst>
              <a:ext uri="{FF2B5EF4-FFF2-40B4-BE49-F238E27FC236}">
                <a16:creationId xmlns:a16="http://schemas.microsoft.com/office/drawing/2014/main" id="{F6212AF9-481A-7BC5-154A-1A3F96F13278}"/>
              </a:ext>
            </a:extLst>
          </p:cNvPr>
          <p:cNvSpPr txBox="1">
            <a:spLocks noChangeArrowheads="1"/>
          </p:cNvSpPr>
          <p:nvPr/>
        </p:nvSpPr>
        <p:spPr bwMode="auto">
          <a:xfrm>
            <a:off x="6805176" y="3868703"/>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6" name="Line 20">
            <a:extLst>
              <a:ext uri="{FF2B5EF4-FFF2-40B4-BE49-F238E27FC236}">
                <a16:creationId xmlns:a16="http://schemas.microsoft.com/office/drawing/2014/main" id="{69B3E01E-3AFE-9CC6-939D-62481F3091E4}"/>
              </a:ext>
            </a:extLst>
          </p:cNvPr>
          <p:cNvSpPr>
            <a:spLocks noChangeShapeType="1"/>
          </p:cNvSpPr>
          <p:nvPr/>
        </p:nvSpPr>
        <p:spPr bwMode="auto">
          <a:xfrm flipH="1">
            <a:off x="5137957" y="3985916"/>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7" name="Line 21">
            <a:extLst>
              <a:ext uri="{FF2B5EF4-FFF2-40B4-BE49-F238E27FC236}">
                <a16:creationId xmlns:a16="http://schemas.microsoft.com/office/drawing/2014/main" id="{1F17658F-1AD3-0440-F20A-0D2DC64932D3}"/>
              </a:ext>
            </a:extLst>
          </p:cNvPr>
          <p:cNvSpPr>
            <a:spLocks noChangeShapeType="1"/>
          </p:cNvSpPr>
          <p:nvPr/>
        </p:nvSpPr>
        <p:spPr bwMode="auto">
          <a:xfrm flipH="1">
            <a:off x="5137957" y="4150671"/>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8" name="Text Box 22">
            <a:extLst>
              <a:ext uri="{FF2B5EF4-FFF2-40B4-BE49-F238E27FC236}">
                <a16:creationId xmlns:a16="http://schemas.microsoft.com/office/drawing/2014/main" id="{7ADA0003-5D4B-553D-7DF0-E5F79AAE0F3D}"/>
              </a:ext>
            </a:extLst>
          </p:cNvPr>
          <p:cNvSpPr txBox="1">
            <a:spLocks noChangeArrowheads="1"/>
          </p:cNvSpPr>
          <p:nvPr/>
        </p:nvSpPr>
        <p:spPr bwMode="auto">
          <a:xfrm>
            <a:off x="4082866" y="4200260"/>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7</a:t>
            </a:r>
          </a:p>
        </p:txBody>
      </p:sp>
      <p:sp>
        <p:nvSpPr>
          <p:cNvPr id="119" name="Text Box 23">
            <a:extLst>
              <a:ext uri="{FF2B5EF4-FFF2-40B4-BE49-F238E27FC236}">
                <a16:creationId xmlns:a16="http://schemas.microsoft.com/office/drawing/2014/main" id="{CB73B972-C300-ED6E-6378-7BFF7144DD8E}"/>
              </a:ext>
            </a:extLst>
          </p:cNvPr>
          <p:cNvSpPr txBox="1">
            <a:spLocks noChangeArrowheads="1"/>
          </p:cNvSpPr>
          <p:nvPr/>
        </p:nvSpPr>
        <p:spPr bwMode="auto">
          <a:xfrm>
            <a:off x="6805176" y="4482639"/>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7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20" name="Line 24">
            <a:extLst>
              <a:ext uri="{FF2B5EF4-FFF2-40B4-BE49-F238E27FC236}">
                <a16:creationId xmlns:a16="http://schemas.microsoft.com/office/drawing/2014/main" id="{864F0CD7-7419-D618-34A5-A0BF3D7E7529}"/>
              </a:ext>
            </a:extLst>
          </p:cNvPr>
          <p:cNvSpPr>
            <a:spLocks noChangeShapeType="1"/>
          </p:cNvSpPr>
          <p:nvPr/>
        </p:nvSpPr>
        <p:spPr bwMode="auto">
          <a:xfrm flipH="1">
            <a:off x="5137957" y="4753952"/>
            <a:ext cx="1709023" cy="16557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1" name="Line 25">
            <a:extLst>
              <a:ext uri="{FF2B5EF4-FFF2-40B4-BE49-F238E27FC236}">
                <a16:creationId xmlns:a16="http://schemas.microsoft.com/office/drawing/2014/main" id="{97F042D9-3826-0057-BC72-562ED232C035}"/>
              </a:ext>
            </a:extLst>
          </p:cNvPr>
          <p:cNvSpPr>
            <a:spLocks noChangeShapeType="1"/>
          </p:cNvSpPr>
          <p:nvPr/>
        </p:nvSpPr>
        <p:spPr bwMode="auto">
          <a:xfrm flipH="1">
            <a:off x="5137957" y="4919526"/>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2" name="Line 26">
            <a:extLst>
              <a:ext uri="{FF2B5EF4-FFF2-40B4-BE49-F238E27FC236}">
                <a16:creationId xmlns:a16="http://schemas.microsoft.com/office/drawing/2014/main" id="{2C938722-B337-0459-85AE-FCB3B5074E0C}"/>
              </a:ext>
            </a:extLst>
          </p:cNvPr>
          <p:cNvSpPr>
            <a:spLocks noChangeShapeType="1"/>
          </p:cNvSpPr>
          <p:nvPr/>
        </p:nvSpPr>
        <p:spPr bwMode="auto">
          <a:xfrm flipH="1">
            <a:off x="5137957" y="5084281"/>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3" name="Text Box 27">
            <a:extLst>
              <a:ext uri="{FF2B5EF4-FFF2-40B4-BE49-F238E27FC236}">
                <a16:creationId xmlns:a16="http://schemas.microsoft.com/office/drawing/2014/main" id="{CF69D965-F672-5D4A-CA4F-B4A1BB04F22A}"/>
              </a:ext>
            </a:extLst>
          </p:cNvPr>
          <p:cNvSpPr txBox="1">
            <a:spLocks noChangeArrowheads="1"/>
          </p:cNvSpPr>
          <p:nvPr/>
        </p:nvSpPr>
        <p:spPr bwMode="auto">
          <a:xfrm>
            <a:off x="2939576" y="3119520"/>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1 </a:t>
            </a:r>
          </a:p>
        </p:txBody>
      </p:sp>
      <p:sp>
        <p:nvSpPr>
          <p:cNvPr id="124" name="Text Box 28">
            <a:extLst>
              <a:ext uri="{FF2B5EF4-FFF2-40B4-BE49-F238E27FC236}">
                <a16:creationId xmlns:a16="http://schemas.microsoft.com/office/drawing/2014/main" id="{2BA6D70D-049F-8147-B1C7-D4395744F930}"/>
              </a:ext>
            </a:extLst>
          </p:cNvPr>
          <p:cNvSpPr txBox="1">
            <a:spLocks noChangeArrowheads="1"/>
          </p:cNvSpPr>
          <p:nvPr/>
        </p:nvSpPr>
        <p:spPr bwMode="auto">
          <a:xfrm>
            <a:off x="2939576" y="3675259"/>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2 </a:t>
            </a:r>
          </a:p>
        </p:txBody>
      </p:sp>
      <p:sp>
        <p:nvSpPr>
          <p:cNvPr id="125" name="Text Box 29">
            <a:extLst>
              <a:ext uri="{FF2B5EF4-FFF2-40B4-BE49-F238E27FC236}">
                <a16:creationId xmlns:a16="http://schemas.microsoft.com/office/drawing/2014/main" id="{95DEE63C-E391-3C18-91A9-1D4C21660F2A}"/>
              </a:ext>
            </a:extLst>
          </p:cNvPr>
          <p:cNvSpPr txBox="1">
            <a:spLocks noChangeArrowheads="1"/>
          </p:cNvSpPr>
          <p:nvPr/>
        </p:nvSpPr>
        <p:spPr bwMode="auto">
          <a:xfrm>
            <a:off x="2939576" y="4240015"/>
            <a:ext cx="663937" cy="209837"/>
          </a:xfrm>
          <a:prstGeom prst="rect">
            <a:avLst/>
          </a:prstGeom>
          <a:solidFill>
            <a:srgbClr val="99FF33"/>
          </a:solidFill>
          <a:ln>
            <a:noFill/>
          </a:ln>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4 </a:t>
            </a:r>
          </a:p>
        </p:txBody>
      </p:sp>
      <p:sp>
        <p:nvSpPr>
          <p:cNvPr id="126" name="Text Box 30">
            <a:extLst>
              <a:ext uri="{FF2B5EF4-FFF2-40B4-BE49-F238E27FC236}">
                <a16:creationId xmlns:a16="http://schemas.microsoft.com/office/drawing/2014/main" id="{7466E919-6793-83B7-3D33-50439BA59D67}"/>
              </a:ext>
            </a:extLst>
          </p:cNvPr>
          <p:cNvSpPr txBox="1">
            <a:spLocks noChangeArrowheads="1"/>
          </p:cNvSpPr>
          <p:nvPr/>
        </p:nvSpPr>
        <p:spPr bwMode="auto">
          <a:xfrm>
            <a:off x="4020349" y="5263085"/>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8</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15</a:t>
            </a:r>
          </a:p>
        </p:txBody>
      </p:sp>
      <p:sp>
        <p:nvSpPr>
          <p:cNvPr id="127" name="Text Box 32">
            <a:extLst>
              <a:ext uri="{FF2B5EF4-FFF2-40B4-BE49-F238E27FC236}">
                <a16:creationId xmlns:a16="http://schemas.microsoft.com/office/drawing/2014/main" id="{5F4B6A2F-B8F0-29BF-12E8-788EA341F677}"/>
              </a:ext>
            </a:extLst>
          </p:cNvPr>
          <p:cNvSpPr txBox="1">
            <a:spLocks noChangeArrowheads="1"/>
          </p:cNvSpPr>
          <p:nvPr/>
        </p:nvSpPr>
        <p:spPr bwMode="auto">
          <a:xfrm rot="5400000">
            <a:off x="5873938" y="5430619"/>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a:t>
            </a:r>
          </a:p>
        </p:txBody>
      </p:sp>
      <p:sp>
        <p:nvSpPr>
          <p:cNvPr id="128" name="Line 33">
            <a:extLst>
              <a:ext uri="{FF2B5EF4-FFF2-40B4-BE49-F238E27FC236}">
                <a16:creationId xmlns:a16="http://schemas.microsoft.com/office/drawing/2014/main" id="{5E2F43B9-C05A-7275-9A36-314BB8B9D31A}"/>
              </a:ext>
            </a:extLst>
          </p:cNvPr>
          <p:cNvSpPr>
            <a:spLocks noChangeShapeType="1"/>
          </p:cNvSpPr>
          <p:nvPr/>
        </p:nvSpPr>
        <p:spPr bwMode="auto">
          <a:xfrm>
            <a:off x="5137957" y="4370344"/>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9" name="Line 34">
            <a:extLst>
              <a:ext uri="{FF2B5EF4-FFF2-40B4-BE49-F238E27FC236}">
                <a16:creationId xmlns:a16="http://schemas.microsoft.com/office/drawing/2014/main" id="{132B347B-2A3B-AECD-F121-6DDD212B97A3}"/>
              </a:ext>
            </a:extLst>
          </p:cNvPr>
          <p:cNvSpPr>
            <a:spLocks noChangeShapeType="1"/>
          </p:cNvSpPr>
          <p:nvPr/>
        </p:nvSpPr>
        <p:spPr bwMode="auto">
          <a:xfrm>
            <a:off x="5137957" y="4535098"/>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0" name="Line 35">
            <a:extLst>
              <a:ext uri="{FF2B5EF4-FFF2-40B4-BE49-F238E27FC236}">
                <a16:creationId xmlns:a16="http://schemas.microsoft.com/office/drawing/2014/main" id="{7790CFC1-8BBC-675A-0884-52C54BA091FB}"/>
              </a:ext>
            </a:extLst>
          </p:cNvPr>
          <p:cNvSpPr>
            <a:spLocks noChangeShapeType="1"/>
          </p:cNvSpPr>
          <p:nvPr/>
        </p:nvSpPr>
        <p:spPr bwMode="auto">
          <a:xfrm>
            <a:off x="5137957" y="4699853"/>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1" name="Line 36">
            <a:extLst>
              <a:ext uri="{FF2B5EF4-FFF2-40B4-BE49-F238E27FC236}">
                <a16:creationId xmlns:a16="http://schemas.microsoft.com/office/drawing/2014/main" id="{AB088556-1CAE-48E1-2F20-5819F1EA3D8A}"/>
              </a:ext>
            </a:extLst>
          </p:cNvPr>
          <p:cNvSpPr>
            <a:spLocks noChangeShapeType="1"/>
          </p:cNvSpPr>
          <p:nvPr/>
        </p:nvSpPr>
        <p:spPr bwMode="auto">
          <a:xfrm>
            <a:off x="5137957" y="4864608"/>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2" name="Text Box 29">
            <a:extLst>
              <a:ext uri="{FF2B5EF4-FFF2-40B4-BE49-F238E27FC236}">
                <a16:creationId xmlns:a16="http://schemas.microsoft.com/office/drawing/2014/main" id="{454065DA-9C55-C528-E40E-D9BCDE67BA58}"/>
              </a:ext>
            </a:extLst>
          </p:cNvPr>
          <p:cNvSpPr txBox="1">
            <a:spLocks noChangeArrowheads="1"/>
          </p:cNvSpPr>
          <p:nvPr/>
        </p:nvSpPr>
        <p:spPr bwMode="auto">
          <a:xfrm>
            <a:off x="2939576" y="5309588"/>
            <a:ext cx="663937" cy="209837"/>
          </a:xfrm>
          <a:prstGeom prst="rect">
            <a:avLst/>
          </a:prstGeom>
          <a:solidFill>
            <a:srgbClr val="FF66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8 </a:t>
            </a:r>
          </a:p>
        </p:txBody>
      </p:sp>
      <p:sp>
        <p:nvSpPr>
          <p:cNvPr id="133" name="Text Box 40">
            <a:extLst>
              <a:ext uri="{FF2B5EF4-FFF2-40B4-BE49-F238E27FC236}">
                <a16:creationId xmlns:a16="http://schemas.microsoft.com/office/drawing/2014/main" id="{F27D5643-2181-FD30-B71F-52B37CC9872E}"/>
              </a:ext>
            </a:extLst>
          </p:cNvPr>
          <p:cNvSpPr txBox="1">
            <a:spLocks noChangeArrowheads="1"/>
          </p:cNvSpPr>
          <p:nvPr/>
        </p:nvSpPr>
        <p:spPr bwMode="auto">
          <a:xfrm>
            <a:off x="7998163" y="3317879"/>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endParaRPr kumimoji="0" lang="en-US" altLang="zh-CN" sz="1200" b="1" i="0" u="none" strike="noStrike" kern="0" cap="none" spc="0" normalizeH="0" baseline="0" noProof="0" dirty="0">
              <a:ln>
                <a:noFill/>
              </a:ln>
              <a:solidFill>
                <a:schemeClr val="bg1"/>
              </a:solidFill>
              <a:effectLst/>
              <a:uLnTx/>
              <a:uFillTx/>
              <a:latin typeface="微软雅黑" pitchFamily="34" charset="-122"/>
              <a:ea typeface="微软雅黑" pitchFamily="34" charset="-122"/>
            </a:endParaRPr>
          </a:p>
        </p:txBody>
      </p:sp>
      <p:sp>
        <p:nvSpPr>
          <p:cNvPr id="134" name="Text Box 41">
            <a:extLst>
              <a:ext uri="{FF2B5EF4-FFF2-40B4-BE49-F238E27FC236}">
                <a16:creationId xmlns:a16="http://schemas.microsoft.com/office/drawing/2014/main" id="{8100CD84-C3AD-0234-6089-967CC7B01208}"/>
              </a:ext>
            </a:extLst>
          </p:cNvPr>
          <p:cNvSpPr txBox="1">
            <a:spLocks noChangeArrowheads="1"/>
          </p:cNvSpPr>
          <p:nvPr/>
        </p:nvSpPr>
        <p:spPr bwMode="auto">
          <a:xfrm>
            <a:off x="7998163" y="389698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2)</a:t>
            </a:r>
          </a:p>
        </p:txBody>
      </p:sp>
      <p:sp>
        <p:nvSpPr>
          <p:cNvPr id="135" name="Text Box 42">
            <a:extLst>
              <a:ext uri="{FF2B5EF4-FFF2-40B4-BE49-F238E27FC236}">
                <a16:creationId xmlns:a16="http://schemas.microsoft.com/office/drawing/2014/main" id="{680359AE-743C-2D9E-C52A-851FEF33DE75}"/>
              </a:ext>
            </a:extLst>
          </p:cNvPr>
          <p:cNvSpPr txBox="1">
            <a:spLocks noChangeArrowheads="1"/>
          </p:cNvSpPr>
          <p:nvPr/>
        </p:nvSpPr>
        <p:spPr bwMode="auto">
          <a:xfrm>
            <a:off x="7998163" y="4667061"/>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3)</a:t>
            </a:r>
          </a:p>
        </p:txBody>
      </p:sp>
      <p:sp>
        <p:nvSpPr>
          <p:cNvPr id="2" name="灯片编号占位符 1">
            <a:extLst>
              <a:ext uri="{FF2B5EF4-FFF2-40B4-BE49-F238E27FC236}">
                <a16:creationId xmlns:a16="http://schemas.microsoft.com/office/drawing/2014/main" id="{E9E006DD-239C-4B9D-9A63-A004F3626E58}"/>
              </a:ext>
            </a:extLst>
          </p:cNvPr>
          <p:cNvSpPr>
            <a:spLocks noGrp="1"/>
          </p:cNvSpPr>
          <p:nvPr>
            <p:ph type="sldNum" sz="quarter" idx="12"/>
          </p:nvPr>
        </p:nvSpPr>
        <p:spPr/>
        <p:txBody>
          <a:bodyPr/>
          <a:lstStyle/>
          <a:p>
            <a:fld id="{5956A083-5018-4B52-82A0-83241B8E3D94}" type="slidenum">
              <a:rPr lang="zh-CN" altLang="en-US" smtClean="0"/>
              <a:t>50</a:t>
            </a:fld>
            <a:endParaRPr lang="zh-CN" altLang="en-US"/>
          </a:p>
        </p:txBody>
      </p:sp>
    </p:spTree>
    <p:extLst>
      <p:ext uri="{BB962C8B-B14F-4D97-AF65-F5344CB8AC3E}">
        <p14:creationId xmlns:p14="http://schemas.microsoft.com/office/powerpoint/2010/main" val="45309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135"/>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134"/>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13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animBg="1"/>
      <p:bldP spid="134" grpId="0" animBg="1"/>
      <p:bldP spid="13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0A326-77B3-F3C3-7C86-DE86C652D769}"/>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E2C474C8-C883-5384-12A9-FC06E9E8AB62}"/>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8BFF48EE-6C15-3C51-C37B-0F24D8109659}"/>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FBB25DC7-970D-4A42-56A2-5B00B8F244F9}"/>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3890A9E9-C26F-647F-E234-13736E9A14D9}"/>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8D1756A5-CA2F-4035-A157-71D2818B1B4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FAEAA56F-BD44-BC03-3D59-F8B2867EAE5C}"/>
              </a:ext>
            </a:extLst>
          </p:cNvPr>
          <p:cNvGrpSpPr/>
          <p:nvPr/>
        </p:nvGrpSpPr>
        <p:grpSpPr>
          <a:xfrm>
            <a:off x="505664" y="1426139"/>
            <a:ext cx="2189166" cy="525530"/>
            <a:chOff x="722008" y="1303131"/>
            <a:chExt cx="2090280" cy="501792"/>
          </a:xfrm>
        </p:grpSpPr>
        <p:sp>
          <p:nvSpPr>
            <p:cNvPr id="50" name="流程图: 手动输入 6">
              <a:extLst>
                <a:ext uri="{FF2B5EF4-FFF2-40B4-BE49-F238E27FC236}">
                  <a16:creationId xmlns:a16="http://schemas.microsoft.com/office/drawing/2014/main" id="{07BB3E9F-60F8-F4E2-1F09-DDBA809C6FDB}"/>
                </a:ext>
              </a:extLst>
            </p:cNvPr>
            <p:cNvSpPr/>
            <p:nvPr/>
          </p:nvSpPr>
          <p:spPr>
            <a:xfrm rot="5400000" flipV="1">
              <a:off x="1662513" y="632624"/>
              <a:ext cx="475861" cy="182368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A9D40636-F9ED-1FF0-8A86-40362F7E13A7}"/>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9396D470-5C8C-8F0E-31CD-8734EE72BA5F}"/>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64313BF1-6F6C-AABB-95A5-0629D18673B2}"/>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EB866141-CAB0-90A9-1841-9F1F5B007E53}"/>
                </a:ext>
              </a:extLst>
            </p:cNvPr>
            <p:cNvSpPr txBox="1">
              <a:spLocks noChangeArrowheads="1"/>
            </p:cNvSpPr>
            <p:nvPr/>
          </p:nvSpPr>
          <p:spPr bwMode="auto">
            <a:xfrm>
              <a:off x="1268603" y="1334724"/>
              <a:ext cx="132540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a:t>
              </a:r>
            </a:p>
          </p:txBody>
        </p:sp>
      </p:grpSp>
      <p:sp>
        <p:nvSpPr>
          <p:cNvPr id="2" name="圆角矩形 113">
            <a:extLst>
              <a:ext uri="{FF2B5EF4-FFF2-40B4-BE49-F238E27FC236}">
                <a16:creationId xmlns:a16="http://schemas.microsoft.com/office/drawing/2014/main" id="{8D39B1B0-A00A-5C83-8497-3C6BEA4C4807}"/>
              </a:ext>
            </a:extLst>
          </p:cNvPr>
          <p:cNvSpPr/>
          <p:nvPr/>
        </p:nvSpPr>
        <p:spPr>
          <a:xfrm>
            <a:off x="2147912" y="2115432"/>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2">
            <a:extLst>
              <a:ext uri="{FF2B5EF4-FFF2-40B4-BE49-F238E27FC236}">
                <a16:creationId xmlns:a16="http://schemas.microsoft.com/office/drawing/2014/main" id="{3CA29A68-92C4-8BFF-D565-AC652064AD28}"/>
              </a:ext>
            </a:extLst>
          </p:cNvPr>
          <p:cNvSpPr>
            <a:spLocks noChangeArrowheads="1"/>
          </p:cNvSpPr>
          <p:nvPr/>
        </p:nvSpPr>
        <p:spPr bwMode="auto">
          <a:xfrm>
            <a:off x="5216725" y="3752309"/>
            <a:ext cx="4768068"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4" name="Rectangle 3">
            <a:extLst>
              <a:ext uri="{FF2B5EF4-FFF2-40B4-BE49-F238E27FC236}">
                <a16:creationId xmlns:a16="http://schemas.microsoft.com/office/drawing/2014/main" id="{A76C43D8-2BC1-7D6A-7A90-4CB8A5C3DCCD}"/>
              </a:ext>
            </a:extLst>
          </p:cNvPr>
          <p:cNvSpPr>
            <a:spLocks noChangeArrowheads="1"/>
          </p:cNvSpPr>
          <p:nvPr/>
        </p:nvSpPr>
        <p:spPr bwMode="auto">
          <a:xfrm>
            <a:off x="5221642" y="4371163"/>
            <a:ext cx="4761551" cy="885249"/>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5" name="Rectangle 4">
            <a:extLst>
              <a:ext uri="{FF2B5EF4-FFF2-40B4-BE49-F238E27FC236}">
                <a16:creationId xmlns:a16="http://schemas.microsoft.com/office/drawing/2014/main" id="{0497CED8-CFEA-3383-6364-1080586B3073}"/>
              </a:ext>
            </a:extLst>
          </p:cNvPr>
          <p:cNvSpPr>
            <a:spLocks noChangeArrowheads="1"/>
          </p:cNvSpPr>
          <p:nvPr/>
        </p:nvSpPr>
        <p:spPr bwMode="auto">
          <a:xfrm>
            <a:off x="5215086" y="3238372"/>
            <a:ext cx="4770240"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Text Box 7">
            <a:extLst>
              <a:ext uri="{FF2B5EF4-FFF2-40B4-BE49-F238E27FC236}">
                <a16:creationId xmlns:a16="http://schemas.microsoft.com/office/drawing/2014/main" id="{2CF8EAD9-D234-852B-6BF0-D9B9553AB52E}"/>
              </a:ext>
            </a:extLst>
          </p:cNvPr>
          <p:cNvSpPr txBox="1">
            <a:spLocks noChangeArrowheads="1"/>
          </p:cNvSpPr>
          <p:nvPr/>
        </p:nvSpPr>
        <p:spPr bwMode="auto">
          <a:xfrm>
            <a:off x="4499868" y="3115421"/>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7" name="Line 8">
            <a:extLst>
              <a:ext uri="{FF2B5EF4-FFF2-40B4-BE49-F238E27FC236}">
                <a16:creationId xmlns:a16="http://schemas.microsoft.com/office/drawing/2014/main" id="{4577F0B5-0E03-9411-4F67-AB6885304E34}"/>
              </a:ext>
            </a:extLst>
          </p:cNvPr>
          <p:cNvSpPr>
            <a:spLocks noChangeShapeType="1"/>
          </p:cNvSpPr>
          <p:nvPr/>
        </p:nvSpPr>
        <p:spPr bwMode="auto">
          <a:xfrm>
            <a:off x="5216725" y="3254766"/>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8" name="Line 9">
            <a:extLst>
              <a:ext uri="{FF2B5EF4-FFF2-40B4-BE49-F238E27FC236}">
                <a16:creationId xmlns:a16="http://schemas.microsoft.com/office/drawing/2014/main" id="{F3DBBEEC-70B6-0F32-FF1D-6AEF65D971D4}"/>
              </a:ext>
            </a:extLst>
          </p:cNvPr>
          <p:cNvSpPr>
            <a:spLocks noChangeShapeType="1"/>
          </p:cNvSpPr>
          <p:nvPr/>
        </p:nvSpPr>
        <p:spPr bwMode="auto">
          <a:xfrm>
            <a:off x="5216725" y="3765424"/>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9" name="Line 10">
            <a:extLst>
              <a:ext uri="{FF2B5EF4-FFF2-40B4-BE49-F238E27FC236}">
                <a16:creationId xmlns:a16="http://schemas.microsoft.com/office/drawing/2014/main" id="{51A36B47-5390-F497-A4BA-BF1185A12EDC}"/>
              </a:ext>
            </a:extLst>
          </p:cNvPr>
          <p:cNvSpPr>
            <a:spLocks noChangeShapeType="1"/>
          </p:cNvSpPr>
          <p:nvPr/>
        </p:nvSpPr>
        <p:spPr bwMode="auto">
          <a:xfrm flipH="1">
            <a:off x="5216725" y="3490013"/>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0" name="Text Box 11">
            <a:extLst>
              <a:ext uri="{FF2B5EF4-FFF2-40B4-BE49-F238E27FC236}">
                <a16:creationId xmlns:a16="http://schemas.microsoft.com/office/drawing/2014/main" id="{A1EB63DC-4182-A57D-F2B5-91BD15EF8BB6}"/>
              </a:ext>
            </a:extLst>
          </p:cNvPr>
          <p:cNvSpPr txBox="1">
            <a:spLocks noChangeArrowheads="1"/>
          </p:cNvSpPr>
          <p:nvPr/>
        </p:nvSpPr>
        <p:spPr bwMode="auto">
          <a:xfrm>
            <a:off x="6883944" y="3337388"/>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1" name="Line 12">
            <a:extLst>
              <a:ext uri="{FF2B5EF4-FFF2-40B4-BE49-F238E27FC236}">
                <a16:creationId xmlns:a16="http://schemas.microsoft.com/office/drawing/2014/main" id="{511546B9-9D88-D0D3-F945-2D2B140203CC}"/>
              </a:ext>
            </a:extLst>
          </p:cNvPr>
          <p:cNvSpPr>
            <a:spLocks noChangeShapeType="1"/>
          </p:cNvSpPr>
          <p:nvPr/>
        </p:nvSpPr>
        <p:spPr bwMode="auto">
          <a:xfrm>
            <a:off x="5216725" y="5321410"/>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 name="Line 13">
            <a:extLst>
              <a:ext uri="{FF2B5EF4-FFF2-40B4-BE49-F238E27FC236}">
                <a16:creationId xmlns:a16="http://schemas.microsoft.com/office/drawing/2014/main" id="{9D740BC7-BE72-14AF-AFCA-1AE6DCA7A0A6}"/>
              </a:ext>
            </a:extLst>
          </p:cNvPr>
          <p:cNvSpPr>
            <a:spLocks noChangeShapeType="1"/>
          </p:cNvSpPr>
          <p:nvPr/>
        </p:nvSpPr>
        <p:spPr bwMode="auto">
          <a:xfrm flipH="1">
            <a:off x="5216725" y="4589197"/>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nvGrpSpPr>
          <p:cNvPr id="13" name="Group 14">
            <a:extLst>
              <a:ext uri="{FF2B5EF4-FFF2-40B4-BE49-F238E27FC236}">
                <a16:creationId xmlns:a16="http://schemas.microsoft.com/office/drawing/2014/main" id="{D8C27A4F-5A18-C5E2-5C20-C3DEC5FF1C47}"/>
              </a:ext>
            </a:extLst>
          </p:cNvPr>
          <p:cNvGrpSpPr>
            <a:grpSpLocks/>
          </p:cNvGrpSpPr>
          <p:nvPr/>
        </p:nvGrpSpPr>
        <p:grpSpPr bwMode="auto">
          <a:xfrm>
            <a:off x="5216725" y="3173618"/>
            <a:ext cx="1709023" cy="2515583"/>
            <a:chOff x="2042" y="674"/>
            <a:chExt cx="1569" cy="2711"/>
          </a:xfrm>
        </p:grpSpPr>
        <p:sp>
          <p:nvSpPr>
            <p:cNvPr id="14" name="Line 15">
              <a:extLst>
                <a:ext uri="{FF2B5EF4-FFF2-40B4-BE49-F238E27FC236}">
                  <a16:creationId xmlns:a16="http://schemas.microsoft.com/office/drawing/2014/main" id="{274864C7-4B7B-B3AC-1B5D-2EA4F16DDC3B}"/>
                </a:ext>
              </a:extLst>
            </p:cNvPr>
            <p:cNvSpPr>
              <a:spLocks noChangeShapeType="1"/>
            </p:cNvSpPr>
            <p:nvPr/>
          </p:nvSpPr>
          <p:spPr bwMode="auto">
            <a:xfrm>
              <a:off x="2042"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 name="Line 16">
              <a:extLst>
                <a:ext uri="{FF2B5EF4-FFF2-40B4-BE49-F238E27FC236}">
                  <a16:creationId xmlns:a16="http://schemas.microsoft.com/office/drawing/2014/main" id="{21822CC0-7653-70A9-B360-BBB41E945066}"/>
                </a:ext>
              </a:extLst>
            </p:cNvPr>
            <p:cNvSpPr>
              <a:spLocks noChangeShapeType="1"/>
            </p:cNvSpPr>
            <p:nvPr/>
          </p:nvSpPr>
          <p:spPr bwMode="auto">
            <a:xfrm>
              <a:off x="3611"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6" name="Text Box 17">
            <a:extLst>
              <a:ext uri="{FF2B5EF4-FFF2-40B4-BE49-F238E27FC236}">
                <a16:creationId xmlns:a16="http://schemas.microsoft.com/office/drawing/2014/main" id="{4810735F-3269-3321-9B8F-8BC5AEDB5F72}"/>
              </a:ext>
            </a:extLst>
          </p:cNvPr>
          <p:cNvSpPr txBox="1">
            <a:spLocks noChangeArrowheads="1"/>
          </p:cNvSpPr>
          <p:nvPr/>
        </p:nvSpPr>
        <p:spPr bwMode="auto">
          <a:xfrm>
            <a:off x="4161634" y="3640750"/>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sp>
        <p:nvSpPr>
          <p:cNvPr id="17" name="Line 18">
            <a:extLst>
              <a:ext uri="{FF2B5EF4-FFF2-40B4-BE49-F238E27FC236}">
                <a16:creationId xmlns:a16="http://schemas.microsoft.com/office/drawing/2014/main" id="{AA35C8F2-B74E-D104-8A24-6D01B4028F2B}"/>
              </a:ext>
            </a:extLst>
          </p:cNvPr>
          <p:cNvSpPr>
            <a:spLocks noChangeShapeType="1"/>
          </p:cNvSpPr>
          <p:nvPr/>
        </p:nvSpPr>
        <p:spPr bwMode="auto">
          <a:xfrm>
            <a:off x="5216725" y="3930178"/>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8" name="Text Box 19">
            <a:extLst>
              <a:ext uri="{FF2B5EF4-FFF2-40B4-BE49-F238E27FC236}">
                <a16:creationId xmlns:a16="http://schemas.microsoft.com/office/drawing/2014/main" id="{414F0A5F-650E-2ECD-E629-88CCE6FC460C}"/>
              </a:ext>
            </a:extLst>
          </p:cNvPr>
          <p:cNvSpPr txBox="1">
            <a:spLocks noChangeArrowheads="1"/>
          </p:cNvSpPr>
          <p:nvPr/>
        </p:nvSpPr>
        <p:spPr bwMode="auto">
          <a:xfrm>
            <a:off x="6883944" y="3868703"/>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9" name="Line 20">
            <a:extLst>
              <a:ext uri="{FF2B5EF4-FFF2-40B4-BE49-F238E27FC236}">
                <a16:creationId xmlns:a16="http://schemas.microsoft.com/office/drawing/2014/main" id="{6247445F-2C21-E1FD-7E8B-80AD7E5D0F3E}"/>
              </a:ext>
            </a:extLst>
          </p:cNvPr>
          <p:cNvSpPr>
            <a:spLocks noChangeShapeType="1"/>
          </p:cNvSpPr>
          <p:nvPr/>
        </p:nvSpPr>
        <p:spPr bwMode="auto">
          <a:xfrm flipH="1">
            <a:off x="5216725" y="3985916"/>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20" name="Line 21">
            <a:extLst>
              <a:ext uri="{FF2B5EF4-FFF2-40B4-BE49-F238E27FC236}">
                <a16:creationId xmlns:a16="http://schemas.microsoft.com/office/drawing/2014/main" id="{B1A05F4F-C3ED-781C-F78C-4EF040B64D65}"/>
              </a:ext>
            </a:extLst>
          </p:cNvPr>
          <p:cNvSpPr>
            <a:spLocks noChangeShapeType="1"/>
          </p:cNvSpPr>
          <p:nvPr/>
        </p:nvSpPr>
        <p:spPr bwMode="auto">
          <a:xfrm flipH="1">
            <a:off x="5216725" y="4150671"/>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21" name="Text Box 22">
            <a:extLst>
              <a:ext uri="{FF2B5EF4-FFF2-40B4-BE49-F238E27FC236}">
                <a16:creationId xmlns:a16="http://schemas.microsoft.com/office/drawing/2014/main" id="{B876E4F3-90D2-0FA2-1713-BBDEBB510C2B}"/>
              </a:ext>
            </a:extLst>
          </p:cNvPr>
          <p:cNvSpPr txBox="1">
            <a:spLocks noChangeArrowheads="1"/>
          </p:cNvSpPr>
          <p:nvPr/>
        </p:nvSpPr>
        <p:spPr bwMode="auto">
          <a:xfrm>
            <a:off x="4161634" y="4200260"/>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7</a:t>
            </a:r>
          </a:p>
        </p:txBody>
      </p:sp>
      <p:sp>
        <p:nvSpPr>
          <p:cNvPr id="22" name="Text Box 23">
            <a:extLst>
              <a:ext uri="{FF2B5EF4-FFF2-40B4-BE49-F238E27FC236}">
                <a16:creationId xmlns:a16="http://schemas.microsoft.com/office/drawing/2014/main" id="{D0661F22-D6BA-7AF5-489C-47348B77A489}"/>
              </a:ext>
            </a:extLst>
          </p:cNvPr>
          <p:cNvSpPr txBox="1">
            <a:spLocks noChangeArrowheads="1"/>
          </p:cNvSpPr>
          <p:nvPr/>
        </p:nvSpPr>
        <p:spPr bwMode="auto">
          <a:xfrm>
            <a:off x="6883944" y="4482639"/>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7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23" name="Line 24">
            <a:extLst>
              <a:ext uri="{FF2B5EF4-FFF2-40B4-BE49-F238E27FC236}">
                <a16:creationId xmlns:a16="http://schemas.microsoft.com/office/drawing/2014/main" id="{16C16237-7E82-3F28-2244-B8BBB96BA69F}"/>
              </a:ext>
            </a:extLst>
          </p:cNvPr>
          <p:cNvSpPr>
            <a:spLocks noChangeShapeType="1"/>
          </p:cNvSpPr>
          <p:nvPr/>
        </p:nvSpPr>
        <p:spPr bwMode="auto">
          <a:xfrm flipH="1">
            <a:off x="5216725" y="4753952"/>
            <a:ext cx="1709023" cy="16557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24" name="Line 25">
            <a:extLst>
              <a:ext uri="{FF2B5EF4-FFF2-40B4-BE49-F238E27FC236}">
                <a16:creationId xmlns:a16="http://schemas.microsoft.com/office/drawing/2014/main" id="{124E1C4A-1C39-8312-0775-4E8567C12FCD}"/>
              </a:ext>
            </a:extLst>
          </p:cNvPr>
          <p:cNvSpPr>
            <a:spLocks noChangeShapeType="1"/>
          </p:cNvSpPr>
          <p:nvPr/>
        </p:nvSpPr>
        <p:spPr bwMode="auto">
          <a:xfrm flipH="1">
            <a:off x="5216725" y="4919526"/>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25" name="Line 26">
            <a:extLst>
              <a:ext uri="{FF2B5EF4-FFF2-40B4-BE49-F238E27FC236}">
                <a16:creationId xmlns:a16="http://schemas.microsoft.com/office/drawing/2014/main" id="{B10FF796-3531-741E-FDC8-66416C444BAD}"/>
              </a:ext>
            </a:extLst>
          </p:cNvPr>
          <p:cNvSpPr>
            <a:spLocks noChangeShapeType="1"/>
          </p:cNvSpPr>
          <p:nvPr/>
        </p:nvSpPr>
        <p:spPr bwMode="auto">
          <a:xfrm flipH="1">
            <a:off x="5216725" y="5084281"/>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26" name="Text Box 27">
            <a:extLst>
              <a:ext uri="{FF2B5EF4-FFF2-40B4-BE49-F238E27FC236}">
                <a16:creationId xmlns:a16="http://schemas.microsoft.com/office/drawing/2014/main" id="{59173ADC-EB3C-6A1D-CD90-C8C72859E16E}"/>
              </a:ext>
            </a:extLst>
          </p:cNvPr>
          <p:cNvSpPr txBox="1">
            <a:spLocks noChangeArrowheads="1"/>
          </p:cNvSpPr>
          <p:nvPr/>
        </p:nvSpPr>
        <p:spPr bwMode="auto">
          <a:xfrm>
            <a:off x="3018344" y="3119520"/>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1 </a:t>
            </a:r>
          </a:p>
        </p:txBody>
      </p:sp>
      <p:sp>
        <p:nvSpPr>
          <p:cNvPr id="27" name="Text Box 28">
            <a:extLst>
              <a:ext uri="{FF2B5EF4-FFF2-40B4-BE49-F238E27FC236}">
                <a16:creationId xmlns:a16="http://schemas.microsoft.com/office/drawing/2014/main" id="{C9DC35D6-C78C-279B-33D1-EFE50304E9CD}"/>
              </a:ext>
            </a:extLst>
          </p:cNvPr>
          <p:cNvSpPr txBox="1">
            <a:spLocks noChangeArrowheads="1"/>
          </p:cNvSpPr>
          <p:nvPr/>
        </p:nvSpPr>
        <p:spPr bwMode="auto">
          <a:xfrm>
            <a:off x="3018344" y="3675259"/>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2 </a:t>
            </a:r>
          </a:p>
        </p:txBody>
      </p:sp>
      <p:sp>
        <p:nvSpPr>
          <p:cNvPr id="28" name="Text Box 29">
            <a:extLst>
              <a:ext uri="{FF2B5EF4-FFF2-40B4-BE49-F238E27FC236}">
                <a16:creationId xmlns:a16="http://schemas.microsoft.com/office/drawing/2014/main" id="{CD5FE18B-E62B-033C-52B8-ECB860E1FC98}"/>
              </a:ext>
            </a:extLst>
          </p:cNvPr>
          <p:cNvSpPr txBox="1">
            <a:spLocks noChangeArrowheads="1"/>
          </p:cNvSpPr>
          <p:nvPr/>
        </p:nvSpPr>
        <p:spPr bwMode="auto">
          <a:xfrm>
            <a:off x="3018344" y="4240015"/>
            <a:ext cx="663937" cy="209837"/>
          </a:xfrm>
          <a:prstGeom prst="rect">
            <a:avLst/>
          </a:prstGeom>
          <a:solidFill>
            <a:srgbClr val="99FF33"/>
          </a:solidFill>
          <a:ln>
            <a:noFill/>
          </a:ln>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4 </a:t>
            </a:r>
          </a:p>
        </p:txBody>
      </p:sp>
      <p:sp>
        <p:nvSpPr>
          <p:cNvPr id="29" name="Text Box 30">
            <a:extLst>
              <a:ext uri="{FF2B5EF4-FFF2-40B4-BE49-F238E27FC236}">
                <a16:creationId xmlns:a16="http://schemas.microsoft.com/office/drawing/2014/main" id="{D0BE0F9D-F826-A25E-471E-5265F7391B2F}"/>
              </a:ext>
            </a:extLst>
          </p:cNvPr>
          <p:cNvSpPr txBox="1">
            <a:spLocks noChangeArrowheads="1"/>
          </p:cNvSpPr>
          <p:nvPr/>
        </p:nvSpPr>
        <p:spPr bwMode="auto">
          <a:xfrm>
            <a:off x="4099117" y="5263085"/>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8</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15</a:t>
            </a:r>
          </a:p>
        </p:txBody>
      </p:sp>
      <p:sp>
        <p:nvSpPr>
          <p:cNvPr id="30" name="Text Box 32">
            <a:extLst>
              <a:ext uri="{FF2B5EF4-FFF2-40B4-BE49-F238E27FC236}">
                <a16:creationId xmlns:a16="http://schemas.microsoft.com/office/drawing/2014/main" id="{9F682044-19EA-EAB4-8E94-4971BCC1ADF0}"/>
              </a:ext>
            </a:extLst>
          </p:cNvPr>
          <p:cNvSpPr txBox="1">
            <a:spLocks noChangeArrowheads="1"/>
          </p:cNvSpPr>
          <p:nvPr/>
        </p:nvSpPr>
        <p:spPr bwMode="auto">
          <a:xfrm rot="5400000">
            <a:off x="5952706" y="5430619"/>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a:t>
            </a:r>
          </a:p>
        </p:txBody>
      </p:sp>
      <p:sp>
        <p:nvSpPr>
          <p:cNvPr id="31" name="Line 33">
            <a:extLst>
              <a:ext uri="{FF2B5EF4-FFF2-40B4-BE49-F238E27FC236}">
                <a16:creationId xmlns:a16="http://schemas.microsoft.com/office/drawing/2014/main" id="{8E1D7C9A-48BD-89FA-20F4-8D518E2479C2}"/>
              </a:ext>
            </a:extLst>
          </p:cNvPr>
          <p:cNvSpPr>
            <a:spLocks noChangeShapeType="1"/>
          </p:cNvSpPr>
          <p:nvPr/>
        </p:nvSpPr>
        <p:spPr bwMode="auto">
          <a:xfrm>
            <a:off x="5216725" y="4370344"/>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32" name="Line 34">
            <a:extLst>
              <a:ext uri="{FF2B5EF4-FFF2-40B4-BE49-F238E27FC236}">
                <a16:creationId xmlns:a16="http://schemas.microsoft.com/office/drawing/2014/main" id="{C6376F03-2208-7211-B154-2E796697BFB9}"/>
              </a:ext>
            </a:extLst>
          </p:cNvPr>
          <p:cNvSpPr>
            <a:spLocks noChangeShapeType="1"/>
          </p:cNvSpPr>
          <p:nvPr/>
        </p:nvSpPr>
        <p:spPr bwMode="auto">
          <a:xfrm>
            <a:off x="5216725" y="4535098"/>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33" name="Line 35">
            <a:extLst>
              <a:ext uri="{FF2B5EF4-FFF2-40B4-BE49-F238E27FC236}">
                <a16:creationId xmlns:a16="http://schemas.microsoft.com/office/drawing/2014/main" id="{F3306B86-AAD7-1826-E85F-FCAEA8FD6C74}"/>
              </a:ext>
            </a:extLst>
          </p:cNvPr>
          <p:cNvSpPr>
            <a:spLocks noChangeShapeType="1"/>
          </p:cNvSpPr>
          <p:nvPr/>
        </p:nvSpPr>
        <p:spPr bwMode="auto">
          <a:xfrm>
            <a:off x="5216725" y="4699853"/>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34" name="Line 36">
            <a:extLst>
              <a:ext uri="{FF2B5EF4-FFF2-40B4-BE49-F238E27FC236}">
                <a16:creationId xmlns:a16="http://schemas.microsoft.com/office/drawing/2014/main" id="{443008B6-0113-7270-4F57-572BA871C12B}"/>
              </a:ext>
            </a:extLst>
          </p:cNvPr>
          <p:cNvSpPr>
            <a:spLocks noChangeShapeType="1"/>
          </p:cNvSpPr>
          <p:nvPr/>
        </p:nvSpPr>
        <p:spPr bwMode="auto">
          <a:xfrm>
            <a:off x="5216725" y="4864608"/>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35" name="Text Box 40">
            <a:extLst>
              <a:ext uri="{FF2B5EF4-FFF2-40B4-BE49-F238E27FC236}">
                <a16:creationId xmlns:a16="http://schemas.microsoft.com/office/drawing/2014/main" id="{301F4E61-41AE-F968-F104-03810AD81330}"/>
              </a:ext>
            </a:extLst>
          </p:cNvPr>
          <p:cNvSpPr txBox="1">
            <a:spLocks noChangeArrowheads="1"/>
          </p:cNvSpPr>
          <p:nvPr/>
        </p:nvSpPr>
        <p:spPr bwMode="auto">
          <a:xfrm>
            <a:off x="8076931" y="3317879"/>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p>
        </p:txBody>
      </p:sp>
      <p:sp>
        <p:nvSpPr>
          <p:cNvPr id="36" name="Text Box 41">
            <a:extLst>
              <a:ext uri="{FF2B5EF4-FFF2-40B4-BE49-F238E27FC236}">
                <a16:creationId xmlns:a16="http://schemas.microsoft.com/office/drawing/2014/main" id="{93E0D0C3-F5CC-789A-186E-06F9B6D89136}"/>
              </a:ext>
            </a:extLst>
          </p:cNvPr>
          <p:cNvSpPr txBox="1">
            <a:spLocks noChangeArrowheads="1"/>
          </p:cNvSpPr>
          <p:nvPr/>
        </p:nvSpPr>
        <p:spPr bwMode="auto">
          <a:xfrm>
            <a:off x="8076931" y="389698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2)</a:t>
            </a:r>
          </a:p>
        </p:txBody>
      </p:sp>
      <p:sp>
        <p:nvSpPr>
          <p:cNvPr id="37" name="Text Box 42">
            <a:extLst>
              <a:ext uri="{FF2B5EF4-FFF2-40B4-BE49-F238E27FC236}">
                <a16:creationId xmlns:a16="http://schemas.microsoft.com/office/drawing/2014/main" id="{54C7DCDA-1378-A4DF-5721-E3DD325F2FF8}"/>
              </a:ext>
            </a:extLst>
          </p:cNvPr>
          <p:cNvSpPr txBox="1">
            <a:spLocks noChangeArrowheads="1"/>
          </p:cNvSpPr>
          <p:nvPr/>
        </p:nvSpPr>
        <p:spPr bwMode="auto">
          <a:xfrm>
            <a:off x="8076931" y="4667061"/>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3)</a:t>
            </a:r>
          </a:p>
        </p:txBody>
      </p:sp>
      <p:sp>
        <p:nvSpPr>
          <p:cNvPr id="38" name="Text Box 43">
            <a:extLst>
              <a:ext uri="{FF2B5EF4-FFF2-40B4-BE49-F238E27FC236}">
                <a16:creationId xmlns:a16="http://schemas.microsoft.com/office/drawing/2014/main" id="{02FED89E-023E-E7F4-966F-CB50A7402A81}"/>
              </a:ext>
            </a:extLst>
          </p:cNvPr>
          <p:cNvSpPr txBox="1">
            <a:spLocks noChangeArrowheads="1"/>
          </p:cNvSpPr>
          <p:nvPr/>
        </p:nvSpPr>
        <p:spPr bwMode="auto">
          <a:xfrm>
            <a:off x="2583153" y="4986671"/>
            <a:ext cx="2558190" cy="307777"/>
          </a:xfrm>
          <a:prstGeom prst="rect">
            <a:avLst/>
          </a:prstGeom>
          <a:solidFill>
            <a:srgbClr val="FFFF00"/>
          </a:solidFill>
          <a:ln w="19050">
            <a:solidFill>
              <a:srgbClr val="333399"/>
            </a:solidFill>
            <a:miter lim="800000"/>
            <a:headEnd/>
            <a:tailEnd/>
          </a:ln>
          <a:effec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窗口大小</a:t>
            </a:r>
            <a:r>
              <a:rPr kumimoji="1" lang="zh-CN" altLang="en-US" sz="14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按指数</a:t>
            </a: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增加，不慢！</a:t>
            </a:r>
          </a:p>
        </p:txBody>
      </p:sp>
      <p:sp>
        <p:nvSpPr>
          <p:cNvPr id="39" name="矩形 38">
            <a:extLst>
              <a:ext uri="{FF2B5EF4-FFF2-40B4-BE49-F238E27FC236}">
                <a16:creationId xmlns:a16="http://schemas.microsoft.com/office/drawing/2014/main" id="{F5E78395-547E-BE79-81A9-14C6648594F7}"/>
              </a:ext>
            </a:extLst>
          </p:cNvPr>
          <p:cNvSpPr/>
          <p:nvPr/>
        </p:nvSpPr>
        <p:spPr>
          <a:xfrm>
            <a:off x="2583153" y="4472879"/>
            <a:ext cx="2558189" cy="523220"/>
          </a:xfrm>
          <a:prstGeom prst="rect">
            <a:avLst/>
          </a:prstGeom>
          <a:solidFill>
            <a:srgbClr val="0000FF"/>
          </a:solidFill>
          <a:ln w="19050">
            <a:solidFill>
              <a:srgbClr val="333399"/>
            </a:solidFill>
            <a:miter lim="800000"/>
            <a:headEnd/>
            <a:tailEnd/>
          </a:ln>
          <a:effectLst/>
        </p:spPr>
        <p:txBody>
          <a:bodyPr wrap="square">
            <a:spAutoFit/>
          </a:bodyPr>
          <a:lstStyle/>
          <a:p>
            <a:pPr eaLnBrk="1" fontAlgn="auto" hangingPunct="1">
              <a:spcBef>
                <a:spcPts val="0"/>
              </a:spcBef>
              <a:spcAft>
                <a:spcPts val="0"/>
              </a:spcAft>
            </a:pPr>
            <a:r>
              <a:rPr kumimoji="1" lang="zh-CN" altLang="zh-CN" sz="1400" b="1" kern="0" dirty="0">
                <a:solidFill>
                  <a:schemeClr val="bg1"/>
                </a:solidFill>
                <a:latin typeface="微软雅黑" pitchFamily="34" charset="-122"/>
                <a:ea typeface="微软雅黑" pitchFamily="34" charset="-122"/>
              </a:rPr>
              <a:t>每经过一个传输轮次，拥塞窗口就加倍。</a:t>
            </a:r>
            <a:endParaRPr kumimoji="1" lang="zh-CN" altLang="en-US" sz="1400" b="1" kern="0" dirty="0">
              <a:solidFill>
                <a:schemeClr val="bg1"/>
              </a:solidFill>
              <a:latin typeface="微软雅黑" pitchFamily="34" charset="-122"/>
              <a:ea typeface="微软雅黑" pitchFamily="34" charset="-122"/>
            </a:endParaRPr>
          </a:p>
        </p:txBody>
      </p:sp>
      <p:sp>
        <p:nvSpPr>
          <p:cNvPr id="40" name="Text Box 29">
            <a:extLst>
              <a:ext uri="{FF2B5EF4-FFF2-40B4-BE49-F238E27FC236}">
                <a16:creationId xmlns:a16="http://schemas.microsoft.com/office/drawing/2014/main" id="{8283EF1A-1233-5BBD-8378-9731C75C3C34}"/>
              </a:ext>
            </a:extLst>
          </p:cNvPr>
          <p:cNvSpPr txBox="1">
            <a:spLocks noChangeArrowheads="1"/>
          </p:cNvSpPr>
          <p:nvPr/>
        </p:nvSpPr>
        <p:spPr bwMode="auto">
          <a:xfrm>
            <a:off x="3018344" y="5309588"/>
            <a:ext cx="663937" cy="209837"/>
          </a:xfrm>
          <a:prstGeom prst="rect">
            <a:avLst/>
          </a:prstGeom>
          <a:solidFill>
            <a:srgbClr val="FF66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8 </a:t>
            </a:r>
          </a:p>
        </p:txBody>
      </p:sp>
      <p:sp>
        <p:nvSpPr>
          <p:cNvPr id="41" name="Text Box 155">
            <a:extLst>
              <a:ext uri="{FF2B5EF4-FFF2-40B4-BE49-F238E27FC236}">
                <a16:creationId xmlns:a16="http://schemas.microsoft.com/office/drawing/2014/main" id="{0360E9E0-20CC-EB8D-1048-A277D5C821D7}"/>
              </a:ext>
            </a:extLst>
          </p:cNvPr>
          <p:cNvSpPr txBox="1">
            <a:spLocks noChangeArrowheads="1"/>
          </p:cNvSpPr>
          <p:nvPr/>
        </p:nvSpPr>
        <p:spPr bwMode="auto">
          <a:xfrm>
            <a:off x="3997176" y="2197736"/>
            <a:ext cx="4374038"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发送方每收到一个对新报文段的确认</a:t>
            </a:r>
          </a:p>
          <a:p>
            <a:pPr algn="ctr">
              <a:lnSpc>
                <a:spcPct val="110000"/>
              </a:lnSpc>
            </a:pPr>
            <a:r>
              <a:rPr lang="zh-CN" altLang="en-US" sz="1600" b="1" dirty="0">
                <a:solidFill>
                  <a:schemeClr val="bg1"/>
                </a:solidFill>
                <a:latin typeface="微软雅黑" pitchFamily="34" charset="-122"/>
                <a:ea typeface="微软雅黑" pitchFamily="34" charset="-122"/>
              </a:rPr>
              <a:t>（重传的不算在内）就使 </a:t>
            </a:r>
            <a:r>
              <a:rPr lang="en-US" altLang="zh-CN" sz="1600" b="1" dirty="0" err="1">
                <a:solidFill>
                  <a:schemeClr val="bg1"/>
                </a:solidFill>
                <a:latin typeface="微软雅黑" pitchFamily="34" charset="-122"/>
                <a:ea typeface="微软雅黑" pitchFamily="34" charset="-122"/>
              </a:rPr>
              <a:t>cwnd</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加 </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 </a:t>
            </a:r>
          </a:p>
        </p:txBody>
      </p:sp>
      <p:sp>
        <p:nvSpPr>
          <p:cNvPr id="42" name="Text Box 5">
            <a:extLst>
              <a:ext uri="{FF2B5EF4-FFF2-40B4-BE49-F238E27FC236}">
                <a16:creationId xmlns:a16="http://schemas.microsoft.com/office/drawing/2014/main" id="{C270F03D-42A1-30EE-B8AE-F63D33547106}"/>
              </a:ext>
            </a:extLst>
          </p:cNvPr>
          <p:cNvSpPr txBox="1">
            <a:spLocks noChangeArrowheads="1"/>
          </p:cNvSpPr>
          <p:nvPr/>
        </p:nvSpPr>
        <p:spPr bwMode="auto">
          <a:xfrm>
            <a:off x="4952789" y="284492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43" name="Text Box 6">
            <a:extLst>
              <a:ext uri="{FF2B5EF4-FFF2-40B4-BE49-F238E27FC236}">
                <a16:creationId xmlns:a16="http://schemas.microsoft.com/office/drawing/2014/main" id="{0E2C871E-111B-57C0-326F-194C21625E29}"/>
              </a:ext>
            </a:extLst>
          </p:cNvPr>
          <p:cNvSpPr txBox="1">
            <a:spLocks noChangeArrowheads="1"/>
          </p:cNvSpPr>
          <p:nvPr/>
        </p:nvSpPr>
        <p:spPr bwMode="auto">
          <a:xfrm>
            <a:off x="6663452" y="284410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接收方</a:t>
            </a:r>
          </a:p>
        </p:txBody>
      </p:sp>
      <p:sp>
        <p:nvSpPr>
          <p:cNvPr id="55" name="灯片编号占位符 54">
            <a:extLst>
              <a:ext uri="{FF2B5EF4-FFF2-40B4-BE49-F238E27FC236}">
                <a16:creationId xmlns:a16="http://schemas.microsoft.com/office/drawing/2014/main" id="{A25FCDE6-52BC-4B4F-AFCC-292E9819CB58}"/>
              </a:ext>
            </a:extLst>
          </p:cNvPr>
          <p:cNvSpPr>
            <a:spLocks noGrp="1"/>
          </p:cNvSpPr>
          <p:nvPr>
            <p:ph type="sldNum" sz="quarter" idx="12"/>
          </p:nvPr>
        </p:nvSpPr>
        <p:spPr/>
        <p:txBody>
          <a:bodyPr/>
          <a:lstStyle/>
          <a:p>
            <a:fld id="{5956A083-5018-4B52-82A0-83241B8E3D94}" type="slidenum">
              <a:rPr lang="zh-CN" altLang="en-US" smtClean="0"/>
              <a:t>51</a:t>
            </a:fld>
            <a:endParaRPr lang="zh-CN" altLang="en-US"/>
          </a:p>
        </p:txBody>
      </p:sp>
    </p:spTree>
    <p:extLst>
      <p:ext uri="{BB962C8B-B14F-4D97-AF65-F5344CB8AC3E}">
        <p14:creationId xmlns:p14="http://schemas.microsoft.com/office/powerpoint/2010/main" val="3169004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37"/>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36"/>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35"/>
                                        </p:tgtEl>
                                        <p:attrNameLst>
                                          <p:attrName>style.visibility</p:attrName>
                                        </p:attrNameLst>
                                      </p:cBhvr>
                                      <p:tavLst>
                                        <p:tav tm="0">
                                          <p:val>
                                            <p:strVal val="hidden"/>
                                          </p:val>
                                        </p:tav>
                                        <p:tav tm="50000">
                                          <p:val>
                                            <p:strVal val="visible"/>
                                          </p:val>
                                        </p:tav>
                                      </p:tavLst>
                                    </p:anim>
                                  </p:childTnLst>
                                </p:cTn>
                              </p:par>
                              <p:par>
                                <p:cTn id="11" presetID="22" presetClass="entr" presetSubtype="1" fill="hold" grpId="0" nodeType="withEffect">
                                  <p:stCondLst>
                                    <p:cond delay="3000"/>
                                  </p:stCondLst>
                                  <p:childTnLst>
                                    <p:set>
                                      <p:cBhvr>
                                        <p:cTn id="12" dur="1" fill="hold">
                                          <p:stCondLst>
                                            <p:cond delay="0"/>
                                          </p:stCondLst>
                                        </p:cTn>
                                        <p:tgtEl>
                                          <p:spTgt spid="39"/>
                                        </p:tgtEl>
                                        <p:attrNameLst>
                                          <p:attrName>style.visibility</p:attrName>
                                        </p:attrNameLst>
                                      </p:cBhvr>
                                      <p:to>
                                        <p:strVal val="visible"/>
                                      </p:to>
                                    </p:set>
                                    <p:animEffect transition="in" filter="wipe(up)">
                                      <p:cBhvr>
                                        <p:cTn id="13" dur="2000"/>
                                        <p:tgtEl>
                                          <p:spTgt spid="39"/>
                                        </p:tgtEl>
                                      </p:cBhvr>
                                    </p:animEffect>
                                  </p:childTnLst>
                                </p:cTn>
                              </p:par>
                              <p:par>
                                <p:cTn id="14" presetID="22" presetClass="entr" presetSubtype="1" fill="hold" grpId="0" nodeType="withEffect">
                                  <p:stCondLst>
                                    <p:cond delay="5000"/>
                                  </p:stCondLst>
                                  <p:childTnLst>
                                    <p:set>
                                      <p:cBhvr>
                                        <p:cTn id="15" dur="1" fill="hold">
                                          <p:stCondLst>
                                            <p:cond delay="0"/>
                                          </p:stCondLst>
                                        </p:cTn>
                                        <p:tgtEl>
                                          <p:spTgt spid="38"/>
                                        </p:tgtEl>
                                        <p:attrNameLst>
                                          <p:attrName>style.visibility</p:attrName>
                                        </p:attrNameLst>
                                      </p:cBhvr>
                                      <p:to>
                                        <p:strVal val="visible"/>
                                      </p:to>
                                    </p:set>
                                    <p:animEffect transition="in" filter="wipe(up)">
                                      <p:cBhvr>
                                        <p:cTn id="16"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5B948-7C01-9BF9-8CDA-2A0923342810}"/>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7B5E7D0D-9D69-4086-A4DB-9DF6EBEBA023}"/>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ABFD40F8-CC74-4650-7AA0-595CAC9BE46F}"/>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0F516B9A-A110-3AF8-0723-16BC4A08E51B}"/>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E9C05F2E-A614-FFF6-4F22-BA08884D19EC}"/>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F8CF74B5-AD54-13BA-B6ED-3ADACE923BE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7A500145-1D17-AEE7-6C21-F37029D30EEB}"/>
              </a:ext>
            </a:extLst>
          </p:cNvPr>
          <p:cNvGrpSpPr/>
          <p:nvPr/>
        </p:nvGrpSpPr>
        <p:grpSpPr>
          <a:xfrm>
            <a:off x="505664" y="1426139"/>
            <a:ext cx="6018426" cy="525531"/>
            <a:chOff x="722008" y="1303131"/>
            <a:chExt cx="5746570" cy="501793"/>
          </a:xfrm>
        </p:grpSpPr>
        <p:sp>
          <p:nvSpPr>
            <p:cNvPr id="50" name="流程图: 手动输入 6">
              <a:extLst>
                <a:ext uri="{FF2B5EF4-FFF2-40B4-BE49-F238E27FC236}">
                  <a16:creationId xmlns:a16="http://schemas.microsoft.com/office/drawing/2014/main" id="{9DA1CF65-15C3-7283-36AC-86A8A61E1F63}"/>
                </a:ext>
              </a:extLst>
            </p:cNvPr>
            <p:cNvSpPr/>
            <p:nvPr/>
          </p:nvSpPr>
          <p:spPr>
            <a:xfrm rot="5400000" flipV="1">
              <a:off x="3286283" y="-991145"/>
              <a:ext cx="475861" cy="5071228"/>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53E58008-D599-8DF3-DB37-59102A41152B}"/>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1AC36D08-8CE7-11F9-AA83-A015BE39B839}"/>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054A4683-2B52-C666-115B-20122E7E4EF7}"/>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A35B837F-9EBE-369A-0C93-5912E1039CF7}"/>
                </a:ext>
              </a:extLst>
            </p:cNvPr>
            <p:cNvSpPr txBox="1">
              <a:spLocks noChangeArrowheads="1"/>
            </p:cNvSpPr>
            <p:nvPr/>
          </p:nvSpPr>
          <p:spPr bwMode="auto">
            <a:xfrm>
              <a:off x="1268603" y="1334724"/>
              <a:ext cx="5199975"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传输轮次（</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transmission round</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a:t>
              </a:r>
            </a:p>
          </p:txBody>
        </p:sp>
      </p:grpSp>
      <p:sp>
        <p:nvSpPr>
          <p:cNvPr id="55" name="Rectangle 68">
            <a:extLst>
              <a:ext uri="{FF2B5EF4-FFF2-40B4-BE49-F238E27FC236}">
                <a16:creationId xmlns:a16="http://schemas.microsoft.com/office/drawing/2014/main" id="{8C7EB9C7-60FE-E06A-1F1F-72FB59D955C5}"/>
              </a:ext>
            </a:extLst>
          </p:cNvPr>
          <p:cNvSpPr>
            <a:spLocks noChangeArrowheads="1"/>
          </p:cNvSpPr>
          <p:nvPr/>
        </p:nvSpPr>
        <p:spPr bwMode="auto">
          <a:xfrm>
            <a:off x="752043" y="2192382"/>
            <a:ext cx="9748146" cy="27970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一个传输轮次</a:t>
            </a:r>
            <a:r>
              <a:rPr lang="zh-CN" altLang="en-US" sz="2400" dirty="0">
                <a:latin typeface="微软雅黑" pitchFamily="34" charset="-122"/>
                <a:ea typeface="微软雅黑" pitchFamily="34" charset="-122"/>
              </a:rPr>
              <a:t>所经历的时间其实就是</a:t>
            </a:r>
            <a:r>
              <a:rPr lang="zh-CN" altLang="en-US" sz="2400" dirty="0">
                <a:solidFill>
                  <a:srgbClr val="C00000"/>
                </a:solidFill>
                <a:latin typeface="微软雅黑" pitchFamily="34" charset="-122"/>
                <a:ea typeface="微软雅黑" pitchFamily="34" charset="-122"/>
              </a:rPr>
              <a:t>往返时间 </a:t>
            </a:r>
            <a:r>
              <a:rPr lang="en-US" altLang="zh-CN" sz="2400" dirty="0">
                <a:latin typeface="微软雅黑" pitchFamily="34" charset="-122"/>
                <a:ea typeface="微软雅黑" pitchFamily="34" charset="-122"/>
              </a:rPr>
              <a:t>RTT</a:t>
            </a:r>
            <a:r>
              <a:rPr lang="zh-CN" altLang="en-US" sz="2400" dirty="0">
                <a:latin typeface="微软雅黑" pitchFamily="34" charset="-122"/>
                <a:ea typeface="微软雅黑" pitchFamily="34" charset="-122"/>
              </a:rPr>
              <a:t>。</a:t>
            </a:r>
          </a:p>
          <a:p>
            <a:pPr marL="342900" indent="-342900">
              <a:lnSpc>
                <a:spcPct val="150000"/>
              </a:lnSpc>
              <a:buClr>
                <a:srgbClr val="0070C0"/>
              </a:buClr>
              <a:buFont typeface="Wingdings" pitchFamily="2" charset="2"/>
              <a:buChar char="l"/>
            </a:pPr>
            <a:r>
              <a:rPr lang="zh-CN" altLang="en-US" sz="2400" dirty="0">
                <a:solidFill>
                  <a:srgbClr val="0000FF"/>
                </a:solidFill>
                <a:latin typeface="微软雅黑" pitchFamily="34" charset="-122"/>
                <a:ea typeface="微软雅黑" pitchFamily="34" charset="-122"/>
              </a:rPr>
              <a:t>传输轮次</a:t>
            </a:r>
            <a:r>
              <a:rPr lang="zh-CN" altLang="en-US" sz="2400" dirty="0">
                <a:solidFill>
                  <a:srgbClr val="C00000"/>
                </a:solidFill>
                <a:latin typeface="微软雅黑" pitchFamily="34" charset="-122"/>
                <a:ea typeface="微软雅黑" pitchFamily="34" charset="-122"/>
              </a:rPr>
              <a:t>强调：</a:t>
            </a:r>
            <a:r>
              <a:rPr lang="zh-CN" altLang="en-US" sz="2400" dirty="0">
                <a:latin typeface="微软雅黑" pitchFamily="34" charset="-122"/>
                <a:ea typeface="微软雅黑" pitchFamily="34" charset="-122"/>
              </a:rPr>
              <a:t>把拥塞窗口 </a:t>
            </a:r>
            <a:r>
              <a:rPr lang="en-US" altLang="zh-CN" sz="2400" dirty="0" err="1">
                <a:latin typeface="微软雅黑" pitchFamily="34" charset="-122"/>
                <a:ea typeface="微软雅黑" pitchFamily="34" charset="-122"/>
              </a:rPr>
              <a:t>cwnd</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所允许发送的报文段都连续发送出去，并收到了对已发送的最后一个字节的确认。</a:t>
            </a: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例如：拥塞窗口 </a:t>
            </a:r>
            <a:r>
              <a:rPr lang="en-US" altLang="zh-CN" sz="2400" dirty="0" err="1">
                <a:latin typeface="微软雅黑" pitchFamily="34" charset="-122"/>
                <a:ea typeface="微软雅黑" pitchFamily="34" charset="-122"/>
              </a:rPr>
              <a:t>cwnd</a:t>
            </a:r>
            <a:r>
              <a:rPr lang="en-US" altLang="zh-CN" sz="2400" dirty="0">
                <a:latin typeface="微软雅黑" pitchFamily="34" charset="-122"/>
                <a:ea typeface="微软雅黑" pitchFamily="34" charset="-122"/>
              </a:rPr>
              <a:t> = 4</a:t>
            </a:r>
            <a:r>
              <a:rPr lang="zh-CN" altLang="en-US" sz="2400" dirty="0">
                <a:latin typeface="微软雅黑" pitchFamily="34" charset="-122"/>
                <a:ea typeface="微软雅黑" pitchFamily="34" charset="-122"/>
              </a:rPr>
              <a:t>，这时的往返时间 </a:t>
            </a:r>
            <a:r>
              <a:rPr lang="en-US" altLang="zh-CN" sz="2400" dirty="0">
                <a:latin typeface="微软雅黑" pitchFamily="34" charset="-122"/>
                <a:ea typeface="微软雅黑" pitchFamily="34" charset="-122"/>
              </a:rPr>
              <a:t>RTT </a:t>
            </a:r>
            <a:r>
              <a:rPr lang="zh-CN" altLang="en-US" sz="2400" dirty="0">
                <a:latin typeface="微软雅黑" pitchFamily="34" charset="-122"/>
                <a:ea typeface="微软雅黑" pitchFamily="34" charset="-122"/>
              </a:rPr>
              <a:t>就是发送方连续发送 </a:t>
            </a:r>
            <a:r>
              <a:rPr lang="en-US" altLang="zh-CN" sz="2400" dirty="0">
                <a:latin typeface="微软雅黑" pitchFamily="34" charset="-122"/>
                <a:ea typeface="微软雅黑" pitchFamily="34" charset="-122"/>
              </a:rPr>
              <a:t>4 </a:t>
            </a:r>
            <a:r>
              <a:rPr lang="zh-CN" altLang="en-US" sz="2400" dirty="0">
                <a:latin typeface="微软雅黑" pitchFamily="34" charset="-122"/>
                <a:ea typeface="微软雅黑" pitchFamily="34" charset="-122"/>
              </a:rPr>
              <a:t>个报文段，并收到这 </a:t>
            </a:r>
            <a:r>
              <a:rPr lang="en-US" altLang="zh-CN" sz="2400" dirty="0">
                <a:latin typeface="微软雅黑" pitchFamily="34" charset="-122"/>
                <a:ea typeface="微软雅黑" pitchFamily="34" charset="-122"/>
              </a:rPr>
              <a:t>4 </a:t>
            </a:r>
            <a:r>
              <a:rPr lang="zh-CN" altLang="en-US" sz="2400" dirty="0">
                <a:latin typeface="微软雅黑" pitchFamily="34" charset="-122"/>
                <a:ea typeface="微软雅黑" pitchFamily="34" charset="-122"/>
              </a:rPr>
              <a:t>个报文段的确认，总共经历的时间。 </a:t>
            </a:r>
          </a:p>
        </p:txBody>
      </p:sp>
      <p:sp>
        <p:nvSpPr>
          <p:cNvPr id="2" name="灯片编号占位符 1">
            <a:extLst>
              <a:ext uri="{FF2B5EF4-FFF2-40B4-BE49-F238E27FC236}">
                <a16:creationId xmlns:a16="http://schemas.microsoft.com/office/drawing/2014/main" id="{9C23AC66-1FCA-4C40-AAB7-FE3B24136D92}"/>
              </a:ext>
            </a:extLst>
          </p:cNvPr>
          <p:cNvSpPr>
            <a:spLocks noGrp="1"/>
          </p:cNvSpPr>
          <p:nvPr>
            <p:ph type="sldNum" sz="quarter" idx="12"/>
          </p:nvPr>
        </p:nvSpPr>
        <p:spPr/>
        <p:txBody>
          <a:bodyPr/>
          <a:lstStyle/>
          <a:p>
            <a:fld id="{5956A083-5018-4B52-82A0-83241B8E3D94}" type="slidenum">
              <a:rPr lang="zh-CN" altLang="en-US" smtClean="0"/>
              <a:t>52</a:t>
            </a:fld>
            <a:endParaRPr lang="zh-CN" altLang="en-US"/>
          </a:p>
        </p:txBody>
      </p:sp>
    </p:spTree>
    <p:extLst>
      <p:ext uri="{BB962C8B-B14F-4D97-AF65-F5344CB8AC3E}">
        <p14:creationId xmlns:p14="http://schemas.microsoft.com/office/powerpoint/2010/main" val="3846251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CD81C-E629-7585-54C1-8E94FA29C488}"/>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2B45969F-6456-475B-4B3B-E445A39A04D5}"/>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C86A3B0F-5269-4CBA-E009-C6B7CA02CB95}"/>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D7D594D4-4D4B-AE47-0137-F8617AD0B4E5}"/>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3F3CA09C-9FDD-9397-4CE9-AD7E453346B5}"/>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363F051D-AFE3-9E2C-8720-E6E407D3AAF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A0312975-E633-1F30-8C26-C7F5F77BE420}"/>
              </a:ext>
            </a:extLst>
          </p:cNvPr>
          <p:cNvGrpSpPr/>
          <p:nvPr/>
        </p:nvGrpSpPr>
        <p:grpSpPr>
          <a:xfrm>
            <a:off x="505664" y="1426139"/>
            <a:ext cx="6018426" cy="525531"/>
            <a:chOff x="722008" y="1303131"/>
            <a:chExt cx="5746570" cy="501793"/>
          </a:xfrm>
        </p:grpSpPr>
        <p:sp>
          <p:nvSpPr>
            <p:cNvPr id="50" name="流程图: 手动输入 6">
              <a:extLst>
                <a:ext uri="{FF2B5EF4-FFF2-40B4-BE49-F238E27FC236}">
                  <a16:creationId xmlns:a16="http://schemas.microsoft.com/office/drawing/2014/main" id="{C3EA9B65-B90A-DAFE-A4D6-FF3DBCD00786}"/>
                </a:ext>
              </a:extLst>
            </p:cNvPr>
            <p:cNvSpPr/>
            <p:nvPr/>
          </p:nvSpPr>
          <p:spPr>
            <a:xfrm rot="5400000" flipV="1">
              <a:off x="3286283" y="-991145"/>
              <a:ext cx="475861" cy="5071228"/>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DCEBDEB3-8D2D-ED57-5A64-27E35E50E94C}"/>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713437A4-48F8-6C75-F13A-82C83E4A7CC1}"/>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9AE22E49-EB20-B4DF-52F2-E32DA9D1E5D0}"/>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961FB9C9-0DCF-8CCF-7292-1C41C5AA7D16}"/>
                </a:ext>
              </a:extLst>
            </p:cNvPr>
            <p:cNvSpPr txBox="1">
              <a:spLocks noChangeArrowheads="1"/>
            </p:cNvSpPr>
            <p:nvPr/>
          </p:nvSpPr>
          <p:spPr bwMode="auto">
            <a:xfrm>
              <a:off x="1268603" y="1334724"/>
              <a:ext cx="5199975"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慢启动门限 </a:t>
              </a:r>
              <a:r>
                <a:rPr kumimoji="1" lang="en-US" altLang="zh-CN" sz="2600" dirty="0" err="1">
                  <a:solidFill>
                    <a:schemeClr val="tx1">
                      <a:lumMod val="85000"/>
                      <a:lumOff val="15000"/>
                    </a:schemeClr>
                  </a:solidFill>
                  <a:latin typeface="思源黑体 CN Medium" panose="020B0600000000000000" pitchFamily="34" charset="-122"/>
                  <a:ea typeface="思源黑体 CN Medium" panose="020B0600000000000000" pitchFamily="34" charset="-122"/>
                </a:rPr>
                <a:t>ssthresh</a:t>
              </a:r>
              <a:endPar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sp>
        <p:nvSpPr>
          <p:cNvPr id="2" name="Rectangle 68">
            <a:extLst>
              <a:ext uri="{FF2B5EF4-FFF2-40B4-BE49-F238E27FC236}">
                <a16:creationId xmlns:a16="http://schemas.microsoft.com/office/drawing/2014/main" id="{9D719CBA-826D-9394-EE60-EB675000B416}"/>
              </a:ext>
            </a:extLst>
          </p:cNvPr>
          <p:cNvSpPr>
            <a:spLocks noChangeArrowheads="1"/>
          </p:cNvSpPr>
          <p:nvPr/>
        </p:nvSpPr>
        <p:spPr bwMode="auto">
          <a:xfrm>
            <a:off x="727140" y="2192382"/>
            <a:ext cx="10652272" cy="2843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防止拥塞窗口 </a:t>
            </a:r>
            <a:r>
              <a:rPr lang="en-US" altLang="zh-CN" sz="2400" dirty="0" err="1">
                <a:latin typeface="微软雅黑" pitchFamily="34" charset="-122"/>
                <a:ea typeface="微软雅黑" pitchFamily="34" charset="-122"/>
              </a:rPr>
              <a:t>cwnd</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增长过大引起网络拥塞。</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solidFill>
                  <a:srgbClr val="0000FF"/>
                </a:solidFill>
                <a:latin typeface="微软雅黑" pitchFamily="34" charset="-122"/>
                <a:ea typeface="微软雅黑" pitchFamily="34" charset="-122"/>
              </a:rPr>
              <a:t>用法：</a:t>
            </a:r>
          </a:p>
          <a:p>
            <a:pPr marL="720725" indent="-342900">
              <a:lnSpc>
                <a:spcPct val="150000"/>
              </a:lnSpc>
              <a:buClr>
                <a:srgbClr val="7030A0"/>
              </a:buClr>
              <a:buFont typeface="+mj-lt"/>
              <a:buAutoNum type="arabicPeriod"/>
            </a:pPr>
            <a:r>
              <a:rPr lang="zh-CN" altLang="en-US" sz="2400" dirty="0">
                <a:latin typeface="微软雅黑" pitchFamily="34" charset="-122"/>
                <a:ea typeface="微软雅黑" pitchFamily="34" charset="-122"/>
              </a:rPr>
              <a:t>当 </a:t>
            </a:r>
            <a:r>
              <a:rPr lang="en-US" altLang="zh-CN" sz="2400" dirty="0" err="1">
                <a:latin typeface="微软雅黑" pitchFamily="34" charset="-122"/>
                <a:ea typeface="微软雅黑" pitchFamily="34" charset="-122"/>
              </a:rPr>
              <a:t>cwnd</a:t>
            </a:r>
            <a:r>
              <a:rPr lang="en-US" altLang="zh-CN" sz="2400" dirty="0">
                <a:latin typeface="微软雅黑" pitchFamily="34" charset="-122"/>
                <a:ea typeface="微软雅黑" pitchFamily="34" charset="-122"/>
              </a:rPr>
              <a:t> &lt; </a:t>
            </a:r>
            <a:r>
              <a:rPr lang="en-US" altLang="zh-CN" sz="2400" dirty="0" err="1">
                <a:latin typeface="微软雅黑" pitchFamily="34" charset="-122"/>
                <a:ea typeface="微软雅黑" pitchFamily="34" charset="-122"/>
              </a:rPr>
              <a:t>ssthresh</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时，使用慢</a:t>
            </a:r>
            <a:r>
              <a:rPr kumimoji="1"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启动</a:t>
            </a:r>
            <a:r>
              <a:rPr lang="zh-CN" altLang="en-US" sz="2400" dirty="0">
                <a:latin typeface="微软雅黑" pitchFamily="34" charset="-122"/>
                <a:ea typeface="微软雅黑" pitchFamily="34" charset="-122"/>
              </a:rPr>
              <a:t>算法。</a:t>
            </a:r>
          </a:p>
          <a:p>
            <a:pPr marL="720725" indent="-342900">
              <a:lnSpc>
                <a:spcPct val="150000"/>
              </a:lnSpc>
              <a:buClr>
                <a:srgbClr val="7030A0"/>
              </a:buClr>
              <a:buFont typeface="+mj-lt"/>
              <a:buAutoNum type="arabicPeriod"/>
            </a:pPr>
            <a:r>
              <a:rPr lang="zh-CN" altLang="en-US" sz="2400" dirty="0">
                <a:latin typeface="微软雅黑" pitchFamily="34" charset="-122"/>
                <a:ea typeface="微软雅黑" pitchFamily="34" charset="-122"/>
              </a:rPr>
              <a:t>当 </a:t>
            </a:r>
            <a:r>
              <a:rPr lang="en-US" altLang="zh-CN" sz="2400" dirty="0" err="1">
                <a:latin typeface="微软雅黑" pitchFamily="34" charset="-122"/>
                <a:ea typeface="微软雅黑" pitchFamily="34" charset="-122"/>
              </a:rPr>
              <a:t>cwnd</a:t>
            </a:r>
            <a:r>
              <a:rPr lang="en-US" altLang="zh-CN" sz="2400" dirty="0">
                <a:latin typeface="微软雅黑" pitchFamily="34" charset="-122"/>
                <a:ea typeface="微软雅黑" pitchFamily="34" charset="-122"/>
              </a:rPr>
              <a:t> &gt; </a:t>
            </a:r>
            <a:r>
              <a:rPr lang="en-US" altLang="zh-CN" sz="2400" dirty="0" err="1">
                <a:latin typeface="微软雅黑" pitchFamily="34" charset="-122"/>
                <a:ea typeface="微软雅黑" pitchFamily="34" charset="-122"/>
              </a:rPr>
              <a:t>ssthresh</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时，停止使用慢</a:t>
            </a:r>
            <a:r>
              <a:rPr kumimoji="1"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启动</a:t>
            </a:r>
            <a:r>
              <a:rPr lang="zh-CN" altLang="en-US" sz="2400" dirty="0">
                <a:latin typeface="微软雅黑" pitchFamily="34" charset="-122"/>
                <a:ea typeface="微软雅黑" pitchFamily="34" charset="-122"/>
              </a:rPr>
              <a:t>算法，改用拥塞避免算法。</a:t>
            </a:r>
          </a:p>
          <a:p>
            <a:pPr marL="720725" indent="-342900">
              <a:lnSpc>
                <a:spcPct val="150000"/>
              </a:lnSpc>
              <a:buClr>
                <a:srgbClr val="7030A0"/>
              </a:buClr>
              <a:buFont typeface="+mj-lt"/>
              <a:buAutoNum type="arabicPeriod"/>
            </a:pPr>
            <a:r>
              <a:rPr lang="zh-CN" altLang="en-US" sz="2400" dirty="0">
                <a:latin typeface="微软雅黑" pitchFamily="34" charset="-122"/>
                <a:ea typeface="微软雅黑" pitchFamily="34" charset="-122"/>
              </a:rPr>
              <a:t>当 </a:t>
            </a:r>
            <a:r>
              <a:rPr lang="en-US" altLang="zh-CN" sz="2400" dirty="0" err="1">
                <a:latin typeface="微软雅黑" pitchFamily="34" charset="-122"/>
                <a:ea typeface="微软雅黑" pitchFamily="34" charset="-122"/>
              </a:rPr>
              <a:t>cwnd</a:t>
            </a:r>
            <a:r>
              <a:rPr lang="en-US" altLang="zh-CN" sz="2400" dirty="0">
                <a:latin typeface="微软雅黑" pitchFamily="34" charset="-122"/>
                <a:ea typeface="微软雅黑" pitchFamily="34" charset="-122"/>
              </a:rPr>
              <a:t> = </a:t>
            </a:r>
            <a:r>
              <a:rPr lang="en-US" altLang="zh-CN" sz="2400" dirty="0" err="1">
                <a:latin typeface="微软雅黑" pitchFamily="34" charset="-122"/>
                <a:ea typeface="微软雅黑" pitchFamily="34" charset="-122"/>
              </a:rPr>
              <a:t>ssthresh</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时，既可使用慢</a:t>
            </a:r>
            <a:r>
              <a:rPr kumimoji="1"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启动</a:t>
            </a:r>
            <a:r>
              <a:rPr lang="zh-CN" altLang="en-US" sz="2400" dirty="0">
                <a:latin typeface="微软雅黑" pitchFamily="34" charset="-122"/>
                <a:ea typeface="微软雅黑" pitchFamily="34" charset="-122"/>
              </a:rPr>
              <a:t>算法，也可使用拥塞避免算法。</a:t>
            </a:r>
          </a:p>
        </p:txBody>
      </p:sp>
      <p:sp>
        <p:nvSpPr>
          <p:cNvPr id="3" name="灯片编号占位符 2">
            <a:extLst>
              <a:ext uri="{FF2B5EF4-FFF2-40B4-BE49-F238E27FC236}">
                <a16:creationId xmlns:a16="http://schemas.microsoft.com/office/drawing/2014/main" id="{07A3ABB0-9738-4A1F-A8F1-C93248A10D45}"/>
              </a:ext>
            </a:extLst>
          </p:cNvPr>
          <p:cNvSpPr>
            <a:spLocks noGrp="1"/>
          </p:cNvSpPr>
          <p:nvPr>
            <p:ph type="sldNum" sz="quarter" idx="12"/>
          </p:nvPr>
        </p:nvSpPr>
        <p:spPr/>
        <p:txBody>
          <a:bodyPr/>
          <a:lstStyle/>
          <a:p>
            <a:fld id="{5956A083-5018-4B52-82A0-83241B8E3D94}" type="slidenum">
              <a:rPr lang="zh-CN" altLang="en-US" smtClean="0"/>
              <a:t>53</a:t>
            </a:fld>
            <a:endParaRPr lang="zh-CN" altLang="en-US"/>
          </a:p>
        </p:txBody>
      </p:sp>
    </p:spTree>
    <p:extLst>
      <p:ext uri="{BB962C8B-B14F-4D97-AF65-F5344CB8AC3E}">
        <p14:creationId xmlns:p14="http://schemas.microsoft.com/office/powerpoint/2010/main" val="10743918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FF77B-18D5-2260-4CC1-0D418E723875}"/>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0B735FED-AC52-1E1E-7E50-82217A156ECB}"/>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A8D972DA-8FB5-0BDC-FC91-DD0E14BE3DA5}"/>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A6B58277-5129-AF3C-F317-D7DD11F376E5}"/>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B00D54A2-7F33-A265-EAE7-C3B553DEBC4D}"/>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881704C9-AA2B-2922-0C04-5DE106B90F4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F212611C-A937-1061-E3B9-D059CB9C620A}"/>
              </a:ext>
            </a:extLst>
          </p:cNvPr>
          <p:cNvGrpSpPr/>
          <p:nvPr/>
        </p:nvGrpSpPr>
        <p:grpSpPr>
          <a:xfrm>
            <a:off x="505664" y="1426139"/>
            <a:ext cx="2336094" cy="525531"/>
            <a:chOff x="722008" y="1303131"/>
            <a:chExt cx="2230571" cy="501793"/>
          </a:xfrm>
        </p:grpSpPr>
        <p:sp>
          <p:nvSpPr>
            <p:cNvPr id="50" name="流程图: 手动输入 6">
              <a:extLst>
                <a:ext uri="{FF2B5EF4-FFF2-40B4-BE49-F238E27FC236}">
                  <a16:creationId xmlns:a16="http://schemas.microsoft.com/office/drawing/2014/main" id="{D26ACE2B-4DA0-10C5-4636-44C0BCF09B69}"/>
                </a:ext>
              </a:extLst>
            </p:cNvPr>
            <p:cNvSpPr/>
            <p:nvPr/>
          </p:nvSpPr>
          <p:spPr>
            <a:xfrm rot="5400000" flipV="1">
              <a:off x="1680703" y="614436"/>
              <a:ext cx="475861" cy="1860066"/>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FF379BE8-E896-27A2-8AB5-F21F5DD09EB1}"/>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57CAF588-DCA6-3615-1E7C-F324E66C7ECB}"/>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1E7978C7-116F-A2BB-C6DC-3F586F07180E}"/>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ED849BAD-7210-63EE-8459-C2C0192A50E2}"/>
                </a:ext>
              </a:extLst>
            </p:cNvPr>
            <p:cNvSpPr txBox="1">
              <a:spLocks noChangeArrowheads="1"/>
            </p:cNvSpPr>
            <p:nvPr/>
          </p:nvSpPr>
          <p:spPr bwMode="auto">
            <a:xfrm>
              <a:off x="1268603" y="1334724"/>
              <a:ext cx="1683976"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拥塞避免</a:t>
              </a:r>
              <a:endPar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sp>
        <p:nvSpPr>
          <p:cNvPr id="3" name="Rectangle 68">
            <a:extLst>
              <a:ext uri="{FF2B5EF4-FFF2-40B4-BE49-F238E27FC236}">
                <a16:creationId xmlns:a16="http://schemas.microsoft.com/office/drawing/2014/main" id="{C77B78DC-DF5B-8101-798D-1C4332468BF0}"/>
              </a:ext>
            </a:extLst>
          </p:cNvPr>
          <p:cNvSpPr>
            <a:spLocks noChangeArrowheads="1"/>
          </p:cNvSpPr>
          <p:nvPr/>
        </p:nvSpPr>
        <p:spPr bwMode="auto">
          <a:xfrm>
            <a:off x="784867" y="1981190"/>
            <a:ext cx="10876303" cy="27970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目的：</a:t>
            </a:r>
            <a:r>
              <a:rPr lang="zh-CN" altLang="en-US" sz="2400" dirty="0">
                <a:latin typeface="微软雅黑" pitchFamily="34" charset="-122"/>
                <a:ea typeface="微软雅黑" pitchFamily="34" charset="-122"/>
              </a:rPr>
              <a:t>让拥塞窗口 </a:t>
            </a:r>
            <a:r>
              <a:rPr lang="en-US" altLang="zh-CN" sz="2400" dirty="0" err="1">
                <a:latin typeface="微软雅黑" pitchFamily="34" charset="-122"/>
                <a:ea typeface="微软雅黑" pitchFamily="34" charset="-122"/>
              </a:rPr>
              <a:t>cwnd</a:t>
            </a:r>
            <a:r>
              <a:rPr lang="en-US" altLang="zh-CN" sz="2400" dirty="0">
                <a:latin typeface="微软雅黑" pitchFamily="34" charset="-122"/>
                <a:ea typeface="微软雅黑" pitchFamily="34" charset="-122"/>
              </a:rPr>
              <a:t> </a:t>
            </a:r>
            <a:r>
              <a:rPr lang="zh-CN" altLang="en-US" sz="2400" dirty="0">
                <a:solidFill>
                  <a:srgbClr val="0000FF"/>
                </a:solidFill>
                <a:latin typeface="微软雅黑" pitchFamily="34" charset="-122"/>
                <a:ea typeface="微软雅黑" pitchFamily="34" charset="-122"/>
              </a:rPr>
              <a:t>缓慢地</a:t>
            </a:r>
            <a:r>
              <a:rPr lang="zh-CN" altLang="en-US" sz="2400" dirty="0">
                <a:latin typeface="微软雅黑" pitchFamily="34" charset="-122"/>
                <a:ea typeface="微软雅黑" pitchFamily="34" charset="-122"/>
              </a:rPr>
              <a:t>增大，</a:t>
            </a:r>
            <a:r>
              <a:rPr lang="zh-CN" altLang="en-US" sz="2400" dirty="0">
                <a:solidFill>
                  <a:srgbClr val="0000FF"/>
                </a:solidFill>
                <a:latin typeface="微软雅黑" pitchFamily="34" charset="-122"/>
                <a:ea typeface="微软雅黑" pitchFamily="34" charset="-122"/>
              </a:rPr>
              <a:t>避免</a:t>
            </a:r>
            <a:r>
              <a:rPr lang="zh-CN" altLang="en-US" sz="2400" dirty="0">
                <a:latin typeface="微软雅黑" pitchFamily="34" charset="-122"/>
                <a:ea typeface="微软雅黑" pitchFamily="34" charset="-122"/>
              </a:rPr>
              <a:t>出现拥塞。</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拥塞窗口 </a:t>
            </a:r>
            <a:r>
              <a:rPr lang="en-US" altLang="zh-CN" sz="2400" dirty="0" err="1">
                <a:solidFill>
                  <a:srgbClr val="C00000"/>
                </a:solidFill>
                <a:latin typeface="微软雅黑" pitchFamily="34" charset="-122"/>
                <a:ea typeface="微软雅黑" pitchFamily="34" charset="-122"/>
              </a:rPr>
              <a:t>cwnd</a:t>
            </a:r>
            <a:r>
              <a:rPr lang="en-US" altLang="zh-CN" sz="2400" dirty="0">
                <a:solidFill>
                  <a:srgbClr val="C00000"/>
                </a:solidFill>
                <a:latin typeface="微软雅黑" pitchFamily="34" charset="-122"/>
                <a:ea typeface="微软雅黑" pitchFamily="34" charset="-122"/>
              </a:rPr>
              <a:t> </a:t>
            </a:r>
            <a:r>
              <a:rPr lang="zh-CN" altLang="en-US" sz="2400" dirty="0">
                <a:solidFill>
                  <a:srgbClr val="C00000"/>
                </a:solidFill>
                <a:latin typeface="微软雅黑" pitchFamily="34" charset="-122"/>
                <a:ea typeface="微软雅黑" pitchFamily="34" charset="-122"/>
              </a:rPr>
              <a:t>增大：</a:t>
            </a:r>
            <a:r>
              <a:rPr lang="zh-CN" altLang="en-US" sz="2400" dirty="0">
                <a:solidFill>
                  <a:srgbClr val="0000FF"/>
                </a:solidFill>
                <a:latin typeface="微软雅黑" pitchFamily="34" charset="-122"/>
                <a:ea typeface="微软雅黑" pitchFamily="34" charset="-122"/>
              </a:rPr>
              <a:t>每经过一个往返时间 </a:t>
            </a:r>
            <a:r>
              <a:rPr lang="en-US" altLang="zh-CN" sz="2400" dirty="0">
                <a:solidFill>
                  <a:srgbClr val="0000FF"/>
                </a:solidFill>
                <a:latin typeface="微软雅黑" pitchFamily="34" charset="-122"/>
                <a:ea typeface="微软雅黑" pitchFamily="34" charset="-122"/>
              </a:rPr>
              <a:t>RTT</a:t>
            </a:r>
            <a:r>
              <a:rPr lang="zh-CN" altLang="en-US" sz="2400" dirty="0">
                <a:latin typeface="微软雅黑" pitchFamily="34" charset="-122"/>
                <a:ea typeface="微软雅黑" pitchFamily="34" charset="-122"/>
              </a:rPr>
              <a:t>（不管在此期间收到了多少确认），发送方的拥塞窗口 </a:t>
            </a:r>
            <a:r>
              <a:rPr lang="en-US" altLang="zh-CN" sz="2400" dirty="0" err="1">
                <a:latin typeface="微软雅黑" pitchFamily="34" charset="-122"/>
                <a:ea typeface="微软雅黑" pitchFamily="34" charset="-122"/>
              </a:rPr>
              <a:t>cwnd</a:t>
            </a:r>
            <a:r>
              <a:rPr lang="en-US" altLang="zh-CN" sz="2400" dirty="0">
                <a:latin typeface="微软雅黑" pitchFamily="34" charset="-122"/>
                <a:ea typeface="微软雅黑" pitchFamily="34" charset="-122"/>
              </a:rPr>
              <a:t> = </a:t>
            </a:r>
            <a:r>
              <a:rPr lang="en-US" altLang="zh-CN" sz="2400" dirty="0" err="1">
                <a:latin typeface="微软雅黑" pitchFamily="34" charset="-122"/>
                <a:ea typeface="微软雅黑" pitchFamily="34" charset="-122"/>
              </a:rPr>
              <a:t>cwnd</a:t>
            </a:r>
            <a:r>
              <a:rPr lang="en-US" altLang="zh-CN" sz="2400" dirty="0">
                <a:latin typeface="微软雅黑" pitchFamily="34" charset="-122"/>
                <a:ea typeface="微软雅黑" pitchFamily="34" charset="-122"/>
              </a:rPr>
              <a:t> + 1</a:t>
            </a:r>
            <a:r>
              <a:rPr lang="zh-CN" altLang="en-US" sz="2400" dirty="0">
                <a:latin typeface="微软雅黑" pitchFamily="34" charset="-122"/>
                <a:ea typeface="微软雅黑" pitchFamily="34" charset="-122"/>
              </a:rPr>
              <a:t>。</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具有</a:t>
            </a:r>
            <a:r>
              <a:rPr lang="zh-CN" altLang="en-US" sz="2400" dirty="0">
                <a:solidFill>
                  <a:srgbClr val="C00000"/>
                </a:solidFill>
                <a:latin typeface="微软雅黑" pitchFamily="34" charset="-122"/>
                <a:ea typeface="微软雅黑" pitchFamily="34" charset="-122"/>
              </a:rPr>
              <a:t>加法增大 </a:t>
            </a:r>
            <a:r>
              <a:rPr lang="en-US" altLang="zh-CN" sz="2400" dirty="0">
                <a:solidFill>
                  <a:srgbClr val="C00000"/>
                </a:solidFill>
                <a:latin typeface="微软雅黑" pitchFamily="34" charset="-122"/>
                <a:ea typeface="微软雅黑" pitchFamily="34" charset="-122"/>
              </a:rPr>
              <a:t>AI</a:t>
            </a:r>
            <a:r>
              <a:rPr lang="zh-CN" altLang="en-US" sz="2400" dirty="0">
                <a:solidFill>
                  <a:srgbClr val="C00000"/>
                </a:solidFill>
                <a:latin typeface="微软雅黑" pitchFamily="34" charset="-122"/>
                <a:ea typeface="微软雅黑" pitchFamily="34" charset="-122"/>
              </a:rPr>
              <a:t> </a:t>
            </a:r>
            <a:r>
              <a:rPr lang="en-US" altLang="zh-CN" sz="2400" dirty="0">
                <a:latin typeface="微软雅黑" pitchFamily="34" charset="-122"/>
                <a:ea typeface="微软雅黑" pitchFamily="34" charset="-122"/>
              </a:rPr>
              <a:t>(Additive Increase) </a:t>
            </a:r>
            <a:r>
              <a:rPr lang="zh-CN" altLang="en-US" sz="2400" dirty="0">
                <a:latin typeface="微软雅黑" pitchFamily="34" charset="-122"/>
                <a:ea typeface="微软雅黑" pitchFamily="34" charset="-122"/>
              </a:rPr>
              <a:t>特点：使拥塞窗口 </a:t>
            </a:r>
            <a:r>
              <a:rPr lang="en-US" altLang="zh-CN" sz="2400" dirty="0" err="1">
                <a:latin typeface="微软雅黑" pitchFamily="34" charset="-122"/>
                <a:ea typeface="微软雅黑" pitchFamily="34" charset="-122"/>
              </a:rPr>
              <a:t>cwnd</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按</a:t>
            </a:r>
            <a:r>
              <a:rPr lang="zh-CN" altLang="en-US" sz="2400" dirty="0">
                <a:solidFill>
                  <a:srgbClr val="C00000"/>
                </a:solidFill>
                <a:latin typeface="微软雅黑" pitchFamily="34" charset="-122"/>
                <a:ea typeface="微软雅黑" pitchFamily="34" charset="-122"/>
              </a:rPr>
              <a:t>线性</a:t>
            </a:r>
            <a:r>
              <a:rPr lang="zh-CN" altLang="en-US" sz="2400" dirty="0">
                <a:latin typeface="微软雅黑" pitchFamily="34" charset="-122"/>
                <a:ea typeface="微软雅黑" pitchFamily="34" charset="-122"/>
              </a:rPr>
              <a:t>规律缓慢增长。</a:t>
            </a:r>
          </a:p>
        </p:txBody>
      </p:sp>
      <p:sp>
        <p:nvSpPr>
          <p:cNvPr id="4" name="矩形 3">
            <a:extLst>
              <a:ext uri="{FF2B5EF4-FFF2-40B4-BE49-F238E27FC236}">
                <a16:creationId xmlns:a16="http://schemas.microsoft.com/office/drawing/2014/main" id="{A6EEC46B-3458-20DB-40E2-030EB2D8B2E9}"/>
              </a:ext>
            </a:extLst>
          </p:cNvPr>
          <p:cNvSpPr/>
          <p:nvPr/>
        </p:nvSpPr>
        <p:spPr>
          <a:xfrm>
            <a:off x="2841758" y="4691690"/>
            <a:ext cx="6508483" cy="1092607"/>
          </a:xfrm>
          <a:prstGeom prst="rect">
            <a:avLst/>
          </a:prstGeom>
          <a:solidFill>
            <a:srgbClr val="A50021"/>
          </a:solidFill>
        </p:spPr>
        <p:txBody>
          <a:bodyPr wrap="square">
            <a:spAutoFit/>
          </a:bodyPr>
          <a:lstStyle/>
          <a:p>
            <a:pPr>
              <a:lnSpc>
                <a:spcPts val="2600"/>
              </a:lnSpc>
            </a:pPr>
            <a:r>
              <a:rPr lang="zh-CN" altLang="en-US" sz="2400" b="1" dirty="0">
                <a:solidFill>
                  <a:schemeClr val="bg1"/>
                </a:solidFill>
                <a:latin typeface="微软雅黑" panose="020B0503020204020204" pitchFamily="34" charset="-122"/>
                <a:ea typeface="微软雅黑" panose="020B0503020204020204" pitchFamily="34" charset="-122"/>
              </a:rPr>
              <a:t>注意：</a:t>
            </a:r>
            <a:endParaRPr lang="en-US" altLang="zh-CN" sz="2400" b="1" dirty="0">
              <a:solidFill>
                <a:schemeClr val="bg1"/>
              </a:solidFill>
              <a:latin typeface="微软雅黑" panose="020B0503020204020204" pitchFamily="34" charset="-122"/>
              <a:ea typeface="微软雅黑" panose="020B0503020204020204" pitchFamily="34" charset="-122"/>
            </a:endParaRPr>
          </a:p>
          <a:p>
            <a:pPr>
              <a:lnSpc>
                <a:spcPts val="2600"/>
              </a:lnSpc>
            </a:pPr>
            <a:r>
              <a:rPr lang="zh-CN" altLang="en-US" sz="2400" b="1" dirty="0">
                <a:solidFill>
                  <a:schemeClr val="bg1"/>
                </a:solidFill>
                <a:latin typeface="微软雅黑" panose="020B0503020204020204" pitchFamily="34" charset="-122"/>
                <a:ea typeface="微软雅黑" panose="020B0503020204020204" pitchFamily="34" charset="-122"/>
              </a:rPr>
              <a:t>拥塞避免并非完全避免拥塞，而是让拥塞窗口增长得缓慢些，使网络不容易出现拥塞。</a:t>
            </a:r>
          </a:p>
        </p:txBody>
      </p:sp>
      <p:sp>
        <p:nvSpPr>
          <p:cNvPr id="2" name="灯片编号占位符 1">
            <a:extLst>
              <a:ext uri="{FF2B5EF4-FFF2-40B4-BE49-F238E27FC236}">
                <a16:creationId xmlns:a16="http://schemas.microsoft.com/office/drawing/2014/main" id="{6FBB63DD-FEB2-4194-856D-3A444CC9A9B6}"/>
              </a:ext>
            </a:extLst>
          </p:cNvPr>
          <p:cNvSpPr>
            <a:spLocks noGrp="1"/>
          </p:cNvSpPr>
          <p:nvPr>
            <p:ph type="sldNum" sz="quarter" idx="12"/>
          </p:nvPr>
        </p:nvSpPr>
        <p:spPr/>
        <p:txBody>
          <a:bodyPr/>
          <a:lstStyle/>
          <a:p>
            <a:fld id="{5956A083-5018-4B52-82A0-83241B8E3D94}" type="slidenum">
              <a:rPr lang="zh-CN" altLang="en-US" smtClean="0"/>
              <a:t>54</a:t>
            </a:fld>
            <a:endParaRPr lang="zh-CN" altLang="en-US"/>
          </a:p>
        </p:txBody>
      </p:sp>
    </p:spTree>
    <p:extLst>
      <p:ext uri="{BB962C8B-B14F-4D97-AF65-F5344CB8AC3E}">
        <p14:creationId xmlns:p14="http://schemas.microsoft.com/office/powerpoint/2010/main" val="29289034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C9886-71ED-75E1-BF26-B6E7B5610361}"/>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FF33386A-5F87-384E-950D-8D7CB28542E7}"/>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A408AC87-BD6A-C6A7-4789-AF5FF8E17663}"/>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15D16A58-D5F2-DE20-26EA-5FE0AEA93B82}"/>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441F261A-D429-E154-1708-46D2C616F959}"/>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0A979B3B-41E0-C2F5-4BF9-905EC090424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BCDFD4E0-2430-87C1-95FE-A076CDE6E158}"/>
              </a:ext>
            </a:extLst>
          </p:cNvPr>
          <p:cNvGrpSpPr/>
          <p:nvPr/>
        </p:nvGrpSpPr>
        <p:grpSpPr>
          <a:xfrm>
            <a:off x="505664" y="1426139"/>
            <a:ext cx="2330008" cy="525531"/>
            <a:chOff x="722008" y="1303131"/>
            <a:chExt cx="2224760" cy="501793"/>
          </a:xfrm>
        </p:grpSpPr>
        <p:sp>
          <p:nvSpPr>
            <p:cNvPr id="50" name="流程图: 手动输入 6">
              <a:extLst>
                <a:ext uri="{FF2B5EF4-FFF2-40B4-BE49-F238E27FC236}">
                  <a16:creationId xmlns:a16="http://schemas.microsoft.com/office/drawing/2014/main" id="{0177FDA6-044B-517C-780B-209465F6F8C3}"/>
                </a:ext>
              </a:extLst>
            </p:cNvPr>
            <p:cNvSpPr/>
            <p:nvPr/>
          </p:nvSpPr>
          <p:spPr>
            <a:xfrm rot="5400000" flipV="1">
              <a:off x="1729754" y="565386"/>
              <a:ext cx="475861" cy="1958166"/>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dirty="0">
                <a:latin typeface="+mn-ea"/>
                <a:cs typeface="Arial" panose="020B0604020202020204" pitchFamily="34" charset="0"/>
              </a:endParaRPr>
            </a:p>
          </p:txBody>
        </p:sp>
        <p:grpSp>
          <p:nvGrpSpPr>
            <p:cNvPr id="51" name="组合 50">
              <a:extLst>
                <a:ext uri="{FF2B5EF4-FFF2-40B4-BE49-F238E27FC236}">
                  <a16:creationId xmlns:a16="http://schemas.microsoft.com/office/drawing/2014/main" id="{289F26CF-9A20-B527-365C-D143327CE0CC}"/>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21F496B3-A17D-BE1E-A8B7-32904D79BA8E}"/>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395E1B6D-1CF7-59BA-7A54-5EC50B5F3FED}"/>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0C8B1800-5651-E1DF-3FC0-449C2B39C921}"/>
                </a:ext>
              </a:extLst>
            </p:cNvPr>
            <p:cNvSpPr txBox="1">
              <a:spLocks noChangeArrowheads="1"/>
            </p:cNvSpPr>
            <p:nvPr/>
          </p:nvSpPr>
          <p:spPr bwMode="auto">
            <a:xfrm>
              <a:off x="1268604" y="1334724"/>
              <a:ext cx="1678160"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拥塞避免</a:t>
              </a:r>
              <a:endPar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sp>
        <p:nvSpPr>
          <p:cNvPr id="2" name="圆角矩形 113">
            <a:extLst>
              <a:ext uri="{FF2B5EF4-FFF2-40B4-BE49-F238E27FC236}">
                <a16:creationId xmlns:a16="http://schemas.microsoft.com/office/drawing/2014/main" id="{8E24FC4E-10A3-76E5-B8C7-CAC80EE728D0}"/>
              </a:ext>
            </a:extLst>
          </p:cNvPr>
          <p:cNvSpPr/>
          <p:nvPr/>
        </p:nvSpPr>
        <p:spPr>
          <a:xfrm>
            <a:off x="2291750" y="2249059"/>
            <a:ext cx="8053711" cy="3712463"/>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Rectangle 2">
            <a:extLst>
              <a:ext uri="{FF2B5EF4-FFF2-40B4-BE49-F238E27FC236}">
                <a16:creationId xmlns:a16="http://schemas.microsoft.com/office/drawing/2014/main" id="{B3837126-5DAD-F03E-CA1A-A62234CAE368}"/>
              </a:ext>
            </a:extLst>
          </p:cNvPr>
          <p:cNvSpPr>
            <a:spLocks noChangeArrowheads="1"/>
          </p:cNvSpPr>
          <p:nvPr/>
        </p:nvSpPr>
        <p:spPr bwMode="auto">
          <a:xfrm>
            <a:off x="5360563" y="3648701"/>
            <a:ext cx="4768069" cy="570494"/>
          </a:xfrm>
          <a:prstGeom prst="rect">
            <a:avLst/>
          </a:prstGeom>
          <a:solidFill>
            <a:sysClr val="window" lastClr="FF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微软雅黑" pitchFamily="34" charset="-122"/>
              <a:ea typeface="微软雅黑" pitchFamily="34" charset="-122"/>
            </a:endParaRPr>
          </a:p>
        </p:txBody>
      </p:sp>
      <p:sp>
        <p:nvSpPr>
          <p:cNvPr id="6" name="Rectangle 3">
            <a:extLst>
              <a:ext uri="{FF2B5EF4-FFF2-40B4-BE49-F238E27FC236}">
                <a16:creationId xmlns:a16="http://schemas.microsoft.com/office/drawing/2014/main" id="{324848E9-8EF0-6877-3B2C-6AB001696459}"/>
              </a:ext>
            </a:extLst>
          </p:cNvPr>
          <p:cNvSpPr>
            <a:spLocks noChangeArrowheads="1"/>
          </p:cNvSpPr>
          <p:nvPr/>
        </p:nvSpPr>
        <p:spPr bwMode="auto">
          <a:xfrm>
            <a:off x="5365481" y="4267554"/>
            <a:ext cx="4761551" cy="756000"/>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200" kern="0">
              <a:solidFill>
                <a:prstClr val="black"/>
              </a:solidFill>
              <a:latin typeface="微软雅黑" pitchFamily="34" charset="-122"/>
              <a:ea typeface="微软雅黑" pitchFamily="34" charset="-122"/>
            </a:endParaRPr>
          </a:p>
        </p:txBody>
      </p:sp>
      <p:sp>
        <p:nvSpPr>
          <p:cNvPr id="7" name="Rectangle 4">
            <a:extLst>
              <a:ext uri="{FF2B5EF4-FFF2-40B4-BE49-F238E27FC236}">
                <a16:creationId xmlns:a16="http://schemas.microsoft.com/office/drawing/2014/main" id="{0FEB3DE5-0C0F-4CFE-DDD7-88E4990F8404}"/>
              </a:ext>
            </a:extLst>
          </p:cNvPr>
          <p:cNvSpPr>
            <a:spLocks noChangeArrowheads="1"/>
          </p:cNvSpPr>
          <p:nvPr/>
        </p:nvSpPr>
        <p:spPr bwMode="auto">
          <a:xfrm>
            <a:off x="5358923" y="3134764"/>
            <a:ext cx="4770240" cy="426231"/>
          </a:xfrm>
          <a:prstGeom prst="rect">
            <a:avLst/>
          </a:prstGeom>
          <a:solidFill>
            <a:srgbClr val="00FFFF"/>
          </a:solidFill>
          <a:ln>
            <a:noFill/>
          </a:ln>
          <a:effectLst/>
        </p:spPr>
        <p:txBody>
          <a:bodyPr wrap="none" anchor="ctr"/>
          <a:lstStyle/>
          <a:p>
            <a:pPr>
              <a:defRPr/>
            </a:pPr>
            <a:endParaRPr lang="zh-CN" altLang="en-US" sz="1200" kern="0">
              <a:solidFill>
                <a:prstClr val="black"/>
              </a:solidFill>
              <a:latin typeface="微软雅黑" pitchFamily="34" charset="-122"/>
              <a:ea typeface="微软雅黑" pitchFamily="34" charset="-122"/>
            </a:endParaRPr>
          </a:p>
        </p:txBody>
      </p:sp>
      <p:sp>
        <p:nvSpPr>
          <p:cNvPr id="8" name="Text Box 5">
            <a:extLst>
              <a:ext uri="{FF2B5EF4-FFF2-40B4-BE49-F238E27FC236}">
                <a16:creationId xmlns:a16="http://schemas.microsoft.com/office/drawing/2014/main" id="{1A780921-FFFE-2F76-FC69-37BB0D952739}"/>
              </a:ext>
            </a:extLst>
          </p:cNvPr>
          <p:cNvSpPr txBox="1">
            <a:spLocks noChangeArrowheads="1"/>
          </p:cNvSpPr>
          <p:nvPr/>
        </p:nvSpPr>
        <p:spPr bwMode="auto">
          <a:xfrm>
            <a:off x="5096627" y="276017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defRPr/>
            </a:pPr>
            <a:r>
              <a:rPr kumimoji="0" lang="zh-CN" altLang="en-US" sz="1200" kern="0" dirty="0">
                <a:solidFill>
                  <a:prstClr val="black"/>
                </a:solidFill>
                <a:latin typeface="微软雅黑" pitchFamily="34" charset="-122"/>
                <a:ea typeface="微软雅黑" pitchFamily="34" charset="-122"/>
              </a:rPr>
              <a:t>发送方</a:t>
            </a:r>
          </a:p>
        </p:txBody>
      </p:sp>
      <p:sp>
        <p:nvSpPr>
          <p:cNvPr id="9" name="Text Box 6">
            <a:extLst>
              <a:ext uri="{FF2B5EF4-FFF2-40B4-BE49-F238E27FC236}">
                <a16:creationId xmlns:a16="http://schemas.microsoft.com/office/drawing/2014/main" id="{9480FE7C-2AEE-9F6B-6A23-EF697194AB70}"/>
              </a:ext>
            </a:extLst>
          </p:cNvPr>
          <p:cNvSpPr txBox="1">
            <a:spLocks noChangeArrowheads="1"/>
          </p:cNvSpPr>
          <p:nvPr/>
        </p:nvSpPr>
        <p:spPr bwMode="auto">
          <a:xfrm>
            <a:off x="6807290" y="275935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defRPr/>
            </a:pPr>
            <a:r>
              <a:rPr kumimoji="0" lang="zh-CN" altLang="en-US" sz="1200" kern="0">
                <a:solidFill>
                  <a:prstClr val="black"/>
                </a:solidFill>
                <a:latin typeface="微软雅黑" pitchFamily="34" charset="-122"/>
                <a:ea typeface="微软雅黑" pitchFamily="34" charset="-122"/>
              </a:rPr>
              <a:t>接收方</a:t>
            </a:r>
          </a:p>
        </p:txBody>
      </p:sp>
      <p:sp>
        <p:nvSpPr>
          <p:cNvPr id="10" name="Text Box 7">
            <a:extLst>
              <a:ext uri="{FF2B5EF4-FFF2-40B4-BE49-F238E27FC236}">
                <a16:creationId xmlns:a16="http://schemas.microsoft.com/office/drawing/2014/main" id="{994B559E-BE41-4EA6-7AA4-99F11D07203B}"/>
              </a:ext>
            </a:extLst>
          </p:cNvPr>
          <p:cNvSpPr txBox="1">
            <a:spLocks noChangeArrowheads="1"/>
          </p:cNvSpPr>
          <p:nvPr/>
        </p:nvSpPr>
        <p:spPr bwMode="auto">
          <a:xfrm>
            <a:off x="4643706" y="301181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defRPr/>
            </a:pPr>
            <a:r>
              <a:rPr kumimoji="0" lang="zh-CN" altLang="en-US" sz="1200" kern="0" dirty="0">
                <a:solidFill>
                  <a:prstClr val="black"/>
                </a:solidFill>
                <a:latin typeface="微软雅黑" pitchFamily="34" charset="-122"/>
                <a:ea typeface="微软雅黑" pitchFamily="34" charset="-122"/>
              </a:rPr>
              <a:t>发送 </a:t>
            </a:r>
            <a:r>
              <a:rPr kumimoji="0" lang="en-US" altLang="zh-CN" sz="1200" kern="0" dirty="0">
                <a:solidFill>
                  <a:prstClr val="black"/>
                </a:solidFill>
                <a:latin typeface="微软雅黑" pitchFamily="34" charset="-122"/>
                <a:ea typeface="微软雅黑" pitchFamily="34" charset="-122"/>
              </a:rPr>
              <a:t>M</a:t>
            </a:r>
            <a:r>
              <a:rPr kumimoji="0" lang="en-US" altLang="zh-CN" sz="1200" kern="0" baseline="-25000" dirty="0">
                <a:solidFill>
                  <a:prstClr val="black"/>
                </a:solidFill>
                <a:latin typeface="微软雅黑" pitchFamily="34" charset="-122"/>
                <a:ea typeface="微软雅黑" pitchFamily="34" charset="-122"/>
              </a:rPr>
              <a:t>1</a:t>
            </a:r>
          </a:p>
        </p:txBody>
      </p:sp>
      <p:sp>
        <p:nvSpPr>
          <p:cNvPr id="11" name="Line 8">
            <a:extLst>
              <a:ext uri="{FF2B5EF4-FFF2-40B4-BE49-F238E27FC236}">
                <a16:creationId xmlns:a16="http://schemas.microsoft.com/office/drawing/2014/main" id="{5FF6C77B-A366-DD8C-5135-722688DBB765}"/>
              </a:ext>
            </a:extLst>
          </p:cNvPr>
          <p:cNvSpPr>
            <a:spLocks noChangeShapeType="1"/>
          </p:cNvSpPr>
          <p:nvPr/>
        </p:nvSpPr>
        <p:spPr bwMode="auto">
          <a:xfrm>
            <a:off x="5360563" y="3151158"/>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12" name="Line 9">
            <a:extLst>
              <a:ext uri="{FF2B5EF4-FFF2-40B4-BE49-F238E27FC236}">
                <a16:creationId xmlns:a16="http://schemas.microsoft.com/office/drawing/2014/main" id="{2A2B2684-B464-EACC-2580-93886145FB97}"/>
              </a:ext>
            </a:extLst>
          </p:cNvPr>
          <p:cNvSpPr>
            <a:spLocks noChangeShapeType="1"/>
          </p:cNvSpPr>
          <p:nvPr/>
        </p:nvSpPr>
        <p:spPr bwMode="auto">
          <a:xfrm>
            <a:off x="5360563" y="366181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13" name="Line 10">
            <a:extLst>
              <a:ext uri="{FF2B5EF4-FFF2-40B4-BE49-F238E27FC236}">
                <a16:creationId xmlns:a16="http://schemas.microsoft.com/office/drawing/2014/main" id="{273CCC0D-4ABB-D165-B85F-B7BD7310D763}"/>
              </a:ext>
            </a:extLst>
          </p:cNvPr>
          <p:cNvSpPr>
            <a:spLocks noChangeShapeType="1"/>
          </p:cNvSpPr>
          <p:nvPr/>
        </p:nvSpPr>
        <p:spPr bwMode="auto">
          <a:xfrm flipH="1">
            <a:off x="5360563" y="3386405"/>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14" name="Text Box 11">
            <a:extLst>
              <a:ext uri="{FF2B5EF4-FFF2-40B4-BE49-F238E27FC236}">
                <a16:creationId xmlns:a16="http://schemas.microsoft.com/office/drawing/2014/main" id="{6BF9D08B-7D86-6250-880E-C541C40802A9}"/>
              </a:ext>
            </a:extLst>
          </p:cNvPr>
          <p:cNvSpPr txBox="1">
            <a:spLocks noChangeArrowheads="1"/>
          </p:cNvSpPr>
          <p:nvPr/>
        </p:nvSpPr>
        <p:spPr bwMode="auto">
          <a:xfrm>
            <a:off x="7027782" y="3233780"/>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defRPr/>
            </a:pPr>
            <a:r>
              <a:rPr kumimoji="0" lang="en-US" altLang="zh-CN" sz="1200" kern="0" dirty="0">
                <a:solidFill>
                  <a:prstClr val="black"/>
                </a:solidFill>
                <a:latin typeface="微软雅黑" pitchFamily="34" charset="-122"/>
                <a:ea typeface="微软雅黑" pitchFamily="34" charset="-122"/>
              </a:rPr>
              <a:t> </a:t>
            </a:r>
            <a:r>
              <a:rPr kumimoji="0" lang="zh-CN" altLang="en-US" sz="1200" kern="0" dirty="0">
                <a:solidFill>
                  <a:prstClr val="black"/>
                </a:solidFill>
                <a:latin typeface="微软雅黑" pitchFamily="34" charset="-122"/>
                <a:ea typeface="微软雅黑" pitchFamily="34" charset="-122"/>
              </a:rPr>
              <a:t>确认 </a:t>
            </a:r>
            <a:r>
              <a:rPr kumimoji="0" lang="en-US" altLang="zh-CN" sz="1200" kern="0" dirty="0">
                <a:solidFill>
                  <a:prstClr val="black"/>
                </a:solidFill>
                <a:latin typeface="微软雅黑" pitchFamily="34" charset="-122"/>
                <a:ea typeface="微软雅黑" pitchFamily="34" charset="-122"/>
              </a:rPr>
              <a:t>M</a:t>
            </a:r>
            <a:r>
              <a:rPr kumimoji="0" lang="en-US" altLang="zh-CN" sz="1200" kern="0" baseline="-25000" dirty="0">
                <a:solidFill>
                  <a:prstClr val="black"/>
                </a:solidFill>
                <a:latin typeface="微软雅黑" pitchFamily="34" charset="-122"/>
                <a:ea typeface="微软雅黑" pitchFamily="34" charset="-122"/>
              </a:rPr>
              <a:t>1</a:t>
            </a:r>
            <a:endParaRPr kumimoji="0" lang="en-US" altLang="zh-CN" sz="1200" kern="0" dirty="0">
              <a:solidFill>
                <a:prstClr val="black"/>
              </a:solidFill>
              <a:latin typeface="微软雅黑" pitchFamily="34" charset="-122"/>
              <a:ea typeface="微软雅黑" pitchFamily="34" charset="-122"/>
            </a:endParaRPr>
          </a:p>
        </p:txBody>
      </p:sp>
      <p:sp>
        <p:nvSpPr>
          <p:cNvPr id="15" name="Line 12">
            <a:extLst>
              <a:ext uri="{FF2B5EF4-FFF2-40B4-BE49-F238E27FC236}">
                <a16:creationId xmlns:a16="http://schemas.microsoft.com/office/drawing/2014/main" id="{3339697A-3569-BC8F-4BC9-743E3E8CB800}"/>
              </a:ext>
            </a:extLst>
          </p:cNvPr>
          <p:cNvSpPr>
            <a:spLocks noChangeShapeType="1"/>
          </p:cNvSpPr>
          <p:nvPr/>
        </p:nvSpPr>
        <p:spPr bwMode="auto">
          <a:xfrm>
            <a:off x="5360563" y="505402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16" name="Line 13">
            <a:extLst>
              <a:ext uri="{FF2B5EF4-FFF2-40B4-BE49-F238E27FC236}">
                <a16:creationId xmlns:a16="http://schemas.microsoft.com/office/drawing/2014/main" id="{E3050374-1E86-555F-42FE-E6CC66BECF1B}"/>
              </a:ext>
            </a:extLst>
          </p:cNvPr>
          <p:cNvSpPr>
            <a:spLocks noChangeShapeType="1"/>
          </p:cNvSpPr>
          <p:nvPr/>
        </p:nvSpPr>
        <p:spPr bwMode="auto">
          <a:xfrm flipH="1">
            <a:off x="5360563" y="4485589"/>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grpSp>
        <p:nvGrpSpPr>
          <p:cNvPr id="17" name="Group 14">
            <a:extLst>
              <a:ext uri="{FF2B5EF4-FFF2-40B4-BE49-F238E27FC236}">
                <a16:creationId xmlns:a16="http://schemas.microsoft.com/office/drawing/2014/main" id="{A9720123-0BD0-ECBD-3D96-14D328E42849}"/>
              </a:ext>
            </a:extLst>
          </p:cNvPr>
          <p:cNvGrpSpPr>
            <a:grpSpLocks/>
          </p:cNvGrpSpPr>
          <p:nvPr/>
        </p:nvGrpSpPr>
        <p:grpSpPr bwMode="auto">
          <a:xfrm>
            <a:off x="5360563" y="3070010"/>
            <a:ext cx="1709023" cy="2515583"/>
            <a:chOff x="2042" y="674"/>
            <a:chExt cx="1569" cy="2711"/>
          </a:xfrm>
        </p:grpSpPr>
        <p:sp>
          <p:nvSpPr>
            <p:cNvPr id="18" name="Line 15">
              <a:extLst>
                <a:ext uri="{FF2B5EF4-FFF2-40B4-BE49-F238E27FC236}">
                  <a16:creationId xmlns:a16="http://schemas.microsoft.com/office/drawing/2014/main" id="{497C3395-2895-5C7D-A793-6682282B7169}"/>
                </a:ext>
              </a:extLst>
            </p:cNvPr>
            <p:cNvSpPr>
              <a:spLocks noChangeShapeType="1"/>
            </p:cNvSpPr>
            <p:nvPr/>
          </p:nvSpPr>
          <p:spPr bwMode="auto">
            <a:xfrm>
              <a:off x="2042"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19" name="Line 16">
              <a:extLst>
                <a:ext uri="{FF2B5EF4-FFF2-40B4-BE49-F238E27FC236}">
                  <a16:creationId xmlns:a16="http://schemas.microsoft.com/office/drawing/2014/main" id="{24774953-A473-D5BE-8A4A-B929764A32F9}"/>
                </a:ext>
              </a:extLst>
            </p:cNvPr>
            <p:cNvSpPr>
              <a:spLocks noChangeShapeType="1"/>
            </p:cNvSpPr>
            <p:nvPr/>
          </p:nvSpPr>
          <p:spPr bwMode="auto">
            <a:xfrm>
              <a:off x="3611"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grpSp>
      <p:sp>
        <p:nvSpPr>
          <p:cNvPr id="20" name="Text Box 17">
            <a:extLst>
              <a:ext uri="{FF2B5EF4-FFF2-40B4-BE49-F238E27FC236}">
                <a16:creationId xmlns:a16="http://schemas.microsoft.com/office/drawing/2014/main" id="{B5150072-36AC-6FC6-20C7-FE956F60A10F}"/>
              </a:ext>
            </a:extLst>
          </p:cNvPr>
          <p:cNvSpPr txBox="1">
            <a:spLocks noChangeArrowheads="1"/>
          </p:cNvSpPr>
          <p:nvPr/>
        </p:nvSpPr>
        <p:spPr bwMode="auto">
          <a:xfrm>
            <a:off x="4305472" y="353714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defRPr/>
            </a:pPr>
            <a:r>
              <a:rPr kumimoji="0" lang="zh-CN" altLang="en-US" sz="1200" kern="0" dirty="0">
                <a:solidFill>
                  <a:prstClr val="black"/>
                </a:solidFill>
                <a:latin typeface="微软雅黑" pitchFamily="34" charset="-122"/>
                <a:ea typeface="微软雅黑" pitchFamily="34" charset="-122"/>
              </a:rPr>
              <a:t>发送 </a:t>
            </a:r>
            <a:r>
              <a:rPr kumimoji="0" lang="en-US" altLang="zh-CN" sz="1200" kern="0" dirty="0">
                <a:solidFill>
                  <a:prstClr val="black"/>
                </a:solidFill>
                <a:latin typeface="微软雅黑" pitchFamily="34" charset="-122"/>
                <a:ea typeface="微软雅黑" pitchFamily="34" charset="-122"/>
              </a:rPr>
              <a:t>M</a:t>
            </a:r>
            <a:r>
              <a:rPr kumimoji="0" lang="en-US" altLang="zh-CN" sz="1200" kern="0" baseline="-25000" dirty="0">
                <a:solidFill>
                  <a:prstClr val="black"/>
                </a:solidFill>
                <a:latin typeface="微软雅黑" pitchFamily="34" charset="-122"/>
                <a:ea typeface="微软雅黑" pitchFamily="34" charset="-122"/>
              </a:rPr>
              <a:t>2</a:t>
            </a:r>
            <a:r>
              <a:rPr kumimoji="0" lang="en-US" altLang="zh-CN" sz="1200" kern="0" dirty="0">
                <a:solidFill>
                  <a:prstClr val="black"/>
                </a:solidFill>
                <a:latin typeface="微软雅黑" pitchFamily="34" charset="-122"/>
                <a:ea typeface="微软雅黑" pitchFamily="34" charset="-122"/>
              </a:rPr>
              <a:t>~M</a:t>
            </a:r>
            <a:r>
              <a:rPr kumimoji="0" lang="en-US" altLang="zh-CN" sz="1200" kern="0" baseline="-25000" dirty="0">
                <a:solidFill>
                  <a:prstClr val="black"/>
                </a:solidFill>
                <a:latin typeface="微软雅黑" pitchFamily="34" charset="-122"/>
                <a:ea typeface="微软雅黑" pitchFamily="34" charset="-122"/>
              </a:rPr>
              <a:t>3</a:t>
            </a:r>
          </a:p>
        </p:txBody>
      </p:sp>
      <p:sp>
        <p:nvSpPr>
          <p:cNvPr id="21" name="Line 18">
            <a:extLst>
              <a:ext uri="{FF2B5EF4-FFF2-40B4-BE49-F238E27FC236}">
                <a16:creationId xmlns:a16="http://schemas.microsoft.com/office/drawing/2014/main" id="{F5D3F260-FDBC-D577-C8E2-12A0718F1C17}"/>
              </a:ext>
            </a:extLst>
          </p:cNvPr>
          <p:cNvSpPr>
            <a:spLocks noChangeShapeType="1"/>
          </p:cNvSpPr>
          <p:nvPr/>
        </p:nvSpPr>
        <p:spPr bwMode="auto">
          <a:xfrm>
            <a:off x="5360563" y="382657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22" name="Text Box 19">
            <a:extLst>
              <a:ext uri="{FF2B5EF4-FFF2-40B4-BE49-F238E27FC236}">
                <a16:creationId xmlns:a16="http://schemas.microsoft.com/office/drawing/2014/main" id="{AAA65CA8-42CF-9D46-38A7-FF93CC384411}"/>
              </a:ext>
            </a:extLst>
          </p:cNvPr>
          <p:cNvSpPr txBox="1">
            <a:spLocks noChangeArrowheads="1"/>
          </p:cNvSpPr>
          <p:nvPr/>
        </p:nvSpPr>
        <p:spPr bwMode="auto">
          <a:xfrm>
            <a:off x="7027782" y="3765095"/>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defRPr/>
            </a:pPr>
            <a:r>
              <a:rPr kumimoji="0" lang="en-US" altLang="zh-CN" sz="1200" kern="0">
                <a:solidFill>
                  <a:prstClr val="black"/>
                </a:solidFill>
                <a:latin typeface="微软雅黑" pitchFamily="34" charset="-122"/>
                <a:ea typeface="微软雅黑" pitchFamily="34" charset="-122"/>
              </a:rPr>
              <a:t> </a:t>
            </a:r>
            <a:r>
              <a:rPr kumimoji="0" lang="zh-CN" altLang="en-US" sz="1200" kern="0">
                <a:solidFill>
                  <a:prstClr val="black"/>
                </a:solidFill>
                <a:latin typeface="微软雅黑" pitchFamily="34" charset="-122"/>
                <a:ea typeface="微软雅黑" pitchFamily="34" charset="-122"/>
              </a:rPr>
              <a:t>确认 </a:t>
            </a:r>
            <a:r>
              <a:rPr kumimoji="0" lang="en-US" altLang="zh-CN" sz="1200" kern="0">
                <a:solidFill>
                  <a:prstClr val="black"/>
                </a:solidFill>
                <a:latin typeface="微软雅黑" pitchFamily="34" charset="-122"/>
                <a:ea typeface="微软雅黑" pitchFamily="34" charset="-122"/>
              </a:rPr>
              <a:t>M</a:t>
            </a:r>
            <a:r>
              <a:rPr kumimoji="0" lang="en-US" altLang="zh-CN" sz="1200" kern="0" baseline="-25000">
                <a:solidFill>
                  <a:prstClr val="black"/>
                </a:solidFill>
                <a:latin typeface="微软雅黑" pitchFamily="34" charset="-122"/>
                <a:ea typeface="微软雅黑" pitchFamily="34" charset="-122"/>
              </a:rPr>
              <a:t>2</a:t>
            </a:r>
            <a:r>
              <a:rPr kumimoji="0" lang="en-US" altLang="zh-CN" sz="1200" kern="0">
                <a:solidFill>
                  <a:prstClr val="black"/>
                </a:solidFill>
                <a:latin typeface="微软雅黑" pitchFamily="34" charset="-122"/>
                <a:ea typeface="微软雅黑" pitchFamily="34" charset="-122"/>
              </a:rPr>
              <a:t>~M</a:t>
            </a:r>
            <a:r>
              <a:rPr kumimoji="0" lang="en-US" altLang="zh-CN" sz="1200" kern="0" baseline="-25000">
                <a:solidFill>
                  <a:prstClr val="black"/>
                </a:solidFill>
                <a:latin typeface="微软雅黑" pitchFamily="34" charset="-122"/>
                <a:ea typeface="微软雅黑" pitchFamily="34" charset="-122"/>
              </a:rPr>
              <a:t>3 </a:t>
            </a:r>
            <a:endParaRPr kumimoji="0" lang="en-US" altLang="zh-CN" sz="1200" kern="0">
              <a:solidFill>
                <a:prstClr val="black"/>
              </a:solidFill>
              <a:latin typeface="微软雅黑" pitchFamily="34" charset="-122"/>
              <a:ea typeface="微软雅黑" pitchFamily="34" charset="-122"/>
            </a:endParaRPr>
          </a:p>
        </p:txBody>
      </p:sp>
      <p:sp>
        <p:nvSpPr>
          <p:cNvPr id="23" name="Line 20">
            <a:extLst>
              <a:ext uri="{FF2B5EF4-FFF2-40B4-BE49-F238E27FC236}">
                <a16:creationId xmlns:a16="http://schemas.microsoft.com/office/drawing/2014/main" id="{7C3211CE-97B9-5B67-6BF7-8E269A4EB9F6}"/>
              </a:ext>
            </a:extLst>
          </p:cNvPr>
          <p:cNvSpPr>
            <a:spLocks noChangeShapeType="1"/>
          </p:cNvSpPr>
          <p:nvPr/>
        </p:nvSpPr>
        <p:spPr bwMode="auto">
          <a:xfrm flipH="1">
            <a:off x="5360563" y="3882308"/>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24" name="Line 21">
            <a:extLst>
              <a:ext uri="{FF2B5EF4-FFF2-40B4-BE49-F238E27FC236}">
                <a16:creationId xmlns:a16="http://schemas.microsoft.com/office/drawing/2014/main" id="{25568C0D-67C3-9162-B480-C67F6EC5D7F3}"/>
              </a:ext>
            </a:extLst>
          </p:cNvPr>
          <p:cNvSpPr>
            <a:spLocks noChangeShapeType="1"/>
          </p:cNvSpPr>
          <p:nvPr/>
        </p:nvSpPr>
        <p:spPr bwMode="auto">
          <a:xfrm flipH="1">
            <a:off x="5360563" y="4047063"/>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25" name="Text Box 22">
            <a:extLst>
              <a:ext uri="{FF2B5EF4-FFF2-40B4-BE49-F238E27FC236}">
                <a16:creationId xmlns:a16="http://schemas.microsoft.com/office/drawing/2014/main" id="{4F2C7C9F-230D-CE33-4E15-C773A0DF5247}"/>
              </a:ext>
            </a:extLst>
          </p:cNvPr>
          <p:cNvSpPr txBox="1">
            <a:spLocks noChangeArrowheads="1"/>
          </p:cNvSpPr>
          <p:nvPr/>
        </p:nvSpPr>
        <p:spPr bwMode="auto">
          <a:xfrm>
            <a:off x="4305472" y="409665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defRPr/>
            </a:pPr>
            <a:r>
              <a:rPr kumimoji="0" lang="zh-CN" altLang="en-US" sz="1200" kern="0" dirty="0">
                <a:solidFill>
                  <a:prstClr val="black"/>
                </a:solidFill>
                <a:latin typeface="微软雅黑" pitchFamily="34" charset="-122"/>
                <a:ea typeface="微软雅黑" pitchFamily="34" charset="-122"/>
              </a:rPr>
              <a:t>发送 </a:t>
            </a:r>
            <a:r>
              <a:rPr kumimoji="0" lang="en-US" altLang="zh-CN" sz="1200" kern="0" dirty="0">
                <a:solidFill>
                  <a:prstClr val="black"/>
                </a:solidFill>
                <a:latin typeface="微软雅黑" pitchFamily="34" charset="-122"/>
                <a:ea typeface="微软雅黑" pitchFamily="34" charset="-122"/>
              </a:rPr>
              <a:t>M</a:t>
            </a:r>
            <a:r>
              <a:rPr kumimoji="0" lang="en-US" altLang="zh-CN" sz="1200" kern="0" baseline="-25000" dirty="0">
                <a:solidFill>
                  <a:prstClr val="black"/>
                </a:solidFill>
                <a:latin typeface="微软雅黑" pitchFamily="34" charset="-122"/>
                <a:ea typeface="微软雅黑" pitchFamily="34" charset="-122"/>
              </a:rPr>
              <a:t>4</a:t>
            </a:r>
            <a:r>
              <a:rPr kumimoji="0" lang="en-US" altLang="zh-CN" sz="1200" kern="0" dirty="0">
                <a:solidFill>
                  <a:prstClr val="black"/>
                </a:solidFill>
                <a:latin typeface="微软雅黑" pitchFamily="34" charset="-122"/>
                <a:ea typeface="微软雅黑" pitchFamily="34" charset="-122"/>
              </a:rPr>
              <a:t>~M</a:t>
            </a:r>
            <a:r>
              <a:rPr kumimoji="0" lang="en-US" altLang="zh-CN" sz="1200" kern="0" baseline="-25000" dirty="0">
                <a:solidFill>
                  <a:prstClr val="black"/>
                </a:solidFill>
                <a:latin typeface="微软雅黑" pitchFamily="34" charset="-122"/>
                <a:ea typeface="微软雅黑" pitchFamily="34" charset="-122"/>
              </a:rPr>
              <a:t>6</a:t>
            </a:r>
          </a:p>
        </p:txBody>
      </p:sp>
      <p:sp>
        <p:nvSpPr>
          <p:cNvPr id="26" name="Text Box 23">
            <a:extLst>
              <a:ext uri="{FF2B5EF4-FFF2-40B4-BE49-F238E27FC236}">
                <a16:creationId xmlns:a16="http://schemas.microsoft.com/office/drawing/2014/main" id="{64C3A7C7-F407-4968-4419-F72AE24A5084}"/>
              </a:ext>
            </a:extLst>
          </p:cNvPr>
          <p:cNvSpPr txBox="1">
            <a:spLocks noChangeArrowheads="1"/>
          </p:cNvSpPr>
          <p:nvPr/>
        </p:nvSpPr>
        <p:spPr bwMode="auto">
          <a:xfrm>
            <a:off x="7027782" y="4515511"/>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defRPr/>
            </a:pPr>
            <a:r>
              <a:rPr kumimoji="0" lang="en-US" altLang="zh-CN" sz="1200" kern="0" dirty="0">
                <a:solidFill>
                  <a:prstClr val="black"/>
                </a:solidFill>
                <a:latin typeface="微软雅黑" pitchFamily="34" charset="-122"/>
                <a:ea typeface="微软雅黑" pitchFamily="34" charset="-122"/>
              </a:rPr>
              <a:t> </a:t>
            </a:r>
            <a:r>
              <a:rPr kumimoji="0" lang="zh-CN" altLang="en-US" sz="1200" kern="0" dirty="0">
                <a:solidFill>
                  <a:prstClr val="black"/>
                </a:solidFill>
                <a:latin typeface="微软雅黑" pitchFamily="34" charset="-122"/>
                <a:ea typeface="微软雅黑" pitchFamily="34" charset="-122"/>
              </a:rPr>
              <a:t>确认 </a:t>
            </a:r>
            <a:r>
              <a:rPr kumimoji="0" lang="en-US" altLang="zh-CN" sz="1200" kern="0" dirty="0">
                <a:solidFill>
                  <a:prstClr val="black"/>
                </a:solidFill>
                <a:latin typeface="微软雅黑" pitchFamily="34" charset="-122"/>
                <a:ea typeface="微软雅黑" pitchFamily="34" charset="-122"/>
              </a:rPr>
              <a:t>M</a:t>
            </a:r>
            <a:r>
              <a:rPr kumimoji="0" lang="en-US" altLang="zh-CN" sz="1200" kern="0" baseline="-25000" dirty="0">
                <a:solidFill>
                  <a:prstClr val="black"/>
                </a:solidFill>
                <a:latin typeface="微软雅黑" pitchFamily="34" charset="-122"/>
                <a:ea typeface="微软雅黑" pitchFamily="34" charset="-122"/>
              </a:rPr>
              <a:t>4</a:t>
            </a:r>
            <a:r>
              <a:rPr kumimoji="0" lang="en-US" altLang="zh-CN" sz="1200" kern="0" dirty="0">
                <a:solidFill>
                  <a:prstClr val="black"/>
                </a:solidFill>
                <a:latin typeface="微软雅黑" pitchFamily="34" charset="-122"/>
                <a:ea typeface="微软雅黑" pitchFamily="34" charset="-122"/>
              </a:rPr>
              <a:t>~M</a:t>
            </a:r>
            <a:r>
              <a:rPr kumimoji="0" lang="en-US" altLang="zh-CN" sz="1200" kern="0" baseline="-25000" dirty="0">
                <a:solidFill>
                  <a:prstClr val="black"/>
                </a:solidFill>
                <a:latin typeface="微软雅黑" pitchFamily="34" charset="-122"/>
                <a:ea typeface="微软雅黑" pitchFamily="34" charset="-122"/>
              </a:rPr>
              <a:t>6 </a:t>
            </a:r>
            <a:endParaRPr kumimoji="0" lang="en-US" altLang="zh-CN" sz="1200" kern="0" dirty="0">
              <a:solidFill>
                <a:prstClr val="black"/>
              </a:solidFill>
              <a:latin typeface="微软雅黑" pitchFamily="34" charset="-122"/>
              <a:ea typeface="微软雅黑" pitchFamily="34" charset="-122"/>
            </a:endParaRPr>
          </a:p>
        </p:txBody>
      </p:sp>
      <p:sp>
        <p:nvSpPr>
          <p:cNvPr id="27" name="Line 24">
            <a:extLst>
              <a:ext uri="{FF2B5EF4-FFF2-40B4-BE49-F238E27FC236}">
                <a16:creationId xmlns:a16="http://schemas.microsoft.com/office/drawing/2014/main" id="{9DFB069A-3E51-46D3-BE28-27E3ECFA7BB0}"/>
              </a:ext>
            </a:extLst>
          </p:cNvPr>
          <p:cNvSpPr>
            <a:spLocks noChangeShapeType="1"/>
          </p:cNvSpPr>
          <p:nvPr/>
        </p:nvSpPr>
        <p:spPr bwMode="auto">
          <a:xfrm flipH="1">
            <a:off x="5360563" y="4650344"/>
            <a:ext cx="1709023" cy="16557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28" name="Line 25">
            <a:extLst>
              <a:ext uri="{FF2B5EF4-FFF2-40B4-BE49-F238E27FC236}">
                <a16:creationId xmlns:a16="http://schemas.microsoft.com/office/drawing/2014/main" id="{67629EED-1CFD-1C01-9DC6-70E51E22548E}"/>
              </a:ext>
            </a:extLst>
          </p:cNvPr>
          <p:cNvSpPr>
            <a:spLocks noChangeShapeType="1"/>
          </p:cNvSpPr>
          <p:nvPr/>
        </p:nvSpPr>
        <p:spPr bwMode="auto">
          <a:xfrm flipH="1">
            <a:off x="5360563" y="4815918"/>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29" name="Text Box 27">
            <a:extLst>
              <a:ext uri="{FF2B5EF4-FFF2-40B4-BE49-F238E27FC236}">
                <a16:creationId xmlns:a16="http://schemas.microsoft.com/office/drawing/2014/main" id="{7F9B3826-C178-F658-1BEB-55C6B0CC3E7F}"/>
              </a:ext>
            </a:extLst>
          </p:cNvPr>
          <p:cNvSpPr txBox="1">
            <a:spLocks noChangeArrowheads="1"/>
          </p:cNvSpPr>
          <p:nvPr/>
        </p:nvSpPr>
        <p:spPr bwMode="auto">
          <a:xfrm>
            <a:off x="3148534" y="3015912"/>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defRPr/>
            </a:pPr>
            <a:r>
              <a:rPr kumimoji="0" lang="en-US" altLang="zh-CN" sz="1200" kern="0" dirty="0" err="1">
                <a:solidFill>
                  <a:prstClr val="black"/>
                </a:solidFill>
                <a:latin typeface="微软雅黑" pitchFamily="34" charset="-122"/>
                <a:ea typeface="微软雅黑" pitchFamily="34" charset="-122"/>
              </a:rPr>
              <a:t>cwnd</a:t>
            </a:r>
            <a:r>
              <a:rPr kumimoji="0" lang="en-US" altLang="zh-CN" sz="1200" kern="0" dirty="0">
                <a:solidFill>
                  <a:prstClr val="black"/>
                </a:solidFill>
                <a:latin typeface="微软雅黑" pitchFamily="34" charset="-122"/>
                <a:ea typeface="微软雅黑" pitchFamily="34" charset="-122"/>
              </a:rPr>
              <a:t> = 1 </a:t>
            </a:r>
          </a:p>
        </p:txBody>
      </p:sp>
      <p:sp>
        <p:nvSpPr>
          <p:cNvPr id="30" name="Text Box 28">
            <a:extLst>
              <a:ext uri="{FF2B5EF4-FFF2-40B4-BE49-F238E27FC236}">
                <a16:creationId xmlns:a16="http://schemas.microsoft.com/office/drawing/2014/main" id="{46A249FF-F095-D842-5743-5E2C7667A5DB}"/>
              </a:ext>
            </a:extLst>
          </p:cNvPr>
          <p:cNvSpPr txBox="1">
            <a:spLocks noChangeArrowheads="1"/>
          </p:cNvSpPr>
          <p:nvPr/>
        </p:nvSpPr>
        <p:spPr bwMode="auto">
          <a:xfrm>
            <a:off x="3148534" y="3571651"/>
            <a:ext cx="663937" cy="209837"/>
          </a:xfrm>
          <a:prstGeom prst="rect">
            <a:avLst/>
          </a:prstGeom>
          <a:solidFill>
            <a:sysClr val="window" lastClr="FFFF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solidFill>
                  <a:prstClr val="black"/>
                </a:solidFill>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solidFill>
                  <a:prstClr val="black"/>
                </a:solidFill>
                <a:effectLst/>
                <a:uLnTx/>
                <a:uFillTx/>
                <a:latin typeface="微软雅黑" pitchFamily="34" charset="-122"/>
                <a:ea typeface="微软雅黑" pitchFamily="34" charset="-122"/>
              </a:rPr>
              <a:t> = 2 </a:t>
            </a:r>
          </a:p>
        </p:txBody>
      </p:sp>
      <p:sp>
        <p:nvSpPr>
          <p:cNvPr id="31" name="Text Box 29">
            <a:extLst>
              <a:ext uri="{FF2B5EF4-FFF2-40B4-BE49-F238E27FC236}">
                <a16:creationId xmlns:a16="http://schemas.microsoft.com/office/drawing/2014/main" id="{3FFE3B12-0ED2-3A46-802B-C1863495BDD2}"/>
              </a:ext>
            </a:extLst>
          </p:cNvPr>
          <p:cNvSpPr txBox="1">
            <a:spLocks noChangeArrowheads="1"/>
          </p:cNvSpPr>
          <p:nvPr/>
        </p:nvSpPr>
        <p:spPr bwMode="auto">
          <a:xfrm>
            <a:off x="3148534" y="4136407"/>
            <a:ext cx="663937" cy="209837"/>
          </a:xfrm>
          <a:prstGeom prst="rect">
            <a:avLst/>
          </a:prstGeom>
          <a:solidFill>
            <a:srgbClr val="99FF33"/>
          </a:solidFill>
          <a:ln>
            <a:noFill/>
          </a:ln>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defRPr/>
            </a:pPr>
            <a:r>
              <a:rPr kumimoji="0" lang="en-US" altLang="zh-CN" sz="1200" kern="0" dirty="0" err="1">
                <a:solidFill>
                  <a:prstClr val="black"/>
                </a:solidFill>
                <a:latin typeface="微软雅黑" pitchFamily="34" charset="-122"/>
                <a:ea typeface="微软雅黑" pitchFamily="34" charset="-122"/>
              </a:rPr>
              <a:t>cwnd</a:t>
            </a:r>
            <a:r>
              <a:rPr kumimoji="0" lang="en-US" altLang="zh-CN" sz="1200" kern="0" dirty="0">
                <a:solidFill>
                  <a:prstClr val="black"/>
                </a:solidFill>
                <a:latin typeface="微软雅黑" pitchFamily="34" charset="-122"/>
                <a:ea typeface="微软雅黑" pitchFamily="34" charset="-122"/>
              </a:rPr>
              <a:t> = 3 </a:t>
            </a:r>
          </a:p>
        </p:txBody>
      </p:sp>
      <p:sp>
        <p:nvSpPr>
          <p:cNvPr id="32" name="Text Box 30">
            <a:extLst>
              <a:ext uri="{FF2B5EF4-FFF2-40B4-BE49-F238E27FC236}">
                <a16:creationId xmlns:a16="http://schemas.microsoft.com/office/drawing/2014/main" id="{EE26C568-95E8-3F0D-F133-5DAB32A0B1BE}"/>
              </a:ext>
            </a:extLst>
          </p:cNvPr>
          <p:cNvSpPr txBox="1">
            <a:spLocks noChangeArrowheads="1"/>
          </p:cNvSpPr>
          <p:nvPr/>
        </p:nvSpPr>
        <p:spPr bwMode="auto">
          <a:xfrm>
            <a:off x="4242955" y="4913813"/>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defRPr/>
            </a:pPr>
            <a:r>
              <a:rPr kumimoji="0" lang="zh-CN" altLang="en-US" sz="1200" kern="0" dirty="0">
                <a:solidFill>
                  <a:prstClr val="black"/>
                </a:solidFill>
                <a:latin typeface="微软雅黑" pitchFamily="34" charset="-122"/>
                <a:ea typeface="微软雅黑" pitchFamily="34" charset="-122"/>
              </a:rPr>
              <a:t>发送 </a:t>
            </a:r>
            <a:r>
              <a:rPr kumimoji="0" lang="en-US" altLang="zh-CN" sz="1200" kern="0" dirty="0">
                <a:solidFill>
                  <a:prstClr val="black"/>
                </a:solidFill>
                <a:latin typeface="微软雅黑" pitchFamily="34" charset="-122"/>
                <a:ea typeface="微软雅黑" pitchFamily="34" charset="-122"/>
              </a:rPr>
              <a:t>M</a:t>
            </a:r>
            <a:r>
              <a:rPr kumimoji="0" lang="en-US" altLang="zh-CN" sz="1200" kern="0" baseline="-25000" dirty="0">
                <a:solidFill>
                  <a:prstClr val="black"/>
                </a:solidFill>
                <a:latin typeface="微软雅黑" pitchFamily="34" charset="-122"/>
                <a:ea typeface="微软雅黑" pitchFamily="34" charset="-122"/>
              </a:rPr>
              <a:t>7</a:t>
            </a:r>
            <a:r>
              <a:rPr kumimoji="0" lang="en-US" altLang="zh-CN" sz="1200" kern="0" dirty="0">
                <a:solidFill>
                  <a:prstClr val="black"/>
                </a:solidFill>
                <a:latin typeface="微软雅黑" pitchFamily="34" charset="-122"/>
                <a:ea typeface="微软雅黑" pitchFamily="34" charset="-122"/>
              </a:rPr>
              <a:t>~M</a:t>
            </a:r>
            <a:r>
              <a:rPr kumimoji="0" lang="en-US" altLang="zh-CN" sz="1200" kern="0" baseline="-25000" dirty="0">
                <a:solidFill>
                  <a:prstClr val="black"/>
                </a:solidFill>
                <a:latin typeface="微软雅黑" pitchFamily="34" charset="-122"/>
                <a:ea typeface="微软雅黑" pitchFamily="34" charset="-122"/>
              </a:rPr>
              <a:t>10</a:t>
            </a:r>
          </a:p>
        </p:txBody>
      </p:sp>
      <p:sp>
        <p:nvSpPr>
          <p:cNvPr id="33" name="Text Box 31">
            <a:extLst>
              <a:ext uri="{FF2B5EF4-FFF2-40B4-BE49-F238E27FC236}">
                <a16:creationId xmlns:a16="http://schemas.microsoft.com/office/drawing/2014/main" id="{66562070-EA95-C0CB-CFEA-22B589A6C6BD}"/>
              </a:ext>
            </a:extLst>
          </p:cNvPr>
          <p:cNvSpPr txBox="1">
            <a:spLocks noChangeArrowheads="1"/>
          </p:cNvSpPr>
          <p:nvPr/>
        </p:nvSpPr>
        <p:spPr bwMode="auto">
          <a:xfrm>
            <a:off x="3148534" y="4925591"/>
            <a:ext cx="677585" cy="251573"/>
          </a:xfrm>
          <a:prstGeom prst="rect">
            <a:avLst/>
          </a:prstGeom>
          <a:solidFill>
            <a:srgbClr val="FF66FF"/>
          </a:solidFill>
          <a:ln>
            <a:noFill/>
          </a:ln>
          <a:effectLst/>
        </p:spPr>
        <p:txBody>
          <a:bodyPr wrap="none">
            <a:no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defRPr/>
            </a:pPr>
            <a:r>
              <a:rPr kumimoji="0" lang="en-US" altLang="zh-CN" sz="1200" kern="0" dirty="0" err="1">
                <a:solidFill>
                  <a:prstClr val="black"/>
                </a:solidFill>
                <a:latin typeface="微软雅黑" pitchFamily="34" charset="-122"/>
                <a:ea typeface="微软雅黑" pitchFamily="34" charset="-122"/>
              </a:rPr>
              <a:t>cwnd</a:t>
            </a:r>
            <a:r>
              <a:rPr kumimoji="0" lang="en-US" altLang="zh-CN" sz="1200" kern="0" dirty="0">
                <a:solidFill>
                  <a:prstClr val="black"/>
                </a:solidFill>
                <a:latin typeface="微软雅黑" pitchFamily="34" charset="-122"/>
                <a:ea typeface="微软雅黑" pitchFamily="34" charset="-122"/>
              </a:rPr>
              <a:t> = 4 </a:t>
            </a:r>
          </a:p>
        </p:txBody>
      </p:sp>
      <p:sp>
        <p:nvSpPr>
          <p:cNvPr id="34" name="Text Box 32">
            <a:extLst>
              <a:ext uri="{FF2B5EF4-FFF2-40B4-BE49-F238E27FC236}">
                <a16:creationId xmlns:a16="http://schemas.microsoft.com/office/drawing/2014/main" id="{0DCBF2B1-F398-9A61-A867-6EB57C15E234}"/>
              </a:ext>
            </a:extLst>
          </p:cNvPr>
          <p:cNvSpPr txBox="1">
            <a:spLocks noChangeArrowheads="1"/>
          </p:cNvSpPr>
          <p:nvPr/>
        </p:nvSpPr>
        <p:spPr bwMode="auto">
          <a:xfrm rot="5400000">
            <a:off x="6096544" y="5163235"/>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defRPr/>
            </a:pPr>
            <a:r>
              <a:rPr kumimoji="0" lang="en-US" altLang="zh-CN" sz="1200" kern="0">
                <a:solidFill>
                  <a:prstClr val="black"/>
                </a:solidFill>
                <a:latin typeface="微软雅黑" pitchFamily="34" charset="-122"/>
                <a:ea typeface="微软雅黑" pitchFamily="34" charset="-122"/>
              </a:rPr>
              <a:t>…</a:t>
            </a:r>
          </a:p>
        </p:txBody>
      </p:sp>
      <p:sp>
        <p:nvSpPr>
          <p:cNvPr id="35" name="Line 33">
            <a:extLst>
              <a:ext uri="{FF2B5EF4-FFF2-40B4-BE49-F238E27FC236}">
                <a16:creationId xmlns:a16="http://schemas.microsoft.com/office/drawing/2014/main" id="{1855A6F4-16B1-57A0-2C68-2FE26460B486}"/>
              </a:ext>
            </a:extLst>
          </p:cNvPr>
          <p:cNvSpPr>
            <a:spLocks noChangeShapeType="1"/>
          </p:cNvSpPr>
          <p:nvPr/>
        </p:nvSpPr>
        <p:spPr bwMode="auto">
          <a:xfrm>
            <a:off x="5360563" y="426673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36" name="Line 34">
            <a:extLst>
              <a:ext uri="{FF2B5EF4-FFF2-40B4-BE49-F238E27FC236}">
                <a16:creationId xmlns:a16="http://schemas.microsoft.com/office/drawing/2014/main" id="{90B66C2D-3C13-DE6F-4E7F-1C476DCC4557}"/>
              </a:ext>
            </a:extLst>
          </p:cNvPr>
          <p:cNvSpPr>
            <a:spLocks noChangeShapeType="1"/>
          </p:cNvSpPr>
          <p:nvPr/>
        </p:nvSpPr>
        <p:spPr bwMode="auto">
          <a:xfrm>
            <a:off x="5360563" y="443149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37" name="Line 36">
            <a:extLst>
              <a:ext uri="{FF2B5EF4-FFF2-40B4-BE49-F238E27FC236}">
                <a16:creationId xmlns:a16="http://schemas.microsoft.com/office/drawing/2014/main" id="{8A5E98C8-FF67-154E-4A76-74F4C551754B}"/>
              </a:ext>
            </a:extLst>
          </p:cNvPr>
          <p:cNvSpPr>
            <a:spLocks noChangeShapeType="1"/>
          </p:cNvSpPr>
          <p:nvPr/>
        </p:nvSpPr>
        <p:spPr bwMode="auto">
          <a:xfrm>
            <a:off x="5360563" y="4583576"/>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200" kern="0">
              <a:solidFill>
                <a:prstClr val="black"/>
              </a:solidFill>
              <a:latin typeface="微软雅黑" pitchFamily="34" charset="-122"/>
              <a:ea typeface="微软雅黑" pitchFamily="34" charset="-122"/>
            </a:endParaRPr>
          </a:p>
        </p:txBody>
      </p:sp>
      <p:sp>
        <p:nvSpPr>
          <p:cNvPr id="38" name="Text Box 40">
            <a:extLst>
              <a:ext uri="{FF2B5EF4-FFF2-40B4-BE49-F238E27FC236}">
                <a16:creationId xmlns:a16="http://schemas.microsoft.com/office/drawing/2014/main" id="{29CDEF72-CE18-E867-3352-9087CF6FD154}"/>
              </a:ext>
            </a:extLst>
          </p:cNvPr>
          <p:cNvSpPr txBox="1">
            <a:spLocks noChangeArrowheads="1"/>
          </p:cNvSpPr>
          <p:nvPr/>
        </p:nvSpPr>
        <p:spPr bwMode="auto">
          <a:xfrm>
            <a:off x="8220769" y="3214271"/>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defRPr/>
            </a:pPr>
            <a:r>
              <a:rPr kumimoji="0" lang="zh-CN" altLang="en-US" sz="1200" kern="0" dirty="0">
                <a:solidFill>
                  <a:prstClr val="white"/>
                </a:solidFill>
                <a:latin typeface="微软雅黑" pitchFamily="34" charset="-122"/>
                <a:ea typeface="微软雅黑" pitchFamily="34" charset="-122"/>
              </a:rPr>
              <a:t>往返时延 </a:t>
            </a:r>
            <a:r>
              <a:rPr kumimoji="0" lang="en-US" altLang="zh-CN" sz="1200" kern="0" dirty="0">
                <a:solidFill>
                  <a:prstClr val="white"/>
                </a:solidFill>
                <a:latin typeface="微软雅黑" pitchFamily="34" charset="-122"/>
                <a:ea typeface="微软雅黑" pitchFamily="34" charset="-122"/>
              </a:rPr>
              <a:t>RTT (</a:t>
            </a:r>
            <a:r>
              <a:rPr kumimoji="0" lang="zh-CN" altLang="en-US" sz="1200" kern="0" dirty="0">
                <a:solidFill>
                  <a:prstClr val="white"/>
                </a:solidFill>
                <a:latin typeface="微软雅黑" pitchFamily="34" charset="-122"/>
                <a:ea typeface="微软雅黑" pitchFamily="34" charset="-122"/>
              </a:rPr>
              <a:t>轮次 </a:t>
            </a:r>
            <a:r>
              <a:rPr kumimoji="0" lang="en-US" altLang="zh-CN" sz="1200" kern="0" dirty="0">
                <a:solidFill>
                  <a:prstClr val="white"/>
                </a:solidFill>
                <a:latin typeface="微软雅黑" pitchFamily="34" charset="-122"/>
                <a:ea typeface="微软雅黑" pitchFamily="34" charset="-122"/>
              </a:rPr>
              <a:t>1)</a:t>
            </a:r>
          </a:p>
        </p:txBody>
      </p:sp>
      <p:sp>
        <p:nvSpPr>
          <p:cNvPr id="39" name="Text Box 41">
            <a:extLst>
              <a:ext uri="{FF2B5EF4-FFF2-40B4-BE49-F238E27FC236}">
                <a16:creationId xmlns:a16="http://schemas.microsoft.com/office/drawing/2014/main" id="{8B81ED14-1A55-52F2-4157-EB1706A622C7}"/>
              </a:ext>
            </a:extLst>
          </p:cNvPr>
          <p:cNvSpPr txBox="1">
            <a:spLocks noChangeArrowheads="1"/>
          </p:cNvSpPr>
          <p:nvPr/>
        </p:nvSpPr>
        <p:spPr bwMode="auto">
          <a:xfrm>
            <a:off x="8220769" y="3783948"/>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defRPr/>
            </a:pPr>
            <a:r>
              <a:rPr kumimoji="0" lang="zh-CN" altLang="en-US" sz="1200" kern="0" dirty="0">
                <a:solidFill>
                  <a:prstClr val="white"/>
                </a:solidFill>
                <a:latin typeface="微软雅黑" pitchFamily="34" charset="-122"/>
                <a:ea typeface="微软雅黑" pitchFamily="34" charset="-122"/>
              </a:rPr>
              <a:t>往返时延 </a:t>
            </a:r>
            <a:r>
              <a:rPr kumimoji="0" lang="en-US" altLang="zh-CN" sz="1200" kern="0" dirty="0">
                <a:solidFill>
                  <a:prstClr val="white"/>
                </a:solidFill>
                <a:latin typeface="微软雅黑" pitchFamily="34" charset="-122"/>
                <a:ea typeface="微软雅黑" pitchFamily="34" charset="-122"/>
              </a:rPr>
              <a:t>RTT (</a:t>
            </a:r>
            <a:r>
              <a:rPr kumimoji="0" lang="zh-CN" altLang="en-US" sz="1200" kern="0" dirty="0">
                <a:solidFill>
                  <a:prstClr val="white"/>
                </a:solidFill>
                <a:latin typeface="微软雅黑" pitchFamily="34" charset="-122"/>
                <a:ea typeface="微软雅黑" pitchFamily="34" charset="-122"/>
              </a:rPr>
              <a:t>轮次 </a:t>
            </a:r>
            <a:r>
              <a:rPr kumimoji="0" lang="en-US" altLang="zh-CN" sz="1200" kern="0" dirty="0">
                <a:solidFill>
                  <a:prstClr val="white"/>
                </a:solidFill>
                <a:latin typeface="微软雅黑" pitchFamily="34" charset="-122"/>
                <a:ea typeface="微软雅黑" pitchFamily="34" charset="-122"/>
              </a:rPr>
              <a:t>1)</a:t>
            </a:r>
          </a:p>
        </p:txBody>
      </p:sp>
      <p:sp>
        <p:nvSpPr>
          <p:cNvPr id="40" name="Text Box 42">
            <a:extLst>
              <a:ext uri="{FF2B5EF4-FFF2-40B4-BE49-F238E27FC236}">
                <a16:creationId xmlns:a16="http://schemas.microsoft.com/office/drawing/2014/main" id="{CC4CE519-1BB8-0420-C88C-9B0FB1C4CFB5}"/>
              </a:ext>
            </a:extLst>
          </p:cNvPr>
          <p:cNvSpPr txBox="1">
            <a:spLocks noChangeArrowheads="1"/>
          </p:cNvSpPr>
          <p:nvPr/>
        </p:nvSpPr>
        <p:spPr bwMode="auto">
          <a:xfrm>
            <a:off x="8220769" y="4524479"/>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defRPr/>
            </a:pPr>
            <a:r>
              <a:rPr kumimoji="0" lang="zh-CN" altLang="en-US" sz="1200" kern="0" dirty="0">
                <a:solidFill>
                  <a:prstClr val="white"/>
                </a:solidFill>
                <a:latin typeface="微软雅黑" pitchFamily="34" charset="-122"/>
                <a:ea typeface="微软雅黑" pitchFamily="34" charset="-122"/>
              </a:rPr>
              <a:t>往返时延 </a:t>
            </a:r>
            <a:r>
              <a:rPr kumimoji="0" lang="en-US" altLang="zh-CN" sz="1200" kern="0" dirty="0">
                <a:solidFill>
                  <a:prstClr val="white"/>
                </a:solidFill>
                <a:latin typeface="微软雅黑" pitchFamily="34" charset="-122"/>
                <a:ea typeface="微软雅黑" pitchFamily="34" charset="-122"/>
              </a:rPr>
              <a:t>RTT (</a:t>
            </a:r>
            <a:r>
              <a:rPr kumimoji="0" lang="zh-CN" altLang="en-US" sz="1200" kern="0" dirty="0">
                <a:solidFill>
                  <a:prstClr val="white"/>
                </a:solidFill>
                <a:latin typeface="微软雅黑" pitchFamily="34" charset="-122"/>
                <a:ea typeface="微软雅黑" pitchFamily="34" charset="-122"/>
              </a:rPr>
              <a:t>轮次 </a:t>
            </a:r>
            <a:r>
              <a:rPr kumimoji="0" lang="en-US" altLang="zh-CN" sz="1200" kern="0" dirty="0">
                <a:solidFill>
                  <a:prstClr val="white"/>
                </a:solidFill>
                <a:latin typeface="微软雅黑" pitchFamily="34" charset="-122"/>
                <a:ea typeface="微软雅黑" pitchFamily="34" charset="-122"/>
              </a:rPr>
              <a:t>1)</a:t>
            </a:r>
          </a:p>
        </p:txBody>
      </p:sp>
      <p:sp>
        <p:nvSpPr>
          <p:cNvPr id="41" name="Text Box 155">
            <a:extLst>
              <a:ext uri="{FF2B5EF4-FFF2-40B4-BE49-F238E27FC236}">
                <a16:creationId xmlns:a16="http://schemas.microsoft.com/office/drawing/2014/main" id="{0533052A-7DA7-EEA1-27FC-8E8913E9FA83}"/>
              </a:ext>
            </a:extLst>
          </p:cNvPr>
          <p:cNvSpPr txBox="1">
            <a:spLocks noChangeArrowheads="1"/>
          </p:cNvSpPr>
          <p:nvPr/>
        </p:nvSpPr>
        <p:spPr bwMode="auto">
          <a:xfrm>
            <a:off x="3405724" y="2331363"/>
            <a:ext cx="5910606" cy="363176"/>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prstClr val="white"/>
                </a:solidFill>
                <a:latin typeface="微软雅黑" pitchFamily="34" charset="-122"/>
                <a:ea typeface="微软雅黑" pitchFamily="34" charset="-122"/>
              </a:rPr>
              <a:t>每经过一个往返时间 </a:t>
            </a:r>
            <a:r>
              <a:rPr lang="en-US" altLang="zh-CN" sz="1600" b="1" dirty="0">
                <a:solidFill>
                  <a:prstClr val="white"/>
                </a:solidFill>
                <a:latin typeface="微软雅黑" pitchFamily="34" charset="-122"/>
                <a:ea typeface="微软雅黑" pitchFamily="34" charset="-122"/>
              </a:rPr>
              <a:t>RTT</a:t>
            </a:r>
            <a:r>
              <a:rPr lang="zh-CN" altLang="en-US" sz="1600" b="1" dirty="0">
                <a:solidFill>
                  <a:prstClr val="white"/>
                </a:solidFill>
                <a:latin typeface="微软雅黑" pitchFamily="34" charset="-122"/>
                <a:ea typeface="微软雅黑" pitchFamily="34" charset="-122"/>
              </a:rPr>
              <a:t>，发送方就把拥塞窗口 </a:t>
            </a:r>
            <a:r>
              <a:rPr lang="en-US" altLang="zh-CN" sz="1600" b="1" dirty="0" err="1">
                <a:solidFill>
                  <a:prstClr val="white"/>
                </a:solidFill>
                <a:latin typeface="微软雅黑" pitchFamily="34" charset="-122"/>
                <a:ea typeface="微软雅黑" pitchFamily="34" charset="-122"/>
              </a:rPr>
              <a:t>cwnd</a:t>
            </a:r>
            <a:r>
              <a:rPr lang="en-US" altLang="zh-CN" sz="1600" b="1" dirty="0">
                <a:solidFill>
                  <a:prstClr val="white"/>
                </a:solidFill>
                <a:latin typeface="微软雅黑" pitchFamily="34" charset="-122"/>
                <a:ea typeface="微软雅黑" pitchFamily="34" charset="-122"/>
              </a:rPr>
              <a:t> </a:t>
            </a:r>
            <a:r>
              <a:rPr lang="zh-CN" altLang="en-US" sz="1600" b="1" dirty="0">
                <a:solidFill>
                  <a:prstClr val="white"/>
                </a:solidFill>
                <a:latin typeface="微软雅黑" pitchFamily="34" charset="-122"/>
                <a:ea typeface="微软雅黑" pitchFamily="34" charset="-122"/>
              </a:rPr>
              <a:t>加 </a:t>
            </a:r>
            <a:r>
              <a:rPr lang="en-US" altLang="zh-CN" sz="1600" b="1" dirty="0">
                <a:solidFill>
                  <a:prstClr val="white"/>
                </a:solidFill>
                <a:latin typeface="微软雅黑" pitchFamily="34" charset="-122"/>
                <a:ea typeface="微软雅黑" pitchFamily="34" charset="-122"/>
              </a:rPr>
              <a:t>1</a:t>
            </a:r>
            <a:r>
              <a:rPr lang="zh-CN" altLang="en-US" sz="1600" b="1" dirty="0">
                <a:solidFill>
                  <a:prstClr val="white"/>
                </a:solidFill>
                <a:latin typeface="微软雅黑" pitchFamily="34" charset="-122"/>
                <a:ea typeface="微软雅黑" pitchFamily="34" charset="-122"/>
              </a:rPr>
              <a:t>。 </a:t>
            </a:r>
          </a:p>
        </p:txBody>
      </p:sp>
      <p:sp>
        <p:nvSpPr>
          <p:cNvPr id="3" name="灯片编号占位符 2">
            <a:extLst>
              <a:ext uri="{FF2B5EF4-FFF2-40B4-BE49-F238E27FC236}">
                <a16:creationId xmlns:a16="http://schemas.microsoft.com/office/drawing/2014/main" id="{E306428A-4601-41C4-B337-20CEFBC033B8}"/>
              </a:ext>
            </a:extLst>
          </p:cNvPr>
          <p:cNvSpPr>
            <a:spLocks noGrp="1"/>
          </p:cNvSpPr>
          <p:nvPr>
            <p:ph type="sldNum" sz="quarter" idx="12"/>
          </p:nvPr>
        </p:nvSpPr>
        <p:spPr/>
        <p:txBody>
          <a:bodyPr/>
          <a:lstStyle/>
          <a:p>
            <a:fld id="{5956A083-5018-4B52-82A0-83241B8E3D94}" type="slidenum">
              <a:rPr lang="zh-CN" altLang="en-US" smtClean="0"/>
              <a:t>55</a:t>
            </a:fld>
            <a:endParaRPr lang="zh-CN" altLang="en-US"/>
          </a:p>
        </p:txBody>
      </p:sp>
    </p:spTree>
    <p:extLst>
      <p:ext uri="{BB962C8B-B14F-4D97-AF65-F5344CB8AC3E}">
        <p14:creationId xmlns:p14="http://schemas.microsoft.com/office/powerpoint/2010/main" val="24905587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B409D-BEB2-B77C-C3D5-F3A6704810F9}"/>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BC8CED43-9699-BF7C-2D81-3D5D76F25781}"/>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85C239E1-3E84-2C02-763E-1C8ED35A15CA}"/>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7B6C42B5-B8B0-DFE6-179C-892447A77FB6}"/>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7FDE0AF1-4CFD-902D-B97E-DBDF1BE22BFE}"/>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F5526AD9-6035-48E9-B908-44AEB412C68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C5B919E8-3F1E-5BDF-B89D-14FCDC45E6CE}"/>
              </a:ext>
            </a:extLst>
          </p:cNvPr>
          <p:cNvGrpSpPr/>
          <p:nvPr/>
        </p:nvGrpSpPr>
        <p:grpSpPr>
          <a:xfrm>
            <a:off x="505664" y="1426139"/>
            <a:ext cx="3470436" cy="525531"/>
            <a:chOff x="722008" y="1303131"/>
            <a:chExt cx="3313674" cy="501793"/>
          </a:xfrm>
        </p:grpSpPr>
        <p:sp>
          <p:nvSpPr>
            <p:cNvPr id="50" name="流程图: 手动输入 6">
              <a:extLst>
                <a:ext uri="{FF2B5EF4-FFF2-40B4-BE49-F238E27FC236}">
                  <a16:creationId xmlns:a16="http://schemas.microsoft.com/office/drawing/2014/main" id="{DAAAE4E3-BC4D-7FFA-6B93-0E030DBA07D6}"/>
                </a:ext>
              </a:extLst>
            </p:cNvPr>
            <p:cNvSpPr/>
            <p:nvPr/>
          </p:nvSpPr>
          <p:spPr>
            <a:xfrm rot="5400000" flipV="1">
              <a:off x="2134212" y="160928"/>
              <a:ext cx="475861" cy="276708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4C71F201-79AA-4E93-0172-C53170A08F29}"/>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C3B388D3-4039-842D-CFB5-280C7926E9D0}"/>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9F914D08-4E05-BA1B-18B2-8A601DDA325C}"/>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9F7873B0-521C-E205-536C-6BC277A5C13E}"/>
                </a:ext>
              </a:extLst>
            </p:cNvPr>
            <p:cNvSpPr txBox="1">
              <a:spLocks noChangeArrowheads="1"/>
            </p:cNvSpPr>
            <p:nvPr/>
          </p:nvSpPr>
          <p:spPr bwMode="auto">
            <a:xfrm>
              <a:off x="1268604" y="1334724"/>
              <a:ext cx="2767078"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网络出现拥塞时</a:t>
              </a:r>
              <a:endPar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sp>
        <p:nvSpPr>
          <p:cNvPr id="4" name="Rectangle 68">
            <a:extLst>
              <a:ext uri="{FF2B5EF4-FFF2-40B4-BE49-F238E27FC236}">
                <a16:creationId xmlns:a16="http://schemas.microsoft.com/office/drawing/2014/main" id="{55160869-CB9D-28B9-EE3C-FB3B82B1BCAB}"/>
              </a:ext>
            </a:extLst>
          </p:cNvPr>
          <p:cNvSpPr>
            <a:spLocks noChangeArrowheads="1"/>
          </p:cNvSpPr>
          <p:nvPr/>
        </p:nvSpPr>
        <p:spPr bwMode="auto">
          <a:xfrm>
            <a:off x="727140" y="2108297"/>
            <a:ext cx="8977584" cy="3951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无论在慢</a:t>
            </a:r>
            <a:r>
              <a:rPr kumimoji="1"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启动</a:t>
            </a:r>
            <a:r>
              <a:rPr lang="zh-CN" altLang="en-US" sz="2400" dirty="0">
                <a:latin typeface="微软雅黑" pitchFamily="34" charset="-122"/>
                <a:ea typeface="微软雅黑" pitchFamily="34" charset="-122"/>
              </a:rPr>
              <a:t>阶段还是在拥塞避免阶段，只要发送方判断网络出现拥塞（</a:t>
            </a:r>
            <a:r>
              <a:rPr lang="zh-CN" altLang="en-US" sz="2400" dirty="0">
                <a:solidFill>
                  <a:srgbClr val="0000FF"/>
                </a:solidFill>
                <a:latin typeface="微软雅黑" pitchFamily="34" charset="-122"/>
                <a:ea typeface="微软雅黑" pitchFamily="34" charset="-122"/>
              </a:rPr>
              <a:t>重传定时器超时</a:t>
            </a:r>
            <a:r>
              <a:rPr lang="zh-CN" altLang="en-US" sz="2400" dirty="0">
                <a:latin typeface="微软雅黑" pitchFamily="34" charset="-122"/>
                <a:ea typeface="微软雅黑" pitchFamily="34" charset="-122"/>
              </a:rPr>
              <a:t>）：</a:t>
            </a:r>
          </a:p>
          <a:p>
            <a:pPr marL="633413" indent="-342900">
              <a:lnSpc>
                <a:spcPct val="150000"/>
              </a:lnSpc>
              <a:buClr>
                <a:srgbClr val="7030A0"/>
              </a:buClr>
              <a:buFont typeface="+mj-lt"/>
              <a:buAutoNum type="arabicPeriod"/>
            </a:pPr>
            <a:r>
              <a:rPr lang="en-US" altLang="zh-CN" sz="2400" dirty="0" err="1">
                <a:solidFill>
                  <a:srgbClr val="0000FF"/>
                </a:solidFill>
                <a:latin typeface="微软雅黑" pitchFamily="34" charset="-122"/>
                <a:ea typeface="微软雅黑" pitchFamily="34" charset="-122"/>
              </a:rPr>
              <a:t>ssthresh</a:t>
            </a:r>
            <a:r>
              <a:rPr lang="en-US" altLang="zh-CN" sz="2400" dirty="0">
                <a:solidFill>
                  <a:srgbClr val="0000FF"/>
                </a:solidFill>
                <a:latin typeface="微软雅黑" pitchFamily="34" charset="-122"/>
                <a:ea typeface="微软雅黑" pitchFamily="34" charset="-122"/>
              </a:rPr>
              <a:t> = max (</a:t>
            </a:r>
            <a:r>
              <a:rPr lang="en-US" altLang="zh-CN" sz="2400" dirty="0" err="1">
                <a:solidFill>
                  <a:srgbClr val="0000FF"/>
                </a:solidFill>
                <a:latin typeface="微软雅黑" pitchFamily="34" charset="-122"/>
                <a:ea typeface="微软雅黑" pitchFamily="34" charset="-122"/>
              </a:rPr>
              <a:t>cwnd</a:t>
            </a:r>
            <a:r>
              <a:rPr lang="en-US" altLang="zh-CN" sz="2400" dirty="0">
                <a:solidFill>
                  <a:srgbClr val="0000FF"/>
                </a:solidFill>
                <a:latin typeface="微软雅黑" pitchFamily="34" charset="-122"/>
                <a:ea typeface="微软雅黑" pitchFamily="34" charset="-122"/>
              </a:rPr>
              <a:t>/2</a:t>
            </a:r>
            <a:r>
              <a:rPr lang="zh-CN" altLang="en-US" sz="2400" dirty="0">
                <a:solidFill>
                  <a:srgbClr val="0000FF"/>
                </a:solidFill>
                <a:latin typeface="微软雅黑" pitchFamily="34" charset="-122"/>
                <a:ea typeface="微软雅黑" pitchFamily="34" charset="-122"/>
              </a:rPr>
              <a:t>，</a:t>
            </a:r>
            <a:r>
              <a:rPr lang="en-US" altLang="zh-CN" sz="2400" dirty="0">
                <a:solidFill>
                  <a:srgbClr val="0000FF"/>
                </a:solidFill>
                <a:latin typeface="微软雅黑" pitchFamily="34" charset="-122"/>
                <a:ea typeface="微软雅黑" pitchFamily="34" charset="-122"/>
              </a:rPr>
              <a:t>2)</a:t>
            </a:r>
          </a:p>
          <a:p>
            <a:pPr marL="633413" indent="-342900">
              <a:lnSpc>
                <a:spcPct val="150000"/>
              </a:lnSpc>
              <a:buClr>
                <a:srgbClr val="7030A0"/>
              </a:buClr>
              <a:buFont typeface="+mj-lt"/>
              <a:buAutoNum type="arabicPeriod"/>
            </a:pPr>
            <a:r>
              <a:rPr lang="en-US" altLang="zh-CN" sz="2400" dirty="0" err="1">
                <a:solidFill>
                  <a:srgbClr val="0000FF"/>
                </a:solidFill>
                <a:latin typeface="微软雅黑" pitchFamily="34" charset="-122"/>
                <a:ea typeface="微软雅黑" pitchFamily="34" charset="-122"/>
              </a:rPr>
              <a:t>cwnd</a:t>
            </a:r>
            <a:r>
              <a:rPr lang="en-US" altLang="zh-CN" sz="2400" dirty="0">
                <a:solidFill>
                  <a:srgbClr val="0000FF"/>
                </a:solidFill>
                <a:latin typeface="微软雅黑" pitchFamily="34" charset="-122"/>
                <a:ea typeface="微软雅黑" pitchFamily="34" charset="-122"/>
              </a:rPr>
              <a:t> = 1</a:t>
            </a:r>
          </a:p>
          <a:p>
            <a:pPr marL="633413" indent="-342900">
              <a:lnSpc>
                <a:spcPct val="150000"/>
              </a:lnSpc>
              <a:buClr>
                <a:srgbClr val="7030A0"/>
              </a:buClr>
              <a:buFont typeface="+mj-lt"/>
              <a:buAutoNum type="arabicPeriod"/>
            </a:pPr>
            <a:r>
              <a:rPr lang="zh-CN" altLang="en-US" sz="2400" dirty="0">
                <a:solidFill>
                  <a:srgbClr val="0000FF"/>
                </a:solidFill>
                <a:latin typeface="微软雅黑" pitchFamily="34" charset="-122"/>
                <a:ea typeface="微软雅黑" pitchFamily="34" charset="-122"/>
              </a:rPr>
              <a:t>执行慢启动算法</a:t>
            </a:r>
          </a:p>
          <a:p>
            <a:pPr marL="342900" indent="-342900">
              <a:lnSpc>
                <a:spcPct val="1500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目的：</a:t>
            </a:r>
            <a:r>
              <a:rPr lang="zh-CN" altLang="en-US" sz="2400" dirty="0">
                <a:latin typeface="微软雅黑" pitchFamily="34" charset="-122"/>
                <a:ea typeface="微软雅黑" pitchFamily="34" charset="-122"/>
              </a:rPr>
              <a:t>迅速减少主机发送到网络中的分组数，使得发生拥塞的路由器有足够时间把队列中积压的分组处理完毕。 </a:t>
            </a:r>
          </a:p>
        </p:txBody>
      </p:sp>
      <p:sp>
        <p:nvSpPr>
          <p:cNvPr id="2" name="灯片编号占位符 1">
            <a:extLst>
              <a:ext uri="{FF2B5EF4-FFF2-40B4-BE49-F238E27FC236}">
                <a16:creationId xmlns:a16="http://schemas.microsoft.com/office/drawing/2014/main" id="{EDDAA565-B560-48D0-9FAE-953F70A0AA1F}"/>
              </a:ext>
            </a:extLst>
          </p:cNvPr>
          <p:cNvSpPr>
            <a:spLocks noGrp="1"/>
          </p:cNvSpPr>
          <p:nvPr>
            <p:ph type="sldNum" sz="quarter" idx="12"/>
          </p:nvPr>
        </p:nvSpPr>
        <p:spPr/>
        <p:txBody>
          <a:bodyPr/>
          <a:lstStyle/>
          <a:p>
            <a:fld id="{5956A083-5018-4B52-82A0-83241B8E3D94}" type="slidenum">
              <a:rPr lang="zh-CN" altLang="en-US" smtClean="0"/>
              <a:t>56</a:t>
            </a:fld>
            <a:endParaRPr lang="zh-CN" altLang="en-US"/>
          </a:p>
        </p:txBody>
      </p:sp>
    </p:spTree>
    <p:extLst>
      <p:ext uri="{BB962C8B-B14F-4D97-AF65-F5344CB8AC3E}">
        <p14:creationId xmlns:p14="http://schemas.microsoft.com/office/powerpoint/2010/main" val="10334419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B523E-9954-DBD5-0B76-5412F3C2F010}"/>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DB047DAF-1CF3-7938-2825-922D7BE19E30}"/>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58475485-1ED2-EF1D-C5DF-6E1FF888F436}"/>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C8191AD1-9E1B-3050-91B5-A5261994B57E}"/>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37A93A72-925D-B576-1D47-CDBA9CDE5830}"/>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DA789C57-136F-E409-181E-9DEEB133A40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2" name="圆角矩形 150">
            <a:extLst>
              <a:ext uri="{FF2B5EF4-FFF2-40B4-BE49-F238E27FC236}">
                <a16:creationId xmlns:a16="http://schemas.microsoft.com/office/drawing/2014/main" id="{E52173E5-B32A-4B63-9683-4C57BBD64038}"/>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6" name="组合 5">
            <a:extLst>
              <a:ext uri="{FF2B5EF4-FFF2-40B4-BE49-F238E27FC236}">
                <a16:creationId xmlns:a16="http://schemas.microsoft.com/office/drawing/2014/main" id="{ECA0FD1D-A9C4-AD77-F1AF-89A28145F40C}"/>
              </a:ext>
            </a:extLst>
          </p:cNvPr>
          <p:cNvGrpSpPr/>
          <p:nvPr/>
        </p:nvGrpSpPr>
        <p:grpSpPr>
          <a:xfrm>
            <a:off x="3043104" y="2417895"/>
            <a:ext cx="6808860" cy="2262108"/>
            <a:chOff x="300646" y="840152"/>
            <a:chExt cx="9638211" cy="3093013"/>
          </a:xfrm>
        </p:grpSpPr>
        <p:sp>
          <p:nvSpPr>
            <p:cNvPr id="9" name="Text Box 140">
              <a:extLst>
                <a:ext uri="{FF2B5EF4-FFF2-40B4-BE49-F238E27FC236}">
                  <a16:creationId xmlns:a16="http://schemas.microsoft.com/office/drawing/2014/main" id="{B8D18D28-50BF-3E18-C6CE-F9789D01A0B3}"/>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0" name="Line 2">
              <a:extLst>
                <a:ext uri="{FF2B5EF4-FFF2-40B4-BE49-F238E27FC236}">
                  <a16:creationId xmlns:a16="http://schemas.microsoft.com/office/drawing/2014/main" id="{898BA35A-CA85-097F-1470-84F4D2A54E5F}"/>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1" name="Line 3">
              <a:extLst>
                <a:ext uri="{FF2B5EF4-FFF2-40B4-BE49-F238E27FC236}">
                  <a16:creationId xmlns:a16="http://schemas.microsoft.com/office/drawing/2014/main" id="{5758A668-F4DE-8BB2-28CA-774143AD9CA7}"/>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2" name="Line 4">
              <a:extLst>
                <a:ext uri="{FF2B5EF4-FFF2-40B4-BE49-F238E27FC236}">
                  <a16:creationId xmlns:a16="http://schemas.microsoft.com/office/drawing/2014/main" id="{73099413-1680-3E2E-5E53-B55C88389027}"/>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 name="Line 5">
              <a:extLst>
                <a:ext uri="{FF2B5EF4-FFF2-40B4-BE49-F238E27FC236}">
                  <a16:creationId xmlns:a16="http://schemas.microsoft.com/office/drawing/2014/main" id="{192EB3BC-8AB9-D451-2CD2-4747815D1E0C}"/>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 name="Line 6">
              <a:extLst>
                <a:ext uri="{FF2B5EF4-FFF2-40B4-BE49-F238E27FC236}">
                  <a16:creationId xmlns:a16="http://schemas.microsoft.com/office/drawing/2014/main" id="{D428DBE7-CFC5-B717-7748-C6EEDE0AA8E6}"/>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 name="Line 7">
              <a:extLst>
                <a:ext uri="{FF2B5EF4-FFF2-40B4-BE49-F238E27FC236}">
                  <a16:creationId xmlns:a16="http://schemas.microsoft.com/office/drawing/2014/main" id="{669F3153-12EC-096A-DB72-2265C92B3260}"/>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 name="Line 8">
              <a:extLst>
                <a:ext uri="{FF2B5EF4-FFF2-40B4-BE49-F238E27FC236}">
                  <a16:creationId xmlns:a16="http://schemas.microsoft.com/office/drawing/2014/main" id="{EC6861AC-12B2-0E56-349B-8AAB6DFFE13E}"/>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7" name="Line 9">
              <a:extLst>
                <a:ext uri="{FF2B5EF4-FFF2-40B4-BE49-F238E27FC236}">
                  <a16:creationId xmlns:a16="http://schemas.microsoft.com/office/drawing/2014/main" id="{F3BA2C73-136E-4588-32B1-BEAB49AD3382}"/>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 name="Line 10">
              <a:extLst>
                <a:ext uri="{FF2B5EF4-FFF2-40B4-BE49-F238E27FC236}">
                  <a16:creationId xmlns:a16="http://schemas.microsoft.com/office/drawing/2014/main" id="{32A8F755-6067-15A1-C7AA-431FAF1BD68F}"/>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 name="Line 11">
              <a:extLst>
                <a:ext uri="{FF2B5EF4-FFF2-40B4-BE49-F238E27FC236}">
                  <a16:creationId xmlns:a16="http://schemas.microsoft.com/office/drawing/2014/main" id="{7FD37D3A-667A-3B44-0A0C-3C3EBC6DB8B3}"/>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 name="Line 12">
              <a:extLst>
                <a:ext uri="{FF2B5EF4-FFF2-40B4-BE49-F238E27FC236}">
                  <a16:creationId xmlns:a16="http://schemas.microsoft.com/office/drawing/2014/main" id="{94898EC9-472C-5185-5488-CE4C9C81A51B}"/>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 name="Line 13">
              <a:extLst>
                <a:ext uri="{FF2B5EF4-FFF2-40B4-BE49-F238E27FC236}">
                  <a16:creationId xmlns:a16="http://schemas.microsoft.com/office/drawing/2014/main" id="{61504318-E9A6-2BEE-B40A-7EB50D9745C9}"/>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 name="Line 14">
              <a:extLst>
                <a:ext uri="{FF2B5EF4-FFF2-40B4-BE49-F238E27FC236}">
                  <a16:creationId xmlns:a16="http://schemas.microsoft.com/office/drawing/2014/main" id="{574DFE9C-A181-5788-1BB3-C0251B7D04C2}"/>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 name="Line 15">
              <a:extLst>
                <a:ext uri="{FF2B5EF4-FFF2-40B4-BE49-F238E27FC236}">
                  <a16:creationId xmlns:a16="http://schemas.microsoft.com/office/drawing/2014/main" id="{8D14BF44-0D77-E190-AE27-BEEBF1F2B111}"/>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 name="Line 16">
              <a:extLst>
                <a:ext uri="{FF2B5EF4-FFF2-40B4-BE49-F238E27FC236}">
                  <a16:creationId xmlns:a16="http://schemas.microsoft.com/office/drawing/2014/main" id="{DB4ADF1F-28BC-5821-4CBF-572DB9130BCC}"/>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5" name="Line 17">
              <a:extLst>
                <a:ext uri="{FF2B5EF4-FFF2-40B4-BE49-F238E27FC236}">
                  <a16:creationId xmlns:a16="http://schemas.microsoft.com/office/drawing/2014/main" id="{3F7492A2-AA97-6B10-E911-A59838E63B27}"/>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6" name="Line 18">
              <a:extLst>
                <a:ext uri="{FF2B5EF4-FFF2-40B4-BE49-F238E27FC236}">
                  <a16:creationId xmlns:a16="http://schemas.microsoft.com/office/drawing/2014/main" id="{2646A524-28AB-0797-524D-78C4919791EE}"/>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7" name="Line 19">
              <a:extLst>
                <a:ext uri="{FF2B5EF4-FFF2-40B4-BE49-F238E27FC236}">
                  <a16:creationId xmlns:a16="http://schemas.microsoft.com/office/drawing/2014/main" id="{9786FF01-B589-F1AA-F21A-75F69A440EDC}"/>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8" name="Line 20">
              <a:extLst>
                <a:ext uri="{FF2B5EF4-FFF2-40B4-BE49-F238E27FC236}">
                  <a16:creationId xmlns:a16="http://schemas.microsoft.com/office/drawing/2014/main" id="{81B5D4B4-9700-FB4B-886C-B4A11CDFF179}"/>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9" name="Line 21">
              <a:extLst>
                <a:ext uri="{FF2B5EF4-FFF2-40B4-BE49-F238E27FC236}">
                  <a16:creationId xmlns:a16="http://schemas.microsoft.com/office/drawing/2014/main" id="{C7CD6C43-A182-7398-54A2-7E103B254199}"/>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0" name="Line 22">
              <a:extLst>
                <a:ext uri="{FF2B5EF4-FFF2-40B4-BE49-F238E27FC236}">
                  <a16:creationId xmlns:a16="http://schemas.microsoft.com/office/drawing/2014/main" id="{62E90EF7-F66D-D890-FB4B-9065709D05F8}"/>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1" name="Line 23">
              <a:extLst>
                <a:ext uri="{FF2B5EF4-FFF2-40B4-BE49-F238E27FC236}">
                  <a16:creationId xmlns:a16="http://schemas.microsoft.com/office/drawing/2014/main" id="{DFA75635-DDF1-5949-8900-4C62185A3C99}"/>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2" name="Line 24">
              <a:extLst>
                <a:ext uri="{FF2B5EF4-FFF2-40B4-BE49-F238E27FC236}">
                  <a16:creationId xmlns:a16="http://schemas.microsoft.com/office/drawing/2014/main" id="{B8FEB764-4291-8337-8746-5E7AD1B926A3}"/>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3" name="Line 25">
              <a:extLst>
                <a:ext uri="{FF2B5EF4-FFF2-40B4-BE49-F238E27FC236}">
                  <a16:creationId xmlns:a16="http://schemas.microsoft.com/office/drawing/2014/main" id="{CCFAAAF4-CE86-618B-D719-DB7EDCE32DD9}"/>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4" name="Line 40">
              <a:extLst>
                <a:ext uri="{FF2B5EF4-FFF2-40B4-BE49-F238E27FC236}">
                  <a16:creationId xmlns:a16="http://schemas.microsoft.com/office/drawing/2014/main" id="{4FCE69E4-B4B0-E967-ACC1-2E1A21C69F9B}"/>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5" name="Line 41">
              <a:extLst>
                <a:ext uri="{FF2B5EF4-FFF2-40B4-BE49-F238E27FC236}">
                  <a16:creationId xmlns:a16="http://schemas.microsoft.com/office/drawing/2014/main" id="{283A3471-8F39-2525-9204-8D990692A6F2}"/>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6" name="Line 42">
              <a:extLst>
                <a:ext uri="{FF2B5EF4-FFF2-40B4-BE49-F238E27FC236}">
                  <a16:creationId xmlns:a16="http://schemas.microsoft.com/office/drawing/2014/main" id="{419B3405-49C6-8AFE-EDA5-1EE0C1CC938F}"/>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7" name="Line 43">
              <a:extLst>
                <a:ext uri="{FF2B5EF4-FFF2-40B4-BE49-F238E27FC236}">
                  <a16:creationId xmlns:a16="http://schemas.microsoft.com/office/drawing/2014/main" id="{58BC9234-7B23-1576-965B-21714440C47F}"/>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8" name="Line 44">
              <a:extLst>
                <a:ext uri="{FF2B5EF4-FFF2-40B4-BE49-F238E27FC236}">
                  <a16:creationId xmlns:a16="http://schemas.microsoft.com/office/drawing/2014/main" id="{844ED300-DED8-59C8-7B6A-5DB94C55914A}"/>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9" name="Line 45">
              <a:extLst>
                <a:ext uri="{FF2B5EF4-FFF2-40B4-BE49-F238E27FC236}">
                  <a16:creationId xmlns:a16="http://schemas.microsoft.com/office/drawing/2014/main" id="{C6BBB4ED-01CA-F358-880E-26C63D2C47F2}"/>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40" name="Text Box 77">
              <a:extLst>
                <a:ext uri="{FF2B5EF4-FFF2-40B4-BE49-F238E27FC236}">
                  <a16:creationId xmlns:a16="http://schemas.microsoft.com/office/drawing/2014/main" id="{06640232-9AA5-5C55-7909-E93F850D939A}"/>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41" name="Text Box 78">
              <a:extLst>
                <a:ext uri="{FF2B5EF4-FFF2-40B4-BE49-F238E27FC236}">
                  <a16:creationId xmlns:a16="http://schemas.microsoft.com/office/drawing/2014/main" id="{8CEAE9FE-EE44-517A-2F08-4DC1824D19F8}"/>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42" name="Text Box 79">
              <a:extLst>
                <a:ext uri="{FF2B5EF4-FFF2-40B4-BE49-F238E27FC236}">
                  <a16:creationId xmlns:a16="http://schemas.microsoft.com/office/drawing/2014/main" id="{4B418F8F-CB8E-D874-3D00-D1244B004076}"/>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43" name="Text Box 80">
              <a:extLst>
                <a:ext uri="{FF2B5EF4-FFF2-40B4-BE49-F238E27FC236}">
                  <a16:creationId xmlns:a16="http://schemas.microsoft.com/office/drawing/2014/main" id="{93A1532D-9DF7-241B-B418-BA7C10A3E32E}"/>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55" name="Text Box 81">
              <a:extLst>
                <a:ext uri="{FF2B5EF4-FFF2-40B4-BE49-F238E27FC236}">
                  <a16:creationId xmlns:a16="http://schemas.microsoft.com/office/drawing/2014/main" id="{0F6D8338-9F26-0FB2-A04C-14D955DEFB8B}"/>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56" name="Text Box 82">
              <a:extLst>
                <a:ext uri="{FF2B5EF4-FFF2-40B4-BE49-F238E27FC236}">
                  <a16:creationId xmlns:a16="http://schemas.microsoft.com/office/drawing/2014/main" id="{7DF244B8-14F3-80E4-67A7-311E128F35F7}"/>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57" name="Text Box 83">
              <a:extLst>
                <a:ext uri="{FF2B5EF4-FFF2-40B4-BE49-F238E27FC236}">
                  <a16:creationId xmlns:a16="http://schemas.microsoft.com/office/drawing/2014/main" id="{2BE91C00-9C97-8B20-18FB-9AB85A81E1F9}"/>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58" name="Text Box 84">
              <a:extLst>
                <a:ext uri="{FF2B5EF4-FFF2-40B4-BE49-F238E27FC236}">
                  <a16:creationId xmlns:a16="http://schemas.microsoft.com/office/drawing/2014/main" id="{C86DFBF0-9849-6577-D186-B1FDFC541394}"/>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59" name="Text Box 85">
              <a:extLst>
                <a:ext uri="{FF2B5EF4-FFF2-40B4-BE49-F238E27FC236}">
                  <a16:creationId xmlns:a16="http://schemas.microsoft.com/office/drawing/2014/main" id="{CE80BD91-E1DC-B33C-88BE-00F17CD527EC}"/>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60" name="Text Box 86">
              <a:extLst>
                <a:ext uri="{FF2B5EF4-FFF2-40B4-BE49-F238E27FC236}">
                  <a16:creationId xmlns:a16="http://schemas.microsoft.com/office/drawing/2014/main" id="{500F7F28-89FA-7EEB-6D54-0107B8262F6D}"/>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61" name="Text Box 87">
              <a:extLst>
                <a:ext uri="{FF2B5EF4-FFF2-40B4-BE49-F238E27FC236}">
                  <a16:creationId xmlns:a16="http://schemas.microsoft.com/office/drawing/2014/main" id="{236EE634-4318-A495-D03B-7D3E1545EAF5}"/>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62" name="Text Box 89">
              <a:extLst>
                <a:ext uri="{FF2B5EF4-FFF2-40B4-BE49-F238E27FC236}">
                  <a16:creationId xmlns:a16="http://schemas.microsoft.com/office/drawing/2014/main" id="{6F12F626-8E1F-D40F-CD66-DDD88B157A0B}"/>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63" name="Text Box 90">
              <a:extLst>
                <a:ext uri="{FF2B5EF4-FFF2-40B4-BE49-F238E27FC236}">
                  <a16:creationId xmlns:a16="http://schemas.microsoft.com/office/drawing/2014/main" id="{A138FFBC-CBFE-82C6-D6EC-3F960DEAD8F5}"/>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64" name="Text Box 91">
              <a:extLst>
                <a:ext uri="{FF2B5EF4-FFF2-40B4-BE49-F238E27FC236}">
                  <a16:creationId xmlns:a16="http://schemas.microsoft.com/office/drawing/2014/main" id="{AC28676D-BA68-D00D-8E57-7263154FA033}"/>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65" name="Text Box 92">
              <a:extLst>
                <a:ext uri="{FF2B5EF4-FFF2-40B4-BE49-F238E27FC236}">
                  <a16:creationId xmlns:a16="http://schemas.microsoft.com/office/drawing/2014/main" id="{75D9F177-6A22-3715-AA4C-3B757AE5D8F3}"/>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66" name="Text Box 93">
              <a:extLst>
                <a:ext uri="{FF2B5EF4-FFF2-40B4-BE49-F238E27FC236}">
                  <a16:creationId xmlns:a16="http://schemas.microsoft.com/office/drawing/2014/main" id="{CD404A5E-C943-E564-20DB-9FDB44EC3223}"/>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67" name="Text Box 94">
              <a:extLst>
                <a:ext uri="{FF2B5EF4-FFF2-40B4-BE49-F238E27FC236}">
                  <a16:creationId xmlns:a16="http://schemas.microsoft.com/office/drawing/2014/main" id="{51B47F43-011F-B7B4-8BD1-7DF8CD213FFD}"/>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68" name="Text Box 95">
              <a:extLst>
                <a:ext uri="{FF2B5EF4-FFF2-40B4-BE49-F238E27FC236}">
                  <a16:creationId xmlns:a16="http://schemas.microsoft.com/office/drawing/2014/main" id="{121D998E-0CF3-FDB1-D885-08685DA2A6D5}"/>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69" name="Text Box 96">
              <a:extLst>
                <a:ext uri="{FF2B5EF4-FFF2-40B4-BE49-F238E27FC236}">
                  <a16:creationId xmlns:a16="http://schemas.microsoft.com/office/drawing/2014/main" id="{47CDCB97-670E-F8B1-C64C-26CBFC44FE6E}"/>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70" name="Oval 102">
              <a:extLst>
                <a:ext uri="{FF2B5EF4-FFF2-40B4-BE49-F238E27FC236}">
                  <a16:creationId xmlns:a16="http://schemas.microsoft.com/office/drawing/2014/main" id="{985A13A2-C860-2CDD-27F9-5991B1C03FCB}"/>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1" name="Oval 103">
              <a:extLst>
                <a:ext uri="{FF2B5EF4-FFF2-40B4-BE49-F238E27FC236}">
                  <a16:creationId xmlns:a16="http://schemas.microsoft.com/office/drawing/2014/main" id="{555A8BDE-919E-D17A-9807-1B47B4195F6D}"/>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2" name="Oval 104">
              <a:extLst>
                <a:ext uri="{FF2B5EF4-FFF2-40B4-BE49-F238E27FC236}">
                  <a16:creationId xmlns:a16="http://schemas.microsoft.com/office/drawing/2014/main" id="{15C011DE-6E05-20F8-1B2C-BD9C20E71BEC}"/>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3" name="Oval 105">
              <a:extLst>
                <a:ext uri="{FF2B5EF4-FFF2-40B4-BE49-F238E27FC236}">
                  <a16:creationId xmlns:a16="http://schemas.microsoft.com/office/drawing/2014/main" id="{85DE557D-36CC-6B56-AFC9-248116005CD2}"/>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4" name="Oval 106">
              <a:extLst>
                <a:ext uri="{FF2B5EF4-FFF2-40B4-BE49-F238E27FC236}">
                  <a16:creationId xmlns:a16="http://schemas.microsoft.com/office/drawing/2014/main" id="{96A08EA7-1A3E-22E8-BD1B-CBB20E4E634E}"/>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5" name="Oval 107">
              <a:extLst>
                <a:ext uri="{FF2B5EF4-FFF2-40B4-BE49-F238E27FC236}">
                  <a16:creationId xmlns:a16="http://schemas.microsoft.com/office/drawing/2014/main" id="{745300C2-38A0-795C-CF5B-12BE75358558}"/>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6" name="Oval 108">
              <a:extLst>
                <a:ext uri="{FF2B5EF4-FFF2-40B4-BE49-F238E27FC236}">
                  <a16:creationId xmlns:a16="http://schemas.microsoft.com/office/drawing/2014/main" id="{2212E5F1-B3A3-1F6D-FA97-DA3BCDCFD13B}"/>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7" name="Oval 109">
              <a:extLst>
                <a:ext uri="{FF2B5EF4-FFF2-40B4-BE49-F238E27FC236}">
                  <a16:creationId xmlns:a16="http://schemas.microsoft.com/office/drawing/2014/main" id="{2FE79B18-17DD-F9AD-E21D-39220EBD7AC9}"/>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8" name="Oval 110">
              <a:extLst>
                <a:ext uri="{FF2B5EF4-FFF2-40B4-BE49-F238E27FC236}">
                  <a16:creationId xmlns:a16="http://schemas.microsoft.com/office/drawing/2014/main" id="{1DEA1376-A203-D40D-DF83-8D18C5E42E89}"/>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9" name="Oval 113">
              <a:extLst>
                <a:ext uri="{FF2B5EF4-FFF2-40B4-BE49-F238E27FC236}">
                  <a16:creationId xmlns:a16="http://schemas.microsoft.com/office/drawing/2014/main" id="{831E1DE4-70E3-6BB6-45B0-03537DF82429}"/>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0" name="Oval 114">
              <a:extLst>
                <a:ext uri="{FF2B5EF4-FFF2-40B4-BE49-F238E27FC236}">
                  <a16:creationId xmlns:a16="http://schemas.microsoft.com/office/drawing/2014/main" id="{DFEBCC85-585F-774B-B670-005EB50A25D8}"/>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1" name="Oval 116">
              <a:extLst>
                <a:ext uri="{FF2B5EF4-FFF2-40B4-BE49-F238E27FC236}">
                  <a16:creationId xmlns:a16="http://schemas.microsoft.com/office/drawing/2014/main" id="{8BA2A54A-EEBA-B4DE-ECEC-7A2D98F88B3E}"/>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2" name="Oval 117">
              <a:extLst>
                <a:ext uri="{FF2B5EF4-FFF2-40B4-BE49-F238E27FC236}">
                  <a16:creationId xmlns:a16="http://schemas.microsoft.com/office/drawing/2014/main" id="{A2EA7BA8-3297-642A-16D4-F01137E836FD}"/>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3" name="Freeform 118">
              <a:extLst>
                <a:ext uri="{FF2B5EF4-FFF2-40B4-BE49-F238E27FC236}">
                  <a16:creationId xmlns:a16="http://schemas.microsoft.com/office/drawing/2014/main" id="{0BC88EBF-A9B3-E6C8-BCAA-FD05C9768DB9}"/>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4" name="Text Box 134">
              <a:extLst>
                <a:ext uri="{FF2B5EF4-FFF2-40B4-BE49-F238E27FC236}">
                  <a16:creationId xmlns:a16="http://schemas.microsoft.com/office/drawing/2014/main" id="{369C5519-2F46-0D42-333C-108D95213794}"/>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85" name="Text Box 135">
              <a:extLst>
                <a:ext uri="{FF2B5EF4-FFF2-40B4-BE49-F238E27FC236}">
                  <a16:creationId xmlns:a16="http://schemas.microsoft.com/office/drawing/2014/main" id="{F77E72BA-A1CA-ED38-F78A-5A937890335A}"/>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86" name="Text Box 140">
              <a:extLst>
                <a:ext uri="{FF2B5EF4-FFF2-40B4-BE49-F238E27FC236}">
                  <a16:creationId xmlns:a16="http://schemas.microsoft.com/office/drawing/2014/main" id="{2E331C7F-FB6E-F458-3560-53DC49F745F1}"/>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87" name="Line 156">
              <a:extLst>
                <a:ext uri="{FF2B5EF4-FFF2-40B4-BE49-F238E27FC236}">
                  <a16:creationId xmlns:a16="http://schemas.microsoft.com/office/drawing/2014/main" id="{60B2E470-CEC8-F7B2-697F-DCABAA290366}"/>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8" name="Line 146">
              <a:extLst>
                <a:ext uri="{FF2B5EF4-FFF2-40B4-BE49-F238E27FC236}">
                  <a16:creationId xmlns:a16="http://schemas.microsoft.com/office/drawing/2014/main" id="{C869B347-6544-30C5-1DAE-C1AB49A37A50}"/>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9" name="Text Box 203">
              <a:extLst>
                <a:ext uri="{FF2B5EF4-FFF2-40B4-BE49-F238E27FC236}">
                  <a16:creationId xmlns:a16="http://schemas.microsoft.com/office/drawing/2014/main" id="{C6A5CCF9-727B-38C6-3E6B-49BEB761F01A}"/>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90" name="Text Box 205">
              <a:extLst>
                <a:ext uri="{FF2B5EF4-FFF2-40B4-BE49-F238E27FC236}">
                  <a16:creationId xmlns:a16="http://schemas.microsoft.com/office/drawing/2014/main" id="{40779B1E-046E-2A69-C522-F8CD3A452AA2}"/>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91" name="Line 215">
              <a:extLst>
                <a:ext uri="{FF2B5EF4-FFF2-40B4-BE49-F238E27FC236}">
                  <a16:creationId xmlns:a16="http://schemas.microsoft.com/office/drawing/2014/main" id="{6DE540CC-15F7-E4A5-E72A-D6CBAB3BEF6A}"/>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2" name="Text Box 206">
              <a:extLst>
                <a:ext uri="{FF2B5EF4-FFF2-40B4-BE49-F238E27FC236}">
                  <a16:creationId xmlns:a16="http://schemas.microsoft.com/office/drawing/2014/main" id="{E0E3BC0B-D0B9-2DEC-D70D-31DF720C4C2A}"/>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93" name="Oval 125">
              <a:extLst>
                <a:ext uri="{FF2B5EF4-FFF2-40B4-BE49-F238E27FC236}">
                  <a16:creationId xmlns:a16="http://schemas.microsoft.com/office/drawing/2014/main" id="{C4C07D89-1089-9C61-C5C3-8C35EDC27C1E}"/>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4" name="Oval 126">
              <a:extLst>
                <a:ext uri="{FF2B5EF4-FFF2-40B4-BE49-F238E27FC236}">
                  <a16:creationId xmlns:a16="http://schemas.microsoft.com/office/drawing/2014/main" id="{CDAA5AA2-F156-7922-384F-55A040ACB611}"/>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5" name="Oval 127">
              <a:extLst>
                <a:ext uri="{FF2B5EF4-FFF2-40B4-BE49-F238E27FC236}">
                  <a16:creationId xmlns:a16="http://schemas.microsoft.com/office/drawing/2014/main" id="{3A9B164F-F936-6E21-D749-EA2F3D815D4D}"/>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6" name="Oval 128">
              <a:extLst>
                <a:ext uri="{FF2B5EF4-FFF2-40B4-BE49-F238E27FC236}">
                  <a16:creationId xmlns:a16="http://schemas.microsoft.com/office/drawing/2014/main" id="{DA8629E6-55FB-D9BC-3F0A-177D1EB46245}"/>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7" name="Oval 129">
              <a:extLst>
                <a:ext uri="{FF2B5EF4-FFF2-40B4-BE49-F238E27FC236}">
                  <a16:creationId xmlns:a16="http://schemas.microsoft.com/office/drawing/2014/main" id="{1143C820-3DBF-22FC-2842-D15A1D395972}"/>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8" name="Oval 130">
              <a:extLst>
                <a:ext uri="{FF2B5EF4-FFF2-40B4-BE49-F238E27FC236}">
                  <a16:creationId xmlns:a16="http://schemas.microsoft.com/office/drawing/2014/main" id="{26181982-847E-D105-CD32-B4AAAB02B26B}"/>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9" name="Oval 131">
              <a:extLst>
                <a:ext uri="{FF2B5EF4-FFF2-40B4-BE49-F238E27FC236}">
                  <a16:creationId xmlns:a16="http://schemas.microsoft.com/office/drawing/2014/main" id="{042C6DD7-0DE4-709E-3283-51D778985F50}"/>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00" name="Oval 132">
              <a:extLst>
                <a:ext uri="{FF2B5EF4-FFF2-40B4-BE49-F238E27FC236}">
                  <a16:creationId xmlns:a16="http://schemas.microsoft.com/office/drawing/2014/main" id="{EA3DA827-A023-6D27-B5C1-3E1AFB6C7D7D}"/>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01" name="Line 147">
              <a:extLst>
                <a:ext uri="{FF2B5EF4-FFF2-40B4-BE49-F238E27FC236}">
                  <a16:creationId xmlns:a16="http://schemas.microsoft.com/office/drawing/2014/main" id="{AD915993-8C8F-715D-74D6-0CE64A941584}"/>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102" name="直接连接符 115">
              <a:extLst>
                <a:ext uri="{FF2B5EF4-FFF2-40B4-BE49-F238E27FC236}">
                  <a16:creationId xmlns:a16="http://schemas.microsoft.com/office/drawing/2014/main" id="{58D6A02B-F468-ED35-2DC1-23A3B8B4E22C}"/>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103" name="Rectangle 161">
              <a:extLst>
                <a:ext uri="{FF2B5EF4-FFF2-40B4-BE49-F238E27FC236}">
                  <a16:creationId xmlns:a16="http://schemas.microsoft.com/office/drawing/2014/main" id="{91482BCB-3FF9-ED0D-5885-AA12620C6BE5}"/>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104" name="Oval 129">
              <a:extLst>
                <a:ext uri="{FF2B5EF4-FFF2-40B4-BE49-F238E27FC236}">
                  <a16:creationId xmlns:a16="http://schemas.microsoft.com/office/drawing/2014/main" id="{5ED4A374-F434-84B6-8CF2-96C98651532D}"/>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05" name="任意多边形 134">
              <a:extLst>
                <a:ext uri="{FF2B5EF4-FFF2-40B4-BE49-F238E27FC236}">
                  <a16:creationId xmlns:a16="http://schemas.microsoft.com/office/drawing/2014/main" id="{D3B09FF9-97F6-F823-A872-5DF6CCB54720}"/>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06" name="Rectangle 161">
              <a:extLst>
                <a:ext uri="{FF2B5EF4-FFF2-40B4-BE49-F238E27FC236}">
                  <a16:creationId xmlns:a16="http://schemas.microsoft.com/office/drawing/2014/main" id="{F2FAF482-019C-6124-6A55-A9FE9EC3A47E}"/>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107" name="直接连接符 119">
              <a:extLst>
                <a:ext uri="{FF2B5EF4-FFF2-40B4-BE49-F238E27FC236}">
                  <a16:creationId xmlns:a16="http://schemas.microsoft.com/office/drawing/2014/main" id="{066DD25D-3A1E-53E8-9D4D-C2AD64FFA843}"/>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108" name="直接连接符 121">
              <a:extLst>
                <a:ext uri="{FF2B5EF4-FFF2-40B4-BE49-F238E27FC236}">
                  <a16:creationId xmlns:a16="http://schemas.microsoft.com/office/drawing/2014/main" id="{E269AC53-ACA6-0DAB-560D-FF0EEB5E8828}"/>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110" name="Line 24">
              <a:extLst>
                <a:ext uri="{FF2B5EF4-FFF2-40B4-BE49-F238E27FC236}">
                  <a16:creationId xmlns:a16="http://schemas.microsoft.com/office/drawing/2014/main" id="{188E4799-EF15-5F9E-29D2-D52690456B30}"/>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11" name="Line 22">
              <a:extLst>
                <a:ext uri="{FF2B5EF4-FFF2-40B4-BE49-F238E27FC236}">
                  <a16:creationId xmlns:a16="http://schemas.microsoft.com/office/drawing/2014/main" id="{2A473B94-F40C-EF69-901D-1D768AFBA5D2}"/>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12" name="Text Box 87">
              <a:extLst>
                <a:ext uri="{FF2B5EF4-FFF2-40B4-BE49-F238E27FC236}">
                  <a16:creationId xmlns:a16="http://schemas.microsoft.com/office/drawing/2014/main" id="{71997FF9-5A3B-66CF-535E-59BE7260221B}"/>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113" name="Line 22">
              <a:extLst>
                <a:ext uri="{FF2B5EF4-FFF2-40B4-BE49-F238E27FC236}">
                  <a16:creationId xmlns:a16="http://schemas.microsoft.com/office/drawing/2014/main" id="{ABD7D963-6357-D481-0915-0D4E36BFA951}"/>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114" name="直接连接符 134">
              <a:extLst>
                <a:ext uri="{FF2B5EF4-FFF2-40B4-BE49-F238E27FC236}">
                  <a16:creationId xmlns:a16="http://schemas.microsoft.com/office/drawing/2014/main" id="{9F9B9EE6-D7BF-2C22-BC29-67516F4CF430}"/>
                </a:ext>
              </a:extLst>
            </p:cNvPr>
            <p:cNvCxnSpPr>
              <a:cxnSpLocks noChangeShapeType="1"/>
              <a:stCxn id="105" idx="4"/>
            </p:cNvCxnSpPr>
            <p:nvPr/>
          </p:nvCxnSpPr>
          <p:spPr bwMode="auto">
            <a:xfrm>
              <a:off x="6706617" y="2109019"/>
              <a:ext cx="200025" cy="785812"/>
            </a:xfrm>
            <a:prstGeom prst="line">
              <a:avLst/>
            </a:prstGeom>
            <a:noFill/>
            <a:ln w="19050" algn="ctr">
              <a:solidFill>
                <a:srgbClr val="0000FF"/>
              </a:solidFill>
              <a:round/>
              <a:headEnd/>
              <a:tailEnd/>
            </a:ln>
          </p:spPr>
        </p:cxnSp>
        <p:sp>
          <p:nvSpPr>
            <p:cNvPr id="115" name="Text Box 206">
              <a:extLst>
                <a:ext uri="{FF2B5EF4-FFF2-40B4-BE49-F238E27FC236}">
                  <a16:creationId xmlns:a16="http://schemas.microsoft.com/office/drawing/2014/main" id="{D330FAAE-7F5B-6838-6591-87716BF22CB0}"/>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116" name="Text Box 206">
              <a:extLst>
                <a:ext uri="{FF2B5EF4-FFF2-40B4-BE49-F238E27FC236}">
                  <a16:creationId xmlns:a16="http://schemas.microsoft.com/office/drawing/2014/main" id="{6FB987DC-6D3E-C3E3-6C2F-A3881472D8D1}"/>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117" name="TextBox 147">
              <a:extLst>
                <a:ext uri="{FF2B5EF4-FFF2-40B4-BE49-F238E27FC236}">
                  <a16:creationId xmlns:a16="http://schemas.microsoft.com/office/drawing/2014/main" id="{F344ED03-0DEC-8580-BC9E-6F8A12C8C0AD}"/>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118" name="TextBox 148">
              <a:extLst>
                <a:ext uri="{FF2B5EF4-FFF2-40B4-BE49-F238E27FC236}">
                  <a16:creationId xmlns:a16="http://schemas.microsoft.com/office/drawing/2014/main" id="{5D6C2FE7-1350-1558-F4FC-E09051C7CFB3}"/>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119" name="直接连接符 153">
              <a:extLst>
                <a:ext uri="{FF2B5EF4-FFF2-40B4-BE49-F238E27FC236}">
                  <a16:creationId xmlns:a16="http://schemas.microsoft.com/office/drawing/2014/main" id="{48008D92-3238-5B65-664D-44D16E2FA044}"/>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120" name="直接连接符 119">
              <a:extLst>
                <a:ext uri="{FF2B5EF4-FFF2-40B4-BE49-F238E27FC236}">
                  <a16:creationId xmlns:a16="http://schemas.microsoft.com/office/drawing/2014/main" id="{C546507D-7773-BD33-D737-77C762D01031}"/>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121" name="直接连接符 141">
              <a:extLst>
                <a:ext uri="{FF2B5EF4-FFF2-40B4-BE49-F238E27FC236}">
                  <a16:creationId xmlns:a16="http://schemas.microsoft.com/office/drawing/2014/main" id="{55B9EBD6-A409-583C-F232-EF63A1BEFC3B}"/>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122" name="Oval 202">
              <a:extLst>
                <a:ext uri="{FF2B5EF4-FFF2-40B4-BE49-F238E27FC236}">
                  <a16:creationId xmlns:a16="http://schemas.microsoft.com/office/drawing/2014/main" id="{15B60F99-CF02-4CE4-C482-65690029E129}"/>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23" name="Oval 130">
              <a:extLst>
                <a:ext uri="{FF2B5EF4-FFF2-40B4-BE49-F238E27FC236}">
                  <a16:creationId xmlns:a16="http://schemas.microsoft.com/office/drawing/2014/main" id="{91F85B9B-C50B-EC91-1C30-86E8430D4230}"/>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24" name="Oval 130">
              <a:extLst>
                <a:ext uri="{FF2B5EF4-FFF2-40B4-BE49-F238E27FC236}">
                  <a16:creationId xmlns:a16="http://schemas.microsoft.com/office/drawing/2014/main" id="{BB5A2574-8E02-2DA2-7EC7-9A217D48FEEB}"/>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25" name="TextBox 149">
              <a:extLst>
                <a:ext uri="{FF2B5EF4-FFF2-40B4-BE49-F238E27FC236}">
                  <a16:creationId xmlns:a16="http://schemas.microsoft.com/office/drawing/2014/main" id="{79BCD426-13A3-14B9-0C9C-5909A8E607B5}"/>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126" name="Oval 202">
              <a:extLst>
                <a:ext uri="{FF2B5EF4-FFF2-40B4-BE49-F238E27FC236}">
                  <a16:creationId xmlns:a16="http://schemas.microsoft.com/office/drawing/2014/main" id="{4D64B193-9C75-052A-40B8-2140219D23D2}"/>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127" name="直接连接符 126">
              <a:extLst>
                <a:ext uri="{FF2B5EF4-FFF2-40B4-BE49-F238E27FC236}">
                  <a16:creationId xmlns:a16="http://schemas.microsoft.com/office/drawing/2014/main" id="{98E10D46-8FD4-4842-7B34-C56550D4EAA7}"/>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28" name="直接连接符 119">
              <a:extLst>
                <a:ext uri="{FF2B5EF4-FFF2-40B4-BE49-F238E27FC236}">
                  <a16:creationId xmlns:a16="http://schemas.microsoft.com/office/drawing/2014/main" id="{BE0150C9-4DE2-B3F0-21E2-BD684501C926}"/>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7" name="Text Box 140">
            <a:extLst>
              <a:ext uri="{FF2B5EF4-FFF2-40B4-BE49-F238E27FC236}">
                <a16:creationId xmlns:a16="http://schemas.microsoft.com/office/drawing/2014/main" id="{7974E251-63E9-EB16-1B80-6309DA95F45D}"/>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8" name="Line 167">
            <a:extLst>
              <a:ext uri="{FF2B5EF4-FFF2-40B4-BE49-F238E27FC236}">
                <a16:creationId xmlns:a16="http://schemas.microsoft.com/office/drawing/2014/main" id="{2A0680EA-21A3-93D0-48DB-B5BB13405B73}"/>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grpSp>
        <p:nvGrpSpPr>
          <p:cNvPr id="129" name="组合 128">
            <a:extLst>
              <a:ext uri="{FF2B5EF4-FFF2-40B4-BE49-F238E27FC236}">
                <a16:creationId xmlns:a16="http://schemas.microsoft.com/office/drawing/2014/main" id="{9C0BB9A7-C0F9-3401-F50F-F51DA031B3EF}"/>
              </a:ext>
            </a:extLst>
          </p:cNvPr>
          <p:cNvGrpSpPr/>
          <p:nvPr/>
        </p:nvGrpSpPr>
        <p:grpSpPr>
          <a:xfrm>
            <a:off x="505664" y="1426139"/>
            <a:ext cx="6645148" cy="525530"/>
            <a:chOff x="722008" y="1303131"/>
            <a:chExt cx="6344982" cy="501792"/>
          </a:xfrm>
        </p:grpSpPr>
        <p:sp>
          <p:nvSpPr>
            <p:cNvPr id="130" name="流程图: 手动输入 6">
              <a:extLst>
                <a:ext uri="{FF2B5EF4-FFF2-40B4-BE49-F238E27FC236}">
                  <a16:creationId xmlns:a16="http://schemas.microsoft.com/office/drawing/2014/main" id="{FC4874EA-3922-ED81-1C3E-AA4F9ECDD594}"/>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31" name="组合 130">
              <a:extLst>
                <a:ext uri="{FF2B5EF4-FFF2-40B4-BE49-F238E27FC236}">
                  <a16:creationId xmlns:a16="http://schemas.microsoft.com/office/drawing/2014/main" id="{C92119DF-418E-45F1-C8E3-2127DADC3958}"/>
                </a:ext>
              </a:extLst>
            </p:cNvPr>
            <p:cNvGrpSpPr/>
            <p:nvPr/>
          </p:nvGrpSpPr>
          <p:grpSpPr>
            <a:xfrm>
              <a:off x="722008" y="1303131"/>
              <a:ext cx="546594" cy="475865"/>
              <a:chOff x="708742" y="1296102"/>
              <a:chExt cx="454744" cy="283828"/>
            </a:xfrm>
          </p:grpSpPr>
          <p:sp>
            <p:nvSpPr>
              <p:cNvPr id="133" name="平行四边形 132">
                <a:extLst>
                  <a:ext uri="{FF2B5EF4-FFF2-40B4-BE49-F238E27FC236}">
                    <a16:creationId xmlns:a16="http://schemas.microsoft.com/office/drawing/2014/main" id="{658E4923-7F55-ACB7-864D-70EDD83626DF}"/>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34" name="平行四边形 133">
                <a:extLst>
                  <a:ext uri="{FF2B5EF4-FFF2-40B4-BE49-F238E27FC236}">
                    <a16:creationId xmlns:a16="http://schemas.microsoft.com/office/drawing/2014/main" id="{F20E2228-134D-C2C6-576B-C64E91A39EDF}"/>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32" name="Text Box 79">
              <a:extLst>
                <a:ext uri="{FF2B5EF4-FFF2-40B4-BE49-F238E27FC236}">
                  <a16:creationId xmlns:a16="http://schemas.microsoft.com/office/drawing/2014/main" id="{BC4E51E8-2C9A-205F-F341-787753D64FDE}"/>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49" name="灯片编号占位符 48">
            <a:extLst>
              <a:ext uri="{FF2B5EF4-FFF2-40B4-BE49-F238E27FC236}">
                <a16:creationId xmlns:a16="http://schemas.microsoft.com/office/drawing/2014/main" id="{9F7983FE-0121-4197-B8F1-40C7B95B2D28}"/>
              </a:ext>
            </a:extLst>
          </p:cNvPr>
          <p:cNvSpPr>
            <a:spLocks noGrp="1"/>
          </p:cNvSpPr>
          <p:nvPr>
            <p:ph type="sldNum" sz="quarter" idx="12"/>
          </p:nvPr>
        </p:nvSpPr>
        <p:spPr/>
        <p:txBody>
          <a:bodyPr/>
          <a:lstStyle/>
          <a:p>
            <a:fld id="{5956A083-5018-4B52-82A0-83241B8E3D94}" type="slidenum">
              <a:rPr lang="zh-CN" altLang="en-US" smtClean="0"/>
              <a:t>57</a:t>
            </a:fld>
            <a:endParaRPr lang="zh-CN" altLang="en-US"/>
          </a:p>
        </p:txBody>
      </p:sp>
      <p:sp>
        <p:nvSpPr>
          <p:cNvPr id="135" name="Line 147">
            <a:extLst>
              <a:ext uri="{FF2B5EF4-FFF2-40B4-BE49-F238E27FC236}">
                <a16:creationId xmlns:a16="http://schemas.microsoft.com/office/drawing/2014/main" id="{373298C8-B4F6-A54E-AE03-E7B3E531384A}"/>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7" name="Oval 130">
            <a:extLst>
              <a:ext uri="{FF2B5EF4-FFF2-40B4-BE49-F238E27FC236}">
                <a16:creationId xmlns:a16="http://schemas.microsoft.com/office/drawing/2014/main" id="{5FECCC36-FA44-274E-8A16-AD0BB0D8CF17}"/>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8" name="Text Box 93">
            <a:extLst>
              <a:ext uri="{FF2B5EF4-FFF2-40B4-BE49-F238E27FC236}">
                <a16:creationId xmlns:a16="http://schemas.microsoft.com/office/drawing/2014/main" id="{251E3832-3583-1E49-8C69-C09DAEF659F0}"/>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
        <p:nvSpPr>
          <p:cNvPr id="136" name="Text Box 155">
            <a:extLst>
              <a:ext uri="{FF2B5EF4-FFF2-40B4-BE49-F238E27FC236}">
                <a16:creationId xmlns:a16="http://schemas.microsoft.com/office/drawing/2014/main" id="{AD79C816-2BD2-434C-8B95-CB9AE7C107FF}"/>
              </a:ext>
            </a:extLst>
          </p:cNvPr>
          <p:cNvSpPr txBox="1">
            <a:spLocks noChangeArrowheads="1"/>
          </p:cNvSpPr>
          <p:nvPr/>
        </p:nvSpPr>
        <p:spPr bwMode="auto">
          <a:xfrm>
            <a:off x="3381326" y="4693169"/>
            <a:ext cx="579709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 </a:t>
            </a:r>
            <a:r>
              <a:rPr lang="en-US" altLang="zh-CN" sz="1600" b="1" dirty="0">
                <a:solidFill>
                  <a:srgbClr val="0000FF"/>
                </a:solidFill>
                <a:latin typeface="微软雅黑" pitchFamily="34" charset="-122"/>
                <a:ea typeface="微软雅黑" pitchFamily="34" charset="-122"/>
              </a:rPr>
              <a:t>TCP </a:t>
            </a:r>
            <a:r>
              <a:rPr lang="zh-CN" altLang="en-US" sz="1600" b="1" dirty="0">
                <a:solidFill>
                  <a:srgbClr val="0000FF"/>
                </a:solidFill>
                <a:latin typeface="微软雅黑" pitchFamily="34" charset="-122"/>
                <a:ea typeface="微软雅黑" pitchFamily="34" charset="-122"/>
              </a:rPr>
              <a:t>连接进行初始化时，将拥塞窗口置为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（窗口单位不使用字节而使用报文段）。</a:t>
            </a:r>
          </a:p>
        </p:txBody>
      </p:sp>
      <p:sp>
        <p:nvSpPr>
          <p:cNvPr id="139" name="Text Box 155">
            <a:extLst>
              <a:ext uri="{FF2B5EF4-FFF2-40B4-BE49-F238E27FC236}">
                <a16:creationId xmlns:a16="http://schemas.microsoft.com/office/drawing/2014/main" id="{050AF5F4-3BAA-8949-BED8-66B8C98F1911}"/>
              </a:ext>
            </a:extLst>
          </p:cNvPr>
          <p:cNvSpPr txBox="1">
            <a:spLocks noChangeArrowheads="1"/>
          </p:cNvSpPr>
          <p:nvPr/>
        </p:nvSpPr>
        <p:spPr bwMode="auto">
          <a:xfrm>
            <a:off x="3381326" y="5256914"/>
            <a:ext cx="6300012" cy="344325"/>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将慢启动门限的初始值设置为 </a:t>
            </a:r>
            <a:r>
              <a:rPr lang="en-US" altLang="zh-CN" sz="1600" b="1" dirty="0">
                <a:solidFill>
                  <a:srgbClr val="0000FF"/>
                </a:solidFill>
                <a:latin typeface="微软雅黑" pitchFamily="34" charset="-122"/>
                <a:ea typeface="微软雅黑" pitchFamily="34" charset="-122"/>
              </a:rPr>
              <a:t>16 </a:t>
            </a:r>
            <a:r>
              <a:rPr lang="zh-CN" altLang="en-US" sz="1600" b="1" dirty="0">
                <a:solidFill>
                  <a:srgbClr val="0000FF"/>
                </a:solidFill>
                <a:latin typeface="微软雅黑" pitchFamily="34" charset="-122"/>
                <a:ea typeface="微软雅黑" pitchFamily="34" charset="-122"/>
              </a:rPr>
              <a:t>个报文段，即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16</a:t>
            </a:r>
            <a:r>
              <a:rPr lang="zh-CN" altLang="en-US" sz="1600" b="1" dirty="0">
                <a:solidFill>
                  <a:srgbClr val="0000FF"/>
                </a:solidFill>
                <a:latin typeface="微软雅黑" pitchFamily="34" charset="-122"/>
                <a:ea typeface="微软雅黑" pitchFamily="34" charset="-122"/>
              </a:rPr>
              <a:t>。</a:t>
            </a:r>
          </a:p>
        </p:txBody>
      </p:sp>
      <p:sp>
        <p:nvSpPr>
          <p:cNvPr id="140" name="Line 167">
            <a:extLst>
              <a:ext uri="{FF2B5EF4-FFF2-40B4-BE49-F238E27FC236}">
                <a16:creationId xmlns:a16="http://schemas.microsoft.com/office/drawing/2014/main" id="{CA30DB43-8B59-AD45-9F65-5B2D08282B23}"/>
              </a:ext>
            </a:extLst>
          </p:cNvPr>
          <p:cNvSpPr>
            <a:spLocks noChangeShapeType="1"/>
          </p:cNvSpPr>
          <p:nvPr/>
        </p:nvSpPr>
        <p:spPr bwMode="auto">
          <a:xfrm>
            <a:off x="3784622" y="4262829"/>
            <a:ext cx="376817" cy="111459"/>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1" name="Line 167">
            <a:extLst>
              <a:ext uri="{FF2B5EF4-FFF2-40B4-BE49-F238E27FC236}">
                <a16:creationId xmlns:a16="http://schemas.microsoft.com/office/drawing/2014/main" id="{E919FA8B-E2C0-E845-9F78-47F5511D2551}"/>
              </a:ext>
            </a:extLst>
          </p:cNvPr>
          <p:cNvSpPr>
            <a:spLocks noChangeShapeType="1"/>
          </p:cNvSpPr>
          <p:nvPr/>
        </p:nvSpPr>
        <p:spPr bwMode="auto">
          <a:xfrm>
            <a:off x="5990678" y="4255826"/>
            <a:ext cx="262426" cy="98688"/>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2" name="Text Box 209">
            <a:extLst>
              <a:ext uri="{FF2B5EF4-FFF2-40B4-BE49-F238E27FC236}">
                <a16:creationId xmlns:a16="http://schemas.microsoft.com/office/drawing/2014/main" id="{6A3DCD10-5B90-534F-AE49-886A95148C60}"/>
              </a:ext>
            </a:extLst>
          </p:cNvPr>
          <p:cNvSpPr txBox="1">
            <a:spLocks noChangeArrowheads="1"/>
          </p:cNvSpPr>
          <p:nvPr/>
        </p:nvSpPr>
        <p:spPr bwMode="auto">
          <a:xfrm>
            <a:off x="3119548" y="4012607"/>
            <a:ext cx="753634" cy="276999"/>
          </a:xfrm>
          <a:prstGeom prst="rect">
            <a:avLst/>
          </a:prstGeom>
          <a:solidFill>
            <a:srgbClr val="00FF99"/>
          </a:solidFill>
          <a:ln w="9525">
            <a:solidFill>
              <a:srgbClr val="000000"/>
            </a:solidFill>
            <a:miter lim="800000"/>
            <a:headEnd/>
            <a:tailEnd/>
          </a:ln>
          <a:effectLst/>
        </p:spPr>
        <p:txBody>
          <a:bodyPr wrap="square">
            <a:spAutoFit/>
          </a:bodyPr>
          <a:lstStyle/>
          <a:p>
            <a:pPr algn="ctr">
              <a:defRPr/>
            </a:pPr>
            <a:r>
              <a:rPr lang="zh-CN" altLang="en-US" sz="1200" b="1" kern="0" dirty="0">
                <a:solidFill>
                  <a:sysClr val="windowText" lastClr="000000"/>
                </a:solidFill>
                <a:latin typeface="微软雅黑" pitchFamily="34" charset="-122"/>
                <a:ea typeface="微软雅黑" pitchFamily="34" charset="-122"/>
              </a:rPr>
              <a:t>慢启动</a:t>
            </a:r>
          </a:p>
        </p:txBody>
      </p:sp>
      <p:sp>
        <p:nvSpPr>
          <p:cNvPr id="143" name="Text Box 209">
            <a:extLst>
              <a:ext uri="{FF2B5EF4-FFF2-40B4-BE49-F238E27FC236}">
                <a16:creationId xmlns:a16="http://schemas.microsoft.com/office/drawing/2014/main" id="{0B0B2FE4-3841-0949-90CE-FEC75491AE51}"/>
              </a:ext>
            </a:extLst>
          </p:cNvPr>
          <p:cNvSpPr txBox="1">
            <a:spLocks noChangeArrowheads="1"/>
          </p:cNvSpPr>
          <p:nvPr/>
        </p:nvSpPr>
        <p:spPr bwMode="auto">
          <a:xfrm>
            <a:off x="5258316" y="3997096"/>
            <a:ext cx="753635" cy="276999"/>
          </a:xfrm>
          <a:prstGeom prst="rect">
            <a:avLst/>
          </a:prstGeom>
          <a:solidFill>
            <a:srgbClr val="00FF99"/>
          </a:solidFill>
          <a:ln w="9525">
            <a:solidFill>
              <a:srgbClr val="000000"/>
            </a:solidFill>
            <a:miter lim="800000"/>
            <a:headEnd/>
            <a:tailEnd/>
          </a:ln>
          <a:effectLst/>
        </p:spPr>
        <p:txBody>
          <a:bodyPr wrap="square">
            <a:spAutoFit/>
          </a:bodyPr>
          <a:lstStyle/>
          <a:p>
            <a:pPr algn="ctr">
              <a:defRPr/>
            </a:pPr>
            <a:r>
              <a:rPr lang="zh-CN" altLang="en-US" sz="1200" b="1" kern="0" dirty="0">
                <a:solidFill>
                  <a:sysClr val="windowText" lastClr="000000"/>
                </a:solidFill>
                <a:latin typeface="微软雅黑" pitchFamily="34" charset="-122"/>
                <a:ea typeface="微软雅黑" pitchFamily="34" charset="-122"/>
              </a:rPr>
              <a:t>慢启动</a:t>
            </a:r>
          </a:p>
        </p:txBody>
      </p:sp>
    </p:spTree>
    <p:extLst>
      <p:ext uri="{BB962C8B-B14F-4D97-AF65-F5344CB8AC3E}">
        <p14:creationId xmlns:p14="http://schemas.microsoft.com/office/powerpoint/2010/main" val="34040187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B2196-52E8-D4DF-3EE2-B57462BEFAC4}"/>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2EEDA7C4-6517-8C1A-D185-7E74E51D1513}"/>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FB29D427-6AA8-2819-11EF-565B3D31D12F}"/>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820A55C2-F2C5-04C5-E126-1D6FD4B8F4C6}"/>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1E89D0AD-9B2F-43BC-6CA2-AE63ADECE06A}"/>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F4E2ACAB-4E3D-6565-15D6-E73B1FB13BC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AC24A91A-FCFE-C770-75FC-F3B0E51269A6}"/>
              </a:ext>
            </a:extLst>
          </p:cNvPr>
          <p:cNvGrpSpPr/>
          <p:nvPr/>
        </p:nvGrpSpPr>
        <p:grpSpPr>
          <a:xfrm>
            <a:off x="505664" y="1426139"/>
            <a:ext cx="6645148" cy="525530"/>
            <a:chOff x="722008" y="1303131"/>
            <a:chExt cx="6344982" cy="501792"/>
          </a:xfrm>
        </p:grpSpPr>
        <p:sp>
          <p:nvSpPr>
            <p:cNvPr id="50" name="流程图: 手动输入 6">
              <a:extLst>
                <a:ext uri="{FF2B5EF4-FFF2-40B4-BE49-F238E27FC236}">
                  <a16:creationId xmlns:a16="http://schemas.microsoft.com/office/drawing/2014/main" id="{004FDEA8-777E-A529-5138-0EBDCB91D43D}"/>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3FDF5CDD-C11F-727D-D2A4-506971D457A0}"/>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B35C3D43-2813-56AB-79C5-7BD5EF637205}"/>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756D2F53-A374-789B-2ED8-DC7E7D0622A8}"/>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66EB27D6-E712-3125-19D2-DAF7E046D0DF}"/>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2" name="灯片编号占位符 1">
            <a:extLst>
              <a:ext uri="{FF2B5EF4-FFF2-40B4-BE49-F238E27FC236}">
                <a16:creationId xmlns:a16="http://schemas.microsoft.com/office/drawing/2014/main" id="{DB25AA2B-E515-4FB6-849C-792507460854}"/>
              </a:ext>
            </a:extLst>
          </p:cNvPr>
          <p:cNvSpPr>
            <a:spLocks noGrp="1"/>
          </p:cNvSpPr>
          <p:nvPr>
            <p:ph type="sldNum" sz="quarter" idx="12"/>
          </p:nvPr>
        </p:nvSpPr>
        <p:spPr/>
        <p:txBody>
          <a:bodyPr/>
          <a:lstStyle/>
          <a:p>
            <a:fld id="{5956A083-5018-4B52-82A0-83241B8E3D94}" type="slidenum">
              <a:rPr lang="zh-CN" altLang="en-US" smtClean="0"/>
              <a:t>58</a:t>
            </a:fld>
            <a:endParaRPr lang="zh-CN" altLang="en-US"/>
          </a:p>
        </p:txBody>
      </p:sp>
      <p:sp>
        <p:nvSpPr>
          <p:cNvPr id="134" name="圆角矩形 150">
            <a:extLst>
              <a:ext uri="{FF2B5EF4-FFF2-40B4-BE49-F238E27FC236}">
                <a16:creationId xmlns:a16="http://schemas.microsoft.com/office/drawing/2014/main" id="{3F3B8EDF-AF79-CE42-BE48-184F471727A7}"/>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35" name="组合 134">
            <a:extLst>
              <a:ext uri="{FF2B5EF4-FFF2-40B4-BE49-F238E27FC236}">
                <a16:creationId xmlns:a16="http://schemas.microsoft.com/office/drawing/2014/main" id="{29D74153-F0F6-C244-959E-AD3F50252344}"/>
              </a:ext>
            </a:extLst>
          </p:cNvPr>
          <p:cNvGrpSpPr/>
          <p:nvPr/>
        </p:nvGrpSpPr>
        <p:grpSpPr>
          <a:xfrm>
            <a:off x="3043104" y="2417895"/>
            <a:ext cx="6808860" cy="2262108"/>
            <a:chOff x="300646" y="840152"/>
            <a:chExt cx="9638211" cy="3093013"/>
          </a:xfrm>
        </p:grpSpPr>
        <p:sp>
          <p:nvSpPr>
            <p:cNvPr id="136" name="Text Box 140">
              <a:extLst>
                <a:ext uri="{FF2B5EF4-FFF2-40B4-BE49-F238E27FC236}">
                  <a16:creationId xmlns:a16="http://schemas.microsoft.com/office/drawing/2014/main" id="{2F58204C-2AA6-D74F-A29D-2A4CF2854E56}"/>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7" name="Line 2">
              <a:extLst>
                <a:ext uri="{FF2B5EF4-FFF2-40B4-BE49-F238E27FC236}">
                  <a16:creationId xmlns:a16="http://schemas.microsoft.com/office/drawing/2014/main" id="{C39E93EE-00C2-2F47-9983-D5D17980AB0E}"/>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8" name="Line 3">
              <a:extLst>
                <a:ext uri="{FF2B5EF4-FFF2-40B4-BE49-F238E27FC236}">
                  <a16:creationId xmlns:a16="http://schemas.microsoft.com/office/drawing/2014/main" id="{A5FAB17B-F789-C349-A9CA-77F84A6456B7}"/>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9" name="Line 4">
              <a:extLst>
                <a:ext uri="{FF2B5EF4-FFF2-40B4-BE49-F238E27FC236}">
                  <a16:creationId xmlns:a16="http://schemas.microsoft.com/office/drawing/2014/main" id="{25AD1CA6-69C0-B142-AB22-494405562B4F}"/>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0" name="Line 5">
              <a:extLst>
                <a:ext uri="{FF2B5EF4-FFF2-40B4-BE49-F238E27FC236}">
                  <a16:creationId xmlns:a16="http://schemas.microsoft.com/office/drawing/2014/main" id="{C3D42981-D8FE-264F-B8FF-D1D173EA5BAC}"/>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1" name="Line 6">
              <a:extLst>
                <a:ext uri="{FF2B5EF4-FFF2-40B4-BE49-F238E27FC236}">
                  <a16:creationId xmlns:a16="http://schemas.microsoft.com/office/drawing/2014/main" id="{38E576D6-0053-EC49-9A2E-D259DDEB8719}"/>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2" name="Line 7">
              <a:extLst>
                <a:ext uri="{FF2B5EF4-FFF2-40B4-BE49-F238E27FC236}">
                  <a16:creationId xmlns:a16="http://schemas.microsoft.com/office/drawing/2014/main" id="{4B84949C-0FFD-7C40-BD81-E1968619E2D2}"/>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3" name="Line 8">
              <a:extLst>
                <a:ext uri="{FF2B5EF4-FFF2-40B4-BE49-F238E27FC236}">
                  <a16:creationId xmlns:a16="http://schemas.microsoft.com/office/drawing/2014/main" id="{939BA1BD-FC52-6F45-85C9-1349A846C786}"/>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4" name="Line 9">
              <a:extLst>
                <a:ext uri="{FF2B5EF4-FFF2-40B4-BE49-F238E27FC236}">
                  <a16:creationId xmlns:a16="http://schemas.microsoft.com/office/drawing/2014/main" id="{F4183579-0049-BF4C-AB0E-871850D4113F}"/>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5" name="Line 10">
              <a:extLst>
                <a:ext uri="{FF2B5EF4-FFF2-40B4-BE49-F238E27FC236}">
                  <a16:creationId xmlns:a16="http://schemas.microsoft.com/office/drawing/2014/main" id="{FE3392ED-F647-5542-A051-A7852EE021E9}"/>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6" name="Line 11">
              <a:extLst>
                <a:ext uri="{FF2B5EF4-FFF2-40B4-BE49-F238E27FC236}">
                  <a16:creationId xmlns:a16="http://schemas.microsoft.com/office/drawing/2014/main" id="{FEF81BB0-BC8E-464F-8228-325D16153220}"/>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7" name="Line 12">
              <a:extLst>
                <a:ext uri="{FF2B5EF4-FFF2-40B4-BE49-F238E27FC236}">
                  <a16:creationId xmlns:a16="http://schemas.microsoft.com/office/drawing/2014/main" id="{85803AE2-8EE8-2E43-A5C3-0882DBAE89BE}"/>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8" name="Line 13">
              <a:extLst>
                <a:ext uri="{FF2B5EF4-FFF2-40B4-BE49-F238E27FC236}">
                  <a16:creationId xmlns:a16="http://schemas.microsoft.com/office/drawing/2014/main" id="{FAD79FA1-72EB-ED4E-9B5D-28B326EBBB4C}"/>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9" name="Line 14">
              <a:extLst>
                <a:ext uri="{FF2B5EF4-FFF2-40B4-BE49-F238E27FC236}">
                  <a16:creationId xmlns:a16="http://schemas.microsoft.com/office/drawing/2014/main" id="{88DBBA5D-6E66-0B47-8914-34E336C5EA25}"/>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0" name="Line 15">
              <a:extLst>
                <a:ext uri="{FF2B5EF4-FFF2-40B4-BE49-F238E27FC236}">
                  <a16:creationId xmlns:a16="http://schemas.microsoft.com/office/drawing/2014/main" id="{3AFD5CE8-7A85-1943-845F-80342D05F950}"/>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1" name="Line 16">
              <a:extLst>
                <a:ext uri="{FF2B5EF4-FFF2-40B4-BE49-F238E27FC236}">
                  <a16:creationId xmlns:a16="http://schemas.microsoft.com/office/drawing/2014/main" id="{3ED7BE46-6D3F-8244-8D28-B01BEDEDE9D7}"/>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2" name="Line 17">
              <a:extLst>
                <a:ext uri="{FF2B5EF4-FFF2-40B4-BE49-F238E27FC236}">
                  <a16:creationId xmlns:a16="http://schemas.microsoft.com/office/drawing/2014/main" id="{53792361-444B-F149-985F-227D2E573390}"/>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3" name="Line 18">
              <a:extLst>
                <a:ext uri="{FF2B5EF4-FFF2-40B4-BE49-F238E27FC236}">
                  <a16:creationId xmlns:a16="http://schemas.microsoft.com/office/drawing/2014/main" id="{2063C3C1-21B1-8442-BB10-120D515782F0}"/>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4" name="Line 19">
              <a:extLst>
                <a:ext uri="{FF2B5EF4-FFF2-40B4-BE49-F238E27FC236}">
                  <a16:creationId xmlns:a16="http://schemas.microsoft.com/office/drawing/2014/main" id="{F70AA436-D3ED-794A-90C9-4A0E4934645F}"/>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5" name="Line 20">
              <a:extLst>
                <a:ext uri="{FF2B5EF4-FFF2-40B4-BE49-F238E27FC236}">
                  <a16:creationId xmlns:a16="http://schemas.microsoft.com/office/drawing/2014/main" id="{CBF01B85-30EA-864F-8DCE-2FECCD7A4089}"/>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6" name="Line 21">
              <a:extLst>
                <a:ext uri="{FF2B5EF4-FFF2-40B4-BE49-F238E27FC236}">
                  <a16:creationId xmlns:a16="http://schemas.microsoft.com/office/drawing/2014/main" id="{41D9F26C-CB3D-DC44-8A9F-A425958D9819}"/>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7" name="Line 22">
              <a:extLst>
                <a:ext uri="{FF2B5EF4-FFF2-40B4-BE49-F238E27FC236}">
                  <a16:creationId xmlns:a16="http://schemas.microsoft.com/office/drawing/2014/main" id="{DB7D1E38-3A37-824D-AE83-2100E527F3F0}"/>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8" name="Line 23">
              <a:extLst>
                <a:ext uri="{FF2B5EF4-FFF2-40B4-BE49-F238E27FC236}">
                  <a16:creationId xmlns:a16="http://schemas.microsoft.com/office/drawing/2014/main" id="{609726E8-1260-A34A-B5D8-10DDAF3BAC9F}"/>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9" name="Line 24">
              <a:extLst>
                <a:ext uri="{FF2B5EF4-FFF2-40B4-BE49-F238E27FC236}">
                  <a16:creationId xmlns:a16="http://schemas.microsoft.com/office/drawing/2014/main" id="{FC556869-8954-464F-A849-19E1947FDBEF}"/>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0" name="Line 25">
              <a:extLst>
                <a:ext uri="{FF2B5EF4-FFF2-40B4-BE49-F238E27FC236}">
                  <a16:creationId xmlns:a16="http://schemas.microsoft.com/office/drawing/2014/main" id="{31E46B0D-3C13-2946-91AD-94B3534C51FE}"/>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1" name="Line 40">
              <a:extLst>
                <a:ext uri="{FF2B5EF4-FFF2-40B4-BE49-F238E27FC236}">
                  <a16:creationId xmlns:a16="http://schemas.microsoft.com/office/drawing/2014/main" id="{AA6298D7-E893-0945-9DB4-5E378E7C502F}"/>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2" name="Line 41">
              <a:extLst>
                <a:ext uri="{FF2B5EF4-FFF2-40B4-BE49-F238E27FC236}">
                  <a16:creationId xmlns:a16="http://schemas.microsoft.com/office/drawing/2014/main" id="{4169FB97-B46D-014A-9637-7AECFA8B6D2D}"/>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3" name="Line 42">
              <a:extLst>
                <a:ext uri="{FF2B5EF4-FFF2-40B4-BE49-F238E27FC236}">
                  <a16:creationId xmlns:a16="http://schemas.microsoft.com/office/drawing/2014/main" id="{02AB220D-EC46-3940-9D0B-12804EF23224}"/>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4" name="Line 43">
              <a:extLst>
                <a:ext uri="{FF2B5EF4-FFF2-40B4-BE49-F238E27FC236}">
                  <a16:creationId xmlns:a16="http://schemas.microsoft.com/office/drawing/2014/main" id="{D571517E-0DF5-5A45-B88A-F4662942771A}"/>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5" name="Line 44">
              <a:extLst>
                <a:ext uri="{FF2B5EF4-FFF2-40B4-BE49-F238E27FC236}">
                  <a16:creationId xmlns:a16="http://schemas.microsoft.com/office/drawing/2014/main" id="{70C6259F-6E22-224C-84C9-E4CB220CB9F9}"/>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6" name="Line 45">
              <a:extLst>
                <a:ext uri="{FF2B5EF4-FFF2-40B4-BE49-F238E27FC236}">
                  <a16:creationId xmlns:a16="http://schemas.microsoft.com/office/drawing/2014/main" id="{6D80FAA8-55DC-6C45-92B9-37F9F9BA89DF}"/>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7" name="Text Box 77">
              <a:extLst>
                <a:ext uri="{FF2B5EF4-FFF2-40B4-BE49-F238E27FC236}">
                  <a16:creationId xmlns:a16="http://schemas.microsoft.com/office/drawing/2014/main" id="{1BAE3DB8-74F2-304A-93D4-7185F0B2258C}"/>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168" name="Text Box 78">
              <a:extLst>
                <a:ext uri="{FF2B5EF4-FFF2-40B4-BE49-F238E27FC236}">
                  <a16:creationId xmlns:a16="http://schemas.microsoft.com/office/drawing/2014/main" id="{5C94A7A2-D59B-CC4C-8D51-283860696F37}"/>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69" name="Text Box 79">
              <a:extLst>
                <a:ext uri="{FF2B5EF4-FFF2-40B4-BE49-F238E27FC236}">
                  <a16:creationId xmlns:a16="http://schemas.microsoft.com/office/drawing/2014/main" id="{8F445AE9-FAF7-5F4D-8150-033B4E82AD48}"/>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170" name="Text Box 80">
              <a:extLst>
                <a:ext uri="{FF2B5EF4-FFF2-40B4-BE49-F238E27FC236}">
                  <a16:creationId xmlns:a16="http://schemas.microsoft.com/office/drawing/2014/main" id="{9FB6ED5C-7DF0-2B49-931A-F3C5D33112E1}"/>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171" name="Text Box 81">
              <a:extLst>
                <a:ext uri="{FF2B5EF4-FFF2-40B4-BE49-F238E27FC236}">
                  <a16:creationId xmlns:a16="http://schemas.microsoft.com/office/drawing/2014/main" id="{72B0297D-37C7-644E-9359-A30C1472220F}"/>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172" name="Text Box 82">
              <a:extLst>
                <a:ext uri="{FF2B5EF4-FFF2-40B4-BE49-F238E27FC236}">
                  <a16:creationId xmlns:a16="http://schemas.microsoft.com/office/drawing/2014/main" id="{87EDB0FF-2912-C442-9890-EAEB7BA2E0C4}"/>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73" name="Text Box 83">
              <a:extLst>
                <a:ext uri="{FF2B5EF4-FFF2-40B4-BE49-F238E27FC236}">
                  <a16:creationId xmlns:a16="http://schemas.microsoft.com/office/drawing/2014/main" id="{CDEA7E86-979D-0E4D-9391-6A6C3603988E}"/>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174" name="Text Box 84">
              <a:extLst>
                <a:ext uri="{FF2B5EF4-FFF2-40B4-BE49-F238E27FC236}">
                  <a16:creationId xmlns:a16="http://schemas.microsoft.com/office/drawing/2014/main" id="{8C3A9F8F-55D2-DE42-8C98-02E5ED960D49}"/>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75" name="Text Box 85">
              <a:extLst>
                <a:ext uri="{FF2B5EF4-FFF2-40B4-BE49-F238E27FC236}">
                  <a16:creationId xmlns:a16="http://schemas.microsoft.com/office/drawing/2014/main" id="{8BA41A07-BDBF-F64B-97B4-E5C73C3E574C}"/>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176" name="Text Box 86">
              <a:extLst>
                <a:ext uri="{FF2B5EF4-FFF2-40B4-BE49-F238E27FC236}">
                  <a16:creationId xmlns:a16="http://schemas.microsoft.com/office/drawing/2014/main" id="{B8C3F76A-4A78-7F41-9256-9AAA355288AE}"/>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77" name="Text Box 87">
              <a:extLst>
                <a:ext uri="{FF2B5EF4-FFF2-40B4-BE49-F238E27FC236}">
                  <a16:creationId xmlns:a16="http://schemas.microsoft.com/office/drawing/2014/main" id="{17E2C3D8-CD00-2D45-948E-50A3D9128FD4}"/>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178" name="Text Box 89">
              <a:extLst>
                <a:ext uri="{FF2B5EF4-FFF2-40B4-BE49-F238E27FC236}">
                  <a16:creationId xmlns:a16="http://schemas.microsoft.com/office/drawing/2014/main" id="{AF538989-BAE4-3A42-90C2-BA389391726A}"/>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79" name="Text Box 90">
              <a:extLst>
                <a:ext uri="{FF2B5EF4-FFF2-40B4-BE49-F238E27FC236}">
                  <a16:creationId xmlns:a16="http://schemas.microsoft.com/office/drawing/2014/main" id="{3AEEDE4A-09F2-874D-8554-C2C24A3E4455}"/>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0" name="Text Box 91">
              <a:extLst>
                <a:ext uri="{FF2B5EF4-FFF2-40B4-BE49-F238E27FC236}">
                  <a16:creationId xmlns:a16="http://schemas.microsoft.com/office/drawing/2014/main" id="{3DDC9EAC-56F6-534B-94D3-D8040C20A265}"/>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81" name="Text Box 92">
              <a:extLst>
                <a:ext uri="{FF2B5EF4-FFF2-40B4-BE49-F238E27FC236}">
                  <a16:creationId xmlns:a16="http://schemas.microsoft.com/office/drawing/2014/main" id="{627DC0E5-5787-4242-9299-4BCCD43984DA}"/>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182" name="Text Box 93">
              <a:extLst>
                <a:ext uri="{FF2B5EF4-FFF2-40B4-BE49-F238E27FC236}">
                  <a16:creationId xmlns:a16="http://schemas.microsoft.com/office/drawing/2014/main" id="{91FB4A28-B8F8-2847-8CD3-4C28B38DF923}"/>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83" name="Text Box 94">
              <a:extLst>
                <a:ext uri="{FF2B5EF4-FFF2-40B4-BE49-F238E27FC236}">
                  <a16:creationId xmlns:a16="http://schemas.microsoft.com/office/drawing/2014/main" id="{B345C5C1-DC56-054A-A193-44FF36485A2C}"/>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84" name="Text Box 95">
              <a:extLst>
                <a:ext uri="{FF2B5EF4-FFF2-40B4-BE49-F238E27FC236}">
                  <a16:creationId xmlns:a16="http://schemas.microsoft.com/office/drawing/2014/main" id="{42274559-87CC-EF42-9678-362FB29AA63E}"/>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85" name="Text Box 96">
              <a:extLst>
                <a:ext uri="{FF2B5EF4-FFF2-40B4-BE49-F238E27FC236}">
                  <a16:creationId xmlns:a16="http://schemas.microsoft.com/office/drawing/2014/main" id="{D2031E69-266A-464A-9707-1DDA3EB23012}"/>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186" name="Oval 102">
              <a:extLst>
                <a:ext uri="{FF2B5EF4-FFF2-40B4-BE49-F238E27FC236}">
                  <a16:creationId xmlns:a16="http://schemas.microsoft.com/office/drawing/2014/main" id="{1E1A2CE4-39EB-0748-95A9-00C0E2B2128C}"/>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7" name="Oval 103">
              <a:extLst>
                <a:ext uri="{FF2B5EF4-FFF2-40B4-BE49-F238E27FC236}">
                  <a16:creationId xmlns:a16="http://schemas.microsoft.com/office/drawing/2014/main" id="{3242CD2D-F72D-6542-AA4E-F4A937E7F76B}"/>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8" name="Oval 104">
              <a:extLst>
                <a:ext uri="{FF2B5EF4-FFF2-40B4-BE49-F238E27FC236}">
                  <a16:creationId xmlns:a16="http://schemas.microsoft.com/office/drawing/2014/main" id="{2D5FD14C-BB23-CE48-90A2-7D5575D25C09}"/>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9" name="Oval 105">
              <a:extLst>
                <a:ext uri="{FF2B5EF4-FFF2-40B4-BE49-F238E27FC236}">
                  <a16:creationId xmlns:a16="http://schemas.microsoft.com/office/drawing/2014/main" id="{09757280-AA3B-064A-BCF4-C259AA4014BE}"/>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0" name="Oval 106">
              <a:extLst>
                <a:ext uri="{FF2B5EF4-FFF2-40B4-BE49-F238E27FC236}">
                  <a16:creationId xmlns:a16="http://schemas.microsoft.com/office/drawing/2014/main" id="{EE6DE141-9D4B-D24A-BAF5-F902F591B422}"/>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1" name="Oval 107">
              <a:extLst>
                <a:ext uri="{FF2B5EF4-FFF2-40B4-BE49-F238E27FC236}">
                  <a16:creationId xmlns:a16="http://schemas.microsoft.com/office/drawing/2014/main" id="{98025CA4-75E5-FF49-82DC-81221D52099F}"/>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2" name="Oval 108">
              <a:extLst>
                <a:ext uri="{FF2B5EF4-FFF2-40B4-BE49-F238E27FC236}">
                  <a16:creationId xmlns:a16="http://schemas.microsoft.com/office/drawing/2014/main" id="{5A9D8CEB-B513-F84C-8866-FC835C4D2FCF}"/>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3" name="Oval 109">
              <a:extLst>
                <a:ext uri="{FF2B5EF4-FFF2-40B4-BE49-F238E27FC236}">
                  <a16:creationId xmlns:a16="http://schemas.microsoft.com/office/drawing/2014/main" id="{8391CF55-DE22-4B42-87CD-ABD803894401}"/>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4" name="Oval 110">
              <a:extLst>
                <a:ext uri="{FF2B5EF4-FFF2-40B4-BE49-F238E27FC236}">
                  <a16:creationId xmlns:a16="http://schemas.microsoft.com/office/drawing/2014/main" id="{40430637-459B-6A42-9FF9-6817892A3268}"/>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5" name="Oval 113">
              <a:extLst>
                <a:ext uri="{FF2B5EF4-FFF2-40B4-BE49-F238E27FC236}">
                  <a16:creationId xmlns:a16="http://schemas.microsoft.com/office/drawing/2014/main" id="{D75A0E8E-922F-4740-ABFC-BA7E036F619E}"/>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6" name="Oval 114">
              <a:extLst>
                <a:ext uri="{FF2B5EF4-FFF2-40B4-BE49-F238E27FC236}">
                  <a16:creationId xmlns:a16="http://schemas.microsoft.com/office/drawing/2014/main" id="{5B8E2C59-F121-564D-AD1A-7BD07395B294}"/>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7" name="Oval 116">
              <a:extLst>
                <a:ext uri="{FF2B5EF4-FFF2-40B4-BE49-F238E27FC236}">
                  <a16:creationId xmlns:a16="http://schemas.microsoft.com/office/drawing/2014/main" id="{2FB13B85-5E89-2C47-B047-FF0991C1034B}"/>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8" name="Oval 117">
              <a:extLst>
                <a:ext uri="{FF2B5EF4-FFF2-40B4-BE49-F238E27FC236}">
                  <a16:creationId xmlns:a16="http://schemas.microsoft.com/office/drawing/2014/main" id="{8CAFBB29-07F9-E640-A535-7FF2C5114D1D}"/>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9" name="Freeform 118">
              <a:extLst>
                <a:ext uri="{FF2B5EF4-FFF2-40B4-BE49-F238E27FC236}">
                  <a16:creationId xmlns:a16="http://schemas.microsoft.com/office/drawing/2014/main" id="{F3FC4950-60BD-B140-8C78-4C771D37A9D4}"/>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0" name="Text Box 134">
              <a:extLst>
                <a:ext uri="{FF2B5EF4-FFF2-40B4-BE49-F238E27FC236}">
                  <a16:creationId xmlns:a16="http://schemas.microsoft.com/office/drawing/2014/main" id="{C051EE28-C27A-A544-97DD-703887D520A8}"/>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01" name="Text Box 135">
              <a:extLst>
                <a:ext uri="{FF2B5EF4-FFF2-40B4-BE49-F238E27FC236}">
                  <a16:creationId xmlns:a16="http://schemas.microsoft.com/office/drawing/2014/main" id="{1A0F709D-8595-2747-9D3E-86C7973F4339}"/>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202" name="Text Box 140">
              <a:extLst>
                <a:ext uri="{FF2B5EF4-FFF2-40B4-BE49-F238E27FC236}">
                  <a16:creationId xmlns:a16="http://schemas.microsoft.com/office/drawing/2014/main" id="{45B38476-F826-7344-A78C-952C18E50E5F}"/>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203" name="Line 156">
              <a:extLst>
                <a:ext uri="{FF2B5EF4-FFF2-40B4-BE49-F238E27FC236}">
                  <a16:creationId xmlns:a16="http://schemas.microsoft.com/office/drawing/2014/main" id="{B2592427-8E60-A745-A444-67EAC7337ACB}"/>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4" name="Line 146">
              <a:extLst>
                <a:ext uri="{FF2B5EF4-FFF2-40B4-BE49-F238E27FC236}">
                  <a16:creationId xmlns:a16="http://schemas.microsoft.com/office/drawing/2014/main" id="{F0F32503-F92E-6348-B013-74295090C6D8}"/>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5" name="Text Box 203">
              <a:extLst>
                <a:ext uri="{FF2B5EF4-FFF2-40B4-BE49-F238E27FC236}">
                  <a16:creationId xmlns:a16="http://schemas.microsoft.com/office/drawing/2014/main" id="{1B8168E8-4E28-9C4D-B265-331C041B111B}"/>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206" name="Text Box 205">
              <a:extLst>
                <a:ext uri="{FF2B5EF4-FFF2-40B4-BE49-F238E27FC236}">
                  <a16:creationId xmlns:a16="http://schemas.microsoft.com/office/drawing/2014/main" id="{06203FE7-3702-9D40-BCF5-127A95F06B5C}"/>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207" name="Line 215">
              <a:extLst>
                <a:ext uri="{FF2B5EF4-FFF2-40B4-BE49-F238E27FC236}">
                  <a16:creationId xmlns:a16="http://schemas.microsoft.com/office/drawing/2014/main" id="{2BE7D766-D0E5-504F-B88F-DAF6C91412F8}"/>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8" name="Text Box 206">
              <a:extLst>
                <a:ext uri="{FF2B5EF4-FFF2-40B4-BE49-F238E27FC236}">
                  <a16:creationId xmlns:a16="http://schemas.microsoft.com/office/drawing/2014/main" id="{6A708AB7-B8AB-B640-A24C-99EC1D898975}"/>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09" name="Oval 125">
              <a:extLst>
                <a:ext uri="{FF2B5EF4-FFF2-40B4-BE49-F238E27FC236}">
                  <a16:creationId xmlns:a16="http://schemas.microsoft.com/office/drawing/2014/main" id="{846C9A7C-B7C1-0B49-A8E1-651DF2BCE3B5}"/>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0" name="Oval 126">
              <a:extLst>
                <a:ext uri="{FF2B5EF4-FFF2-40B4-BE49-F238E27FC236}">
                  <a16:creationId xmlns:a16="http://schemas.microsoft.com/office/drawing/2014/main" id="{0C55B160-80D4-7440-891F-3D89F1B4283E}"/>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1" name="Oval 127">
              <a:extLst>
                <a:ext uri="{FF2B5EF4-FFF2-40B4-BE49-F238E27FC236}">
                  <a16:creationId xmlns:a16="http://schemas.microsoft.com/office/drawing/2014/main" id="{E323D8C5-8E4E-154C-A4F2-D67FF5C6C7AD}"/>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2" name="Oval 128">
              <a:extLst>
                <a:ext uri="{FF2B5EF4-FFF2-40B4-BE49-F238E27FC236}">
                  <a16:creationId xmlns:a16="http://schemas.microsoft.com/office/drawing/2014/main" id="{88316BB2-39B0-AE4C-AB82-14D1864F1D49}"/>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3" name="Oval 129">
              <a:extLst>
                <a:ext uri="{FF2B5EF4-FFF2-40B4-BE49-F238E27FC236}">
                  <a16:creationId xmlns:a16="http://schemas.microsoft.com/office/drawing/2014/main" id="{4F6EE312-0BE1-4645-B5EB-4352AF1953C8}"/>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4" name="Oval 130">
              <a:extLst>
                <a:ext uri="{FF2B5EF4-FFF2-40B4-BE49-F238E27FC236}">
                  <a16:creationId xmlns:a16="http://schemas.microsoft.com/office/drawing/2014/main" id="{1062FF96-936B-A148-BE42-A8ED4CD66162}"/>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5" name="Oval 131">
              <a:extLst>
                <a:ext uri="{FF2B5EF4-FFF2-40B4-BE49-F238E27FC236}">
                  <a16:creationId xmlns:a16="http://schemas.microsoft.com/office/drawing/2014/main" id="{98096FC3-E56F-2D4E-BBC3-29BF506EEF97}"/>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6" name="Oval 132">
              <a:extLst>
                <a:ext uri="{FF2B5EF4-FFF2-40B4-BE49-F238E27FC236}">
                  <a16:creationId xmlns:a16="http://schemas.microsoft.com/office/drawing/2014/main" id="{F8881E30-AC83-D34A-81F1-66E325CBA0CD}"/>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7" name="Line 147">
              <a:extLst>
                <a:ext uri="{FF2B5EF4-FFF2-40B4-BE49-F238E27FC236}">
                  <a16:creationId xmlns:a16="http://schemas.microsoft.com/office/drawing/2014/main" id="{09518491-A8F2-3A4F-B8E7-6CDFF92B3892}"/>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18" name="直接连接符 115">
              <a:extLst>
                <a:ext uri="{FF2B5EF4-FFF2-40B4-BE49-F238E27FC236}">
                  <a16:creationId xmlns:a16="http://schemas.microsoft.com/office/drawing/2014/main" id="{DEFAB50F-CF5F-D84F-B0BB-27F9378361E7}"/>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9" name="Rectangle 161">
              <a:extLst>
                <a:ext uri="{FF2B5EF4-FFF2-40B4-BE49-F238E27FC236}">
                  <a16:creationId xmlns:a16="http://schemas.microsoft.com/office/drawing/2014/main" id="{ABEBBC78-B561-6047-8BC0-358EF8555FEA}"/>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220" name="Oval 129">
              <a:extLst>
                <a:ext uri="{FF2B5EF4-FFF2-40B4-BE49-F238E27FC236}">
                  <a16:creationId xmlns:a16="http://schemas.microsoft.com/office/drawing/2014/main" id="{0BDC952E-289B-E748-B549-BD759F8EE0E2}"/>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1" name="任意多边形 134">
              <a:extLst>
                <a:ext uri="{FF2B5EF4-FFF2-40B4-BE49-F238E27FC236}">
                  <a16:creationId xmlns:a16="http://schemas.microsoft.com/office/drawing/2014/main" id="{40D6F4D7-B6B6-7143-B343-9E58F625CADF}"/>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2" name="Rectangle 161">
              <a:extLst>
                <a:ext uri="{FF2B5EF4-FFF2-40B4-BE49-F238E27FC236}">
                  <a16:creationId xmlns:a16="http://schemas.microsoft.com/office/drawing/2014/main" id="{FF0B3FC5-24B5-9C4B-B334-DADE68792C0E}"/>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223" name="直接连接符 119">
              <a:extLst>
                <a:ext uri="{FF2B5EF4-FFF2-40B4-BE49-F238E27FC236}">
                  <a16:creationId xmlns:a16="http://schemas.microsoft.com/office/drawing/2014/main" id="{60386863-8587-E24B-850A-264FDF9BB021}"/>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24" name="直接连接符 121">
              <a:extLst>
                <a:ext uri="{FF2B5EF4-FFF2-40B4-BE49-F238E27FC236}">
                  <a16:creationId xmlns:a16="http://schemas.microsoft.com/office/drawing/2014/main" id="{B0B3B4E8-9954-3F45-A8E6-D0D8E6B30F3B}"/>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25" name="Line 24">
              <a:extLst>
                <a:ext uri="{FF2B5EF4-FFF2-40B4-BE49-F238E27FC236}">
                  <a16:creationId xmlns:a16="http://schemas.microsoft.com/office/drawing/2014/main" id="{AD36C31A-92A3-2946-8264-67140272D716}"/>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6" name="Line 22">
              <a:extLst>
                <a:ext uri="{FF2B5EF4-FFF2-40B4-BE49-F238E27FC236}">
                  <a16:creationId xmlns:a16="http://schemas.microsoft.com/office/drawing/2014/main" id="{0B104554-B570-2543-B199-D5AE26D063EF}"/>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7" name="Text Box 87">
              <a:extLst>
                <a:ext uri="{FF2B5EF4-FFF2-40B4-BE49-F238E27FC236}">
                  <a16:creationId xmlns:a16="http://schemas.microsoft.com/office/drawing/2014/main" id="{8F14A2C6-47C6-ED4A-A4CD-654128639A5B}"/>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228" name="Line 22">
              <a:extLst>
                <a:ext uri="{FF2B5EF4-FFF2-40B4-BE49-F238E27FC236}">
                  <a16:creationId xmlns:a16="http://schemas.microsoft.com/office/drawing/2014/main" id="{34985806-E6D3-A841-9A57-5071345EE7DC}"/>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29" name="直接连接符 134">
              <a:extLst>
                <a:ext uri="{FF2B5EF4-FFF2-40B4-BE49-F238E27FC236}">
                  <a16:creationId xmlns:a16="http://schemas.microsoft.com/office/drawing/2014/main" id="{F4D3CDFE-5832-5543-ADC3-2EA9CE41FE71}"/>
                </a:ext>
              </a:extLst>
            </p:cNvPr>
            <p:cNvCxnSpPr>
              <a:cxnSpLocks noChangeShapeType="1"/>
              <a:stCxn id="221" idx="4"/>
            </p:cNvCxnSpPr>
            <p:nvPr/>
          </p:nvCxnSpPr>
          <p:spPr bwMode="auto">
            <a:xfrm>
              <a:off x="6706617" y="2109019"/>
              <a:ext cx="200025" cy="785812"/>
            </a:xfrm>
            <a:prstGeom prst="line">
              <a:avLst/>
            </a:prstGeom>
            <a:noFill/>
            <a:ln w="19050" algn="ctr">
              <a:solidFill>
                <a:srgbClr val="0000FF"/>
              </a:solidFill>
              <a:round/>
              <a:headEnd/>
              <a:tailEnd/>
            </a:ln>
          </p:spPr>
        </p:cxnSp>
        <p:sp>
          <p:nvSpPr>
            <p:cNvPr id="230" name="Text Box 206">
              <a:extLst>
                <a:ext uri="{FF2B5EF4-FFF2-40B4-BE49-F238E27FC236}">
                  <a16:creationId xmlns:a16="http://schemas.microsoft.com/office/drawing/2014/main" id="{3024CE74-150A-E444-90A4-9F08EC75665E}"/>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1" name="Text Box 206">
              <a:extLst>
                <a:ext uri="{FF2B5EF4-FFF2-40B4-BE49-F238E27FC236}">
                  <a16:creationId xmlns:a16="http://schemas.microsoft.com/office/drawing/2014/main" id="{0D2CF5BC-5762-A048-ACAF-18E047C9C55A}"/>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2" name="TextBox 147">
              <a:extLst>
                <a:ext uri="{FF2B5EF4-FFF2-40B4-BE49-F238E27FC236}">
                  <a16:creationId xmlns:a16="http://schemas.microsoft.com/office/drawing/2014/main" id="{271E449D-7EC0-4C42-BE64-18D813C60DCB}"/>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33" name="TextBox 148">
              <a:extLst>
                <a:ext uri="{FF2B5EF4-FFF2-40B4-BE49-F238E27FC236}">
                  <a16:creationId xmlns:a16="http://schemas.microsoft.com/office/drawing/2014/main" id="{BD066B0C-B236-0945-9F9F-7F60B95F8B71}"/>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234" name="直接连接符 153">
              <a:extLst>
                <a:ext uri="{FF2B5EF4-FFF2-40B4-BE49-F238E27FC236}">
                  <a16:creationId xmlns:a16="http://schemas.microsoft.com/office/drawing/2014/main" id="{FE705342-E0AE-E549-A59F-88618A253B63}"/>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35" name="直接连接符 119">
              <a:extLst>
                <a:ext uri="{FF2B5EF4-FFF2-40B4-BE49-F238E27FC236}">
                  <a16:creationId xmlns:a16="http://schemas.microsoft.com/office/drawing/2014/main" id="{0ECD65BA-0483-C14B-AAD7-39A0BF589FDC}"/>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6" name="直接连接符 141">
              <a:extLst>
                <a:ext uri="{FF2B5EF4-FFF2-40B4-BE49-F238E27FC236}">
                  <a16:creationId xmlns:a16="http://schemas.microsoft.com/office/drawing/2014/main" id="{3A3F5028-E25D-3441-A043-9D546D87DDF0}"/>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237" name="Oval 202">
              <a:extLst>
                <a:ext uri="{FF2B5EF4-FFF2-40B4-BE49-F238E27FC236}">
                  <a16:creationId xmlns:a16="http://schemas.microsoft.com/office/drawing/2014/main" id="{B4BB8FDA-67E6-C149-8E4D-D4AD8E93BA08}"/>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8" name="Oval 130">
              <a:extLst>
                <a:ext uri="{FF2B5EF4-FFF2-40B4-BE49-F238E27FC236}">
                  <a16:creationId xmlns:a16="http://schemas.microsoft.com/office/drawing/2014/main" id="{52F41FF5-CFD7-3841-9390-8916073458E1}"/>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9" name="Oval 130">
              <a:extLst>
                <a:ext uri="{FF2B5EF4-FFF2-40B4-BE49-F238E27FC236}">
                  <a16:creationId xmlns:a16="http://schemas.microsoft.com/office/drawing/2014/main" id="{A04D120A-F5D8-A041-9214-F201D6848C47}"/>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0" name="TextBox 149">
              <a:extLst>
                <a:ext uri="{FF2B5EF4-FFF2-40B4-BE49-F238E27FC236}">
                  <a16:creationId xmlns:a16="http://schemas.microsoft.com/office/drawing/2014/main" id="{0D93386B-63E3-C24C-B6CB-6454110A02B2}"/>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41" name="Oval 202">
              <a:extLst>
                <a:ext uri="{FF2B5EF4-FFF2-40B4-BE49-F238E27FC236}">
                  <a16:creationId xmlns:a16="http://schemas.microsoft.com/office/drawing/2014/main" id="{99844E61-F807-DE4C-A2EE-3649A38B5A42}"/>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42" name="直接连接符 126">
              <a:extLst>
                <a:ext uri="{FF2B5EF4-FFF2-40B4-BE49-F238E27FC236}">
                  <a16:creationId xmlns:a16="http://schemas.microsoft.com/office/drawing/2014/main" id="{409BD4BF-D26E-994E-8931-C2BBA98D20A0}"/>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43" name="直接连接符 119">
              <a:extLst>
                <a:ext uri="{FF2B5EF4-FFF2-40B4-BE49-F238E27FC236}">
                  <a16:creationId xmlns:a16="http://schemas.microsoft.com/office/drawing/2014/main" id="{FD3A168B-8EA5-3249-859D-1F953D9238DA}"/>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44" name="Text Box 140">
            <a:extLst>
              <a:ext uri="{FF2B5EF4-FFF2-40B4-BE49-F238E27FC236}">
                <a16:creationId xmlns:a16="http://schemas.microsoft.com/office/drawing/2014/main" id="{741A540F-83E5-3A46-9DDF-97F43A2B5DAE}"/>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245" name="Line 167">
            <a:extLst>
              <a:ext uri="{FF2B5EF4-FFF2-40B4-BE49-F238E27FC236}">
                <a16:creationId xmlns:a16="http://schemas.microsoft.com/office/drawing/2014/main" id="{496D52A9-6925-744F-A460-5C232C6E2B3A}"/>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sp>
        <p:nvSpPr>
          <p:cNvPr id="246" name="Line 147">
            <a:extLst>
              <a:ext uri="{FF2B5EF4-FFF2-40B4-BE49-F238E27FC236}">
                <a16:creationId xmlns:a16="http://schemas.microsoft.com/office/drawing/2014/main" id="{66D57255-9773-AC46-975F-BDDF9D762B0C}"/>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7" name="Oval 130">
            <a:extLst>
              <a:ext uri="{FF2B5EF4-FFF2-40B4-BE49-F238E27FC236}">
                <a16:creationId xmlns:a16="http://schemas.microsoft.com/office/drawing/2014/main" id="{264142AA-D866-4347-A9FE-BAAAF7E3EED6}"/>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8" name="Text Box 93">
            <a:extLst>
              <a:ext uri="{FF2B5EF4-FFF2-40B4-BE49-F238E27FC236}">
                <a16:creationId xmlns:a16="http://schemas.microsoft.com/office/drawing/2014/main" id="{A1B2D537-EDDA-9348-8797-C60DE282FA76}"/>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
        <p:nvSpPr>
          <p:cNvPr id="255" name="Text Box 155">
            <a:extLst>
              <a:ext uri="{FF2B5EF4-FFF2-40B4-BE49-F238E27FC236}">
                <a16:creationId xmlns:a16="http://schemas.microsoft.com/office/drawing/2014/main" id="{1E531924-FE39-A94F-8B95-3A2016DF6B55}"/>
              </a:ext>
            </a:extLst>
          </p:cNvPr>
          <p:cNvSpPr txBox="1">
            <a:spLocks noChangeArrowheads="1"/>
          </p:cNvSpPr>
          <p:nvPr/>
        </p:nvSpPr>
        <p:spPr bwMode="auto">
          <a:xfrm>
            <a:off x="3428460" y="4787538"/>
            <a:ext cx="6131271" cy="344325"/>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开始执行慢启动算法时，拥塞窗口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，发送第一个报文段。</a:t>
            </a:r>
          </a:p>
        </p:txBody>
      </p:sp>
      <p:sp>
        <p:nvSpPr>
          <p:cNvPr id="256" name="Line 167">
            <a:extLst>
              <a:ext uri="{FF2B5EF4-FFF2-40B4-BE49-F238E27FC236}">
                <a16:creationId xmlns:a16="http://schemas.microsoft.com/office/drawing/2014/main" id="{018EACBC-1776-5745-BEC3-25A331634AA0}"/>
              </a:ext>
            </a:extLst>
          </p:cNvPr>
          <p:cNvSpPr>
            <a:spLocks noChangeShapeType="1"/>
          </p:cNvSpPr>
          <p:nvPr/>
        </p:nvSpPr>
        <p:spPr bwMode="auto">
          <a:xfrm>
            <a:off x="3694440" y="4026638"/>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6913202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FE613-8BDE-FEA3-210F-11B8E08C40EF}"/>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5A9500CA-DEB2-57C1-D550-9C2530FF9399}"/>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6771CA82-D06C-299A-BEDE-964C83F2796A}"/>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15E4E266-EC08-6A2B-8D2D-F3F5F6C48897}"/>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6DBFD330-FD96-3593-4020-8FA1F2ABA3ED}"/>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8661B08E-B184-BC94-C90A-1BFA2E9B588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8058E59D-963D-1808-DE31-9C3CAD1439DA}"/>
              </a:ext>
            </a:extLst>
          </p:cNvPr>
          <p:cNvGrpSpPr/>
          <p:nvPr/>
        </p:nvGrpSpPr>
        <p:grpSpPr>
          <a:xfrm>
            <a:off x="505664" y="1426139"/>
            <a:ext cx="6645148" cy="525530"/>
            <a:chOff x="722008" y="1303131"/>
            <a:chExt cx="6344982" cy="501792"/>
          </a:xfrm>
        </p:grpSpPr>
        <p:sp>
          <p:nvSpPr>
            <p:cNvPr id="50" name="流程图: 手动输入 6">
              <a:extLst>
                <a:ext uri="{FF2B5EF4-FFF2-40B4-BE49-F238E27FC236}">
                  <a16:creationId xmlns:a16="http://schemas.microsoft.com/office/drawing/2014/main" id="{F24A7443-01A6-43AE-E657-E58241D94E45}"/>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757CEC10-CCAA-1019-D59B-63C378D3BBB4}"/>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00A48BF6-5620-3E8C-B069-CC7AF9FECD26}"/>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507D67CB-30A8-A282-1F8F-82613EBDC65A}"/>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BA6B2DD5-3AE2-32DE-C775-5736C5302867}"/>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129" name="灯片编号占位符 128">
            <a:extLst>
              <a:ext uri="{FF2B5EF4-FFF2-40B4-BE49-F238E27FC236}">
                <a16:creationId xmlns:a16="http://schemas.microsoft.com/office/drawing/2014/main" id="{964BFB09-42A8-44D7-A425-F51E3C2B7628}"/>
              </a:ext>
            </a:extLst>
          </p:cNvPr>
          <p:cNvSpPr>
            <a:spLocks noGrp="1"/>
          </p:cNvSpPr>
          <p:nvPr>
            <p:ph type="sldNum" sz="quarter" idx="12"/>
          </p:nvPr>
        </p:nvSpPr>
        <p:spPr/>
        <p:txBody>
          <a:bodyPr/>
          <a:lstStyle/>
          <a:p>
            <a:fld id="{5956A083-5018-4B52-82A0-83241B8E3D94}" type="slidenum">
              <a:rPr lang="zh-CN" altLang="en-US" smtClean="0"/>
              <a:t>59</a:t>
            </a:fld>
            <a:endParaRPr lang="zh-CN" altLang="en-US"/>
          </a:p>
        </p:txBody>
      </p:sp>
      <p:sp>
        <p:nvSpPr>
          <p:cNvPr id="130" name="圆角矩形 150">
            <a:extLst>
              <a:ext uri="{FF2B5EF4-FFF2-40B4-BE49-F238E27FC236}">
                <a16:creationId xmlns:a16="http://schemas.microsoft.com/office/drawing/2014/main" id="{084C65C3-B76D-0D46-87AE-299DD2A508D1}"/>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31" name="组合 130">
            <a:extLst>
              <a:ext uri="{FF2B5EF4-FFF2-40B4-BE49-F238E27FC236}">
                <a16:creationId xmlns:a16="http://schemas.microsoft.com/office/drawing/2014/main" id="{E33E4861-9049-8D40-BD32-05F069C01241}"/>
              </a:ext>
            </a:extLst>
          </p:cNvPr>
          <p:cNvGrpSpPr/>
          <p:nvPr/>
        </p:nvGrpSpPr>
        <p:grpSpPr>
          <a:xfrm>
            <a:off x="3043104" y="2417895"/>
            <a:ext cx="6808860" cy="2262108"/>
            <a:chOff x="300646" y="840152"/>
            <a:chExt cx="9638211" cy="3093013"/>
          </a:xfrm>
        </p:grpSpPr>
        <p:sp>
          <p:nvSpPr>
            <p:cNvPr id="132" name="Text Box 140">
              <a:extLst>
                <a:ext uri="{FF2B5EF4-FFF2-40B4-BE49-F238E27FC236}">
                  <a16:creationId xmlns:a16="http://schemas.microsoft.com/office/drawing/2014/main" id="{3FC081BE-B34B-6647-9FC0-A9E1FBE8DF2B}"/>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3" name="Line 2">
              <a:extLst>
                <a:ext uri="{FF2B5EF4-FFF2-40B4-BE49-F238E27FC236}">
                  <a16:creationId xmlns:a16="http://schemas.microsoft.com/office/drawing/2014/main" id="{753FCC35-3A63-C948-AAF4-F9C31767F7FF}"/>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4" name="Line 3">
              <a:extLst>
                <a:ext uri="{FF2B5EF4-FFF2-40B4-BE49-F238E27FC236}">
                  <a16:creationId xmlns:a16="http://schemas.microsoft.com/office/drawing/2014/main" id="{FC022BE2-E0EC-AF45-BDAE-8BD1D134E36F}"/>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5" name="Line 4">
              <a:extLst>
                <a:ext uri="{FF2B5EF4-FFF2-40B4-BE49-F238E27FC236}">
                  <a16:creationId xmlns:a16="http://schemas.microsoft.com/office/drawing/2014/main" id="{C43C2E0B-39F8-224F-8046-67409A576AFB}"/>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6" name="Line 5">
              <a:extLst>
                <a:ext uri="{FF2B5EF4-FFF2-40B4-BE49-F238E27FC236}">
                  <a16:creationId xmlns:a16="http://schemas.microsoft.com/office/drawing/2014/main" id="{570A5FCD-E2C3-E648-BACA-90CAC4934EE3}"/>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7" name="Line 6">
              <a:extLst>
                <a:ext uri="{FF2B5EF4-FFF2-40B4-BE49-F238E27FC236}">
                  <a16:creationId xmlns:a16="http://schemas.microsoft.com/office/drawing/2014/main" id="{EEE77DF6-7568-3548-B0B6-AA0CE1F59990}"/>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8" name="Line 7">
              <a:extLst>
                <a:ext uri="{FF2B5EF4-FFF2-40B4-BE49-F238E27FC236}">
                  <a16:creationId xmlns:a16="http://schemas.microsoft.com/office/drawing/2014/main" id="{0D3DD491-F214-504F-96ED-2C962EE92E86}"/>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9" name="Line 8">
              <a:extLst>
                <a:ext uri="{FF2B5EF4-FFF2-40B4-BE49-F238E27FC236}">
                  <a16:creationId xmlns:a16="http://schemas.microsoft.com/office/drawing/2014/main" id="{FD75194D-2400-B34A-91EC-D14754CA937F}"/>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0" name="Line 9">
              <a:extLst>
                <a:ext uri="{FF2B5EF4-FFF2-40B4-BE49-F238E27FC236}">
                  <a16:creationId xmlns:a16="http://schemas.microsoft.com/office/drawing/2014/main" id="{16AA7F17-00B2-C442-9295-061CC5720CC8}"/>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1" name="Line 10">
              <a:extLst>
                <a:ext uri="{FF2B5EF4-FFF2-40B4-BE49-F238E27FC236}">
                  <a16:creationId xmlns:a16="http://schemas.microsoft.com/office/drawing/2014/main" id="{8C03BF90-6D12-4E46-804D-6BF02AB68983}"/>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2" name="Line 11">
              <a:extLst>
                <a:ext uri="{FF2B5EF4-FFF2-40B4-BE49-F238E27FC236}">
                  <a16:creationId xmlns:a16="http://schemas.microsoft.com/office/drawing/2014/main" id="{E248D708-9F0A-8244-8068-29022542CDA8}"/>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3" name="Line 12">
              <a:extLst>
                <a:ext uri="{FF2B5EF4-FFF2-40B4-BE49-F238E27FC236}">
                  <a16:creationId xmlns:a16="http://schemas.microsoft.com/office/drawing/2014/main" id="{6A6FDEE3-3C0A-2B45-A2A8-68F591961E15}"/>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4" name="Line 13">
              <a:extLst>
                <a:ext uri="{FF2B5EF4-FFF2-40B4-BE49-F238E27FC236}">
                  <a16:creationId xmlns:a16="http://schemas.microsoft.com/office/drawing/2014/main" id="{FF605A4A-BD5F-244F-98A0-C0585320E8C5}"/>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5" name="Line 14">
              <a:extLst>
                <a:ext uri="{FF2B5EF4-FFF2-40B4-BE49-F238E27FC236}">
                  <a16:creationId xmlns:a16="http://schemas.microsoft.com/office/drawing/2014/main" id="{3B2461B9-D352-C442-84B0-B7F5E44A53F2}"/>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6" name="Line 15">
              <a:extLst>
                <a:ext uri="{FF2B5EF4-FFF2-40B4-BE49-F238E27FC236}">
                  <a16:creationId xmlns:a16="http://schemas.microsoft.com/office/drawing/2014/main" id="{B8D4A898-39FA-4847-987D-D219984EB6B6}"/>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7" name="Line 16">
              <a:extLst>
                <a:ext uri="{FF2B5EF4-FFF2-40B4-BE49-F238E27FC236}">
                  <a16:creationId xmlns:a16="http://schemas.microsoft.com/office/drawing/2014/main" id="{E2A5FE7B-14F9-D14C-BFC9-8FAA477BBE99}"/>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8" name="Line 17">
              <a:extLst>
                <a:ext uri="{FF2B5EF4-FFF2-40B4-BE49-F238E27FC236}">
                  <a16:creationId xmlns:a16="http://schemas.microsoft.com/office/drawing/2014/main" id="{9C011A09-B105-D042-B0F3-A3ED7477AE4D}"/>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9" name="Line 18">
              <a:extLst>
                <a:ext uri="{FF2B5EF4-FFF2-40B4-BE49-F238E27FC236}">
                  <a16:creationId xmlns:a16="http://schemas.microsoft.com/office/drawing/2014/main" id="{F3E3B218-5D08-704F-9E6A-06880661BF27}"/>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0" name="Line 19">
              <a:extLst>
                <a:ext uri="{FF2B5EF4-FFF2-40B4-BE49-F238E27FC236}">
                  <a16:creationId xmlns:a16="http://schemas.microsoft.com/office/drawing/2014/main" id="{7EB13CBB-4B8B-1143-A1C0-DABE5D98671B}"/>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1" name="Line 20">
              <a:extLst>
                <a:ext uri="{FF2B5EF4-FFF2-40B4-BE49-F238E27FC236}">
                  <a16:creationId xmlns:a16="http://schemas.microsoft.com/office/drawing/2014/main" id="{D2E875B7-84FD-264C-9156-24AB5F015822}"/>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2" name="Line 21">
              <a:extLst>
                <a:ext uri="{FF2B5EF4-FFF2-40B4-BE49-F238E27FC236}">
                  <a16:creationId xmlns:a16="http://schemas.microsoft.com/office/drawing/2014/main" id="{55AB1927-B6D0-E746-A69E-56B929BE221A}"/>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3" name="Line 22">
              <a:extLst>
                <a:ext uri="{FF2B5EF4-FFF2-40B4-BE49-F238E27FC236}">
                  <a16:creationId xmlns:a16="http://schemas.microsoft.com/office/drawing/2014/main" id="{D560B424-F4DA-BF4B-AB8F-FAC9FBC461C3}"/>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4" name="Line 23">
              <a:extLst>
                <a:ext uri="{FF2B5EF4-FFF2-40B4-BE49-F238E27FC236}">
                  <a16:creationId xmlns:a16="http://schemas.microsoft.com/office/drawing/2014/main" id="{45D93673-F15F-7747-A683-F248972F048A}"/>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5" name="Line 24">
              <a:extLst>
                <a:ext uri="{FF2B5EF4-FFF2-40B4-BE49-F238E27FC236}">
                  <a16:creationId xmlns:a16="http://schemas.microsoft.com/office/drawing/2014/main" id="{07FFE8AA-A93D-BA4E-86C7-44CAF0DEE071}"/>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6" name="Line 25">
              <a:extLst>
                <a:ext uri="{FF2B5EF4-FFF2-40B4-BE49-F238E27FC236}">
                  <a16:creationId xmlns:a16="http://schemas.microsoft.com/office/drawing/2014/main" id="{E2C90A0C-F8D7-E441-AB4D-9B2D76843103}"/>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7" name="Line 40">
              <a:extLst>
                <a:ext uri="{FF2B5EF4-FFF2-40B4-BE49-F238E27FC236}">
                  <a16:creationId xmlns:a16="http://schemas.microsoft.com/office/drawing/2014/main" id="{2F54A749-FAE5-5F45-BF42-F75C65F80A84}"/>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8" name="Line 41">
              <a:extLst>
                <a:ext uri="{FF2B5EF4-FFF2-40B4-BE49-F238E27FC236}">
                  <a16:creationId xmlns:a16="http://schemas.microsoft.com/office/drawing/2014/main" id="{52C0A42D-CBAB-0C4C-976C-8275203EF479}"/>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9" name="Line 42">
              <a:extLst>
                <a:ext uri="{FF2B5EF4-FFF2-40B4-BE49-F238E27FC236}">
                  <a16:creationId xmlns:a16="http://schemas.microsoft.com/office/drawing/2014/main" id="{5F8A34C4-DDA0-6345-BEAD-E7D15BD3D86D}"/>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0" name="Line 43">
              <a:extLst>
                <a:ext uri="{FF2B5EF4-FFF2-40B4-BE49-F238E27FC236}">
                  <a16:creationId xmlns:a16="http://schemas.microsoft.com/office/drawing/2014/main" id="{F47E655B-CEC6-9942-B1F9-EFB8C1B5D82D}"/>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1" name="Line 44">
              <a:extLst>
                <a:ext uri="{FF2B5EF4-FFF2-40B4-BE49-F238E27FC236}">
                  <a16:creationId xmlns:a16="http://schemas.microsoft.com/office/drawing/2014/main" id="{CA797135-CEFD-3E42-BF36-49A2AB32BFFF}"/>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2" name="Line 45">
              <a:extLst>
                <a:ext uri="{FF2B5EF4-FFF2-40B4-BE49-F238E27FC236}">
                  <a16:creationId xmlns:a16="http://schemas.microsoft.com/office/drawing/2014/main" id="{734067C0-7D77-2342-9AA7-5B81A2ABABFC}"/>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3" name="Text Box 77">
              <a:extLst>
                <a:ext uri="{FF2B5EF4-FFF2-40B4-BE49-F238E27FC236}">
                  <a16:creationId xmlns:a16="http://schemas.microsoft.com/office/drawing/2014/main" id="{C1831790-9A81-A445-8F56-C39F70349538}"/>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164" name="Text Box 78">
              <a:extLst>
                <a:ext uri="{FF2B5EF4-FFF2-40B4-BE49-F238E27FC236}">
                  <a16:creationId xmlns:a16="http://schemas.microsoft.com/office/drawing/2014/main" id="{D06CD778-D2BC-C54C-8025-85C6AF452483}"/>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65" name="Text Box 79">
              <a:extLst>
                <a:ext uri="{FF2B5EF4-FFF2-40B4-BE49-F238E27FC236}">
                  <a16:creationId xmlns:a16="http://schemas.microsoft.com/office/drawing/2014/main" id="{0ECF4B94-D1F4-534A-85EB-09204B448FC3}"/>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166" name="Text Box 80">
              <a:extLst>
                <a:ext uri="{FF2B5EF4-FFF2-40B4-BE49-F238E27FC236}">
                  <a16:creationId xmlns:a16="http://schemas.microsoft.com/office/drawing/2014/main" id="{5A5AE462-A966-1C4E-B763-3C5629BBFEF8}"/>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167" name="Text Box 81">
              <a:extLst>
                <a:ext uri="{FF2B5EF4-FFF2-40B4-BE49-F238E27FC236}">
                  <a16:creationId xmlns:a16="http://schemas.microsoft.com/office/drawing/2014/main" id="{8CEA4311-6A3D-5A47-A5E7-6721DEBCF665}"/>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168" name="Text Box 82">
              <a:extLst>
                <a:ext uri="{FF2B5EF4-FFF2-40B4-BE49-F238E27FC236}">
                  <a16:creationId xmlns:a16="http://schemas.microsoft.com/office/drawing/2014/main" id="{596E4FD3-31B1-0542-9A02-FC346027F7C2}"/>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69" name="Text Box 83">
              <a:extLst>
                <a:ext uri="{FF2B5EF4-FFF2-40B4-BE49-F238E27FC236}">
                  <a16:creationId xmlns:a16="http://schemas.microsoft.com/office/drawing/2014/main" id="{5F32D7BA-FCE8-254A-A494-10B4E92DF4FE}"/>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170" name="Text Box 84">
              <a:extLst>
                <a:ext uri="{FF2B5EF4-FFF2-40B4-BE49-F238E27FC236}">
                  <a16:creationId xmlns:a16="http://schemas.microsoft.com/office/drawing/2014/main" id="{BEEE5995-2023-DF43-BF69-8C857B4BD595}"/>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71" name="Text Box 85">
              <a:extLst>
                <a:ext uri="{FF2B5EF4-FFF2-40B4-BE49-F238E27FC236}">
                  <a16:creationId xmlns:a16="http://schemas.microsoft.com/office/drawing/2014/main" id="{1E2703A8-474E-A84D-ACB5-CF2D4D7D1344}"/>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172" name="Text Box 86">
              <a:extLst>
                <a:ext uri="{FF2B5EF4-FFF2-40B4-BE49-F238E27FC236}">
                  <a16:creationId xmlns:a16="http://schemas.microsoft.com/office/drawing/2014/main" id="{C0771A6D-81D2-B144-B6C8-7D0C5B57649A}"/>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73" name="Text Box 87">
              <a:extLst>
                <a:ext uri="{FF2B5EF4-FFF2-40B4-BE49-F238E27FC236}">
                  <a16:creationId xmlns:a16="http://schemas.microsoft.com/office/drawing/2014/main" id="{8E036771-426E-4345-8277-EB0907378539}"/>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174" name="Text Box 89">
              <a:extLst>
                <a:ext uri="{FF2B5EF4-FFF2-40B4-BE49-F238E27FC236}">
                  <a16:creationId xmlns:a16="http://schemas.microsoft.com/office/drawing/2014/main" id="{BC5B07E1-E62D-BF44-A2C2-93070A014000}"/>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75" name="Text Box 90">
              <a:extLst>
                <a:ext uri="{FF2B5EF4-FFF2-40B4-BE49-F238E27FC236}">
                  <a16:creationId xmlns:a16="http://schemas.microsoft.com/office/drawing/2014/main" id="{C8B9E218-81CE-ED47-BFA9-89773620EE57}"/>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76" name="Text Box 91">
              <a:extLst>
                <a:ext uri="{FF2B5EF4-FFF2-40B4-BE49-F238E27FC236}">
                  <a16:creationId xmlns:a16="http://schemas.microsoft.com/office/drawing/2014/main" id="{D9AF879B-D8CB-8D4F-920E-5A32925F35BA}"/>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77" name="Text Box 92">
              <a:extLst>
                <a:ext uri="{FF2B5EF4-FFF2-40B4-BE49-F238E27FC236}">
                  <a16:creationId xmlns:a16="http://schemas.microsoft.com/office/drawing/2014/main" id="{890E6D10-3715-0041-A74B-78E3FB9C365C}"/>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178" name="Text Box 93">
              <a:extLst>
                <a:ext uri="{FF2B5EF4-FFF2-40B4-BE49-F238E27FC236}">
                  <a16:creationId xmlns:a16="http://schemas.microsoft.com/office/drawing/2014/main" id="{A73C8663-4846-6F4F-87D6-0E047EE2F498}"/>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79" name="Text Box 94">
              <a:extLst>
                <a:ext uri="{FF2B5EF4-FFF2-40B4-BE49-F238E27FC236}">
                  <a16:creationId xmlns:a16="http://schemas.microsoft.com/office/drawing/2014/main" id="{0671192B-421A-054C-806D-944B48D551F8}"/>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80" name="Text Box 95">
              <a:extLst>
                <a:ext uri="{FF2B5EF4-FFF2-40B4-BE49-F238E27FC236}">
                  <a16:creationId xmlns:a16="http://schemas.microsoft.com/office/drawing/2014/main" id="{1CE2E59F-E0C2-B847-B6C4-DD92D4907B15}"/>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81" name="Text Box 96">
              <a:extLst>
                <a:ext uri="{FF2B5EF4-FFF2-40B4-BE49-F238E27FC236}">
                  <a16:creationId xmlns:a16="http://schemas.microsoft.com/office/drawing/2014/main" id="{05127D1E-DE58-F543-8C73-612BEB9ACBDD}"/>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182" name="Oval 102">
              <a:extLst>
                <a:ext uri="{FF2B5EF4-FFF2-40B4-BE49-F238E27FC236}">
                  <a16:creationId xmlns:a16="http://schemas.microsoft.com/office/drawing/2014/main" id="{C9FE480F-D1FC-2140-9C2A-3F77FE31AAAF}"/>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3" name="Oval 103">
              <a:extLst>
                <a:ext uri="{FF2B5EF4-FFF2-40B4-BE49-F238E27FC236}">
                  <a16:creationId xmlns:a16="http://schemas.microsoft.com/office/drawing/2014/main" id="{C39D341B-6558-5E42-849C-1DD9D6AA35BC}"/>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4" name="Oval 104">
              <a:extLst>
                <a:ext uri="{FF2B5EF4-FFF2-40B4-BE49-F238E27FC236}">
                  <a16:creationId xmlns:a16="http://schemas.microsoft.com/office/drawing/2014/main" id="{1D892683-0F5B-6940-A87B-B3ED49C10C78}"/>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5" name="Oval 105">
              <a:extLst>
                <a:ext uri="{FF2B5EF4-FFF2-40B4-BE49-F238E27FC236}">
                  <a16:creationId xmlns:a16="http://schemas.microsoft.com/office/drawing/2014/main" id="{5EFB13EF-DCB6-594D-A9BF-6095B3D302F7}"/>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6" name="Oval 106">
              <a:extLst>
                <a:ext uri="{FF2B5EF4-FFF2-40B4-BE49-F238E27FC236}">
                  <a16:creationId xmlns:a16="http://schemas.microsoft.com/office/drawing/2014/main" id="{081AC37E-3E8C-7B43-9664-92D98EF05F7D}"/>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7" name="Oval 107">
              <a:extLst>
                <a:ext uri="{FF2B5EF4-FFF2-40B4-BE49-F238E27FC236}">
                  <a16:creationId xmlns:a16="http://schemas.microsoft.com/office/drawing/2014/main" id="{593ABABB-D5FC-804D-90D7-AE7187AFEE4C}"/>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8" name="Oval 108">
              <a:extLst>
                <a:ext uri="{FF2B5EF4-FFF2-40B4-BE49-F238E27FC236}">
                  <a16:creationId xmlns:a16="http://schemas.microsoft.com/office/drawing/2014/main" id="{9B2253CE-5B6E-0048-AB0C-BF0139B4ADB3}"/>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9" name="Oval 109">
              <a:extLst>
                <a:ext uri="{FF2B5EF4-FFF2-40B4-BE49-F238E27FC236}">
                  <a16:creationId xmlns:a16="http://schemas.microsoft.com/office/drawing/2014/main" id="{91AD3E18-DE5B-A342-BCB1-745CF19ADE0C}"/>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0" name="Oval 110">
              <a:extLst>
                <a:ext uri="{FF2B5EF4-FFF2-40B4-BE49-F238E27FC236}">
                  <a16:creationId xmlns:a16="http://schemas.microsoft.com/office/drawing/2014/main" id="{484CB2FA-964D-F947-B278-6EB4E96B28CD}"/>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1" name="Oval 113">
              <a:extLst>
                <a:ext uri="{FF2B5EF4-FFF2-40B4-BE49-F238E27FC236}">
                  <a16:creationId xmlns:a16="http://schemas.microsoft.com/office/drawing/2014/main" id="{7E432A90-A9E9-3D48-A62F-0E516331D4C8}"/>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2" name="Oval 114">
              <a:extLst>
                <a:ext uri="{FF2B5EF4-FFF2-40B4-BE49-F238E27FC236}">
                  <a16:creationId xmlns:a16="http://schemas.microsoft.com/office/drawing/2014/main" id="{A5EE3D11-D2C2-FC41-99BB-207064983EAB}"/>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3" name="Oval 116">
              <a:extLst>
                <a:ext uri="{FF2B5EF4-FFF2-40B4-BE49-F238E27FC236}">
                  <a16:creationId xmlns:a16="http://schemas.microsoft.com/office/drawing/2014/main" id="{83597A32-A345-A142-90E1-15AA1CFCD60D}"/>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4" name="Oval 117">
              <a:extLst>
                <a:ext uri="{FF2B5EF4-FFF2-40B4-BE49-F238E27FC236}">
                  <a16:creationId xmlns:a16="http://schemas.microsoft.com/office/drawing/2014/main" id="{BB7B4CBD-6800-7642-A87A-C1D3860A6F78}"/>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5" name="Freeform 118">
              <a:extLst>
                <a:ext uri="{FF2B5EF4-FFF2-40B4-BE49-F238E27FC236}">
                  <a16:creationId xmlns:a16="http://schemas.microsoft.com/office/drawing/2014/main" id="{2068EF8D-6B22-2A42-ABCD-1BC1EFAB9F22}"/>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6" name="Text Box 134">
              <a:extLst>
                <a:ext uri="{FF2B5EF4-FFF2-40B4-BE49-F238E27FC236}">
                  <a16:creationId xmlns:a16="http://schemas.microsoft.com/office/drawing/2014/main" id="{D5A9CC5E-7A2C-7744-B535-5197D0C8633A}"/>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7" name="Text Box 135">
              <a:extLst>
                <a:ext uri="{FF2B5EF4-FFF2-40B4-BE49-F238E27FC236}">
                  <a16:creationId xmlns:a16="http://schemas.microsoft.com/office/drawing/2014/main" id="{FD806E97-796E-E54B-8070-6E602D398162}"/>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198" name="Text Box 140">
              <a:extLst>
                <a:ext uri="{FF2B5EF4-FFF2-40B4-BE49-F238E27FC236}">
                  <a16:creationId xmlns:a16="http://schemas.microsoft.com/office/drawing/2014/main" id="{C64E7A9C-7F65-984F-B2C7-FA46F78D927D}"/>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199" name="Line 156">
              <a:extLst>
                <a:ext uri="{FF2B5EF4-FFF2-40B4-BE49-F238E27FC236}">
                  <a16:creationId xmlns:a16="http://schemas.microsoft.com/office/drawing/2014/main" id="{114C6D98-BAF7-D24C-BB12-9B3C6FD59BAC}"/>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0" name="Line 146">
              <a:extLst>
                <a:ext uri="{FF2B5EF4-FFF2-40B4-BE49-F238E27FC236}">
                  <a16:creationId xmlns:a16="http://schemas.microsoft.com/office/drawing/2014/main" id="{E710989D-2A57-3545-AE0D-D21D77237891}"/>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1" name="Text Box 203">
              <a:extLst>
                <a:ext uri="{FF2B5EF4-FFF2-40B4-BE49-F238E27FC236}">
                  <a16:creationId xmlns:a16="http://schemas.microsoft.com/office/drawing/2014/main" id="{F166E05F-1378-5F41-B269-E6DE40420B0C}"/>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202" name="Text Box 205">
              <a:extLst>
                <a:ext uri="{FF2B5EF4-FFF2-40B4-BE49-F238E27FC236}">
                  <a16:creationId xmlns:a16="http://schemas.microsoft.com/office/drawing/2014/main" id="{9B493DF6-4609-F34C-8B22-012E5C9E0E1E}"/>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203" name="Line 215">
              <a:extLst>
                <a:ext uri="{FF2B5EF4-FFF2-40B4-BE49-F238E27FC236}">
                  <a16:creationId xmlns:a16="http://schemas.microsoft.com/office/drawing/2014/main" id="{014B6392-68D0-CD48-A172-48ABD16B6CED}"/>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4" name="Text Box 206">
              <a:extLst>
                <a:ext uri="{FF2B5EF4-FFF2-40B4-BE49-F238E27FC236}">
                  <a16:creationId xmlns:a16="http://schemas.microsoft.com/office/drawing/2014/main" id="{3829F746-092F-F34F-98B1-A78320D63159}"/>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05" name="Oval 125">
              <a:extLst>
                <a:ext uri="{FF2B5EF4-FFF2-40B4-BE49-F238E27FC236}">
                  <a16:creationId xmlns:a16="http://schemas.microsoft.com/office/drawing/2014/main" id="{0F6F61BE-46AA-CA42-8DC0-65A9872B325A}"/>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6" name="Oval 126">
              <a:extLst>
                <a:ext uri="{FF2B5EF4-FFF2-40B4-BE49-F238E27FC236}">
                  <a16:creationId xmlns:a16="http://schemas.microsoft.com/office/drawing/2014/main" id="{43C3764D-6B7F-4C4F-8D27-7BD70D32A05C}"/>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7" name="Oval 127">
              <a:extLst>
                <a:ext uri="{FF2B5EF4-FFF2-40B4-BE49-F238E27FC236}">
                  <a16:creationId xmlns:a16="http://schemas.microsoft.com/office/drawing/2014/main" id="{5ECE9354-03C3-E843-AF58-43AAB6F760B2}"/>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8" name="Oval 128">
              <a:extLst>
                <a:ext uri="{FF2B5EF4-FFF2-40B4-BE49-F238E27FC236}">
                  <a16:creationId xmlns:a16="http://schemas.microsoft.com/office/drawing/2014/main" id="{4CBDD2DC-8EFB-8D4E-803D-2D5E0D8CDE73}"/>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9" name="Oval 129">
              <a:extLst>
                <a:ext uri="{FF2B5EF4-FFF2-40B4-BE49-F238E27FC236}">
                  <a16:creationId xmlns:a16="http://schemas.microsoft.com/office/drawing/2014/main" id="{986D34C6-FB32-D348-88C7-0DB1593912F5}"/>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0" name="Oval 130">
              <a:extLst>
                <a:ext uri="{FF2B5EF4-FFF2-40B4-BE49-F238E27FC236}">
                  <a16:creationId xmlns:a16="http://schemas.microsoft.com/office/drawing/2014/main" id="{AAC223D2-5A89-AF48-A0F5-ADD1AE9354D4}"/>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1" name="Oval 131">
              <a:extLst>
                <a:ext uri="{FF2B5EF4-FFF2-40B4-BE49-F238E27FC236}">
                  <a16:creationId xmlns:a16="http://schemas.microsoft.com/office/drawing/2014/main" id="{EF015A0B-5314-8D41-BDBA-31D7D2E41306}"/>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2" name="Oval 132">
              <a:extLst>
                <a:ext uri="{FF2B5EF4-FFF2-40B4-BE49-F238E27FC236}">
                  <a16:creationId xmlns:a16="http://schemas.microsoft.com/office/drawing/2014/main" id="{400435C7-8622-3146-AC33-60BF899BDF44}"/>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3" name="Line 147">
              <a:extLst>
                <a:ext uri="{FF2B5EF4-FFF2-40B4-BE49-F238E27FC236}">
                  <a16:creationId xmlns:a16="http://schemas.microsoft.com/office/drawing/2014/main" id="{FED71300-1AE7-9948-A10B-72A991DA981D}"/>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14" name="直接连接符 115">
              <a:extLst>
                <a:ext uri="{FF2B5EF4-FFF2-40B4-BE49-F238E27FC236}">
                  <a16:creationId xmlns:a16="http://schemas.microsoft.com/office/drawing/2014/main" id="{F18C8432-C898-054F-AD42-9E7CEC509B0E}"/>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5" name="Rectangle 161">
              <a:extLst>
                <a:ext uri="{FF2B5EF4-FFF2-40B4-BE49-F238E27FC236}">
                  <a16:creationId xmlns:a16="http://schemas.microsoft.com/office/drawing/2014/main" id="{9CAFBA72-659C-6549-915D-860DB013F67D}"/>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216" name="Oval 129">
              <a:extLst>
                <a:ext uri="{FF2B5EF4-FFF2-40B4-BE49-F238E27FC236}">
                  <a16:creationId xmlns:a16="http://schemas.microsoft.com/office/drawing/2014/main" id="{D7BB8239-F0EE-8D4A-A9C9-4BF1D9B8187E}"/>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7" name="任意多边形 134">
              <a:extLst>
                <a:ext uri="{FF2B5EF4-FFF2-40B4-BE49-F238E27FC236}">
                  <a16:creationId xmlns:a16="http://schemas.microsoft.com/office/drawing/2014/main" id="{6DFA6073-CFB7-6944-8C5A-7A441874659D}"/>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8" name="Rectangle 161">
              <a:extLst>
                <a:ext uri="{FF2B5EF4-FFF2-40B4-BE49-F238E27FC236}">
                  <a16:creationId xmlns:a16="http://schemas.microsoft.com/office/drawing/2014/main" id="{2B1822E7-9C1A-3F48-B4D4-52D8FDED7B55}"/>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219" name="直接连接符 119">
              <a:extLst>
                <a:ext uri="{FF2B5EF4-FFF2-40B4-BE49-F238E27FC236}">
                  <a16:creationId xmlns:a16="http://schemas.microsoft.com/office/drawing/2014/main" id="{23AEA704-386A-FE4A-9B9C-9D14F7B0A718}"/>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20" name="直接连接符 121">
              <a:extLst>
                <a:ext uri="{FF2B5EF4-FFF2-40B4-BE49-F238E27FC236}">
                  <a16:creationId xmlns:a16="http://schemas.microsoft.com/office/drawing/2014/main" id="{BBD113AA-57F8-3E49-8144-D1528D99AEA9}"/>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21" name="Line 24">
              <a:extLst>
                <a:ext uri="{FF2B5EF4-FFF2-40B4-BE49-F238E27FC236}">
                  <a16:creationId xmlns:a16="http://schemas.microsoft.com/office/drawing/2014/main" id="{48730681-3A14-AE4C-AC23-15441D1CD526}"/>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2" name="Line 22">
              <a:extLst>
                <a:ext uri="{FF2B5EF4-FFF2-40B4-BE49-F238E27FC236}">
                  <a16:creationId xmlns:a16="http://schemas.microsoft.com/office/drawing/2014/main" id="{B4B91A08-145E-9C4C-AFA7-31EDA230E75C}"/>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3" name="Text Box 87">
              <a:extLst>
                <a:ext uri="{FF2B5EF4-FFF2-40B4-BE49-F238E27FC236}">
                  <a16:creationId xmlns:a16="http://schemas.microsoft.com/office/drawing/2014/main" id="{96DE5937-E422-A444-AA24-CEDEE2785BA8}"/>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224" name="Line 22">
              <a:extLst>
                <a:ext uri="{FF2B5EF4-FFF2-40B4-BE49-F238E27FC236}">
                  <a16:creationId xmlns:a16="http://schemas.microsoft.com/office/drawing/2014/main" id="{87E72390-B246-A748-9BEE-FDA20494FB3B}"/>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25" name="直接连接符 134">
              <a:extLst>
                <a:ext uri="{FF2B5EF4-FFF2-40B4-BE49-F238E27FC236}">
                  <a16:creationId xmlns:a16="http://schemas.microsoft.com/office/drawing/2014/main" id="{14B2CAB1-B0C3-3244-9547-70321CCD61A6}"/>
                </a:ext>
              </a:extLst>
            </p:cNvPr>
            <p:cNvCxnSpPr>
              <a:cxnSpLocks noChangeShapeType="1"/>
              <a:stCxn id="217" idx="4"/>
            </p:cNvCxnSpPr>
            <p:nvPr/>
          </p:nvCxnSpPr>
          <p:spPr bwMode="auto">
            <a:xfrm>
              <a:off x="6706617" y="2109019"/>
              <a:ext cx="200025" cy="785812"/>
            </a:xfrm>
            <a:prstGeom prst="line">
              <a:avLst/>
            </a:prstGeom>
            <a:noFill/>
            <a:ln w="19050" algn="ctr">
              <a:solidFill>
                <a:srgbClr val="0000FF"/>
              </a:solidFill>
              <a:round/>
              <a:headEnd/>
              <a:tailEnd/>
            </a:ln>
          </p:spPr>
        </p:cxnSp>
        <p:sp>
          <p:nvSpPr>
            <p:cNvPr id="226" name="Text Box 206">
              <a:extLst>
                <a:ext uri="{FF2B5EF4-FFF2-40B4-BE49-F238E27FC236}">
                  <a16:creationId xmlns:a16="http://schemas.microsoft.com/office/drawing/2014/main" id="{C4B356FD-79EE-9948-98FC-22375D4B5A30}"/>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27" name="Text Box 206">
              <a:extLst>
                <a:ext uri="{FF2B5EF4-FFF2-40B4-BE49-F238E27FC236}">
                  <a16:creationId xmlns:a16="http://schemas.microsoft.com/office/drawing/2014/main" id="{1773871C-A426-824A-91B6-3C861C89F7E8}"/>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28" name="TextBox 147">
              <a:extLst>
                <a:ext uri="{FF2B5EF4-FFF2-40B4-BE49-F238E27FC236}">
                  <a16:creationId xmlns:a16="http://schemas.microsoft.com/office/drawing/2014/main" id="{ECB43F82-7BE4-394F-90E5-912BB8C86335}"/>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29" name="TextBox 148">
              <a:extLst>
                <a:ext uri="{FF2B5EF4-FFF2-40B4-BE49-F238E27FC236}">
                  <a16:creationId xmlns:a16="http://schemas.microsoft.com/office/drawing/2014/main" id="{7D3F6E60-4771-F84D-97C3-833D711FE88F}"/>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230" name="直接连接符 153">
              <a:extLst>
                <a:ext uri="{FF2B5EF4-FFF2-40B4-BE49-F238E27FC236}">
                  <a16:creationId xmlns:a16="http://schemas.microsoft.com/office/drawing/2014/main" id="{D16B2039-1B37-1541-B229-71C255F1B4D6}"/>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31" name="直接连接符 119">
              <a:extLst>
                <a:ext uri="{FF2B5EF4-FFF2-40B4-BE49-F238E27FC236}">
                  <a16:creationId xmlns:a16="http://schemas.microsoft.com/office/drawing/2014/main" id="{9F553158-E894-5641-96AF-84B462EFA6C4}"/>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2" name="直接连接符 141">
              <a:extLst>
                <a:ext uri="{FF2B5EF4-FFF2-40B4-BE49-F238E27FC236}">
                  <a16:creationId xmlns:a16="http://schemas.microsoft.com/office/drawing/2014/main" id="{3EBD49DD-1909-3A44-907D-A9BF5C77961B}"/>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233" name="Oval 202">
              <a:extLst>
                <a:ext uri="{FF2B5EF4-FFF2-40B4-BE49-F238E27FC236}">
                  <a16:creationId xmlns:a16="http://schemas.microsoft.com/office/drawing/2014/main" id="{253FF3A5-7945-5748-9753-C20265446995}"/>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4" name="Oval 130">
              <a:extLst>
                <a:ext uri="{FF2B5EF4-FFF2-40B4-BE49-F238E27FC236}">
                  <a16:creationId xmlns:a16="http://schemas.microsoft.com/office/drawing/2014/main" id="{8DB206DC-3DDA-B84B-AF52-0CE8F0C7A140}"/>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5" name="Oval 130">
              <a:extLst>
                <a:ext uri="{FF2B5EF4-FFF2-40B4-BE49-F238E27FC236}">
                  <a16:creationId xmlns:a16="http://schemas.microsoft.com/office/drawing/2014/main" id="{AD81AF08-6FFA-8D46-846D-BC48E64C4A8C}"/>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6" name="TextBox 149">
              <a:extLst>
                <a:ext uri="{FF2B5EF4-FFF2-40B4-BE49-F238E27FC236}">
                  <a16:creationId xmlns:a16="http://schemas.microsoft.com/office/drawing/2014/main" id="{6A5DA041-C3ED-414D-8716-B9816404CF56}"/>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37" name="Oval 202">
              <a:extLst>
                <a:ext uri="{FF2B5EF4-FFF2-40B4-BE49-F238E27FC236}">
                  <a16:creationId xmlns:a16="http://schemas.microsoft.com/office/drawing/2014/main" id="{665EC6C7-66CA-FA47-B5A2-4A9E506C1FA9}"/>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38" name="直接连接符 126">
              <a:extLst>
                <a:ext uri="{FF2B5EF4-FFF2-40B4-BE49-F238E27FC236}">
                  <a16:creationId xmlns:a16="http://schemas.microsoft.com/office/drawing/2014/main" id="{199B0762-F653-F74A-8136-A89DC7882E17}"/>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9" name="直接连接符 119">
              <a:extLst>
                <a:ext uri="{FF2B5EF4-FFF2-40B4-BE49-F238E27FC236}">
                  <a16:creationId xmlns:a16="http://schemas.microsoft.com/office/drawing/2014/main" id="{7D0E6317-2137-924B-B3E8-7AF2238B3173}"/>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40" name="Text Box 140">
            <a:extLst>
              <a:ext uri="{FF2B5EF4-FFF2-40B4-BE49-F238E27FC236}">
                <a16:creationId xmlns:a16="http://schemas.microsoft.com/office/drawing/2014/main" id="{4C4B8493-C3CF-9A4F-85E3-7330FAAF4468}"/>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241" name="Line 167">
            <a:extLst>
              <a:ext uri="{FF2B5EF4-FFF2-40B4-BE49-F238E27FC236}">
                <a16:creationId xmlns:a16="http://schemas.microsoft.com/office/drawing/2014/main" id="{45CBCCFF-B33E-9541-B5D7-36DA6BAA863A}"/>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sp>
        <p:nvSpPr>
          <p:cNvPr id="242" name="Line 147">
            <a:extLst>
              <a:ext uri="{FF2B5EF4-FFF2-40B4-BE49-F238E27FC236}">
                <a16:creationId xmlns:a16="http://schemas.microsoft.com/office/drawing/2014/main" id="{0A72A022-BAA4-7149-9D3C-6861416868CA}"/>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3" name="Oval 130">
            <a:extLst>
              <a:ext uri="{FF2B5EF4-FFF2-40B4-BE49-F238E27FC236}">
                <a16:creationId xmlns:a16="http://schemas.microsoft.com/office/drawing/2014/main" id="{E58C22EB-7F1D-F848-B0C2-4E63C221D202}"/>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4" name="Text Box 93">
            <a:extLst>
              <a:ext uri="{FF2B5EF4-FFF2-40B4-BE49-F238E27FC236}">
                <a16:creationId xmlns:a16="http://schemas.microsoft.com/office/drawing/2014/main" id="{2A09D4CC-1BA5-A745-9DF8-D52095791A07}"/>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
        <p:nvSpPr>
          <p:cNvPr id="247" name="Text Box 155">
            <a:extLst>
              <a:ext uri="{FF2B5EF4-FFF2-40B4-BE49-F238E27FC236}">
                <a16:creationId xmlns:a16="http://schemas.microsoft.com/office/drawing/2014/main" id="{52906015-DF63-DE48-9EC6-834D1E4F0487}"/>
              </a:ext>
            </a:extLst>
          </p:cNvPr>
          <p:cNvSpPr txBox="1">
            <a:spLocks noChangeArrowheads="1"/>
          </p:cNvSpPr>
          <p:nvPr/>
        </p:nvSpPr>
        <p:spPr bwMode="auto">
          <a:xfrm>
            <a:off x="3381326" y="4722392"/>
            <a:ext cx="632867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，因此拥塞窗口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随着往返时延 </a:t>
            </a:r>
            <a:r>
              <a:rPr lang="en-US" altLang="zh-CN" sz="1600" b="1" dirty="0">
                <a:solidFill>
                  <a:srgbClr val="0000FF"/>
                </a:solidFill>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按指数规律增长。</a:t>
            </a:r>
          </a:p>
        </p:txBody>
      </p:sp>
      <p:sp>
        <p:nvSpPr>
          <p:cNvPr id="248" name="Line 167">
            <a:extLst>
              <a:ext uri="{FF2B5EF4-FFF2-40B4-BE49-F238E27FC236}">
                <a16:creationId xmlns:a16="http://schemas.microsoft.com/office/drawing/2014/main" id="{BE6AF29C-42ED-164B-83DC-A451C9613DBB}"/>
              </a:ext>
            </a:extLst>
          </p:cNvPr>
          <p:cNvSpPr>
            <a:spLocks noChangeShapeType="1"/>
          </p:cNvSpPr>
          <p:nvPr/>
        </p:nvSpPr>
        <p:spPr bwMode="auto">
          <a:xfrm>
            <a:off x="3843311" y="3963010"/>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a:defRPr/>
            </a:pPr>
            <a:endParaRPr lang="zh-CN" altLang="en-US" sz="2400" b="1" kern="0">
              <a:solidFill>
                <a:sysClr val="windowText" lastClr="000000"/>
              </a:solidFill>
              <a:latin typeface="Calibri"/>
              <a:ea typeface="宋体" panose="02010600030101010101" pitchFamily="2" charset="-122"/>
            </a:endParaRPr>
          </a:p>
        </p:txBody>
      </p:sp>
    </p:spTree>
    <p:extLst>
      <p:ext uri="{BB962C8B-B14F-4D97-AF65-F5344CB8AC3E}">
        <p14:creationId xmlns:p14="http://schemas.microsoft.com/office/powerpoint/2010/main" val="23819982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BEDB0-2099-B58C-C33C-2306DE5FB05A}"/>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E8517537-018F-4F89-28F4-2ECC8A3F07B4}"/>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14260AE1-CE0C-C907-B60A-AB2F1294F745}"/>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A069D669-BF35-47DB-5C1B-959B826DB2A8}"/>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E0A4FB9B-3999-639C-3773-30331BC5D128}"/>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7E09B695-6927-0938-A151-F5ED474603E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129" name="组合 128">
            <a:extLst>
              <a:ext uri="{FF2B5EF4-FFF2-40B4-BE49-F238E27FC236}">
                <a16:creationId xmlns:a16="http://schemas.microsoft.com/office/drawing/2014/main" id="{C79A6E39-EC55-7DFD-34A7-DDCFFA6FDBEF}"/>
              </a:ext>
            </a:extLst>
          </p:cNvPr>
          <p:cNvGrpSpPr/>
          <p:nvPr/>
        </p:nvGrpSpPr>
        <p:grpSpPr>
          <a:xfrm>
            <a:off x="505664" y="1426139"/>
            <a:ext cx="6645148" cy="525530"/>
            <a:chOff x="722008" y="1303131"/>
            <a:chExt cx="6344982" cy="501792"/>
          </a:xfrm>
        </p:grpSpPr>
        <p:sp>
          <p:nvSpPr>
            <p:cNvPr id="130" name="流程图: 手动输入 6">
              <a:extLst>
                <a:ext uri="{FF2B5EF4-FFF2-40B4-BE49-F238E27FC236}">
                  <a16:creationId xmlns:a16="http://schemas.microsoft.com/office/drawing/2014/main" id="{CB634395-33EA-F1D3-4566-0B93E541A366}"/>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31" name="组合 130">
              <a:extLst>
                <a:ext uri="{FF2B5EF4-FFF2-40B4-BE49-F238E27FC236}">
                  <a16:creationId xmlns:a16="http://schemas.microsoft.com/office/drawing/2014/main" id="{A3E3215C-61B5-9DC7-1E77-D83065477F45}"/>
                </a:ext>
              </a:extLst>
            </p:cNvPr>
            <p:cNvGrpSpPr/>
            <p:nvPr/>
          </p:nvGrpSpPr>
          <p:grpSpPr>
            <a:xfrm>
              <a:off x="722008" y="1303131"/>
              <a:ext cx="546594" cy="475865"/>
              <a:chOff x="708742" y="1296102"/>
              <a:chExt cx="454744" cy="283828"/>
            </a:xfrm>
          </p:grpSpPr>
          <p:sp>
            <p:nvSpPr>
              <p:cNvPr id="133" name="平行四边形 132">
                <a:extLst>
                  <a:ext uri="{FF2B5EF4-FFF2-40B4-BE49-F238E27FC236}">
                    <a16:creationId xmlns:a16="http://schemas.microsoft.com/office/drawing/2014/main" id="{200F9A22-89C2-4D9D-E4D2-1F7117E4BE94}"/>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34" name="平行四边形 133">
                <a:extLst>
                  <a:ext uri="{FF2B5EF4-FFF2-40B4-BE49-F238E27FC236}">
                    <a16:creationId xmlns:a16="http://schemas.microsoft.com/office/drawing/2014/main" id="{05596891-2101-0598-9447-01144363102D}"/>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32" name="Text Box 79">
              <a:extLst>
                <a:ext uri="{FF2B5EF4-FFF2-40B4-BE49-F238E27FC236}">
                  <a16:creationId xmlns:a16="http://schemas.microsoft.com/office/drawing/2014/main" id="{BC6BBD5F-B489-47F6-B073-27C4D6E88DD8}"/>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49" name="灯片编号占位符 48">
            <a:extLst>
              <a:ext uri="{FF2B5EF4-FFF2-40B4-BE49-F238E27FC236}">
                <a16:creationId xmlns:a16="http://schemas.microsoft.com/office/drawing/2014/main" id="{343A0DC1-B0B4-4063-A9E8-003D653EF988}"/>
              </a:ext>
            </a:extLst>
          </p:cNvPr>
          <p:cNvSpPr>
            <a:spLocks noGrp="1"/>
          </p:cNvSpPr>
          <p:nvPr>
            <p:ph type="sldNum" sz="quarter" idx="12"/>
          </p:nvPr>
        </p:nvSpPr>
        <p:spPr/>
        <p:txBody>
          <a:bodyPr/>
          <a:lstStyle/>
          <a:p>
            <a:fld id="{5956A083-5018-4B52-82A0-83241B8E3D94}" type="slidenum">
              <a:rPr lang="zh-CN" altLang="en-US" smtClean="0"/>
              <a:t>60</a:t>
            </a:fld>
            <a:endParaRPr lang="zh-CN" altLang="en-US"/>
          </a:p>
        </p:txBody>
      </p:sp>
      <p:sp>
        <p:nvSpPr>
          <p:cNvPr id="135" name="圆角矩形 150">
            <a:extLst>
              <a:ext uri="{FF2B5EF4-FFF2-40B4-BE49-F238E27FC236}">
                <a16:creationId xmlns:a16="http://schemas.microsoft.com/office/drawing/2014/main" id="{6F4E64A7-640C-A749-B94A-A893D220D98F}"/>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36" name="组合 135">
            <a:extLst>
              <a:ext uri="{FF2B5EF4-FFF2-40B4-BE49-F238E27FC236}">
                <a16:creationId xmlns:a16="http://schemas.microsoft.com/office/drawing/2014/main" id="{1B917EC4-28CE-D94F-8F6B-83D36A341C2F}"/>
              </a:ext>
            </a:extLst>
          </p:cNvPr>
          <p:cNvGrpSpPr/>
          <p:nvPr/>
        </p:nvGrpSpPr>
        <p:grpSpPr>
          <a:xfrm>
            <a:off x="3043104" y="2417895"/>
            <a:ext cx="6808860" cy="2262108"/>
            <a:chOff x="300646" y="840152"/>
            <a:chExt cx="9638211" cy="3093013"/>
          </a:xfrm>
        </p:grpSpPr>
        <p:sp>
          <p:nvSpPr>
            <p:cNvPr id="137" name="Text Box 140">
              <a:extLst>
                <a:ext uri="{FF2B5EF4-FFF2-40B4-BE49-F238E27FC236}">
                  <a16:creationId xmlns:a16="http://schemas.microsoft.com/office/drawing/2014/main" id="{E6A5B443-AC7E-8F48-BAA0-C3D7184FDEEB}"/>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8" name="Line 2">
              <a:extLst>
                <a:ext uri="{FF2B5EF4-FFF2-40B4-BE49-F238E27FC236}">
                  <a16:creationId xmlns:a16="http://schemas.microsoft.com/office/drawing/2014/main" id="{8EE167FB-41E5-FF4E-BB63-DFF33E6A05B2}"/>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9" name="Line 3">
              <a:extLst>
                <a:ext uri="{FF2B5EF4-FFF2-40B4-BE49-F238E27FC236}">
                  <a16:creationId xmlns:a16="http://schemas.microsoft.com/office/drawing/2014/main" id="{4A186692-90DC-1446-A38C-D74ED59EA814}"/>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0" name="Line 4">
              <a:extLst>
                <a:ext uri="{FF2B5EF4-FFF2-40B4-BE49-F238E27FC236}">
                  <a16:creationId xmlns:a16="http://schemas.microsoft.com/office/drawing/2014/main" id="{971BA4C5-4211-CE46-8ADE-6A2CBA5A89B9}"/>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1" name="Line 5">
              <a:extLst>
                <a:ext uri="{FF2B5EF4-FFF2-40B4-BE49-F238E27FC236}">
                  <a16:creationId xmlns:a16="http://schemas.microsoft.com/office/drawing/2014/main" id="{A2C51AC1-43C6-364E-8F21-C3A111035CCB}"/>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2" name="Line 6">
              <a:extLst>
                <a:ext uri="{FF2B5EF4-FFF2-40B4-BE49-F238E27FC236}">
                  <a16:creationId xmlns:a16="http://schemas.microsoft.com/office/drawing/2014/main" id="{AD8A1CD9-A26A-094E-BE86-9C38097EA253}"/>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3" name="Line 7">
              <a:extLst>
                <a:ext uri="{FF2B5EF4-FFF2-40B4-BE49-F238E27FC236}">
                  <a16:creationId xmlns:a16="http://schemas.microsoft.com/office/drawing/2014/main" id="{BCA636D9-5C13-684F-A34D-4757647E10C2}"/>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4" name="Line 8">
              <a:extLst>
                <a:ext uri="{FF2B5EF4-FFF2-40B4-BE49-F238E27FC236}">
                  <a16:creationId xmlns:a16="http://schemas.microsoft.com/office/drawing/2014/main" id="{BB25F21A-F823-1E4E-AB35-9936C7317CEE}"/>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5" name="Line 9">
              <a:extLst>
                <a:ext uri="{FF2B5EF4-FFF2-40B4-BE49-F238E27FC236}">
                  <a16:creationId xmlns:a16="http://schemas.microsoft.com/office/drawing/2014/main" id="{8E604D2C-3800-6642-B30D-A17BA07A2FF7}"/>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6" name="Line 10">
              <a:extLst>
                <a:ext uri="{FF2B5EF4-FFF2-40B4-BE49-F238E27FC236}">
                  <a16:creationId xmlns:a16="http://schemas.microsoft.com/office/drawing/2014/main" id="{C0E65CD3-9EAE-C345-A305-0B4B4C9E934F}"/>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7" name="Line 11">
              <a:extLst>
                <a:ext uri="{FF2B5EF4-FFF2-40B4-BE49-F238E27FC236}">
                  <a16:creationId xmlns:a16="http://schemas.microsoft.com/office/drawing/2014/main" id="{5F030262-5FFE-A343-96E0-E6EAE1AE84EF}"/>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8" name="Line 12">
              <a:extLst>
                <a:ext uri="{FF2B5EF4-FFF2-40B4-BE49-F238E27FC236}">
                  <a16:creationId xmlns:a16="http://schemas.microsoft.com/office/drawing/2014/main" id="{5DAC13B9-100D-2348-B92A-E2AB106F9323}"/>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9" name="Line 13">
              <a:extLst>
                <a:ext uri="{FF2B5EF4-FFF2-40B4-BE49-F238E27FC236}">
                  <a16:creationId xmlns:a16="http://schemas.microsoft.com/office/drawing/2014/main" id="{16A30B6A-6890-4241-961A-3DB48F7829E2}"/>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0" name="Line 14">
              <a:extLst>
                <a:ext uri="{FF2B5EF4-FFF2-40B4-BE49-F238E27FC236}">
                  <a16:creationId xmlns:a16="http://schemas.microsoft.com/office/drawing/2014/main" id="{FA60D0B6-87EB-0845-80A9-9E486F0BC173}"/>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1" name="Line 15">
              <a:extLst>
                <a:ext uri="{FF2B5EF4-FFF2-40B4-BE49-F238E27FC236}">
                  <a16:creationId xmlns:a16="http://schemas.microsoft.com/office/drawing/2014/main" id="{B70431A3-09FD-1F4A-952F-1BB2D2061120}"/>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2" name="Line 16">
              <a:extLst>
                <a:ext uri="{FF2B5EF4-FFF2-40B4-BE49-F238E27FC236}">
                  <a16:creationId xmlns:a16="http://schemas.microsoft.com/office/drawing/2014/main" id="{65FEABCF-B0D5-944F-9709-0D9B02747E94}"/>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3" name="Line 17">
              <a:extLst>
                <a:ext uri="{FF2B5EF4-FFF2-40B4-BE49-F238E27FC236}">
                  <a16:creationId xmlns:a16="http://schemas.microsoft.com/office/drawing/2014/main" id="{62763154-0F19-E44E-958C-697B6E15FE1A}"/>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4" name="Line 18">
              <a:extLst>
                <a:ext uri="{FF2B5EF4-FFF2-40B4-BE49-F238E27FC236}">
                  <a16:creationId xmlns:a16="http://schemas.microsoft.com/office/drawing/2014/main" id="{C4C4E533-8D89-754D-96B5-D8BE546D7F8E}"/>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5" name="Line 19">
              <a:extLst>
                <a:ext uri="{FF2B5EF4-FFF2-40B4-BE49-F238E27FC236}">
                  <a16:creationId xmlns:a16="http://schemas.microsoft.com/office/drawing/2014/main" id="{E1C2EEF2-6719-BB4A-9A76-DFE9AB97056C}"/>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6" name="Line 20">
              <a:extLst>
                <a:ext uri="{FF2B5EF4-FFF2-40B4-BE49-F238E27FC236}">
                  <a16:creationId xmlns:a16="http://schemas.microsoft.com/office/drawing/2014/main" id="{9C39C069-6CCF-B848-BAE6-73E09D4FA3A3}"/>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7" name="Line 21">
              <a:extLst>
                <a:ext uri="{FF2B5EF4-FFF2-40B4-BE49-F238E27FC236}">
                  <a16:creationId xmlns:a16="http://schemas.microsoft.com/office/drawing/2014/main" id="{76D8786C-D746-924C-8DB6-EB427C783F91}"/>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8" name="Line 22">
              <a:extLst>
                <a:ext uri="{FF2B5EF4-FFF2-40B4-BE49-F238E27FC236}">
                  <a16:creationId xmlns:a16="http://schemas.microsoft.com/office/drawing/2014/main" id="{F1FAF442-7E45-D34E-BE07-821A197CCC3C}"/>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9" name="Line 23">
              <a:extLst>
                <a:ext uri="{FF2B5EF4-FFF2-40B4-BE49-F238E27FC236}">
                  <a16:creationId xmlns:a16="http://schemas.microsoft.com/office/drawing/2014/main" id="{8FA47B15-B4AC-F64D-9450-B28C819682DF}"/>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0" name="Line 24">
              <a:extLst>
                <a:ext uri="{FF2B5EF4-FFF2-40B4-BE49-F238E27FC236}">
                  <a16:creationId xmlns:a16="http://schemas.microsoft.com/office/drawing/2014/main" id="{D5D081C4-E457-FF4D-8825-5728E3175ABD}"/>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1" name="Line 25">
              <a:extLst>
                <a:ext uri="{FF2B5EF4-FFF2-40B4-BE49-F238E27FC236}">
                  <a16:creationId xmlns:a16="http://schemas.microsoft.com/office/drawing/2014/main" id="{2D2E599F-F653-FB49-AFA5-3D79909529F3}"/>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2" name="Line 40">
              <a:extLst>
                <a:ext uri="{FF2B5EF4-FFF2-40B4-BE49-F238E27FC236}">
                  <a16:creationId xmlns:a16="http://schemas.microsoft.com/office/drawing/2014/main" id="{E094EDE9-D691-FC4F-852D-B261EA0606D8}"/>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3" name="Line 41">
              <a:extLst>
                <a:ext uri="{FF2B5EF4-FFF2-40B4-BE49-F238E27FC236}">
                  <a16:creationId xmlns:a16="http://schemas.microsoft.com/office/drawing/2014/main" id="{B6451AE5-72AA-0741-911E-478969255858}"/>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4" name="Line 42">
              <a:extLst>
                <a:ext uri="{FF2B5EF4-FFF2-40B4-BE49-F238E27FC236}">
                  <a16:creationId xmlns:a16="http://schemas.microsoft.com/office/drawing/2014/main" id="{C3813414-4887-4B44-A77B-D96FDF9EDB8C}"/>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5" name="Line 43">
              <a:extLst>
                <a:ext uri="{FF2B5EF4-FFF2-40B4-BE49-F238E27FC236}">
                  <a16:creationId xmlns:a16="http://schemas.microsoft.com/office/drawing/2014/main" id="{4A700912-8156-584C-A539-A88F5278A63B}"/>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6" name="Line 44">
              <a:extLst>
                <a:ext uri="{FF2B5EF4-FFF2-40B4-BE49-F238E27FC236}">
                  <a16:creationId xmlns:a16="http://schemas.microsoft.com/office/drawing/2014/main" id="{A960E1CD-B64F-D340-9C7C-0BE43CB4754D}"/>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7" name="Line 45">
              <a:extLst>
                <a:ext uri="{FF2B5EF4-FFF2-40B4-BE49-F238E27FC236}">
                  <a16:creationId xmlns:a16="http://schemas.microsoft.com/office/drawing/2014/main" id="{2F620A9B-906E-B542-BCD7-FA2B7395DDB6}"/>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8" name="Text Box 77">
              <a:extLst>
                <a:ext uri="{FF2B5EF4-FFF2-40B4-BE49-F238E27FC236}">
                  <a16:creationId xmlns:a16="http://schemas.microsoft.com/office/drawing/2014/main" id="{54C493C3-CA98-EF49-A9F8-E7A5A55364FD}"/>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169" name="Text Box 78">
              <a:extLst>
                <a:ext uri="{FF2B5EF4-FFF2-40B4-BE49-F238E27FC236}">
                  <a16:creationId xmlns:a16="http://schemas.microsoft.com/office/drawing/2014/main" id="{18909C84-6679-9249-B1D0-5C5D91679DA6}"/>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70" name="Text Box 79">
              <a:extLst>
                <a:ext uri="{FF2B5EF4-FFF2-40B4-BE49-F238E27FC236}">
                  <a16:creationId xmlns:a16="http://schemas.microsoft.com/office/drawing/2014/main" id="{B3746838-2D4F-2544-9E12-5F8780A3958E}"/>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171" name="Text Box 80">
              <a:extLst>
                <a:ext uri="{FF2B5EF4-FFF2-40B4-BE49-F238E27FC236}">
                  <a16:creationId xmlns:a16="http://schemas.microsoft.com/office/drawing/2014/main" id="{0578FE0B-525F-8341-99C7-FF066C53C13C}"/>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172" name="Text Box 81">
              <a:extLst>
                <a:ext uri="{FF2B5EF4-FFF2-40B4-BE49-F238E27FC236}">
                  <a16:creationId xmlns:a16="http://schemas.microsoft.com/office/drawing/2014/main" id="{4160ABCD-34AD-3641-8A7B-D6250CE09487}"/>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173" name="Text Box 82">
              <a:extLst>
                <a:ext uri="{FF2B5EF4-FFF2-40B4-BE49-F238E27FC236}">
                  <a16:creationId xmlns:a16="http://schemas.microsoft.com/office/drawing/2014/main" id="{AD837368-4381-ED4E-B96E-A11B4C7E365A}"/>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74" name="Text Box 83">
              <a:extLst>
                <a:ext uri="{FF2B5EF4-FFF2-40B4-BE49-F238E27FC236}">
                  <a16:creationId xmlns:a16="http://schemas.microsoft.com/office/drawing/2014/main" id="{62FF5FDB-5579-B046-BCD2-1415053A4E2B}"/>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175" name="Text Box 84">
              <a:extLst>
                <a:ext uri="{FF2B5EF4-FFF2-40B4-BE49-F238E27FC236}">
                  <a16:creationId xmlns:a16="http://schemas.microsoft.com/office/drawing/2014/main" id="{7E9F7EAB-FD8E-7540-8DD9-594C9FB80D93}"/>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76" name="Text Box 85">
              <a:extLst>
                <a:ext uri="{FF2B5EF4-FFF2-40B4-BE49-F238E27FC236}">
                  <a16:creationId xmlns:a16="http://schemas.microsoft.com/office/drawing/2014/main" id="{BDC184A9-F0EF-C747-BDE2-31A941410B13}"/>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177" name="Text Box 86">
              <a:extLst>
                <a:ext uri="{FF2B5EF4-FFF2-40B4-BE49-F238E27FC236}">
                  <a16:creationId xmlns:a16="http://schemas.microsoft.com/office/drawing/2014/main" id="{D4F34BA3-4A80-4447-944A-0989FB48A0CB}"/>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78" name="Text Box 87">
              <a:extLst>
                <a:ext uri="{FF2B5EF4-FFF2-40B4-BE49-F238E27FC236}">
                  <a16:creationId xmlns:a16="http://schemas.microsoft.com/office/drawing/2014/main" id="{99EF2F72-DC0E-5047-9A60-56817341A359}"/>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179" name="Text Box 89">
              <a:extLst>
                <a:ext uri="{FF2B5EF4-FFF2-40B4-BE49-F238E27FC236}">
                  <a16:creationId xmlns:a16="http://schemas.microsoft.com/office/drawing/2014/main" id="{A975E0B4-88F1-464F-BB59-54F4FC7DEA63}"/>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0" name="Text Box 90">
              <a:extLst>
                <a:ext uri="{FF2B5EF4-FFF2-40B4-BE49-F238E27FC236}">
                  <a16:creationId xmlns:a16="http://schemas.microsoft.com/office/drawing/2014/main" id="{6E2CFD67-BD93-984C-B56A-71FA597652E3}"/>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1" name="Text Box 91">
              <a:extLst>
                <a:ext uri="{FF2B5EF4-FFF2-40B4-BE49-F238E27FC236}">
                  <a16:creationId xmlns:a16="http://schemas.microsoft.com/office/drawing/2014/main" id="{38CE901F-DC69-B04B-A0AB-7ABFA3F746E8}"/>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82" name="Text Box 92">
              <a:extLst>
                <a:ext uri="{FF2B5EF4-FFF2-40B4-BE49-F238E27FC236}">
                  <a16:creationId xmlns:a16="http://schemas.microsoft.com/office/drawing/2014/main" id="{DCEF5148-35A9-154E-B0A9-5CC005EBC231}"/>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183" name="Text Box 93">
              <a:extLst>
                <a:ext uri="{FF2B5EF4-FFF2-40B4-BE49-F238E27FC236}">
                  <a16:creationId xmlns:a16="http://schemas.microsoft.com/office/drawing/2014/main" id="{C11B8AAF-A76B-804A-8167-A32505ED162E}"/>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84" name="Text Box 94">
              <a:extLst>
                <a:ext uri="{FF2B5EF4-FFF2-40B4-BE49-F238E27FC236}">
                  <a16:creationId xmlns:a16="http://schemas.microsoft.com/office/drawing/2014/main" id="{EBE07EA5-0C58-754D-8617-4BBB7D8D6DEB}"/>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85" name="Text Box 95">
              <a:extLst>
                <a:ext uri="{FF2B5EF4-FFF2-40B4-BE49-F238E27FC236}">
                  <a16:creationId xmlns:a16="http://schemas.microsoft.com/office/drawing/2014/main" id="{6020F8B2-A224-BA42-AC61-294256B8D8CA}"/>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86" name="Text Box 96">
              <a:extLst>
                <a:ext uri="{FF2B5EF4-FFF2-40B4-BE49-F238E27FC236}">
                  <a16:creationId xmlns:a16="http://schemas.microsoft.com/office/drawing/2014/main" id="{6FCC7A11-23AD-F947-92C3-B7A1571BD803}"/>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187" name="Oval 102">
              <a:extLst>
                <a:ext uri="{FF2B5EF4-FFF2-40B4-BE49-F238E27FC236}">
                  <a16:creationId xmlns:a16="http://schemas.microsoft.com/office/drawing/2014/main" id="{BE907460-4A91-E843-A9DF-89A2AC3DF3C5}"/>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8" name="Oval 103">
              <a:extLst>
                <a:ext uri="{FF2B5EF4-FFF2-40B4-BE49-F238E27FC236}">
                  <a16:creationId xmlns:a16="http://schemas.microsoft.com/office/drawing/2014/main" id="{17192529-58F3-654D-9C1E-97C32018FB07}"/>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9" name="Oval 104">
              <a:extLst>
                <a:ext uri="{FF2B5EF4-FFF2-40B4-BE49-F238E27FC236}">
                  <a16:creationId xmlns:a16="http://schemas.microsoft.com/office/drawing/2014/main" id="{FA633B76-8825-344A-85FA-95BD747C9E5E}"/>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0" name="Oval 105">
              <a:extLst>
                <a:ext uri="{FF2B5EF4-FFF2-40B4-BE49-F238E27FC236}">
                  <a16:creationId xmlns:a16="http://schemas.microsoft.com/office/drawing/2014/main" id="{ABDE5241-023D-4A49-A35B-2F942580AC0D}"/>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1" name="Oval 106">
              <a:extLst>
                <a:ext uri="{FF2B5EF4-FFF2-40B4-BE49-F238E27FC236}">
                  <a16:creationId xmlns:a16="http://schemas.microsoft.com/office/drawing/2014/main" id="{6A714CA7-7FA2-E941-ADFC-C20472CDD53E}"/>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2" name="Oval 107">
              <a:extLst>
                <a:ext uri="{FF2B5EF4-FFF2-40B4-BE49-F238E27FC236}">
                  <a16:creationId xmlns:a16="http://schemas.microsoft.com/office/drawing/2014/main" id="{A2801D20-2AC9-9A43-940E-A5250B34CFA5}"/>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3" name="Oval 108">
              <a:extLst>
                <a:ext uri="{FF2B5EF4-FFF2-40B4-BE49-F238E27FC236}">
                  <a16:creationId xmlns:a16="http://schemas.microsoft.com/office/drawing/2014/main" id="{419C924E-31F6-DF46-BE39-23B39B390589}"/>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4" name="Oval 109">
              <a:extLst>
                <a:ext uri="{FF2B5EF4-FFF2-40B4-BE49-F238E27FC236}">
                  <a16:creationId xmlns:a16="http://schemas.microsoft.com/office/drawing/2014/main" id="{1D0DBA80-F740-8B46-8DB1-EC3C055FA041}"/>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5" name="Oval 110">
              <a:extLst>
                <a:ext uri="{FF2B5EF4-FFF2-40B4-BE49-F238E27FC236}">
                  <a16:creationId xmlns:a16="http://schemas.microsoft.com/office/drawing/2014/main" id="{F72C43C4-A49A-B749-BF5F-814CDA99995D}"/>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6" name="Oval 113">
              <a:extLst>
                <a:ext uri="{FF2B5EF4-FFF2-40B4-BE49-F238E27FC236}">
                  <a16:creationId xmlns:a16="http://schemas.microsoft.com/office/drawing/2014/main" id="{CCF2BABD-B450-BF49-8128-B4ED87E2729F}"/>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7" name="Oval 114">
              <a:extLst>
                <a:ext uri="{FF2B5EF4-FFF2-40B4-BE49-F238E27FC236}">
                  <a16:creationId xmlns:a16="http://schemas.microsoft.com/office/drawing/2014/main" id="{BCD0AABF-2A61-2C41-ABCD-ECAE1A72810E}"/>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8" name="Oval 116">
              <a:extLst>
                <a:ext uri="{FF2B5EF4-FFF2-40B4-BE49-F238E27FC236}">
                  <a16:creationId xmlns:a16="http://schemas.microsoft.com/office/drawing/2014/main" id="{C14B338F-8086-484B-A106-EA684E03B056}"/>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9" name="Oval 117">
              <a:extLst>
                <a:ext uri="{FF2B5EF4-FFF2-40B4-BE49-F238E27FC236}">
                  <a16:creationId xmlns:a16="http://schemas.microsoft.com/office/drawing/2014/main" id="{B8EA0F45-F9E5-CC4C-8A97-76AC5244F982}"/>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0" name="Freeform 118">
              <a:extLst>
                <a:ext uri="{FF2B5EF4-FFF2-40B4-BE49-F238E27FC236}">
                  <a16:creationId xmlns:a16="http://schemas.microsoft.com/office/drawing/2014/main" id="{B0129002-B62B-0248-B3DD-24F9E183D510}"/>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1" name="Text Box 134">
              <a:extLst>
                <a:ext uri="{FF2B5EF4-FFF2-40B4-BE49-F238E27FC236}">
                  <a16:creationId xmlns:a16="http://schemas.microsoft.com/office/drawing/2014/main" id="{8D465F83-2304-E948-937F-41D334FA8C43}"/>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02" name="Text Box 135">
              <a:extLst>
                <a:ext uri="{FF2B5EF4-FFF2-40B4-BE49-F238E27FC236}">
                  <a16:creationId xmlns:a16="http://schemas.microsoft.com/office/drawing/2014/main" id="{F4A3E80E-9FBB-554B-B81D-8A47C491D3AE}"/>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203" name="Text Box 140">
              <a:extLst>
                <a:ext uri="{FF2B5EF4-FFF2-40B4-BE49-F238E27FC236}">
                  <a16:creationId xmlns:a16="http://schemas.microsoft.com/office/drawing/2014/main" id="{43EF6E52-C0EA-2244-90FA-31C77C86936F}"/>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204" name="Line 156">
              <a:extLst>
                <a:ext uri="{FF2B5EF4-FFF2-40B4-BE49-F238E27FC236}">
                  <a16:creationId xmlns:a16="http://schemas.microsoft.com/office/drawing/2014/main" id="{739B9229-8F52-F346-8A77-7A2D48502768}"/>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5" name="Line 146">
              <a:extLst>
                <a:ext uri="{FF2B5EF4-FFF2-40B4-BE49-F238E27FC236}">
                  <a16:creationId xmlns:a16="http://schemas.microsoft.com/office/drawing/2014/main" id="{40E5B96C-E328-3C4C-BFCD-9EE6F026147F}"/>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6" name="Text Box 203">
              <a:extLst>
                <a:ext uri="{FF2B5EF4-FFF2-40B4-BE49-F238E27FC236}">
                  <a16:creationId xmlns:a16="http://schemas.microsoft.com/office/drawing/2014/main" id="{E078A0CE-E07A-3D47-B88E-65ECCFBE176F}"/>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207" name="Text Box 205">
              <a:extLst>
                <a:ext uri="{FF2B5EF4-FFF2-40B4-BE49-F238E27FC236}">
                  <a16:creationId xmlns:a16="http://schemas.microsoft.com/office/drawing/2014/main" id="{0AC2E6E6-8311-7149-9728-8BD99EA574B2}"/>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208" name="Line 215">
              <a:extLst>
                <a:ext uri="{FF2B5EF4-FFF2-40B4-BE49-F238E27FC236}">
                  <a16:creationId xmlns:a16="http://schemas.microsoft.com/office/drawing/2014/main" id="{C30A2077-1435-7144-9FC2-7E5447618DEB}"/>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9" name="Text Box 206">
              <a:extLst>
                <a:ext uri="{FF2B5EF4-FFF2-40B4-BE49-F238E27FC236}">
                  <a16:creationId xmlns:a16="http://schemas.microsoft.com/office/drawing/2014/main" id="{448541E3-C1AC-0246-91EE-9FEFEB666E2B}"/>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10" name="Oval 125">
              <a:extLst>
                <a:ext uri="{FF2B5EF4-FFF2-40B4-BE49-F238E27FC236}">
                  <a16:creationId xmlns:a16="http://schemas.microsoft.com/office/drawing/2014/main" id="{B44AE580-34AF-644C-8A66-9FFA953C0F47}"/>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1" name="Oval 126">
              <a:extLst>
                <a:ext uri="{FF2B5EF4-FFF2-40B4-BE49-F238E27FC236}">
                  <a16:creationId xmlns:a16="http://schemas.microsoft.com/office/drawing/2014/main" id="{B2556D39-C517-4647-AF82-A682637715AD}"/>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2" name="Oval 127">
              <a:extLst>
                <a:ext uri="{FF2B5EF4-FFF2-40B4-BE49-F238E27FC236}">
                  <a16:creationId xmlns:a16="http://schemas.microsoft.com/office/drawing/2014/main" id="{BA44788F-1392-874B-9976-0D78D3D05609}"/>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3" name="Oval 128">
              <a:extLst>
                <a:ext uri="{FF2B5EF4-FFF2-40B4-BE49-F238E27FC236}">
                  <a16:creationId xmlns:a16="http://schemas.microsoft.com/office/drawing/2014/main" id="{C5858069-1637-3241-A1D1-DB090D1EA1F1}"/>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4" name="Oval 129">
              <a:extLst>
                <a:ext uri="{FF2B5EF4-FFF2-40B4-BE49-F238E27FC236}">
                  <a16:creationId xmlns:a16="http://schemas.microsoft.com/office/drawing/2014/main" id="{2EC7D2E2-6FF4-F84B-9582-FEE9BD95BEC7}"/>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5" name="Oval 130">
              <a:extLst>
                <a:ext uri="{FF2B5EF4-FFF2-40B4-BE49-F238E27FC236}">
                  <a16:creationId xmlns:a16="http://schemas.microsoft.com/office/drawing/2014/main" id="{8DFCD6A2-9F1F-064E-A3F9-A9F6FFB14823}"/>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6" name="Oval 131">
              <a:extLst>
                <a:ext uri="{FF2B5EF4-FFF2-40B4-BE49-F238E27FC236}">
                  <a16:creationId xmlns:a16="http://schemas.microsoft.com/office/drawing/2014/main" id="{D6B33D95-A251-C444-B0A7-19449C2DE18B}"/>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7" name="Oval 132">
              <a:extLst>
                <a:ext uri="{FF2B5EF4-FFF2-40B4-BE49-F238E27FC236}">
                  <a16:creationId xmlns:a16="http://schemas.microsoft.com/office/drawing/2014/main" id="{FC7E1FAE-6629-AE4D-BFBE-DEB2B28780BA}"/>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8" name="Line 147">
              <a:extLst>
                <a:ext uri="{FF2B5EF4-FFF2-40B4-BE49-F238E27FC236}">
                  <a16:creationId xmlns:a16="http://schemas.microsoft.com/office/drawing/2014/main" id="{52712441-A744-424B-B37C-C8F6685B759F}"/>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19" name="直接连接符 115">
              <a:extLst>
                <a:ext uri="{FF2B5EF4-FFF2-40B4-BE49-F238E27FC236}">
                  <a16:creationId xmlns:a16="http://schemas.microsoft.com/office/drawing/2014/main" id="{3740A5F9-ADC3-2D4A-8841-453B3EFCD1C0}"/>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20" name="Rectangle 161">
              <a:extLst>
                <a:ext uri="{FF2B5EF4-FFF2-40B4-BE49-F238E27FC236}">
                  <a16:creationId xmlns:a16="http://schemas.microsoft.com/office/drawing/2014/main" id="{8AB1CAB0-1E84-254F-8732-533DF3025676}"/>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221" name="Oval 129">
              <a:extLst>
                <a:ext uri="{FF2B5EF4-FFF2-40B4-BE49-F238E27FC236}">
                  <a16:creationId xmlns:a16="http://schemas.microsoft.com/office/drawing/2014/main" id="{7A171958-7B75-0D4E-812C-EC6C3BF1CA36}"/>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2" name="任意多边形 134">
              <a:extLst>
                <a:ext uri="{FF2B5EF4-FFF2-40B4-BE49-F238E27FC236}">
                  <a16:creationId xmlns:a16="http://schemas.microsoft.com/office/drawing/2014/main" id="{3653FB1C-499E-F04E-AC29-62AFDACBA302}"/>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3" name="Rectangle 161">
              <a:extLst>
                <a:ext uri="{FF2B5EF4-FFF2-40B4-BE49-F238E27FC236}">
                  <a16:creationId xmlns:a16="http://schemas.microsoft.com/office/drawing/2014/main" id="{D18D53F4-02ED-2141-B6BA-16F30909CF54}"/>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224" name="直接连接符 119">
              <a:extLst>
                <a:ext uri="{FF2B5EF4-FFF2-40B4-BE49-F238E27FC236}">
                  <a16:creationId xmlns:a16="http://schemas.microsoft.com/office/drawing/2014/main" id="{77D98CEB-4CBD-0F4E-9803-B8FAFA15AF5B}"/>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25" name="直接连接符 121">
              <a:extLst>
                <a:ext uri="{FF2B5EF4-FFF2-40B4-BE49-F238E27FC236}">
                  <a16:creationId xmlns:a16="http://schemas.microsoft.com/office/drawing/2014/main" id="{11DD52FE-D173-EF4B-A900-474A2C1EDCEF}"/>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26" name="Line 24">
              <a:extLst>
                <a:ext uri="{FF2B5EF4-FFF2-40B4-BE49-F238E27FC236}">
                  <a16:creationId xmlns:a16="http://schemas.microsoft.com/office/drawing/2014/main" id="{1BBBB8D2-083D-5845-96CC-65B1899DEF85}"/>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7" name="Line 22">
              <a:extLst>
                <a:ext uri="{FF2B5EF4-FFF2-40B4-BE49-F238E27FC236}">
                  <a16:creationId xmlns:a16="http://schemas.microsoft.com/office/drawing/2014/main" id="{6849ADB6-FA22-F946-BB4C-3FDFB6F6E99F}"/>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8" name="Text Box 87">
              <a:extLst>
                <a:ext uri="{FF2B5EF4-FFF2-40B4-BE49-F238E27FC236}">
                  <a16:creationId xmlns:a16="http://schemas.microsoft.com/office/drawing/2014/main" id="{15D28240-A864-3840-B3AD-991257A10253}"/>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229" name="Line 22">
              <a:extLst>
                <a:ext uri="{FF2B5EF4-FFF2-40B4-BE49-F238E27FC236}">
                  <a16:creationId xmlns:a16="http://schemas.microsoft.com/office/drawing/2014/main" id="{DEBEBC29-AD22-D747-B8B0-F971520FBD27}"/>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30" name="直接连接符 134">
              <a:extLst>
                <a:ext uri="{FF2B5EF4-FFF2-40B4-BE49-F238E27FC236}">
                  <a16:creationId xmlns:a16="http://schemas.microsoft.com/office/drawing/2014/main" id="{EDE99351-2A83-FC40-B9D9-D30BD5B75C84}"/>
                </a:ext>
              </a:extLst>
            </p:cNvPr>
            <p:cNvCxnSpPr>
              <a:cxnSpLocks noChangeShapeType="1"/>
              <a:stCxn id="222" idx="4"/>
            </p:cNvCxnSpPr>
            <p:nvPr/>
          </p:nvCxnSpPr>
          <p:spPr bwMode="auto">
            <a:xfrm>
              <a:off x="6706617" y="2109019"/>
              <a:ext cx="200025" cy="785812"/>
            </a:xfrm>
            <a:prstGeom prst="line">
              <a:avLst/>
            </a:prstGeom>
            <a:noFill/>
            <a:ln w="19050" algn="ctr">
              <a:solidFill>
                <a:srgbClr val="0000FF"/>
              </a:solidFill>
              <a:round/>
              <a:headEnd/>
              <a:tailEnd/>
            </a:ln>
          </p:spPr>
        </p:cxnSp>
        <p:sp>
          <p:nvSpPr>
            <p:cNvPr id="231" name="Text Box 206">
              <a:extLst>
                <a:ext uri="{FF2B5EF4-FFF2-40B4-BE49-F238E27FC236}">
                  <a16:creationId xmlns:a16="http://schemas.microsoft.com/office/drawing/2014/main" id="{9610DFD7-BF2B-B244-A6A7-B5B1B92E70FD}"/>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2" name="Text Box 206">
              <a:extLst>
                <a:ext uri="{FF2B5EF4-FFF2-40B4-BE49-F238E27FC236}">
                  <a16:creationId xmlns:a16="http://schemas.microsoft.com/office/drawing/2014/main" id="{18D665C7-2A5C-C240-A2C1-C29DA4FDD5F2}"/>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3" name="TextBox 147">
              <a:extLst>
                <a:ext uri="{FF2B5EF4-FFF2-40B4-BE49-F238E27FC236}">
                  <a16:creationId xmlns:a16="http://schemas.microsoft.com/office/drawing/2014/main" id="{B888ED64-5FF2-264E-8BF0-DA0BBC4C473C}"/>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34" name="TextBox 148">
              <a:extLst>
                <a:ext uri="{FF2B5EF4-FFF2-40B4-BE49-F238E27FC236}">
                  <a16:creationId xmlns:a16="http://schemas.microsoft.com/office/drawing/2014/main" id="{108AA0D8-F1A2-5845-B652-AB45F6DBA6D7}"/>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235" name="直接连接符 153">
              <a:extLst>
                <a:ext uri="{FF2B5EF4-FFF2-40B4-BE49-F238E27FC236}">
                  <a16:creationId xmlns:a16="http://schemas.microsoft.com/office/drawing/2014/main" id="{2BFDD820-ED0E-A248-884B-B396BB23730C}"/>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36" name="直接连接符 119">
              <a:extLst>
                <a:ext uri="{FF2B5EF4-FFF2-40B4-BE49-F238E27FC236}">
                  <a16:creationId xmlns:a16="http://schemas.microsoft.com/office/drawing/2014/main" id="{C1F54B9D-149F-4B45-BCD5-5CA6BB37EFBB}"/>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7" name="直接连接符 141">
              <a:extLst>
                <a:ext uri="{FF2B5EF4-FFF2-40B4-BE49-F238E27FC236}">
                  <a16:creationId xmlns:a16="http://schemas.microsoft.com/office/drawing/2014/main" id="{5B9BA68C-0B42-9C47-A98C-98C4D990159A}"/>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238" name="Oval 202">
              <a:extLst>
                <a:ext uri="{FF2B5EF4-FFF2-40B4-BE49-F238E27FC236}">
                  <a16:creationId xmlns:a16="http://schemas.microsoft.com/office/drawing/2014/main" id="{C3620DF2-E566-1343-95CF-F46AEC2E2CBB}"/>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9" name="Oval 130">
              <a:extLst>
                <a:ext uri="{FF2B5EF4-FFF2-40B4-BE49-F238E27FC236}">
                  <a16:creationId xmlns:a16="http://schemas.microsoft.com/office/drawing/2014/main" id="{AE48C8EF-761C-7043-AE37-D3393A1DA3B1}"/>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0" name="Oval 130">
              <a:extLst>
                <a:ext uri="{FF2B5EF4-FFF2-40B4-BE49-F238E27FC236}">
                  <a16:creationId xmlns:a16="http://schemas.microsoft.com/office/drawing/2014/main" id="{47016E97-1BDD-144A-9A6C-D71CDAFFB002}"/>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1" name="TextBox 149">
              <a:extLst>
                <a:ext uri="{FF2B5EF4-FFF2-40B4-BE49-F238E27FC236}">
                  <a16:creationId xmlns:a16="http://schemas.microsoft.com/office/drawing/2014/main" id="{6DE6B106-18F3-664B-9D83-FEE4C68C0A0A}"/>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42" name="Oval 202">
              <a:extLst>
                <a:ext uri="{FF2B5EF4-FFF2-40B4-BE49-F238E27FC236}">
                  <a16:creationId xmlns:a16="http://schemas.microsoft.com/office/drawing/2014/main" id="{4EDF447C-C35C-2E4C-87CC-B8821263CD50}"/>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43" name="直接连接符 126">
              <a:extLst>
                <a:ext uri="{FF2B5EF4-FFF2-40B4-BE49-F238E27FC236}">
                  <a16:creationId xmlns:a16="http://schemas.microsoft.com/office/drawing/2014/main" id="{B9250956-3065-3547-8610-E5C91981E9BD}"/>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44" name="直接连接符 119">
              <a:extLst>
                <a:ext uri="{FF2B5EF4-FFF2-40B4-BE49-F238E27FC236}">
                  <a16:creationId xmlns:a16="http://schemas.microsoft.com/office/drawing/2014/main" id="{C9DEB489-FF01-164C-BF31-596723D65779}"/>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45" name="Text Box 140">
            <a:extLst>
              <a:ext uri="{FF2B5EF4-FFF2-40B4-BE49-F238E27FC236}">
                <a16:creationId xmlns:a16="http://schemas.microsoft.com/office/drawing/2014/main" id="{5976C0C8-DAA2-4043-959D-59E2E4CD689F}"/>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246" name="Line 167">
            <a:extLst>
              <a:ext uri="{FF2B5EF4-FFF2-40B4-BE49-F238E27FC236}">
                <a16:creationId xmlns:a16="http://schemas.microsoft.com/office/drawing/2014/main" id="{90DB7F18-FF66-2248-BCE2-307E36C344C7}"/>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sp>
        <p:nvSpPr>
          <p:cNvPr id="247" name="Line 147">
            <a:extLst>
              <a:ext uri="{FF2B5EF4-FFF2-40B4-BE49-F238E27FC236}">
                <a16:creationId xmlns:a16="http://schemas.microsoft.com/office/drawing/2014/main" id="{9EED689D-BE5D-6F47-8342-6D5B83B53E27}"/>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8" name="Oval 130">
            <a:extLst>
              <a:ext uri="{FF2B5EF4-FFF2-40B4-BE49-F238E27FC236}">
                <a16:creationId xmlns:a16="http://schemas.microsoft.com/office/drawing/2014/main" id="{B8314DA7-4350-1E48-A619-422D532D2E91}"/>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9" name="Text Box 93">
            <a:extLst>
              <a:ext uri="{FF2B5EF4-FFF2-40B4-BE49-F238E27FC236}">
                <a16:creationId xmlns:a16="http://schemas.microsoft.com/office/drawing/2014/main" id="{C3926F0A-CFCF-D64A-BEA3-724033871583}"/>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
        <p:nvSpPr>
          <p:cNvPr id="252" name="Text Box 155">
            <a:extLst>
              <a:ext uri="{FF2B5EF4-FFF2-40B4-BE49-F238E27FC236}">
                <a16:creationId xmlns:a16="http://schemas.microsoft.com/office/drawing/2014/main" id="{021E402B-0356-2C43-97D9-13822CBA56C3}"/>
              </a:ext>
            </a:extLst>
          </p:cNvPr>
          <p:cNvSpPr txBox="1">
            <a:spLocks noChangeArrowheads="1"/>
          </p:cNvSpPr>
          <p:nvPr/>
        </p:nvSpPr>
        <p:spPr bwMode="auto">
          <a:xfrm>
            <a:off x="3381326" y="4725970"/>
            <a:ext cx="632867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，因此拥塞窗口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随着往返时延 </a:t>
            </a:r>
            <a:r>
              <a:rPr lang="en-US" altLang="zh-CN" sz="1600" b="1" dirty="0">
                <a:solidFill>
                  <a:srgbClr val="0000FF"/>
                </a:solidFill>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按指数规律增长。</a:t>
            </a:r>
          </a:p>
        </p:txBody>
      </p:sp>
      <p:sp>
        <p:nvSpPr>
          <p:cNvPr id="253" name="Line 167">
            <a:extLst>
              <a:ext uri="{FF2B5EF4-FFF2-40B4-BE49-F238E27FC236}">
                <a16:creationId xmlns:a16="http://schemas.microsoft.com/office/drawing/2014/main" id="{CA707C8A-CA11-334E-B69C-066754089BE2}"/>
              </a:ext>
            </a:extLst>
          </p:cNvPr>
          <p:cNvSpPr>
            <a:spLocks noChangeShapeType="1"/>
          </p:cNvSpPr>
          <p:nvPr/>
        </p:nvSpPr>
        <p:spPr bwMode="auto">
          <a:xfrm>
            <a:off x="4005522" y="3837366"/>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a:defRPr/>
            </a:pPr>
            <a:endParaRPr lang="zh-CN" altLang="en-US" sz="2400" b="1" kern="0">
              <a:solidFill>
                <a:sysClr val="windowText" lastClr="000000"/>
              </a:solidFill>
              <a:latin typeface="Calibri"/>
              <a:ea typeface="宋体" panose="02010600030101010101" pitchFamily="2" charset="-122"/>
            </a:endParaRPr>
          </a:p>
        </p:txBody>
      </p:sp>
    </p:spTree>
    <p:extLst>
      <p:ext uri="{BB962C8B-B14F-4D97-AF65-F5344CB8AC3E}">
        <p14:creationId xmlns:p14="http://schemas.microsoft.com/office/powerpoint/2010/main" val="9445518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880AD-8151-468C-ED68-7E32B7AD8F37}"/>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20F7E91D-095F-0EF7-C9CA-39390FCCCCBD}"/>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E768F50E-8F66-44BE-1570-36F5C517F43B}"/>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B85BD80D-A845-E598-14A8-E28282D22194}"/>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02DBB40E-3E56-F34C-F889-E4B61A19A122}"/>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F4946A61-C9CD-2DD5-A0F7-FA575C3516E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129" name="组合 128">
            <a:extLst>
              <a:ext uri="{FF2B5EF4-FFF2-40B4-BE49-F238E27FC236}">
                <a16:creationId xmlns:a16="http://schemas.microsoft.com/office/drawing/2014/main" id="{B472D9AD-3D5B-6A76-3805-C26EF4B918C4}"/>
              </a:ext>
            </a:extLst>
          </p:cNvPr>
          <p:cNvGrpSpPr/>
          <p:nvPr/>
        </p:nvGrpSpPr>
        <p:grpSpPr>
          <a:xfrm>
            <a:off x="505664" y="1426139"/>
            <a:ext cx="6645148" cy="525530"/>
            <a:chOff x="722008" y="1303131"/>
            <a:chExt cx="6344982" cy="501792"/>
          </a:xfrm>
        </p:grpSpPr>
        <p:sp>
          <p:nvSpPr>
            <p:cNvPr id="130" name="流程图: 手动输入 6">
              <a:extLst>
                <a:ext uri="{FF2B5EF4-FFF2-40B4-BE49-F238E27FC236}">
                  <a16:creationId xmlns:a16="http://schemas.microsoft.com/office/drawing/2014/main" id="{AF4FC1D9-CCFB-4EC9-AD50-669263E15F3F}"/>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31" name="组合 130">
              <a:extLst>
                <a:ext uri="{FF2B5EF4-FFF2-40B4-BE49-F238E27FC236}">
                  <a16:creationId xmlns:a16="http://schemas.microsoft.com/office/drawing/2014/main" id="{CD00EB35-E693-7E00-35B3-0936F170AEA2}"/>
                </a:ext>
              </a:extLst>
            </p:cNvPr>
            <p:cNvGrpSpPr/>
            <p:nvPr/>
          </p:nvGrpSpPr>
          <p:grpSpPr>
            <a:xfrm>
              <a:off x="722008" y="1303131"/>
              <a:ext cx="546594" cy="475865"/>
              <a:chOff x="708742" y="1296102"/>
              <a:chExt cx="454744" cy="283828"/>
            </a:xfrm>
          </p:grpSpPr>
          <p:sp>
            <p:nvSpPr>
              <p:cNvPr id="133" name="平行四边形 132">
                <a:extLst>
                  <a:ext uri="{FF2B5EF4-FFF2-40B4-BE49-F238E27FC236}">
                    <a16:creationId xmlns:a16="http://schemas.microsoft.com/office/drawing/2014/main" id="{7F2EBF65-71FD-AD78-F804-8021CB55D391}"/>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34" name="平行四边形 133">
                <a:extLst>
                  <a:ext uri="{FF2B5EF4-FFF2-40B4-BE49-F238E27FC236}">
                    <a16:creationId xmlns:a16="http://schemas.microsoft.com/office/drawing/2014/main" id="{9FFC5F41-4B74-4F7D-52AC-56907E4B494F}"/>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32" name="Text Box 79">
              <a:extLst>
                <a:ext uri="{FF2B5EF4-FFF2-40B4-BE49-F238E27FC236}">
                  <a16:creationId xmlns:a16="http://schemas.microsoft.com/office/drawing/2014/main" id="{A6D0049E-1C96-6A79-43CD-9F266E31D0C7}"/>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49" name="灯片编号占位符 48">
            <a:extLst>
              <a:ext uri="{FF2B5EF4-FFF2-40B4-BE49-F238E27FC236}">
                <a16:creationId xmlns:a16="http://schemas.microsoft.com/office/drawing/2014/main" id="{4F43D90C-46D8-45C0-8F27-712A6D4B5D18}"/>
              </a:ext>
            </a:extLst>
          </p:cNvPr>
          <p:cNvSpPr>
            <a:spLocks noGrp="1"/>
          </p:cNvSpPr>
          <p:nvPr>
            <p:ph type="sldNum" sz="quarter" idx="12"/>
          </p:nvPr>
        </p:nvSpPr>
        <p:spPr/>
        <p:txBody>
          <a:bodyPr/>
          <a:lstStyle/>
          <a:p>
            <a:fld id="{5956A083-5018-4B52-82A0-83241B8E3D94}" type="slidenum">
              <a:rPr lang="zh-CN" altLang="en-US" smtClean="0"/>
              <a:t>61</a:t>
            </a:fld>
            <a:endParaRPr lang="zh-CN" altLang="en-US"/>
          </a:p>
        </p:txBody>
      </p:sp>
      <p:sp>
        <p:nvSpPr>
          <p:cNvPr id="137" name="圆角矩形 150">
            <a:extLst>
              <a:ext uri="{FF2B5EF4-FFF2-40B4-BE49-F238E27FC236}">
                <a16:creationId xmlns:a16="http://schemas.microsoft.com/office/drawing/2014/main" id="{0DCADDA9-07EE-504E-B8CC-2B0C7FBB2442}"/>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38" name="组合 137">
            <a:extLst>
              <a:ext uri="{FF2B5EF4-FFF2-40B4-BE49-F238E27FC236}">
                <a16:creationId xmlns:a16="http://schemas.microsoft.com/office/drawing/2014/main" id="{3CC4C380-0122-5144-873C-9C97A0610CB3}"/>
              </a:ext>
            </a:extLst>
          </p:cNvPr>
          <p:cNvGrpSpPr/>
          <p:nvPr/>
        </p:nvGrpSpPr>
        <p:grpSpPr>
          <a:xfrm>
            <a:off x="3043104" y="2417895"/>
            <a:ext cx="6808860" cy="2262108"/>
            <a:chOff x="300646" y="840152"/>
            <a:chExt cx="9638211" cy="3093013"/>
          </a:xfrm>
        </p:grpSpPr>
        <p:sp>
          <p:nvSpPr>
            <p:cNvPr id="139" name="Text Box 140">
              <a:extLst>
                <a:ext uri="{FF2B5EF4-FFF2-40B4-BE49-F238E27FC236}">
                  <a16:creationId xmlns:a16="http://schemas.microsoft.com/office/drawing/2014/main" id="{13E6D497-78D3-4E4A-B985-52647EF92A14}"/>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40" name="Line 2">
              <a:extLst>
                <a:ext uri="{FF2B5EF4-FFF2-40B4-BE49-F238E27FC236}">
                  <a16:creationId xmlns:a16="http://schemas.microsoft.com/office/drawing/2014/main" id="{AABDD8AD-8471-D040-B1A7-21E6D58F95CC}"/>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1" name="Line 3">
              <a:extLst>
                <a:ext uri="{FF2B5EF4-FFF2-40B4-BE49-F238E27FC236}">
                  <a16:creationId xmlns:a16="http://schemas.microsoft.com/office/drawing/2014/main" id="{9E193619-B41C-1841-9D06-1E4D94F03E68}"/>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2" name="Line 4">
              <a:extLst>
                <a:ext uri="{FF2B5EF4-FFF2-40B4-BE49-F238E27FC236}">
                  <a16:creationId xmlns:a16="http://schemas.microsoft.com/office/drawing/2014/main" id="{B2CC96DE-2AD9-1941-A577-0C35A0772037}"/>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3" name="Line 5">
              <a:extLst>
                <a:ext uri="{FF2B5EF4-FFF2-40B4-BE49-F238E27FC236}">
                  <a16:creationId xmlns:a16="http://schemas.microsoft.com/office/drawing/2014/main" id="{40AD6A26-3D87-F348-BDC8-CD7C998F2B80}"/>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4" name="Line 6">
              <a:extLst>
                <a:ext uri="{FF2B5EF4-FFF2-40B4-BE49-F238E27FC236}">
                  <a16:creationId xmlns:a16="http://schemas.microsoft.com/office/drawing/2014/main" id="{8D4E0256-9480-BF43-8D4F-08A15BDA96A4}"/>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5" name="Line 7">
              <a:extLst>
                <a:ext uri="{FF2B5EF4-FFF2-40B4-BE49-F238E27FC236}">
                  <a16:creationId xmlns:a16="http://schemas.microsoft.com/office/drawing/2014/main" id="{625FC7F7-F134-D34F-A967-6C40DA0A68A8}"/>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6" name="Line 8">
              <a:extLst>
                <a:ext uri="{FF2B5EF4-FFF2-40B4-BE49-F238E27FC236}">
                  <a16:creationId xmlns:a16="http://schemas.microsoft.com/office/drawing/2014/main" id="{1C5DBE6E-B245-B94A-BE9F-00F8905370B6}"/>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7" name="Line 9">
              <a:extLst>
                <a:ext uri="{FF2B5EF4-FFF2-40B4-BE49-F238E27FC236}">
                  <a16:creationId xmlns:a16="http://schemas.microsoft.com/office/drawing/2014/main" id="{2BE33ED7-1BE2-C248-A04C-6877BE815ADF}"/>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8" name="Line 10">
              <a:extLst>
                <a:ext uri="{FF2B5EF4-FFF2-40B4-BE49-F238E27FC236}">
                  <a16:creationId xmlns:a16="http://schemas.microsoft.com/office/drawing/2014/main" id="{C5A89F02-B0A6-F44E-8DAA-07F3D9EF7803}"/>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9" name="Line 11">
              <a:extLst>
                <a:ext uri="{FF2B5EF4-FFF2-40B4-BE49-F238E27FC236}">
                  <a16:creationId xmlns:a16="http://schemas.microsoft.com/office/drawing/2014/main" id="{4FC6C955-3406-C041-AD94-4BBA9DA920B0}"/>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0" name="Line 12">
              <a:extLst>
                <a:ext uri="{FF2B5EF4-FFF2-40B4-BE49-F238E27FC236}">
                  <a16:creationId xmlns:a16="http://schemas.microsoft.com/office/drawing/2014/main" id="{9A72A62B-750C-5A49-8B83-358A06155C19}"/>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1" name="Line 13">
              <a:extLst>
                <a:ext uri="{FF2B5EF4-FFF2-40B4-BE49-F238E27FC236}">
                  <a16:creationId xmlns:a16="http://schemas.microsoft.com/office/drawing/2014/main" id="{53BFA0C8-0B55-C441-8225-0DF2C2DC9A28}"/>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2" name="Line 14">
              <a:extLst>
                <a:ext uri="{FF2B5EF4-FFF2-40B4-BE49-F238E27FC236}">
                  <a16:creationId xmlns:a16="http://schemas.microsoft.com/office/drawing/2014/main" id="{27E79E52-4A07-7E4D-92EB-7F0B6774A623}"/>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3" name="Line 15">
              <a:extLst>
                <a:ext uri="{FF2B5EF4-FFF2-40B4-BE49-F238E27FC236}">
                  <a16:creationId xmlns:a16="http://schemas.microsoft.com/office/drawing/2014/main" id="{964D438B-0C48-8140-934F-BCB968E226D7}"/>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4" name="Line 16">
              <a:extLst>
                <a:ext uri="{FF2B5EF4-FFF2-40B4-BE49-F238E27FC236}">
                  <a16:creationId xmlns:a16="http://schemas.microsoft.com/office/drawing/2014/main" id="{98CB43A4-8BD2-AB48-B686-40F6AEE78FF8}"/>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5" name="Line 17">
              <a:extLst>
                <a:ext uri="{FF2B5EF4-FFF2-40B4-BE49-F238E27FC236}">
                  <a16:creationId xmlns:a16="http://schemas.microsoft.com/office/drawing/2014/main" id="{B1C705DA-12BB-7D4C-B663-ADDA50BA5C1E}"/>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6" name="Line 18">
              <a:extLst>
                <a:ext uri="{FF2B5EF4-FFF2-40B4-BE49-F238E27FC236}">
                  <a16:creationId xmlns:a16="http://schemas.microsoft.com/office/drawing/2014/main" id="{82722C6E-9340-CC4E-A858-8104776893D9}"/>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7" name="Line 19">
              <a:extLst>
                <a:ext uri="{FF2B5EF4-FFF2-40B4-BE49-F238E27FC236}">
                  <a16:creationId xmlns:a16="http://schemas.microsoft.com/office/drawing/2014/main" id="{62E24E12-4FB5-7549-B851-0DCC4A9D7E5B}"/>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8" name="Line 20">
              <a:extLst>
                <a:ext uri="{FF2B5EF4-FFF2-40B4-BE49-F238E27FC236}">
                  <a16:creationId xmlns:a16="http://schemas.microsoft.com/office/drawing/2014/main" id="{528DC3D6-DE3C-C040-ABAC-336956CB9289}"/>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9" name="Line 21">
              <a:extLst>
                <a:ext uri="{FF2B5EF4-FFF2-40B4-BE49-F238E27FC236}">
                  <a16:creationId xmlns:a16="http://schemas.microsoft.com/office/drawing/2014/main" id="{17B03E2A-8DE1-0F4E-B0CE-FED3B0E46ED1}"/>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0" name="Line 22">
              <a:extLst>
                <a:ext uri="{FF2B5EF4-FFF2-40B4-BE49-F238E27FC236}">
                  <a16:creationId xmlns:a16="http://schemas.microsoft.com/office/drawing/2014/main" id="{F00C6CBE-149C-C242-8898-D818A5616457}"/>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1" name="Line 23">
              <a:extLst>
                <a:ext uri="{FF2B5EF4-FFF2-40B4-BE49-F238E27FC236}">
                  <a16:creationId xmlns:a16="http://schemas.microsoft.com/office/drawing/2014/main" id="{D67CD823-55AA-C84E-AE4D-7D7234DB1928}"/>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2" name="Line 24">
              <a:extLst>
                <a:ext uri="{FF2B5EF4-FFF2-40B4-BE49-F238E27FC236}">
                  <a16:creationId xmlns:a16="http://schemas.microsoft.com/office/drawing/2014/main" id="{0BEF1026-683F-7C48-996E-DEEA5C97B891}"/>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3" name="Line 25">
              <a:extLst>
                <a:ext uri="{FF2B5EF4-FFF2-40B4-BE49-F238E27FC236}">
                  <a16:creationId xmlns:a16="http://schemas.microsoft.com/office/drawing/2014/main" id="{EC6FDDB1-9F15-064A-8B31-94C9000D1922}"/>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4" name="Line 40">
              <a:extLst>
                <a:ext uri="{FF2B5EF4-FFF2-40B4-BE49-F238E27FC236}">
                  <a16:creationId xmlns:a16="http://schemas.microsoft.com/office/drawing/2014/main" id="{674BDF36-9181-0149-8D1E-77EBD8E4786B}"/>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5" name="Line 41">
              <a:extLst>
                <a:ext uri="{FF2B5EF4-FFF2-40B4-BE49-F238E27FC236}">
                  <a16:creationId xmlns:a16="http://schemas.microsoft.com/office/drawing/2014/main" id="{C896FF10-80B6-B44D-92AF-FDD97BE7BC5E}"/>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6" name="Line 42">
              <a:extLst>
                <a:ext uri="{FF2B5EF4-FFF2-40B4-BE49-F238E27FC236}">
                  <a16:creationId xmlns:a16="http://schemas.microsoft.com/office/drawing/2014/main" id="{EF9E5349-E558-BF4D-89CE-8AB2E1FFE917}"/>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7" name="Line 43">
              <a:extLst>
                <a:ext uri="{FF2B5EF4-FFF2-40B4-BE49-F238E27FC236}">
                  <a16:creationId xmlns:a16="http://schemas.microsoft.com/office/drawing/2014/main" id="{7C4A4BA6-6F8E-014A-B550-3170B634A83D}"/>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8" name="Line 44">
              <a:extLst>
                <a:ext uri="{FF2B5EF4-FFF2-40B4-BE49-F238E27FC236}">
                  <a16:creationId xmlns:a16="http://schemas.microsoft.com/office/drawing/2014/main" id="{1E37BB71-A6F5-2948-B231-27867F7E175E}"/>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9" name="Line 45">
              <a:extLst>
                <a:ext uri="{FF2B5EF4-FFF2-40B4-BE49-F238E27FC236}">
                  <a16:creationId xmlns:a16="http://schemas.microsoft.com/office/drawing/2014/main" id="{183DE0C9-7E22-6D4F-83E4-BD918F6EE40D}"/>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70" name="Text Box 77">
              <a:extLst>
                <a:ext uri="{FF2B5EF4-FFF2-40B4-BE49-F238E27FC236}">
                  <a16:creationId xmlns:a16="http://schemas.microsoft.com/office/drawing/2014/main" id="{851C895B-13F1-724E-8928-2B133CA4EE32}"/>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171" name="Text Box 78">
              <a:extLst>
                <a:ext uri="{FF2B5EF4-FFF2-40B4-BE49-F238E27FC236}">
                  <a16:creationId xmlns:a16="http://schemas.microsoft.com/office/drawing/2014/main" id="{A35E3B72-9B8D-F343-8785-41231AC3FA96}"/>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72" name="Text Box 79">
              <a:extLst>
                <a:ext uri="{FF2B5EF4-FFF2-40B4-BE49-F238E27FC236}">
                  <a16:creationId xmlns:a16="http://schemas.microsoft.com/office/drawing/2014/main" id="{EDB8204B-763C-2A46-9AD9-BE09EB833B49}"/>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173" name="Text Box 80">
              <a:extLst>
                <a:ext uri="{FF2B5EF4-FFF2-40B4-BE49-F238E27FC236}">
                  <a16:creationId xmlns:a16="http://schemas.microsoft.com/office/drawing/2014/main" id="{BD430992-9393-DC48-B69A-EB4F8DE5E3E2}"/>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174" name="Text Box 81">
              <a:extLst>
                <a:ext uri="{FF2B5EF4-FFF2-40B4-BE49-F238E27FC236}">
                  <a16:creationId xmlns:a16="http://schemas.microsoft.com/office/drawing/2014/main" id="{44D40B36-64A4-D74E-87C5-183EAEE602E9}"/>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175" name="Text Box 82">
              <a:extLst>
                <a:ext uri="{FF2B5EF4-FFF2-40B4-BE49-F238E27FC236}">
                  <a16:creationId xmlns:a16="http://schemas.microsoft.com/office/drawing/2014/main" id="{9A671B51-85E3-5F4B-BC79-E44069F89596}"/>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76" name="Text Box 83">
              <a:extLst>
                <a:ext uri="{FF2B5EF4-FFF2-40B4-BE49-F238E27FC236}">
                  <a16:creationId xmlns:a16="http://schemas.microsoft.com/office/drawing/2014/main" id="{21DC291C-2A89-654B-8F50-3F741F2E6889}"/>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177" name="Text Box 84">
              <a:extLst>
                <a:ext uri="{FF2B5EF4-FFF2-40B4-BE49-F238E27FC236}">
                  <a16:creationId xmlns:a16="http://schemas.microsoft.com/office/drawing/2014/main" id="{8AF641C9-8B6A-6749-8E3D-134A98B52D5D}"/>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78" name="Text Box 85">
              <a:extLst>
                <a:ext uri="{FF2B5EF4-FFF2-40B4-BE49-F238E27FC236}">
                  <a16:creationId xmlns:a16="http://schemas.microsoft.com/office/drawing/2014/main" id="{3D9DAB34-9256-BB46-9B75-73FE88323561}"/>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179" name="Text Box 86">
              <a:extLst>
                <a:ext uri="{FF2B5EF4-FFF2-40B4-BE49-F238E27FC236}">
                  <a16:creationId xmlns:a16="http://schemas.microsoft.com/office/drawing/2014/main" id="{013F6C12-51F6-AD44-8911-F478C47F3AD5}"/>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80" name="Text Box 87">
              <a:extLst>
                <a:ext uri="{FF2B5EF4-FFF2-40B4-BE49-F238E27FC236}">
                  <a16:creationId xmlns:a16="http://schemas.microsoft.com/office/drawing/2014/main" id="{C20C8854-CE51-7B40-98EE-B83A1AC8B9DF}"/>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181" name="Text Box 89">
              <a:extLst>
                <a:ext uri="{FF2B5EF4-FFF2-40B4-BE49-F238E27FC236}">
                  <a16:creationId xmlns:a16="http://schemas.microsoft.com/office/drawing/2014/main" id="{69D8B634-C345-AB4F-91D3-0AB9A8B9E519}"/>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2" name="Text Box 90">
              <a:extLst>
                <a:ext uri="{FF2B5EF4-FFF2-40B4-BE49-F238E27FC236}">
                  <a16:creationId xmlns:a16="http://schemas.microsoft.com/office/drawing/2014/main" id="{414F2B56-2F83-DE4D-A990-6A14F7269ADC}"/>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3" name="Text Box 91">
              <a:extLst>
                <a:ext uri="{FF2B5EF4-FFF2-40B4-BE49-F238E27FC236}">
                  <a16:creationId xmlns:a16="http://schemas.microsoft.com/office/drawing/2014/main" id="{BDAA131B-3165-B240-863E-886284846C0E}"/>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84" name="Text Box 92">
              <a:extLst>
                <a:ext uri="{FF2B5EF4-FFF2-40B4-BE49-F238E27FC236}">
                  <a16:creationId xmlns:a16="http://schemas.microsoft.com/office/drawing/2014/main" id="{28D73123-CDB6-CA42-8C07-AAE364708B9A}"/>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185" name="Text Box 93">
              <a:extLst>
                <a:ext uri="{FF2B5EF4-FFF2-40B4-BE49-F238E27FC236}">
                  <a16:creationId xmlns:a16="http://schemas.microsoft.com/office/drawing/2014/main" id="{5E9CF5B7-295F-7143-A233-E4F4C80F6FB7}"/>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86" name="Text Box 94">
              <a:extLst>
                <a:ext uri="{FF2B5EF4-FFF2-40B4-BE49-F238E27FC236}">
                  <a16:creationId xmlns:a16="http://schemas.microsoft.com/office/drawing/2014/main" id="{48C76FE9-1A63-884A-B139-6B9A07C0E349}"/>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87" name="Text Box 95">
              <a:extLst>
                <a:ext uri="{FF2B5EF4-FFF2-40B4-BE49-F238E27FC236}">
                  <a16:creationId xmlns:a16="http://schemas.microsoft.com/office/drawing/2014/main" id="{8E688AF9-E28B-4E4C-8993-19B7CC0624F3}"/>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88" name="Text Box 96">
              <a:extLst>
                <a:ext uri="{FF2B5EF4-FFF2-40B4-BE49-F238E27FC236}">
                  <a16:creationId xmlns:a16="http://schemas.microsoft.com/office/drawing/2014/main" id="{A6E89776-52B8-B644-BC7C-2269D83582A2}"/>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189" name="Oval 102">
              <a:extLst>
                <a:ext uri="{FF2B5EF4-FFF2-40B4-BE49-F238E27FC236}">
                  <a16:creationId xmlns:a16="http://schemas.microsoft.com/office/drawing/2014/main" id="{E2F7B6AD-1B59-BD4E-A473-AB1ED2C45C99}"/>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0" name="Oval 103">
              <a:extLst>
                <a:ext uri="{FF2B5EF4-FFF2-40B4-BE49-F238E27FC236}">
                  <a16:creationId xmlns:a16="http://schemas.microsoft.com/office/drawing/2014/main" id="{5B49154E-59C9-4D43-81B0-8EDF75EF42CE}"/>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1" name="Oval 104">
              <a:extLst>
                <a:ext uri="{FF2B5EF4-FFF2-40B4-BE49-F238E27FC236}">
                  <a16:creationId xmlns:a16="http://schemas.microsoft.com/office/drawing/2014/main" id="{9CB90BA7-A06A-D340-812F-A5F2B7A14048}"/>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2" name="Oval 105">
              <a:extLst>
                <a:ext uri="{FF2B5EF4-FFF2-40B4-BE49-F238E27FC236}">
                  <a16:creationId xmlns:a16="http://schemas.microsoft.com/office/drawing/2014/main" id="{DC8C1B28-D537-9141-81D3-592DA6151F53}"/>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3" name="Oval 106">
              <a:extLst>
                <a:ext uri="{FF2B5EF4-FFF2-40B4-BE49-F238E27FC236}">
                  <a16:creationId xmlns:a16="http://schemas.microsoft.com/office/drawing/2014/main" id="{2BB149D1-F761-E146-80C3-8000D6022D90}"/>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4" name="Oval 107">
              <a:extLst>
                <a:ext uri="{FF2B5EF4-FFF2-40B4-BE49-F238E27FC236}">
                  <a16:creationId xmlns:a16="http://schemas.microsoft.com/office/drawing/2014/main" id="{A3CAD59A-ABE1-234E-A218-81F0B277E083}"/>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5" name="Oval 108">
              <a:extLst>
                <a:ext uri="{FF2B5EF4-FFF2-40B4-BE49-F238E27FC236}">
                  <a16:creationId xmlns:a16="http://schemas.microsoft.com/office/drawing/2014/main" id="{AC163CCD-A654-6C4C-A7BC-F1E08F5BA155}"/>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6" name="Oval 109">
              <a:extLst>
                <a:ext uri="{FF2B5EF4-FFF2-40B4-BE49-F238E27FC236}">
                  <a16:creationId xmlns:a16="http://schemas.microsoft.com/office/drawing/2014/main" id="{E2B0EB37-A6AF-1145-BB85-6F41B61F9DFF}"/>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7" name="Oval 110">
              <a:extLst>
                <a:ext uri="{FF2B5EF4-FFF2-40B4-BE49-F238E27FC236}">
                  <a16:creationId xmlns:a16="http://schemas.microsoft.com/office/drawing/2014/main" id="{D9A19C53-1FF3-1345-8B38-BEBFF5DB22A0}"/>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8" name="Oval 113">
              <a:extLst>
                <a:ext uri="{FF2B5EF4-FFF2-40B4-BE49-F238E27FC236}">
                  <a16:creationId xmlns:a16="http://schemas.microsoft.com/office/drawing/2014/main" id="{C36E6F51-E1F2-AB4C-A8C0-5917B4D42530}"/>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9" name="Oval 114">
              <a:extLst>
                <a:ext uri="{FF2B5EF4-FFF2-40B4-BE49-F238E27FC236}">
                  <a16:creationId xmlns:a16="http://schemas.microsoft.com/office/drawing/2014/main" id="{D787339D-F083-2D4A-90FD-0862AF9387BD}"/>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0" name="Oval 116">
              <a:extLst>
                <a:ext uri="{FF2B5EF4-FFF2-40B4-BE49-F238E27FC236}">
                  <a16:creationId xmlns:a16="http://schemas.microsoft.com/office/drawing/2014/main" id="{E0E7E5CB-36A0-8B4B-A2CA-92202AA2777A}"/>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1" name="Oval 117">
              <a:extLst>
                <a:ext uri="{FF2B5EF4-FFF2-40B4-BE49-F238E27FC236}">
                  <a16:creationId xmlns:a16="http://schemas.microsoft.com/office/drawing/2014/main" id="{A6B9C463-9C1F-494F-813F-D2C02C39BF0C}"/>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2" name="Freeform 118">
              <a:extLst>
                <a:ext uri="{FF2B5EF4-FFF2-40B4-BE49-F238E27FC236}">
                  <a16:creationId xmlns:a16="http://schemas.microsoft.com/office/drawing/2014/main" id="{568F9780-6DA3-AB4E-BE27-4489507AA78F}"/>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3" name="Text Box 134">
              <a:extLst>
                <a:ext uri="{FF2B5EF4-FFF2-40B4-BE49-F238E27FC236}">
                  <a16:creationId xmlns:a16="http://schemas.microsoft.com/office/drawing/2014/main" id="{1C09E913-A3DF-F640-B879-134FE2DDD96F}"/>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04" name="Text Box 135">
              <a:extLst>
                <a:ext uri="{FF2B5EF4-FFF2-40B4-BE49-F238E27FC236}">
                  <a16:creationId xmlns:a16="http://schemas.microsoft.com/office/drawing/2014/main" id="{A980D659-69FE-0E46-8562-67A1F8EA9A5C}"/>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205" name="Text Box 140">
              <a:extLst>
                <a:ext uri="{FF2B5EF4-FFF2-40B4-BE49-F238E27FC236}">
                  <a16:creationId xmlns:a16="http://schemas.microsoft.com/office/drawing/2014/main" id="{23173D6C-647C-BC4D-8DB5-84B318712A6F}"/>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206" name="Line 156">
              <a:extLst>
                <a:ext uri="{FF2B5EF4-FFF2-40B4-BE49-F238E27FC236}">
                  <a16:creationId xmlns:a16="http://schemas.microsoft.com/office/drawing/2014/main" id="{CEE60E3E-EF27-0C43-A60C-9BA871E804D3}"/>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7" name="Line 146">
              <a:extLst>
                <a:ext uri="{FF2B5EF4-FFF2-40B4-BE49-F238E27FC236}">
                  <a16:creationId xmlns:a16="http://schemas.microsoft.com/office/drawing/2014/main" id="{5125FD96-7EBB-E04F-8533-46AAEDC179FD}"/>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8" name="Text Box 203">
              <a:extLst>
                <a:ext uri="{FF2B5EF4-FFF2-40B4-BE49-F238E27FC236}">
                  <a16:creationId xmlns:a16="http://schemas.microsoft.com/office/drawing/2014/main" id="{3D73B6C2-1B74-BF4B-8F01-E72E2EA1E047}"/>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209" name="Text Box 205">
              <a:extLst>
                <a:ext uri="{FF2B5EF4-FFF2-40B4-BE49-F238E27FC236}">
                  <a16:creationId xmlns:a16="http://schemas.microsoft.com/office/drawing/2014/main" id="{86819E18-48CC-3C4C-AA56-A473E4E6FEDA}"/>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210" name="Line 215">
              <a:extLst>
                <a:ext uri="{FF2B5EF4-FFF2-40B4-BE49-F238E27FC236}">
                  <a16:creationId xmlns:a16="http://schemas.microsoft.com/office/drawing/2014/main" id="{86C9B365-E9DA-8642-BC1E-9240D973CEA1}"/>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1" name="Text Box 206">
              <a:extLst>
                <a:ext uri="{FF2B5EF4-FFF2-40B4-BE49-F238E27FC236}">
                  <a16:creationId xmlns:a16="http://schemas.microsoft.com/office/drawing/2014/main" id="{B6C55F01-8163-FE4F-9B39-AFBDD0E875CD}"/>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12" name="Oval 125">
              <a:extLst>
                <a:ext uri="{FF2B5EF4-FFF2-40B4-BE49-F238E27FC236}">
                  <a16:creationId xmlns:a16="http://schemas.microsoft.com/office/drawing/2014/main" id="{E623ED2C-6347-0347-B03E-815F30B7043C}"/>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3" name="Oval 126">
              <a:extLst>
                <a:ext uri="{FF2B5EF4-FFF2-40B4-BE49-F238E27FC236}">
                  <a16:creationId xmlns:a16="http://schemas.microsoft.com/office/drawing/2014/main" id="{33F73E59-1B3D-9B48-9CF4-AAAC380E2A97}"/>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4" name="Oval 127">
              <a:extLst>
                <a:ext uri="{FF2B5EF4-FFF2-40B4-BE49-F238E27FC236}">
                  <a16:creationId xmlns:a16="http://schemas.microsoft.com/office/drawing/2014/main" id="{F0FEF8C9-3F1B-F84E-A24A-A4C7F47FF1CD}"/>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5" name="Oval 128">
              <a:extLst>
                <a:ext uri="{FF2B5EF4-FFF2-40B4-BE49-F238E27FC236}">
                  <a16:creationId xmlns:a16="http://schemas.microsoft.com/office/drawing/2014/main" id="{3B9513C0-13BC-644B-B37A-3312A09E39DB}"/>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6" name="Oval 129">
              <a:extLst>
                <a:ext uri="{FF2B5EF4-FFF2-40B4-BE49-F238E27FC236}">
                  <a16:creationId xmlns:a16="http://schemas.microsoft.com/office/drawing/2014/main" id="{2F632792-004C-3D4B-A12A-C46C4DA2F7D0}"/>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7" name="Oval 130">
              <a:extLst>
                <a:ext uri="{FF2B5EF4-FFF2-40B4-BE49-F238E27FC236}">
                  <a16:creationId xmlns:a16="http://schemas.microsoft.com/office/drawing/2014/main" id="{BA68E975-CDC2-B745-B0B3-A568F08D3201}"/>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8" name="Oval 131">
              <a:extLst>
                <a:ext uri="{FF2B5EF4-FFF2-40B4-BE49-F238E27FC236}">
                  <a16:creationId xmlns:a16="http://schemas.microsoft.com/office/drawing/2014/main" id="{8998FF52-46D3-724F-A7A1-A1FC793AE8F5}"/>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9" name="Oval 132">
              <a:extLst>
                <a:ext uri="{FF2B5EF4-FFF2-40B4-BE49-F238E27FC236}">
                  <a16:creationId xmlns:a16="http://schemas.microsoft.com/office/drawing/2014/main" id="{9B8CE5C4-12DE-4448-BC46-A88966BE1C0E}"/>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0" name="Line 147">
              <a:extLst>
                <a:ext uri="{FF2B5EF4-FFF2-40B4-BE49-F238E27FC236}">
                  <a16:creationId xmlns:a16="http://schemas.microsoft.com/office/drawing/2014/main" id="{EF440A81-7501-4846-BF5F-B75425A31504}"/>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21" name="直接连接符 115">
              <a:extLst>
                <a:ext uri="{FF2B5EF4-FFF2-40B4-BE49-F238E27FC236}">
                  <a16:creationId xmlns:a16="http://schemas.microsoft.com/office/drawing/2014/main" id="{AD354502-C0C0-B94C-9B5C-8D563B5E34DE}"/>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22" name="Rectangle 161">
              <a:extLst>
                <a:ext uri="{FF2B5EF4-FFF2-40B4-BE49-F238E27FC236}">
                  <a16:creationId xmlns:a16="http://schemas.microsoft.com/office/drawing/2014/main" id="{3EEC9318-137D-7141-9FD7-C02D9D0D5698}"/>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223" name="Oval 129">
              <a:extLst>
                <a:ext uri="{FF2B5EF4-FFF2-40B4-BE49-F238E27FC236}">
                  <a16:creationId xmlns:a16="http://schemas.microsoft.com/office/drawing/2014/main" id="{656A7D0F-D3CC-AA40-B9BC-B2C599662338}"/>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4" name="任意多边形 134">
              <a:extLst>
                <a:ext uri="{FF2B5EF4-FFF2-40B4-BE49-F238E27FC236}">
                  <a16:creationId xmlns:a16="http://schemas.microsoft.com/office/drawing/2014/main" id="{A520F09F-672E-8B4B-9F38-8DC5483C980A}"/>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5" name="Rectangle 161">
              <a:extLst>
                <a:ext uri="{FF2B5EF4-FFF2-40B4-BE49-F238E27FC236}">
                  <a16:creationId xmlns:a16="http://schemas.microsoft.com/office/drawing/2014/main" id="{6555D710-6363-E841-8C97-B46568EC89C6}"/>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226" name="直接连接符 119">
              <a:extLst>
                <a:ext uri="{FF2B5EF4-FFF2-40B4-BE49-F238E27FC236}">
                  <a16:creationId xmlns:a16="http://schemas.microsoft.com/office/drawing/2014/main" id="{B28BF339-4C7D-174D-B1CB-C6A41981A9B4}"/>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27" name="直接连接符 121">
              <a:extLst>
                <a:ext uri="{FF2B5EF4-FFF2-40B4-BE49-F238E27FC236}">
                  <a16:creationId xmlns:a16="http://schemas.microsoft.com/office/drawing/2014/main" id="{36D76CF4-CE2A-7944-86FA-319A583D06B2}"/>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28" name="Line 24">
              <a:extLst>
                <a:ext uri="{FF2B5EF4-FFF2-40B4-BE49-F238E27FC236}">
                  <a16:creationId xmlns:a16="http://schemas.microsoft.com/office/drawing/2014/main" id="{2EBB6962-01D2-7E4E-822A-E53548C3057B}"/>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9" name="Line 22">
              <a:extLst>
                <a:ext uri="{FF2B5EF4-FFF2-40B4-BE49-F238E27FC236}">
                  <a16:creationId xmlns:a16="http://schemas.microsoft.com/office/drawing/2014/main" id="{67D074CE-D6D8-5B42-A009-7B013698B04C}"/>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0" name="Text Box 87">
              <a:extLst>
                <a:ext uri="{FF2B5EF4-FFF2-40B4-BE49-F238E27FC236}">
                  <a16:creationId xmlns:a16="http://schemas.microsoft.com/office/drawing/2014/main" id="{91778567-8C5B-2846-9929-DC1C31BA5DE5}"/>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231" name="Line 22">
              <a:extLst>
                <a:ext uri="{FF2B5EF4-FFF2-40B4-BE49-F238E27FC236}">
                  <a16:creationId xmlns:a16="http://schemas.microsoft.com/office/drawing/2014/main" id="{8302D037-440A-9143-892B-1F957532FB74}"/>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32" name="直接连接符 134">
              <a:extLst>
                <a:ext uri="{FF2B5EF4-FFF2-40B4-BE49-F238E27FC236}">
                  <a16:creationId xmlns:a16="http://schemas.microsoft.com/office/drawing/2014/main" id="{F1218786-DBD7-0F41-8089-AE450813F89D}"/>
                </a:ext>
              </a:extLst>
            </p:cNvPr>
            <p:cNvCxnSpPr>
              <a:cxnSpLocks noChangeShapeType="1"/>
              <a:stCxn id="224" idx="4"/>
            </p:cNvCxnSpPr>
            <p:nvPr/>
          </p:nvCxnSpPr>
          <p:spPr bwMode="auto">
            <a:xfrm>
              <a:off x="6706617" y="2109019"/>
              <a:ext cx="200025" cy="785812"/>
            </a:xfrm>
            <a:prstGeom prst="line">
              <a:avLst/>
            </a:prstGeom>
            <a:noFill/>
            <a:ln w="19050" algn="ctr">
              <a:solidFill>
                <a:srgbClr val="0000FF"/>
              </a:solidFill>
              <a:round/>
              <a:headEnd/>
              <a:tailEnd/>
            </a:ln>
          </p:spPr>
        </p:cxnSp>
        <p:sp>
          <p:nvSpPr>
            <p:cNvPr id="233" name="Text Box 206">
              <a:extLst>
                <a:ext uri="{FF2B5EF4-FFF2-40B4-BE49-F238E27FC236}">
                  <a16:creationId xmlns:a16="http://schemas.microsoft.com/office/drawing/2014/main" id="{6F8A58F2-AB5A-4E40-BFD9-07D0065497D5}"/>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4" name="Text Box 206">
              <a:extLst>
                <a:ext uri="{FF2B5EF4-FFF2-40B4-BE49-F238E27FC236}">
                  <a16:creationId xmlns:a16="http://schemas.microsoft.com/office/drawing/2014/main" id="{1F90AC1A-C010-F14D-92AA-61402BCF5E5E}"/>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5" name="TextBox 147">
              <a:extLst>
                <a:ext uri="{FF2B5EF4-FFF2-40B4-BE49-F238E27FC236}">
                  <a16:creationId xmlns:a16="http://schemas.microsoft.com/office/drawing/2014/main" id="{965A8E0C-CDB7-C94F-8343-6B709116EA0E}"/>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36" name="TextBox 148">
              <a:extLst>
                <a:ext uri="{FF2B5EF4-FFF2-40B4-BE49-F238E27FC236}">
                  <a16:creationId xmlns:a16="http://schemas.microsoft.com/office/drawing/2014/main" id="{533E8089-EBC7-C544-B1F2-79DCB77BD083}"/>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237" name="直接连接符 153">
              <a:extLst>
                <a:ext uri="{FF2B5EF4-FFF2-40B4-BE49-F238E27FC236}">
                  <a16:creationId xmlns:a16="http://schemas.microsoft.com/office/drawing/2014/main" id="{AFB3D291-F450-584C-A7E5-A768D6F00F21}"/>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38" name="直接连接符 119">
              <a:extLst>
                <a:ext uri="{FF2B5EF4-FFF2-40B4-BE49-F238E27FC236}">
                  <a16:creationId xmlns:a16="http://schemas.microsoft.com/office/drawing/2014/main" id="{0F002104-ED16-8048-9530-F43FD465C7AA}"/>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9" name="直接连接符 141">
              <a:extLst>
                <a:ext uri="{FF2B5EF4-FFF2-40B4-BE49-F238E27FC236}">
                  <a16:creationId xmlns:a16="http://schemas.microsoft.com/office/drawing/2014/main" id="{0ED56805-8DCC-1946-9D43-D12D4101F31A}"/>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240" name="Oval 202">
              <a:extLst>
                <a:ext uri="{FF2B5EF4-FFF2-40B4-BE49-F238E27FC236}">
                  <a16:creationId xmlns:a16="http://schemas.microsoft.com/office/drawing/2014/main" id="{1726A289-B735-2F48-A6E6-32DB0A727508}"/>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1" name="Oval 130">
              <a:extLst>
                <a:ext uri="{FF2B5EF4-FFF2-40B4-BE49-F238E27FC236}">
                  <a16:creationId xmlns:a16="http://schemas.microsoft.com/office/drawing/2014/main" id="{A79FAF27-8DBF-8F40-882C-5D24688CDF61}"/>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2" name="Oval 130">
              <a:extLst>
                <a:ext uri="{FF2B5EF4-FFF2-40B4-BE49-F238E27FC236}">
                  <a16:creationId xmlns:a16="http://schemas.microsoft.com/office/drawing/2014/main" id="{C3FCBA6C-2B5E-3B4D-A752-889AC6238BB1}"/>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3" name="TextBox 149">
              <a:extLst>
                <a:ext uri="{FF2B5EF4-FFF2-40B4-BE49-F238E27FC236}">
                  <a16:creationId xmlns:a16="http://schemas.microsoft.com/office/drawing/2014/main" id="{1F500ACC-1D1E-694C-A7D9-62964E9245DB}"/>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44" name="Oval 202">
              <a:extLst>
                <a:ext uri="{FF2B5EF4-FFF2-40B4-BE49-F238E27FC236}">
                  <a16:creationId xmlns:a16="http://schemas.microsoft.com/office/drawing/2014/main" id="{BBD0C866-76B0-6C40-A4AD-AD364AF88B9A}"/>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45" name="直接连接符 126">
              <a:extLst>
                <a:ext uri="{FF2B5EF4-FFF2-40B4-BE49-F238E27FC236}">
                  <a16:creationId xmlns:a16="http://schemas.microsoft.com/office/drawing/2014/main" id="{51A52864-B656-6E46-A547-BB8E6D44B060}"/>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46" name="直接连接符 119">
              <a:extLst>
                <a:ext uri="{FF2B5EF4-FFF2-40B4-BE49-F238E27FC236}">
                  <a16:creationId xmlns:a16="http://schemas.microsoft.com/office/drawing/2014/main" id="{BBD16957-34D0-9C49-96FB-E371B4AE106F}"/>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47" name="Text Box 140">
            <a:extLst>
              <a:ext uri="{FF2B5EF4-FFF2-40B4-BE49-F238E27FC236}">
                <a16:creationId xmlns:a16="http://schemas.microsoft.com/office/drawing/2014/main" id="{614DFC6B-2148-E649-92C8-3A14752BCEC3}"/>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248" name="Line 167">
            <a:extLst>
              <a:ext uri="{FF2B5EF4-FFF2-40B4-BE49-F238E27FC236}">
                <a16:creationId xmlns:a16="http://schemas.microsoft.com/office/drawing/2014/main" id="{CE32FBB8-45AB-854D-ACFF-E77EDEF9A7D5}"/>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sp>
        <p:nvSpPr>
          <p:cNvPr id="249" name="Line 147">
            <a:extLst>
              <a:ext uri="{FF2B5EF4-FFF2-40B4-BE49-F238E27FC236}">
                <a16:creationId xmlns:a16="http://schemas.microsoft.com/office/drawing/2014/main" id="{3725F4F7-2BF5-B343-91A9-802E210B5FED}"/>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50" name="Oval 130">
            <a:extLst>
              <a:ext uri="{FF2B5EF4-FFF2-40B4-BE49-F238E27FC236}">
                <a16:creationId xmlns:a16="http://schemas.microsoft.com/office/drawing/2014/main" id="{C1985452-C61E-BA48-AF0D-5ADC1DFEA6EA}"/>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51" name="Text Box 93">
            <a:extLst>
              <a:ext uri="{FF2B5EF4-FFF2-40B4-BE49-F238E27FC236}">
                <a16:creationId xmlns:a16="http://schemas.microsoft.com/office/drawing/2014/main" id="{E6C2EF61-D30B-9C49-BACA-F0485A9C244F}"/>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
        <p:nvSpPr>
          <p:cNvPr id="254" name="Text Box 155">
            <a:extLst>
              <a:ext uri="{FF2B5EF4-FFF2-40B4-BE49-F238E27FC236}">
                <a16:creationId xmlns:a16="http://schemas.microsoft.com/office/drawing/2014/main" id="{947EBC49-107C-B444-B054-55FFE58B2F47}"/>
              </a:ext>
            </a:extLst>
          </p:cNvPr>
          <p:cNvSpPr txBox="1">
            <a:spLocks noChangeArrowheads="1"/>
          </p:cNvSpPr>
          <p:nvPr/>
        </p:nvSpPr>
        <p:spPr bwMode="auto">
          <a:xfrm>
            <a:off x="3381326" y="4722392"/>
            <a:ext cx="632867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，因此拥塞窗口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随着往返时延 </a:t>
            </a:r>
            <a:r>
              <a:rPr lang="en-US" altLang="zh-CN" sz="1600" b="1" dirty="0">
                <a:solidFill>
                  <a:srgbClr val="0000FF"/>
                </a:solidFill>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按指数规律增长。</a:t>
            </a:r>
          </a:p>
        </p:txBody>
      </p:sp>
      <p:sp>
        <p:nvSpPr>
          <p:cNvPr id="255" name="Line 167">
            <a:extLst>
              <a:ext uri="{FF2B5EF4-FFF2-40B4-BE49-F238E27FC236}">
                <a16:creationId xmlns:a16="http://schemas.microsoft.com/office/drawing/2014/main" id="{A68708F9-FDC6-0E4D-8D7B-6BFB3C9206D9}"/>
              </a:ext>
            </a:extLst>
          </p:cNvPr>
          <p:cNvSpPr>
            <a:spLocks noChangeShapeType="1"/>
          </p:cNvSpPr>
          <p:nvPr/>
        </p:nvSpPr>
        <p:spPr bwMode="auto">
          <a:xfrm>
            <a:off x="4160472" y="3569605"/>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a:defRPr/>
            </a:pPr>
            <a:endParaRPr lang="zh-CN" altLang="en-US" sz="2400" b="1" kern="0">
              <a:solidFill>
                <a:sysClr val="windowText" lastClr="000000"/>
              </a:solidFill>
              <a:latin typeface="Calibri"/>
              <a:ea typeface="宋体" panose="02010600030101010101" pitchFamily="2" charset="-122"/>
            </a:endParaRPr>
          </a:p>
        </p:txBody>
      </p:sp>
    </p:spTree>
    <p:extLst>
      <p:ext uri="{BB962C8B-B14F-4D97-AF65-F5344CB8AC3E}">
        <p14:creationId xmlns:p14="http://schemas.microsoft.com/office/powerpoint/2010/main" val="29371720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B523E-9954-DBD5-0B76-5412F3C2F010}"/>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DB047DAF-1CF3-7938-2825-922D7BE19E30}"/>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58475485-1ED2-EF1D-C5DF-6E1FF888F436}"/>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C8191AD1-9E1B-3050-91B5-A5261994B57E}"/>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37A93A72-925D-B576-1D47-CDBA9CDE5830}"/>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DA789C57-136F-E409-181E-9DEEB133A40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2" name="圆角矩形 150">
            <a:extLst>
              <a:ext uri="{FF2B5EF4-FFF2-40B4-BE49-F238E27FC236}">
                <a16:creationId xmlns:a16="http://schemas.microsoft.com/office/drawing/2014/main" id="{E52173E5-B32A-4B63-9683-4C57BBD64038}"/>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 name="Text Box 155">
            <a:extLst>
              <a:ext uri="{FF2B5EF4-FFF2-40B4-BE49-F238E27FC236}">
                <a16:creationId xmlns:a16="http://schemas.microsoft.com/office/drawing/2014/main" id="{6BD7A8C2-83ED-B7D8-17E0-5285FEB17BED}"/>
              </a:ext>
            </a:extLst>
          </p:cNvPr>
          <p:cNvSpPr txBox="1">
            <a:spLocks noChangeArrowheads="1"/>
          </p:cNvSpPr>
          <p:nvPr/>
        </p:nvSpPr>
        <p:spPr bwMode="auto">
          <a:xfrm>
            <a:off x="3381326" y="4722392"/>
            <a:ext cx="579709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增长到慢开始门限值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时，改为执行拥塞避免算法，拥塞窗口按线性规律增长。</a:t>
            </a:r>
          </a:p>
        </p:txBody>
      </p:sp>
      <p:sp>
        <p:nvSpPr>
          <p:cNvPr id="4" name="Line 167">
            <a:extLst>
              <a:ext uri="{FF2B5EF4-FFF2-40B4-BE49-F238E27FC236}">
                <a16:creationId xmlns:a16="http://schemas.microsoft.com/office/drawing/2014/main" id="{31FA8F51-5C5B-9ACF-6EFD-E4034D5E2A6F}"/>
              </a:ext>
            </a:extLst>
          </p:cNvPr>
          <p:cNvSpPr>
            <a:spLocks noChangeShapeType="1"/>
          </p:cNvSpPr>
          <p:nvPr/>
        </p:nvSpPr>
        <p:spPr bwMode="auto">
          <a:xfrm>
            <a:off x="4323125" y="3003088"/>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a:defRPr/>
            </a:pPr>
            <a:endParaRPr lang="zh-CN" altLang="en-US" sz="2400" b="1" kern="0">
              <a:solidFill>
                <a:sysClr val="windowText" lastClr="000000"/>
              </a:solidFill>
              <a:latin typeface="Calibri"/>
              <a:ea typeface="宋体" panose="02010600030101010101" pitchFamily="2" charset="-122"/>
            </a:endParaRPr>
          </a:p>
        </p:txBody>
      </p:sp>
      <p:grpSp>
        <p:nvGrpSpPr>
          <p:cNvPr id="6" name="组合 5">
            <a:extLst>
              <a:ext uri="{FF2B5EF4-FFF2-40B4-BE49-F238E27FC236}">
                <a16:creationId xmlns:a16="http://schemas.microsoft.com/office/drawing/2014/main" id="{ECA0FD1D-A9C4-AD77-F1AF-89A28145F40C}"/>
              </a:ext>
            </a:extLst>
          </p:cNvPr>
          <p:cNvGrpSpPr/>
          <p:nvPr/>
        </p:nvGrpSpPr>
        <p:grpSpPr>
          <a:xfrm>
            <a:off x="3043104" y="2417895"/>
            <a:ext cx="6808860" cy="2262108"/>
            <a:chOff x="300646" y="840152"/>
            <a:chExt cx="9638211" cy="3093013"/>
          </a:xfrm>
        </p:grpSpPr>
        <p:sp>
          <p:nvSpPr>
            <p:cNvPr id="9" name="Text Box 140">
              <a:extLst>
                <a:ext uri="{FF2B5EF4-FFF2-40B4-BE49-F238E27FC236}">
                  <a16:creationId xmlns:a16="http://schemas.microsoft.com/office/drawing/2014/main" id="{B8D18D28-50BF-3E18-C6CE-F9789D01A0B3}"/>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0" name="Line 2">
              <a:extLst>
                <a:ext uri="{FF2B5EF4-FFF2-40B4-BE49-F238E27FC236}">
                  <a16:creationId xmlns:a16="http://schemas.microsoft.com/office/drawing/2014/main" id="{898BA35A-CA85-097F-1470-84F4D2A54E5F}"/>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1" name="Line 3">
              <a:extLst>
                <a:ext uri="{FF2B5EF4-FFF2-40B4-BE49-F238E27FC236}">
                  <a16:creationId xmlns:a16="http://schemas.microsoft.com/office/drawing/2014/main" id="{5758A668-F4DE-8BB2-28CA-774143AD9CA7}"/>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2" name="Line 4">
              <a:extLst>
                <a:ext uri="{FF2B5EF4-FFF2-40B4-BE49-F238E27FC236}">
                  <a16:creationId xmlns:a16="http://schemas.microsoft.com/office/drawing/2014/main" id="{73099413-1680-3E2E-5E53-B55C88389027}"/>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 name="Line 5">
              <a:extLst>
                <a:ext uri="{FF2B5EF4-FFF2-40B4-BE49-F238E27FC236}">
                  <a16:creationId xmlns:a16="http://schemas.microsoft.com/office/drawing/2014/main" id="{192EB3BC-8AB9-D451-2CD2-4747815D1E0C}"/>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 name="Line 6">
              <a:extLst>
                <a:ext uri="{FF2B5EF4-FFF2-40B4-BE49-F238E27FC236}">
                  <a16:creationId xmlns:a16="http://schemas.microsoft.com/office/drawing/2014/main" id="{D428DBE7-CFC5-B717-7748-C6EEDE0AA8E6}"/>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 name="Line 7">
              <a:extLst>
                <a:ext uri="{FF2B5EF4-FFF2-40B4-BE49-F238E27FC236}">
                  <a16:creationId xmlns:a16="http://schemas.microsoft.com/office/drawing/2014/main" id="{669F3153-12EC-096A-DB72-2265C92B3260}"/>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 name="Line 8">
              <a:extLst>
                <a:ext uri="{FF2B5EF4-FFF2-40B4-BE49-F238E27FC236}">
                  <a16:creationId xmlns:a16="http://schemas.microsoft.com/office/drawing/2014/main" id="{EC6861AC-12B2-0E56-349B-8AAB6DFFE13E}"/>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7" name="Line 9">
              <a:extLst>
                <a:ext uri="{FF2B5EF4-FFF2-40B4-BE49-F238E27FC236}">
                  <a16:creationId xmlns:a16="http://schemas.microsoft.com/office/drawing/2014/main" id="{F3BA2C73-136E-4588-32B1-BEAB49AD3382}"/>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 name="Line 10">
              <a:extLst>
                <a:ext uri="{FF2B5EF4-FFF2-40B4-BE49-F238E27FC236}">
                  <a16:creationId xmlns:a16="http://schemas.microsoft.com/office/drawing/2014/main" id="{32A8F755-6067-15A1-C7AA-431FAF1BD68F}"/>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 name="Line 11">
              <a:extLst>
                <a:ext uri="{FF2B5EF4-FFF2-40B4-BE49-F238E27FC236}">
                  <a16:creationId xmlns:a16="http://schemas.microsoft.com/office/drawing/2014/main" id="{7FD37D3A-667A-3B44-0A0C-3C3EBC6DB8B3}"/>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 name="Line 12">
              <a:extLst>
                <a:ext uri="{FF2B5EF4-FFF2-40B4-BE49-F238E27FC236}">
                  <a16:creationId xmlns:a16="http://schemas.microsoft.com/office/drawing/2014/main" id="{94898EC9-472C-5185-5488-CE4C9C81A51B}"/>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 name="Line 13">
              <a:extLst>
                <a:ext uri="{FF2B5EF4-FFF2-40B4-BE49-F238E27FC236}">
                  <a16:creationId xmlns:a16="http://schemas.microsoft.com/office/drawing/2014/main" id="{61504318-E9A6-2BEE-B40A-7EB50D9745C9}"/>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 name="Line 14">
              <a:extLst>
                <a:ext uri="{FF2B5EF4-FFF2-40B4-BE49-F238E27FC236}">
                  <a16:creationId xmlns:a16="http://schemas.microsoft.com/office/drawing/2014/main" id="{574DFE9C-A181-5788-1BB3-C0251B7D04C2}"/>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 name="Line 15">
              <a:extLst>
                <a:ext uri="{FF2B5EF4-FFF2-40B4-BE49-F238E27FC236}">
                  <a16:creationId xmlns:a16="http://schemas.microsoft.com/office/drawing/2014/main" id="{8D14BF44-0D77-E190-AE27-BEEBF1F2B111}"/>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 name="Line 16">
              <a:extLst>
                <a:ext uri="{FF2B5EF4-FFF2-40B4-BE49-F238E27FC236}">
                  <a16:creationId xmlns:a16="http://schemas.microsoft.com/office/drawing/2014/main" id="{DB4ADF1F-28BC-5821-4CBF-572DB9130BCC}"/>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5" name="Line 17">
              <a:extLst>
                <a:ext uri="{FF2B5EF4-FFF2-40B4-BE49-F238E27FC236}">
                  <a16:creationId xmlns:a16="http://schemas.microsoft.com/office/drawing/2014/main" id="{3F7492A2-AA97-6B10-E911-A59838E63B27}"/>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6" name="Line 18">
              <a:extLst>
                <a:ext uri="{FF2B5EF4-FFF2-40B4-BE49-F238E27FC236}">
                  <a16:creationId xmlns:a16="http://schemas.microsoft.com/office/drawing/2014/main" id="{2646A524-28AB-0797-524D-78C4919791EE}"/>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7" name="Line 19">
              <a:extLst>
                <a:ext uri="{FF2B5EF4-FFF2-40B4-BE49-F238E27FC236}">
                  <a16:creationId xmlns:a16="http://schemas.microsoft.com/office/drawing/2014/main" id="{9786FF01-B589-F1AA-F21A-75F69A440EDC}"/>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8" name="Line 20">
              <a:extLst>
                <a:ext uri="{FF2B5EF4-FFF2-40B4-BE49-F238E27FC236}">
                  <a16:creationId xmlns:a16="http://schemas.microsoft.com/office/drawing/2014/main" id="{81B5D4B4-9700-FB4B-886C-B4A11CDFF179}"/>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9" name="Line 21">
              <a:extLst>
                <a:ext uri="{FF2B5EF4-FFF2-40B4-BE49-F238E27FC236}">
                  <a16:creationId xmlns:a16="http://schemas.microsoft.com/office/drawing/2014/main" id="{C7CD6C43-A182-7398-54A2-7E103B254199}"/>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0" name="Line 22">
              <a:extLst>
                <a:ext uri="{FF2B5EF4-FFF2-40B4-BE49-F238E27FC236}">
                  <a16:creationId xmlns:a16="http://schemas.microsoft.com/office/drawing/2014/main" id="{62E90EF7-F66D-D890-FB4B-9065709D05F8}"/>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1" name="Line 23">
              <a:extLst>
                <a:ext uri="{FF2B5EF4-FFF2-40B4-BE49-F238E27FC236}">
                  <a16:creationId xmlns:a16="http://schemas.microsoft.com/office/drawing/2014/main" id="{DFA75635-DDF1-5949-8900-4C62185A3C99}"/>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2" name="Line 24">
              <a:extLst>
                <a:ext uri="{FF2B5EF4-FFF2-40B4-BE49-F238E27FC236}">
                  <a16:creationId xmlns:a16="http://schemas.microsoft.com/office/drawing/2014/main" id="{B8FEB764-4291-8337-8746-5E7AD1B926A3}"/>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3" name="Line 25">
              <a:extLst>
                <a:ext uri="{FF2B5EF4-FFF2-40B4-BE49-F238E27FC236}">
                  <a16:creationId xmlns:a16="http://schemas.microsoft.com/office/drawing/2014/main" id="{CCFAAAF4-CE86-618B-D719-DB7EDCE32DD9}"/>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4" name="Line 40">
              <a:extLst>
                <a:ext uri="{FF2B5EF4-FFF2-40B4-BE49-F238E27FC236}">
                  <a16:creationId xmlns:a16="http://schemas.microsoft.com/office/drawing/2014/main" id="{4FCE69E4-B4B0-E967-ACC1-2E1A21C69F9B}"/>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5" name="Line 41">
              <a:extLst>
                <a:ext uri="{FF2B5EF4-FFF2-40B4-BE49-F238E27FC236}">
                  <a16:creationId xmlns:a16="http://schemas.microsoft.com/office/drawing/2014/main" id="{283A3471-8F39-2525-9204-8D990692A6F2}"/>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6" name="Line 42">
              <a:extLst>
                <a:ext uri="{FF2B5EF4-FFF2-40B4-BE49-F238E27FC236}">
                  <a16:creationId xmlns:a16="http://schemas.microsoft.com/office/drawing/2014/main" id="{419B3405-49C6-8AFE-EDA5-1EE0C1CC938F}"/>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7" name="Line 43">
              <a:extLst>
                <a:ext uri="{FF2B5EF4-FFF2-40B4-BE49-F238E27FC236}">
                  <a16:creationId xmlns:a16="http://schemas.microsoft.com/office/drawing/2014/main" id="{58BC9234-7B23-1576-965B-21714440C47F}"/>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8" name="Line 44">
              <a:extLst>
                <a:ext uri="{FF2B5EF4-FFF2-40B4-BE49-F238E27FC236}">
                  <a16:creationId xmlns:a16="http://schemas.microsoft.com/office/drawing/2014/main" id="{844ED300-DED8-59C8-7B6A-5DB94C55914A}"/>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9" name="Line 45">
              <a:extLst>
                <a:ext uri="{FF2B5EF4-FFF2-40B4-BE49-F238E27FC236}">
                  <a16:creationId xmlns:a16="http://schemas.microsoft.com/office/drawing/2014/main" id="{C6BBB4ED-01CA-F358-880E-26C63D2C47F2}"/>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40" name="Text Box 77">
              <a:extLst>
                <a:ext uri="{FF2B5EF4-FFF2-40B4-BE49-F238E27FC236}">
                  <a16:creationId xmlns:a16="http://schemas.microsoft.com/office/drawing/2014/main" id="{06640232-9AA5-5C55-7909-E93F850D939A}"/>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41" name="Text Box 78">
              <a:extLst>
                <a:ext uri="{FF2B5EF4-FFF2-40B4-BE49-F238E27FC236}">
                  <a16:creationId xmlns:a16="http://schemas.microsoft.com/office/drawing/2014/main" id="{8CEAE9FE-EE44-517A-2F08-4DC1824D19F8}"/>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42" name="Text Box 79">
              <a:extLst>
                <a:ext uri="{FF2B5EF4-FFF2-40B4-BE49-F238E27FC236}">
                  <a16:creationId xmlns:a16="http://schemas.microsoft.com/office/drawing/2014/main" id="{4B418F8F-CB8E-D874-3D00-D1244B004076}"/>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43" name="Text Box 80">
              <a:extLst>
                <a:ext uri="{FF2B5EF4-FFF2-40B4-BE49-F238E27FC236}">
                  <a16:creationId xmlns:a16="http://schemas.microsoft.com/office/drawing/2014/main" id="{93A1532D-9DF7-241B-B418-BA7C10A3E32E}"/>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55" name="Text Box 81">
              <a:extLst>
                <a:ext uri="{FF2B5EF4-FFF2-40B4-BE49-F238E27FC236}">
                  <a16:creationId xmlns:a16="http://schemas.microsoft.com/office/drawing/2014/main" id="{0F6D8338-9F26-0FB2-A04C-14D955DEFB8B}"/>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56" name="Text Box 82">
              <a:extLst>
                <a:ext uri="{FF2B5EF4-FFF2-40B4-BE49-F238E27FC236}">
                  <a16:creationId xmlns:a16="http://schemas.microsoft.com/office/drawing/2014/main" id="{7DF244B8-14F3-80E4-67A7-311E128F35F7}"/>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57" name="Text Box 83">
              <a:extLst>
                <a:ext uri="{FF2B5EF4-FFF2-40B4-BE49-F238E27FC236}">
                  <a16:creationId xmlns:a16="http://schemas.microsoft.com/office/drawing/2014/main" id="{2BE91C00-9C97-8B20-18FB-9AB85A81E1F9}"/>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58" name="Text Box 84">
              <a:extLst>
                <a:ext uri="{FF2B5EF4-FFF2-40B4-BE49-F238E27FC236}">
                  <a16:creationId xmlns:a16="http://schemas.microsoft.com/office/drawing/2014/main" id="{C86DFBF0-9849-6577-D186-B1FDFC541394}"/>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59" name="Text Box 85">
              <a:extLst>
                <a:ext uri="{FF2B5EF4-FFF2-40B4-BE49-F238E27FC236}">
                  <a16:creationId xmlns:a16="http://schemas.microsoft.com/office/drawing/2014/main" id="{CE80BD91-E1DC-B33C-88BE-00F17CD527EC}"/>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60" name="Text Box 86">
              <a:extLst>
                <a:ext uri="{FF2B5EF4-FFF2-40B4-BE49-F238E27FC236}">
                  <a16:creationId xmlns:a16="http://schemas.microsoft.com/office/drawing/2014/main" id="{500F7F28-89FA-7EEB-6D54-0107B8262F6D}"/>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61" name="Text Box 87">
              <a:extLst>
                <a:ext uri="{FF2B5EF4-FFF2-40B4-BE49-F238E27FC236}">
                  <a16:creationId xmlns:a16="http://schemas.microsoft.com/office/drawing/2014/main" id="{236EE634-4318-A495-D03B-7D3E1545EAF5}"/>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62" name="Text Box 89">
              <a:extLst>
                <a:ext uri="{FF2B5EF4-FFF2-40B4-BE49-F238E27FC236}">
                  <a16:creationId xmlns:a16="http://schemas.microsoft.com/office/drawing/2014/main" id="{6F12F626-8E1F-D40F-CD66-DDD88B157A0B}"/>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63" name="Text Box 90">
              <a:extLst>
                <a:ext uri="{FF2B5EF4-FFF2-40B4-BE49-F238E27FC236}">
                  <a16:creationId xmlns:a16="http://schemas.microsoft.com/office/drawing/2014/main" id="{A138FFBC-CBFE-82C6-D6EC-3F960DEAD8F5}"/>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64" name="Text Box 91">
              <a:extLst>
                <a:ext uri="{FF2B5EF4-FFF2-40B4-BE49-F238E27FC236}">
                  <a16:creationId xmlns:a16="http://schemas.microsoft.com/office/drawing/2014/main" id="{AC28676D-BA68-D00D-8E57-7263154FA033}"/>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65" name="Text Box 92">
              <a:extLst>
                <a:ext uri="{FF2B5EF4-FFF2-40B4-BE49-F238E27FC236}">
                  <a16:creationId xmlns:a16="http://schemas.microsoft.com/office/drawing/2014/main" id="{75D9F177-6A22-3715-AA4C-3B757AE5D8F3}"/>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66" name="Text Box 93">
              <a:extLst>
                <a:ext uri="{FF2B5EF4-FFF2-40B4-BE49-F238E27FC236}">
                  <a16:creationId xmlns:a16="http://schemas.microsoft.com/office/drawing/2014/main" id="{CD404A5E-C943-E564-20DB-9FDB44EC3223}"/>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67" name="Text Box 94">
              <a:extLst>
                <a:ext uri="{FF2B5EF4-FFF2-40B4-BE49-F238E27FC236}">
                  <a16:creationId xmlns:a16="http://schemas.microsoft.com/office/drawing/2014/main" id="{51B47F43-011F-B7B4-8BD1-7DF8CD213FFD}"/>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68" name="Text Box 95">
              <a:extLst>
                <a:ext uri="{FF2B5EF4-FFF2-40B4-BE49-F238E27FC236}">
                  <a16:creationId xmlns:a16="http://schemas.microsoft.com/office/drawing/2014/main" id="{121D998E-0CF3-FDB1-D885-08685DA2A6D5}"/>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69" name="Text Box 96">
              <a:extLst>
                <a:ext uri="{FF2B5EF4-FFF2-40B4-BE49-F238E27FC236}">
                  <a16:creationId xmlns:a16="http://schemas.microsoft.com/office/drawing/2014/main" id="{47CDCB97-670E-F8B1-C64C-26CBFC44FE6E}"/>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70" name="Oval 102">
              <a:extLst>
                <a:ext uri="{FF2B5EF4-FFF2-40B4-BE49-F238E27FC236}">
                  <a16:creationId xmlns:a16="http://schemas.microsoft.com/office/drawing/2014/main" id="{985A13A2-C860-2CDD-27F9-5991B1C03FCB}"/>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1" name="Oval 103">
              <a:extLst>
                <a:ext uri="{FF2B5EF4-FFF2-40B4-BE49-F238E27FC236}">
                  <a16:creationId xmlns:a16="http://schemas.microsoft.com/office/drawing/2014/main" id="{555A8BDE-919E-D17A-9807-1B47B4195F6D}"/>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2" name="Oval 104">
              <a:extLst>
                <a:ext uri="{FF2B5EF4-FFF2-40B4-BE49-F238E27FC236}">
                  <a16:creationId xmlns:a16="http://schemas.microsoft.com/office/drawing/2014/main" id="{15C011DE-6E05-20F8-1B2C-BD9C20E71BEC}"/>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3" name="Oval 105">
              <a:extLst>
                <a:ext uri="{FF2B5EF4-FFF2-40B4-BE49-F238E27FC236}">
                  <a16:creationId xmlns:a16="http://schemas.microsoft.com/office/drawing/2014/main" id="{85DE557D-36CC-6B56-AFC9-248116005CD2}"/>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4" name="Oval 106">
              <a:extLst>
                <a:ext uri="{FF2B5EF4-FFF2-40B4-BE49-F238E27FC236}">
                  <a16:creationId xmlns:a16="http://schemas.microsoft.com/office/drawing/2014/main" id="{96A08EA7-1A3E-22E8-BD1B-CBB20E4E634E}"/>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5" name="Oval 107">
              <a:extLst>
                <a:ext uri="{FF2B5EF4-FFF2-40B4-BE49-F238E27FC236}">
                  <a16:creationId xmlns:a16="http://schemas.microsoft.com/office/drawing/2014/main" id="{745300C2-38A0-795C-CF5B-12BE75358558}"/>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6" name="Oval 108">
              <a:extLst>
                <a:ext uri="{FF2B5EF4-FFF2-40B4-BE49-F238E27FC236}">
                  <a16:creationId xmlns:a16="http://schemas.microsoft.com/office/drawing/2014/main" id="{2212E5F1-B3A3-1F6D-FA97-DA3BCDCFD13B}"/>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7" name="Oval 109">
              <a:extLst>
                <a:ext uri="{FF2B5EF4-FFF2-40B4-BE49-F238E27FC236}">
                  <a16:creationId xmlns:a16="http://schemas.microsoft.com/office/drawing/2014/main" id="{2FE79B18-17DD-F9AD-E21D-39220EBD7AC9}"/>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8" name="Oval 110">
              <a:extLst>
                <a:ext uri="{FF2B5EF4-FFF2-40B4-BE49-F238E27FC236}">
                  <a16:creationId xmlns:a16="http://schemas.microsoft.com/office/drawing/2014/main" id="{1DEA1376-A203-D40D-DF83-8D18C5E42E89}"/>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9" name="Oval 113">
              <a:extLst>
                <a:ext uri="{FF2B5EF4-FFF2-40B4-BE49-F238E27FC236}">
                  <a16:creationId xmlns:a16="http://schemas.microsoft.com/office/drawing/2014/main" id="{831E1DE4-70E3-6BB6-45B0-03537DF82429}"/>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0" name="Oval 114">
              <a:extLst>
                <a:ext uri="{FF2B5EF4-FFF2-40B4-BE49-F238E27FC236}">
                  <a16:creationId xmlns:a16="http://schemas.microsoft.com/office/drawing/2014/main" id="{DFEBCC85-585F-774B-B670-005EB50A25D8}"/>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1" name="Oval 116">
              <a:extLst>
                <a:ext uri="{FF2B5EF4-FFF2-40B4-BE49-F238E27FC236}">
                  <a16:creationId xmlns:a16="http://schemas.microsoft.com/office/drawing/2014/main" id="{8BA2A54A-EEBA-B4DE-ECEC-7A2D98F88B3E}"/>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2" name="Oval 117">
              <a:extLst>
                <a:ext uri="{FF2B5EF4-FFF2-40B4-BE49-F238E27FC236}">
                  <a16:creationId xmlns:a16="http://schemas.microsoft.com/office/drawing/2014/main" id="{A2EA7BA8-3297-642A-16D4-F01137E836FD}"/>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3" name="Freeform 118">
              <a:extLst>
                <a:ext uri="{FF2B5EF4-FFF2-40B4-BE49-F238E27FC236}">
                  <a16:creationId xmlns:a16="http://schemas.microsoft.com/office/drawing/2014/main" id="{0BC88EBF-A9B3-E6C8-BCAA-FD05C9768DB9}"/>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4" name="Text Box 134">
              <a:extLst>
                <a:ext uri="{FF2B5EF4-FFF2-40B4-BE49-F238E27FC236}">
                  <a16:creationId xmlns:a16="http://schemas.microsoft.com/office/drawing/2014/main" id="{369C5519-2F46-0D42-333C-108D95213794}"/>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85" name="Text Box 135">
              <a:extLst>
                <a:ext uri="{FF2B5EF4-FFF2-40B4-BE49-F238E27FC236}">
                  <a16:creationId xmlns:a16="http://schemas.microsoft.com/office/drawing/2014/main" id="{F77E72BA-A1CA-ED38-F78A-5A937890335A}"/>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86" name="Text Box 140">
              <a:extLst>
                <a:ext uri="{FF2B5EF4-FFF2-40B4-BE49-F238E27FC236}">
                  <a16:creationId xmlns:a16="http://schemas.microsoft.com/office/drawing/2014/main" id="{2E331C7F-FB6E-F458-3560-53DC49F745F1}"/>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87" name="Line 156">
              <a:extLst>
                <a:ext uri="{FF2B5EF4-FFF2-40B4-BE49-F238E27FC236}">
                  <a16:creationId xmlns:a16="http://schemas.microsoft.com/office/drawing/2014/main" id="{60B2E470-CEC8-F7B2-697F-DCABAA290366}"/>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8" name="Line 146">
              <a:extLst>
                <a:ext uri="{FF2B5EF4-FFF2-40B4-BE49-F238E27FC236}">
                  <a16:creationId xmlns:a16="http://schemas.microsoft.com/office/drawing/2014/main" id="{C869B347-6544-30C5-1DAE-C1AB49A37A50}"/>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9" name="Text Box 203">
              <a:extLst>
                <a:ext uri="{FF2B5EF4-FFF2-40B4-BE49-F238E27FC236}">
                  <a16:creationId xmlns:a16="http://schemas.microsoft.com/office/drawing/2014/main" id="{C6A5CCF9-727B-38C6-3E6B-49BEB761F01A}"/>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90" name="Text Box 205">
              <a:extLst>
                <a:ext uri="{FF2B5EF4-FFF2-40B4-BE49-F238E27FC236}">
                  <a16:creationId xmlns:a16="http://schemas.microsoft.com/office/drawing/2014/main" id="{40779B1E-046E-2A69-C522-F8CD3A452AA2}"/>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91" name="Line 215">
              <a:extLst>
                <a:ext uri="{FF2B5EF4-FFF2-40B4-BE49-F238E27FC236}">
                  <a16:creationId xmlns:a16="http://schemas.microsoft.com/office/drawing/2014/main" id="{6DE540CC-15F7-E4A5-E72A-D6CBAB3BEF6A}"/>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2" name="Text Box 206">
              <a:extLst>
                <a:ext uri="{FF2B5EF4-FFF2-40B4-BE49-F238E27FC236}">
                  <a16:creationId xmlns:a16="http://schemas.microsoft.com/office/drawing/2014/main" id="{E0E3BC0B-D0B9-2DEC-D70D-31DF720C4C2A}"/>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93" name="Oval 125">
              <a:extLst>
                <a:ext uri="{FF2B5EF4-FFF2-40B4-BE49-F238E27FC236}">
                  <a16:creationId xmlns:a16="http://schemas.microsoft.com/office/drawing/2014/main" id="{C4C07D89-1089-9C61-C5C3-8C35EDC27C1E}"/>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4" name="Oval 126">
              <a:extLst>
                <a:ext uri="{FF2B5EF4-FFF2-40B4-BE49-F238E27FC236}">
                  <a16:creationId xmlns:a16="http://schemas.microsoft.com/office/drawing/2014/main" id="{CDAA5AA2-F156-7922-384F-55A040ACB611}"/>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5" name="Oval 127">
              <a:extLst>
                <a:ext uri="{FF2B5EF4-FFF2-40B4-BE49-F238E27FC236}">
                  <a16:creationId xmlns:a16="http://schemas.microsoft.com/office/drawing/2014/main" id="{3A9B164F-F936-6E21-D749-EA2F3D815D4D}"/>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6" name="Oval 128">
              <a:extLst>
                <a:ext uri="{FF2B5EF4-FFF2-40B4-BE49-F238E27FC236}">
                  <a16:creationId xmlns:a16="http://schemas.microsoft.com/office/drawing/2014/main" id="{DA8629E6-55FB-D9BC-3F0A-177D1EB46245}"/>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7" name="Oval 129">
              <a:extLst>
                <a:ext uri="{FF2B5EF4-FFF2-40B4-BE49-F238E27FC236}">
                  <a16:creationId xmlns:a16="http://schemas.microsoft.com/office/drawing/2014/main" id="{1143C820-3DBF-22FC-2842-D15A1D395972}"/>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8" name="Oval 130">
              <a:extLst>
                <a:ext uri="{FF2B5EF4-FFF2-40B4-BE49-F238E27FC236}">
                  <a16:creationId xmlns:a16="http://schemas.microsoft.com/office/drawing/2014/main" id="{26181982-847E-D105-CD32-B4AAAB02B26B}"/>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9" name="Oval 131">
              <a:extLst>
                <a:ext uri="{FF2B5EF4-FFF2-40B4-BE49-F238E27FC236}">
                  <a16:creationId xmlns:a16="http://schemas.microsoft.com/office/drawing/2014/main" id="{042C6DD7-0DE4-709E-3283-51D778985F50}"/>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00" name="Oval 132">
              <a:extLst>
                <a:ext uri="{FF2B5EF4-FFF2-40B4-BE49-F238E27FC236}">
                  <a16:creationId xmlns:a16="http://schemas.microsoft.com/office/drawing/2014/main" id="{EA3DA827-A023-6D27-B5C1-3E1AFB6C7D7D}"/>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01" name="Line 147">
              <a:extLst>
                <a:ext uri="{FF2B5EF4-FFF2-40B4-BE49-F238E27FC236}">
                  <a16:creationId xmlns:a16="http://schemas.microsoft.com/office/drawing/2014/main" id="{AD915993-8C8F-715D-74D6-0CE64A941584}"/>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102" name="直接连接符 115">
              <a:extLst>
                <a:ext uri="{FF2B5EF4-FFF2-40B4-BE49-F238E27FC236}">
                  <a16:creationId xmlns:a16="http://schemas.microsoft.com/office/drawing/2014/main" id="{58D6A02B-F468-ED35-2DC1-23A3B8B4E22C}"/>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103" name="Rectangle 161">
              <a:extLst>
                <a:ext uri="{FF2B5EF4-FFF2-40B4-BE49-F238E27FC236}">
                  <a16:creationId xmlns:a16="http://schemas.microsoft.com/office/drawing/2014/main" id="{91482BCB-3FF9-ED0D-5885-AA12620C6BE5}"/>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104" name="Oval 129">
              <a:extLst>
                <a:ext uri="{FF2B5EF4-FFF2-40B4-BE49-F238E27FC236}">
                  <a16:creationId xmlns:a16="http://schemas.microsoft.com/office/drawing/2014/main" id="{5ED4A374-F434-84B6-8CF2-96C98651532D}"/>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05" name="任意多边形 134">
              <a:extLst>
                <a:ext uri="{FF2B5EF4-FFF2-40B4-BE49-F238E27FC236}">
                  <a16:creationId xmlns:a16="http://schemas.microsoft.com/office/drawing/2014/main" id="{D3B09FF9-97F6-F823-A872-5DF6CCB54720}"/>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06" name="Rectangle 161">
              <a:extLst>
                <a:ext uri="{FF2B5EF4-FFF2-40B4-BE49-F238E27FC236}">
                  <a16:creationId xmlns:a16="http://schemas.microsoft.com/office/drawing/2014/main" id="{F2FAF482-019C-6124-6A55-A9FE9EC3A47E}"/>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107" name="直接连接符 119">
              <a:extLst>
                <a:ext uri="{FF2B5EF4-FFF2-40B4-BE49-F238E27FC236}">
                  <a16:creationId xmlns:a16="http://schemas.microsoft.com/office/drawing/2014/main" id="{066DD25D-3A1E-53E8-9D4D-C2AD64FFA843}"/>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108" name="直接连接符 121">
              <a:extLst>
                <a:ext uri="{FF2B5EF4-FFF2-40B4-BE49-F238E27FC236}">
                  <a16:creationId xmlns:a16="http://schemas.microsoft.com/office/drawing/2014/main" id="{E269AC53-ACA6-0DAB-560D-FF0EEB5E8828}"/>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110" name="Line 24">
              <a:extLst>
                <a:ext uri="{FF2B5EF4-FFF2-40B4-BE49-F238E27FC236}">
                  <a16:creationId xmlns:a16="http://schemas.microsoft.com/office/drawing/2014/main" id="{188E4799-EF15-5F9E-29D2-D52690456B30}"/>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11" name="Line 22">
              <a:extLst>
                <a:ext uri="{FF2B5EF4-FFF2-40B4-BE49-F238E27FC236}">
                  <a16:creationId xmlns:a16="http://schemas.microsoft.com/office/drawing/2014/main" id="{2A473B94-F40C-EF69-901D-1D768AFBA5D2}"/>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12" name="Text Box 87">
              <a:extLst>
                <a:ext uri="{FF2B5EF4-FFF2-40B4-BE49-F238E27FC236}">
                  <a16:creationId xmlns:a16="http://schemas.microsoft.com/office/drawing/2014/main" id="{71997FF9-5A3B-66CF-535E-59BE7260221B}"/>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113" name="Line 22">
              <a:extLst>
                <a:ext uri="{FF2B5EF4-FFF2-40B4-BE49-F238E27FC236}">
                  <a16:creationId xmlns:a16="http://schemas.microsoft.com/office/drawing/2014/main" id="{ABD7D963-6357-D481-0915-0D4E36BFA951}"/>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114" name="直接连接符 134">
              <a:extLst>
                <a:ext uri="{FF2B5EF4-FFF2-40B4-BE49-F238E27FC236}">
                  <a16:creationId xmlns:a16="http://schemas.microsoft.com/office/drawing/2014/main" id="{9F9B9EE6-D7BF-2C22-BC29-67516F4CF430}"/>
                </a:ext>
              </a:extLst>
            </p:cNvPr>
            <p:cNvCxnSpPr>
              <a:cxnSpLocks noChangeShapeType="1"/>
              <a:stCxn id="105" idx="4"/>
            </p:cNvCxnSpPr>
            <p:nvPr/>
          </p:nvCxnSpPr>
          <p:spPr bwMode="auto">
            <a:xfrm>
              <a:off x="6706617" y="2109019"/>
              <a:ext cx="200025" cy="785812"/>
            </a:xfrm>
            <a:prstGeom prst="line">
              <a:avLst/>
            </a:prstGeom>
            <a:noFill/>
            <a:ln w="19050" algn="ctr">
              <a:solidFill>
                <a:srgbClr val="0000FF"/>
              </a:solidFill>
              <a:round/>
              <a:headEnd/>
              <a:tailEnd/>
            </a:ln>
          </p:spPr>
        </p:cxnSp>
        <p:sp>
          <p:nvSpPr>
            <p:cNvPr id="115" name="Text Box 206">
              <a:extLst>
                <a:ext uri="{FF2B5EF4-FFF2-40B4-BE49-F238E27FC236}">
                  <a16:creationId xmlns:a16="http://schemas.microsoft.com/office/drawing/2014/main" id="{D330FAAE-7F5B-6838-6591-87716BF22CB0}"/>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116" name="Text Box 206">
              <a:extLst>
                <a:ext uri="{FF2B5EF4-FFF2-40B4-BE49-F238E27FC236}">
                  <a16:creationId xmlns:a16="http://schemas.microsoft.com/office/drawing/2014/main" id="{6FB987DC-6D3E-C3E3-6C2F-A3881472D8D1}"/>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117" name="TextBox 147">
              <a:extLst>
                <a:ext uri="{FF2B5EF4-FFF2-40B4-BE49-F238E27FC236}">
                  <a16:creationId xmlns:a16="http://schemas.microsoft.com/office/drawing/2014/main" id="{F344ED03-0DEC-8580-BC9E-6F8A12C8C0AD}"/>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118" name="TextBox 148">
              <a:extLst>
                <a:ext uri="{FF2B5EF4-FFF2-40B4-BE49-F238E27FC236}">
                  <a16:creationId xmlns:a16="http://schemas.microsoft.com/office/drawing/2014/main" id="{5D6C2FE7-1350-1558-F4FC-E09051C7CFB3}"/>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119" name="直接连接符 153">
              <a:extLst>
                <a:ext uri="{FF2B5EF4-FFF2-40B4-BE49-F238E27FC236}">
                  <a16:creationId xmlns:a16="http://schemas.microsoft.com/office/drawing/2014/main" id="{48008D92-3238-5B65-664D-44D16E2FA044}"/>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120" name="直接连接符 119">
              <a:extLst>
                <a:ext uri="{FF2B5EF4-FFF2-40B4-BE49-F238E27FC236}">
                  <a16:creationId xmlns:a16="http://schemas.microsoft.com/office/drawing/2014/main" id="{C546507D-7773-BD33-D737-77C762D01031}"/>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121" name="直接连接符 141">
              <a:extLst>
                <a:ext uri="{FF2B5EF4-FFF2-40B4-BE49-F238E27FC236}">
                  <a16:creationId xmlns:a16="http://schemas.microsoft.com/office/drawing/2014/main" id="{55B9EBD6-A409-583C-F232-EF63A1BEFC3B}"/>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122" name="Oval 202">
              <a:extLst>
                <a:ext uri="{FF2B5EF4-FFF2-40B4-BE49-F238E27FC236}">
                  <a16:creationId xmlns:a16="http://schemas.microsoft.com/office/drawing/2014/main" id="{15B60F99-CF02-4CE4-C482-65690029E129}"/>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23" name="Oval 130">
              <a:extLst>
                <a:ext uri="{FF2B5EF4-FFF2-40B4-BE49-F238E27FC236}">
                  <a16:creationId xmlns:a16="http://schemas.microsoft.com/office/drawing/2014/main" id="{91F85B9B-C50B-EC91-1C30-86E8430D4230}"/>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24" name="Oval 130">
              <a:extLst>
                <a:ext uri="{FF2B5EF4-FFF2-40B4-BE49-F238E27FC236}">
                  <a16:creationId xmlns:a16="http://schemas.microsoft.com/office/drawing/2014/main" id="{BB5A2574-8E02-2DA2-7EC7-9A217D48FEEB}"/>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25" name="TextBox 149">
              <a:extLst>
                <a:ext uri="{FF2B5EF4-FFF2-40B4-BE49-F238E27FC236}">
                  <a16:creationId xmlns:a16="http://schemas.microsoft.com/office/drawing/2014/main" id="{79BCD426-13A3-14B9-0C9C-5909A8E607B5}"/>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126" name="Oval 202">
              <a:extLst>
                <a:ext uri="{FF2B5EF4-FFF2-40B4-BE49-F238E27FC236}">
                  <a16:creationId xmlns:a16="http://schemas.microsoft.com/office/drawing/2014/main" id="{4D64B193-9C75-052A-40B8-2140219D23D2}"/>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127" name="直接连接符 126">
              <a:extLst>
                <a:ext uri="{FF2B5EF4-FFF2-40B4-BE49-F238E27FC236}">
                  <a16:creationId xmlns:a16="http://schemas.microsoft.com/office/drawing/2014/main" id="{98E10D46-8FD4-4842-7B34-C56550D4EAA7}"/>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28" name="直接连接符 119">
              <a:extLst>
                <a:ext uri="{FF2B5EF4-FFF2-40B4-BE49-F238E27FC236}">
                  <a16:creationId xmlns:a16="http://schemas.microsoft.com/office/drawing/2014/main" id="{BE0150C9-4DE2-B3F0-21E2-BD684501C926}"/>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7" name="Text Box 140">
            <a:extLst>
              <a:ext uri="{FF2B5EF4-FFF2-40B4-BE49-F238E27FC236}">
                <a16:creationId xmlns:a16="http://schemas.microsoft.com/office/drawing/2014/main" id="{7974E251-63E9-EB16-1B80-6309DA95F45D}"/>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8" name="Line 167">
            <a:extLst>
              <a:ext uri="{FF2B5EF4-FFF2-40B4-BE49-F238E27FC236}">
                <a16:creationId xmlns:a16="http://schemas.microsoft.com/office/drawing/2014/main" id="{2A0680EA-21A3-93D0-48DB-B5BB13405B73}"/>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grpSp>
        <p:nvGrpSpPr>
          <p:cNvPr id="129" name="组合 128">
            <a:extLst>
              <a:ext uri="{FF2B5EF4-FFF2-40B4-BE49-F238E27FC236}">
                <a16:creationId xmlns:a16="http://schemas.microsoft.com/office/drawing/2014/main" id="{9C0BB9A7-C0F9-3401-F50F-F51DA031B3EF}"/>
              </a:ext>
            </a:extLst>
          </p:cNvPr>
          <p:cNvGrpSpPr/>
          <p:nvPr/>
        </p:nvGrpSpPr>
        <p:grpSpPr>
          <a:xfrm>
            <a:off x="505664" y="1426139"/>
            <a:ext cx="6645148" cy="525530"/>
            <a:chOff x="722008" y="1303131"/>
            <a:chExt cx="6344982" cy="501792"/>
          </a:xfrm>
        </p:grpSpPr>
        <p:sp>
          <p:nvSpPr>
            <p:cNvPr id="130" name="流程图: 手动输入 6">
              <a:extLst>
                <a:ext uri="{FF2B5EF4-FFF2-40B4-BE49-F238E27FC236}">
                  <a16:creationId xmlns:a16="http://schemas.microsoft.com/office/drawing/2014/main" id="{FC4874EA-3922-ED81-1C3E-AA4F9ECDD594}"/>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31" name="组合 130">
              <a:extLst>
                <a:ext uri="{FF2B5EF4-FFF2-40B4-BE49-F238E27FC236}">
                  <a16:creationId xmlns:a16="http://schemas.microsoft.com/office/drawing/2014/main" id="{C92119DF-418E-45F1-C8E3-2127DADC3958}"/>
                </a:ext>
              </a:extLst>
            </p:cNvPr>
            <p:cNvGrpSpPr/>
            <p:nvPr/>
          </p:nvGrpSpPr>
          <p:grpSpPr>
            <a:xfrm>
              <a:off x="722008" y="1303131"/>
              <a:ext cx="546594" cy="475865"/>
              <a:chOff x="708742" y="1296102"/>
              <a:chExt cx="454744" cy="283828"/>
            </a:xfrm>
          </p:grpSpPr>
          <p:sp>
            <p:nvSpPr>
              <p:cNvPr id="133" name="平行四边形 132">
                <a:extLst>
                  <a:ext uri="{FF2B5EF4-FFF2-40B4-BE49-F238E27FC236}">
                    <a16:creationId xmlns:a16="http://schemas.microsoft.com/office/drawing/2014/main" id="{658E4923-7F55-ACB7-864D-70EDD83626DF}"/>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34" name="平行四边形 133">
                <a:extLst>
                  <a:ext uri="{FF2B5EF4-FFF2-40B4-BE49-F238E27FC236}">
                    <a16:creationId xmlns:a16="http://schemas.microsoft.com/office/drawing/2014/main" id="{F20E2228-134D-C2C6-576B-C64E91A39EDF}"/>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32" name="Text Box 79">
              <a:extLst>
                <a:ext uri="{FF2B5EF4-FFF2-40B4-BE49-F238E27FC236}">
                  <a16:creationId xmlns:a16="http://schemas.microsoft.com/office/drawing/2014/main" id="{BC4E51E8-2C9A-205F-F341-787753D64FDE}"/>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49" name="灯片编号占位符 48">
            <a:extLst>
              <a:ext uri="{FF2B5EF4-FFF2-40B4-BE49-F238E27FC236}">
                <a16:creationId xmlns:a16="http://schemas.microsoft.com/office/drawing/2014/main" id="{9F7983FE-0121-4197-B8F1-40C7B95B2D28}"/>
              </a:ext>
            </a:extLst>
          </p:cNvPr>
          <p:cNvSpPr>
            <a:spLocks noGrp="1"/>
          </p:cNvSpPr>
          <p:nvPr>
            <p:ph type="sldNum" sz="quarter" idx="12"/>
          </p:nvPr>
        </p:nvSpPr>
        <p:spPr/>
        <p:txBody>
          <a:bodyPr/>
          <a:lstStyle/>
          <a:p>
            <a:fld id="{5956A083-5018-4B52-82A0-83241B8E3D94}" type="slidenum">
              <a:rPr lang="zh-CN" altLang="en-US" smtClean="0"/>
              <a:t>62</a:t>
            </a:fld>
            <a:endParaRPr lang="zh-CN" altLang="en-US"/>
          </a:p>
        </p:txBody>
      </p:sp>
      <p:sp>
        <p:nvSpPr>
          <p:cNvPr id="135" name="Line 147">
            <a:extLst>
              <a:ext uri="{FF2B5EF4-FFF2-40B4-BE49-F238E27FC236}">
                <a16:creationId xmlns:a16="http://schemas.microsoft.com/office/drawing/2014/main" id="{373298C8-B4F6-A54E-AE03-E7B3E531384A}"/>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7" name="Oval 130">
            <a:extLst>
              <a:ext uri="{FF2B5EF4-FFF2-40B4-BE49-F238E27FC236}">
                <a16:creationId xmlns:a16="http://schemas.microsoft.com/office/drawing/2014/main" id="{5FECCC36-FA44-274E-8A16-AD0BB0D8CF17}"/>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8" name="Text Box 93">
            <a:extLst>
              <a:ext uri="{FF2B5EF4-FFF2-40B4-BE49-F238E27FC236}">
                <a16:creationId xmlns:a16="http://schemas.microsoft.com/office/drawing/2014/main" id="{251E3832-3583-1E49-8C69-C09DAEF659F0}"/>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Tree>
    <p:extLst>
      <p:ext uri="{BB962C8B-B14F-4D97-AF65-F5344CB8AC3E}">
        <p14:creationId xmlns:p14="http://schemas.microsoft.com/office/powerpoint/2010/main" val="12465350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B523E-9954-DBD5-0B76-5412F3C2F010}"/>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DB047DAF-1CF3-7938-2825-922D7BE19E30}"/>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58475485-1ED2-EF1D-C5DF-6E1FF888F436}"/>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C8191AD1-9E1B-3050-91B5-A5261994B57E}"/>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37A93A72-925D-B576-1D47-CDBA9CDE5830}"/>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DA789C57-136F-E409-181E-9DEEB133A40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sp>
        <p:nvSpPr>
          <p:cNvPr id="2" name="圆角矩形 150">
            <a:extLst>
              <a:ext uri="{FF2B5EF4-FFF2-40B4-BE49-F238E27FC236}">
                <a16:creationId xmlns:a16="http://schemas.microsoft.com/office/drawing/2014/main" id="{E52173E5-B32A-4B63-9683-4C57BBD64038}"/>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6" name="组合 5">
            <a:extLst>
              <a:ext uri="{FF2B5EF4-FFF2-40B4-BE49-F238E27FC236}">
                <a16:creationId xmlns:a16="http://schemas.microsoft.com/office/drawing/2014/main" id="{ECA0FD1D-A9C4-AD77-F1AF-89A28145F40C}"/>
              </a:ext>
            </a:extLst>
          </p:cNvPr>
          <p:cNvGrpSpPr/>
          <p:nvPr/>
        </p:nvGrpSpPr>
        <p:grpSpPr>
          <a:xfrm>
            <a:off x="3043104" y="2417895"/>
            <a:ext cx="6808860" cy="2262108"/>
            <a:chOff x="300646" y="840152"/>
            <a:chExt cx="9638211" cy="3093013"/>
          </a:xfrm>
        </p:grpSpPr>
        <p:sp>
          <p:nvSpPr>
            <p:cNvPr id="9" name="Text Box 140">
              <a:extLst>
                <a:ext uri="{FF2B5EF4-FFF2-40B4-BE49-F238E27FC236}">
                  <a16:creationId xmlns:a16="http://schemas.microsoft.com/office/drawing/2014/main" id="{B8D18D28-50BF-3E18-C6CE-F9789D01A0B3}"/>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0" name="Line 2">
              <a:extLst>
                <a:ext uri="{FF2B5EF4-FFF2-40B4-BE49-F238E27FC236}">
                  <a16:creationId xmlns:a16="http://schemas.microsoft.com/office/drawing/2014/main" id="{898BA35A-CA85-097F-1470-84F4D2A54E5F}"/>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1" name="Line 3">
              <a:extLst>
                <a:ext uri="{FF2B5EF4-FFF2-40B4-BE49-F238E27FC236}">
                  <a16:creationId xmlns:a16="http://schemas.microsoft.com/office/drawing/2014/main" id="{5758A668-F4DE-8BB2-28CA-774143AD9CA7}"/>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2" name="Line 4">
              <a:extLst>
                <a:ext uri="{FF2B5EF4-FFF2-40B4-BE49-F238E27FC236}">
                  <a16:creationId xmlns:a16="http://schemas.microsoft.com/office/drawing/2014/main" id="{73099413-1680-3E2E-5E53-B55C88389027}"/>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 name="Line 5">
              <a:extLst>
                <a:ext uri="{FF2B5EF4-FFF2-40B4-BE49-F238E27FC236}">
                  <a16:creationId xmlns:a16="http://schemas.microsoft.com/office/drawing/2014/main" id="{192EB3BC-8AB9-D451-2CD2-4747815D1E0C}"/>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 name="Line 6">
              <a:extLst>
                <a:ext uri="{FF2B5EF4-FFF2-40B4-BE49-F238E27FC236}">
                  <a16:creationId xmlns:a16="http://schemas.microsoft.com/office/drawing/2014/main" id="{D428DBE7-CFC5-B717-7748-C6EEDE0AA8E6}"/>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 name="Line 7">
              <a:extLst>
                <a:ext uri="{FF2B5EF4-FFF2-40B4-BE49-F238E27FC236}">
                  <a16:creationId xmlns:a16="http://schemas.microsoft.com/office/drawing/2014/main" id="{669F3153-12EC-096A-DB72-2265C92B3260}"/>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 name="Line 8">
              <a:extLst>
                <a:ext uri="{FF2B5EF4-FFF2-40B4-BE49-F238E27FC236}">
                  <a16:creationId xmlns:a16="http://schemas.microsoft.com/office/drawing/2014/main" id="{EC6861AC-12B2-0E56-349B-8AAB6DFFE13E}"/>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7" name="Line 9">
              <a:extLst>
                <a:ext uri="{FF2B5EF4-FFF2-40B4-BE49-F238E27FC236}">
                  <a16:creationId xmlns:a16="http://schemas.microsoft.com/office/drawing/2014/main" id="{F3BA2C73-136E-4588-32B1-BEAB49AD3382}"/>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 name="Line 10">
              <a:extLst>
                <a:ext uri="{FF2B5EF4-FFF2-40B4-BE49-F238E27FC236}">
                  <a16:creationId xmlns:a16="http://schemas.microsoft.com/office/drawing/2014/main" id="{32A8F755-6067-15A1-C7AA-431FAF1BD68F}"/>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 name="Line 11">
              <a:extLst>
                <a:ext uri="{FF2B5EF4-FFF2-40B4-BE49-F238E27FC236}">
                  <a16:creationId xmlns:a16="http://schemas.microsoft.com/office/drawing/2014/main" id="{7FD37D3A-667A-3B44-0A0C-3C3EBC6DB8B3}"/>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 name="Line 12">
              <a:extLst>
                <a:ext uri="{FF2B5EF4-FFF2-40B4-BE49-F238E27FC236}">
                  <a16:creationId xmlns:a16="http://schemas.microsoft.com/office/drawing/2014/main" id="{94898EC9-472C-5185-5488-CE4C9C81A51B}"/>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 name="Line 13">
              <a:extLst>
                <a:ext uri="{FF2B5EF4-FFF2-40B4-BE49-F238E27FC236}">
                  <a16:creationId xmlns:a16="http://schemas.microsoft.com/office/drawing/2014/main" id="{61504318-E9A6-2BEE-B40A-7EB50D9745C9}"/>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 name="Line 14">
              <a:extLst>
                <a:ext uri="{FF2B5EF4-FFF2-40B4-BE49-F238E27FC236}">
                  <a16:creationId xmlns:a16="http://schemas.microsoft.com/office/drawing/2014/main" id="{574DFE9C-A181-5788-1BB3-C0251B7D04C2}"/>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 name="Line 15">
              <a:extLst>
                <a:ext uri="{FF2B5EF4-FFF2-40B4-BE49-F238E27FC236}">
                  <a16:creationId xmlns:a16="http://schemas.microsoft.com/office/drawing/2014/main" id="{8D14BF44-0D77-E190-AE27-BEEBF1F2B111}"/>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 name="Line 16">
              <a:extLst>
                <a:ext uri="{FF2B5EF4-FFF2-40B4-BE49-F238E27FC236}">
                  <a16:creationId xmlns:a16="http://schemas.microsoft.com/office/drawing/2014/main" id="{DB4ADF1F-28BC-5821-4CBF-572DB9130BCC}"/>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5" name="Line 17">
              <a:extLst>
                <a:ext uri="{FF2B5EF4-FFF2-40B4-BE49-F238E27FC236}">
                  <a16:creationId xmlns:a16="http://schemas.microsoft.com/office/drawing/2014/main" id="{3F7492A2-AA97-6B10-E911-A59838E63B27}"/>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6" name="Line 18">
              <a:extLst>
                <a:ext uri="{FF2B5EF4-FFF2-40B4-BE49-F238E27FC236}">
                  <a16:creationId xmlns:a16="http://schemas.microsoft.com/office/drawing/2014/main" id="{2646A524-28AB-0797-524D-78C4919791EE}"/>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7" name="Line 19">
              <a:extLst>
                <a:ext uri="{FF2B5EF4-FFF2-40B4-BE49-F238E27FC236}">
                  <a16:creationId xmlns:a16="http://schemas.microsoft.com/office/drawing/2014/main" id="{9786FF01-B589-F1AA-F21A-75F69A440EDC}"/>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8" name="Line 20">
              <a:extLst>
                <a:ext uri="{FF2B5EF4-FFF2-40B4-BE49-F238E27FC236}">
                  <a16:creationId xmlns:a16="http://schemas.microsoft.com/office/drawing/2014/main" id="{81B5D4B4-9700-FB4B-886C-B4A11CDFF179}"/>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9" name="Line 21">
              <a:extLst>
                <a:ext uri="{FF2B5EF4-FFF2-40B4-BE49-F238E27FC236}">
                  <a16:creationId xmlns:a16="http://schemas.microsoft.com/office/drawing/2014/main" id="{C7CD6C43-A182-7398-54A2-7E103B254199}"/>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0" name="Line 22">
              <a:extLst>
                <a:ext uri="{FF2B5EF4-FFF2-40B4-BE49-F238E27FC236}">
                  <a16:creationId xmlns:a16="http://schemas.microsoft.com/office/drawing/2014/main" id="{62E90EF7-F66D-D890-FB4B-9065709D05F8}"/>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1" name="Line 23">
              <a:extLst>
                <a:ext uri="{FF2B5EF4-FFF2-40B4-BE49-F238E27FC236}">
                  <a16:creationId xmlns:a16="http://schemas.microsoft.com/office/drawing/2014/main" id="{DFA75635-DDF1-5949-8900-4C62185A3C99}"/>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2" name="Line 24">
              <a:extLst>
                <a:ext uri="{FF2B5EF4-FFF2-40B4-BE49-F238E27FC236}">
                  <a16:creationId xmlns:a16="http://schemas.microsoft.com/office/drawing/2014/main" id="{B8FEB764-4291-8337-8746-5E7AD1B926A3}"/>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3" name="Line 25">
              <a:extLst>
                <a:ext uri="{FF2B5EF4-FFF2-40B4-BE49-F238E27FC236}">
                  <a16:creationId xmlns:a16="http://schemas.microsoft.com/office/drawing/2014/main" id="{CCFAAAF4-CE86-618B-D719-DB7EDCE32DD9}"/>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4" name="Line 40">
              <a:extLst>
                <a:ext uri="{FF2B5EF4-FFF2-40B4-BE49-F238E27FC236}">
                  <a16:creationId xmlns:a16="http://schemas.microsoft.com/office/drawing/2014/main" id="{4FCE69E4-B4B0-E967-ACC1-2E1A21C69F9B}"/>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5" name="Line 41">
              <a:extLst>
                <a:ext uri="{FF2B5EF4-FFF2-40B4-BE49-F238E27FC236}">
                  <a16:creationId xmlns:a16="http://schemas.microsoft.com/office/drawing/2014/main" id="{283A3471-8F39-2525-9204-8D990692A6F2}"/>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6" name="Line 42">
              <a:extLst>
                <a:ext uri="{FF2B5EF4-FFF2-40B4-BE49-F238E27FC236}">
                  <a16:creationId xmlns:a16="http://schemas.microsoft.com/office/drawing/2014/main" id="{419B3405-49C6-8AFE-EDA5-1EE0C1CC938F}"/>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7" name="Line 43">
              <a:extLst>
                <a:ext uri="{FF2B5EF4-FFF2-40B4-BE49-F238E27FC236}">
                  <a16:creationId xmlns:a16="http://schemas.microsoft.com/office/drawing/2014/main" id="{58BC9234-7B23-1576-965B-21714440C47F}"/>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8" name="Line 44">
              <a:extLst>
                <a:ext uri="{FF2B5EF4-FFF2-40B4-BE49-F238E27FC236}">
                  <a16:creationId xmlns:a16="http://schemas.microsoft.com/office/drawing/2014/main" id="{844ED300-DED8-59C8-7B6A-5DB94C55914A}"/>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39" name="Line 45">
              <a:extLst>
                <a:ext uri="{FF2B5EF4-FFF2-40B4-BE49-F238E27FC236}">
                  <a16:creationId xmlns:a16="http://schemas.microsoft.com/office/drawing/2014/main" id="{C6BBB4ED-01CA-F358-880E-26C63D2C47F2}"/>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40" name="Text Box 77">
              <a:extLst>
                <a:ext uri="{FF2B5EF4-FFF2-40B4-BE49-F238E27FC236}">
                  <a16:creationId xmlns:a16="http://schemas.microsoft.com/office/drawing/2014/main" id="{06640232-9AA5-5C55-7909-E93F850D939A}"/>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41" name="Text Box 78">
              <a:extLst>
                <a:ext uri="{FF2B5EF4-FFF2-40B4-BE49-F238E27FC236}">
                  <a16:creationId xmlns:a16="http://schemas.microsoft.com/office/drawing/2014/main" id="{8CEAE9FE-EE44-517A-2F08-4DC1824D19F8}"/>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42" name="Text Box 79">
              <a:extLst>
                <a:ext uri="{FF2B5EF4-FFF2-40B4-BE49-F238E27FC236}">
                  <a16:creationId xmlns:a16="http://schemas.microsoft.com/office/drawing/2014/main" id="{4B418F8F-CB8E-D874-3D00-D1244B004076}"/>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43" name="Text Box 80">
              <a:extLst>
                <a:ext uri="{FF2B5EF4-FFF2-40B4-BE49-F238E27FC236}">
                  <a16:creationId xmlns:a16="http://schemas.microsoft.com/office/drawing/2014/main" id="{93A1532D-9DF7-241B-B418-BA7C10A3E32E}"/>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55" name="Text Box 81">
              <a:extLst>
                <a:ext uri="{FF2B5EF4-FFF2-40B4-BE49-F238E27FC236}">
                  <a16:creationId xmlns:a16="http://schemas.microsoft.com/office/drawing/2014/main" id="{0F6D8338-9F26-0FB2-A04C-14D955DEFB8B}"/>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56" name="Text Box 82">
              <a:extLst>
                <a:ext uri="{FF2B5EF4-FFF2-40B4-BE49-F238E27FC236}">
                  <a16:creationId xmlns:a16="http://schemas.microsoft.com/office/drawing/2014/main" id="{7DF244B8-14F3-80E4-67A7-311E128F35F7}"/>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57" name="Text Box 83">
              <a:extLst>
                <a:ext uri="{FF2B5EF4-FFF2-40B4-BE49-F238E27FC236}">
                  <a16:creationId xmlns:a16="http://schemas.microsoft.com/office/drawing/2014/main" id="{2BE91C00-9C97-8B20-18FB-9AB85A81E1F9}"/>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58" name="Text Box 84">
              <a:extLst>
                <a:ext uri="{FF2B5EF4-FFF2-40B4-BE49-F238E27FC236}">
                  <a16:creationId xmlns:a16="http://schemas.microsoft.com/office/drawing/2014/main" id="{C86DFBF0-9849-6577-D186-B1FDFC541394}"/>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59" name="Text Box 85">
              <a:extLst>
                <a:ext uri="{FF2B5EF4-FFF2-40B4-BE49-F238E27FC236}">
                  <a16:creationId xmlns:a16="http://schemas.microsoft.com/office/drawing/2014/main" id="{CE80BD91-E1DC-B33C-88BE-00F17CD527EC}"/>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60" name="Text Box 86">
              <a:extLst>
                <a:ext uri="{FF2B5EF4-FFF2-40B4-BE49-F238E27FC236}">
                  <a16:creationId xmlns:a16="http://schemas.microsoft.com/office/drawing/2014/main" id="{500F7F28-89FA-7EEB-6D54-0107B8262F6D}"/>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61" name="Text Box 87">
              <a:extLst>
                <a:ext uri="{FF2B5EF4-FFF2-40B4-BE49-F238E27FC236}">
                  <a16:creationId xmlns:a16="http://schemas.microsoft.com/office/drawing/2014/main" id="{236EE634-4318-A495-D03B-7D3E1545EAF5}"/>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62" name="Text Box 89">
              <a:extLst>
                <a:ext uri="{FF2B5EF4-FFF2-40B4-BE49-F238E27FC236}">
                  <a16:creationId xmlns:a16="http://schemas.microsoft.com/office/drawing/2014/main" id="{6F12F626-8E1F-D40F-CD66-DDD88B157A0B}"/>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63" name="Text Box 90">
              <a:extLst>
                <a:ext uri="{FF2B5EF4-FFF2-40B4-BE49-F238E27FC236}">
                  <a16:creationId xmlns:a16="http://schemas.microsoft.com/office/drawing/2014/main" id="{A138FFBC-CBFE-82C6-D6EC-3F960DEAD8F5}"/>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64" name="Text Box 91">
              <a:extLst>
                <a:ext uri="{FF2B5EF4-FFF2-40B4-BE49-F238E27FC236}">
                  <a16:creationId xmlns:a16="http://schemas.microsoft.com/office/drawing/2014/main" id="{AC28676D-BA68-D00D-8E57-7263154FA033}"/>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65" name="Text Box 92">
              <a:extLst>
                <a:ext uri="{FF2B5EF4-FFF2-40B4-BE49-F238E27FC236}">
                  <a16:creationId xmlns:a16="http://schemas.microsoft.com/office/drawing/2014/main" id="{75D9F177-6A22-3715-AA4C-3B757AE5D8F3}"/>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66" name="Text Box 93">
              <a:extLst>
                <a:ext uri="{FF2B5EF4-FFF2-40B4-BE49-F238E27FC236}">
                  <a16:creationId xmlns:a16="http://schemas.microsoft.com/office/drawing/2014/main" id="{CD404A5E-C943-E564-20DB-9FDB44EC3223}"/>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67" name="Text Box 94">
              <a:extLst>
                <a:ext uri="{FF2B5EF4-FFF2-40B4-BE49-F238E27FC236}">
                  <a16:creationId xmlns:a16="http://schemas.microsoft.com/office/drawing/2014/main" id="{51B47F43-011F-B7B4-8BD1-7DF8CD213FFD}"/>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68" name="Text Box 95">
              <a:extLst>
                <a:ext uri="{FF2B5EF4-FFF2-40B4-BE49-F238E27FC236}">
                  <a16:creationId xmlns:a16="http://schemas.microsoft.com/office/drawing/2014/main" id="{121D998E-0CF3-FDB1-D885-08685DA2A6D5}"/>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69" name="Text Box 96">
              <a:extLst>
                <a:ext uri="{FF2B5EF4-FFF2-40B4-BE49-F238E27FC236}">
                  <a16:creationId xmlns:a16="http://schemas.microsoft.com/office/drawing/2014/main" id="{47CDCB97-670E-F8B1-C64C-26CBFC44FE6E}"/>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70" name="Oval 102">
              <a:extLst>
                <a:ext uri="{FF2B5EF4-FFF2-40B4-BE49-F238E27FC236}">
                  <a16:creationId xmlns:a16="http://schemas.microsoft.com/office/drawing/2014/main" id="{985A13A2-C860-2CDD-27F9-5991B1C03FCB}"/>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1" name="Oval 103">
              <a:extLst>
                <a:ext uri="{FF2B5EF4-FFF2-40B4-BE49-F238E27FC236}">
                  <a16:creationId xmlns:a16="http://schemas.microsoft.com/office/drawing/2014/main" id="{555A8BDE-919E-D17A-9807-1B47B4195F6D}"/>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2" name="Oval 104">
              <a:extLst>
                <a:ext uri="{FF2B5EF4-FFF2-40B4-BE49-F238E27FC236}">
                  <a16:creationId xmlns:a16="http://schemas.microsoft.com/office/drawing/2014/main" id="{15C011DE-6E05-20F8-1B2C-BD9C20E71BEC}"/>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3" name="Oval 105">
              <a:extLst>
                <a:ext uri="{FF2B5EF4-FFF2-40B4-BE49-F238E27FC236}">
                  <a16:creationId xmlns:a16="http://schemas.microsoft.com/office/drawing/2014/main" id="{85DE557D-36CC-6B56-AFC9-248116005CD2}"/>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4" name="Oval 106">
              <a:extLst>
                <a:ext uri="{FF2B5EF4-FFF2-40B4-BE49-F238E27FC236}">
                  <a16:creationId xmlns:a16="http://schemas.microsoft.com/office/drawing/2014/main" id="{96A08EA7-1A3E-22E8-BD1B-CBB20E4E634E}"/>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5" name="Oval 107">
              <a:extLst>
                <a:ext uri="{FF2B5EF4-FFF2-40B4-BE49-F238E27FC236}">
                  <a16:creationId xmlns:a16="http://schemas.microsoft.com/office/drawing/2014/main" id="{745300C2-38A0-795C-CF5B-12BE75358558}"/>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6" name="Oval 108">
              <a:extLst>
                <a:ext uri="{FF2B5EF4-FFF2-40B4-BE49-F238E27FC236}">
                  <a16:creationId xmlns:a16="http://schemas.microsoft.com/office/drawing/2014/main" id="{2212E5F1-B3A3-1F6D-FA97-DA3BCDCFD13B}"/>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7" name="Oval 109">
              <a:extLst>
                <a:ext uri="{FF2B5EF4-FFF2-40B4-BE49-F238E27FC236}">
                  <a16:creationId xmlns:a16="http://schemas.microsoft.com/office/drawing/2014/main" id="{2FE79B18-17DD-F9AD-E21D-39220EBD7AC9}"/>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8" name="Oval 110">
              <a:extLst>
                <a:ext uri="{FF2B5EF4-FFF2-40B4-BE49-F238E27FC236}">
                  <a16:creationId xmlns:a16="http://schemas.microsoft.com/office/drawing/2014/main" id="{1DEA1376-A203-D40D-DF83-8D18C5E42E89}"/>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79" name="Oval 113">
              <a:extLst>
                <a:ext uri="{FF2B5EF4-FFF2-40B4-BE49-F238E27FC236}">
                  <a16:creationId xmlns:a16="http://schemas.microsoft.com/office/drawing/2014/main" id="{831E1DE4-70E3-6BB6-45B0-03537DF82429}"/>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0" name="Oval 114">
              <a:extLst>
                <a:ext uri="{FF2B5EF4-FFF2-40B4-BE49-F238E27FC236}">
                  <a16:creationId xmlns:a16="http://schemas.microsoft.com/office/drawing/2014/main" id="{DFEBCC85-585F-774B-B670-005EB50A25D8}"/>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1" name="Oval 116">
              <a:extLst>
                <a:ext uri="{FF2B5EF4-FFF2-40B4-BE49-F238E27FC236}">
                  <a16:creationId xmlns:a16="http://schemas.microsoft.com/office/drawing/2014/main" id="{8BA2A54A-EEBA-B4DE-ECEC-7A2D98F88B3E}"/>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2" name="Oval 117">
              <a:extLst>
                <a:ext uri="{FF2B5EF4-FFF2-40B4-BE49-F238E27FC236}">
                  <a16:creationId xmlns:a16="http://schemas.microsoft.com/office/drawing/2014/main" id="{A2EA7BA8-3297-642A-16D4-F01137E836FD}"/>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3" name="Freeform 118">
              <a:extLst>
                <a:ext uri="{FF2B5EF4-FFF2-40B4-BE49-F238E27FC236}">
                  <a16:creationId xmlns:a16="http://schemas.microsoft.com/office/drawing/2014/main" id="{0BC88EBF-A9B3-E6C8-BCAA-FD05C9768DB9}"/>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4" name="Text Box 134">
              <a:extLst>
                <a:ext uri="{FF2B5EF4-FFF2-40B4-BE49-F238E27FC236}">
                  <a16:creationId xmlns:a16="http://schemas.microsoft.com/office/drawing/2014/main" id="{369C5519-2F46-0D42-333C-108D95213794}"/>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85" name="Text Box 135">
              <a:extLst>
                <a:ext uri="{FF2B5EF4-FFF2-40B4-BE49-F238E27FC236}">
                  <a16:creationId xmlns:a16="http://schemas.microsoft.com/office/drawing/2014/main" id="{F77E72BA-A1CA-ED38-F78A-5A937890335A}"/>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86" name="Text Box 140">
              <a:extLst>
                <a:ext uri="{FF2B5EF4-FFF2-40B4-BE49-F238E27FC236}">
                  <a16:creationId xmlns:a16="http://schemas.microsoft.com/office/drawing/2014/main" id="{2E331C7F-FB6E-F458-3560-53DC49F745F1}"/>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87" name="Line 156">
              <a:extLst>
                <a:ext uri="{FF2B5EF4-FFF2-40B4-BE49-F238E27FC236}">
                  <a16:creationId xmlns:a16="http://schemas.microsoft.com/office/drawing/2014/main" id="{60B2E470-CEC8-F7B2-697F-DCABAA290366}"/>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8" name="Line 146">
              <a:extLst>
                <a:ext uri="{FF2B5EF4-FFF2-40B4-BE49-F238E27FC236}">
                  <a16:creationId xmlns:a16="http://schemas.microsoft.com/office/drawing/2014/main" id="{C869B347-6544-30C5-1DAE-C1AB49A37A50}"/>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89" name="Text Box 203">
              <a:extLst>
                <a:ext uri="{FF2B5EF4-FFF2-40B4-BE49-F238E27FC236}">
                  <a16:creationId xmlns:a16="http://schemas.microsoft.com/office/drawing/2014/main" id="{C6A5CCF9-727B-38C6-3E6B-49BEB761F01A}"/>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90" name="Text Box 205">
              <a:extLst>
                <a:ext uri="{FF2B5EF4-FFF2-40B4-BE49-F238E27FC236}">
                  <a16:creationId xmlns:a16="http://schemas.microsoft.com/office/drawing/2014/main" id="{40779B1E-046E-2A69-C522-F8CD3A452AA2}"/>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91" name="Line 215">
              <a:extLst>
                <a:ext uri="{FF2B5EF4-FFF2-40B4-BE49-F238E27FC236}">
                  <a16:creationId xmlns:a16="http://schemas.microsoft.com/office/drawing/2014/main" id="{6DE540CC-15F7-E4A5-E72A-D6CBAB3BEF6A}"/>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2" name="Text Box 206">
              <a:extLst>
                <a:ext uri="{FF2B5EF4-FFF2-40B4-BE49-F238E27FC236}">
                  <a16:creationId xmlns:a16="http://schemas.microsoft.com/office/drawing/2014/main" id="{E0E3BC0B-D0B9-2DEC-D70D-31DF720C4C2A}"/>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93" name="Oval 125">
              <a:extLst>
                <a:ext uri="{FF2B5EF4-FFF2-40B4-BE49-F238E27FC236}">
                  <a16:creationId xmlns:a16="http://schemas.microsoft.com/office/drawing/2014/main" id="{C4C07D89-1089-9C61-C5C3-8C35EDC27C1E}"/>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4" name="Oval 126">
              <a:extLst>
                <a:ext uri="{FF2B5EF4-FFF2-40B4-BE49-F238E27FC236}">
                  <a16:creationId xmlns:a16="http://schemas.microsoft.com/office/drawing/2014/main" id="{CDAA5AA2-F156-7922-384F-55A040ACB611}"/>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5" name="Oval 127">
              <a:extLst>
                <a:ext uri="{FF2B5EF4-FFF2-40B4-BE49-F238E27FC236}">
                  <a16:creationId xmlns:a16="http://schemas.microsoft.com/office/drawing/2014/main" id="{3A9B164F-F936-6E21-D749-EA2F3D815D4D}"/>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6" name="Oval 128">
              <a:extLst>
                <a:ext uri="{FF2B5EF4-FFF2-40B4-BE49-F238E27FC236}">
                  <a16:creationId xmlns:a16="http://schemas.microsoft.com/office/drawing/2014/main" id="{DA8629E6-55FB-D9BC-3F0A-177D1EB46245}"/>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7" name="Oval 129">
              <a:extLst>
                <a:ext uri="{FF2B5EF4-FFF2-40B4-BE49-F238E27FC236}">
                  <a16:creationId xmlns:a16="http://schemas.microsoft.com/office/drawing/2014/main" id="{1143C820-3DBF-22FC-2842-D15A1D395972}"/>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8" name="Oval 130">
              <a:extLst>
                <a:ext uri="{FF2B5EF4-FFF2-40B4-BE49-F238E27FC236}">
                  <a16:creationId xmlns:a16="http://schemas.microsoft.com/office/drawing/2014/main" id="{26181982-847E-D105-CD32-B4AAAB02B26B}"/>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99" name="Oval 131">
              <a:extLst>
                <a:ext uri="{FF2B5EF4-FFF2-40B4-BE49-F238E27FC236}">
                  <a16:creationId xmlns:a16="http://schemas.microsoft.com/office/drawing/2014/main" id="{042C6DD7-0DE4-709E-3283-51D778985F50}"/>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00" name="Oval 132">
              <a:extLst>
                <a:ext uri="{FF2B5EF4-FFF2-40B4-BE49-F238E27FC236}">
                  <a16:creationId xmlns:a16="http://schemas.microsoft.com/office/drawing/2014/main" id="{EA3DA827-A023-6D27-B5C1-3E1AFB6C7D7D}"/>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01" name="Line 147">
              <a:extLst>
                <a:ext uri="{FF2B5EF4-FFF2-40B4-BE49-F238E27FC236}">
                  <a16:creationId xmlns:a16="http://schemas.microsoft.com/office/drawing/2014/main" id="{AD915993-8C8F-715D-74D6-0CE64A941584}"/>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102" name="直接连接符 115">
              <a:extLst>
                <a:ext uri="{FF2B5EF4-FFF2-40B4-BE49-F238E27FC236}">
                  <a16:creationId xmlns:a16="http://schemas.microsoft.com/office/drawing/2014/main" id="{58D6A02B-F468-ED35-2DC1-23A3B8B4E22C}"/>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103" name="Rectangle 161">
              <a:extLst>
                <a:ext uri="{FF2B5EF4-FFF2-40B4-BE49-F238E27FC236}">
                  <a16:creationId xmlns:a16="http://schemas.microsoft.com/office/drawing/2014/main" id="{91482BCB-3FF9-ED0D-5885-AA12620C6BE5}"/>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104" name="Oval 129">
              <a:extLst>
                <a:ext uri="{FF2B5EF4-FFF2-40B4-BE49-F238E27FC236}">
                  <a16:creationId xmlns:a16="http://schemas.microsoft.com/office/drawing/2014/main" id="{5ED4A374-F434-84B6-8CF2-96C98651532D}"/>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05" name="任意多边形 134">
              <a:extLst>
                <a:ext uri="{FF2B5EF4-FFF2-40B4-BE49-F238E27FC236}">
                  <a16:creationId xmlns:a16="http://schemas.microsoft.com/office/drawing/2014/main" id="{D3B09FF9-97F6-F823-A872-5DF6CCB54720}"/>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06" name="Rectangle 161">
              <a:extLst>
                <a:ext uri="{FF2B5EF4-FFF2-40B4-BE49-F238E27FC236}">
                  <a16:creationId xmlns:a16="http://schemas.microsoft.com/office/drawing/2014/main" id="{F2FAF482-019C-6124-6A55-A9FE9EC3A47E}"/>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107" name="直接连接符 119">
              <a:extLst>
                <a:ext uri="{FF2B5EF4-FFF2-40B4-BE49-F238E27FC236}">
                  <a16:creationId xmlns:a16="http://schemas.microsoft.com/office/drawing/2014/main" id="{066DD25D-3A1E-53E8-9D4D-C2AD64FFA843}"/>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108" name="直接连接符 121">
              <a:extLst>
                <a:ext uri="{FF2B5EF4-FFF2-40B4-BE49-F238E27FC236}">
                  <a16:creationId xmlns:a16="http://schemas.microsoft.com/office/drawing/2014/main" id="{E269AC53-ACA6-0DAB-560D-FF0EEB5E8828}"/>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110" name="Line 24">
              <a:extLst>
                <a:ext uri="{FF2B5EF4-FFF2-40B4-BE49-F238E27FC236}">
                  <a16:creationId xmlns:a16="http://schemas.microsoft.com/office/drawing/2014/main" id="{188E4799-EF15-5F9E-29D2-D52690456B30}"/>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11" name="Line 22">
              <a:extLst>
                <a:ext uri="{FF2B5EF4-FFF2-40B4-BE49-F238E27FC236}">
                  <a16:creationId xmlns:a16="http://schemas.microsoft.com/office/drawing/2014/main" id="{2A473B94-F40C-EF69-901D-1D768AFBA5D2}"/>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12" name="Text Box 87">
              <a:extLst>
                <a:ext uri="{FF2B5EF4-FFF2-40B4-BE49-F238E27FC236}">
                  <a16:creationId xmlns:a16="http://schemas.microsoft.com/office/drawing/2014/main" id="{71997FF9-5A3B-66CF-535E-59BE7260221B}"/>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113" name="Line 22">
              <a:extLst>
                <a:ext uri="{FF2B5EF4-FFF2-40B4-BE49-F238E27FC236}">
                  <a16:creationId xmlns:a16="http://schemas.microsoft.com/office/drawing/2014/main" id="{ABD7D963-6357-D481-0915-0D4E36BFA951}"/>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114" name="直接连接符 134">
              <a:extLst>
                <a:ext uri="{FF2B5EF4-FFF2-40B4-BE49-F238E27FC236}">
                  <a16:creationId xmlns:a16="http://schemas.microsoft.com/office/drawing/2014/main" id="{9F9B9EE6-D7BF-2C22-BC29-67516F4CF430}"/>
                </a:ext>
              </a:extLst>
            </p:cNvPr>
            <p:cNvCxnSpPr>
              <a:cxnSpLocks noChangeShapeType="1"/>
              <a:stCxn id="105" idx="4"/>
            </p:cNvCxnSpPr>
            <p:nvPr/>
          </p:nvCxnSpPr>
          <p:spPr bwMode="auto">
            <a:xfrm>
              <a:off x="6706617" y="2109019"/>
              <a:ext cx="200025" cy="785812"/>
            </a:xfrm>
            <a:prstGeom prst="line">
              <a:avLst/>
            </a:prstGeom>
            <a:noFill/>
            <a:ln w="19050" algn="ctr">
              <a:solidFill>
                <a:srgbClr val="0000FF"/>
              </a:solidFill>
              <a:round/>
              <a:headEnd/>
              <a:tailEnd/>
            </a:ln>
          </p:spPr>
        </p:cxnSp>
        <p:sp>
          <p:nvSpPr>
            <p:cNvPr id="115" name="Text Box 206">
              <a:extLst>
                <a:ext uri="{FF2B5EF4-FFF2-40B4-BE49-F238E27FC236}">
                  <a16:creationId xmlns:a16="http://schemas.microsoft.com/office/drawing/2014/main" id="{D330FAAE-7F5B-6838-6591-87716BF22CB0}"/>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116" name="Text Box 206">
              <a:extLst>
                <a:ext uri="{FF2B5EF4-FFF2-40B4-BE49-F238E27FC236}">
                  <a16:creationId xmlns:a16="http://schemas.microsoft.com/office/drawing/2014/main" id="{6FB987DC-6D3E-C3E3-6C2F-A3881472D8D1}"/>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117" name="TextBox 147">
              <a:extLst>
                <a:ext uri="{FF2B5EF4-FFF2-40B4-BE49-F238E27FC236}">
                  <a16:creationId xmlns:a16="http://schemas.microsoft.com/office/drawing/2014/main" id="{F344ED03-0DEC-8580-BC9E-6F8A12C8C0AD}"/>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118" name="TextBox 148">
              <a:extLst>
                <a:ext uri="{FF2B5EF4-FFF2-40B4-BE49-F238E27FC236}">
                  <a16:creationId xmlns:a16="http://schemas.microsoft.com/office/drawing/2014/main" id="{5D6C2FE7-1350-1558-F4FC-E09051C7CFB3}"/>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119" name="直接连接符 153">
              <a:extLst>
                <a:ext uri="{FF2B5EF4-FFF2-40B4-BE49-F238E27FC236}">
                  <a16:creationId xmlns:a16="http://schemas.microsoft.com/office/drawing/2014/main" id="{48008D92-3238-5B65-664D-44D16E2FA044}"/>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120" name="直接连接符 119">
              <a:extLst>
                <a:ext uri="{FF2B5EF4-FFF2-40B4-BE49-F238E27FC236}">
                  <a16:creationId xmlns:a16="http://schemas.microsoft.com/office/drawing/2014/main" id="{C546507D-7773-BD33-D737-77C762D01031}"/>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121" name="直接连接符 141">
              <a:extLst>
                <a:ext uri="{FF2B5EF4-FFF2-40B4-BE49-F238E27FC236}">
                  <a16:creationId xmlns:a16="http://schemas.microsoft.com/office/drawing/2014/main" id="{55B9EBD6-A409-583C-F232-EF63A1BEFC3B}"/>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122" name="Oval 202">
              <a:extLst>
                <a:ext uri="{FF2B5EF4-FFF2-40B4-BE49-F238E27FC236}">
                  <a16:creationId xmlns:a16="http://schemas.microsoft.com/office/drawing/2014/main" id="{15B60F99-CF02-4CE4-C482-65690029E129}"/>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23" name="Oval 130">
              <a:extLst>
                <a:ext uri="{FF2B5EF4-FFF2-40B4-BE49-F238E27FC236}">
                  <a16:creationId xmlns:a16="http://schemas.microsoft.com/office/drawing/2014/main" id="{91F85B9B-C50B-EC91-1C30-86E8430D4230}"/>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24" name="Oval 130">
              <a:extLst>
                <a:ext uri="{FF2B5EF4-FFF2-40B4-BE49-F238E27FC236}">
                  <a16:creationId xmlns:a16="http://schemas.microsoft.com/office/drawing/2014/main" id="{BB5A2574-8E02-2DA2-7EC7-9A217D48FEEB}"/>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25" name="TextBox 149">
              <a:extLst>
                <a:ext uri="{FF2B5EF4-FFF2-40B4-BE49-F238E27FC236}">
                  <a16:creationId xmlns:a16="http://schemas.microsoft.com/office/drawing/2014/main" id="{79BCD426-13A3-14B9-0C9C-5909A8E607B5}"/>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126" name="Oval 202">
              <a:extLst>
                <a:ext uri="{FF2B5EF4-FFF2-40B4-BE49-F238E27FC236}">
                  <a16:creationId xmlns:a16="http://schemas.microsoft.com/office/drawing/2014/main" id="{4D64B193-9C75-052A-40B8-2140219D23D2}"/>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127" name="直接连接符 126">
              <a:extLst>
                <a:ext uri="{FF2B5EF4-FFF2-40B4-BE49-F238E27FC236}">
                  <a16:creationId xmlns:a16="http://schemas.microsoft.com/office/drawing/2014/main" id="{98E10D46-8FD4-4842-7B34-C56550D4EAA7}"/>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28" name="直接连接符 119">
              <a:extLst>
                <a:ext uri="{FF2B5EF4-FFF2-40B4-BE49-F238E27FC236}">
                  <a16:creationId xmlns:a16="http://schemas.microsoft.com/office/drawing/2014/main" id="{BE0150C9-4DE2-B3F0-21E2-BD684501C926}"/>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7" name="Text Box 140">
            <a:extLst>
              <a:ext uri="{FF2B5EF4-FFF2-40B4-BE49-F238E27FC236}">
                <a16:creationId xmlns:a16="http://schemas.microsoft.com/office/drawing/2014/main" id="{7974E251-63E9-EB16-1B80-6309DA95F45D}"/>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8" name="Line 167">
            <a:extLst>
              <a:ext uri="{FF2B5EF4-FFF2-40B4-BE49-F238E27FC236}">
                <a16:creationId xmlns:a16="http://schemas.microsoft.com/office/drawing/2014/main" id="{2A0680EA-21A3-93D0-48DB-B5BB13405B73}"/>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grpSp>
        <p:nvGrpSpPr>
          <p:cNvPr id="129" name="组合 128">
            <a:extLst>
              <a:ext uri="{FF2B5EF4-FFF2-40B4-BE49-F238E27FC236}">
                <a16:creationId xmlns:a16="http://schemas.microsoft.com/office/drawing/2014/main" id="{9C0BB9A7-C0F9-3401-F50F-F51DA031B3EF}"/>
              </a:ext>
            </a:extLst>
          </p:cNvPr>
          <p:cNvGrpSpPr/>
          <p:nvPr/>
        </p:nvGrpSpPr>
        <p:grpSpPr>
          <a:xfrm>
            <a:off x="505664" y="1426139"/>
            <a:ext cx="6645148" cy="525530"/>
            <a:chOff x="722008" y="1303131"/>
            <a:chExt cx="6344982" cy="501792"/>
          </a:xfrm>
        </p:grpSpPr>
        <p:sp>
          <p:nvSpPr>
            <p:cNvPr id="130" name="流程图: 手动输入 6">
              <a:extLst>
                <a:ext uri="{FF2B5EF4-FFF2-40B4-BE49-F238E27FC236}">
                  <a16:creationId xmlns:a16="http://schemas.microsoft.com/office/drawing/2014/main" id="{FC4874EA-3922-ED81-1C3E-AA4F9ECDD594}"/>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31" name="组合 130">
              <a:extLst>
                <a:ext uri="{FF2B5EF4-FFF2-40B4-BE49-F238E27FC236}">
                  <a16:creationId xmlns:a16="http://schemas.microsoft.com/office/drawing/2014/main" id="{C92119DF-418E-45F1-C8E3-2127DADC3958}"/>
                </a:ext>
              </a:extLst>
            </p:cNvPr>
            <p:cNvGrpSpPr/>
            <p:nvPr/>
          </p:nvGrpSpPr>
          <p:grpSpPr>
            <a:xfrm>
              <a:off x="722008" y="1303131"/>
              <a:ext cx="546594" cy="475865"/>
              <a:chOff x="708742" y="1296102"/>
              <a:chExt cx="454744" cy="283828"/>
            </a:xfrm>
          </p:grpSpPr>
          <p:sp>
            <p:nvSpPr>
              <p:cNvPr id="133" name="平行四边形 132">
                <a:extLst>
                  <a:ext uri="{FF2B5EF4-FFF2-40B4-BE49-F238E27FC236}">
                    <a16:creationId xmlns:a16="http://schemas.microsoft.com/office/drawing/2014/main" id="{658E4923-7F55-ACB7-864D-70EDD83626DF}"/>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34" name="平行四边形 133">
                <a:extLst>
                  <a:ext uri="{FF2B5EF4-FFF2-40B4-BE49-F238E27FC236}">
                    <a16:creationId xmlns:a16="http://schemas.microsoft.com/office/drawing/2014/main" id="{F20E2228-134D-C2C6-576B-C64E91A39EDF}"/>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32" name="Text Box 79">
              <a:extLst>
                <a:ext uri="{FF2B5EF4-FFF2-40B4-BE49-F238E27FC236}">
                  <a16:creationId xmlns:a16="http://schemas.microsoft.com/office/drawing/2014/main" id="{BC4E51E8-2C9A-205F-F341-787753D64FDE}"/>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49" name="灯片编号占位符 48">
            <a:extLst>
              <a:ext uri="{FF2B5EF4-FFF2-40B4-BE49-F238E27FC236}">
                <a16:creationId xmlns:a16="http://schemas.microsoft.com/office/drawing/2014/main" id="{9F7983FE-0121-4197-B8F1-40C7B95B2D28}"/>
              </a:ext>
            </a:extLst>
          </p:cNvPr>
          <p:cNvSpPr>
            <a:spLocks noGrp="1"/>
          </p:cNvSpPr>
          <p:nvPr>
            <p:ph type="sldNum" sz="quarter" idx="12"/>
          </p:nvPr>
        </p:nvSpPr>
        <p:spPr/>
        <p:txBody>
          <a:bodyPr/>
          <a:lstStyle/>
          <a:p>
            <a:fld id="{5956A083-5018-4B52-82A0-83241B8E3D94}" type="slidenum">
              <a:rPr lang="zh-CN" altLang="en-US" smtClean="0"/>
              <a:t>63</a:t>
            </a:fld>
            <a:endParaRPr lang="zh-CN" altLang="en-US"/>
          </a:p>
        </p:txBody>
      </p:sp>
      <p:sp>
        <p:nvSpPr>
          <p:cNvPr id="135" name="Line 147">
            <a:extLst>
              <a:ext uri="{FF2B5EF4-FFF2-40B4-BE49-F238E27FC236}">
                <a16:creationId xmlns:a16="http://schemas.microsoft.com/office/drawing/2014/main" id="{373298C8-B4F6-A54E-AE03-E7B3E531384A}"/>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7" name="Oval 130">
            <a:extLst>
              <a:ext uri="{FF2B5EF4-FFF2-40B4-BE49-F238E27FC236}">
                <a16:creationId xmlns:a16="http://schemas.microsoft.com/office/drawing/2014/main" id="{5FECCC36-FA44-274E-8A16-AD0BB0D8CF17}"/>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8" name="Text Box 93">
            <a:extLst>
              <a:ext uri="{FF2B5EF4-FFF2-40B4-BE49-F238E27FC236}">
                <a16:creationId xmlns:a16="http://schemas.microsoft.com/office/drawing/2014/main" id="{251E3832-3583-1E49-8C69-C09DAEF659F0}"/>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
        <p:nvSpPr>
          <p:cNvPr id="136" name="Line 167">
            <a:extLst>
              <a:ext uri="{FF2B5EF4-FFF2-40B4-BE49-F238E27FC236}">
                <a16:creationId xmlns:a16="http://schemas.microsoft.com/office/drawing/2014/main" id="{360FC986-AE7A-7749-BD18-C640B0C753DB}"/>
              </a:ext>
            </a:extLst>
          </p:cNvPr>
          <p:cNvSpPr>
            <a:spLocks noChangeShapeType="1"/>
          </p:cNvSpPr>
          <p:nvPr/>
        </p:nvSpPr>
        <p:spPr bwMode="auto">
          <a:xfrm>
            <a:off x="5612954" y="2430186"/>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a:defRPr/>
            </a:pPr>
            <a:endParaRPr lang="zh-CN" altLang="en-US" sz="2400" b="1" kern="0">
              <a:solidFill>
                <a:sysClr val="windowText" lastClr="000000"/>
              </a:solidFill>
              <a:latin typeface="Calibri"/>
              <a:ea typeface="宋体" panose="02010600030101010101" pitchFamily="2" charset="-122"/>
            </a:endParaRPr>
          </a:p>
        </p:txBody>
      </p:sp>
      <p:sp>
        <p:nvSpPr>
          <p:cNvPr id="139" name="Text Box 155">
            <a:extLst>
              <a:ext uri="{FF2B5EF4-FFF2-40B4-BE49-F238E27FC236}">
                <a16:creationId xmlns:a16="http://schemas.microsoft.com/office/drawing/2014/main" id="{5899489B-8A2C-3E40-A13F-584D8367D1CF}"/>
              </a:ext>
            </a:extLst>
          </p:cNvPr>
          <p:cNvSpPr txBox="1">
            <a:spLocks noChangeArrowheads="1"/>
          </p:cNvSpPr>
          <p:nvPr/>
        </p:nvSpPr>
        <p:spPr bwMode="auto">
          <a:xfrm>
            <a:off x="3381325" y="4722392"/>
            <a:ext cx="6396911" cy="904863"/>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24 </a:t>
            </a:r>
            <a:r>
              <a:rPr lang="zh-CN" altLang="en-US" sz="1600" b="1" dirty="0">
                <a:solidFill>
                  <a:srgbClr val="0000FF"/>
                </a:solidFill>
                <a:latin typeface="微软雅黑" pitchFamily="34" charset="-122"/>
                <a:ea typeface="微软雅黑" pitchFamily="34" charset="-122"/>
              </a:rPr>
              <a:t>时，网络出现了超时，发送方判断为网络拥塞。</a:t>
            </a:r>
            <a:r>
              <a:rPr lang="zh-CN" altLang="en-US" sz="1600" b="1" dirty="0">
                <a:solidFill>
                  <a:prstClr val="black"/>
                </a:solidFill>
                <a:latin typeface="微软雅黑" pitchFamily="34" charset="-122"/>
                <a:ea typeface="微软雅黑" pitchFamily="34" charset="-122"/>
              </a:rPr>
              <a:t>调整门限值 </a:t>
            </a:r>
            <a:r>
              <a:rPr lang="en-US" altLang="zh-CN" sz="1600" b="1" dirty="0" err="1">
                <a:solidFill>
                  <a:prstClr val="black"/>
                </a:solidFill>
                <a:latin typeface="微软雅黑" pitchFamily="34" charset="-122"/>
                <a:ea typeface="微软雅黑" pitchFamily="34" charset="-122"/>
              </a:rPr>
              <a:t>ssthresh</a:t>
            </a:r>
            <a:r>
              <a:rPr lang="en-US" altLang="zh-CN" sz="1600" b="1" dirty="0">
                <a:solidFill>
                  <a:prstClr val="black"/>
                </a:solidFill>
                <a:latin typeface="微软雅黑" pitchFamily="34" charset="-122"/>
                <a:ea typeface="微软雅黑" pitchFamily="34" charset="-122"/>
              </a:rPr>
              <a:t> = </a:t>
            </a:r>
            <a:r>
              <a:rPr lang="en-US" altLang="zh-CN" sz="1600" b="1" dirty="0" err="1">
                <a:solidFill>
                  <a:prstClr val="black"/>
                </a:solidFill>
                <a:latin typeface="微软雅黑" pitchFamily="34" charset="-122"/>
                <a:ea typeface="微软雅黑" pitchFamily="34" charset="-122"/>
              </a:rPr>
              <a:t>cwnd</a:t>
            </a:r>
            <a:r>
              <a:rPr lang="en-US" altLang="zh-CN" sz="1600" b="1" dirty="0">
                <a:solidFill>
                  <a:prstClr val="black"/>
                </a:solidFill>
                <a:latin typeface="微软雅黑" pitchFamily="34" charset="-122"/>
                <a:ea typeface="微软雅黑" pitchFamily="34" charset="-122"/>
              </a:rPr>
              <a:t> / 2 = 12</a:t>
            </a:r>
            <a:r>
              <a:rPr lang="zh-CN" altLang="en-US" sz="1600" b="1" dirty="0">
                <a:solidFill>
                  <a:prstClr val="black"/>
                </a:solidFill>
                <a:latin typeface="微软雅黑" pitchFamily="34" charset="-122"/>
                <a:ea typeface="微软雅黑" pitchFamily="34" charset="-122"/>
              </a:rPr>
              <a:t>，同时设置拥塞窗口 </a:t>
            </a:r>
            <a:r>
              <a:rPr lang="en-US" altLang="zh-CN" sz="1600" b="1" dirty="0" err="1">
                <a:solidFill>
                  <a:prstClr val="black"/>
                </a:solidFill>
                <a:latin typeface="微软雅黑" pitchFamily="34" charset="-122"/>
                <a:ea typeface="微软雅黑" pitchFamily="34" charset="-122"/>
              </a:rPr>
              <a:t>cwnd</a:t>
            </a:r>
            <a:r>
              <a:rPr lang="en-US" altLang="zh-CN" sz="1600" b="1" dirty="0">
                <a:solidFill>
                  <a:prstClr val="black"/>
                </a:solidFill>
                <a:latin typeface="微软雅黑" pitchFamily="34" charset="-122"/>
                <a:ea typeface="微软雅黑" pitchFamily="34" charset="-122"/>
              </a:rPr>
              <a:t> = 1</a:t>
            </a:r>
            <a:r>
              <a:rPr lang="zh-CN" altLang="en-US" sz="1600" b="1" dirty="0">
                <a:solidFill>
                  <a:prstClr val="black"/>
                </a:solidFill>
                <a:latin typeface="微软雅黑" pitchFamily="34" charset="-122"/>
                <a:ea typeface="微软雅黑" pitchFamily="34" charset="-122"/>
              </a:rPr>
              <a:t>，进入慢开始阶段。</a:t>
            </a:r>
          </a:p>
        </p:txBody>
      </p:sp>
    </p:spTree>
    <p:extLst>
      <p:ext uri="{BB962C8B-B14F-4D97-AF65-F5344CB8AC3E}">
        <p14:creationId xmlns:p14="http://schemas.microsoft.com/office/powerpoint/2010/main" val="3348727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E01F2-421D-759C-EC44-AEEB906F5BA5}"/>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3E5CC620-72EF-2DE8-6305-D28084AEB3C5}"/>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8DDAE4E2-9BE8-FA3F-CE54-7AAFA3F035B5}"/>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EA2AF7A4-83D6-FD95-2FC7-93CE8C84C6F9}"/>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BEBC76C5-3CE1-5492-F027-F353FFC70237}"/>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EFE1FA10-7B18-E97B-0606-981E0D5F61C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129" name="组合 128">
            <a:extLst>
              <a:ext uri="{FF2B5EF4-FFF2-40B4-BE49-F238E27FC236}">
                <a16:creationId xmlns:a16="http://schemas.microsoft.com/office/drawing/2014/main" id="{F1B6A415-0036-5150-ADBD-7E3CFA23D39F}"/>
              </a:ext>
            </a:extLst>
          </p:cNvPr>
          <p:cNvGrpSpPr/>
          <p:nvPr/>
        </p:nvGrpSpPr>
        <p:grpSpPr>
          <a:xfrm>
            <a:off x="505664" y="1426139"/>
            <a:ext cx="6645148" cy="525530"/>
            <a:chOff x="722008" y="1303131"/>
            <a:chExt cx="6344982" cy="501792"/>
          </a:xfrm>
        </p:grpSpPr>
        <p:sp>
          <p:nvSpPr>
            <p:cNvPr id="130" name="流程图: 手动输入 6">
              <a:extLst>
                <a:ext uri="{FF2B5EF4-FFF2-40B4-BE49-F238E27FC236}">
                  <a16:creationId xmlns:a16="http://schemas.microsoft.com/office/drawing/2014/main" id="{E8B9C541-5FFC-C7AB-ADA5-ACC3C22A7AE8}"/>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31" name="组合 130">
              <a:extLst>
                <a:ext uri="{FF2B5EF4-FFF2-40B4-BE49-F238E27FC236}">
                  <a16:creationId xmlns:a16="http://schemas.microsoft.com/office/drawing/2014/main" id="{B79BC68E-0C35-B832-D787-31E5DA940CCB}"/>
                </a:ext>
              </a:extLst>
            </p:cNvPr>
            <p:cNvGrpSpPr/>
            <p:nvPr/>
          </p:nvGrpSpPr>
          <p:grpSpPr>
            <a:xfrm>
              <a:off x="722008" y="1303131"/>
              <a:ext cx="546594" cy="475865"/>
              <a:chOff x="708742" y="1296102"/>
              <a:chExt cx="454744" cy="283828"/>
            </a:xfrm>
          </p:grpSpPr>
          <p:sp>
            <p:nvSpPr>
              <p:cNvPr id="133" name="平行四边形 132">
                <a:extLst>
                  <a:ext uri="{FF2B5EF4-FFF2-40B4-BE49-F238E27FC236}">
                    <a16:creationId xmlns:a16="http://schemas.microsoft.com/office/drawing/2014/main" id="{1ECA313F-2D27-A860-3075-1363F5D80572}"/>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34" name="平行四边形 133">
                <a:extLst>
                  <a:ext uri="{FF2B5EF4-FFF2-40B4-BE49-F238E27FC236}">
                    <a16:creationId xmlns:a16="http://schemas.microsoft.com/office/drawing/2014/main" id="{83F502DB-6FBA-95A4-855B-D6D74BDEB3E3}"/>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32" name="Text Box 79">
              <a:extLst>
                <a:ext uri="{FF2B5EF4-FFF2-40B4-BE49-F238E27FC236}">
                  <a16:creationId xmlns:a16="http://schemas.microsoft.com/office/drawing/2014/main" id="{541E88A1-EF3B-569F-821E-8FB5758E9F7E}"/>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49" name="灯片编号占位符 48">
            <a:extLst>
              <a:ext uri="{FF2B5EF4-FFF2-40B4-BE49-F238E27FC236}">
                <a16:creationId xmlns:a16="http://schemas.microsoft.com/office/drawing/2014/main" id="{94DEFC2C-3C33-4A7C-86A0-0D5BDD954CD3}"/>
              </a:ext>
            </a:extLst>
          </p:cNvPr>
          <p:cNvSpPr>
            <a:spLocks noGrp="1"/>
          </p:cNvSpPr>
          <p:nvPr>
            <p:ph type="sldNum" sz="quarter" idx="12"/>
          </p:nvPr>
        </p:nvSpPr>
        <p:spPr/>
        <p:txBody>
          <a:bodyPr/>
          <a:lstStyle/>
          <a:p>
            <a:fld id="{5956A083-5018-4B52-82A0-83241B8E3D94}" type="slidenum">
              <a:rPr lang="zh-CN" altLang="en-US" smtClean="0"/>
              <a:t>64</a:t>
            </a:fld>
            <a:endParaRPr lang="zh-CN" altLang="en-US"/>
          </a:p>
        </p:txBody>
      </p:sp>
      <p:sp>
        <p:nvSpPr>
          <p:cNvPr id="135" name="圆角矩形 150">
            <a:extLst>
              <a:ext uri="{FF2B5EF4-FFF2-40B4-BE49-F238E27FC236}">
                <a16:creationId xmlns:a16="http://schemas.microsoft.com/office/drawing/2014/main" id="{F737ACC4-ED5C-6945-8713-07C9EA965E2E}"/>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36" name="组合 135">
            <a:extLst>
              <a:ext uri="{FF2B5EF4-FFF2-40B4-BE49-F238E27FC236}">
                <a16:creationId xmlns:a16="http://schemas.microsoft.com/office/drawing/2014/main" id="{7F9F9DDF-FF39-AC49-82B1-09284D92F114}"/>
              </a:ext>
            </a:extLst>
          </p:cNvPr>
          <p:cNvGrpSpPr/>
          <p:nvPr/>
        </p:nvGrpSpPr>
        <p:grpSpPr>
          <a:xfrm>
            <a:off x="3043104" y="2417895"/>
            <a:ext cx="6808860" cy="2262108"/>
            <a:chOff x="300646" y="840152"/>
            <a:chExt cx="9638211" cy="3093013"/>
          </a:xfrm>
        </p:grpSpPr>
        <p:sp>
          <p:nvSpPr>
            <p:cNvPr id="137" name="Text Box 140">
              <a:extLst>
                <a:ext uri="{FF2B5EF4-FFF2-40B4-BE49-F238E27FC236}">
                  <a16:creationId xmlns:a16="http://schemas.microsoft.com/office/drawing/2014/main" id="{C99BC8DB-FA5C-F445-A99C-242AB4854E79}"/>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8" name="Line 2">
              <a:extLst>
                <a:ext uri="{FF2B5EF4-FFF2-40B4-BE49-F238E27FC236}">
                  <a16:creationId xmlns:a16="http://schemas.microsoft.com/office/drawing/2014/main" id="{004D14D0-9F38-C347-8746-22ECD79C0892}"/>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9" name="Line 3">
              <a:extLst>
                <a:ext uri="{FF2B5EF4-FFF2-40B4-BE49-F238E27FC236}">
                  <a16:creationId xmlns:a16="http://schemas.microsoft.com/office/drawing/2014/main" id="{3EE8B65C-D7E2-6F47-A14F-35E7D1C744A4}"/>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0" name="Line 4">
              <a:extLst>
                <a:ext uri="{FF2B5EF4-FFF2-40B4-BE49-F238E27FC236}">
                  <a16:creationId xmlns:a16="http://schemas.microsoft.com/office/drawing/2014/main" id="{44DF7622-4FF3-304B-A94D-1ECB3282B470}"/>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1" name="Line 5">
              <a:extLst>
                <a:ext uri="{FF2B5EF4-FFF2-40B4-BE49-F238E27FC236}">
                  <a16:creationId xmlns:a16="http://schemas.microsoft.com/office/drawing/2014/main" id="{F3A0ACCA-37E8-A441-AE48-8A344CCA88EE}"/>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2" name="Line 6">
              <a:extLst>
                <a:ext uri="{FF2B5EF4-FFF2-40B4-BE49-F238E27FC236}">
                  <a16:creationId xmlns:a16="http://schemas.microsoft.com/office/drawing/2014/main" id="{72005CAE-45B8-0844-923A-B4FE6C1A1631}"/>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3" name="Line 7">
              <a:extLst>
                <a:ext uri="{FF2B5EF4-FFF2-40B4-BE49-F238E27FC236}">
                  <a16:creationId xmlns:a16="http://schemas.microsoft.com/office/drawing/2014/main" id="{11BB1C3F-2ACD-DB47-B099-EE0788EBD564}"/>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4" name="Line 8">
              <a:extLst>
                <a:ext uri="{FF2B5EF4-FFF2-40B4-BE49-F238E27FC236}">
                  <a16:creationId xmlns:a16="http://schemas.microsoft.com/office/drawing/2014/main" id="{03CC60D4-8BA4-C14A-9327-778EE8027A53}"/>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5" name="Line 9">
              <a:extLst>
                <a:ext uri="{FF2B5EF4-FFF2-40B4-BE49-F238E27FC236}">
                  <a16:creationId xmlns:a16="http://schemas.microsoft.com/office/drawing/2014/main" id="{15BBF79C-109B-7545-AC8B-F3565660D02C}"/>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6" name="Line 10">
              <a:extLst>
                <a:ext uri="{FF2B5EF4-FFF2-40B4-BE49-F238E27FC236}">
                  <a16:creationId xmlns:a16="http://schemas.microsoft.com/office/drawing/2014/main" id="{E841A9A2-5533-B74D-8BC0-AB314CC742B7}"/>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7" name="Line 11">
              <a:extLst>
                <a:ext uri="{FF2B5EF4-FFF2-40B4-BE49-F238E27FC236}">
                  <a16:creationId xmlns:a16="http://schemas.microsoft.com/office/drawing/2014/main" id="{532C1F1C-8FF5-4A4D-BFB0-A6D3F7D798CB}"/>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8" name="Line 12">
              <a:extLst>
                <a:ext uri="{FF2B5EF4-FFF2-40B4-BE49-F238E27FC236}">
                  <a16:creationId xmlns:a16="http://schemas.microsoft.com/office/drawing/2014/main" id="{B35CB534-B9FA-064F-8383-DE2A2C57059E}"/>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9" name="Line 13">
              <a:extLst>
                <a:ext uri="{FF2B5EF4-FFF2-40B4-BE49-F238E27FC236}">
                  <a16:creationId xmlns:a16="http://schemas.microsoft.com/office/drawing/2014/main" id="{DB9B0DE6-E55D-324F-90F1-FDC6F96F0FD1}"/>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0" name="Line 14">
              <a:extLst>
                <a:ext uri="{FF2B5EF4-FFF2-40B4-BE49-F238E27FC236}">
                  <a16:creationId xmlns:a16="http://schemas.microsoft.com/office/drawing/2014/main" id="{02501A11-77E6-1149-AC1C-2E9C61F8F095}"/>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1" name="Line 15">
              <a:extLst>
                <a:ext uri="{FF2B5EF4-FFF2-40B4-BE49-F238E27FC236}">
                  <a16:creationId xmlns:a16="http://schemas.microsoft.com/office/drawing/2014/main" id="{3228525C-F8E3-B843-94E2-E0CD038BB326}"/>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2" name="Line 16">
              <a:extLst>
                <a:ext uri="{FF2B5EF4-FFF2-40B4-BE49-F238E27FC236}">
                  <a16:creationId xmlns:a16="http://schemas.microsoft.com/office/drawing/2014/main" id="{9FBEBE32-BA72-EF4A-97BB-8A2079D1C857}"/>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3" name="Line 17">
              <a:extLst>
                <a:ext uri="{FF2B5EF4-FFF2-40B4-BE49-F238E27FC236}">
                  <a16:creationId xmlns:a16="http://schemas.microsoft.com/office/drawing/2014/main" id="{76717FA4-5B6A-1F4F-8BF8-5F87F30959E9}"/>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4" name="Line 18">
              <a:extLst>
                <a:ext uri="{FF2B5EF4-FFF2-40B4-BE49-F238E27FC236}">
                  <a16:creationId xmlns:a16="http://schemas.microsoft.com/office/drawing/2014/main" id="{DA4F1C95-578C-5146-9465-F350EC7628FB}"/>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5" name="Line 19">
              <a:extLst>
                <a:ext uri="{FF2B5EF4-FFF2-40B4-BE49-F238E27FC236}">
                  <a16:creationId xmlns:a16="http://schemas.microsoft.com/office/drawing/2014/main" id="{B8CA3404-2404-0941-ABD6-695925D6E11B}"/>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6" name="Line 20">
              <a:extLst>
                <a:ext uri="{FF2B5EF4-FFF2-40B4-BE49-F238E27FC236}">
                  <a16:creationId xmlns:a16="http://schemas.microsoft.com/office/drawing/2014/main" id="{AAEFA4A6-FCEB-7845-B176-A943BEEEB6C5}"/>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7" name="Line 21">
              <a:extLst>
                <a:ext uri="{FF2B5EF4-FFF2-40B4-BE49-F238E27FC236}">
                  <a16:creationId xmlns:a16="http://schemas.microsoft.com/office/drawing/2014/main" id="{FAF1DC4D-E193-1E44-B058-5BCCA6D8724C}"/>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8" name="Line 22">
              <a:extLst>
                <a:ext uri="{FF2B5EF4-FFF2-40B4-BE49-F238E27FC236}">
                  <a16:creationId xmlns:a16="http://schemas.microsoft.com/office/drawing/2014/main" id="{7D4084B8-E3D7-9144-84B4-B73CBA03D088}"/>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9" name="Line 23">
              <a:extLst>
                <a:ext uri="{FF2B5EF4-FFF2-40B4-BE49-F238E27FC236}">
                  <a16:creationId xmlns:a16="http://schemas.microsoft.com/office/drawing/2014/main" id="{B0660A2A-0295-2F48-8B77-64EEB4D2CDCB}"/>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0" name="Line 24">
              <a:extLst>
                <a:ext uri="{FF2B5EF4-FFF2-40B4-BE49-F238E27FC236}">
                  <a16:creationId xmlns:a16="http://schemas.microsoft.com/office/drawing/2014/main" id="{48046572-85D3-CA4E-A252-590F6B1B44E8}"/>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1" name="Line 25">
              <a:extLst>
                <a:ext uri="{FF2B5EF4-FFF2-40B4-BE49-F238E27FC236}">
                  <a16:creationId xmlns:a16="http://schemas.microsoft.com/office/drawing/2014/main" id="{5DAB1029-F75C-4148-B08E-8DCEF50C9134}"/>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2" name="Line 40">
              <a:extLst>
                <a:ext uri="{FF2B5EF4-FFF2-40B4-BE49-F238E27FC236}">
                  <a16:creationId xmlns:a16="http://schemas.microsoft.com/office/drawing/2014/main" id="{BA93CDD1-14DD-D444-962D-7EBDD8FD6F62}"/>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3" name="Line 41">
              <a:extLst>
                <a:ext uri="{FF2B5EF4-FFF2-40B4-BE49-F238E27FC236}">
                  <a16:creationId xmlns:a16="http://schemas.microsoft.com/office/drawing/2014/main" id="{413B9D16-D64D-164C-84F3-5E83CA445A0E}"/>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4" name="Line 42">
              <a:extLst>
                <a:ext uri="{FF2B5EF4-FFF2-40B4-BE49-F238E27FC236}">
                  <a16:creationId xmlns:a16="http://schemas.microsoft.com/office/drawing/2014/main" id="{01B9A6F9-2B69-DB4F-A022-3693DEC64DCB}"/>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5" name="Line 43">
              <a:extLst>
                <a:ext uri="{FF2B5EF4-FFF2-40B4-BE49-F238E27FC236}">
                  <a16:creationId xmlns:a16="http://schemas.microsoft.com/office/drawing/2014/main" id="{00DD5D54-955A-7049-8669-41C596D7F34C}"/>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6" name="Line 44">
              <a:extLst>
                <a:ext uri="{FF2B5EF4-FFF2-40B4-BE49-F238E27FC236}">
                  <a16:creationId xmlns:a16="http://schemas.microsoft.com/office/drawing/2014/main" id="{11296059-5403-1248-8F53-D990F3D8B975}"/>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7" name="Line 45">
              <a:extLst>
                <a:ext uri="{FF2B5EF4-FFF2-40B4-BE49-F238E27FC236}">
                  <a16:creationId xmlns:a16="http://schemas.microsoft.com/office/drawing/2014/main" id="{56460226-94CF-B542-A3F9-69E965A1437A}"/>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8" name="Text Box 77">
              <a:extLst>
                <a:ext uri="{FF2B5EF4-FFF2-40B4-BE49-F238E27FC236}">
                  <a16:creationId xmlns:a16="http://schemas.microsoft.com/office/drawing/2014/main" id="{4057D55F-CC17-8B4E-B5F2-70EE8D83F9FF}"/>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169" name="Text Box 78">
              <a:extLst>
                <a:ext uri="{FF2B5EF4-FFF2-40B4-BE49-F238E27FC236}">
                  <a16:creationId xmlns:a16="http://schemas.microsoft.com/office/drawing/2014/main" id="{915185A5-DC2F-5048-A317-BE00D98E355C}"/>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70" name="Text Box 79">
              <a:extLst>
                <a:ext uri="{FF2B5EF4-FFF2-40B4-BE49-F238E27FC236}">
                  <a16:creationId xmlns:a16="http://schemas.microsoft.com/office/drawing/2014/main" id="{A43317F8-6745-0F4F-853F-ABEDE6769DFF}"/>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171" name="Text Box 80">
              <a:extLst>
                <a:ext uri="{FF2B5EF4-FFF2-40B4-BE49-F238E27FC236}">
                  <a16:creationId xmlns:a16="http://schemas.microsoft.com/office/drawing/2014/main" id="{061266E7-FF22-2541-9927-3D4887D90E43}"/>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172" name="Text Box 81">
              <a:extLst>
                <a:ext uri="{FF2B5EF4-FFF2-40B4-BE49-F238E27FC236}">
                  <a16:creationId xmlns:a16="http://schemas.microsoft.com/office/drawing/2014/main" id="{52F04081-6798-B84D-B7AD-A62E3AB47F18}"/>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173" name="Text Box 82">
              <a:extLst>
                <a:ext uri="{FF2B5EF4-FFF2-40B4-BE49-F238E27FC236}">
                  <a16:creationId xmlns:a16="http://schemas.microsoft.com/office/drawing/2014/main" id="{7A5D6EFB-379D-3B42-AA3D-2789E5C05B09}"/>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74" name="Text Box 83">
              <a:extLst>
                <a:ext uri="{FF2B5EF4-FFF2-40B4-BE49-F238E27FC236}">
                  <a16:creationId xmlns:a16="http://schemas.microsoft.com/office/drawing/2014/main" id="{FC27CC6F-28F9-B846-9A51-40A2EFB41D12}"/>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175" name="Text Box 84">
              <a:extLst>
                <a:ext uri="{FF2B5EF4-FFF2-40B4-BE49-F238E27FC236}">
                  <a16:creationId xmlns:a16="http://schemas.microsoft.com/office/drawing/2014/main" id="{FB865A6B-AFB2-5D44-B232-9F950F8F08A4}"/>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76" name="Text Box 85">
              <a:extLst>
                <a:ext uri="{FF2B5EF4-FFF2-40B4-BE49-F238E27FC236}">
                  <a16:creationId xmlns:a16="http://schemas.microsoft.com/office/drawing/2014/main" id="{DF73BD5D-18FA-1B40-AA09-CD97EBB6C713}"/>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177" name="Text Box 86">
              <a:extLst>
                <a:ext uri="{FF2B5EF4-FFF2-40B4-BE49-F238E27FC236}">
                  <a16:creationId xmlns:a16="http://schemas.microsoft.com/office/drawing/2014/main" id="{ED26C125-FC17-9F4B-9636-B64CFBDA1612}"/>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78" name="Text Box 87">
              <a:extLst>
                <a:ext uri="{FF2B5EF4-FFF2-40B4-BE49-F238E27FC236}">
                  <a16:creationId xmlns:a16="http://schemas.microsoft.com/office/drawing/2014/main" id="{81031742-7539-8042-B18A-9F6661B2E419}"/>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179" name="Text Box 89">
              <a:extLst>
                <a:ext uri="{FF2B5EF4-FFF2-40B4-BE49-F238E27FC236}">
                  <a16:creationId xmlns:a16="http://schemas.microsoft.com/office/drawing/2014/main" id="{2131C0BF-FBE2-5142-BB1B-CB476E117B1B}"/>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0" name="Text Box 90">
              <a:extLst>
                <a:ext uri="{FF2B5EF4-FFF2-40B4-BE49-F238E27FC236}">
                  <a16:creationId xmlns:a16="http://schemas.microsoft.com/office/drawing/2014/main" id="{0264014E-B82F-064E-A06F-1A07BF9B9DC1}"/>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1" name="Text Box 91">
              <a:extLst>
                <a:ext uri="{FF2B5EF4-FFF2-40B4-BE49-F238E27FC236}">
                  <a16:creationId xmlns:a16="http://schemas.microsoft.com/office/drawing/2014/main" id="{352E7102-4E8E-384B-BAE9-513A8FF5463E}"/>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82" name="Text Box 92">
              <a:extLst>
                <a:ext uri="{FF2B5EF4-FFF2-40B4-BE49-F238E27FC236}">
                  <a16:creationId xmlns:a16="http://schemas.microsoft.com/office/drawing/2014/main" id="{8309508A-1CDC-2A41-8B53-28622CB8CC24}"/>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183" name="Text Box 93">
              <a:extLst>
                <a:ext uri="{FF2B5EF4-FFF2-40B4-BE49-F238E27FC236}">
                  <a16:creationId xmlns:a16="http://schemas.microsoft.com/office/drawing/2014/main" id="{5D59A44A-C8F7-3C4B-BB58-ADB8A8F39C03}"/>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84" name="Text Box 94">
              <a:extLst>
                <a:ext uri="{FF2B5EF4-FFF2-40B4-BE49-F238E27FC236}">
                  <a16:creationId xmlns:a16="http://schemas.microsoft.com/office/drawing/2014/main" id="{7EC65C0F-6E2A-7241-A494-5C6B15900237}"/>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85" name="Text Box 95">
              <a:extLst>
                <a:ext uri="{FF2B5EF4-FFF2-40B4-BE49-F238E27FC236}">
                  <a16:creationId xmlns:a16="http://schemas.microsoft.com/office/drawing/2014/main" id="{491A018E-B537-DA4A-A364-D24830B7033F}"/>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86" name="Text Box 96">
              <a:extLst>
                <a:ext uri="{FF2B5EF4-FFF2-40B4-BE49-F238E27FC236}">
                  <a16:creationId xmlns:a16="http://schemas.microsoft.com/office/drawing/2014/main" id="{B42E9904-EE7C-234C-AD24-584E69D3552A}"/>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187" name="Oval 102">
              <a:extLst>
                <a:ext uri="{FF2B5EF4-FFF2-40B4-BE49-F238E27FC236}">
                  <a16:creationId xmlns:a16="http://schemas.microsoft.com/office/drawing/2014/main" id="{B7A7CC78-3625-0145-AA69-7572D5C162CD}"/>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8" name="Oval 103">
              <a:extLst>
                <a:ext uri="{FF2B5EF4-FFF2-40B4-BE49-F238E27FC236}">
                  <a16:creationId xmlns:a16="http://schemas.microsoft.com/office/drawing/2014/main" id="{E3393DD5-A980-4845-9E9D-5AE717EAC489}"/>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9" name="Oval 104">
              <a:extLst>
                <a:ext uri="{FF2B5EF4-FFF2-40B4-BE49-F238E27FC236}">
                  <a16:creationId xmlns:a16="http://schemas.microsoft.com/office/drawing/2014/main" id="{4932F2B8-0957-7946-A546-FB04605E09E8}"/>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0" name="Oval 105">
              <a:extLst>
                <a:ext uri="{FF2B5EF4-FFF2-40B4-BE49-F238E27FC236}">
                  <a16:creationId xmlns:a16="http://schemas.microsoft.com/office/drawing/2014/main" id="{C916140B-5C71-1949-9564-0F213264BFC4}"/>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1" name="Oval 106">
              <a:extLst>
                <a:ext uri="{FF2B5EF4-FFF2-40B4-BE49-F238E27FC236}">
                  <a16:creationId xmlns:a16="http://schemas.microsoft.com/office/drawing/2014/main" id="{C2117123-26A5-3E41-8845-BFFEA84A576A}"/>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2" name="Oval 107">
              <a:extLst>
                <a:ext uri="{FF2B5EF4-FFF2-40B4-BE49-F238E27FC236}">
                  <a16:creationId xmlns:a16="http://schemas.microsoft.com/office/drawing/2014/main" id="{E529B143-D770-A04E-B991-248E343A7AAA}"/>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3" name="Oval 108">
              <a:extLst>
                <a:ext uri="{FF2B5EF4-FFF2-40B4-BE49-F238E27FC236}">
                  <a16:creationId xmlns:a16="http://schemas.microsoft.com/office/drawing/2014/main" id="{79D46F45-57EF-0D4E-A4D0-0F772B63AD3C}"/>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4" name="Oval 109">
              <a:extLst>
                <a:ext uri="{FF2B5EF4-FFF2-40B4-BE49-F238E27FC236}">
                  <a16:creationId xmlns:a16="http://schemas.microsoft.com/office/drawing/2014/main" id="{B3D09494-676E-7147-8DB7-58C4F996D3DB}"/>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5" name="Oval 110">
              <a:extLst>
                <a:ext uri="{FF2B5EF4-FFF2-40B4-BE49-F238E27FC236}">
                  <a16:creationId xmlns:a16="http://schemas.microsoft.com/office/drawing/2014/main" id="{968DBA1F-DC50-4545-94A5-A2F56D05B06D}"/>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6" name="Oval 113">
              <a:extLst>
                <a:ext uri="{FF2B5EF4-FFF2-40B4-BE49-F238E27FC236}">
                  <a16:creationId xmlns:a16="http://schemas.microsoft.com/office/drawing/2014/main" id="{DFEF3729-F0C0-D445-8BDD-D83F4D19835D}"/>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7" name="Oval 114">
              <a:extLst>
                <a:ext uri="{FF2B5EF4-FFF2-40B4-BE49-F238E27FC236}">
                  <a16:creationId xmlns:a16="http://schemas.microsoft.com/office/drawing/2014/main" id="{0C669AF8-44C6-C141-BE59-A7EF902A900C}"/>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8" name="Oval 116">
              <a:extLst>
                <a:ext uri="{FF2B5EF4-FFF2-40B4-BE49-F238E27FC236}">
                  <a16:creationId xmlns:a16="http://schemas.microsoft.com/office/drawing/2014/main" id="{654027C2-3DE9-4845-A61C-4BAC9AC2C769}"/>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9" name="Oval 117">
              <a:extLst>
                <a:ext uri="{FF2B5EF4-FFF2-40B4-BE49-F238E27FC236}">
                  <a16:creationId xmlns:a16="http://schemas.microsoft.com/office/drawing/2014/main" id="{F13BC488-0363-FB4B-9699-7AA98D02F198}"/>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0" name="Freeform 118">
              <a:extLst>
                <a:ext uri="{FF2B5EF4-FFF2-40B4-BE49-F238E27FC236}">
                  <a16:creationId xmlns:a16="http://schemas.microsoft.com/office/drawing/2014/main" id="{74DADB42-EFC7-FD44-AEA2-94FFEF020046}"/>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1" name="Text Box 134">
              <a:extLst>
                <a:ext uri="{FF2B5EF4-FFF2-40B4-BE49-F238E27FC236}">
                  <a16:creationId xmlns:a16="http://schemas.microsoft.com/office/drawing/2014/main" id="{DBF338D5-1670-6947-8B83-B78C39E139BF}"/>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02" name="Text Box 135">
              <a:extLst>
                <a:ext uri="{FF2B5EF4-FFF2-40B4-BE49-F238E27FC236}">
                  <a16:creationId xmlns:a16="http://schemas.microsoft.com/office/drawing/2014/main" id="{83168F67-F7AB-0946-BD04-D36ABD341946}"/>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203" name="Text Box 140">
              <a:extLst>
                <a:ext uri="{FF2B5EF4-FFF2-40B4-BE49-F238E27FC236}">
                  <a16:creationId xmlns:a16="http://schemas.microsoft.com/office/drawing/2014/main" id="{4E9151EA-E8D8-664C-ACC1-C905EB35B0A2}"/>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204" name="Line 156">
              <a:extLst>
                <a:ext uri="{FF2B5EF4-FFF2-40B4-BE49-F238E27FC236}">
                  <a16:creationId xmlns:a16="http://schemas.microsoft.com/office/drawing/2014/main" id="{0550DAD8-B5DE-A24F-BC13-3CF3888B5B68}"/>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5" name="Line 146">
              <a:extLst>
                <a:ext uri="{FF2B5EF4-FFF2-40B4-BE49-F238E27FC236}">
                  <a16:creationId xmlns:a16="http://schemas.microsoft.com/office/drawing/2014/main" id="{A907BD30-ABBF-D24B-8041-A1A14A5A9822}"/>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6" name="Text Box 203">
              <a:extLst>
                <a:ext uri="{FF2B5EF4-FFF2-40B4-BE49-F238E27FC236}">
                  <a16:creationId xmlns:a16="http://schemas.microsoft.com/office/drawing/2014/main" id="{BC6E3203-2E52-224A-BB29-AC99E608D24F}"/>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207" name="Text Box 205">
              <a:extLst>
                <a:ext uri="{FF2B5EF4-FFF2-40B4-BE49-F238E27FC236}">
                  <a16:creationId xmlns:a16="http://schemas.microsoft.com/office/drawing/2014/main" id="{9A2402EA-7C47-3844-8DFA-CD71A41C3077}"/>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208" name="Line 215">
              <a:extLst>
                <a:ext uri="{FF2B5EF4-FFF2-40B4-BE49-F238E27FC236}">
                  <a16:creationId xmlns:a16="http://schemas.microsoft.com/office/drawing/2014/main" id="{388750D6-A062-8841-92FF-E25D643B7F11}"/>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9" name="Text Box 206">
              <a:extLst>
                <a:ext uri="{FF2B5EF4-FFF2-40B4-BE49-F238E27FC236}">
                  <a16:creationId xmlns:a16="http://schemas.microsoft.com/office/drawing/2014/main" id="{D5AD9B17-D736-4A4B-BBB0-1D44DA0D9247}"/>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10" name="Oval 125">
              <a:extLst>
                <a:ext uri="{FF2B5EF4-FFF2-40B4-BE49-F238E27FC236}">
                  <a16:creationId xmlns:a16="http://schemas.microsoft.com/office/drawing/2014/main" id="{995B52D9-541F-D14C-A448-5EE486878492}"/>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1" name="Oval 126">
              <a:extLst>
                <a:ext uri="{FF2B5EF4-FFF2-40B4-BE49-F238E27FC236}">
                  <a16:creationId xmlns:a16="http://schemas.microsoft.com/office/drawing/2014/main" id="{38453448-F0AC-8847-BE04-CF710D967BEF}"/>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2" name="Oval 127">
              <a:extLst>
                <a:ext uri="{FF2B5EF4-FFF2-40B4-BE49-F238E27FC236}">
                  <a16:creationId xmlns:a16="http://schemas.microsoft.com/office/drawing/2014/main" id="{B71816B9-A80E-F64D-BD85-4C1D3AE2CC67}"/>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3" name="Oval 128">
              <a:extLst>
                <a:ext uri="{FF2B5EF4-FFF2-40B4-BE49-F238E27FC236}">
                  <a16:creationId xmlns:a16="http://schemas.microsoft.com/office/drawing/2014/main" id="{1EA4D2C2-6F20-B04C-903C-F38432597C1E}"/>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4" name="Oval 129">
              <a:extLst>
                <a:ext uri="{FF2B5EF4-FFF2-40B4-BE49-F238E27FC236}">
                  <a16:creationId xmlns:a16="http://schemas.microsoft.com/office/drawing/2014/main" id="{8CDBE458-8DC9-754B-A588-245B0C84A997}"/>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5" name="Oval 130">
              <a:extLst>
                <a:ext uri="{FF2B5EF4-FFF2-40B4-BE49-F238E27FC236}">
                  <a16:creationId xmlns:a16="http://schemas.microsoft.com/office/drawing/2014/main" id="{0C412A46-E4EE-D448-A9DD-C3EBA8522507}"/>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6" name="Oval 131">
              <a:extLst>
                <a:ext uri="{FF2B5EF4-FFF2-40B4-BE49-F238E27FC236}">
                  <a16:creationId xmlns:a16="http://schemas.microsoft.com/office/drawing/2014/main" id="{EA781C68-1BDA-554E-B695-A7B1343D2C29}"/>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7" name="Oval 132">
              <a:extLst>
                <a:ext uri="{FF2B5EF4-FFF2-40B4-BE49-F238E27FC236}">
                  <a16:creationId xmlns:a16="http://schemas.microsoft.com/office/drawing/2014/main" id="{D2DC76CF-EEEE-1547-9168-B61F6DA6B484}"/>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8" name="Line 147">
              <a:extLst>
                <a:ext uri="{FF2B5EF4-FFF2-40B4-BE49-F238E27FC236}">
                  <a16:creationId xmlns:a16="http://schemas.microsoft.com/office/drawing/2014/main" id="{D2EB848B-33FA-3C45-97D3-FF8DA7C8E7D6}"/>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19" name="直接连接符 115">
              <a:extLst>
                <a:ext uri="{FF2B5EF4-FFF2-40B4-BE49-F238E27FC236}">
                  <a16:creationId xmlns:a16="http://schemas.microsoft.com/office/drawing/2014/main" id="{7A8E7E04-BF60-B544-B7CE-EBFD8BACD181}"/>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20" name="Rectangle 161">
              <a:extLst>
                <a:ext uri="{FF2B5EF4-FFF2-40B4-BE49-F238E27FC236}">
                  <a16:creationId xmlns:a16="http://schemas.microsoft.com/office/drawing/2014/main" id="{BB1AB079-B9B5-2D46-9042-F2A5FDE7CC60}"/>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221" name="Oval 129">
              <a:extLst>
                <a:ext uri="{FF2B5EF4-FFF2-40B4-BE49-F238E27FC236}">
                  <a16:creationId xmlns:a16="http://schemas.microsoft.com/office/drawing/2014/main" id="{6A06E968-24AE-EC41-AF95-0706A1768C18}"/>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2" name="任意多边形 134">
              <a:extLst>
                <a:ext uri="{FF2B5EF4-FFF2-40B4-BE49-F238E27FC236}">
                  <a16:creationId xmlns:a16="http://schemas.microsoft.com/office/drawing/2014/main" id="{EAD4985F-CF22-014F-886D-124F2584D9AB}"/>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3" name="Rectangle 161">
              <a:extLst>
                <a:ext uri="{FF2B5EF4-FFF2-40B4-BE49-F238E27FC236}">
                  <a16:creationId xmlns:a16="http://schemas.microsoft.com/office/drawing/2014/main" id="{AF331C53-C355-F345-9782-FCE06691C85D}"/>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224" name="直接连接符 119">
              <a:extLst>
                <a:ext uri="{FF2B5EF4-FFF2-40B4-BE49-F238E27FC236}">
                  <a16:creationId xmlns:a16="http://schemas.microsoft.com/office/drawing/2014/main" id="{A47003EE-EC58-394B-977F-5CE330BB7500}"/>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25" name="直接连接符 121">
              <a:extLst>
                <a:ext uri="{FF2B5EF4-FFF2-40B4-BE49-F238E27FC236}">
                  <a16:creationId xmlns:a16="http://schemas.microsoft.com/office/drawing/2014/main" id="{9FB5CD1E-7B38-1747-B15D-FD13A70F947D}"/>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26" name="Line 24">
              <a:extLst>
                <a:ext uri="{FF2B5EF4-FFF2-40B4-BE49-F238E27FC236}">
                  <a16:creationId xmlns:a16="http://schemas.microsoft.com/office/drawing/2014/main" id="{3A427C53-9250-3D41-9D83-66E088FDD263}"/>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7" name="Line 22">
              <a:extLst>
                <a:ext uri="{FF2B5EF4-FFF2-40B4-BE49-F238E27FC236}">
                  <a16:creationId xmlns:a16="http://schemas.microsoft.com/office/drawing/2014/main" id="{B56D9271-E9B8-4D46-AEE2-DDFC52DE9CCC}"/>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8" name="Text Box 87">
              <a:extLst>
                <a:ext uri="{FF2B5EF4-FFF2-40B4-BE49-F238E27FC236}">
                  <a16:creationId xmlns:a16="http://schemas.microsoft.com/office/drawing/2014/main" id="{9F637F6D-1446-C841-9999-592E4409E901}"/>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229" name="Line 22">
              <a:extLst>
                <a:ext uri="{FF2B5EF4-FFF2-40B4-BE49-F238E27FC236}">
                  <a16:creationId xmlns:a16="http://schemas.microsoft.com/office/drawing/2014/main" id="{C0D44292-34C3-824D-B453-60B9D8628EFC}"/>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30" name="直接连接符 134">
              <a:extLst>
                <a:ext uri="{FF2B5EF4-FFF2-40B4-BE49-F238E27FC236}">
                  <a16:creationId xmlns:a16="http://schemas.microsoft.com/office/drawing/2014/main" id="{134CD25B-6564-7345-AF14-3230493396D8}"/>
                </a:ext>
              </a:extLst>
            </p:cNvPr>
            <p:cNvCxnSpPr>
              <a:cxnSpLocks noChangeShapeType="1"/>
              <a:stCxn id="222" idx="4"/>
            </p:cNvCxnSpPr>
            <p:nvPr/>
          </p:nvCxnSpPr>
          <p:spPr bwMode="auto">
            <a:xfrm>
              <a:off x="6706617" y="2109019"/>
              <a:ext cx="200025" cy="785812"/>
            </a:xfrm>
            <a:prstGeom prst="line">
              <a:avLst/>
            </a:prstGeom>
            <a:noFill/>
            <a:ln w="19050" algn="ctr">
              <a:solidFill>
                <a:srgbClr val="0000FF"/>
              </a:solidFill>
              <a:round/>
              <a:headEnd/>
              <a:tailEnd/>
            </a:ln>
          </p:spPr>
        </p:cxnSp>
        <p:sp>
          <p:nvSpPr>
            <p:cNvPr id="231" name="Text Box 206">
              <a:extLst>
                <a:ext uri="{FF2B5EF4-FFF2-40B4-BE49-F238E27FC236}">
                  <a16:creationId xmlns:a16="http://schemas.microsoft.com/office/drawing/2014/main" id="{0DD36D50-A072-164C-A957-32681CC72421}"/>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2" name="Text Box 206">
              <a:extLst>
                <a:ext uri="{FF2B5EF4-FFF2-40B4-BE49-F238E27FC236}">
                  <a16:creationId xmlns:a16="http://schemas.microsoft.com/office/drawing/2014/main" id="{12D40FDF-7C49-374A-9500-A084AB2ACC7D}"/>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3" name="TextBox 147">
              <a:extLst>
                <a:ext uri="{FF2B5EF4-FFF2-40B4-BE49-F238E27FC236}">
                  <a16:creationId xmlns:a16="http://schemas.microsoft.com/office/drawing/2014/main" id="{4EB19939-E77F-5348-B88F-D7DE0A099C4D}"/>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34" name="TextBox 148">
              <a:extLst>
                <a:ext uri="{FF2B5EF4-FFF2-40B4-BE49-F238E27FC236}">
                  <a16:creationId xmlns:a16="http://schemas.microsoft.com/office/drawing/2014/main" id="{2D5869A3-EDB0-CD41-B7A9-075D58A90B6F}"/>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235" name="直接连接符 153">
              <a:extLst>
                <a:ext uri="{FF2B5EF4-FFF2-40B4-BE49-F238E27FC236}">
                  <a16:creationId xmlns:a16="http://schemas.microsoft.com/office/drawing/2014/main" id="{E3343291-35D2-6447-BF5A-198806B31159}"/>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36" name="直接连接符 119">
              <a:extLst>
                <a:ext uri="{FF2B5EF4-FFF2-40B4-BE49-F238E27FC236}">
                  <a16:creationId xmlns:a16="http://schemas.microsoft.com/office/drawing/2014/main" id="{63E2BCF8-3706-CC44-9E28-B9ACA3C3D218}"/>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7" name="直接连接符 141">
              <a:extLst>
                <a:ext uri="{FF2B5EF4-FFF2-40B4-BE49-F238E27FC236}">
                  <a16:creationId xmlns:a16="http://schemas.microsoft.com/office/drawing/2014/main" id="{ED0A2FB5-2079-FC40-932D-9FD98F359D81}"/>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238" name="Oval 202">
              <a:extLst>
                <a:ext uri="{FF2B5EF4-FFF2-40B4-BE49-F238E27FC236}">
                  <a16:creationId xmlns:a16="http://schemas.microsoft.com/office/drawing/2014/main" id="{B64C12D9-D54D-6A41-A29D-F2FBEC2B4FE2}"/>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9" name="Oval 130">
              <a:extLst>
                <a:ext uri="{FF2B5EF4-FFF2-40B4-BE49-F238E27FC236}">
                  <a16:creationId xmlns:a16="http://schemas.microsoft.com/office/drawing/2014/main" id="{1A55888A-B368-FC49-A5E6-3D4BD9A398BD}"/>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0" name="Oval 130">
              <a:extLst>
                <a:ext uri="{FF2B5EF4-FFF2-40B4-BE49-F238E27FC236}">
                  <a16:creationId xmlns:a16="http://schemas.microsoft.com/office/drawing/2014/main" id="{934B04B9-A945-7F4A-B980-DDAB5F4072BC}"/>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1" name="TextBox 149">
              <a:extLst>
                <a:ext uri="{FF2B5EF4-FFF2-40B4-BE49-F238E27FC236}">
                  <a16:creationId xmlns:a16="http://schemas.microsoft.com/office/drawing/2014/main" id="{E4CFF53D-2ADA-A249-9287-347DFADDBD53}"/>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42" name="Oval 202">
              <a:extLst>
                <a:ext uri="{FF2B5EF4-FFF2-40B4-BE49-F238E27FC236}">
                  <a16:creationId xmlns:a16="http://schemas.microsoft.com/office/drawing/2014/main" id="{7A105BEC-AD49-BB4C-964F-2CFC9B6E9062}"/>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43" name="直接连接符 126">
              <a:extLst>
                <a:ext uri="{FF2B5EF4-FFF2-40B4-BE49-F238E27FC236}">
                  <a16:creationId xmlns:a16="http://schemas.microsoft.com/office/drawing/2014/main" id="{DCE9AA87-BAAB-AB4C-B067-858B7A6F2AEC}"/>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44" name="直接连接符 119">
              <a:extLst>
                <a:ext uri="{FF2B5EF4-FFF2-40B4-BE49-F238E27FC236}">
                  <a16:creationId xmlns:a16="http://schemas.microsoft.com/office/drawing/2014/main" id="{5453B637-6191-3741-96B9-68A581B75A1C}"/>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45" name="Text Box 140">
            <a:extLst>
              <a:ext uri="{FF2B5EF4-FFF2-40B4-BE49-F238E27FC236}">
                <a16:creationId xmlns:a16="http://schemas.microsoft.com/office/drawing/2014/main" id="{86193490-C0AC-7E43-A926-93AC3D8A9011}"/>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246" name="Line 167">
            <a:extLst>
              <a:ext uri="{FF2B5EF4-FFF2-40B4-BE49-F238E27FC236}">
                <a16:creationId xmlns:a16="http://schemas.microsoft.com/office/drawing/2014/main" id="{FC6B6EAB-8807-0141-850E-0E7503730CC9}"/>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sp>
        <p:nvSpPr>
          <p:cNvPr id="247" name="Line 147">
            <a:extLst>
              <a:ext uri="{FF2B5EF4-FFF2-40B4-BE49-F238E27FC236}">
                <a16:creationId xmlns:a16="http://schemas.microsoft.com/office/drawing/2014/main" id="{F73EAC60-7689-1246-A89A-66B78176AC7A}"/>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8" name="Oval 130">
            <a:extLst>
              <a:ext uri="{FF2B5EF4-FFF2-40B4-BE49-F238E27FC236}">
                <a16:creationId xmlns:a16="http://schemas.microsoft.com/office/drawing/2014/main" id="{E4A3FB18-5B49-FE4C-A9AA-0590B2A72606}"/>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9" name="Text Box 93">
            <a:extLst>
              <a:ext uri="{FF2B5EF4-FFF2-40B4-BE49-F238E27FC236}">
                <a16:creationId xmlns:a16="http://schemas.microsoft.com/office/drawing/2014/main" id="{438F0601-6542-D447-B3D5-61D46E0762EC}"/>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
        <p:nvSpPr>
          <p:cNvPr id="252" name="Line 167">
            <a:extLst>
              <a:ext uri="{FF2B5EF4-FFF2-40B4-BE49-F238E27FC236}">
                <a16:creationId xmlns:a16="http://schemas.microsoft.com/office/drawing/2014/main" id="{EF8F0946-BE71-8E47-8763-712259E0070E}"/>
              </a:ext>
            </a:extLst>
          </p:cNvPr>
          <p:cNvSpPr>
            <a:spLocks noChangeShapeType="1"/>
          </p:cNvSpPr>
          <p:nvPr/>
        </p:nvSpPr>
        <p:spPr bwMode="auto">
          <a:xfrm>
            <a:off x="5778897" y="4012092"/>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a:defRPr/>
            </a:pPr>
            <a:endParaRPr lang="zh-CN" altLang="en-US" sz="2400" b="1" kern="0" dirty="0">
              <a:solidFill>
                <a:sysClr val="windowText" lastClr="000000"/>
              </a:solidFill>
              <a:latin typeface="Calibri"/>
              <a:ea typeface="宋体" panose="02010600030101010101" pitchFamily="2" charset="-122"/>
            </a:endParaRPr>
          </a:p>
        </p:txBody>
      </p:sp>
      <p:sp>
        <p:nvSpPr>
          <p:cNvPr id="253" name="Text Box 155">
            <a:extLst>
              <a:ext uri="{FF2B5EF4-FFF2-40B4-BE49-F238E27FC236}">
                <a16:creationId xmlns:a16="http://schemas.microsoft.com/office/drawing/2014/main" id="{EFBDE066-C355-0C40-AD72-B61BD17893C6}"/>
              </a:ext>
            </a:extLst>
          </p:cNvPr>
          <p:cNvSpPr txBox="1">
            <a:spLocks noChangeArrowheads="1"/>
          </p:cNvSpPr>
          <p:nvPr/>
        </p:nvSpPr>
        <p:spPr bwMode="auto">
          <a:xfrm>
            <a:off x="3381325" y="4722392"/>
            <a:ext cx="6396911" cy="904863"/>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24 </a:t>
            </a:r>
            <a:r>
              <a:rPr lang="zh-CN" altLang="en-US" sz="1600" b="1" dirty="0">
                <a:solidFill>
                  <a:srgbClr val="0000FF"/>
                </a:solidFill>
                <a:latin typeface="微软雅黑" pitchFamily="34" charset="-122"/>
                <a:ea typeface="微软雅黑" pitchFamily="34" charset="-122"/>
              </a:rPr>
              <a:t>时，网络出现了超时，发送方判断为网络拥塞。</a:t>
            </a:r>
            <a:r>
              <a:rPr lang="zh-CN" altLang="en-US" sz="1600" b="1" dirty="0">
                <a:solidFill>
                  <a:prstClr val="black"/>
                </a:solidFill>
                <a:latin typeface="微软雅黑" pitchFamily="34" charset="-122"/>
                <a:ea typeface="微软雅黑" pitchFamily="34" charset="-122"/>
              </a:rPr>
              <a:t>调整门限值 </a:t>
            </a:r>
            <a:r>
              <a:rPr lang="en-US" altLang="zh-CN" sz="1600" b="1" dirty="0" err="1">
                <a:solidFill>
                  <a:prstClr val="black"/>
                </a:solidFill>
                <a:latin typeface="微软雅黑" pitchFamily="34" charset="-122"/>
                <a:ea typeface="微软雅黑" pitchFamily="34" charset="-122"/>
              </a:rPr>
              <a:t>ssthresh</a:t>
            </a:r>
            <a:r>
              <a:rPr lang="en-US" altLang="zh-CN" sz="1600" b="1" dirty="0">
                <a:solidFill>
                  <a:prstClr val="black"/>
                </a:solidFill>
                <a:latin typeface="微软雅黑" pitchFamily="34" charset="-122"/>
                <a:ea typeface="微软雅黑" pitchFamily="34" charset="-122"/>
              </a:rPr>
              <a:t> = </a:t>
            </a:r>
            <a:r>
              <a:rPr lang="en-US" altLang="zh-CN" sz="1600" b="1" dirty="0" err="1">
                <a:solidFill>
                  <a:prstClr val="black"/>
                </a:solidFill>
                <a:latin typeface="微软雅黑" pitchFamily="34" charset="-122"/>
                <a:ea typeface="微软雅黑" pitchFamily="34" charset="-122"/>
              </a:rPr>
              <a:t>cwnd</a:t>
            </a:r>
            <a:r>
              <a:rPr lang="en-US" altLang="zh-CN" sz="1600" b="1" dirty="0">
                <a:solidFill>
                  <a:prstClr val="black"/>
                </a:solidFill>
                <a:latin typeface="微软雅黑" pitchFamily="34" charset="-122"/>
                <a:ea typeface="微软雅黑" pitchFamily="34" charset="-122"/>
              </a:rPr>
              <a:t> / 2 = 12</a:t>
            </a:r>
            <a:r>
              <a:rPr lang="zh-CN" altLang="en-US" sz="1600" b="1" dirty="0">
                <a:solidFill>
                  <a:prstClr val="black"/>
                </a:solidFill>
                <a:latin typeface="微软雅黑" pitchFamily="34" charset="-122"/>
                <a:ea typeface="微软雅黑" pitchFamily="34" charset="-122"/>
              </a:rPr>
              <a:t>，同时设置拥塞窗口 </a:t>
            </a:r>
            <a:r>
              <a:rPr lang="en-US" altLang="zh-CN" sz="1600" b="1" dirty="0" err="1">
                <a:solidFill>
                  <a:prstClr val="black"/>
                </a:solidFill>
                <a:latin typeface="微软雅黑" pitchFamily="34" charset="-122"/>
                <a:ea typeface="微软雅黑" pitchFamily="34" charset="-122"/>
              </a:rPr>
              <a:t>cwnd</a:t>
            </a:r>
            <a:r>
              <a:rPr lang="en-US" altLang="zh-CN" sz="1600" b="1" dirty="0">
                <a:solidFill>
                  <a:prstClr val="black"/>
                </a:solidFill>
                <a:latin typeface="微软雅黑" pitchFamily="34" charset="-122"/>
                <a:ea typeface="微软雅黑" pitchFamily="34" charset="-122"/>
              </a:rPr>
              <a:t> = 1</a:t>
            </a:r>
            <a:r>
              <a:rPr lang="zh-CN" altLang="en-US" sz="1600" b="1" dirty="0">
                <a:solidFill>
                  <a:prstClr val="black"/>
                </a:solidFill>
                <a:latin typeface="微软雅黑" pitchFamily="34" charset="-122"/>
                <a:ea typeface="微软雅黑" pitchFamily="34" charset="-122"/>
              </a:rPr>
              <a:t>，进入慢开始阶段。</a:t>
            </a:r>
          </a:p>
        </p:txBody>
      </p:sp>
    </p:spTree>
    <p:extLst>
      <p:ext uri="{BB962C8B-B14F-4D97-AF65-F5344CB8AC3E}">
        <p14:creationId xmlns:p14="http://schemas.microsoft.com/office/powerpoint/2010/main" val="6233430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091F0-E665-380D-8F9F-97AFD5A52FBD}"/>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50C12B06-6901-5411-174E-31F6789F3BBB}"/>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EDAED85B-F607-9FF4-6D77-9FA12CFCBCFA}"/>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62F97B5F-28FF-E3CE-D7DD-FDB0EA50430C}"/>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1FE93B75-1B88-9390-4D71-FA75D4096D40}"/>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43340FCD-527C-EC5C-1E1C-D7DEBCB3DF3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129" name="组合 128">
            <a:extLst>
              <a:ext uri="{FF2B5EF4-FFF2-40B4-BE49-F238E27FC236}">
                <a16:creationId xmlns:a16="http://schemas.microsoft.com/office/drawing/2014/main" id="{99BBAFB0-5141-C7D7-1E8D-00701E3CA542}"/>
              </a:ext>
            </a:extLst>
          </p:cNvPr>
          <p:cNvGrpSpPr/>
          <p:nvPr/>
        </p:nvGrpSpPr>
        <p:grpSpPr>
          <a:xfrm>
            <a:off x="505664" y="1426139"/>
            <a:ext cx="6645148" cy="525530"/>
            <a:chOff x="722008" y="1303131"/>
            <a:chExt cx="6344982" cy="501792"/>
          </a:xfrm>
        </p:grpSpPr>
        <p:sp>
          <p:nvSpPr>
            <p:cNvPr id="130" name="流程图: 手动输入 6">
              <a:extLst>
                <a:ext uri="{FF2B5EF4-FFF2-40B4-BE49-F238E27FC236}">
                  <a16:creationId xmlns:a16="http://schemas.microsoft.com/office/drawing/2014/main" id="{D4B12CA4-B759-83A2-5E68-0741EC86B86B}"/>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31" name="组合 130">
              <a:extLst>
                <a:ext uri="{FF2B5EF4-FFF2-40B4-BE49-F238E27FC236}">
                  <a16:creationId xmlns:a16="http://schemas.microsoft.com/office/drawing/2014/main" id="{3F1AA4CB-6843-2F58-6957-DDBB78C104C4}"/>
                </a:ext>
              </a:extLst>
            </p:cNvPr>
            <p:cNvGrpSpPr/>
            <p:nvPr/>
          </p:nvGrpSpPr>
          <p:grpSpPr>
            <a:xfrm>
              <a:off x="722008" y="1303131"/>
              <a:ext cx="546594" cy="475865"/>
              <a:chOff x="708742" y="1296102"/>
              <a:chExt cx="454744" cy="283828"/>
            </a:xfrm>
          </p:grpSpPr>
          <p:sp>
            <p:nvSpPr>
              <p:cNvPr id="133" name="平行四边形 132">
                <a:extLst>
                  <a:ext uri="{FF2B5EF4-FFF2-40B4-BE49-F238E27FC236}">
                    <a16:creationId xmlns:a16="http://schemas.microsoft.com/office/drawing/2014/main" id="{CE30A059-19BC-0CD7-0ED4-98E3FBCE0D9B}"/>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34" name="平行四边形 133">
                <a:extLst>
                  <a:ext uri="{FF2B5EF4-FFF2-40B4-BE49-F238E27FC236}">
                    <a16:creationId xmlns:a16="http://schemas.microsoft.com/office/drawing/2014/main" id="{F2E3E544-CCA4-5B61-AE32-D15F6B08B08A}"/>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32" name="Text Box 79">
              <a:extLst>
                <a:ext uri="{FF2B5EF4-FFF2-40B4-BE49-F238E27FC236}">
                  <a16:creationId xmlns:a16="http://schemas.microsoft.com/office/drawing/2014/main" id="{43A195F1-D816-99C6-E644-58F301BD142E}"/>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49" name="灯片编号占位符 48">
            <a:extLst>
              <a:ext uri="{FF2B5EF4-FFF2-40B4-BE49-F238E27FC236}">
                <a16:creationId xmlns:a16="http://schemas.microsoft.com/office/drawing/2014/main" id="{7F9B058C-1EA1-4DD8-A5ED-4D542F4CA980}"/>
              </a:ext>
            </a:extLst>
          </p:cNvPr>
          <p:cNvSpPr>
            <a:spLocks noGrp="1"/>
          </p:cNvSpPr>
          <p:nvPr>
            <p:ph type="sldNum" sz="quarter" idx="12"/>
          </p:nvPr>
        </p:nvSpPr>
        <p:spPr/>
        <p:txBody>
          <a:bodyPr/>
          <a:lstStyle/>
          <a:p>
            <a:fld id="{5956A083-5018-4B52-82A0-83241B8E3D94}" type="slidenum">
              <a:rPr lang="zh-CN" altLang="en-US" smtClean="0"/>
              <a:t>65</a:t>
            </a:fld>
            <a:endParaRPr lang="zh-CN" altLang="en-US"/>
          </a:p>
        </p:txBody>
      </p:sp>
      <p:sp>
        <p:nvSpPr>
          <p:cNvPr id="135" name="圆角矩形 150">
            <a:extLst>
              <a:ext uri="{FF2B5EF4-FFF2-40B4-BE49-F238E27FC236}">
                <a16:creationId xmlns:a16="http://schemas.microsoft.com/office/drawing/2014/main" id="{F7C03457-6CF6-7145-8CBF-369E10B15D87}"/>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36" name="组合 135">
            <a:extLst>
              <a:ext uri="{FF2B5EF4-FFF2-40B4-BE49-F238E27FC236}">
                <a16:creationId xmlns:a16="http://schemas.microsoft.com/office/drawing/2014/main" id="{BD4400D2-1211-0848-9412-A3826877361C}"/>
              </a:ext>
            </a:extLst>
          </p:cNvPr>
          <p:cNvGrpSpPr/>
          <p:nvPr/>
        </p:nvGrpSpPr>
        <p:grpSpPr>
          <a:xfrm>
            <a:off x="3043104" y="2417895"/>
            <a:ext cx="6808860" cy="2262108"/>
            <a:chOff x="300646" y="840152"/>
            <a:chExt cx="9638211" cy="3093013"/>
          </a:xfrm>
        </p:grpSpPr>
        <p:sp>
          <p:nvSpPr>
            <p:cNvPr id="137" name="Text Box 140">
              <a:extLst>
                <a:ext uri="{FF2B5EF4-FFF2-40B4-BE49-F238E27FC236}">
                  <a16:creationId xmlns:a16="http://schemas.microsoft.com/office/drawing/2014/main" id="{081334B2-F129-2B40-AD8E-E2B276E89453}"/>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8" name="Line 2">
              <a:extLst>
                <a:ext uri="{FF2B5EF4-FFF2-40B4-BE49-F238E27FC236}">
                  <a16:creationId xmlns:a16="http://schemas.microsoft.com/office/drawing/2014/main" id="{F883147D-7FD2-1541-8604-14AE3C01E1CC}"/>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9" name="Line 3">
              <a:extLst>
                <a:ext uri="{FF2B5EF4-FFF2-40B4-BE49-F238E27FC236}">
                  <a16:creationId xmlns:a16="http://schemas.microsoft.com/office/drawing/2014/main" id="{DDB6A5EF-D3EF-134B-AC15-6D973B53D277}"/>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0" name="Line 4">
              <a:extLst>
                <a:ext uri="{FF2B5EF4-FFF2-40B4-BE49-F238E27FC236}">
                  <a16:creationId xmlns:a16="http://schemas.microsoft.com/office/drawing/2014/main" id="{028864F5-E601-BF49-98EF-7A6B6BB886B6}"/>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1" name="Line 5">
              <a:extLst>
                <a:ext uri="{FF2B5EF4-FFF2-40B4-BE49-F238E27FC236}">
                  <a16:creationId xmlns:a16="http://schemas.microsoft.com/office/drawing/2014/main" id="{EC206768-8659-A040-8061-9CAC15105D1E}"/>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2" name="Line 6">
              <a:extLst>
                <a:ext uri="{FF2B5EF4-FFF2-40B4-BE49-F238E27FC236}">
                  <a16:creationId xmlns:a16="http://schemas.microsoft.com/office/drawing/2014/main" id="{1075F4E5-CE0B-FF49-833B-65285ABE01C4}"/>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3" name="Line 7">
              <a:extLst>
                <a:ext uri="{FF2B5EF4-FFF2-40B4-BE49-F238E27FC236}">
                  <a16:creationId xmlns:a16="http://schemas.microsoft.com/office/drawing/2014/main" id="{8C887D46-57E4-9347-8F7B-22BDBC66B337}"/>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4" name="Line 8">
              <a:extLst>
                <a:ext uri="{FF2B5EF4-FFF2-40B4-BE49-F238E27FC236}">
                  <a16:creationId xmlns:a16="http://schemas.microsoft.com/office/drawing/2014/main" id="{5409A6B2-CF86-964F-98DF-99B35DDE515A}"/>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5" name="Line 9">
              <a:extLst>
                <a:ext uri="{FF2B5EF4-FFF2-40B4-BE49-F238E27FC236}">
                  <a16:creationId xmlns:a16="http://schemas.microsoft.com/office/drawing/2014/main" id="{B4D85326-EE57-A742-872B-E43F6F296A00}"/>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6" name="Line 10">
              <a:extLst>
                <a:ext uri="{FF2B5EF4-FFF2-40B4-BE49-F238E27FC236}">
                  <a16:creationId xmlns:a16="http://schemas.microsoft.com/office/drawing/2014/main" id="{04BCDD28-7473-B74F-91FF-86EA1E8547B4}"/>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7" name="Line 11">
              <a:extLst>
                <a:ext uri="{FF2B5EF4-FFF2-40B4-BE49-F238E27FC236}">
                  <a16:creationId xmlns:a16="http://schemas.microsoft.com/office/drawing/2014/main" id="{80D28423-D120-C94A-AE8E-69F3B78E8E0E}"/>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8" name="Line 12">
              <a:extLst>
                <a:ext uri="{FF2B5EF4-FFF2-40B4-BE49-F238E27FC236}">
                  <a16:creationId xmlns:a16="http://schemas.microsoft.com/office/drawing/2014/main" id="{9DF62DF4-CEB7-A84D-992B-474F41D1FB4C}"/>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9" name="Line 13">
              <a:extLst>
                <a:ext uri="{FF2B5EF4-FFF2-40B4-BE49-F238E27FC236}">
                  <a16:creationId xmlns:a16="http://schemas.microsoft.com/office/drawing/2014/main" id="{02F10D2C-F538-3041-87B2-15F3E048D0DF}"/>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0" name="Line 14">
              <a:extLst>
                <a:ext uri="{FF2B5EF4-FFF2-40B4-BE49-F238E27FC236}">
                  <a16:creationId xmlns:a16="http://schemas.microsoft.com/office/drawing/2014/main" id="{9B63FE52-AC08-024B-9D2B-E7C8ED3F1AA7}"/>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1" name="Line 15">
              <a:extLst>
                <a:ext uri="{FF2B5EF4-FFF2-40B4-BE49-F238E27FC236}">
                  <a16:creationId xmlns:a16="http://schemas.microsoft.com/office/drawing/2014/main" id="{7D7A63F1-2F89-B74B-BF93-817A235CF950}"/>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2" name="Line 16">
              <a:extLst>
                <a:ext uri="{FF2B5EF4-FFF2-40B4-BE49-F238E27FC236}">
                  <a16:creationId xmlns:a16="http://schemas.microsoft.com/office/drawing/2014/main" id="{3EAC3283-E423-5445-8CB1-6BD0E88A45BD}"/>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3" name="Line 17">
              <a:extLst>
                <a:ext uri="{FF2B5EF4-FFF2-40B4-BE49-F238E27FC236}">
                  <a16:creationId xmlns:a16="http://schemas.microsoft.com/office/drawing/2014/main" id="{05B5764F-EEBA-0C49-91A3-0DC016F3C385}"/>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4" name="Line 18">
              <a:extLst>
                <a:ext uri="{FF2B5EF4-FFF2-40B4-BE49-F238E27FC236}">
                  <a16:creationId xmlns:a16="http://schemas.microsoft.com/office/drawing/2014/main" id="{6EB5FDB6-DEE2-844F-8D4C-037E09AF12E9}"/>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5" name="Line 19">
              <a:extLst>
                <a:ext uri="{FF2B5EF4-FFF2-40B4-BE49-F238E27FC236}">
                  <a16:creationId xmlns:a16="http://schemas.microsoft.com/office/drawing/2014/main" id="{5BA814FB-BFFD-DF47-BECD-A8C63AE0EE25}"/>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6" name="Line 20">
              <a:extLst>
                <a:ext uri="{FF2B5EF4-FFF2-40B4-BE49-F238E27FC236}">
                  <a16:creationId xmlns:a16="http://schemas.microsoft.com/office/drawing/2014/main" id="{3841858D-C930-0F4F-BF89-543F9FABE50F}"/>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7" name="Line 21">
              <a:extLst>
                <a:ext uri="{FF2B5EF4-FFF2-40B4-BE49-F238E27FC236}">
                  <a16:creationId xmlns:a16="http://schemas.microsoft.com/office/drawing/2014/main" id="{2BB10C16-C331-9045-93E0-DA0994D4697B}"/>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8" name="Line 22">
              <a:extLst>
                <a:ext uri="{FF2B5EF4-FFF2-40B4-BE49-F238E27FC236}">
                  <a16:creationId xmlns:a16="http://schemas.microsoft.com/office/drawing/2014/main" id="{36154EA6-49B3-514B-8022-F3BD43F487D7}"/>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9" name="Line 23">
              <a:extLst>
                <a:ext uri="{FF2B5EF4-FFF2-40B4-BE49-F238E27FC236}">
                  <a16:creationId xmlns:a16="http://schemas.microsoft.com/office/drawing/2014/main" id="{5064C072-7419-7941-8797-5C9DED2B92DE}"/>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0" name="Line 24">
              <a:extLst>
                <a:ext uri="{FF2B5EF4-FFF2-40B4-BE49-F238E27FC236}">
                  <a16:creationId xmlns:a16="http://schemas.microsoft.com/office/drawing/2014/main" id="{569644CC-503B-F442-8C51-CF617C6AB9EA}"/>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1" name="Line 25">
              <a:extLst>
                <a:ext uri="{FF2B5EF4-FFF2-40B4-BE49-F238E27FC236}">
                  <a16:creationId xmlns:a16="http://schemas.microsoft.com/office/drawing/2014/main" id="{D5347AE3-6388-BD4E-9B5D-7CFCFC1F6984}"/>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2" name="Line 40">
              <a:extLst>
                <a:ext uri="{FF2B5EF4-FFF2-40B4-BE49-F238E27FC236}">
                  <a16:creationId xmlns:a16="http://schemas.microsoft.com/office/drawing/2014/main" id="{6640DD29-E6DC-1443-B4EA-1E5C73FB158E}"/>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3" name="Line 41">
              <a:extLst>
                <a:ext uri="{FF2B5EF4-FFF2-40B4-BE49-F238E27FC236}">
                  <a16:creationId xmlns:a16="http://schemas.microsoft.com/office/drawing/2014/main" id="{AF73D0E3-C989-E842-BF84-42A7785C82EF}"/>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4" name="Line 42">
              <a:extLst>
                <a:ext uri="{FF2B5EF4-FFF2-40B4-BE49-F238E27FC236}">
                  <a16:creationId xmlns:a16="http://schemas.microsoft.com/office/drawing/2014/main" id="{A8DB8E43-1FA4-954D-BFB3-77B56EC0B288}"/>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5" name="Line 43">
              <a:extLst>
                <a:ext uri="{FF2B5EF4-FFF2-40B4-BE49-F238E27FC236}">
                  <a16:creationId xmlns:a16="http://schemas.microsoft.com/office/drawing/2014/main" id="{9CA7DFEF-5EAB-4745-8128-5084E365368A}"/>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6" name="Line 44">
              <a:extLst>
                <a:ext uri="{FF2B5EF4-FFF2-40B4-BE49-F238E27FC236}">
                  <a16:creationId xmlns:a16="http://schemas.microsoft.com/office/drawing/2014/main" id="{B718B163-FB38-4D49-9909-2499A367FA98}"/>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7" name="Line 45">
              <a:extLst>
                <a:ext uri="{FF2B5EF4-FFF2-40B4-BE49-F238E27FC236}">
                  <a16:creationId xmlns:a16="http://schemas.microsoft.com/office/drawing/2014/main" id="{D1619A51-8C2E-D64D-87DE-12BF17E8D8D4}"/>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8" name="Text Box 77">
              <a:extLst>
                <a:ext uri="{FF2B5EF4-FFF2-40B4-BE49-F238E27FC236}">
                  <a16:creationId xmlns:a16="http://schemas.microsoft.com/office/drawing/2014/main" id="{317874D8-B2E9-3544-86EA-7D5ED4A2E209}"/>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169" name="Text Box 78">
              <a:extLst>
                <a:ext uri="{FF2B5EF4-FFF2-40B4-BE49-F238E27FC236}">
                  <a16:creationId xmlns:a16="http://schemas.microsoft.com/office/drawing/2014/main" id="{EF6A791A-61B1-D546-A410-00267FED12BA}"/>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70" name="Text Box 79">
              <a:extLst>
                <a:ext uri="{FF2B5EF4-FFF2-40B4-BE49-F238E27FC236}">
                  <a16:creationId xmlns:a16="http://schemas.microsoft.com/office/drawing/2014/main" id="{0527FF6F-3E89-2C45-9886-0A60ADB4C495}"/>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171" name="Text Box 80">
              <a:extLst>
                <a:ext uri="{FF2B5EF4-FFF2-40B4-BE49-F238E27FC236}">
                  <a16:creationId xmlns:a16="http://schemas.microsoft.com/office/drawing/2014/main" id="{1AC6E69A-3225-6C4B-9218-7E34E780D597}"/>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172" name="Text Box 81">
              <a:extLst>
                <a:ext uri="{FF2B5EF4-FFF2-40B4-BE49-F238E27FC236}">
                  <a16:creationId xmlns:a16="http://schemas.microsoft.com/office/drawing/2014/main" id="{DBD0C653-58BB-6047-8D93-556B239C3686}"/>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173" name="Text Box 82">
              <a:extLst>
                <a:ext uri="{FF2B5EF4-FFF2-40B4-BE49-F238E27FC236}">
                  <a16:creationId xmlns:a16="http://schemas.microsoft.com/office/drawing/2014/main" id="{214DEE78-1E32-0144-BC9E-3798C9305749}"/>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74" name="Text Box 83">
              <a:extLst>
                <a:ext uri="{FF2B5EF4-FFF2-40B4-BE49-F238E27FC236}">
                  <a16:creationId xmlns:a16="http://schemas.microsoft.com/office/drawing/2014/main" id="{E0A556F2-32DA-074A-AC80-28B56DAB72D2}"/>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175" name="Text Box 84">
              <a:extLst>
                <a:ext uri="{FF2B5EF4-FFF2-40B4-BE49-F238E27FC236}">
                  <a16:creationId xmlns:a16="http://schemas.microsoft.com/office/drawing/2014/main" id="{FB00C753-2A25-424A-8932-FA930C71139B}"/>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76" name="Text Box 85">
              <a:extLst>
                <a:ext uri="{FF2B5EF4-FFF2-40B4-BE49-F238E27FC236}">
                  <a16:creationId xmlns:a16="http://schemas.microsoft.com/office/drawing/2014/main" id="{87426CEF-D236-304D-896F-3F48C44E1BD5}"/>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177" name="Text Box 86">
              <a:extLst>
                <a:ext uri="{FF2B5EF4-FFF2-40B4-BE49-F238E27FC236}">
                  <a16:creationId xmlns:a16="http://schemas.microsoft.com/office/drawing/2014/main" id="{7E042765-1C4C-144F-A1A5-E0C59066D158}"/>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78" name="Text Box 87">
              <a:extLst>
                <a:ext uri="{FF2B5EF4-FFF2-40B4-BE49-F238E27FC236}">
                  <a16:creationId xmlns:a16="http://schemas.microsoft.com/office/drawing/2014/main" id="{9E69B99A-D9AF-CB43-980C-7FA0A3901133}"/>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179" name="Text Box 89">
              <a:extLst>
                <a:ext uri="{FF2B5EF4-FFF2-40B4-BE49-F238E27FC236}">
                  <a16:creationId xmlns:a16="http://schemas.microsoft.com/office/drawing/2014/main" id="{3A4D9179-2C23-834F-A6D9-9D799120A86C}"/>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0" name="Text Box 90">
              <a:extLst>
                <a:ext uri="{FF2B5EF4-FFF2-40B4-BE49-F238E27FC236}">
                  <a16:creationId xmlns:a16="http://schemas.microsoft.com/office/drawing/2014/main" id="{837582F3-0A97-AF4D-B659-DE418E61CE99}"/>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1" name="Text Box 91">
              <a:extLst>
                <a:ext uri="{FF2B5EF4-FFF2-40B4-BE49-F238E27FC236}">
                  <a16:creationId xmlns:a16="http://schemas.microsoft.com/office/drawing/2014/main" id="{0966DEF5-45BD-C648-A8F8-F0ED3D388B19}"/>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82" name="Text Box 92">
              <a:extLst>
                <a:ext uri="{FF2B5EF4-FFF2-40B4-BE49-F238E27FC236}">
                  <a16:creationId xmlns:a16="http://schemas.microsoft.com/office/drawing/2014/main" id="{CD27A66E-7AD3-CD42-A313-D91ECC0E1CD0}"/>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183" name="Text Box 93">
              <a:extLst>
                <a:ext uri="{FF2B5EF4-FFF2-40B4-BE49-F238E27FC236}">
                  <a16:creationId xmlns:a16="http://schemas.microsoft.com/office/drawing/2014/main" id="{493FCA59-DF71-504B-BBEA-9D9155E1AFAF}"/>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84" name="Text Box 94">
              <a:extLst>
                <a:ext uri="{FF2B5EF4-FFF2-40B4-BE49-F238E27FC236}">
                  <a16:creationId xmlns:a16="http://schemas.microsoft.com/office/drawing/2014/main" id="{F1EEBE40-50B1-2A49-85E6-BBEB504C296C}"/>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85" name="Text Box 95">
              <a:extLst>
                <a:ext uri="{FF2B5EF4-FFF2-40B4-BE49-F238E27FC236}">
                  <a16:creationId xmlns:a16="http://schemas.microsoft.com/office/drawing/2014/main" id="{653DEEAD-9D65-4A4F-8B9E-0D5039AF9E5F}"/>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86" name="Text Box 96">
              <a:extLst>
                <a:ext uri="{FF2B5EF4-FFF2-40B4-BE49-F238E27FC236}">
                  <a16:creationId xmlns:a16="http://schemas.microsoft.com/office/drawing/2014/main" id="{65106526-8914-B14F-93D0-2862A65BFE65}"/>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187" name="Oval 102">
              <a:extLst>
                <a:ext uri="{FF2B5EF4-FFF2-40B4-BE49-F238E27FC236}">
                  <a16:creationId xmlns:a16="http://schemas.microsoft.com/office/drawing/2014/main" id="{EDF69FA6-F137-1943-8700-1A11607172E6}"/>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8" name="Oval 103">
              <a:extLst>
                <a:ext uri="{FF2B5EF4-FFF2-40B4-BE49-F238E27FC236}">
                  <a16:creationId xmlns:a16="http://schemas.microsoft.com/office/drawing/2014/main" id="{92B86FFE-4C64-D944-B3E0-28144D1FDA82}"/>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9" name="Oval 104">
              <a:extLst>
                <a:ext uri="{FF2B5EF4-FFF2-40B4-BE49-F238E27FC236}">
                  <a16:creationId xmlns:a16="http://schemas.microsoft.com/office/drawing/2014/main" id="{364CE178-E116-2149-92EB-7F7E0A3E5B44}"/>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0" name="Oval 105">
              <a:extLst>
                <a:ext uri="{FF2B5EF4-FFF2-40B4-BE49-F238E27FC236}">
                  <a16:creationId xmlns:a16="http://schemas.microsoft.com/office/drawing/2014/main" id="{01629055-00FC-3944-A922-26A15FA548E8}"/>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1" name="Oval 106">
              <a:extLst>
                <a:ext uri="{FF2B5EF4-FFF2-40B4-BE49-F238E27FC236}">
                  <a16:creationId xmlns:a16="http://schemas.microsoft.com/office/drawing/2014/main" id="{D815C481-AE3E-9F46-8CEB-C86C93699ED1}"/>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2" name="Oval 107">
              <a:extLst>
                <a:ext uri="{FF2B5EF4-FFF2-40B4-BE49-F238E27FC236}">
                  <a16:creationId xmlns:a16="http://schemas.microsoft.com/office/drawing/2014/main" id="{04248995-833F-734E-80CF-8391F6E37260}"/>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3" name="Oval 108">
              <a:extLst>
                <a:ext uri="{FF2B5EF4-FFF2-40B4-BE49-F238E27FC236}">
                  <a16:creationId xmlns:a16="http://schemas.microsoft.com/office/drawing/2014/main" id="{DFAB4CD1-0BDC-BD4A-B223-68E0E9613F46}"/>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4" name="Oval 109">
              <a:extLst>
                <a:ext uri="{FF2B5EF4-FFF2-40B4-BE49-F238E27FC236}">
                  <a16:creationId xmlns:a16="http://schemas.microsoft.com/office/drawing/2014/main" id="{D6DE7389-17C6-B24C-A85E-DFFEA58FC5F1}"/>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5" name="Oval 110">
              <a:extLst>
                <a:ext uri="{FF2B5EF4-FFF2-40B4-BE49-F238E27FC236}">
                  <a16:creationId xmlns:a16="http://schemas.microsoft.com/office/drawing/2014/main" id="{43CDE20E-752F-E244-9E42-E1D978B550A8}"/>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6" name="Oval 113">
              <a:extLst>
                <a:ext uri="{FF2B5EF4-FFF2-40B4-BE49-F238E27FC236}">
                  <a16:creationId xmlns:a16="http://schemas.microsoft.com/office/drawing/2014/main" id="{0D0B8678-4AEA-634A-83D3-620E79AEEF8B}"/>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7" name="Oval 114">
              <a:extLst>
                <a:ext uri="{FF2B5EF4-FFF2-40B4-BE49-F238E27FC236}">
                  <a16:creationId xmlns:a16="http://schemas.microsoft.com/office/drawing/2014/main" id="{74E11C2C-041E-324A-BA2A-8565111FE614}"/>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8" name="Oval 116">
              <a:extLst>
                <a:ext uri="{FF2B5EF4-FFF2-40B4-BE49-F238E27FC236}">
                  <a16:creationId xmlns:a16="http://schemas.microsoft.com/office/drawing/2014/main" id="{F318A44A-7ADF-CE4D-B9B9-70562EAF967B}"/>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9" name="Oval 117">
              <a:extLst>
                <a:ext uri="{FF2B5EF4-FFF2-40B4-BE49-F238E27FC236}">
                  <a16:creationId xmlns:a16="http://schemas.microsoft.com/office/drawing/2014/main" id="{455E8B97-6705-0C4D-8326-053BDE09E303}"/>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0" name="Freeform 118">
              <a:extLst>
                <a:ext uri="{FF2B5EF4-FFF2-40B4-BE49-F238E27FC236}">
                  <a16:creationId xmlns:a16="http://schemas.microsoft.com/office/drawing/2014/main" id="{33AE754D-161D-6842-B014-9585906BB6F3}"/>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1" name="Text Box 134">
              <a:extLst>
                <a:ext uri="{FF2B5EF4-FFF2-40B4-BE49-F238E27FC236}">
                  <a16:creationId xmlns:a16="http://schemas.microsoft.com/office/drawing/2014/main" id="{4EEB7AB9-AA27-BF41-B338-8B279D384AA5}"/>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02" name="Text Box 135">
              <a:extLst>
                <a:ext uri="{FF2B5EF4-FFF2-40B4-BE49-F238E27FC236}">
                  <a16:creationId xmlns:a16="http://schemas.microsoft.com/office/drawing/2014/main" id="{9463FA5D-5AB8-BD49-B443-7D783CCAB7CC}"/>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203" name="Text Box 140">
              <a:extLst>
                <a:ext uri="{FF2B5EF4-FFF2-40B4-BE49-F238E27FC236}">
                  <a16:creationId xmlns:a16="http://schemas.microsoft.com/office/drawing/2014/main" id="{058466B7-CDCF-1147-BCD9-105948A71725}"/>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204" name="Line 156">
              <a:extLst>
                <a:ext uri="{FF2B5EF4-FFF2-40B4-BE49-F238E27FC236}">
                  <a16:creationId xmlns:a16="http://schemas.microsoft.com/office/drawing/2014/main" id="{ABEBFF46-070D-144F-BE1B-4C3B5BB310F4}"/>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5" name="Line 146">
              <a:extLst>
                <a:ext uri="{FF2B5EF4-FFF2-40B4-BE49-F238E27FC236}">
                  <a16:creationId xmlns:a16="http://schemas.microsoft.com/office/drawing/2014/main" id="{E3FA1EE3-478E-144B-828F-4919517BAFDB}"/>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6" name="Text Box 203">
              <a:extLst>
                <a:ext uri="{FF2B5EF4-FFF2-40B4-BE49-F238E27FC236}">
                  <a16:creationId xmlns:a16="http://schemas.microsoft.com/office/drawing/2014/main" id="{5B48359A-5E0A-404E-AC90-DBF1BEBC7509}"/>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207" name="Text Box 205">
              <a:extLst>
                <a:ext uri="{FF2B5EF4-FFF2-40B4-BE49-F238E27FC236}">
                  <a16:creationId xmlns:a16="http://schemas.microsoft.com/office/drawing/2014/main" id="{AAD61320-F6C6-6647-BDB7-7F4CFA4C221E}"/>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208" name="Line 215">
              <a:extLst>
                <a:ext uri="{FF2B5EF4-FFF2-40B4-BE49-F238E27FC236}">
                  <a16:creationId xmlns:a16="http://schemas.microsoft.com/office/drawing/2014/main" id="{6BA3A65F-2877-204C-9118-41D0D623296A}"/>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9" name="Text Box 206">
              <a:extLst>
                <a:ext uri="{FF2B5EF4-FFF2-40B4-BE49-F238E27FC236}">
                  <a16:creationId xmlns:a16="http://schemas.microsoft.com/office/drawing/2014/main" id="{065E2F6C-8CD8-5B4E-9497-8F96F1AE7CF1}"/>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10" name="Oval 125">
              <a:extLst>
                <a:ext uri="{FF2B5EF4-FFF2-40B4-BE49-F238E27FC236}">
                  <a16:creationId xmlns:a16="http://schemas.microsoft.com/office/drawing/2014/main" id="{AFB01C5D-CC6D-3A41-8F5C-5ABA9972273B}"/>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1" name="Oval 126">
              <a:extLst>
                <a:ext uri="{FF2B5EF4-FFF2-40B4-BE49-F238E27FC236}">
                  <a16:creationId xmlns:a16="http://schemas.microsoft.com/office/drawing/2014/main" id="{9EF368C1-8F0C-5C47-8092-A18861BA2F47}"/>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2" name="Oval 127">
              <a:extLst>
                <a:ext uri="{FF2B5EF4-FFF2-40B4-BE49-F238E27FC236}">
                  <a16:creationId xmlns:a16="http://schemas.microsoft.com/office/drawing/2014/main" id="{5B558E5D-B969-3F4E-BF8E-1C568D0DA1F3}"/>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3" name="Oval 128">
              <a:extLst>
                <a:ext uri="{FF2B5EF4-FFF2-40B4-BE49-F238E27FC236}">
                  <a16:creationId xmlns:a16="http://schemas.microsoft.com/office/drawing/2014/main" id="{2692FBAC-B85E-A34B-83D4-63D17A9061B3}"/>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4" name="Oval 129">
              <a:extLst>
                <a:ext uri="{FF2B5EF4-FFF2-40B4-BE49-F238E27FC236}">
                  <a16:creationId xmlns:a16="http://schemas.microsoft.com/office/drawing/2014/main" id="{AA6577D4-5049-9842-8306-5D6D1235DE0F}"/>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5" name="Oval 130">
              <a:extLst>
                <a:ext uri="{FF2B5EF4-FFF2-40B4-BE49-F238E27FC236}">
                  <a16:creationId xmlns:a16="http://schemas.microsoft.com/office/drawing/2014/main" id="{73605C66-6BB4-9444-BA80-4CCACBC7357A}"/>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6" name="Oval 131">
              <a:extLst>
                <a:ext uri="{FF2B5EF4-FFF2-40B4-BE49-F238E27FC236}">
                  <a16:creationId xmlns:a16="http://schemas.microsoft.com/office/drawing/2014/main" id="{855B7D47-AF4C-634F-960A-81D3EE846C3E}"/>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7" name="Oval 132">
              <a:extLst>
                <a:ext uri="{FF2B5EF4-FFF2-40B4-BE49-F238E27FC236}">
                  <a16:creationId xmlns:a16="http://schemas.microsoft.com/office/drawing/2014/main" id="{92DEB39B-D6B7-5441-AD0B-DCA2C28A43FD}"/>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8" name="Line 147">
              <a:extLst>
                <a:ext uri="{FF2B5EF4-FFF2-40B4-BE49-F238E27FC236}">
                  <a16:creationId xmlns:a16="http://schemas.microsoft.com/office/drawing/2014/main" id="{07CB6195-06DA-4A4C-91C0-AA72ECD2298E}"/>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19" name="直接连接符 115">
              <a:extLst>
                <a:ext uri="{FF2B5EF4-FFF2-40B4-BE49-F238E27FC236}">
                  <a16:creationId xmlns:a16="http://schemas.microsoft.com/office/drawing/2014/main" id="{03333A5B-6D05-FB40-B972-92ADD510EEEF}"/>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20" name="Rectangle 161">
              <a:extLst>
                <a:ext uri="{FF2B5EF4-FFF2-40B4-BE49-F238E27FC236}">
                  <a16:creationId xmlns:a16="http://schemas.microsoft.com/office/drawing/2014/main" id="{49E6C173-D2C6-5B49-93AF-E36EA9543A77}"/>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221" name="Oval 129">
              <a:extLst>
                <a:ext uri="{FF2B5EF4-FFF2-40B4-BE49-F238E27FC236}">
                  <a16:creationId xmlns:a16="http://schemas.microsoft.com/office/drawing/2014/main" id="{EE3C8597-D1D3-EF48-8662-267664BEA546}"/>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2" name="任意多边形 134">
              <a:extLst>
                <a:ext uri="{FF2B5EF4-FFF2-40B4-BE49-F238E27FC236}">
                  <a16:creationId xmlns:a16="http://schemas.microsoft.com/office/drawing/2014/main" id="{2571AFA0-5999-3149-8AEC-5041D59DA030}"/>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3" name="Rectangle 161">
              <a:extLst>
                <a:ext uri="{FF2B5EF4-FFF2-40B4-BE49-F238E27FC236}">
                  <a16:creationId xmlns:a16="http://schemas.microsoft.com/office/drawing/2014/main" id="{3A02818B-D6B4-5548-B809-8213283AB58E}"/>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224" name="直接连接符 119">
              <a:extLst>
                <a:ext uri="{FF2B5EF4-FFF2-40B4-BE49-F238E27FC236}">
                  <a16:creationId xmlns:a16="http://schemas.microsoft.com/office/drawing/2014/main" id="{143835CE-6F7C-0D48-9CF1-693442BA9E5B}"/>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25" name="直接连接符 121">
              <a:extLst>
                <a:ext uri="{FF2B5EF4-FFF2-40B4-BE49-F238E27FC236}">
                  <a16:creationId xmlns:a16="http://schemas.microsoft.com/office/drawing/2014/main" id="{215F5C2C-0B5E-8748-8AFE-5591C43B5377}"/>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26" name="Line 24">
              <a:extLst>
                <a:ext uri="{FF2B5EF4-FFF2-40B4-BE49-F238E27FC236}">
                  <a16:creationId xmlns:a16="http://schemas.microsoft.com/office/drawing/2014/main" id="{A2352394-8339-3448-A9C5-382BE2AF7B66}"/>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7" name="Line 22">
              <a:extLst>
                <a:ext uri="{FF2B5EF4-FFF2-40B4-BE49-F238E27FC236}">
                  <a16:creationId xmlns:a16="http://schemas.microsoft.com/office/drawing/2014/main" id="{8C21E87A-A38D-D740-9A6E-0543AEC91107}"/>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8" name="Text Box 87">
              <a:extLst>
                <a:ext uri="{FF2B5EF4-FFF2-40B4-BE49-F238E27FC236}">
                  <a16:creationId xmlns:a16="http://schemas.microsoft.com/office/drawing/2014/main" id="{D0C7750D-3854-C746-B78C-807D3E50224A}"/>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229" name="Line 22">
              <a:extLst>
                <a:ext uri="{FF2B5EF4-FFF2-40B4-BE49-F238E27FC236}">
                  <a16:creationId xmlns:a16="http://schemas.microsoft.com/office/drawing/2014/main" id="{7F82D767-C3EB-DE44-9D02-64C890F0CF68}"/>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30" name="直接连接符 134">
              <a:extLst>
                <a:ext uri="{FF2B5EF4-FFF2-40B4-BE49-F238E27FC236}">
                  <a16:creationId xmlns:a16="http://schemas.microsoft.com/office/drawing/2014/main" id="{B48E9ED5-D800-844E-8F8C-53028849DC6E}"/>
                </a:ext>
              </a:extLst>
            </p:cNvPr>
            <p:cNvCxnSpPr>
              <a:cxnSpLocks noChangeShapeType="1"/>
              <a:stCxn id="222" idx="4"/>
            </p:cNvCxnSpPr>
            <p:nvPr/>
          </p:nvCxnSpPr>
          <p:spPr bwMode="auto">
            <a:xfrm>
              <a:off x="6706617" y="2109019"/>
              <a:ext cx="200025" cy="785812"/>
            </a:xfrm>
            <a:prstGeom prst="line">
              <a:avLst/>
            </a:prstGeom>
            <a:noFill/>
            <a:ln w="19050" algn="ctr">
              <a:solidFill>
                <a:srgbClr val="0000FF"/>
              </a:solidFill>
              <a:round/>
              <a:headEnd/>
              <a:tailEnd/>
            </a:ln>
          </p:spPr>
        </p:cxnSp>
        <p:sp>
          <p:nvSpPr>
            <p:cNvPr id="231" name="Text Box 206">
              <a:extLst>
                <a:ext uri="{FF2B5EF4-FFF2-40B4-BE49-F238E27FC236}">
                  <a16:creationId xmlns:a16="http://schemas.microsoft.com/office/drawing/2014/main" id="{D4A0263E-3A11-814A-8794-CA696D1C1C44}"/>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2" name="Text Box 206">
              <a:extLst>
                <a:ext uri="{FF2B5EF4-FFF2-40B4-BE49-F238E27FC236}">
                  <a16:creationId xmlns:a16="http://schemas.microsoft.com/office/drawing/2014/main" id="{E9266F85-8814-4843-ACA1-43CB7EF49083}"/>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3" name="TextBox 147">
              <a:extLst>
                <a:ext uri="{FF2B5EF4-FFF2-40B4-BE49-F238E27FC236}">
                  <a16:creationId xmlns:a16="http://schemas.microsoft.com/office/drawing/2014/main" id="{1330C737-D7D1-3947-92EE-0785967153F5}"/>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34" name="TextBox 148">
              <a:extLst>
                <a:ext uri="{FF2B5EF4-FFF2-40B4-BE49-F238E27FC236}">
                  <a16:creationId xmlns:a16="http://schemas.microsoft.com/office/drawing/2014/main" id="{CD54FB5E-4BAB-604B-9809-D2CAF90F25CD}"/>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235" name="直接连接符 153">
              <a:extLst>
                <a:ext uri="{FF2B5EF4-FFF2-40B4-BE49-F238E27FC236}">
                  <a16:creationId xmlns:a16="http://schemas.microsoft.com/office/drawing/2014/main" id="{E9C7F0B2-D9B1-924B-9A6A-B1D19A6FF91C}"/>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36" name="直接连接符 119">
              <a:extLst>
                <a:ext uri="{FF2B5EF4-FFF2-40B4-BE49-F238E27FC236}">
                  <a16:creationId xmlns:a16="http://schemas.microsoft.com/office/drawing/2014/main" id="{E8853DE4-1D35-654A-965A-B7EF1ECFFFBD}"/>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7" name="直接连接符 141">
              <a:extLst>
                <a:ext uri="{FF2B5EF4-FFF2-40B4-BE49-F238E27FC236}">
                  <a16:creationId xmlns:a16="http://schemas.microsoft.com/office/drawing/2014/main" id="{480268E6-CB4E-5E43-A459-29DE4C642D30}"/>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238" name="Oval 202">
              <a:extLst>
                <a:ext uri="{FF2B5EF4-FFF2-40B4-BE49-F238E27FC236}">
                  <a16:creationId xmlns:a16="http://schemas.microsoft.com/office/drawing/2014/main" id="{01FE8019-2827-4841-BC5E-FD10CCE28B25}"/>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9" name="Oval 130">
              <a:extLst>
                <a:ext uri="{FF2B5EF4-FFF2-40B4-BE49-F238E27FC236}">
                  <a16:creationId xmlns:a16="http://schemas.microsoft.com/office/drawing/2014/main" id="{8EE33678-146D-044F-BEA8-6CF524334601}"/>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0" name="Oval 130">
              <a:extLst>
                <a:ext uri="{FF2B5EF4-FFF2-40B4-BE49-F238E27FC236}">
                  <a16:creationId xmlns:a16="http://schemas.microsoft.com/office/drawing/2014/main" id="{623F7FD5-8D8E-FA4F-A329-C7B526993872}"/>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1" name="TextBox 149">
              <a:extLst>
                <a:ext uri="{FF2B5EF4-FFF2-40B4-BE49-F238E27FC236}">
                  <a16:creationId xmlns:a16="http://schemas.microsoft.com/office/drawing/2014/main" id="{97019ADD-0EAC-6C48-BA5F-461286862C73}"/>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42" name="Oval 202">
              <a:extLst>
                <a:ext uri="{FF2B5EF4-FFF2-40B4-BE49-F238E27FC236}">
                  <a16:creationId xmlns:a16="http://schemas.microsoft.com/office/drawing/2014/main" id="{89F4F4ED-5F13-7044-A2C4-91750DF29624}"/>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43" name="直接连接符 126">
              <a:extLst>
                <a:ext uri="{FF2B5EF4-FFF2-40B4-BE49-F238E27FC236}">
                  <a16:creationId xmlns:a16="http://schemas.microsoft.com/office/drawing/2014/main" id="{192F1B40-7712-914F-9C4A-D36EAC9AC5CC}"/>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44" name="直接连接符 119">
              <a:extLst>
                <a:ext uri="{FF2B5EF4-FFF2-40B4-BE49-F238E27FC236}">
                  <a16:creationId xmlns:a16="http://schemas.microsoft.com/office/drawing/2014/main" id="{C140E66D-EF79-CB42-90D3-4E9CBC40F486}"/>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45" name="Text Box 140">
            <a:extLst>
              <a:ext uri="{FF2B5EF4-FFF2-40B4-BE49-F238E27FC236}">
                <a16:creationId xmlns:a16="http://schemas.microsoft.com/office/drawing/2014/main" id="{1AE0926D-FC0B-E84A-A028-2349825C840D}"/>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246" name="Line 167">
            <a:extLst>
              <a:ext uri="{FF2B5EF4-FFF2-40B4-BE49-F238E27FC236}">
                <a16:creationId xmlns:a16="http://schemas.microsoft.com/office/drawing/2014/main" id="{FBAFBF2C-30E6-5644-BE10-3E77D97DC2E3}"/>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sp>
        <p:nvSpPr>
          <p:cNvPr id="247" name="Line 147">
            <a:extLst>
              <a:ext uri="{FF2B5EF4-FFF2-40B4-BE49-F238E27FC236}">
                <a16:creationId xmlns:a16="http://schemas.microsoft.com/office/drawing/2014/main" id="{12546BDB-5FCB-FD47-95AA-76693D1FB264}"/>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8" name="Oval 130">
            <a:extLst>
              <a:ext uri="{FF2B5EF4-FFF2-40B4-BE49-F238E27FC236}">
                <a16:creationId xmlns:a16="http://schemas.microsoft.com/office/drawing/2014/main" id="{BF820EB2-C447-A94D-839A-910596248B14}"/>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9" name="Text Box 93">
            <a:extLst>
              <a:ext uri="{FF2B5EF4-FFF2-40B4-BE49-F238E27FC236}">
                <a16:creationId xmlns:a16="http://schemas.microsoft.com/office/drawing/2014/main" id="{2302AB56-3F66-B445-B53E-EAB06EAE715E}"/>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
        <p:nvSpPr>
          <p:cNvPr id="252" name="Text Box 155">
            <a:extLst>
              <a:ext uri="{FF2B5EF4-FFF2-40B4-BE49-F238E27FC236}">
                <a16:creationId xmlns:a16="http://schemas.microsoft.com/office/drawing/2014/main" id="{FCA0450E-6417-3B4D-9946-CA3F532D9E98}"/>
              </a:ext>
            </a:extLst>
          </p:cNvPr>
          <p:cNvSpPr txBox="1">
            <a:spLocks noChangeArrowheads="1"/>
          </p:cNvSpPr>
          <p:nvPr/>
        </p:nvSpPr>
        <p:spPr bwMode="auto">
          <a:xfrm>
            <a:off x="2847849" y="4721826"/>
            <a:ext cx="7051250" cy="886012"/>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按照慢开始算法，发送方每收到一个对新报文段的确认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12 </a:t>
            </a:r>
            <a:r>
              <a:rPr lang="zh-CN" altLang="en-US" sz="1600" b="1" dirty="0">
                <a:solidFill>
                  <a:srgbClr val="0000FF"/>
                </a:solidFill>
                <a:latin typeface="微软雅黑" pitchFamily="34" charset="-122"/>
                <a:ea typeface="微软雅黑" pitchFamily="34" charset="-122"/>
              </a:rPr>
              <a:t>时，改为执行拥塞避免算法，拥塞窗口按线性规律增大。</a:t>
            </a:r>
          </a:p>
        </p:txBody>
      </p:sp>
      <p:sp>
        <p:nvSpPr>
          <p:cNvPr id="253" name="Line 167">
            <a:extLst>
              <a:ext uri="{FF2B5EF4-FFF2-40B4-BE49-F238E27FC236}">
                <a16:creationId xmlns:a16="http://schemas.microsoft.com/office/drawing/2014/main" id="{3737B401-0C74-2842-AA8C-DD1871A29386}"/>
              </a:ext>
            </a:extLst>
          </p:cNvPr>
          <p:cNvSpPr>
            <a:spLocks noChangeShapeType="1"/>
          </p:cNvSpPr>
          <p:nvPr/>
        </p:nvSpPr>
        <p:spPr bwMode="auto">
          <a:xfrm flipH="1" flipV="1">
            <a:off x="6961567" y="3682706"/>
            <a:ext cx="409373" cy="327412"/>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a:defRPr/>
            </a:pPr>
            <a:endParaRPr lang="zh-CN" altLang="en-US" sz="2400" b="1" kern="0" dirty="0">
              <a:solidFill>
                <a:sysClr val="windowText" lastClr="000000"/>
              </a:solidFill>
              <a:latin typeface="Calibri"/>
              <a:ea typeface="宋体" panose="02010600030101010101" pitchFamily="2" charset="-122"/>
            </a:endParaRPr>
          </a:p>
        </p:txBody>
      </p:sp>
    </p:spTree>
    <p:extLst>
      <p:ext uri="{BB962C8B-B14F-4D97-AF65-F5344CB8AC3E}">
        <p14:creationId xmlns:p14="http://schemas.microsoft.com/office/powerpoint/2010/main" val="27170944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F4942-EB6E-0AB7-25AD-F3EF0E092BD2}"/>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61BC2E56-4010-F3F0-1871-FBD84E2C83DA}"/>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EFFEB410-91EB-2AF6-D06B-5EDCD2EFC27F}"/>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FB0889B8-10D5-C720-3100-D042C2B799BD}"/>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058208A8-E0E9-BB8C-4CA1-12A3090FC707}"/>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26172970-76ED-B46F-D4CF-387E6B009BE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129" name="组合 128">
            <a:extLst>
              <a:ext uri="{FF2B5EF4-FFF2-40B4-BE49-F238E27FC236}">
                <a16:creationId xmlns:a16="http://schemas.microsoft.com/office/drawing/2014/main" id="{5524D13A-8A07-B48B-6090-F20B8F2D31F7}"/>
              </a:ext>
            </a:extLst>
          </p:cNvPr>
          <p:cNvGrpSpPr/>
          <p:nvPr/>
        </p:nvGrpSpPr>
        <p:grpSpPr>
          <a:xfrm>
            <a:off x="505664" y="1426139"/>
            <a:ext cx="6645148" cy="525530"/>
            <a:chOff x="722008" y="1303131"/>
            <a:chExt cx="6344982" cy="501792"/>
          </a:xfrm>
        </p:grpSpPr>
        <p:sp>
          <p:nvSpPr>
            <p:cNvPr id="130" name="流程图: 手动输入 6">
              <a:extLst>
                <a:ext uri="{FF2B5EF4-FFF2-40B4-BE49-F238E27FC236}">
                  <a16:creationId xmlns:a16="http://schemas.microsoft.com/office/drawing/2014/main" id="{17791A3B-733B-5BFD-4CE1-AC1F61333432}"/>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31" name="组合 130">
              <a:extLst>
                <a:ext uri="{FF2B5EF4-FFF2-40B4-BE49-F238E27FC236}">
                  <a16:creationId xmlns:a16="http://schemas.microsoft.com/office/drawing/2014/main" id="{F643721E-A779-7004-591D-4AF13B19EDA0}"/>
                </a:ext>
              </a:extLst>
            </p:cNvPr>
            <p:cNvGrpSpPr/>
            <p:nvPr/>
          </p:nvGrpSpPr>
          <p:grpSpPr>
            <a:xfrm>
              <a:off x="722008" y="1303131"/>
              <a:ext cx="546594" cy="475865"/>
              <a:chOff x="708742" y="1296102"/>
              <a:chExt cx="454744" cy="283828"/>
            </a:xfrm>
          </p:grpSpPr>
          <p:sp>
            <p:nvSpPr>
              <p:cNvPr id="133" name="平行四边形 132">
                <a:extLst>
                  <a:ext uri="{FF2B5EF4-FFF2-40B4-BE49-F238E27FC236}">
                    <a16:creationId xmlns:a16="http://schemas.microsoft.com/office/drawing/2014/main" id="{2BBAC4D5-9A42-FA0F-C486-F91328E27C30}"/>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34" name="平行四边形 133">
                <a:extLst>
                  <a:ext uri="{FF2B5EF4-FFF2-40B4-BE49-F238E27FC236}">
                    <a16:creationId xmlns:a16="http://schemas.microsoft.com/office/drawing/2014/main" id="{809D0E64-2F2B-E0E3-0A2F-0568C834A89E}"/>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32" name="Text Box 79">
              <a:extLst>
                <a:ext uri="{FF2B5EF4-FFF2-40B4-BE49-F238E27FC236}">
                  <a16:creationId xmlns:a16="http://schemas.microsoft.com/office/drawing/2014/main" id="{EC895D6D-A0F0-CC3A-BBB8-467EF9A63741}"/>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49" name="灯片编号占位符 48">
            <a:extLst>
              <a:ext uri="{FF2B5EF4-FFF2-40B4-BE49-F238E27FC236}">
                <a16:creationId xmlns:a16="http://schemas.microsoft.com/office/drawing/2014/main" id="{8C971562-A906-45FF-9E91-D613F9748CEE}"/>
              </a:ext>
            </a:extLst>
          </p:cNvPr>
          <p:cNvSpPr>
            <a:spLocks noGrp="1"/>
          </p:cNvSpPr>
          <p:nvPr>
            <p:ph type="sldNum" sz="quarter" idx="12"/>
          </p:nvPr>
        </p:nvSpPr>
        <p:spPr/>
        <p:txBody>
          <a:bodyPr/>
          <a:lstStyle/>
          <a:p>
            <a:fld id="{5956A083-5018-4B52-82A0-83241B8E3D94}" type="slidenum">
              <a:rPr lang="zh-CN" altLang="en-US" smtClean="0"/>
              <a:t>66</a:t>
            </a:fld>
            <a:endParaRPr lang="zh-CN" altLang="en-US"/>
          </a:p>
        </p:txBody>
      </p:sp>
      <p:sp>
        <p:nvSpPr>
          <p:cNvPr id="135" name="圆角矩形 150">
            <a:extLst>
              <a:ext uri="{FF2B5EF4-FFF2-40B4-BE49-F238E27FC236}">
                <a16:creationId xmlns:a16="http://schemas.microsoft.com/office/drawing/2014/main" id="{EC508BAE-9455-2848-AE23-09B5412A7CEC}"/>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36" name="组合 135">
            <a:extLst>
              <a:ext uri="{FF2B5EF4-FFF2-40B4-BE49-F238E27FC236}">
                <a16:creationId xmlns:a16="http://schemas.microsoft.com/office/drawing/2014/main" id="{A94D79A7-C97C-804D-8786-5FD0ECC7ABFA}"/>
              </a:ext>
            </a:extLst>
          </p:cNvPr>
          <p:cNvGrpSpPr/>
          <p:nvPr/>
        </p:nvGrpSpPr>
        <p:grpSpPr>
          <a:xfrm>
            <a:off x="3043104" y="2417895"/>
            <a:ext cx="6808860" cy="2262108"/>
            <a:chOff x="300646" y="840152"/>
            <a:chExt cx="9638211" cy="3093013"/>
          </a:xfrm>
        </p:grpSpPr>
        <p:sp>
          <p:nvSpPr>
            <p:cNvPr id="137" name="Text Box 140">
              <a:extLst>
                <a:ext uri="{FF2B5EF4-FFF2-40B4-BE49-F238E27FC236}">
                  <a16:creationId xmlns:a16="http://schemas.microsoft.com/office/drawing/2014/main" id="{1FCDBBD2-3262-3847-8E34-AA29CAF1218F}"/>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8" name="Line 2">
              <a:extLst>
                <a:ext uri="{FF2B5EF4-FFF2-40B4-BE49-F238E27FC236}">
                  <a16:creationId xmlns:a16="http://schemas.microsoft.com/office/drawing/2014/main" id="{C26AED0F-C718-FE48-B23F-ABC0BEFCAAA8}"/>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9" name="Line 3">
              <a:extLst>
                <a:ext uri="{FF2B5EF4-FFF2-40B4-BE49-F238E27FC236}">
                  <a16:creationId xmlns:a16="http://schemas.microsoft.com/office/drawing/2014/main" id="{6FB43AAA-FFF8-6147-A097-A665405AE6BE}"/>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0" name="Line 4">
              <a:extLst>
                <a:ext uri="{FF2B5EF4-FFF2-40B4-BE49-F238E27FC236}">
                  <a16:creationId xmlns:a16="http://schemas.microsoft.com/office/drawing/2014/main" id="{4C7901FD-398D-5043-9ACE-EBC66121461A}"/>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1" name="Line 5">
              <a:extLst>
                <a:ext uri="{FF2B5EF4-FFF2-40B4-BE49-F238E27FC236}">
                  <a16:creationId xmlns:a16="http://schemas.microsoft.com/office/drawing/2014/main" id="{71794ECE-850B-E54C-A513-45010CEB1516}"/>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2" name="Line 6">
              <a:extLst>
                <a:ext uri="{FF2B5EF4-FFF2-40B4-BE49-F238E27FC236}">
                  <a16:creationId xmlns:a16="http://schemas.microsoft.com/office/drawing/2014/main" id="{6189BEF2-B76B-F84B-9769-B59550D88B36}"/>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3" name="Line 7">
              <a:extLst>
                <a:ext uri="{FF2B5EF4-FFF2-40B4-BE49-F238E27FC236}">
                  <a16:creationId xmlns:a16="http://schemas.microsoft.com/office/drawing/2014/main" id="{2EABB5C4-C241-8444-8532-B64CFEC63F57}"/>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4" name="Line 8">
              <a:extLst>
                <a:ext uri="{FF2B5EF4-FFF2-40B4-BE49-F238E27FC236}">
                  <a16:creationId xmlns:a16="http://schemas.microsoft.com/office/drawing/2014/main" id="{F74A7A00-FE14-0D4C-BAA7-0F269506723F}"/>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5" name="Line 9">
              <a:extLst>
                <a:ext uri="{FF2B5EF4-FFF2-40B4-BE49-F238E27FC236}">
                  <a16:creationId xmlns:a16="http://schemas.microsoft.com/office/drawing/2014/main" id="{170BC69A-9391-204C-836A-925BC22775B3}"/>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6" name="Line 10">
              <a:extLst>
                <a:ext uri="{FF2B5EF4-FFF2-40B4-BE49-F238E27FC236}">
                  <a16:creationId xmlns:a16="http://schemas.microsoft.com/office/drawing/2014/main" id="{22753F70-3DA5-1242-AD03-3B15892E7917}"/>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7" name="Line 11">
              <a:extLst>
                <a:ext uri="{FF2B5EF4-FFF2-40B4-BE49-F238E27FC236}">
                  <a16:creationId xmlns:a16="http://schemas.microsoft.com/office/drawing/2014/main" id="{225ED489-4FD8-9C4F-ADA7-FA8C77228BCD}"/>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8" name="Line 12">
              <a:extLst>
                <a:ext uri="{FF2B5EF4-FFF2-40B4-BE49-F238E27FC236}">
                  <a16:creationId xmlns:a16="http://schemas.microsoft.com/office/drawing/2014/main" id="{051EE58E-8E56-9E46-B8F7-D7B8631659CA}"/>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9" name="Line 13">
              <a:extLst>
                <a:ext uri="{FF2B5EF4-FFF2-40B4-BE49-F238E27FC236}">
                  <a16:creationId xmlns:a16="http://schemas.microsoft.com/office/drawing/2014/main" id="{138BE6FA-3838-BA4A-87D1-AB08EFFDA601}"/>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0" name="Line 14">
              <a:extLst>
                <a:ext uri="{FF2B5EF4-FFF2-40B4-BE49-F238E27FC236}">
                  <a16:creationId xmlns:a16="http://schemas.microsoft.com/office/drawing/2014/main" id="{1EFEE950-805B-0B46-AEA4-3B3412323BA1}"/>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1" name="Line 15">
              <a:extLst>
                <a:ext uri="{FF2B5EF4-FFF2-40B4-BE49-F238E27FC236}">
                  <a16:creationId xmlns:a16="http://schemas.microsoft.com/office/drawing/2014/main" id="{80D1E434-4A51-CE4D-852E-6448C16A33E5}"/>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2" name="Line 16">
              <a:extLst>
                <a:ext uri="{FF2B5EF4-FFF2-40B4-BE49-F238E27FC236}">
                  <a16:creationId xmlns:a16="http://schemas.microsoft.com/office/drawing/2014/main" id="{13833ED7-8535-0644-9FCD-A8952170E032}"/>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3" name="Line 17">
              <a:extLst>
                <a:ext uri="{FF2B5EF4-FFF2-40B4-BE49-F238E27FC236}">
                  <a16:creationId xmlns:a16="http://schemas.microsoft.com/office/drawing/2014/main" id="{DBE425C0-A586-4C4A-A544-F39C298C17E7}"/>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4" name="Line 18">
              <a:extLst>
                <a:ext uri="{FF2B5EF4-FFF2-40B4-BE49-F238E27FC236}">
                  <a16:creationId xmlns:a16="http://schemas.microsoft.com/office/drawing/2014/main" id="{F9F5C90B-3AF5-CD4A-B8E8-002B494A9CA5}"/>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5" name="Line 19">
              <a:extLst>
                <a:ext uri="{FF2B5EF4-FFF2-40B4-BE49-F238E27FC236}">
                  <a16:creationId xmlns:a16="http://schemas.microsoft.com/office/drawing/2014/main" id="{13AF96DB-ABD6-2B49-8E67-79777FE0E0A4}"/>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6" name="Line 20">
              <a:extLst>
                <a:ext uri="{FF2B5EF4-FFF2-40B4-BE49-F238E27FC236}">
                  <a16:creationId xmlns:a16="http://schemas.microsoft.com/office/drawing/2014/main" id="{677E9EF3-33D1-4048-855E-7B783B267D82}"/>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7" name="Line 21">
              <a:extLst>
                <a:ext uri="{FF2B5EF4-FFF2-40B4-BE49-F238E27FC236}">
                  <a16:creationId xmlns:a16="http://schemas.microsoft.com/office/drawing/2014/main" id="{C82B352A-5FE8-6D43-B982-C1099F8EC6B2}"/>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8" name="Line 22">
              <a:extLst>
                <a:ext uri="{FF2B5EF4-FFF2-40B4-BE49-F238E27FC236}">
                  <a16:creationId xmlns:a16="http://schemas.microsoft.com/office/drawing/2014/main" id="{2273F960-04DC-D847-8CF5-FDC6607C9971}"/>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9" name="Line 23">
              <a:extLst>
                <a:ext uri="{FF2B5EF4-FFF2-40B4-BE49-F238E27FC236}">
                  <a16:creationId xmlns:a16="http://schemas.microsoft.com/office/drawing/2014/main" id="{80F7C8CB-B6A8-AD40-93F6-7E7C86E4D46A}"/>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0" name="Line 24">
              <a:extLst>
                <a:ext uri="{FF2B5EF4-FFF2-40B4-BE49-F238E27FC236}">
                  <a16:creationId xmlns:a16="http://schemas.microsoft.com/office/drawing/2014/main" id="{1B26B0CE-9D8E-6E4E-B57A-EE33B30D4540}"/>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1" name="Line 25">
              <a:extLst>
                <a:ext uri="{FF2B5EF4-FFF2-40B4-BE49-F238E27FC236}">
                  <a16:creationId xmlns:a16="http://schemas.microsoft.com/office/drawing/2014/main" id="{9C0AB732-E146-A74F-8F77-5F7347849E08}"/>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2" name="Line 40">
              <a:extLst>
                <a:ext uri="{FF2B5EF4-FFF2-40B4-BE49-F238E27FC236}">
                  <a16:creationId xmlns:a16="http://schemas.microsoft.com/office/drawing/2014/main" id="{787015D9-AF0D-FC41-82A0-DD0000A2A7A4}"/>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3" name="Line 41">
              <a:extLst>
                <a:ext uri="{FF2B5EF4-FFF2-40B4-BE49-F238E27FC236}">
                  <a16:creationId xmlns:a16="http://schemas.microsoft.com/office/drawing/2014/main" id="{83E6F6E5-FDA2-D742-8662-684150505797}"/>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4" name="Line 42">
              <a:extLst>
                <a:ext uri="{FF2B5EF4-FFF2-40B4-BE49-F238E27FC236}">
                  <a16:creationId xmlns:a16="http://schemas.microsoft.com/office/drawing/2014/main" id="{4CC8551B-A0E4-7A41-9D5D-B0EF26703CBC}"/>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5" name="Line 43">
              <a:extLst>
                <a:ext uri="{FF2B5EF4-FFF2-40B4-BE49-F238E27FC236}">
                  <a16:creationId xmlns:a16="http://schemas.microsoft.com/office/drawing/2014/main" id="{93BB74DF-8B3E-0544-B1CB-D5980498CAF7}"/>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6" name="Line 44">
              <a:extLst>
                <a:ext uri="{FF2B5EF4-FFF2-40B4-BE49-F238E27FC236}">
                  <a16:creationId xmlns:a16="http://schemas.microsoft.com/office/drawing/2014/main" id="{9132D4E4-252C-B447-8757-AF8FB5BB1D73}"/>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7" name="Line 45">
              <a:extLst>
                <a:ext uri="{FF2B5EF4-FFF2-40B4-BE49-F238E27FC236}">
                  <a16:creationId xmlns:a16="http://schemas.microsoft.com/office/drawing/2014/main" id="{93023C73-147A-B14B-86C0-A59F5273477B}"/>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8" name="Text Box 77">
              <a:extLst>
                <a:ext uri="{FF2B5EF4-FFF2-40B4-BE49-F238E27FC236}">
                  <a16:creationId xmlns:a16="http://schemas.microsoft.com/office/drawing/2014/main" id="{F22C9139-76B8-654F-9656-90BD9A418A36}"/>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169" name="Text Box 78">
              <a:extLst>
                <a:ext uri="{FF2B5EF4-FFF2-40B4-BE49-F238E27FC236}">
                  <a16:creationId xmlns:a16="http://schemas.microsoft.com/office/drawing/2014/main" id="{025CB034-7599-9140-93FA-CCA6A0618BF3}"/>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70" name="Text Box 79">
              <a:extLst>
                <a:ext uri="{FF2B5EF4-FFF2-40B4-BE49-F238E27FC236}">
                  <a16:creationId xmlns:a16="http://schemas.microsoft.com/office/drawing/2014/main" id="{94518AA9-9590-BE4E-AEA9-C9C0AFF03F47}"/>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171" name="Text Box 80">
              <a:extLst>
                <a:ext uri="{FF2B5EF4-FFF2-40B4-BE49-F238E27FC236}">
                  <a16:creationId xmlns:a16="http://schemas.microsoft.com/office/drawing/2014/main" id="{8EB15C3A-BC48-4D4F-9CF4-46822136E2F0}"/>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172" name="Text Box 81">
              <a:extLst>
                <a:ext uri="{FF2B5EF4-FFF2-40B4-BE49-F238E27FC236}">
                  <a16:creationId xmlns:a16="http://schemas.microsoft.com/office/drawing/2014/main" id="{D33939EA-7B5F-9F46-8E7C-4EFBB2CDB9BF}"/>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173" name="Text Box 82">
              <a:extLst>
                <a:ext uri="{FF2B5EF4-FFF2-40B4-BE49-F238E27FC236}">
                  <a16:creationId xmlns:a16="http://schemas.microsoft.com/office/drawing/2014/main" id="{3545FAA0-A554-5A49-BC44-E11F9CF4279D}"/>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74" name="Text Box 83">
              <a:extLst>
                <a:ext uri="{FF2B5EF4-FFF2-40B4-BE49-F238E27FC236}">
                  <a16:creationId xmlns:a16="http://schemas.microsoft.com/office/drawing/2014/main" id="{04F0E343-AC0F-E943-8F87-4633A8B69A28}"/>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175" name="Text Box 84">
              <a:extLst>
                <a:ext uri="{FF2B5EF4-FFF2-40B4-BE49-F238E27FC236}">
                  <a16:creationId xmlns:a16="http://schemas.microsoft.com/office/drawing/2014/main" id="{746A5930-A029-9344-B68A-4AEB23ED5D9E}"/>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76" name="Text Box 85">
              <a:extLst>
                <a:ext uri="{FF2B5EF4-FFF2-40B4-BE49-F238E27FC236}">
                  <a16:creationId xmlns:a16="http://schemas.microsoft.com/office/drawing/2014/main" id="{3C4418E0-899B-CB46-886E-AD81EF84D441}"/>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177" name="Text Box 86">
              <a:extLst>
                <a:ext uri="{FF2B5EF4-FFF2-40B4-BE49-F238E27FC236}">
                  <a16:creationId xmlns:a16="http://schemas.microsoft.com/office/drawing/2014/main" id="{E0084F0E-1F9B-8B44-96C0-A11C310E3AB9}"/>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78" name="Text Box 87">
              <a:extLst>
                <a:ext uri="{FF2B5EF4-FFF2-40B4-BE49-F238E27FC236}">
                  <a16:creationId xmlns:a16="http://schemas.microsoft.com/office/drawing/2014/main" id="{17D7914B-AE06-2D4C-B759-920B1A37ADD8}"/>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179" name="Text Box 89">
              <a:extLst>
                <a:ext uri="{FF2B5EF4-FFF2-40B4-BE49-F238E27FC236}">
                  <a16:creationId xmlns:a16="http://schemas.microsoft.com/office/drawing/2014/main" id="{95DC0849-18E0-C94F-BF7F-B40DD576CD7A}"/>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0" name="Text Box 90">
              <a:extLst>
                <a:ext uri="{FF2B5EF4-FFF2-40B4-BE49-F238E27FC236}">
                  <a16:creationId xmlns:a16="http://schemas.microsoft.com/office/drawing/2014/main" id="{A451EDAE-6C00-954E-9A23-7646BB8DFE10}"/>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1" name="Text Box 91">
              <a:extLst>
                <a:ext uri="{FF2B5EF4-FFF2-40B4-BE49-F238E27FC236}">
                  <a16:creationId xmlns:a16="http://schemas.microsoft.com/office/drawing/2014/main" id="{BA53F1F3-2CD4-384B-91E9-57F9B7129A2F}"/>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82" name="Text Box 92">
              <a:extLst>
                <a:ext uri="{FF2B5EF4-FFF2-40B4-BE49-F238E27FC236}">
                  <a16:creationId xmlns:a16="http://schemas.microsoft.com/office/drawing/2014/main" id="{778C808E-3AC8-164C-86C2-95CBFDFB7DCB}"/>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183" name="Text Box 93">
              <a:extLst>
                <a:ext uri="{FF2B5EF4-FFF2-40B4-BE49-F238E27FC236}">
                  <a16:creationId xmlns:a16="http://schemas.microsoft.com/office/drawing/2014/main" id="{A816191A-A500-B746-8E95-3422CC6EBC6F}"/>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84" name="Text Box 94">
              <a:extLst>
                <a:ext uri="{FF2B5EF4-FFF2-40B4-BE49-F238E27FC236}">
                  <a16:creationId xmlns:a16="http://schemas.microsoft.com/office/drawing/2014/main" id="{B803554A-8A02-B549-A77D-23A5B9087C09}"/>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85" name="Text Box 95">
              <a:extLst>
                <a:ext uri="{FF2B5EF4-FFF2-40B4-BE49-F238E27FC236}">
                  <a16:creationId xmlns:a16="http://schemas.microsoft.com/office/drawing/2014/main" id="{DBDFC7AC-8ABA-2B46-AAE1-0D2CCFB0DBD5}"/>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86" name="Text Box 96">
              <a:extLst>
                <a:ext uri="{FF2B5EF4-FFF2-40B4-BE49-F238E27FC236}">
                  <a16:creationId xmlns:a16="http://schemas.microsoft.com/office/drawing/2014/main" id="{CDD8100F-4EB6-AD4E-891E-2EC0A30D5C1E}"/>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187" name="Oval 102">
              <a:extLst>
                <a:ext uri="{FF2B5EF4-FFF2-40B4-BE49-F238E27FC236}">
                  <a16:creationId xmlns:a16="http://schemas.microsoft.com/office/drawing/2014/main" id="{FA09ED97-15EE-C74B-831C-68E656A19D02}"/>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8" name="Oval 103">
              <a:extLst>
                <a:ext uri="{FF2B5EF4-FFF2-40B4-BE49-F238E27FC236}">
                  <a16:creationId xmlns:a16="http://schemas.microsoft.com/office/drawing/2014/main" id="{3EDA274C-AFCA-CE44-9A24-B1C917874C66}"/>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9" name="Oval 104">
              <a:extLst>
                <a:ext uri="{FF2B5EF4-FFF2-40B4-BE49-F238E27FC236}">
                  <a16:creationId xmlns:a16="http://schemas.microsoft.com/office/drawing/2014/main" id="{D0A4B4B1-EE36-5B4D-9F46-361E74CC13BB}"/>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0" name="Oval 105">
              <a:extLst>
                <a:ext uri="{FF2B5EF4-FFF2-40B4-BE49-F238E27FC236}">
                  <a16:creationId xmlns:a16="http://schemas.microsoft.com/office/drawing/2014/main" id="{3145AF32-804D-7149-A9C5-988FB883C309}"/>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1" name="Oval 106">
              <a:extLst>
                <a:ext uri="{FF2B5EF4-FFF2-40B4-BE49-F238E27FC236}">
                  <a16:creationId xmlns:a16="http://schemas.microsoft.com/office/drawing/2014/main" id="{2E175183-234C-6D40-A519-3F6ED3CCD83E}"/>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2" name="Oval 107">
              <a:extLst>
                <a:ext uri="{FF2B5EF4-FFF2-40B4-BE49-F238E27FC236}">
                  <a16:creationId xmlns:a16="http://schemas.microsoft.com/office/drawing/2014/main" id="{24AF6430-E474-1D45-9001-58A9D747C356}"/>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3" name="Oval 108">
              <a:extLst>
                <a:ext uri="{FF2B5EF4-FFF2-40B4-BE49-F238E27FC236}">
                  <a16:creationId xmlns:a16="http://schemas.microsoft.com/office/drawing/2014/main" id="{E15CC1F0-CD49-D947-9146-6FF8AAF60F73}"/>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4" name="Oval 109">
              <a:extLst>
                <a:ext uri="{FF2B5EF4-FFF2-40B4-BE49-F238E27FC236}">
                  <a16:creationId xmlns:a16="http://schemas.microsoft.com/office/drawing/2014/main" id="{957372F2-8510-9D49-A1C8-66A271E967BE}"/>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5" name="Oval 110">
              <a:extLst>
                <a:ext uri="{FF2B5EF4-FFF2-40B4-BE49-F238E27FC236}">
                  <a16:creationId xmlns:a16="http://schemas.microsoft.com/office/drawing/2014/main" id="{8E9D6BD2-E9DF-F544-AB81-1A86D398D49E}"/>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6" name="Oval 113">
              <a:extLst>
                <a:ext uri="{FF2B5EF4-FFF2-40B4-BE49-F238E27FC236}">
                  <a16:creationId xmlns:a16="http://schemas.microsoft.com/office/drawing/2014/main" id="{182FA22C-2B6A-8041-9C48-774C3817BB9D}"/>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7" name="Oval 114">
              <a:extLst>
                <a:ext uri="{FF2B5EF4-FFF2-40B4-BE49-F238E27FC236}">
                  <a16:creationId xmlns:a16="http://schemas.microsoft.com/office/drawing/2014/main" id="{9D88CE77-DD05-9148-8A6A-B838DA022522}"/>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8" name="Oval 116">
              <a:extLst>
                <a:ext uri="{FF2B5EF4-FFF2-40B4-BE49-F238E27FC236}">
                  <a16:creationId xmlns:a16="http://schemas.microsoft.com/office/drawing/2014/main" id="{532B4377-5092-3947-9447-5A20A7592F08}"/>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9" name="Oval 117">
              <a:extLst>
                <a:ext uri="{FF2B5EF4-FFF2-40B4-BE49-F238E27FC236}">
                  <a16:creationId xmlns:a16="http://schemas.microsoft.com/office/drawing/2014/main" id="{0F6533DE-C220-6D48-B669-D3389BFED9DC}"/>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0" name="Freeform 118">
              <a:extLst>
                <a:ext uri="{FF2B5EF4-FFF2-40B4-BE49-F238E27FC236}">
                  <a16:creationId xmlns:a16="http://schemas.microsoft.com/office/drawing/2014/main" id="{4B66332B-B0F4-D74C-837B-AF3DA8259019}"/>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1" name="Text Box 134">
              <a:extLst>
                <a:ext uri="{FF2B5EF4-FFF2-40B4-BE49-F238E27FC236}">
                  <a16:creationId xmlns:a16="http://schemas.microsoft.com/office/drawing/2014/main" id="{EF505507-A0D6-D84D-B14D-1F9D07ED4C2C}"/>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02" name="Text Box 135">
              <a:extLst>
                <a:ext uri="{FF2B5EF4-FFF2-40B4-BE49-F238E27FC236}">
                  <a16:creationId xmlns:a16="http://schemas.microsoft.com/office/drawing/2014/main" id="{0166DA67-BBC8-FA4E-9F70-2A7B543558E7}"/>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203" name="Text Box 140">
              <a:extLst>
                <a:ext uri="{FF2B5EF4-FFF2-40B4-BE49-F238E27FC236}">
                  <a16:creationId xmlns:a16="http://schemas.microsoft.com/office/drawing/2014/main" id="{F9D312C1-4628-BF4B-993E-276DFF37AD48}"/>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204" name="Line 156">
              <a:extLst>
                <a:ext uri="{FF2B5EF4-FFF2-40B4-BE49-F238E27FC236}">
                  <a16:creationId xmlns:a16="http://schemas.microsoft.com/office/drawing/2014/main" id="{32A6292D-9919-B84B-AA8B-3487A397926F}"/>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5" name="Line 146">
              <a:extLst>
                <a:ext uri="{FF2B5EF4-FFF2-40B4-BE49-F238E27FC236}">
                  <a16:creationId xmlns:a16="http://schemas.microsoft.com/office/drawing/2014/main" id="{3DAE04D0-070E-E944-97EE-88BD7EECF7CB}"/>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6" name="Text Box 203">
              <a:extLst>
                <a:ext uri="{FF2B5EF4-FFF2-40B4-BE49-F238E27FC236}">
                  <a16:creationId xmlns:a16="http://schemas.microsoft.com/office/drawing/2014/main" id="{43AC5AFB-62E1-BA40-9837-D8B167926EB8}"/>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207" name="Text Box 205">
              <a:extLst>
                <a:ext uri="{FF2B5EF4-FFF2-40B4-BE49-F238E27FC236}">
                  <a16:creationId xmlns:a16="http://schemas.microsoft.com/office/drawing/2014/main" id="{DEF42FF9-1B9B-094E-9B8D-162C2E9B764F}"/>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208" name="Line 215">
              <a:extLst>
                <a:ext uri="{FF2B5EF4-FFF2-40B4-BE49-F238E27FC236}">
                  <a16:creationId xmlns:a16="http://schemas.microsoft.com/office/drawing/2014/main" id="{F54C16C2-EB59-7045-805F-16047A138C68}"/>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9" name="Text Box 206">
              <a:extLst>
                <a:ext uri="{FF2B5EF4-FFF2-40B4-BE49-F238E27FC236}">
                  <a16:creationId xmlns:a16="http://schemas.microsoft.com/office/drawing/2014/main" id="{7394BDC3-5C9C-6040-81B8-D3C55248EFDE}"/>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10" name="Oval 125">
              <a:extLst>
                <a:ext uri="{FF2B5EF4-FFF2-40B4-BE49-F238E27FC236}">
                  <a16:creationId xmlns:a16="http://schemas.microsoft.com/office/drawing/2014/main" id="{9D068A07-A5E7-6A43-8E42-2F2F890B9A37}"/>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1" name="Oval 126">
              <a:extLst>
                <a:ext uri="{FF2B5EF4-FFF2-40B4-BE49-F238E27FC236}">
                  <a16:creationId xmlns:a16="http://schemas.microsoft.com/office/drawing/2014/main" id="{05845FD2-70C4-5545-AF45-FD1E18330210}"/>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2" name="Oval 127">
              <a:extLst>
                <a:ext uri="{FF2B5EF4-FFF2-40B4-BE49-F238E27FC236}">
                  <a16:creationId xmlns:a16="http://schemas.microsoft.com/office/drawing/2014/main" id="{210EA2C2-340F-0D46-8040-987F70E10304}"/>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3" name="Oval 128">
              <a:extLst>
                <a:ext uri="{FF2B5EF4-FFF2-40B4-BE49-F238E27FC236}">
                  <a16:creationId xmlns:a16="http://schemas.microsoft.com/office/drawing/2014/main" id="{9B3BADC5-62F5-C945-95EB-FB5AE723CC03}"/>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4" name="Oval 129">
              <a:extLst>
                <a:ext uri="{FF2B5EF4-FFF2-40B4-BE49-F238E27FC236}">
                  <a16:creationId xmlns:a16="http://schemas.microsoft.com/office/drawing/2014/main" id="{88447F42-7B4E-AE4C-BFDF-36506522440A}"/>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5" name="Oval 130">
              <a:extLst>
                <a:ext uri="{FF2B5EF4-FFF2-40B4-BE49-F238E27FC236}">
                  <a16:creationId xmlns:a16="http://schemas.microsoft.com/office/drawing/2014/main" id="{C71D6CC5-CBF4-3B4C-A762-A815B89210A0}"/>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6" name="Oval 131">
              <a:extLst>
                <a:ext uri="{FF2B5EF4-FFF2-40B4-BE49-F238E27FC236}">
                  <a16:creationId xmlns:a16="http://schemas.microsoft.com/office/drawing/2014/main" id="{20A6274E-E226-0244-9F56-F6D65D06BC24}"/>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7" name="Oval 132">
              <a:extLst>
                <a:ext uri="{FF2B5EF4-FFF2-40B4-BE49-F238E27FC236}">
                  <a16:creationId xmlns:a16="http://schemas.microsoft.com/office/drawing/2014/main" id="{52485099-01FC-1249-9F37-757AD0695A3C}"/>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8" name="Line 147">
              <a:extLst>
                <a:ext uri="{FF2B5EF4-FFF2-40B4-BE49-F238E27FC236}">
                  <a16:creationId xmlns:a16="http://schemas.microsoft.com/office/drawing/2014/main" id="{8599A07B-BF23-4A48-8C40-FB7456D3FC28}"/>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19" name="直接连接符 115">
              <a:extLst>
                <a:ext uri="{FF2B5EF4-FFF2-40B4-BE49-F238E27FC236}">
                  <a16:creationId xmlns:a16="http://schemas.microsoft.com/office/drawing/2014/main" id="{12A9BBD2-521F-A944-90C7-99562CC99182}"/>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20" name="Rectangle 161">
              <a:extLst>
                <a:ext uri="{FF2B5EF4-FFF2-40B4-BE49-F238E27FC236}">
                  <a16:creationId xmlns:a16="http://schemas.microsoft.com/office/drawing/2014/main" id="{B4500DB0-8468-EE41-A5FE-CBE1ECD217AA}"/>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221" name="Oval 129">
              <a:extLst>
                <a:ext uri="{FF2B5EF4-FFF2-40B4-BE49-F238E27FC236}">
                  <a16:creationId xmlns:a16="http://schemas.microsoft.com/office/drawing/2014/main" id="{8DA859C1-55B2-6C41-87B9-45121A086F22}"/>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2" name="任意多边形 134">
              <a:extLst>
                <a:ext uri="{FF2B5EF4-FFF2-40B4-BE49-F238E27FC236}">
                  <a16:creationId xmlns:a16="http://schemas.microsoft.com/office/drawing/2014/main" id="{EA360F3E-6E84-6044-BF5F-B6BCF7A100CE}"/>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3" name="Rectangle 161">
              <a:extLst>
                <a:ext uri="{FF2B5EF4-FFF2-40B4-BE49-F238E27FC236}">
                  <a16:creationId xmlns:a16="http://schemas.microsoft.com/office/drawing/2014/main" id="{DBE334BA-7F7C-E34F-B770-EBD2A2410198}"/>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224" name="直接连接符 119">
              <a:extLst>
                <a:ext uri="{FF2B5EF4-FFF2-40B4-BE49-F238E27FC236}">
                  <a16:creationId xmlns:a16="http://schemas.microsoft.com/office/drawing/2014/main" id="{0E596E60-FF98-284D-814B-769FBCD6E9B7}"/>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25" name="直接连接符 121">
              <a:extLst>
                <a:ext uri="{FF2B5EF4-FFF2-40B4-BE49-F238E27FC236}">
                  <a16:creationId xmlns:a16="http://schemas.microsoft.com/office/drawing/2014/main" id="{035A8FFD-4AC4-D947-B0DE-82A05265C262}"/>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26" name="Line 24">
              <a:extLst>
                <a:ext uri="{FF2B5EF4-FFF2-40B4-BE49-F238E27FC236}">
                  <a16:creationId xmlns:a16="http://schemas.microsoft.com/office/drawing/2014/main" id="{A6B186FF-2AF8-AA4B-8CC9-DEE78FC022C2}"/>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7" name="Line 22">
              <a:extLst>
                <a:ext uri="{FF2B5EF4-FFF2-40B4-BE49-F238E27FC236}">
                  <a16:creationId xmlns:a16="http://schemas.microsoft.com/office/drawing/2014/main" id="{8E7A2ADA-52A5-B344-BBA5-342649DB8F5B}"/>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8" name="Text Box 87">
              <a:extLst>
                <a:ext uri="{FF2B5EF4-FFF2-40B4-BE49-F238E27FC236}">
                  <a16:creationId xmlns:a16="http://schemas.microsoft.com/office/drawing/2014/main" id="{8D89213C-7C09-364D-A2AD-5B0B2CB17698}"/>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229" name="Line 22">
              <a:extLst>
                <a:ext uri="{FF2B5EF4-FFF2-40B4-BE49-F238E27FC236}">
                  <a16:creationId xmlns:a16="http://schemas.microsoft.com/office/drawing/2014/main" id="{9FEC1F73-E84C-A24F-97D6-3D4D962D1785}"/>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30" name="直接连接符 134">
              <a:extLst>
                <a:ext uri="{FF2B5EF4-FFF2-40B4-BE49-F238E27FC236}">
                  <a16:creationId xmlns:a16="http://schemas.microsoft.com/office/drawing/2014/main" id="{EC84B855-7B15-AB41-9AA5-3683474D3781}"/>
                </a:ext>
              </a:extLst>
            </p:cNvPr>
            <p:cNvCxnSpPr>
              <a:cxnSpLocks noChangeShapeType="1"/>
              <a:stCxn id="222" idx="4"/>
            </p:cNvCxnSpPr>
            <p:nvPr/>
          </p:nvCxnSpPr>
          <p:spPr bwMode="auto">
            <a:xfrm>
              <a:off x="6706617" y="2109019"/>
              <a:ext cx="200025" cy="785812"/>
            </a:xfrm>
            <a:prstGeom prst="line">
              <a:avLst/>
            </a:prstGeom>
            <a:noFill/>
            <a:ln w="19050" algn="ctr">
              <a:solidFill>
                <a:srgbClr val="0000FF"/>
              </a:solidFill>
              <a:round/>
              <a:headEnd/>
              <a:tailEnd/>
            </a:ln>
          </p:spPr>
        </p:cxnSp>
        <p:sp>
          <p:nvSpPr>
            <p:cNvPr id="231" name="Text Box 206">
              <a:extLst>
                <a:ext uri="{FF2B5EF4-FFF2-40B4-BE49-F238E27FC236}">
                  <a16:creationId xmlns:a16="http://schemas.microsoft.com/office/drawing/2014/main" id="{E0D18B9D-AF80-9441-8680-914C722B4424}"/>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2" name="Text Box 206">
              <a:extLst>
                <a:ext uri="{FF2B5EF4-FFF2-40B4-BE49-F238E27FC236}">
                  <a16:creationId xmlns:a16="http://schemas.microsoft.com/office/drawing/2014/main" id="{E8249706-6CDF-224A-AA0E-4CFEA4F113E0}"/>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3" name="TextBox 147">
              <a:extLst>
                <a:ext uri="{FF2B5EF4-FFF2-40B4-BE49-F238E27FC236}">
                  <a16:creationId xmlns:a16="http://schemas.microsoft.com/office/drawing/2014/main" id="{BF7903E8-749F-9A4A-913A-CE22CB151070}"/>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34" name="TextBox 148">
              <a:extLst>
                <a:ext uri="{FF2B5EF4-FFF2-40B4-BE49-F238E27FC236}">
                  <a16:creationId xmlns:a16="http://schemas.microsoft.com/office/drawing/2014/main" id="{438D738D-490A-4C47-A6F7-3C3548A12160}"/>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235" name="直接连接符 153">
              <a:extLst>
                <a:ext uri="{FF2B5EF4-FFF2-40B4-BE49-F238E27FC236}">
                  <a16:creationId xmlns:a16="http://schemas.microsoft.com/office/drawing/2014/main" id="{8C43232D-30EC-654A-A92D-333A760D8684}"/>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36" name="直接连接符 119">
              <a:extLst>
                <a:ext uri="{FF2B5EF4-FFF2-40B4-BE49-F238E27FC236}">
                  <a16:creationId xmlns:a16="http://schemas.microsoft.com/office/drawing/2014/main" id="{887AA1DE-CA79-9A41-A6C9-AD457E2820B8}"/>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7" name="直接连接符 141">
              <a:extLst>
                <a:ext uri="{FF2B5EF4-FFF2-40B4-BE49-F238E27FC236}">
                  <a16:creationId xmlns:a16="http://schemas.microsoft.com/office/drawing/2014/main" id="{68A8E023-743B-C940-8FDC-FA2645D7C278}"/>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238" name="Oval 202">
              <a:extLst>
                <a:ext uri="{FF2B5EF4-FFF2-40B4-BE49-F238E27FC236}">
                  <a16:creationId xmlns:a16="http://schemas.microsoft.com/office/drawing/2014/main" id="{DCFBA477-F8C9-FE41-9F4B-6F87880B053C}"/>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9" name="Oval 130">
              <a:extLst>
                <a:ext uri="{FF2B5EF4-FFF2-40B4-BE49-F238E27FC236}">
                  <a16:creationId xmlns:a16="http://schemas.microsoft.com/office/drawing/2014/main" id="{5D9440AC-4BC7-7C49-95F6-0B00C1FEB6C3}"/>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0" name="Oval 130">
              <a:extLst>
                <a:ext uri="{FF2B5EF4-FFF2-40B4-BE49-F238E27FC236}">
                  <a16:creationId xmlns:a16="http://schemas.microsoft.com/office/drawing/2014/main" id="{0436E3E1-6DB2-6540-A3F2-558153EF8FEE}"/>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1" name="TextBox 149">
              <a:extLst>
                <a:ext uri="{FF2B5EF4-FFF2-40B4-BE49-F238E27FC236}">
                  <a16:creationId xmlns:a16="http://schemas.microsoft.com/office/drawing/2014/main" id="{EE587516-83F3-F54C-B367-7FDDFAE09619}"/>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42" name="Oval 202">
              <a:extLst>
                <a:ext uri="{FF2B5EF4-FFF2-40B4-BE49-F238E27FC236}">
                  <a16:creationId xmlns:a16="http://schemas.microsoft.com/office/drawing/2014/main" id="{CDDD744F-7F88-0B43-9721-C7CA2A2B18F8}"/>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43" name="直接连接符 126">
              <a:extLst>
                <a:ext uri="{FF2B5EF4-FFF2-40B4-BE49-F238E27FC236}">
                  <a16:creationId xmlns:a16="http://schemas.microsoft.com/office/drawing/2014/main" id="{8A966D9E-7914-A341-9072-87D76BE6E4B7}"/>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44" name="直接连接符 119">
              <a:extLst>
                <a:ext uri="{FF2B5EF4-FFF2-40B4-BE49-F238E27FC236}">
                  <a16:creationId xmlns:a16="http://schemas.microsoft.com/office/drawing/2014/main" id="{C17EF118-E16A-0141-ADB9-1731EFEE50EE}"/>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45" name="Text Box 140">
            <a:extLst>
              <a:ext uri="{FF2B5EF4-FFF2-40B4-BE49-F238E27FC236}">
                <a16:creationId xmlns:a16="http://schemas.microsoft.com/office/drawing/2014/main" id="{A663C0B6-354B-3844-AD6C-00F6DFE71886}"/>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246" name="Line 167">
            <a:extLst>
              <a:ext uri="{FF2B5EF4-FFF2-40B4-BE49-F238E27FC236}">
                <a16:creationId xmlns:a16="http://schemas.microsoft.com/office/drawing/2014/main" id="{C2B1BF73-9B4E-5142-9373-A983D7387B30}"/>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sp>
        <p:nvSpPr>
          <p:cNvPr id="247" name="Line 147">
            <a:extLst>
              <a:ext uri="{FF2B5EF4-FFF2-40B4-BE49-F238E27FC236}">
                <a16:creationId xmlns:a16="http://schemas.microsoft.com/office/drawing/2014/main" id="{9B913FE5-2905-F24F-AE82-928998E69A73}"/>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8" name="Oval 130">
            <a:extLst>
              <a:ext uri="{FF2B5EF4-FFF2-40B4-BE49-F238E27FC236}">
                <a16:creationId xmlns:a16="http://schemas.microsoft.com/office/drawing/2014/main" id="{A491F27B-7935-2442-8DF3-305B60B7AAF0}"/>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9" name="Text Box 93">
            <a:extLst>
              <a:ext uri="{FF2B5EF4-FFF2-40B4-BE49-F238E27FC236}">
                <a16:creationId xmlns:a16="http://schemas.microsoft.com/office/drawing/2014/main" id="{453BAE1B-5855-284B-B81A-CF38C809BC5F}"/>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
        <p:nvSpPr>
          <p:cNvPr id="252" name="Line 167">
            <a:extLst>
              <a:ext uri="{FF2B5EF4-FFF2-40B4-BE49-F238E27FC236}">
                <a16:creationId xmlns:a16="http://schemas.microsoft.com/office/drawing/2014/main" id="{AA46E8EB-3C81-8649-B40F-E41E73EBB0A4}"/>
              </a:ext>
            </a:extLst>
          </p:cNvPr>
          <p:cNvSpPr>
            <a:spLocks noChangeShapeType="1"/>
          </p:cNvSpPr>
          <p:nvPr/>
        </p:nvSpPr>
        <p:spPr bwMode="auto">
          <a:xfrm flipV="1">
            <a:off x="7229879" y="3415843"/>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a:defRPr/>
            </a:pPr>
            <a:endParaRPr lang="zh-CN" altLang="en-US" sz="2400" b="1" kern="0" dirty="0">
              <a:solidFill>
                <a:sysClr val="windowText" lastClr="000000"/>
              </a:solidFill>
              <a:latin typeface="Calibri"/>
              <a:ea typeface="宋体" panose="02010600030101010101" pitchFamily="2" charset="-122"/>
            </a:endParaRPr>
          </a:p>
        </p:txBody>
      </p:sp>
      <p:sp>
        <p:nvSpPr>
          <p:cNvPr id="253" name="Text Box 155">
            <a:extLst>
              <a:ext uri="{FF2B5EF4-FFF2-40B4-BE49-F238E27FC236}">
                <a16:creationId xmlns:a16="http://schemas.microsoft.com/office/drawing/2014/main" id="{84029389-99E1-2B41-99DF-4FCE61FB0D9E}"/>
              </a:ext>
            </a:extLst>
          </p:cNvPr>
          <p:cNvSpPr txBox="1">
            <a:spLocks noChangeArrowheads="1"/>
          </p:cNvSpPr>
          <p:nvPr/>
        </p:nvSpPr>
        <p:spPr bwMode="auto">
          <a:xfrm>
            <a:off x="3381326" y="4769527"/>
            <a:ext cx="6409946" cy="615168"/>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16 </a:t>
            </a:r>
            <a:r>
              <a:rPr lang="zh-CN" altLang="en-US" sz="1600" b="1" dirty="0">
                <a:solidFill>
                  <a:srgbClr val="0000FF"/>
                </a:solidFill>
                <a:latin typeface="微软雅黑" pitchFamily="34" charset="-122"/>
                <a:ea typeface="微软雅黑" pitchFamily="34" charset="-122"/>
              </a:rPr>
              <a:t>时，发送方连续收到 </a:t>
            </a:r>
            <a:r>
              <a:rPr lang="en-US" altLang="zh-CN" sz="1600" b="1" dirty="0">
                <a:solidFill>
                  <a:srgbClr val="0000FF"/>
                </a:solidFill>
                <a:latin typeface="微软雅黑" pitchFamily="34" charset="-122"/>
                <a:ea typeface="微软雅黑" pitchFamily="34" charset="-122"/>
              </a:rPr>
              <a:t>3 </a:t>
            </a:r>
            <a:r>
              <a:rPr lang="zh-CN" altLang="en-US" sz="1600" b="1" dirty="0">
                <a:solidFill>
                  <a:srgbClr val="0000FF"/>
                </a:solidFill>
                <a:latin typeface="微软雅黑" pitchFamily="34" charset="-122"/>
                <a:ea typeface="微软雅黑" pitchFamily="34" charset="-122"/>
              </a:rPr>
              <a:t>个对同一个报文段的重复确认（记为 </a:t>
            </a:r>
            <a:r>
              <a:rPr lang="en-US" altLang="zh-CN" sz="1600" b="1" dirty="0">
                <a:solidFill>
                  <a:srgbClr val="0000FF"/>
                </a:solidFill>
                <a:latin typeface="微软雅黑" pitchFamily="34" charset="-122"/>
                <a:ea typeface="微软雅黑" pitchFamily="34" charset="-122"/>
              </a:rPr>
              <a:t>3-ACK</a:t>
            </a:r>
            <a:r>
              <a:rPr lang="zh-CN" altLang="en-US" sz="1600" b="1" dirty="0">
                <a:solidFill>
                  <a:srgbClr val="0000FF"/>
                </a:solidFill>
                <a:latin typeface="微软雅黑" pitchFamily="34" charset="-122"/>
                <a:ea typeface="微软雅黑" pitchFamily="34" charset="-122"/>
              </a:rPr>
              <a:t>）。发送方改为执行</a:t>
            </a:r>
            <a:r>
              <a:rPr lang="zh-CN" altLang="en-US" sz="1600" b="1" dirty="0">
                <a:solidFill>
                  <a:srgbClr val="C00000"/>
                </a:solidFill>
                <a:latin typeface="微软雅黑" pitchFamily="34" charset="-122"/>
                <a:ea typeface="微软雅黑" pitchFamily="34" charset="-122"/>
              </a:rPr>
              <a:t>快速重传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快速恢复</a:t>
            </a:r>
            <a:r>
              <a:rPr lang="zh-CN" altLang="en-US" sz="1600" b="1" dirty="0">
                <a:solidFill>
                  <a:srgbClr val="0000FF"/>
                </a:solidFill>
                <a:latin typeface="微软雅黑" pitchFamily="34" charset="-122"/>
                <a:ea typeface="微软雅黑" pitchFamily="34" charset="-122"/>
              </a:rPr>
              <a:t>算法。</a:t>
            </a:r>
          </a:p>
        </p:txBody>
      </p:sp>
    </p:spTree>
    <p:extLst>
      <p:ext uri="{BB962C8B-B14F-4D97-AF65-F5344CB8AC3E}">
        <p14:creationId xmlns:p14="http://schemas.microsoft.com/office/powerpoint/2010/main" val="30090239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F4942-EB6E-0AB7-25AD-F3EF0E092BD2}"/>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61BC2E56-4010-F3F0-1871-FBD84E2C83DA}"/>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EFFEB410-91EB-2AF6-D06B-5EDCD2EFC27F}"/>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FB0889B8-10D5-C720-3100-D042C2B799BD}"/>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058208A8-E0E9-BB8C-4CA1-12A3090FC707}"/>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26172970-76ED-B46F-D4CF-387E6B009BE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129" name="组合 128">
            <a:extLst>
              <a:ext uri="{FF2B5EF4-FFF2-40B4-BE49-F238E27FC236}">
                <a16:creationId xmlns:a16="http://schemas.microsoft.com/office/drawing/2014/main" id="{5524D13A-8A07-B48B-6090-F20B8F2D31F7}"/>
              </a:ext>
            </a:extLst>
          </p:cNvPr>
          <p:cNvGrpSpPr/>
          <p:nvPr/>
        </p:nvGrpSpPr>
        <p:grpSpPr>
          <a:xfrm>
            <a:off x="505664" y="1426139"/>
            <a:ext cx="6645148" cy="525530"/>
            <a:chOff x="722008" y="1303131"/>
            <a:chExt cx="6344982" cy="501792"/>
          </a:xfrm>
        </p:grpSpPr>
        <p:sp>
          <p:nvSpPr>
            <p:cNvPr id="130" name="流程图: 手动输入 6">
              <a:extLst>
                <a:ext uri="{FF2B5EF4-FFF2-40B4-BE49-F238E27FC236}">
                  <a16:creationId xmlns:a16="http://schemas.microsoft.com/office/drawing/2014/main" id="{17791A3B-733B-5BFD-4CE1-AC1F61333432}"/>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31" name="组合 130">
              <a:extLst>
                <a:ext uri="{FF2B5EF4-FFF2-40B4-BE49-F238E27FC236}">
                  <a16:creationId xmlns:a16="http://schemas.microsoft.com/office/drawing/2014/main" id="{F643721E-A779-7004-591D-4AF13B19EDA0}"/>
                </a:ext>
              </a:extLst>
            </p:cNvPr>
            <p:cNvGrpSpPr/>
            <p:nvPr/>
          </p:nvGrpSpPr>
          <p:grpSpPr>
            <a:xfrm>
              <a:off x="722008" y="1303131"/>
              <a:ext cx="546594" cy="475865"/>
              <a:chOff x="708742" y="1296102"/>
              <a:chExt cx="454744" cy="283828"/>
            </a:xfrm>
          </p:grpSpPr>
          <p:sp>
            <p:nvSpPr>
              <p:cNvPr id="133" name="平行四边形 132">
                <a:extLst>
                  <a:ext uri="{FF2B5EF4-FFF2-40B4-BE49-F238E27FC236}">
                    <a16:creationId xmlns:a16="http://schemas.microsoft.com/office/drawing/2014/main" id="{2BBAC4D5-9A42-FA0F-C486-F91328E27C30}"/>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34" name="平行四边形 133">
                <a:extLst>
                  <a:ext uri="{FF2B5EF4-FFF2-40B4-BE49-F238E27FC236}">
                    <a16:creationId xmlns:a16="http://schemas.microsoft.com/office/drawing/2014/main" id="{809D0E64-2F2B-E0E3-0A2F-0568C834A89E}"/>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32" name="Text Box 79">
              <a:extLst>
                <a:ext uri="{FF2B5EF4-FFF2-40B4-BE49-F238E27FC236}">
                  <a16:creationId xmlns:a16="http://schemas.microsoft.com/office/drawing/2014/main" id="{EC895D6D-A0F0-CC3A-BBB8-467EF9A63741}"/>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49" name="灯片编号占位符 48">
            <a:extLst>
              <a:ext uri="{FF2B5EF4-FFF2-40B4-BE49-F238E27FC236}">
                <a16:creationId xmlns:a16="http://schemas.microsoft.com/office/drawing/2014/main" id="{8C971562-A906-45FF-9E91-D613F9748CEE}"/>
              </a:ext>
            </a:extLst>
          </p:cNvPr>
          <p:cNvSpPr>
            <a:spLocks noGrp="1"/>
          </p:cNvSpPr>
          <p:nvPr>
            <p:ph type="sldNum" sz="quarter" idx="12"/>
          </p:nvPr>
        </p:nvSpPr>
        <p:spPr/>
        <p:txBody>
          <a:bodyPr/>
          <a:lstStyle/>
          <a:p>
            <a:fld id="{5956A083-5018-4B52-82A0-83241B8E3D94}" type="slidenum">
              <a:rPr lang="zh-CN" altLang="en-US" smtClean="0"/>
              <a:t>67</a:t>
            </a:fld>
            <a:endParaRPr lang="zh-CN" altLang="en-US"/>
          </a:p>
        </p:txBody>
      </p:sp>
      <p:sp>
        <p:nvSpPr>
          <p:cNvPr id="135" name="圆角矩形 150">
            <a:extLst>
              <a:ext uri="{FF2B5EF4-FFF2-40B4-BE49-F238E27FC236}">
                <a16:creationId xmlns:a16="http://schemas.microsoft.com/office/drawing/2014/main" id="{EC508BAE-9455-2848-AE23-09B5412A7CEC}"/>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36" name="组合 135">
            <a:extLst>
              <a:ext uri="{FF2B5EF4-FFF2-40B4-BE49-F238E27FC236}">
                <a16:creationId xmlns:a16="http://schemas.microsoft.com/office/drawing/2014/main" id="{A94D79A7-C97C-804D-8786-5FD0ECC7ABFA}"/>
              </a:ext>
            </a:extLst>
          </p:cNvPr>
          <p:cNvGrpSpPr/>
          <p:nvPr/>
        </p:nvGrpSpPr>
        <p:grpSpPr>
          <a:xfrm>
            <a:off x="3043104" y="2417895"/>
            <a:ext cx="6808860" cy="2262108"/>
            <a:chOff x="300646" y="840152"/>
            <a:chExt cx="9638211" cy="3093013"/>
          </a:xfrm>
        </p:grpSpPr>
        <p:sp>
          <p:nvSpPr>
            <p:cNvPr id="137" name="Text Box 140">
              <a:extLst>
                <a:ext uri="{FF2B5EF4-FFF2-40B4-BE49-F238E27FC236}">
                  <a16:creationId xmlns:a16="http://schemas.microsoft.com/office/drawing/2014/main" id="{1FCDBBD2-3262-3847-8E34-AA29CAF1218F}"/>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8" name="Line 2">
              <a:extLst>
                <a:ext uri="{FF2B5EF4-FFF2-40B4-BE49-F238E27FC236}">
                  <a16:creationId xmlns:a16="http://schemas.microsoft.com/office/drawing/2014/main" id="{C26AED0F-C718-FE48-B23F-ABC0BEFCAAA8}"/>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9" name="Line 3">
              <a:extLst>
                <a:ext uri="{FF2B5EF4-FFF2-40B4-BE49-F238E27FC236}">
                  <a16:creationId xmlns:a16="http://schemas.microsoft.com/office/drawing/2014/main" id="{6FB43AAA-FFF8-6147-A097-A665405AE6BE}"/>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0" name="Line 4">
              <a:extLst>
                <a:ext uri="{FF2B5EF4-FFF2-40B4-BE49-F238E27FC236}">
                  <a16:creationId xmlns:a16="http://schemas.microsoft.com/office/drawing/2014/main" id="{4C7901FD-398D-5043-9ACE-EBC66121461A}"/>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1" name="Line 5">
              <a:extLst>
                <a:ext uri="{FF2B5EF4-FFF2-40B4-BE49-F238E27FC236}">
                  <a16:creationId xmlns:a16="http://schemas.microsoft.com/office/drawing/2014/main" id="{71794ECE-850B-E54C-A513-45010CEB1516}"/>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2" name="Line 6">
              <a:extLst>
                <a:ext uri="{FF2B5EF4-FFF2-40B4-BE49-F238E27FC236}">
                  <a16:creationId xmlns:a16="http://schemas.microsoft.com/office/drawing/2014/main" id="{6189BEF2-B76B-F84B-9769-B59550D88B36}"/>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3" name="Line 7">
              <a:extLst>
                <a:ext uri="{FF2B5EF4-FFF2-40B4-BE49-F238E27FC236}">
                  <a16:creationId xmlns:a16="http://schemas.microsoft.com/office/drawing/2014/main" id="{2EABB5C4-C241-8444-8532-B64CFEC63F57}"/>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4" name="Line 8">
              <a:extLst>
                <a:ext uri="{FF2B5EF4-FFF2-40B4-BE49-F238E27FC236}">
                  <a16:creationId xmlns:a16="http://schemas.microsoft.com/office/drawing/2014/main" id="{F74A7A00-FE14-0D4C-BAA7-0F269506723F}"/>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5" name="Line 9">
              <a:extLst>
                <a:ext uri="{FF2B5EF4-FFF2-40B4-BE49-F238E27FC236}">
                  <a16:creationId xmlns:a16="http://schemas.microsoft.com/office/drawing/2014/main" id="{170BC69A-9391-204C-836A-925BC22775B3}"/>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6" name="Line 10">
              <a:extLst>
                <a:ext uri="{FF2B5EF4-FFF2-40B4-BE49-F238E27FC236}">
                  <a16:creationId xmlns:a16="http://schemas.microsoft.com/office/drawing/2014/main" id="{22753F70-3DA5-1242-AD03-3B15892E7917}"/>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7" name="Line 11">
              <a:extLst>
                <a:ext uri="{FF2B5EF4-FFF2-40B4-BE49-F238E27FC236}">
                  <a16:creationId xmlns:a16="http://schemas.microsoft.com/office/drawing/2014/main" id="{225ED489-4FD8-9C4F-ADA7-FA8C77228BCD}"/>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8" name="Line 12">
              <a:extLst>
                <a:ext uri="{FF2B5EF4-FFF2-40B4-BE49-F238E27FC236}">
                  <a16:creationId xmlns:a16="http://schemas.microsoft.com/office/drawing/2014/main" id="{051EE58E-8E56-9E46-B8F7-D7B8631659CA}"/>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9" name="Line 13">
              <a:extLst>
                <a:ext uri="{FF2B5EF4-FFF2-40B4-BE49-F238E27FC236}">
                  <a16:creationId xmlns:a16="http://schemas.microsoft.com/office/drawing/2014/main" id="{138BE6FA-3838-BA4A-87D1-AB08EFFDA601}"/>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0" name="Line 14">
              <a:extLst>
                <a:ext uri="{FF2B5EF4-FFF2-40B4-BE49-F238E27FC236}">
                  <a16:creationId xmlns:a16="http://schemas.microsoft.com/office/drawing/2014/main" id="{1EFEE950-805B-0B46-AEA4-3B3412323BA1}"/>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1" name="Line 15">
              <a:extLst>
                <a:ext uri="{FF2B5EF4-FFF2-40B4-BE49-F238E27FC236}">
                  <a16:creationId xmlns:a16="http://schemas.microsoft.com/office/drawing/2014/main" id="{80D1E434-4A51-CE4D-852E-6448C16A33E5}"/>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2" name="Line 16">
              <a:extLst>
                <a:ext uri="{FF2B5EF4-FFF2-40B4-BE49-F238E27FC236}">
                  <a16:creationId xmlns:a16="http://schemas.microsoft.com/office/drawing/2014/main" id="{13833ED7-8535-0644-9FCD-A8952170E032}"/>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3" name="Line 17">
              <a:extLst>
                <a:ext uri="{FF2B5EF4-FFF2-40B4-BE49-F238E27FC236}">
                  <a16:creationId xmlns:a16="http://schemas.microsoft.com/office/drawing/2014/main" id="{DBE425C0-A586-4C4A-A544-F39C298C17E7}"/>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4" name="Line 18">
              <a:extLst>
                <a:ext uri="{FF2B5EF4-FFF2-40B4-BE49-F238E27FC236}">
                  <a16:creationId xmlns:a16="http://schemas.microsoft.com/office/drawing/2014/main" id="{F9F5C90B-3AF5-CD4A-B8E8-002B494A9CA5}"/>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5" name="Line 19">
              <a:extLst>
                <a:ext uri="{FF2B5EF4-FFF2-40B4-BE49-F238E27FC236}">
                  <a16:creationId xmlns:a16="http://schemas.microsoft.com/office/drawing/2014/main" id="{13AF96DB-ABD6-2B49-8E67-79777FE0E0A4}"/>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6" name="Line 20">
              <a:extLst>
                <a:ext uri="{FF2B5EF4-FFF2-40B4-BE49-F238E27FC236}">
                  <a16:creationId xmlns:a16="http://schemas.microsoft.com/office/drawing/2014/main" id="{677E9EF3-33D1-4048-855E-7B783B267D82}"/>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7" name="Line 21">
              <a:extLst>
                <a:ext uri="{FF2B5EF4-FFF2-40B4-BE49-F238E27FC236}">
                  <a16:creationId xmlns:a16="http://schemas.microsoft.com/office/drawing/2014/main" id="{C82B352A-5FE8-6D43-B982-C1099F8EC6B2}"/>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8" name="Line 22">
              <a:extLst>
                <a:ext uri="{FF2B5EF4-FFF2-40B4-BE49-F238E27FC236}">
                  <a16:creationId xmlns:a16="http://schemas.microsoft.com/office/drawing/2014/main" id="{2273F960-04DC-D847-8CF5-FDC6607C9971}"/>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9" name="Line 23">
              <a:extLst>
                <a:ext uri="{FF2B5EF4-FFF2-40B4-BE49-F238E27FC236}">
                  <a16:creationId xmlns:a16="http://schemas.microsoft.com/office/drawing/2014/main" id="{80F7C8CB-B6A8-AD40-93F6-7E7C86E4D46A}"/>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0" name="Line 24">
              <a:extLst>
                <a:ext uri="{FF2B5EF4-FFF2-40B4-BE49-F238E27FC236}">
                  <a16:creationId xmlns:a16="http://schemas.microsoft.com/office/drawing/2014/main" id="{1B26B0CE-9D8E-6E4E-B57A-EE33B30D4540}"/>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1" name="Line 25">
              <a:extLst>
                <a:ext uri="{FF2B5EF4-FFF2-40B4-BE49-F238E27FC236}">
                  <a16:creationId xmlns:a16="http://schemas.microsoft.com/office/drawing/2014/main" id="{9C0AB732-E146-A74F-8F77-5F7347849E08}"/>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2" name="Line 40">
              <a:extLst>
                <a:ext uri="{FF2B5EF4-FFF2-40B4-BE49-F238E27FC236}">
                  <a16:creationId xmlns:a16="http://schemas.microsoft.com/office/drawing/2014/main" id="{787015D9-AF0D-FC41-82A0-DD0000A2A7A4}"/>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3" name="Line 41">
              <a:extLst>
                <a:ext uri="{FF2B5EF4-FFF2-40B4-BE49-F238E27FC236}">
                  <a16:creationId xmlns:a16="http://schemas.microsoft.com/office/drawing/2014/main" id="{83E6F6E5-FDA2-D742-8662-684150505797}"/>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4" name="Line 42">
              <a:extLst>
                <a:ext uri="{FF2B5EF4-FFF2-40B4-BE49-F238E27FC236}">
                  <a16:creationId xmlns:a16="http://schemas.microsoft.com/office/drawing/2014/main" id="{4CC8551B-A0E4-7A41-9D5D-B0EF26703CBC}"/>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5" name="Line 43">
              <a:extLst>
                <a:ext uri="{FF2B5EF4-FFF2-40B4-BE49-F238E27FC236}">
                  <a16:creationId xmlns:a16="http://schemas.microsoft.com/office/drawing/2014/main" id="{93BB74DF-8B3E-0544-B1CB-D5980498CAF7}"/>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6" name="Line 44">
              <a:extLst>
                <a:ext uri="{FF2B5EF4-FFF2-40B4-BE49-F238E27FC236}">
                  <a16:creationId xmlns:a16="http://schemas.microsoft.com/office/drawing/2014/main" id="{9132D4E4-252C-B447-8757-AF8FB5BB1D73}"/>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7" name="Line 45">
              <a:extLst>
                <a:ext uri="{FF2B5EF4-FFF2-40B4-BE49-F238E27FC236}">
                  <a16:creationId xmlns:a16="http://schemas.microsoft.com/office/drawing/2014/main" id="{93023C73-147A-B14B-86C0-A59F5273477B}"/>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8" name="Text Box 77">
              <a:extLst>
                <a:ext uri="{FF2B5EF4-FFF2-40B4-BE49-F238E27FC236}">
                  <a16:creationId xmlns:a16="http://schemas.microsoft.com/office/drawing/2014/main" id="{F22C9139-76B8-654F-9656-90BD9A418A36}"/>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169" name="Text Box 78">
              <a:extLst>
                <a:ext uri="{FF2B5EF4-FFF2-40B4-BE49-F238E27FC236}">
                  <a16:creationId xmlns:a16="http://schemas.microsoft.com/office/drawing/2014/main" id="{025CB034-7599-9140-93FA-CCA6A0618BF3}"/>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70" name="Text Box 79">
              <a:extLst>
                <a:ext uri="{FF2B5EF4-FFF2-40B4-BE49-F238E27FC236}">
                  <a16:creationId xmlns:a16="http://schemas.microsoft.com/office/drawing/2014/main" id="{94518AA9-9590-BE4E-AEA9-C9C0AFF03F47}"/>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171" name="Text Box 80">
              <a:extLst>
                <a:ext uri="{FF2B5EF4-FFF2-40B4-BE49-F238E27FC236}">
                  <a16:creationId xmlns:a16="http://schemas.microsoft.com/office/drawing/2014/main" id="{8EB15C3A-BC48-4D4F-9CF4-46822136E2F0}"/>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172" name="Text Box 81">
              <a:extLst>
                <a:ext uri="{FF2B5EF4-FFF2-40B4-BE49-F238E27FC236}">
                  <a16:creationId xmlns:a16="http://schemas.microsoft.com/office/drawing/2014/main" id="{D33939EA-7B5F-9F46-8E7C-4EFBB2CDB9BF}"/>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173" name="Text Box 82">
              <a:extLst>
                <a:ext uri="{FF2B5EF4-FFF2-40B4-BE49-F238E27FC236}">
                  <a16:creationId xmlns:a16="http://schemas.microsoft.com/office/drawing/2014/main" id="{3545FAA0-A554-5A49-BC44-E11F9CF4279D}"/>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74" name="Text Box 83">
              <a:extLst>
                <a:ext uri="{FF2B5EF4-FFF2-40B4-BE49-F238E27FC236}">
                  <a16:creationId xmlns:a16="http://schemas.microsoft.com/office/drawing/2014/main" id="{04F0E343-AC0F-E943-8F87-4633A8B69A28}"/>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175" name="Text Box 84">
              <a:extLst>
                <a:ext uri="{FF2B5EF4-FFF2-40B4-BE49-F238E27FC236}">
                  <a16:creationId xmlns:a16="http://schemas.microsoft.com/office/drawing/2014/main" id="{746A5930-A029-9344-B68A-4AEB23ED5D9E}"/>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76" name="Text Box 85">
              <a:extLst>
                <a:ext uri="{FF2B5EF4-FFF2-40B4-BE49-F238E27FC236}">
                  <a16:creationId xmlns:a16="http://schemas.microsoft.com/office/drawing/2014/main" id="{3C4418E0-899B-CB46-886E-AD81EF84D441}"/>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177" name="Text Box 86">
              <a:extLst>
                <a:ext uri="{FF2B5EF4-FFF2-40B4-BE49-F238E27FC236}">
                  <a16:creationId xmlns:a16="http://schemas.microsoft.com/office/drawing/2014/main" id="{E0084F0E-1F9B-8B44-96C0-A11C310E3AB9}"/>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78" name="Text Box 87">
              <a:extLst>
                <a:ext uri="{FF2B5EF4-FFF2-40B4-BE49-F238E27FC236}">
                  <a16:creationId xmlns:a16="http://schemas.microsoft.com/office/drawing/2014/main" id="{17D7914B-AE06-2D4C-B759-920B1A37ADD8}"/>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179" name="Text Box 89">
              <a:extLst>
                <a:ext uri="{FF2B5EF4-FFF2-40B4-BE49-F238E27FC236}">
                  <a16:creationId xmlns:a16="http://schemas.microsoft.com/office/drawing/2014/main" id="{95DC0849-18E0-C94F-BF7F-B40DD576CD7A}"/>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0" name="Text Box 90">
              <a:extLst>
                <a:ext uri="{FF2B5EF4-FFF2-40B4-BE49-F238E27FC236}">
                  <a16:creationId xmlns:a16="http://schemas.microsoft.com/office/drawing/2014/main" id="{A451EDAE-6C00-954E-9A23-7646BB8DFE10}"/>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1" name="Text Box 91">
              <a:extLst>
                <a:ext uri="{FF2B5EF4-FFF2-40B4-BE49-F238E27FC236}">
                  <a16:creationId xmlns:a16="http://schemas.microsoft.com/office/drawing/2014/main" id="{BA53F1F3-2CD4-384B-91E9-57F9B7129A2F}"/>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82" name="Text Box 92">
              <a:extLst>
                <a:ext uri="{FF2B5EF4-FFF2-40B4-BE49-F238E27FC236}">
                  <a16:creationId xmlns:a16="http://schemas.microsoft.com/office/drawing/2014/main" id="{778C808E-3AC8-164C-86C2-95CBFDFB7DCB}"/>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183" name="Text Box 93">
              <a:extLst>
                <a:ext uri="{FF2B5EF4-FFF2-40B4-BE49-F238E27FC236}">
                  <a16:creationId xmlns:a16="http://schemas.microsoft.com/office/drawing/2014/main" id="{A816191A-A500-B746-8E95-3422CC6EBC6F}"/>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84" name="Text Box 94">
              <a:extLst>
                <a:ext uri="{FF2B5EF4-FFF2-40B4-BE49-F238E27FC236}">
                  <a16:creationId xmlns:a16="http://schemas.microsoft.com/office/drawing/2014/main" id="{B803554A-8A02-B549-A77D-23A5B9087C09}"/>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85" name="Text Box 95">
              <a:extLst>
                <a:ext uri="{FF2B5EF4-FFF2-40B4-BE49-F238E27FC236}">
                  <a16:creationId xmlns:a16="http://schemas.microsoft.com/office/drawing/2014/main" id="{DBDFC7AC-8ABA-2B46-AAE1-0D2CCFB0DBD5}"/>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86" name="Text Box 96">
              <a:extLst>
                <a:ext uri="{FF2B5EF4-FFF2-40B4-BE49-F238E27FC236}">
                  <a16:creationId xmlns:a16="http://schemas.microsoft.com/office/drawing/2014/main" id="{CDD8100F-4EB6-AD4E-891E-2EC0A30D5C1E}"/>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187" name="Oval 102">
              <a:extLst>
                <a:ext uri="{FF2B5EF4-FFF2-40B4-BE49-F238E27FC236}">
                  <a16:creationId xmlns:a16="http://schemas.microsoft.com/office/drawing/2014/main" id="{FA09ED97-15EE-C74B-831C-68E656A19D02}"/>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8" name="Oval 103">
              <a:extLst>
                <a:ext uri="{FF2B5EF4-FFF2-40B4-BE49-F238E27FC236}">
                  <a16:creationId xmlns:a16="http://schemas.microsoft.com/office/drawing/2014/main" id="{3EDA274C-AFCA-CE44-9A24-B1C917874C66}"/>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9" name="Oval 104">
              <a:extLst>
                <a:ext uri="{FF2B5EF4-FFF2-40B4-BE49-F238E27FC236}">
                  <a16:creationId xmlns:a16="http://schemas.microsoft.com/office/drawing/2014/main" id="{D0A4B4B1-EE36-5B4D-9F46-361E74CC13BB}"/>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0" name="Oval 105">
              <a:extLst>
                <a:ext uri="{FF2B5EF4-FFF2-40B4-BE49-F238E27FC236}">
                  <a16:creationId xmlns:a16="http://schemas.microsoft.com/office/drawing/2014/main" id="{3145AF32-804D-7149-A9C5-988FB883C309}"/>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1" name="Oval 106">
              <a:extLst>
                <a:ext uri="{FF2B5EF4-FFF2-40B4-BE49-F238E27FC236}">
                  <a16:creationId xmlns:a16="http://schemas.microsoft.com/office/drawing/2014/main" id="{2E175183-234C-6D40-A519-3F6ED3CCD83E}"/>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2" name="Oval 107">
              <a:extLst>
                <a:ext uri="{FF2B5EF4-FFF2-40B4-BE49-F238E27FC236}">
                  <a16:creationId xmlns:a16="http://schemas.microsoft.com/office/drawing/2014/main" id="{24AF6430-E474-1D45-9001-58A9D747C356}"/>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3" name="Oval 108">
              <a:extLst>
                <a:ext uri="{FF2B5EF4-FFF2-40B4-BE49-F238E27FC236}">
                  <a16:creationId xmlns:a16="http://schemas.microsoft.com/office/drawing/2014/main" id="{E15CC1F0-CD49-D947-9146-6FF8AAF60F73}"/>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4" name="Oval 109">
              <a:extLst>
                <a:ext uri="{FF2B5EF4-FFF2-40B4-BE49-F238E27FC236}">
                  <a16:creationId xmlns:a16="http://schemas.microsoft.com/office/drawing/2014/main" id="{957372F2-8510-9D49-A1C8-66A271E967BE}"/>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5" name="Oval 110">
              <a:extLst>
                <a:ext uri="{FF2B5EF4-FFF2-40B4-BE49-F238E27FC236}">
                  <a16:creationId xmlns:a16="http://schemas.microsoft.com/office/drawing/2014/main" id="{8E9D6BD2-E9DF-F544-AB81-1A86D398D49E}"/>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6" name="Oval 113">
              <a:extLst>
                <a:ext uri="{FF2B5EF4-FFF2-40B4-BE49-F238E27FC236}">
                  <a16:creationId xmlns:a16="http://schemas.microsoft.com/office/drawing/2014/main" id="{182FA22C-2B6A-8041-9C48-774C3817BB9D}"/>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7" name="Oval 114">
              <a:extLst>
                <a:ext uri="{FF2B5EF4-FFF2-40B4-BE49-F238E27FC236}">
                  <a16:creationId xmlns:a16="http://schemas.microsoft.com/office/drawing/2014/main" id="{9D88CE77-DD05-9148-8A6A-B838DA022522}"/>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8" name="Oval 116">
              <a:extLst>
                <a:ext uri="{FF2B5EF4-FFF2-40B4-BE49-F238E27FC236}">
                  <a16:creationId xmlns:a16="http://schemas.microsoft.com/office/drawing/2014/main" id="{532B4377-5092-3947-9447-5A20A7592F08}"/>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9" name="Oval 117">
              <a:extLst>
                <a:ext uri="{FF2B5EF4-FFF2-40B4-BE49-F238E27FC236}">
                  <a16:creationId xmlns:a16="http://schemas.microsoft.com/office/drawing/2014/main" id="{0F6533DE-C220-6D48-B669-D3389BFED9DC}"/>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0" name="Freeform 118">
              <a:extLst>
                <a:ext uri="{FF2B5EF4-FFF2-40B4-BE49-F238E27FC236}">
                  <a16:creationId xmlns:a16="http://schemas.microsoft.com/office/drawing/2014/main" id="{4B66332B-B0F4-D74C-837B-AF3DA8259019}"/>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1" name="Text Box 134">
              <a:extLst>
                <a:ext uri="{FF2B5EF4-FFF2-40B4-BE49-F238E27FC236}">
                  <a16:creationId xmlns:a16="http://schemas.microsoft.com/office/drawing/2014/main" id="{EF505507-A0D6-D84D-B14D-1F9D07ED4C2C}"/>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02" name="Text Box 135">
              <a:extLst>
                <a:ext uri="{FF2B5EF4-FFF2-40B4-BE49-F238E27FC236}">
                  <a16:creationId xmlns:a16="http://schemas.microsoft.com/office/drawing/2014/main" id="{0166DA67-BBC8-FA4E-9F70-2A7B543558E7}"/>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203" name="Text Box 140">
              <a:extLst>
                <a:ext uri="{FF2B5EF4-FFF2-40B4-BE49-F238E27FC236}">
                  <a16:creationId xmlns:a16="http://schemas.microsoft.com/office/drawing/2014/main" id="{F9D312C1-4628-BF4B-993E-276DFF37AD48}"/>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204" name="Line 156">
              <a:extLst>
                <a:ext uri="{FF2B5EF4-FFF2-40B4-BE49-F238E27FC236}">
                  <a16:creationId xmlns:a16="http://schemas.microsoft.com/office/drawing/2014/main" id="{32A6292D-9919-B84B-AA8B-3487A397926F}"/>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5" name="Line 146">
              <a:extLst>
                <a:ext uri="{FF2B5EF4-FFF2-40B4-BE49-F238E27FC236}">
                  <a16:creationId xmlns:a16="http://schemas.microsoft.com/office/drawing/2014/main" id="{3DAE04D0-070E-E944-97EE-88BD7EECF7CB}"/>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6" name="Text Box 203">
              <a:extLst>
                <a:ext uri="{FF2B5EF4-FFF2-40B4-BE49-F238E27FC236}">
                  <a16:creationId xmlns:a16="http://schemas.microsoft.com/office/drawing/2014/main" id="{43AC5AFB-62E1-BA40-9837-D8B167926EB8}"/>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207" name="Text Box 205">
              <a:extLst>
                <a:ext uri="{FF2B5EF4-FFF2-40B4-BE49-F238E27FC236}">
                  <a16:creationId xmlns:a16="http://schemas.microsoft.com/office/drawing/2014/main" id="{DEF42FF9-1B9B-094E-9B8D-162C2E9B764F}"/>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208" name="Line 215">
              <a:extLst>
                <a:ext uri="{FF2B5EF4-FFF2-40B4-BE49-F238E27FC236}">
                  <a16:creationId xmlns:a16="http://schemas.microsoft.com/office/drawing/2014/main" id="{F54C16C2-EB59-7045-805F-16047A138C68}"/>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9" name="Text Box 206">
              <a:extLst>
                <a:ext uri="{FF2B5EF4-FFF2-40B4-BE49-F238E27FC236}">
                  <a16:creationId xmlns:a16="http://schemas.microsoft.com/office/drawing/2014/main" id="{7394BDC3-5C9C-6040-81B8-D3C55248EFDE}"/>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10" name="Oval 125">
              <a:extLst>
                <a:ext uri="{FF2B5EF4-FFF2-40B4-BE49-F238E27FC236}">
                  <a16:creationId xmlns:a16="http://schemas.microsoft.com/office/drawing/2014/main" id="{9D068A07-A5E7-6A43-8E42-2F2F890B9A37}"/>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1" name="Oval 126">
              <a:extLst>
                <a:ext uri="{FF2B5EF4-FFF2-40B4-BE49-F238E27FC236}">
                  <a16:creationId xmlns:a16="http://schemas.microsoft.com/office/drawing/2014/main" id="{05845FD2-70C4-5545-AF45-FD1E18330210}"/>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2" name="Oval 127">
              <a:extLst>
                <a:ext uri="{FF2B5EF4-FFF2-40B4-BE49-F238E27FC236}">
                  <a16:creationId xmlns:a16="http://schemas.microsoft.com/office/drawing/2014/main" id="{210EA2C2-340F-0D46-8040-987F70E10304}"/>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3" name="Oval 128">
              <a:extLst>
                <a:ext uri="{FF2B5EF4-FFF2-40B4-BE49-F238E27FC236}">
                  <a16:creationId xmlns:a16="http://schemas.microsoft.com/office/drawing/2014/main" id="{9B3BADC5-62F5-C945-95EB-FB5AE723CC03}"/>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4" name="Oval 129">
              <a:extLst>
                <a:ext uri="{FF2B5EF4-FFF2-40B4-BE49-F238E27FC236}">
                  <a16:creationId xmlns:a16="http://schemas.microsoft.com/office/drawing/2014/main" id="{88447F42-7B4E-AE4C-BFDF-36506522440A}"/>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5" name="Oval 130">
              <a:extLst>
                <a:ext uri="{FF2B5EF4-FFF2-40B4-BE49-F238E27FC236}">
                  <a16:creationId xmlns:a16="http://schemas.microsoft.com/office/drawing/2014/main" id="{C71D6CC5-CBF4-3B4C-A762-A815B89210A0}"/>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6" name="Oval 131">
              <a:extLst>
                <a:ext uri="{FF2B5EF4-FFF2-40B4-BE49-F238E27FC236}">
                  <a16:creationId xmlns:a16="http://schemas.microsoft.com/office/drawing/2014/main" id="{20A6274E-E226-0244-9F56-F6D65D06BC24}"/>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7" name="Oval 132">
              <a:extLst>
                <a:ext uri="{FF2B5EF4-FFF2-40B4-BE49-F238E27FC236}">
                  <a16:creationId xmlns:a16="http://schemas.microsoft.com/office/drawing/2014/main" id="{52485099-01FC-1249-9F37-757AD0695A3C}"/>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8" name="Line 147">
              <a:extLst>
                <a:ext uri="{FF2B5EF4-FFF2-40B4-BE49-F238E27FC236}">
                  <a16:creationId xmlns:a16="http://schemas.microsoft.com/office/drawing/2014/main" id="{8599A07B-BF23-4A48-8C40-FB7456D3FC28}"/>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19" name="直接连接符 115">
              <a:extLst>
                <a:ext uri="{FF2B5EF4-FFF2-40B4-BE49-F238E27FC236}">
                  <a16:creationId xmlns:a16="http://schemas.microsoft.com/office/drawing/2014/main" id="{12A9BBD2-521F-A944-90C7-99562CC99182}"/>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20" name="Rectangle 161">
              <a:extLst>
                <a:ext uri="{FF2B5EF4-FFF2-40B4-BE49-F238E27FC236}">
                  <a16:creationId xmlns:a16="http://schemas.microsoft.com/office/drawing/2014/main" id="{B4500DB0-8468-EE41-A5FE-CBE1ECD217AA}"/>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221" name="Oval 129">
              <a:extLst>
                <a:ext uri="{FF2B5EF4-FFF2-40B4-BE49-F238E27FC236}">
                  <a16:creationId xmlns:a16="http://schemas.microsoft.com/office/drawing/2014/main" id="{8DA859C1-55B2-6C41-87B9-45121A086F22}"/>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2" name="任意多边形 134">
              <a:extLst>
                <a:ext uri="{FF2B5EF4-FFF2-40B4-BE49-F238E27FC236}">
                  <a16:creationId xmlns:a16="http://schemas.microsoft.com/office/drawing/2014/main" id="{EA360F3E-6E84-6044-BF5F-B6BCF7A100CE}"/>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3" name="Rectangle 161">
              <a:extLst>
                <a:ext uri="{FF2B5EF4-FFF2-40B4-BE49-F238E27FC236}">
                  <a16:creationId xmlns:a16="http://schemas.microsoft.com/office/drawing/2014/main" id="{DBE334BA-7F7C-E34F-B770-EBD2A2410198}"/>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224" name="直接连接符 119">
              <a:extLst>
                <a:ext uri="{FF2B5EF4-FFF2-40B4-BE49-F238E27FC236}">
                  <a16:creationId xmlns:a16="http://schemas.microsoft.com/office/drawing/2014/main" id="{0E596E60-FF98-284D-814B-769FBCD6E9B7}"/>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25" name="直接连接符 121">
              <a:extLst>
                <a:ext uri="{FF2B5EF4-FFF2-40B4-BE49-F238E27FC236}">
                  <a16:creationId xmlns:a16="http://schemas.microsoft.com/office/drawing/2014/main" id="{035A8FFD-4AC4-D947-B0DE-82A05265C262}"/>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26" name="Line 24">
              <a:extLst>
                <a:ext uri="{FF2B5EF4-FFF2-40B4-BE49-F238E27FC236}">
                  <a16:creationId xmlns:a16="http://schemas.microsoft.com/office/drawing/2014/main" id="{A6B186FF-2AF8-AA4B-8CC9-DEE78FC022C2}"/>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7" name="Line 22">
              <a:extLst>
                <a:ext uri="{FF2B5EF4-FFF2-40B4-BE49-F238E27FC236}">
                  <a16:creationId xmlns:a16="http://schemas.microsoft.com/office/drawing/2014/main" id="{8E7A2ADA-52A5-B344-BBA5-342649DB8F5B}"/>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8" name="Text Box 87">
              <a:extLst>
                <a:ext uri="{FF2B5EF4-FFF2-40B4-BE49-F238E27FC236}">
                  <a16:creationId xmlns:a16="http://schemas.microsoft.com/office/drawing/2014/main" id="{8D89213C-7C09-364D-A2AD-5B0B2CB17698}"/>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229" name="Line 22">
              <a:extLst>
                <a:ext uri="{FF2B5EF4-FFF2-40B4-BE49-F238E27FC236}">
                  <a16:creationId xmlns:a16="http://schemas.microsoft.com/office/drawing/2014/main" id="{9FEC1F73-E84C-A24F-97D6-3D4D962D1785}"/>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30" name="直接连接符 134">
              <a:extLst>
                <a:ext uri="{FF2B5EF4-FFF2-40B4-BE49-F238E27FC236}">
                  <a16:creationId xmlns:a16="http://schemas.microsoft.com/office/drawing/2014/main" id="{EC84B855-7B15-AB41-9AA5-3683474D3781}"/>
                </a:ext>
              </a:extLst>
            </p:cNvPr>
            <p:cNvCxnSpPr>
              <a:cxnSpLocks noChangeShapeType="1"/>
              <a:stCxn id="222" idx="4"/>
            </p:cNvCxnSpPr>
            <p:nvPr/>
          </p:nvCxnSpPr>
          <p:spPr bwMode="auto">
            <a:xfrm>
              <a:off x="6706617" y="2109019"/>
              <a:ext cx="200025" cy="785812"/>
            </a:xfrm>
            <a:prstGeom prst="line">
              <a:avLst/>
            </a:prstGeom>
            <a:noFill/>
            <a:ln w="19050" algn="ctr">
              <a:solidFill>
                <a:srgbClr val="0000FF"/>
              </a:solidFill>
              <a:round/>
              <a:headEnd/>
              <a:tailEnd/>
            </a:ln>
          </p:spPr>
        </p:cxnSp>
        <p:sp>
          <p:nvSpPr>
            <p:cNvPr id="231" name="Text Box 206">
              <a:extLst>
                <a:ext uri="{FF2B5EF4-FFF2-40B4-BE49-F238E27FC236}">
                  <a16:creationId xmlns:a16="http://schemas.microsoft.com/office/drawing/2014/main" id="{E0D18B9D-AF80-9441-8680-914C722B4424}"/>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2" name="Text Box 206">
              <a:extLst>
                <a:ext uri="{FF2B5EF4-FFF2-40B4-BE49-F238E27FC236}">
                  <a16:creationId xmlns:a16="http://schemas.microsoft.com/office/drawing/2014/main" id="{E8249706-6CDF-224A-AA0E-4CFEA4F113E0}"/>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3" name="TextBox 147">
              <a:extLst>
                <a:ext uri="{FF2B5EF4-FFF2-40B4-BE49-F238E27FC236}">
                  <a16:creationId xmlns:a16="http://schemas.microsoft.com/office/drawing/2014/main" id="{BF7903E8-749F-9A4A-913A-CE22CB151070}"/>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34" name="TextBox 148">
              <a:extLst>
                <a:ext uri="{FF2B5EF4-FFF2-40B4-BE49-F238E27FC236}">
                  <a16:creationId xmlns:a16="http://schemas.microsoft.com/office/drawing/2014/main" id="{438D738D-490A-4C47-A6F7-3C3548A12160}"/>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235" name="直接连接符 153">
              <a:extLst>
                <a:ext uri="{FF2B5EF4-FFF2-40B4-BE49-F238E27FC236}">
                  <a16:creationId xmlns:a16="http://schemas.microsoft.com/office/drawing/2014/main" id="{8C43232D-30EC-654A-A92D-333A760D8684}"/>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36" name="直接连接符 119">
              <a:extLst>
                <a:ext uri="{FF2B5EF4-FFF2-40B4-BE49-F238E27FC236}">
                  <a16:creationId xmlns:a16="http://schemas.microsoft.com/office/drawing/2014/main" id="{887AA1DE-CA79-9A41-A6C9-AD457E2820B8}"/>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7" name="直接连接符 141">
              <a:extLst>
                <a:ext uri="{FF2B5EF4-FFF2-40B4-BE49-F238E27FC236}">
                  <a16:creationId xmlns:a16="http://schemas.microsoft.com/office/drawing/2014/main" id="{68A8E023-743B-C940-8FDC-FA2645D7C278}"/>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238" name="Oval 202">
              <a:extLst>
                <a:ext uri="{FF2B5EF4-FFF2-40B4-BE49-F238E27FC236}">
                  <a16:creationId xmlns:a16="http://schemas.microsoft.com/office/drawing/2014/main" id="{DCFBA477-F8C9-FE41-9F4B-6F87880B053C}"/>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9" name="Oval 130">
              <a:extLst>
                <a:ext uri="{FF2B5EF4-FFF2-40B4-BE49-F238E27FC236}">
                  <a16:creationId xmlns:a16="http://schemas.microsoft.com/office/drawing/2014/main" id="{5D9440AC-4BC7-7C49-95F6-0B00C1FEB6C3}"/>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0" name="Oval 130">
              <a:extLst>
                <a:ext uri="{FF2B5EF4-FFF2-40B4-BE49-F238E27FC236}">
                  <a16:creationId xmlns:a16="http://schemas.microsoft.com/office/drawing/2014/main" id="{0436E3E1-6DB2-6540-A3F2-558153EF8FEE}"/>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1" name="TextBox 149">
              <a:extLst>
                <a:ext uri="{FF2B5EF4-FFF2-40B4-BE49-F238E27FC236}">
                  <a16:creationId xmlns:a16="http://schemas.microsoft.com/office/drawing/2014/main" id="{EE587516-83F3-F54C-B367-7FDDFAE09619}"/>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42" name="Oval 202">
              <a:extLst>
                <a:ext uri="{FF2B5EF4-FFF2-40B4-BE49-F238E27FC236}">
                  <a16:creationId xmlns:a16="http://schemas.microsoft.com/office/drawing/2014/main" id="{CDDD744F-7F88-0B43-9721-C7CA2A2B18F8}"/>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43" name="直接连接符 126">
              <a:extLst>
                <a:ext uri="{FF2B5EF4-FFF2-40B4-BE49-F238E27FC236}">
                  <a16:creationId xmlns:a16="http://schemas.microsoft.com/office/drawing/2014/main" id="{8A966D9E-7914-A341-9072-87D76BE6E4B7}"/>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44" name="直接连接符 119">
              <a:extLst>
                <a:ext uri="{FF2B5EF4-FFF2-40B4-BE49-F238E27FC236}">
                  <a16:creationId xmlns:a16="http://schemas.microsoft.com/office/drawing/2014/main" id="{C17EF118-E16A-0141-ADB9-1731EFEE50EE}"/>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45" name="Text Box 140">
            <a:extLst>
              <a:ext uri="{FF2B5EF4-FFF2-40B4-BE49-F238E27FC236}">
                <a16:creationId xmlns:a16="http://schemas.microsoft.com/office/drawing/2014/main" id="{A663C0B6-354B-3844-AD6C-00F6DFE71886}"/>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246" name="Line 167">
            <a:extLst>
              <a:ext uri="{FF2B5EF4-FFF2-40B4-BE49-F238E27FC236}">
                <a16:creationId xmlns:a16="http://schemas.microsoft.com/office/drawing/2014/main" id="{C2B1BF73-9B4E-5142-9373-A983D7387B30}"/>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sp>
        <p:nvSpPr>
          <p:cNvPr id="247" name="Line 147">
            <a:extLst>
              <a:ext uri="{FF2B5EF4-FFF2-40B4-BE49-F238E27FC236}">
                <a16:creationId xmlns:a16="http://schemas.microsoft.com/office/drawing/2014/main" id="{9B913FE5-2905-F24F-AE82-928998E69A73}"/>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8" name="Oval 130">
            <a:extLst>
              <a:ext uri="{FF2B5EF4-FFF2-40B4-BE49-F238E27FC236}">
                <a16:creationId xmlns:a16="http://schemas.microsoft.com/office/drawing/2014/main" id="{A491F27B-7935-2442-8DF3-305B60B7AAF0}"/>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9" name="Text Box 93">
            <a:extLst>
              <a:ext uri="{FF2B5EF4-FFF2-40B4-BE49-F238E27FC236}">
                <a16:creationId xmlns:a16="http://schemas.microsoft.com/office/drawing/2014/main" id="{453BAE1B-5855-284B-B81A-CF38C809BC5F}"/>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
        <p:nvSpPr>
          <p:cNvPr id="252" name="Line 167">
            <a:extLst>
              <a:ext uri="{FF2B5EF4-FFF2-40B4-BE49-F238E27FC236}">
                <a16:creationId xmlns:a16="http://schemas.microsoft.com/office/drawing/2014/main" id="{AA46E8EB-3C81-8649-B40F-E41E73EBB0A4}"/>
              </a:ext>
            </a:extLst>
          </p:cNvPr>
          <p:cNvSpPr>
            <a:spLocks noChangeShapeType="1"/>
          </p:cNvSpPr>
          <p:nvPr/>
        </p:nvSpPr>
        <p:spPr bwMode="auto">
          <a:xfrm flipV="1">
            <a:off x="7309676" y="3727406"/>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a:defRPr/>
            </a:pPr>
            <a:endParaRPr lang="zh-CN" altLang="en-US" sz="2400" b="1" kern="0" dirty="0">
              <a:solidFill>
                <a:sysClr val="windowText" lastClr="000000"/>
              </a:solidFill>
              <a:latin typeface="Calibri"/>
              <a:ea typeface="宋体" panose="02010600030101010101" pitchFamily="2" charset="-122"/>
            </a:endParaRPr>
          </a:p>
        </p:txBody>
      </p:sp>
      <p:sp>
        <p:nvSpPr>
          <p:cNvPr id="253" name="Text Box 155">
            <a:extLst>
              <a:ext uri="{FF2B5EF4-FFF2-40B4-BE49-F238E27FC236}">
                <a16:creationId xmlns:a16="http://schemas.microsoft.com/office/drawing/2014/main" id="{84029389-99E1-2B41-99DF-4FCE61FB0D9E}"/>
              </a:ext>
            </a:extLst>
          </p:cNvPr>
          <p:cNvSpPr txBox="1">
            <a:spLocks noChangeArrowheads="1"/>
          </p:cNvSpPr>
          <p:nvPr/>
        </p:nvSpPr>
        <p:spPr bwMode="auto">
          <a:xfrm>
            <a:off x="3381326" y="4769527"/>
            <a:ext cx="6409946" cy="615168"/>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16 </a:t>
            </a:r>
            <a:r>
              <a:rPr lang="zh-CN" altLang="en-US" sz="1600" b="1" dirty="0">
                <a:solidFill>
                  <a:srgbClr val="0000FF"/>
                </a:solidFill>
                <a:latin typeface="微软雅黑" pitchFamily="34" charset="-122"/>
                <a:ea typeface="微软雅黑" pitchFamily="34" charset="-122"/>
              </a:rPr>
              <a:t>时，发送方连续收到 </a:t>
            </a:r>
            <a:r>
              <a:rPr lang="en-US" altLang="zh-CN" sz="1600" b="1" dirty="0">
                <a:solidFill>
                  <a:srgbClr val="0000FF"/>
                </a:solidFill>
                <a:latin typeface="微软雅黑" pitchFamily="34" charset="-122"/>
                <a:ea typeface="微软雅黑" pitchFamily="34" charset="-122"/>
              </a:rPr>
              <a:t>3 </a:t>
            </a:r>
            <a:r>
              <a:rPr lang="zh-CN" altLang="en-US" sz="1600" b="1" dirty="0">
                <a:solidFill>
                  <a:srgbClr val="0000FF"/>
                </a:solidFill>
                <a:latin typeface="微软雅黑" pitchFamily="34" charset="-122"/>
                <a:ea typeface="微软雅黑" pitchFamily="34" charset="-122"/>
              </a:rPr>
              <a:t>个对同一个报文段的重复确认（记为 </a:t>
            </a:r>
            <a:r>
              <a:rPr lang="en-US" altLang="zh-CN" sz="1600" b="1" dirty="0">
                <a:solidFill>
                  <a:srgbClr val="0000FF"/>
                </a:solidFill>
                <a:latin typeface="微软雅黑" pitchFamily="34" charset="-122"/>
                <a:ea typeface="微软雅黑" pitchFamily="34" charset="-122"/>
              </a:rPr>
              <a:t>3-ACK</a:t>
            </a:r>
            <a:r>
              <a:rPr lang="zh-CN" altLang="en-US" sz="1600" b="1" dirty="0">
                <a:solidFill>
                  <a:srgbClr val="0000FF"/>
                </a:solidFill>
                <a:latin typeface="微软雅黑" pitchFamily="34" charset="-122"/>
                <a:ea typeface="微软雅黑" pitchFamily="34" charset="-122"/>
              </a:rPr>
              <a:t>）。发送方改为执行</a:t>
            </a:r>
            <a:r>
              <a:rPr lang="zh-CN" altLang="en-US" sz="1600" b="1" dirty="0">
                <a:solidFill>
                  <a:srgbClr val="C00000"/>
                </a:solidFill>
                <a:latin typeface="微软雅黑" pitchFamily="34" charset="-122"/>
                <a:ea typeface="微软雅黑" pitchFamily="34" charset="-122"/>
              </a:rPr>
              <a:t>快速重传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快速恢复</a:t>
            </a:r>
            <a:r>
              <a:rPr lang="zh-CN" altLang="en-US" sz="1600" b="1" dirty="0">
                <a:solidFill>
                  <a:srgbClr val="0000FF"/>
                </a:solidFill>
                <a:latin typeface="微软雅黑" pitchFamily="34" charset="-122"/>
                <a:ea typeface="微软雅黑" pitchFamily="34" charset="-122"/>
              </a:rPr>
              <a:t>算法。</a:t>
            </a:r>
          </a:p>
        </p:txBody>
      </p:sp>
    </p:spTree>
    <p:extLst>
      <p:ext uri="{BB962C8B-B14F-4D97-AF65-F5344CB8AC3E}">
        <p14:creationId xmlns:p14="http://schemas.microsoft.com/office/powerpoint/2010/main" val="737940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1344-2ED4-D1E3-D89A-118F54827FAF}"/>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28ECA8E9-76B9-505B-5A50-CF0B3D81ACCB}"/>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35ECD47D-D4DA-4751-71C7-974564093DE5}"/>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FEC170F4-EEC7-7807-7907-B9E0B57FFDF9}"/>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CE9AAC50-9F65-E3B3-8B61-1FD55C6802A4}"/>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D0E71046-3642-7140-715E-A094CE17802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1E956217-4B98-C39C-C2EF-16D8586414B1}"/>
              </a:ext>
            </a:extLst>
          </p:cNvPr>
          <p:cNvGrpSpPr/>
          <p:nvPr/>
        </p:nvGrpSpPr>
        <p:grpSpPr>
          <a:xfrm>
            <a:off x="505664" y="1426139"/>
            <a:ext cx="7025293" cy="525530"/>
            <a:chOff x="722008" y="1303131"/>
            <a:chExt cx="6707956" cy="501792"/>
          </a:xfrm>
        </p:grpSpPr>
        <p:sp>
          <p:nvSpPr>
            <p:cNvPr id="50" name="流程图: 手动输入 6">
              <a:extLst>
                <a:ext uri="{FF2B5EF4-FFF2-40B4-BE49-F238E27FC236}">
                  <a16:creationId xmlns:a16="http://schemas.microsoft.com/office/drawing/2014/main" id="{C80B2F81-AD8A-EAB1-9772-C325EE32806B}"/>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89BD6EC2-B4F7-C3D4-37E3-707415ECB260}"/>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1C85FA80-F6D1-9DBA-5C04-3D29B15EF5B5}"/>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C2A3FA1E-EBB9-85F8-65BB-720BD4A63751}"/>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F63E119F-F79D-272C-0BF2-743618FE406D}"/>
                </a:ext>
              </a:extLst>
            </p:cNvPr>
            <p:cNvSpPr txBox="1">
              <a:spLocks noChangeArrowheads="1"/>
            </p:cNvSpPr>
            <p:nvPr/>
          </p:nvSpPr>
          <p:spPr bwMode="auto">
            <a:xfrm>
              <a:off x="1268603" y="1334724"/>
              <a:ext cx="6161361"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快速重传 </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FR (Fast Retransmission) </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算法</a:t>
              </a:r>
            </a:p>
          </p:txBody>
        </p:sp>
      </p:grpSp>
      <p:sp>
        <p:nvSpPr>
          <p:cNvPr id="2" name="Rectangle 68">
            <a:extLst>
              <a:ext uri="{FF2B5EF4-FFF2-40B4-BE49-F238E27FC236}">
                <a16:creationId xmlns:a16="http://schemas.microsoft.com/office/drawing/2014/main" id="{AEA17D10-DA79-051C-FA15-1FA0964921BE}"/>
              </a:ext>
            </a:extLst>
          </p:cNvPr>
          <p:cNvSpPr>
            <a:spLocks noChangeArrowheads="1"/>
          </p:cNvSpPr>
          <p:nvPr/>
        </p:nvSpPr>
        <p:spPr bwMode="auto">
          <a:xfrm>
            <a:off x="635164" y="1978542"/>
            <a:ext cx="10737720" cy="3351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zh-CN" altLang="en-US" sz="2400" dirty="0">
                <a:solidFill>
                  <a:srgbClr val="C00000"/>
                </a:solidFill>
                <a:latin typeface="微软雅黑" pitchFamily="34" charset="-122"/>
                <a:ea typeface="微软雅黑" pitchFamily="34" charset="-122"/>
              </a:rPr>
              <a:t>目的：</a:t>
            </a:r>
            <a:r>
              <a:rPr lang="zh-CN" altLang="en-US" sz="2400" dirty="0">
                <a:latin typeface="微软雅黑" pitchFamily="34" charset="-122"/>
                <a:ea typeface="微软雅黑" pitchFamily="34" charset="-122"/>
              </a:rPr>
              <a:t>让发送方</a:t>
            </a:r>
            <a:r>
              <a:rPr lang="zh-CN" altLang="en-US" sz="2400" dirty="0">
                <a:solidFill>
                  <a:srgbClr val="0000FF"/>
                </a:solidFill>
                <a:latin typeface="微软雅黑" pitchFamily="34" charset="-122"/>
                <a:ea typeface="微软雅黑" pitchFamily="34" charset="-122"/>
              </a:rPr>
              <a:t>尽早</a:t>
            </a:r>
            <a:r>
              <a:rPr lang="zh-CN" altLang="en-US" sz="2400" dirty="0">
                <a:latin typeface="微软雅黑" pitchFamily="34" charset="-122"/>
                <a:ea typeface="微软雅黑" pitchFamily="34" charset="-122"/>
              </a:rPr>
              <a:t>知道发生了个别报文段的丢失。</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发送方只要连续收到</a:t>
            </a:r>
            <a:r>
              <a:rPr lang="zh-CN" altLang="en-US" sz="2400" dirty="0">
                <a:solidFill>
                  <a:srgbClr val="0000FF"/>
                </a:solidFill>
                <a:latin typeface="微软雅黑" pitchFamily="34" charset="-122"/>
                <a:ea typeface="微软雅黑" pitchFamily="34" charset="-122"/>
              </a:rPr>
              <a:t>三个重复的确认，</a:t>
            </a:r>
            <a:r>
              <a:rPr lang="zh-CN" altLang="en-US" sz="2400" dirty="0">
                <a:latin typeface="微软雅黑" pitchFamily="34" charset="-122"/>
                <a:ea typeface="微软雅黑" pitchFamily="34" charset="-122"/>
              </a:rPr>
              <a:t>就</a:t>
            </a:r>
            <a:r>
              <a:rPr lang="zh-CN" altLang="en-US" sz="2400" dirty="0">
                <a:solidFill>
                  <a:srgbClr val="C00000"/>
                </a:solidFill>
                <a:latin typeface="微软雅黑" pitchFamily="34" charset="-122"/>
                <a:ea typeface="微软雅黑" pitchFamily="34" charset="-122"/>
              </a:rPr>
              <a:t>立即进行重传</a:t>
            </a:r>
            <a:r>
              <a:rPr lang="zh-CN" altLang="en-US" sz="2400" dirty="0">
                <a:solidFill>
                  <a:srgbClr val="0000FF"/>
                </a:solidFill>
                <a:latin typeface="微软雅黑" pitchFamily="34" charset="-122"/>
                <a:ea typeface="微软雅黑" pitchFamily="34" charset="-122"/>
              </a:rPr>
              <a:t>（即“快速重传”）</a:t>
            </a:r>
            <a:r>
              <a:rPr lang="zh-CN" altLang="en-US" sz="2400" dirty="0">
                <a:latin typeface="微软雅黑" pitchFamily="34" charset="-122"/>
                <a:ea typeface="微软雅黑" pitchFamily="34" charset="-122"/>
              </a:rPr>
              <a:t>，这样就不会出现超时。</a:t>
            </a: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使用快重传可以使整个网络的吞吐量提高约 </a:t>
            </a:r>
            <a:r>
              <a:rPr lang="en-US" altLang="zh-CN" sz="2400" dirty="0">
                <a:latin typeface="微软雅黑" pitchFamily="34" charset="-122"/>
                <a:ea typeface="微软雅黑" pitchFamily="34" charset="-122"/>
              </a:rPr>
              <a:t>20%</a:t>
            </a:r>
            <a:r>
              <a:rPr lang="zh-CN" altLang="en-US" sz="2400" dirty="0">
                <a:latin typeface="微软雅黑" pitchFamily="34" charset="-122"/>
                <a:ea typeface="微软雅黑" pitchFamily="34" charset="-122"/>
              </a:rPr>
              <a:t>。</a:t>
            </a:r>
            <a:endParaRPr lang="en-US" altLang="zh-CN" sz="2400"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快重传算法要求接收方</a:t>
            </a:r>
            <a:r>
              <a:rPr lang="zh-CN" altLang="en-US" sz="2400" dirty="0">
                <a:solidFill>
                  <a:srgbClr val="C00000"/>
                </a:solidFill>
                <a:latin typeface="微软雅黑" pitchFamily="34" charset="-122"/>
                <a:ea typeface="微软雅黑" pitchFamily="34" charset="-122"/>
              </a:rPr>
              <a:t>立即发送确认，</a:t>
            </a:r>
            <a:r>
              <a:rPr lang="zh-CN" altLang="en-US" sz="2400" dirty="0">
                <a:latin typeface="微软雅黑" pitchFamily="34" charset="-122"/>
                <a:ea typeface="微软雅黑" pitchFamily="34" charset="-122"/>
              </a:rPr>
              <a:t>即使收到了失序的报文段，也要立即发出对已收到的报文段的重复确认。</a:t>
            </a:r>
          </a:p>
        </p:txBody>
      </p:sp>
      <p:sp>
        <p:nvSpPr>
          <p:cNvPr id="3" name="对角圆角矩形 47">
            <a:extLst>
              <a:ext uri="{FF2B5EF4-FFF2-40B4-BE49-F238E27FC236}">
                <a16:creationId xmlns:a16="http://schemas.microsoft.com/office/drawing/2014/main" id="{61D174F3-72DB-C129-A2E8-84A165795679}"/>
              </a:ext>
            </a:extLst>
          </p:cNvPr>
          <p:cNvSpPr/>
          <p:nvPr/>
        </p:nvSpPr>
        <p:spPr>
          <a:xfrm>
            <a:off x="5793360" y="5010876"/>
            <a:ext cx="6297103" cy="1202973"/>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C6297309-41B9-E62E-0ACD-52C611F3C1A2}"/>
              </a:ext>
            </a:extLst>
          </p:cNvPr>
          <p:cNvSpPr/>
          <p:nvPr/>
        </p:nvSpPr>
        <p:spPr>
          <a:xfrm>
            <a:off x="5894897" y="5104530"/>
            <a:ext cx="6297103" cy="1015663"/>
          </a:xfrm>
          <a:prstGeom prst="rect">
            <a:avLst/>
          </a:prstGeom>
        </p:spPr>
        <p:txBody>
          <a:bodyPr wrap="square">
            <a:spAutoFit/>
          </a:bodyPr>
          <a:lstStyle/>
          <a:p>
            <a:pPr>
              <a:lnSpc>
                <a:spcPts val="2400"/>
              </a:lnSpc>
            </a:pPr>
            <a:r>
              <a:rPr lang="zh-CN" altLang="en-US" b="1" dirty="0">
                <a:solidFill>
                  <a:srgbClr val="FFFF00"/>
                </a:solidFill>
                <a:latin typeface="微软雅黑" pitchFamily="34" charset="-122"/>
                <a:ea typeface="微软雅黑" pitchFamily="34" charset="-122"/>
              </a:rPr>
              <a:t>注意：</a:t>
            </a:r>
            <a:endParaRPr lang="en-US" altLang="zh-CN" b="1" dirty="0">
              <a:solidFill>
                <a:srgbClr val="FFFF00"/>
              </a:solidFill>
              <a:latin typeface="微软雅黑" pitchFamily="34" charset="-122"/>
              <a:ea typeface="微软雅黑" pitchFamily="34" charset="-122"/>
            </a:endParaRPr>
          </a:p>
          <a:p>
            <a:pPr>
              <a:lnSpc>
                <a:spcPts val="2400"/>
              </a:lnSpc>
            </a:pPr>
            <a:r>
              <a:rPr lang="zh-CN" altLang="en-US" b="1" dirty="0">
                <a:solidFill>
                  <a:schemeClr val="bg1"/>
                </a:solidFill>
                <a:latin typeface="微软雅黑" pitchFamily="34" charset="-122"/>
                <a:ea typeface="微软雅黑" pitchFamily="34" charset="-122"/>
              </a:rPr>
              <a:t>快速重传并非取消重传计时器，而是在某些情况下可以更早地（</a:t>
            </a:r>
            <a:r>
              <a:rPr lang="zh-CN" altLang="en-US" b="1" dirty="0">
                <a:solidFill>
                  <a:srgbClr val="FFFF00"/>
                </a:solidFill>
                <a:latin typeface="微软雅黑" pitchFamily="34" charset="-122"/>
                <a:ea typeface="微软雅黑" pitchFamily="34" charset="-122"/>
              </a:rPr>
              <a:t>更快地</a:t>
            </a:r>
            <a:r>
              <a:rPr lang="zh-CN" altLang="en-US" b="1" dirty="0">
                <a:solidFill>
                  <a:schemeClr val="bg1"/>
                </a:solidFill>
                <a:latin typeface="微软雅黑" pitchFamily="34" charset="-122"/>
                <a:ea typeface="微软雅黑" pitchFamily="34" charset="-122"/>
              </a:rPr>
              <a:t>）重传丢失的报文段。 </a:t>
            </a:r>
          </a:p>
        </p:txBody>
      </p:sp>
      <p:sp>
        <p:nvSpPr>
          <p:cNvPr id="5" name="灯片编号占位符 4">
            <a:extLst>
              <a:ext uri="{FF2B5EF4-FFF2-40B4-BE49-F238E27FC236}">
                <a16:creationId xmlns:a16="http://schemas.microsoft.com/office/drawing/2014/main" id="{0CAF5DD9-C091-4D07-B090-4DEF0FEE8CF0}"/>
              </a:ext>
            </a:extLst>
          </p:cNvPr>
          <p:cNvSpPr>
            <a:spLocks noGrp="1"/>
          </p:cNvSpPr>
          <p:nvPr>
            <p:ph type="sldNum" sz="quarter" idx="12"/>
          </p:nvPr>
        </p:nvSpPr>
        <p:spPr/>
        <p:txBody>
          <a:bodyPr/>
          <a:lstStyle/>
          <a:p>
            <a:fld id="{5956A083-5018-4B52-82A0-83241B8E3D94}" type="slidenum">
              <a:rPr lang="zh-CN" altLang="en-US" smtClean="0"/>
              <a:t>68</a:t>
            </a:fld>
            <a:endParaRPr lang="zh-CN" altLang="en-US"/>
          </a:p>
        </p:txBody>
      </p:sp>
    </p:spTree>
    <p:extLst>
      <p:ext uri="{BB962C8B-B14F-4D97-AF65-F5344CB8AC3E}">
        <p14:creationId xmlns:p14="http://schemas.microsoft.com/office/powerpoint/2010/main" val="23691204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C8B1D-F116-D9E6-0C0A-828A432700DB}"/>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1EF573FF-C92A-9F24-341D-557CCAE5B192}"/>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7E2A7EB1-E08A-9C1B-5D8A-F1360EC557F2}"/>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8D23C111-B5D7-89A2-9A78-932B1F01BC46}"/>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C9F8C08B-078E-9992-9EDB-A214E268506D}"/>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5D60DAB7-3599-ADBB-4C32-BF3FCF16C69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4DD09A11-F104-C23D-C24A-528ABF0D39A4}"/>
              </a:ext>
            </a:extLst>
          </p:cNvPr>
          <p:cNvGrpSpPr/>
          <p:nvPr/>
        </p:nvGrpSpPr>
        <p:grpSpPr>
          <a:xfrm>
            <a:off x="505664" y="1426139"/>
            <a:ext cx="2627954" cy="525530"/>
            <a:chOff x="722008" y="1303131"/>
            <a:chExt cx="2509248" cy="501792"/>
          </a:xfrm>
        </p:grpSpPr>
        <p:sp>
          <p:nvSpPr>
            <p:cNvPr id="50" name="流程图: 手动输入 6">
              <a:extLst>
                <a:ext uri="{FF2B5EF4-FFF2-40B4-BE49-F238E27FC236}">
                  <a16:creationId xmlns:a16="http://schemas.microsoft.com/office/drawing/2014/main" id="{811D179E-6A78-EF11-8894-35A4153D1A66}"/>
                </a:ext>
              </a:extLst>
            </p:cNvPr>
            <p:cNvSpPr/>
            <p:nvPr/>
          </p:nvSpPr>
          <p:spPr>
            <a:xfrm rot="5400000" flipV="1">
              <a:off x="1822947" y="472191"/>
              <a:ext cx="475861" cy="21445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0874BB68-B8B1-29C6-080D-D5BAF89233A4}"/>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4C88B7AA-B422-A47F-7C59-E8E9870BADC7}"/>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82E9822B-31CD-DACE-9B6B-9B250F54EDC2}"/>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79F9FC12-21C9-F400-EA9C-F6AC6513EA3B}"/>
                </a:ext>
              </a:extLst>
            </p:cNvPr>
            <p:cNvSpPr txBox="1">
              <a:spLocks noChangeArrowheads="1"/>
            </p:cNvSpPr>
            <p:nvPr/>
          </p:nvSpPr>
          <p:spPr bwMode="auto">
            <a:xfrm>
              <a:off x="1268603" y="1334724"/>
              <a:ext cx="1962653"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快重传举例</a:t>
              </a:r>
            </a:p>
          </p:txBody>
        </p:sp>
      </p:grpSp>
      <p:sp>
        <p:nvSpPr>
          <p:cNvPr id="2" name="圆角矩形 76">
            <a:extLst>
              <a:ext uri="{FF2B5EF4-FFF2-40B4-BE49-F238E27FC236}">
                <a16:creationId xmlns:a16="http://schemas.microsoft.com/office/drawing/2014/main" id="{744089B5-44ED-B45F-690D-3B0C3489C5C7}"/>
              </a:ext>
            </a:extLst>
          </p:cNvPr>
          <p:cNvSpPr/>
          <p:nvPr/>
        </p:nvSpPr>
        <p:spPr>
          <a:xfrm>
            <a:off x="2367094" y="2249058"/>
            <a:ext cx="8053711" cy="33607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3">
            <a:extLst>
              <a:ext uri="{FF2B5EF4-FFF2-40B4-BE49-F238E27FC236}">
                <a16:creationId xmlns:a16="http://schemas.microsoft.com/office/drawing/2014/main" id="{180E1413-6A44-E251-CF10-A72BE66186A9}"/>
              </a:ext>
            </a:extLst>
          </p:cNvPr>
          <p:cNvSpPr txBox="1">
            <a:spLocks noChangeArrowheads="1"/>
          </p:cNvSpPr>
          <p:nvPr/>
        </p:nvSpPr>
        <p:spPr bwMode="auto">
          <a:xfrm>
            <a:off x="6000887" y="232710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4" name="Text Box 4">
            <a:extLst>
              <a:ext uri="{FF2B5EF4-FFF2-40B4-BE49-F238E27FC236}">
                <a16:creationId xmlns:a16="http://schemas.microsoft.com/office/drawing/2014/main" id="{6BFE2DE3-B633-5FC9-A536-1F2FEBD872BA}"/>
              </a:ext>
            </a:extLst>
          </p:cNvPr>
          <p:cNvSpPr txBox="1">
            <a:spLocks noChangeArrowheads="1"/>
          </p:cNvSpPr>
          <p:nvPr/>
        </p:nvSpPr>
        <p:spPr bwMode="auto">
          <a:xfrm>
            <a:off x="8183389" y="233516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接收方</a:t>
            </a:r>
          </a:p>
        </p:txBody>
      </p:sp>
      <p:grpSp>
        <p:nvGrpSpPr>
          <p:cNvPr id="5" name="组合 4">
            <a:extLst>
              <a:ext uri="{FF2B5EF4-FFF2-40B4-BE49-F238E27FC236}">
                <a16:creationId xmlns:a16="http://schemas.microsoft.com/office/drawing/2014/main" id="{103DA4EE-445A-E196-95DE-49F5EA828188}"/>
              </a:ext>
            </a:extLst>
          </p:cNvPr>
          <p:cNvGrpSpPr/>
          <p:nvPr/>
        </p:nvGrpSpPr>
        <p:grpSpPr>
          <a:xfrm>
            <a:off x="5598155" y="2568096"/>
            <a:ext cx="2906522" cy="362860"/>
            <a:chOff x="3776205" y="1332324"/>
            <a:chExt cx="2906522" cy="362860"/>
          </a:xfrm>
        </p:grpSpPr>
        <p:sp>
          <p:nvSpPr>
            <p:cNvPr id="6" name="Text Box 5">
              <a:extLst>
                <a:ext uri="{FF2B5EF4-FFF2-40B4-BE49-F238E27FC236}">
                  <a16:creationId xmlns:a16="http://schemas.microsoft.com/office/drawing/2014/main" id="{10B06EDD-CE88-AE95-0838-F26975ABFB95}"/>
                </a:ext>
              </a:extLst>
            </p:cNvPr>
            <p:cNvSpPr txBox="1">
              <a:spLocks noChangeArrowheads="1"/>
            </p:cNvSpPr>
            <p:nvPr/>
          </p:nvSpPr>
          <p:spPr bwMode="auto">
            <a:xfrm>
              <a:off x="3776205" y="1332324"/>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7" name="Line 6">
              <a:extLst>
                <a:ext uri="{FF2B5EF4-FFF2-40B4-BE49-F238E27FC236}">
                  <a16:creationId xmlns:a16="http://schemas.microsoft.com/office/drawing/2014/main" id="{4C98DE8A-F261-1A60-2E91-473BD3C39D5E}"/>
                </a:ext>
              </a:extLst>
            </p:cNvPr>
            <p:cNvSpPr>
              <a:spLocks noChangeShapeType="1"/>
            </p:cNvSpPr>
            <p:nvPr/>
          </p:nvSpPr>
          <p:spPr bwMode="auto">
            <a:xfrm>
              <a:off x="4493304" y="1492800"/>
              <a:ext cx="2189423"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8" name="组合 7">
            <a:extLst>
              <a:ext uri="{FF2B5EF4-FFF2-40B4-BE49-F238E27FC236}">
                <a16:creationId xmlns:a16="http://schemas.microsoft.com/office/drawing/2014/main" id="{FF909F6A-12D7-8DA4-7446-CB892D9DCFAB}"/>
              </a:ext>
            </a:extLst>
          </p:cNvPr>
          <p:cNvGrpSpPr/>
          <p:nvPr/>
        </p:nvGrpSpPr>
        <p:grpSpPr>
          <a:xfrm>
            <a:off x="6315254" y="2893136"/>
            <a:ext cx="2930637" cy="318908"/>
            <a:chOff x="4493304" y="1657364"/>
            <a:chExt cx="2930637" cy="318908"/>
          </a:xfrm>
        </p:grpSpPr>
        <p:sp>
          <p:nvSpPr>
            <p:cNvPr id="9" name="Line 7">
              <a:extLst>
                <a:ext uri="{FF2B5EF4-FFF2-40B4-BE49-F238E27FC236}">
                  <a16:creationId xmlns:a16="http://schemas.microsoft.com/office/drawing/2014/main" id="{567352B8-D9B8-87B4-A3C2-EC4C33C6FCF4}"/>
                </a:ext>
              </a:extLst>
            </p:cNvPr>
            <p:cNvSpPr>
              <a:spLocks noChangeShapeType="1"/>
            </p:cNvSpPr>
            <p:nvPr/>
          </p:nvSpPr>
          <p:spPr bwMode="auto">
            <a:xfrm flipH="1">
              <a:off x="4493304" y="1773888"/>
              <a:ext cx="2189423" cy="20238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 name="Text Box 8">
              <a:extLst>
                <a:ext uri="{FF2B5EF4-FFF2-40B4-BE49-F238E27FC236}">
                  <a16:creationId xmlns:a16="http://schemas.microsoft.com/office/drawing/2014/main" id="{4532D319-5630-3F42-DCEB-06C09B9A1FA1}"/>
                </a:ext>
              </a:extLst>
            </p:cNvPr>
            <p:cNvSpPr txBox="1">
              <a:spLocks noChangeArrowheads="1"/>
            </p:cNvSpPr>
            <p:nvPr/>
          </p:nvSpPr>
          <p:spPr bwMode="auto">
            <a:xfrm>
              <a:off x="6617310" y="1657364"/>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11" name="Group 10">
            <a:extLst>
              <a:ext uri="{FF2B5EF4-FFF2-40B4-BE49-F238E27FC236}">
                <a16:creationId xmlns:a16="http://schemas.microsoft.com/office/drawing/2014/main" id="{01584AE7-1910-007D-5F6F-EA9E933EDF42}"/>
              </a:ext>
            </a:extLst>
          </p:cNvPr>
          <p:cNvGrpSpPr>
            <a:grpSpLocks/>
          </p:cNvGrpSpPr>
          <p:nvPr/>
        </p:nvGrpSpPr>
        <p:grpSpPr bwMode="auto">
          <a:xfrm>
            <a:off x="6315254" y="2629424"/>
            <a:ext cx="2189423" cy="2798618"/>
            <a:chOff x="1607" y="677"/>
            <a:chExt cx="1640" cy="2728"/>
          </a:xfrm>
        </p:grpSpPr>
        <p:sp>
          <p:nvSpPr>
            <p:cNvPr id="12" name="Line 11">
              <a:extLst>
                <a:ext uri="{FF2B5EF4-FFF2-40B4-BE49-F238E27FC236}">
                  <a16:creationId xmlns:a16="http://schemas.microsoft.com/office/drawing/2014/main" id="{3BAF1BC1-2094-BF1C-1FE7-E470EF4BD144}"/>
                </a:ext>
              </a:extLst>
            </p:cNvPr>
            <p:cNvSpPr>
              <a:spLocks noChangeShapeType="1"/>
            </p:cNvSpPr>
            <p:nvPr/>
          </p:nvSpPr>
          <p:spPr bwMode="auto">
            <a:xfrm>
              <a:off x="1607" y="677"/>
              <a:ext cx="0" cy="272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3" name="Line 12">
              <a:extLst>
                <a:ext uri="{FF2B5EF4-FFF2-40B4-BE49-F238E27FC236}">
                  <a16:creationId xmlns:a16="http://schemas.microsoft.com/office/drawing/2014/main" id="{30A1384B-0E93-D84D-00EE-0C4378F19551}"/>
                </a:ext>
              </a:extLst>
            </p:cNvPr>
            <p:cNvSpPr>
              <a:spLocks noChangeShapeType="1"/>
            </p:cNvSpPr>
            <p:nvPr/>
          </p:nvSpPr>
          <p:spPr bwMode="auto">
            <a:xfrm>
              <a:off x="3247" y="677"/>
              <a:ext cx="0" cy="272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4" name="组合 13">
            <a:extLst>
              <a:ext uri="{FF2B5EF4-FFF2-40B4-BE49-F238E27FC236}">
                <a16:creationId xmlns:a16="http://schemas.microsoft.com/office/drawing/2014/main" id="{B420DB17-459E-38BA-1F09-F68A2BDF8BFB}"/>
              </a:ext>
            </a:extLst>
          </p:cNvPr>
          <p:cNvGrpSpPr/>
          <p:nvPr/>
        </p:nvGrpSpPr>
        <p:grpSpPr>
          <a:xfrm>
            <a:off x="6315254" y="3210000"/>
            <a:ext cx="3086862" cy="338328"/>
            <a:chOff x="4493304" y="1974228"/>
            <a:chExt cx="3086862" cy="338328"/>
          </a:xfrm>
        </p:grpSpPr>
        <p:sp>
          <p:nvSpPr>
            <p:cNvPr id="15" name="Text Box 13">
              <a:extLst>
                <a:ext uri="{FF2B5EF4-FFF2-40B4-BE49-F238E27FC236}">
                  <a16:creationId xmlns:a16="http://schemas.microsoft.com/office/drawing/2014/main" id="{C3B3CBC2-241E-7FB5-8EF3-46B913DD9356}"/>
                </a:ext>
              </a:extLst>
            </p:cNvPr>
            <p:cNvSpPr txBox="1">
              <a:spLocks noChangeArrowheads="1"/>
            </p:cNvSpPr>
            <p:nvPr/>
          </p:nvSpPr>
          <p:spPr bwMode="auto">
            <a:xfrm>
              <a:off x="6617310" y="1974228"/>
              <a:ext cx="962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6" name="Line 14">
              <a:extLst>
                <a:ext uri="{FF2B5EF4-FFF2-40B4-BE49-F238E27FC236}">
                  <a16:creationId xmlns:a16="http://schemas.microsoft.com/office/drawing/2014/main" id="{C6032BE2-8202-7095-DFE7-B3B9CE716122}"/>
                </a:ext>
              </a:extLst>
            </p:cNvPr>
            <p:cNvSpPr>
              <a:spLocks noChangeShapeType="1"/>
            </p:cNvSpPr>
            <p:nvPr/>
          </p:nvSpPr>
          <p:spPr bwMode="auto">
            <a:xfrm flipH="1">
              <a:off x="4493304" y="2111194"/>
              <a:ext cx="2189423" cy="20136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7" name="组合 16">
            <a:extLst>
              <a:ext uri="{FF2B5EF4-FFF2-40B4-BE49-F238E27FC236}">
                <a16:creationId xmlns:a16="http://schemas.microsoft.com/office/drawing/2014/main" id="{C04A9C10-191F-9750-F3AF-B44B5B2F0CDA}"/>
              </a:ext>
            </a:extLst>
          </p:cNvPr>
          <p:cNvGrpSpPr/>
          <p:nvPr/>
        </p:nvGrpSpPr>
        <p:grpSpPr>
          <a:xfrm>
            <a:off x="5598155" y="3546284"/>
            <a:ext cx="2906522" cy="404768"/>
            <a:chOff x="3776205" y="2310512"/>
            <a:chExt cx="2906522" cy="404768"/>
          </a:xfrm>
        </p:grpSpPr>
        <p:sp>
          <p:nvSpPr>
            <p:cNvPr id="18" name="Text Box 20">
              <a:extLst>
                <a:ext uri="{FF2B5EF4-FFF2-40B4-BE49-F238E27FC236}">
                  <a16:creationId xmlns:a16="http://schemas.microsoft.com/office/drawing/2014/main" id="{44C0EEE3-4334-306E-81B3-13BD6ECB1731}"/>
                </a:ext>
              </a:extLst>
            </p:cNvPr>
            <p:cNvSpPr txBox="1">
              <a:spLocks noChangeArrowheads="1"/>
            </p:cNvSpPr>
            <p:nvPr/>
          </p:nvSpPr>
          <p:spPr bwMode="auto">
            <a:xfrm>
              <a:off x="3776205" y="23105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p>
          </p:txBody>
        </p:sp>
        <p:sp>
          <p:nvSpPr>
            <p:cNvPr id="19" name="Line 21">
              <a:extLst>
                <a:ext uri="{FF2B5EF4-FFF2-40B4-BE49-F238E27FC236}">
                  <a16:creationId xmlns:a16="http://schemas.microsoft.com/office/drawing/2014/main" id="{8F7C8789-3A14-607A-58BB-33928EAA4806}"/>
                </a:ext>
              </a:extLst>
            </p:cNvPr>
            <p:cNvSpPr>
              <a:spLocks noChangeShapeType="1"/>
            </p:cNvSpPr>
            <p:nvPr/>
          </p:nvSpPr>
          <p:spPr bwMode="auto">
            <a:xfrm>
              <a:off x="4493304" y="2512896"/>
              <a:ext cx="2189423"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20" name="组合 19">
            <a:extLst>
              <a:ext uri="{FF2B5EF4-FFF2-40B4-BE49-F238E27FC236}">
                <a16:creationId xmlns:a16="http://schemas.microsoft.com/office/drawing/2014/main" id="{0EAE082B-EEBF-D3B9-BA2E-DEC9032C7767}"/>
              </a:ext>
            </a:extLst>
          </p:cNvPr>
          <p:cNvGrpSpPr/>
          <p:nvPr/>
        </p:nvGrpSpPr>
        <p:grpSpPr>
          <a:xfrm>
            <a:off x="6315254" y="3832483"/>
            <a:ext cx="3238414" cy="387390"/>
            <a:chOff x="4493304" y="2596711"/>
            <a:chExt cx="3238414" cy="387390"/>
          </a:xfrm>
        </p:grpSpPr>
        <p:sp>
          <p:nvSpPr>
            <p:cNvPr id="21" name="Line 15">
              <a:extLst>
                <a:ext uri="{FF2B5EF4-FFF2-40B4-BE49-F238E27FC236}">
                  <a16:creationId xmlns:a16="http://schemas.microsoft.com/office/drawing/2014/main" id="{583CBADA-F29C-5112-0262-DFBF99F8E88A}"/>
                </a:ext>
              </a:extLst>
            </p:cNvPr>
            <p:cNvSpPr>
              <a:spLocks noChangeShapeType="1"/>
            </p:cNvSpPr>
            <p:nvPr/>
          </p:nvSpPr>
          <p:spPr bwMode="auto">
            <a:xfrm flipH="1">
              <a:off x="4493304" y="2783762"/>
              <a:ext cx="2189423" cy="200339"/>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22" name="Text Box 25">
              <a:extLst>
                <a:ext uri="{FF2B5EF4-FFF2-40B4-BE49-F238E27FC236}">
                  <a16:creationId xmlns:a16="http://schemas.microsoft.com/office/drawing/2014/main" id="{EF880733-7866-311F-BC64-391A443157D0}"/>
                </a:ext>
              </a:extLst>
            </p:cNvPr>
            <p:cNvSpPr txBox="1">
              <a:spLocks noChangeArrowheads="1"/>
            </p:cNvSpPr>
            <p:nvPr/>
          </p:nvSpPr>
          <p:spPr bwMode="auto">
            <a:xfrm>
              <a:off x="6617310" y="2596711"/>
              <a:ext cx="111440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重复确认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23" name="组合 22">
            <a:extLst>
              <a:ext uri="{FF2B5EF4-FFF2-40B4-BE49-F238E27FC236}">
                <a16:creationId xmlns:a16="http://schemas.microsoft.com/office/drawing/2014/main" id="{4E0AAF4D-410E-A987-B4D3-74479E98900E}"/>
              </a:ext>
            </a:extLst>
          </p:cNvPr>
          <p:cNvGrpSpPr/>
          <p:nvPr/>
        </p:nvGrpSpPr>
        <p:grpSpPr>
          <a:xfrm>
            <a:off x="6315254" y="4189208"/>
            <a:ext cx="3268871" cy="366950"/>
            <a:chOff x="4493304" y="2953436"/>
            <a:chExt cx="3268871" cy="366950"/>
          </a:xfrm>
        </p:grpSpPr>
        <p:sp>
          <p:nvSpPr>
            <p:cNvPr id="24" name="Line 16">
              <a:extLst>
                <a:ext uri="{FF2B5EF4-FFF2-40B4-BE49-F238E27FC236}">
                  <a16:creationId xmlns:a16="http://schemas.microsoft.com/office/drawing/2014/main" id="{EAF7DFAA-E2F8-4283-139E-A1EAECB9AA52}"/>
                </a:ext>
              </a:extLst>
            </p:cNvPr>
            <p:cNvSpPr>
              <a:spLocks noChangeShapeType="1"/>
            </p:cNvSpPr>
            <p:nvPr/>
          </p:nvSpPr>
          <p:spPr bwMode="auto">
            <a:xfrm flipH="1">
              <a:off x="4493304" y="3118002"/>
              <a:ext cx="2189423" cy="20238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25" name="Text Box 29">
              <a:extLst>
                <a:ext uri="{FF2B5EF4-FFF2-40B4-BE49-F238E27FC236}">
                  <a16:creationId xmlns:a16="http://schemas.microsoft.com/office/drawing/2014/main" id="{429924F3-6435-8FE9-6F3E-469213E6A7DC}"/>
                </a:ext>
              </a:extLst>
            </p:cNvPr>
            <p:cNvSpPr txBox="1">
              <a:spLocks noChangeArrowheads="1"/>
            </p:cNvSpPr>
            <p:nvPr/>
          </p:nvSpPr>
          <p:spPr bwMode="auto">
            <a:xfrm>
              <a:off x="6617310" y="2953436"/>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重复确认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26" name="组合 25">
            <a:extLst>
              <a:ext uri="{FF2B5EF4-FFF2-40B4-BE49-F238E27FC236}">
                <a16:creationId xmlns:a16="http://schemas.microsoft.com/office/drawing/2014/main" id="{C06DEBBA-C113-AD89-DFCD-092F99A03490}"/>
              </a:ext>
            </a:extLst>
          </p:cNvPr>
          <p:cNvGrpSpPr/>
          <p:nvPr/>
        </p:nvGrpSpPr>
        <p:grpSpPr>
          <a:xfrm>
            <a:off x="7898003" y="4525494"/>
            <a:ext cx="1686122" cy="276999"/>
            <a:chOff x="6076053" y="3289722"/>
            <a:chExt cx="1686122" cy="276999"/>
          </a:xfrm>
        </p:grpSpPr>
        <p:sp>
          <p:nvSpPr>
            <p:cNvPr id="27" name="Line 17">
              <a:extLst>
                <a:ext uri="{FF2B5EF4-FFF2-40B4-BE49-F238E27FC236}">
                  <a16:creationId xmlns:a16="http://schemas.microsoft.com/office/drawing/2014/main" id="{090B9558-F39E-ED03-D141-709BB338B4B9}"/>
                </a:ext>
              </a:extLst>
            </p:cNvPr>
            <p:cNvSpPr>
              <a:spLocks noChangeShapeType="1"/>
            </p:cNvSpPr>
            <p:nvPr/>
          </p:nvSpPr>
          <p:spPr bwMode="auto">
            <a:xfrm flipH="1">
              <a:off x="6076053" y="3452241"/>
              <a:ext cx="606673" cy="84976"/>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28" name="Text Box 30">
              <a:extLst>
                <a:ext uri="{FF2B5EF4-FFF2-40B4-BE49-F238E27FC236}">
                  <a16:creationId xmlns:a16="http://schemas.microsoft.com/office/drawing/2014/main" id="{8642AEE3-5394-F5F1-B176-A01760FB6209}"/>
                </a:ext>
              </a:extLst>
            </p:cNvPr>
            <p:cNvSpPr txBox="1">
              <a:spLocks noChangeArrowheads="1"/>
            </p:cNvSpPr>
            <p:nvPr/>
          </p:nvSpPr>
          <p:spPr bwMode="auto">
            <a:xfrm>
              <a:off x="6617310" y="3289722"/>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重复确认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32" name="Group 34">
            <a:extLst>
              <a:ext uri="{FF2B5EF4-FFF2-40B4-BE49-F238E27FC236}">
                <a16:creationId xmlns:a16="http://schemas.microsoft.com/office/drawing/2014/main" id="{27D839B3-564D-CF59-7515-C09939DFF323}"/>
              </a:ext>
            </a:extLst>
          </p:cNvPr>
          <p:cNvGrpSpPr>
            <a:grpSpLocks/>
          </p:cNvGrpSpPr>
          <p:nvPr/>
        </p:nvGrpSpPr>
        <p:grpSpPr bwMode="auto">
          <a:xfrm>
            <a:off x="3310215" y="3889279"/>
            <a:ext cx="3018729" cy="830998"/>
            <a:chOff x="91" y="2556"/>
            <a:chExt cx="2765" cy="813"/>
          </a:xfrm>
        </p:grpSpPr>
        <p:sp>
          <p:nvSpPr>
            <p:cNvPr id="33" name="Line 38">
              <a:extLst>
                <a:ext uri="{FF2B5EF4-FFF2-40B4-BE49-F238E27FC236}">
                  <a16:creationId xmlns:a16="http://schemas.microsoft.com/office/drawing/2014/main" id="{68CAF6C5-6BB7-8D2C-771D-03037AD9BA0F}"/>
                </a:ext>
              </a:extLst>
            </p:cNvPr>
            <p:cNvSpPr>
              <a:spLocks noChangeShapeType="1"/>
            </p:cNvSpPr>
            <p:nvPr/>
          </p:nvSpPr>
          <p:spPr bwMode="auto">
            <a:xfrm>
              <a:off x="1919" y="3270"/>
              <a:ext cx="937" cy="0"/>
            </a:xfrm>
            <a:prstGeom prst="line">
              <a:avLst/>
            </a:prstGeom>
            <a:noFill/>
            <a:ln w="28575">
              <a:solidFill>
                <a:srgbClr val="000066"/>
              </a:solidFill>
              <a:prstDash val="sys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34" name="Text Box 39">
              <a:extLst>
                <a:ext uri="{FF2B5EF4-FFF2-40B4-BE49-F238E27FC236}">
                  <a16:creationId xmlns:a16="http://schemas.microsoft.com/office/drawing/2014/main" id="{8A6A44D6-0A25-2828-8D9A-D67B2326394E}"/>
                </a:ext>
              </a:extLst>
            </p:cNvPr>
            <p:cNvSpPr txBox="1">
              <a:spLocks noChangeArrowheads="1"/>
            </p:cNvSpPr>
            <p:nvPr/>
          </p:nvSpPr>
          <p:spPr bwMode="auto">
            <a:xfrm>
              <a:off x="91" y="2556"/>
              <a:ext cx="1836" cy="813"/>
            </a:xfrm>
            <a:prstGeom prst="rect">
              <a:avLst/>
            </a:prstGeom>
            <a:solidFill>
              <a:srgbClr val="00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收到三个连续的</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对 </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600" kern="0" baseline="-25000" dirty="0">
                  <a:latin typeface="微软雅黑" pitchFamily="34" charset="-122"/>
                  <a:ea typeface="微软雅黑" pitchFamily="34" charset="-122"/>
                </a:rPr>
                <a:t>2</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的重复确认</a:t>
              </a:r>
              <a:r>
                <a:rPr kumimoji="0" lang="zh-CN" altLang="en-US" sz="1600" kern="0" dirty="0">
                  <a:latin typeface="微软雅黑" pitchFamily="34" charset="-122"/>
                  <a:ea typeface="微软雅黑" pitchFamily="34" charset="-122"/>
                </a:rPr>
                <a:t>，</a:t>
              </a: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立即重传 </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600" kern="0" baseline="-25000" dirty="0">
                  <a:latin typeface="微软雅黑" pitchFamily="34" charset="-122"/>
                  <a:ea typeface="微软雅黑" pitchFamily="34" charset="-122"/>
                </a:rPr>
                <a:t>2</a:t>
              </a:r>
              <a:endParaRPr kumimoji="0" lang="en-US" altLang="zh-CN" sz="1600" b="1" i="0" u="none" strike="noStrike" kern="0" cap="none" spc="0" normalizeH="0" baseline="-25000" noProof="0" dirty="0">
                <a:ln>
                  <a:noFill/>
                </a:ln>
                <a:effectLst/>
                <a:uLnTx/>
                <a:uFillTx/>
                <a:latin typeface="微软雅黑" pitchFamily="34" charset="-122"/>
                <a:ea typeface="微软雅黑" pitchFamily="34" charset="-122"/>
              </a:endParaRPr>
            </a:p>
          </p:txBody>
        </p:sp>
      </p:grpSp>
      <p:grpSp>
        <p:nvGrpSpPr>
          <p:cNvPr id="35" name="组合 34">
            <a:extLst>
              <a:ext uri="{FF2B5EF4-FFF2-40B4-BE49-F238E27FC236}">
                <a16:creationId xmlns:a16="http://schemas.microsoft.com/office/drawing/2014/main" id="{7C4723BA-4C95-0D0F-0DEF-2DC2EEB46873}"/>
              </a:ext>
            </a:extLst>
          </p:cNvPr>
          <p:cNvGrpSpPr/>
          <p:nvPr/>
        </p:nvGrpSpPr>
        <p:grpSpPr>
          <a:xfrm>
            <a:off x="5598155" y="2892115"/>
            <a:ext cx="2906522" cy="389435"/>
            <a:chOff x="3776205" y="1656343"/>
            <a:chExt cx="2906522" cy="389435"/>
          </a:xfrm>
        </p:grpSpPr>
        <p:sp>
          <p:nvSpPr>
            <p:cNvPr id="36" name="Text Box 18">
              <a:extLst>
                <a:ext uri="{FF2B5EF4-FFF2-40B4-BE49-F238E27FC236}">
                  <a16:creationId xmlns:a16="http://schemas.microsoft.com/office/drawing/2014/main" id="{3480F020-EFF0-1EAE-917D-AE45AAE2A50B}"/>
                </a:ext>
              </a:extLst>
            </p:cNvPr>
            <p:cNvSpPr txBox="1">
              <a:spLocks noChangeArrowheads="1"/>
            </p:cNvSpPr>
            <p:nvPr/>
          </p:nvSpPr>
          <p:spPr bwMode="auto">
            <a:xfrm>
              <a:off x="3776205" y="165634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p>
          </p:txBody>
        </p:sp>
        <p:sp>
          <p:nvSpPr>
            <p:cNvPr id="37" name="Line 42">
              <a:extLst>
                <a:ext uri="{FF2B5EF4-FFF2-40B4-BE49-F238E27FC236}">
                  <a16:creationId xmlns:a16="http://schemas.microsoft.com/office/drawing/2014/main" id="{4E755D96-ADCB-DCCA-3CA5-5ACB9FDA61B7}"/>
                </a:ext>
              </a:extLst>
            </p:cNvPr>
            <p:cNvSpPr>
              <a:spLocks noChangeShapeType="1"/>
            </p:cNvSpPr>
            <p:nvPr/>
          </p:nvSpPr>
          <p:spPr bwMode="auto">
            <a:xfrm>
              <a:off x="4493304" y="1843394"/>
              <a:ext cx="2189423"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38" name="组合 37">
            <a:extLst>
              <a:ext uri="{FF2B5EF4-FFF2-40B4-BE49-F238E27FC236}">
                <a16:creationId xmlns:a16="http://schemas.microsoft.com/office/drawing/2014/main" id="{09F33D48-B357-E5EF-42CC-E19AF8361D1A}"/>
              </a:ext>
            </a:extLst>
          </p:cNvPr>
          <p:cNvGrpSpPr/>
          <p:nvPr/>
        </p:nvGrpSpPr>
        <p:grpSpPr>
          <a:xfrm>
            <a:off x="5598155" y="3174225"/>
            <a:ext cx="2400562" cy="706298"/>
            <a:chOff x="3776205" y="1938453"/>
            <a:chExt cx="2400562" cy="706298"/>
          </a:xfrm>
        </p:grpSpPr>
        <p:sp>
          <p:nvSpPr>
            <p:cNvPr id="39" name="Text Box 19">
              <a:extLst>
                <a:ext uri="{FF2B5EF4-FFF2-40B4-BE49-F238E27FC236}">
                  <a16:creationId xmlns:a16="http://schemas.microsoft.com/office/drawing/2014/main" id="{BD23E91A-CA11-0F39-44EE-7F1C8D272FD0}"/>
                </a:ext>
              </a:extLst>
            </p:cNvPr>
            <p:cNvSpPr txBox="1">
              <a:spLocks noChangeArrowheads="1"/>
            </p:cNvSpPr>
            <p:nvPr/>
          </p:nvSpPr>
          <p:spPr bwMode="auto">
            <a:xfrm>
              <a:off x="3776205" y="1984449"/>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grpSp>
          <p:nvGrpSpPr>
            <p:cNvPr id="40" name="组合 39">
              <a:extLst>
                <a:ext uri="{FF2B5EF4-FFF2-40B4-BE49-F238E27FC236}">
                  <a16:creationId xmlns:a16="http://schemas.microsoft.com/office/drawing/2014/main" id="{8AC639DF-69E5-CAB0-474B-5D5A7E0D7A18}"/>
                </a:ext>
              </a:extLst>
            </p:cNvPr>
            <p:cNvGrpSpPr/>
            <p:nvPr/>
          </p:nvGrpSpPr>
          <p:grpSpPr>
            <a:xfrm>
              <a:off x="4493304" y="1938453"/>
              <a:ext cx="1683463" cy="706298"/>
              <a:chOff x="4493304" y="1938453"/>
              <a:chExt cx="1683463" cy="706298"/>
            </a:xfrm>
          </p:grpSpPr>
          <p:sp>
            <p:nvSpPr>
              <p:cNvPr id="41" name="AutoShape 40">
                <a:extLst>
                  <a:ext uri="{FF2B5EF4-FFF2-40B4-BE49-F238E27FC236}">
                    <a16:creationId xmlns:a16="http://schemas.microsoft.com/office/drawing/2014/main" id="{2BA675FC-B4DB-FCD6-BF5A-DA229CBA60F7}"/>
                  </a:ext>
                </a:extLst>
              </p:cNvPr>
              <p:cNvSpPr>
                <a:spLocks noChangeArrowheads="1"/>
              </p:cNvSpPr>
              <p:nvPr/>
            </p:nvSpPr>
            <p:spPr bwMode="auto">
              <a:xfrm>
                <a:off x="5615613" y="1938453"/>
                <a:ext cx="561154" cy="706298"/>
              </a:xfrm>
              <a:prstGeom prst="irregularSeal1">
                <a:avLst/>
              </a:prstGeom>
              <a:solidFill>
                <a:srgbClr val="C00000"/>
              </a:solidFill>
              <a:ln w="9525">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42" name="Text Box 41">
                <a:extLst>
                  <a:ext uri="{FF2B5EF4-FFF2-40B4-BE49-F238E27FC236}">
                    <a16:creationId xmlns:a16="http://schemas.microsoft.com/office/drawing/2014/main" id="{A56958E1-4352-0444-C9F7-27C74F07C906}"/>
                  </a:ext>
                </a:extLst>
              </p:cNvPr>
              <p:cNvSpPr txBox="1">
                <a:spLocks noChangeArrowheads="1"/>
              </p:cNvSpPr>
              <p:nvPr/>
            </p:nvSpPr>
            <p:spPr bwMode="auto">
              <a:xfrm>
                <a:off x="5661609" y="2152198"/>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丢失</a:t>
                </a:r>
              </a:p>
            </p:txBody>
          </p:sp>
          <p:sp>
            <p:nvSpPr>
              <p:cNvPr id="43" name="Line 43">
                <a:extLst>
                  <a:ext uri="{FF2B5EF4-FFF2-40B4-BE49-F238E27FC236}">
                    <a16:creationId xmlns:a16="http://schemas.microsoft.com/office/drawing/2014/main" id="{BC26661F-A993-5D85-681F-25573C1E40EB}"/>
                  </a:ext>
                </a:extLst>
              </p:cNvPr>
              <p:cNvSpPr>
                <a:spLocks noChangeShapeType="1"/>
              </p:cNvSpPr>
              <p:nvPr/>
            </p:nvSpPr>
            <p:spPr bwMode="auto">
              <a:xfrm>
                <a:off x="4493304" y="2177634"/>
                <a:ext cx="1178527" cy="10221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grpSp>
        <p:nvGrpSpPr>
          <p:cNvPr id="55" name="组合 54">
            <a:extLst>
              <a:ext uri="{FF2B5EF4-FFF2-40B4-BE49-F238E27FC236}">
                <a16:creationId xmlns:a16="http://schemas.microsoft.com/office/drawing/2014/main" id="{086863F4-5A62-932C-2800-B05AE8DB5243}"/>
              </a:ext>
            </a:extLst>
          </p:cNvPr>
          <p:cNvGrpSpPr/>
          <p:nvPr/>
        </p:nvGrpSpPr>
        <p:grpSpPr>
          <a:xfrm>
            <a:off x="5598155" y="3898922"/>
            <a:ext cx="2909587" cy="388412"/>
            <a:chOff x="3776205" y="2663150"/>
            <a:chExt cx="2909587" cy="388412"/>
          </a:xfrm>
        </p:grpSpPr>
        <p:sp>
          <p:nvSpPr>
            <p:cNvPr id="56" name="Text Box 23">
              <a:extLst>
                <a:ext uri="{FF2B5EF4-FFF2-40B4-BE49-F238E27FC236}">
                  <a16:creationId xmlns:a16="http://schemas.microsoft.com/office/drawing/2014/main" id="{9FE4347D-14C5-12E0-BBCD-FA07DA77C137}"/>
                </a:ext>
              </a:extLst>
            </p:cNvPr>
            <p:cNvSpPr txBox="1">
              <a:spLocks noChangeArrowheads="1"/>
            </p:cNvSpPr>
            <p:nvPr/>
          </p:nvSpPr>
          <p:spPr bwMode="auto">
            <a:xfrm>
              <a:off x="3776205" y="2663150"/>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5</a:t>
              </a:r>
            </a:p>
          </p:txBody>
        </p:sp>
        <p:sp>
          <p:nvSpPr>
            <p:cNvPr id="57" name="Line 44">
              <a:extLst>
                <a:ext uri="{FF2B5EF4-FFF2-40B4-BE49-F238E27FC236}">
                  <a16:creationId xmlns:a16="http://schemas.microsoft.com/office/drawing/2014/main" id="{FA9D72A3-3D3C-C8F7-B017-3CC22AF72068}"/>
                </a:ext>
              </a:extLst>
            </p:cNvPr>
            <p:cNvSpPr>
              <a:spLocks noChangeShapeType="1"/>
            </p:cNvSpPr>
            <p:nvPr/>
          </p:nvSpPr>
          <p:spPr bwMode="auto">
            <a:xfrm>
              <a:off x="4497392" y="2848157"/>
              <a:ext cx="2188400" cy="203405"/>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58" name="组合 57">
            <a:extLst>
              <a:ext uri="{FF2B5EF4-FFF2-40B4-BE49-F238E27FC236}">
                <a16:creationId xmlns:a16="http://schemas.microsoft.com/office/drawing/2014/main" id="{62712304-2882-98CF-D1D0-FF0D4A8AE7A9}"/>
              </a:ext>
            </a:extLst>
          </p:cNvPr>
          <p:cNvGrpSpPr/>
          <p:nvPr/>
        </p:nvGrpSpPr>
        <p:grpSpPr>
          <a:xfrm>
            <a:off x="5598155" y="4234184"/>
            <a:ext cx="2909587" cy="388413"/>
            <a:chOff x="3776205" y="2998412"/>
            <a:chExt cx="2909587" cy="388413"/>
          </a:xfrm>
        </p:grpSpPr>
        <p:sp>
          <p:nvSpPr>
            <p:cNvPr id="59" name="Text Box 24">
              <a:extLst>
                <a:ext uri="{FF2B5EF4-FFF2-40B4-BE49-F238E27FC236}">
                  <a16:creationId xmlns:a16="http://schemas.microsoft.com/office/drawing/2014/main" id="{E513B093-4F20-38D7-50CC-048DF611F7C3}"/>
                </a:ext>
              </a:extLst>
            </p:cNvPr>
            <p:cNvSpPr txBox="1">
              <a:spLocks noChangeArrowheads="1"/>
            </p:cNvSpPr>
            <p:nvPr/>
          </p:nvSpPr>
          <p:spPr bwMode="auto">
            <a:xfrm>
              <a:off x="3776205" y="29984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6</a:t>
              </a:r>
            </a:p>
          </p:txBody>
        </p:sp>
        <p:sp>
          <p:nvSpPr>
            <p:cNvPr id="60" name="Line 45">
              <a:extLst>
                <a:ext uri="{FF2B5EF4-FFF2-40B4-BE49-F238E27FC236}">
                  <a16:creationId xmlns:a16="http://schemas.microsoft.com/office/drawing/2014/main" id="{35EB2544-C9B3-76C3-E1E2-BEB9BEE64947}"/>
                </a:ext>
              </a:extLst>
            </p:cNvPr>
            <p:cNvSpPr>
              <a:spLocks noChangeShapeType="1"/>
            </p:cNvSpPr>
            <p:nvPr/>
          </p:nvSpPr>
          <p:spPr bwMode="auto">
            <a:xfrm>
              <a:off x="4497392" y="3184441"/>
              <a:ext cx="2188400"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61" name="组合 60">
            <a:extLst>
              <a:ext uri="{FF2B5EF4-FFF2-40B4-BE49-F238E27FC236}">
                <a16:creationId xmlns:a16="http://schemas.microsoft.com/office/drawing/2014/main" id="{E7ADAAD9-45C1-E9E6-7B68-E93ADCCF75C5}"/>
              </a:ext>
            </a:extLst>
          </p:cNvPr>
          <p:cNvGrpSpPr/>
          <p:nvPr/>
        </p:nvGrpSpPr>
        <p:grpSpPr>
          <a:xfrm>
            <a:off x="5305581" y="4631357"/>
            <a:ext cx="3199096" cy="326064"/>
            <a:chOff x="3483631" y="3666889"/>
            <a:chExt cx="3199096" cy="326064"/>
          </a:xfrm>
        </p:grpSpPr>
        <p:sp>
          <p:nvSpPr>
            <p:cNvPr id="62" name="Line 27">
              <a:extLst>
                <a:ext uri="{FF2B5EF4-FFF2-40B4-BE49-F238E27FC236}">
                  <a16:creationId xmlns:a16="http://schemas.microsoft.com/office/drawing/2014/main" id="{0D44F4A9-6C5D-5A8C-2FEC-8511DD68B024}"/>
                </a:ext>
              </a:extLst>
            </p:cNvPr>
            <p:cNvSpPr>
              <a:spLocks noChangeShapeType="1"/>
            </p:cNvSpPr>
            <p:nvPr/>
          </p:nvSpPr>
          <p:spPr bwMode="auto">
            <a:xfrm>
              <a:off x="4493304" y="3789547"/>
              <a:ext cx="2189423" cy="203406"/>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63" name="Text Box 33">
              <a:extLst>
                <a:ext uri="{FF2B5EF4-FFF2-40B4-BE49-F238E27FC236}">
                  <a16:creationId xmlns:a16="http://schemas.microsoft.com/office/drawing/2014/main" id="{D5F5B408-976E-66AB-2447-26AB23923B98}"/>
                </a:ext>
              </a:extLst>
            </p:cNvPr>
            <p:cNvSpPr txBox="1">
              <a:spLocks noChangeArrowheads="1"/>
            </p:cNvSpPr>
            <p:nvPr/>
          </p:nvSpPr>
          <p:spPr bwMode="auto">
            <a:xfrm>
              <a:off x="3483631" y="3666889"/>
              <a:ext cx="10679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kern="0" dirty="0">
                  <a:solidFill>
                    <a:srgbClr val="C00000"/>
                  </a:solidFill>
                  <a:latin typeface="微软雅黑" pitchFamily="34" charset="-122"/>
                  <a:ea typeface="微软雅黑" pitchFamily="34" charset="-122"/>
                </a:rPr>
                <a:t>立即重传</a:t>
              </a:r>
              <a:r>
                <a:rPr kumimoji="0" lang="zh-CN" altLang="en-US" sz="12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 </a:t>
              </a:r>
              <a:r>
                <a:rPr kumimoji="0" lang="en-US" altLang="zh-CN" sz="12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solidFill>
                    <a:srgbClr val="C00000"/>
                  </a:solidFill>
                  <a:effectLst/>
                  <a:uLnTx/>
                  <a:uFillTx/>
                  <a:latin typeface="微软雅黑" pitchFamily="34" charset="-122"/>
                  <a:ea typeface="微软雅黑" pitchFamily="34" charset="-122"/>
                </a:rPr>
                <a:t>3</a:t>
              </a:r>
            </a:p>
          </p:txBody>
        </p:sp>
      </p:grpSp>
      <p:sp>
        <p:nvSpPr>
          <p:cNvPr id="67" name="灯片编号占位符 66">
            <a:extLst>
              <a:ext uri="{FF2B5EF4-FFF2-40B4-BE49-F238E27FC236}">
                <a16:creationId xmlns:a16="http://schemas.microsoft.com/office/drawing/2014/main" id="{EC5640C3-A854-4ED8-9AE9-C0C59FA1EEC4}"/>
              </a:ext>
            </a:extLst>
          </p:cNvPr>
          <p:cNvSpPr>
            <a:spLocks noGrp="1"/>
          </p:cNvSpPr>
          <p:nvPr>
            <p:ph type="sldNum" sz="quarter" idx="12"/>
          </p:nvPr>
        </p:nvSpPr>
        <p:spPr/>
        <p:txBody>
          <a:bodyPr/>
          <a:lstStyle/>
          <a:p>
            <a:fld id="{5956A083-5018-4B52-82A0-83241B8E3D94}" type="slidenum">
              <a:rPr lang="zh-CN" altLang="en-US" smtClean="0"/>
              <a:t>69</a:t>
            </a:fld>
            <a:endParaRPr lang="zh-CN" altLang="en-US"/>
          </a:p>
        </p:txBody>
      </p:sp>
    </p:spTree>
    <p:extLst>
      <p:ext uri="{BB962C8B-B14F-4D97-AF65-F5344CB8AC3E}">
        <p14:creationId xmlns:p14="http://schemas.microsoft.com/office/powerpoint/2010/main" val="2339209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right)">
                                      <p:cBhvr>
                                        <p:cTn id="11" dur="1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1000"/>
                                        <p:tgtEl>
                                          <p:spTgt spid="35"/>
                                        </p:tgtEl>
                                      </p:cBhvr>
                                    </p:animEffect>
                                  </p:childTnLst>
                                </p:cTn>
                              </p:par>
                            </p:childTnLst>
                          </p:cTn>
                        </p:par>
                        <p:par>
                          <p:cTn id="17" fill="hold">
                            <p:stCondLst>
                              <p:cond delay="1000"/>
                            </p:stCondLst>
                            <p:childTnLst>
                              <p:par>
                                <p:cTn id="18" presetID="22" presetClass="entr" presetSubtype="2"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right)">
                                      <p:cBhvr>
                                        <p:cTn id="20" dur="10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wipe(left)">
                                      <p:cBhvr>
                                        <p:cTn id="25" dur="10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1000"/>
                                        <p:tgtEl>
                                          <p:spTgt spid="17"/>
                                        </p:tgtEl>
                                      </p:cBhvr>
                                    </p:animEffect>
                                  </p:childTnLst>
                                </p:cTn>
                              </p:par>
                            </p:childTnLst>
                          </p:cTn>
                        </p:par>
                        <p:par>
                          <p:cTn id="31" fill="hold">
                            <p:stCondLst>
                              <p:cond delay="1000"/>
                            </p:stCondLst>
                            <p:childTnLst>
                              <p:par>
                                <p:cTn id="32" presetID="22" presetClass="entr" presetSubtype="2" fill="hold" nodeType="after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right)">
                                      <p:cBhvr>
                                        <p:cTn id="34" dur="10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wipe(left)">
                                      <p:cBhvr>
                                        <p:cTn id="39" dur="1000"/>
                                        <p:tgtEl>
                                          <p:spTgt spid="55"/>
                                        </p:tgtEl>
                                      </p:cBhvr>
                                    </p:animEffect>
                                  </p:childTnLst>
                                </p:cTn>
                              </p:par>
                            </p:childTnLst>
                          </p:cTn>
                        </p:par>
                        <p:par>
                          <p:cTn id="40" fill="hold">
                            <p:stCondLst>
                              <p:cond delay="1000"/>
                            </p:stCondLst>
                            <p:childTnLst>
                              <p:par>
                                <p:cTn id="41" presetID="22" presetClass="entr" presetSubtype="2" fill="hold"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right)">
                                      <p:cBhvr>
                                        <p:cTn id="43" dur="1000"/>
                                        <p:tgtEl>
                                          <p:spTgt spid="2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58"/>
                                        </p:tgtEl>
                                        <p:attrNameLst>
                                          <p:attrName>style.visibility</p:attrName>
                                        </p:attrNameLst>
                                      </p:cBhvr>
                                      <p:to>
                                        <p:strVal val="visible"/>
                                      </p:to>
                                    </p:set>
                                    <p:animEffect transition="in" filter="wipe(left)">
                                      <p:cBhvr>
                                        <p:cTn id="48" dur="1000"/>
                                        <p:tgtEl>
                                          <p:spTgt spid="58"/>
                                        </p:tgtEl>
                                      </p:cBhvr>
                                    </p:animEffect>
                                  </p:childTnLst>
                                </p:cTn>
                              </p:par>
                            </p:childTnLst>
                          </p:cTn>
                        </p:par>
                        <p:par>
                          <p:cTn id="49" fill="hold">
                            <p:stCondLst>
                              <p:cond delay="1000"/>
                            </p:stCondLst>
                            <p:childTnLst>
                              <p:par>
                                <p:cTn id="50" presetID="22" presetClass="entr" presetSubtype="2" fill="hold" nodeType="after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right)">
                                      <p:cBhvr>
                                        <p:cTn id="52" dur="10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wipe(right)">
                                      <p:cBhvr>
                                        <p:cTn id="57" dur="1000"/>
                                        <p:tgtEl>
                                          <p:spTgt spid="3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wipe(left)">
                                      <p:cBhvr>
                                        <p:cTn id="62"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295DB-EF32-0A32-BCF2-27FADF7D6B8E}"/>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66379E64-0F62-3D5C-4EE0-BEBF62A6C3F4}"/>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9799ECAC-A543-784D-63BB-985E5E0736E1}"/>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0D8AC89A-5318-3FF1-7A41-EED509466708}"/>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650C5AEE-58DE-D2BF-AE3D-8B4AA13B7C04}"/>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64B388C5-4CEB-D178-A036-AE62BBBC45F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8653F69A-CE0C-DA41-169E-13DBE89D7AB4}"/>
              </a:ext>
            </a:extLst>
          </p:cNvPr>
          <p:cNvGrpSpPr/>
          <p:nvPr/>
        </p:nvGrpSpPr>
        <p:grpSpPr>
          <a:xfrm>
            <a:off x="505664" y="1426139"/>
            <a:ext cx="6254732" cy="525531"/>
            <a:chOff x="722008" y="1303131"/>
            <a:chExt cx="5972203" cy="501793"/>
          </a:xfrm>
        </p:grpSpPr>
        <p:sp>
          <p:nvSpPr>
            <p:cNvPr id="50" name="流程图: 手动输入 6">
              <a:extLst>
                <a:ext uri="{FF2B5EF4-FFF2-40B4-BE49-F238E27FC236}">
                  <a16:creationId xmlns:a16="http://schemas.microsoft.com/office/drawing/2014/main" id="{327EF6CE-ABED-D3A5-2870-F4D8B70DAA74}"/>
                </a:ext>
              </a:extLst>
            </p:cNvPr>
            <p:cNvSpPr/>
            <p:nvPr/>
          </p:nvSpPr>
          <p:spPr>
            <a:xfrm rot="5400000" flipV="1">
              <a:off x="3397466" y="-1102327"/>
              <a:ext cx="475861" cy="529358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6CAF1B8C-8B75-79FB-665F-EE423296E465}"/>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DF10E1C3-046C-DA56-DC47-9FFD5454ABE9}"/>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1B2239D6-75B8-3B2A-9984-20C2095A6568}"/>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9B6EF16F-6515-223E-6A5C-63D7CB1D3A94}"/>
                </a:ext>
              </a:extLst>
            </p:cNvPr>
            <p:cNvSpPr txBox="1">
              <a:spLocks noChangeArrowheads="1"/>
            </p:cNvSpPr>
            <p:nvPr/>
          </p:nvSpPr>
          <p:spPr bwMode="auto">
            <a:xfrm>
              <a:off x="1268603" y="1334724"/>
              <a:ext cx="5425608" cy="4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快恢复 </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FR (Fast Recovery)</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算法</a:t>
              </a:r>
            </a:p>
          </p:txBody>
        </p:sp>
      </p:grpSp>
      <p:sp>
        <p:nvSpPr>
          <p:cNvPr id="67" name="Rectangle 68">
            <a:extLst>
              <a:ext uri="{FF2B5EF4-FFF2-40B4-BE49-F238E27FC236}">
                <a16:creationId xmlns:a16="http://schemas.microsoft.com/office/drawing/2014/main" id="{A254F53E-9326-02FE-E4A6-DD657E791E9D}"/>
              </a:ext>
            </a:extLst>
          </p:cNvPr>
          <p:cNvSpPr>
            <a:spLocks noChangeArrowheads="1"/>
          </p:cNvSpPr>
          <p:nvPr/>
        </p:nvSpPr>
        <p:spPr bwMode="auto">
          <a:xfrm>
            <a:off x="752044" y="1951670"/>
            <a:ext cx="9881710" cy="3351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zh-CN" altLang="en-US" sz="2400" dirty="0">
                <a:solidFill>
                  <a:prstClr val="black"/>
                </a:solidFill>
                <a:latin typeface="微软雅黑" pitchFamily="34" charset="-122"/>
                <a:ea typeface="微软雅黑" pitchFamily="34" charset="-122"/>
              </a:rPr>
              <a:t>当发送端收到连续三个重复的确认时，</a:t>
            </a:r>
            <a:r>
              <a:rPr lang="zh-CN" altLang="en-US" sz="2400" dirty="0">
                <a:solidFill>
                  <a:srgbClr val="C00000"/>
                </a:solidFill>
                <a:latin typeface="微软雅黑" pitchFamily="34" charset="-122"/>
                <a:ea typeface="微软雅黑" pitchFamily="34" charset="-122"/>
              </a:rPr>
              <a:t>不执行</a:t>
            </a:r>
            <a:r>
              <a:rPr lang="zh-CN" altLang="en-US" sz="2400" dirty="0">
                <a:solidFill>
                  <a:prstClr val="black"/>
                </a:solidFill>
                <a:latin typeface="微软雅黑" pitchFamily="34" charset="-122"/>
                <a:ea typeface="微软雅黑" pitchFamily="34" charset="-122"/>
              </a:rPr>
              <a:t>慢启动算法，而是</a:t>
            </a:r>
            <a:r>
              <a:rPr lang="zh-CN" altLang="en-US" sz="2400" dirty="0">
                <a:solidFill>
                  <a:srgbClr val="0000FF"/>
                </a:solidFill>
                <a:latin typeface="微软雅黑" pitchFamily="34" charset="-122"/>
                <a:ea typeface="微软雅黑" pitchFamily="34" charset="-122"/>
              </a:rPr>
              <a:t>执行</a:t>
            </a:r>
            <a:r>
              <a:rPr lang="zh-CN" altLang="en-US" sz="2400" dirty="0">
                <a:solidFill>
                  <a:srgbClr val="C00000"/>
                </a:solidFill>
                <a:latin typeface="微软雅黑" pitchFamily="34" charset="-122"/>
                <a:ea typeface="微软雅黑" pitchFamily="34" charset="-122"/>
              </a:rPr>
              <a:t>快恢复算法 </a:t>
            </a:r>
            <a:r>
              <a:rPr lang="en-US" altLang="zh-CN" sz="2400" dirty="0">
                <a:solidFill>
                  <a:srgbClr val="C00000"/>
                </a:solidFill>
                <a:latin typeface="微软雅黑" pitchFamily="34" charset="-122"/>
                <a:ea typeface="微软雅黑" pitchFamily="34" charset="-122"/>
              </a:rPr>
              <a:t>FR </a:t>
            </a:r>
            <a:r>
              <a:rPr lang="en-US" altLang="zh-CN" sz="2400" dirty="0">
                <a:solidFill>
                  <a:prstClr val="black"/>
                </a:solidFill>
                <a:latin typeface="微软雅黑" pitchFamily="34" charset="-122"/>
                <a:ea typeface="微软雅黑" pitchFamily="34" charset="-122"/>
              </a:rPr>
              <a:t>(Fast Recovery) </a:t>
            </a:r>
            <a:r>
              <a:rPr lang="zh-CN" altLang="en-US" sz="2400" dirty="0">
                <a:solidFill>
                  <a:prstClr val="black"/>
                </a:solidFill>
                <a:latin typeface="微软雅黑" pitchFamily="34" charset="-122"/>
                <a:ea typeface="微软雅黑" pitchFamily="34" charset="-122"/>
              </a:rPr>
              <a:t>算法：</a:t>
            </a:r>
          </a:p>
          <a:p>
            <a:pPr marL="633413" indent="-342900">
              <a:lnSpc>
                <a:spcPct val="150000"/>
              </a:lnSpc>
              <a:buClr>
                <a:srgbClr val="7030A0"/>
              </a:buClr>
              <a:buFont typeface="+mj-lt"/>
              <a:buAutoNum type="arabicPeriod"/>
            </a:pPr>
            <a:r>
              <a:rPr lang="zh-CN" altLang="en-US" sz="2400" dirty="0">
                <a:solidFill>
                  <a:prstClr val="black"/>
                </a:solidFill>
                <a:latin typeface="微软雅黑" pitchFamily="34" charset="-122"/>
                <a:ea typeface="微软雅黑" pitchFamily="34" charset="-122"/>
              </a:rPr>
              <a:t>慢启动门限 </a:t>
            </a:r>
            <a:r>
              <a:rPr lang="en-US" altLang="zh-CN" sz="2400" dirty="0" err="1">
                <a:solidFill>
                  <a:prstClr val="black"/>
                </a:solidFill>
                <a:latin typeface="微软雅黑" pitchFamily="34" charset="-122"/>
                <a:ea typeface="微软雅黑" pitchFamily="34" charset="-122"/>
              </a:rPr>
              <a:t>ssthresh</a:t>
            </a:r>
            <a:r>
              <a:rPr lang="en-US" altLang="zh-CN" sz="2400" dirty="0">
                <a:solidFill>
                  <a:prstClr val="black"/>
                </a:solidFill>
                <a:latin typeface="微软雅黑" pitchFamily="34" charset="-122"/>
                <a:ea typeface="微软雅黑" pitchFamily="34" charset="-122"/>
              </a:rPr>
              <a:t> = </a:t>
            </a:r>
            <a:r>
              <a:rPr lang="zh-CN" altLang="en-US" sz="2400" dirty="0">
                <a:solidFill>
                  <a:prstClr val="black"/>
                </a:solidFill>
                <a:latin typeface="微软雅黑" pitchFamily="34" charset="-122"/>
                <a:ea typeface="微软雅黑" pitchFamily="34" charset="-122"/>
              </a:rPr>
              <a:t>当前拥塞窗口 </a:t>
            </a:r>
            <a:r>
              <a:rPr lang="en-US" altLang="zh-CN" sz="2400" dirty="0" err="1">
                <a:solidFill>
                  <a:prstClr val="black"/>
                </a:solidFill>
                <a:latin typeface="微软雅黑" pitchFamily="34" charset="-122"/>
                <a:ea typeface="微软雅黑" pitchFamily="34" charset="-122"/>
              </a:rPr>
              <a:t>cwnd</a:t>
            </a:r>
            <a:r>
              <a:rPr lang="en-US" altLang="zh-CN" sz="2400" dirty="0">
                <a:solidFill>
                  <a:prstClr val="black"/>
                </a:solidFill>
                <a:latin typeface="微软雅黑" pitchFamily="34" charset="-122"/>
                <a:ea typeface="微软雅黑" pitchFamily="34" charset="-122"/>
              </a:rPr>
              <a:t> / 2 </a:t>
            </a:r>
            <a:r>
              <a:rPr lang="zh-CN" altLang="en-US" sz="2400" dirty="0">
                <a:solidFill>
                  <a:prstClr val="black"/>
                </a:solidFill>
                <a:latin typeface="微软雅黑" pitchFamily="34" charset="-122"/>
                <a:ea typeface="微软雅黑" pitchFamily="34" charset="-122"/>
              </a:rPr>
              <a:t>；</a:t>
            </a:r>
          </a:p>
          <a:p>
            <a:pPr marL="633413" indent="-342900">
              <a:lnSpc>
                <a:spcPct val="150000"/>
              </a:lnSpc>
              <a:buClr>
                <a:srgbClr val="7030A0"/>
              </a:buClr>
              <a:buFont typeface="+mj-lt"/>
              <a:buAutoNum type="arabicPeriod"/>
            </a:pPr>
            <a:r>
              <a:rPr lang="zh-CN" altLang="en-US" sz="2400" dirty="0">
                <a:solidFill>
                  <a:srgbClr val="C00000"/>
                </a:solidFill>
                <a:latin typeface="微软雅黑" pitchFamily="34" charset="-122"/>
                <a:ea typeface="微软雅黑" pitchFamily="34" charset="-122"/>
              </a:rPr>
              <a:t>乘法减小 </a:t>
            </a:r>
            <a:r>
              <a:rPr lang="en-US" altLang="zh-CN" sz="2400" dirty="0">
                <a:solidFill>
                  <a:srgbClr val="C00000"/>
                </a:solidFill>
                <a:latin typeface="微软雅黑" pitchFamily="34" charset="-122"/>
                <a:ea typeface="微软雅黑" pitchFamily="34" charset="-122"/>
              </a:rPr>
              <a:t>MD </a:t>
            </a:r>
            <a:r>
              <a:rPr lang="en-US" altLang="zh-CN" sz="2400" dirty="0">
                <a:solidFill>
                  <a:prstClr val="black"/>
                </a:solidFill>
                <a:latin typeface="微软雅黑" pitchFamily="34" charset="-122"/>
                <a:ea typeface="微软雅黑" pitchFamily="34" charset="-122"/>
              </a:rPr>
              <a:t>(Multiplicative Decrease) </a:t>
            </a:r>
            <a:r>
              <a:rPr lang="zh-CN" altLang="en-US" sz="2400" dirty="0">
                <a:solidFill>
                  <a:prstClr val="black"/>
                </a:solidFill>
                <a:latin typeface="微软雅黑" pitchFamily="34" charset="-122"/>
                <a:ea typeface="微软雅黑" pitchFamily="34" charset="-122"/>
              </a:rPr>
              <a:t>拥塞窗口。</a:t>
            </a:r>
            <a:endParaRPr lang="en-US" altLang="zh-CN" sz="2400" dirty="0">
              <a:solidFill>
                <a:prstClr val="black"/>
              </a:solidFill>
              <a:latin typeface="微软雅黑" pitchFamily="34" charset="-122"/>
              <a:ea typeface="微软雅黑" pitchFamily="34" charset="-122"/>
            </a:endParaRPr>
          </a:p>
          <a:p>
            <a:pPr marL="290513">
              <a:lnSpc>
                <a:spcPct val="150000"/>
              </a:lnSpc>
              <a:buClr>
                <a:srgbClr val="7030A0"/>
              </a:buClr>
            </a:pPr>
            <a:r>
              <a:rPr lang="en-US" altLang="zh-CN" sz="2400" dirty="0">
                <a:solidFill>
                  <a:prstClr val="black"/>
                </a:solidFill>
                <a:latin typeface="微软雅黑" pitchFamily="34" charset="-122"/>
                <a:ea typeface="微软雅黑" pitchFamily="34" charset="-122"/>
              </a:rPr>
              <a:t>     </a:t>
            </a:r>
            <a:r>
              <a:rPr lang="zh-CN" altLang="en-US" sz="2400" dirty="0">
                <a:solidFill>
                  <a:prstClr val="black"/>
                </a:solidFill>
                <a:latin typeface="微软雅黑" pitchFamily="34" charset="-122"/>
                <a:ea typeface="微软雅黑" pitchFamily="34" charset="-122"/>
              </a:rPr>
              <a:t>新拥塞窗口 </a:t>
            </a:r>
            <a:r>
              <a:rPr lang="en-US" altLang="zh-CN" sz="2400" dirty="0" err="1">
                <a:solidFill>
                  <a:prstClr val="black"/>
                </a:solidFill>
                <a:latin typeface="微软雅黑" pitchFamily="34" charset="-122"/>
                <a:ea typeface="微软雅黑" pitchFamily="34" charset="-122"/>
              </a:rPr>
              <a:t>cwnd</a:t>
            </a:r>
            <a:r>
              <a:rPr lang="en-US" altLang="zh-CN" sz="2400" dirty="0">
                <a:solidFill>
                  <a:prstClr val="black"/>
                </a:solidFill>
                <a:latin typeface="微软雅黑" pitchFamily="34" charset="-122"/>
                <a:ea typeface="微软雅黑" pitchFamily="34" charset="-122"/>
              </a:rPr>
              <a:t> = </a:t>
            </a:r>
            <a:r>
              <a:rPr lang="zh-CN" altLang="en-US" sz="2400" dirty="0">
                <a:solidFill>
                  <a:prstClr val="black"/>
                </a:solidFill>
                <a:latin typeface="微软雅黑" pitchFamily="34" charset="-122"/>
                <a:ea typeface="微软雅黑" pitchFamily="34" charset="-122"/>
              </a:rPr>
              <a:t>慢启动门限 </a:t>
            </a:r>
            <a:r>
              <a:rPr lang="en-US" altLang="zh-CN" sz="2400" dirty="0">
                <a:solidFill>
                  <a:prstClr val="black"/>
                </a:solidFill>
                <a:latin typeface="微软雅黑" pitchFamily="34" charset="-122"/>
                <a:ea typeface="微软雅黑" pitchFamily="34" charset="-122"/>
              </a:rPr>
              <a:t>ssthresh+3 </a:t>
            </a:r>
            <a:r>
              <a:rPr lang="zh-CN" altLang="en-US" sz="2400" dirty="0">
                <a:solidFill>
                  <a:prstClr val="black"/>
                </a:solidFill>
                <a:latin typeface="微软雅黑" pitchFamily="34" charset="-122"/>
                <a:ea typeface="微软雅黑" pitchFamily="34" charset="-122"/>
              </a:rPr>
              <a:t>；</a:t>
            </a:r>
          </a:p>
          <a:p>
            <a:pPr marL="631825" indent="-341313">
              <a:lnSpc>
                <a:spcPct val="150000"/>
              </a:lnSpc>
              <a:buClr>
                <a:srgbClr val="7030A0"/>
              </a:buClr>
              <a:buFont typeface="+mj-lt"/>
              <a:buAutoNum type="arabicPeriod" startAt="3"/>
            </a:pPr>
            <a:r>
              <a:rPr lang="zh-CN" altLang="en-US" sz="2400" dirty="0">
                <a:solidFill>
                  <a:prstClr val="black"/>
                </a:solidFill>
                <a:latin typeface="微软雅黑" pitchFamily="34" charset="-122"/>
                <a:ea typeface="微软雅黑" pitchFamily="34" charset="-122"/>
              </a:rPr>
              <a:t>执行拥塞避免算法，使拥塞窗口缓慢地</a:t>
            </a:r>
            <a:r>
              <a:rPr lang="zh-CN" altLang="en-US" sz="2400" dirty="0">
                <a:solidFill>
                  <a:srgbClr val="C00000"/>
                </a:solidFill>
                <a:latin typeface="微软雅黑" pitchFamily="34" charset="-122"/>
                <a:ea typeface="微软雅黑" pitchFamily="34" charset="-122"/>
              </a:rPr>
              <a:t>线性增大</a:t>
            </a:r>
            <a:r>
              <a:rPr lang="zh-CN" altLang="en-US" sz="2400" dirty="0">
                <a:solidFill>
                  <a:prstClr val="black"/>
                </a:solidFill>
                <a:latin typeface="微软雅黑" pitchFamily="34" charset="-122"/>
                <a:ea typeface="微软雅黑" pitchFamily="34" charset="-122"/>
              </a:rPr>
              <a:t>（</a:t>
            </a:r>
            <a:r>
              <a:rPr lang="zh-CN" altLang="en-US" sz="2400" dirty="0">
                <a:solidFill>
                  <a:srgbClr val="C00000"/>
                </a:solidFill>
                <a:latin typeface="微软雅黑" pitchFamily="34" charset="-122"/>
                <a:ea typeface="微软雅黑" pitchFamily="34" charset="-122"/>
              </a:rPr>
              <a:t>加法增大 </a:t>
            </a:r>
            <a:r>
              <a:rPr lang="en-US" altLang="zh-CN" sz="2400" dirty="0">
                <a:solidFill>
                  <a:srgbClr val="C00000"/>
                </a:solidFill>
                <a:latin typeface="微软雅黑" pitchFamily="34" charset="-122"/>
                <a:ea typeface="微软雅黑" pitchFamily="34" charset="-122"/>
              </a:rPr>
              <a:t>AI</a:t>
            </a:r>
            <a:r>
              <a:rPr lang="zh-CN" altLang="en-US" sz="2400" dirty="0">
                <a:solidFill>
                  <a:prstClr val="black"/>
                </a:solidFill>
                <a:latin typeface="微软雅黑" pitchFamily="34" charset="-122"/>
                <a:ea typeface="微软雅黑" pitchFamily="34" charset="-122"/>
              </a:rPr>
              <a:t>）。 </a:t>
            </a:r>
            <a:endParaRPr lang="en-US" altLang="zh-CN" sz="2400" dirty="0">
              <a:solidFill>
                <a:prstClr val="black"/>
              </a:solidFill>
              <a:latin typeface="微软雅黑" pitchFamily="34" charset="-122"/>
              <a:ea typeface="微软雅黑" pitchFamily="34" charset="-122"/>
            </a:endParaRPr>
          </a:p>
        </p:txBody>
      </p:sp>
      <p:sp>
        <p:nvSpPr>
          <p:cNvPr id="68" name="对角圆角矩形 5">
            <a:extLst>
              <a:ext uri="{FF2B5EF4-FFF2-40B4-BE49-F238E27FC236}">
                <a16:creationId xmlns:a16="http://schemas.microsoft.com/office/drawing/2014/main" id="{90CCBC47-B78A-B1D8-2984-E720934CB532}"/>
              </a:ext>
            </a:extLst>
          </p:cNvPr>
          <p:cNvSpPr/>
          <p:nvPr/>
        </p:nvSpPr>
        <p:spPr>
          <a:xfrm>
            <a:off x="1078116" y="5460463"/>
            <a:ext cx="7823464" cy="698457"/>
          </a:xfrm>
          <a:prstGeom prst="round2DiagRect">
            <a:avLst/>
          </a:prstGeom>
          <a:solidFill>
            <a:srgbClr val="0098F6"/>
          </a:solidFill>
          <a:ln w="25400" cap="flat" cmpd="sng" algn="ctr">
            <a:noFill/>
            <a:prstDash val="solid"/>
          </a:ln>
          <a:effectLst/>
          <a:scene3d>
            <a:camera prst="orthographicFront">
              <a:rot lat="0" lon="0" rev="0"/>
            </a:camera>
            <a:lightRig rig="glow" dir="t">
              <a:rot lat="0" lon="0" rev="14100000"/>
            </a:lightRig>
          </a:scene3d>
          <a:sp3d prstMaterial="softEdge">
            <a:bevelT w="127000" prst="artDeco"/>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9" name="矩形 68">
            <a:extLst>
              <a:ext uri="{FF2B5EF4-FFF2-40B4-BE49-F238E27FC236}">
                <a16:creationId xmlns:a16="http://schemas.microsoft.com/office/drawing/2014/main" id="{3FF66A44-0A52-9145-64F1-7CEE40CC0883}"/>
              </a:ext>
            </a:extLst>
          </p:cNvPr>
          <p:cNvSpPr/>
          <p:nvPr/>
        </p:nvSpPr>
        <p:spPr>
          <a:xfrm>
            <a:off x="1282954" y="5609636"/>
            <a:ext cx="7413788" cy="400110"/>
          </a:xfrm>
          <a:prstGeom prst="rect">
            <a:avLst/>
          </a:prstGeom>
        </p:spPr>
        <p:txBody>
          <a:bodyPr wrap="square">
            <a:spAutoFit/>
          </a:bodyPr>
          <a:lstStyle/>
          <a:p>
            <a:pPr>
              <a:lnSpc>
                <a:spcPts val="2400"/>
              </a:lnSpc>
            </a:pPr>
            <a:r>
              <a:rPr lang="zh-CN" altLang="en-US" sz="2000" b="1" dirty="0">
                <a:solidFill>
                  <a:prstClr val="white"/>
                </a:solidFill>
                <a:latin typeface="微软雅黑" pitchFamily="34" charset="-122"/>
                <a:ea typeface="微软雅黑" pitchFamily="34" charset="-122"/>
              </a:rPr>
              <a:t>二者合在一起就是所谓的 </a:t>
            </a:r>
            <a:r>
              <a:rPr lang="en-US" altLang="zh-CN" sz="2000" b="1" dirty="0">
                <a:solidFill>
                  <a:srgbClr val="FFFF00"/>
                </a:solidFill>
                <a:latin typeface="微软雅黑" pitchFamily="34" charset="-122"/>
                <a:ea typeface="微软雅黑" pitchFamily="34" charset="-122"/>
              </a:rPr>
              <a:t>AIMD</a:t>
            </a:r>
            <a:r>
              <a:rPr lang="en-US" altLang="zh-CN" sz="2000" b="1" dirty="0">
                <a:solidFill>
                  <a:prstClr val="white"/>
                </a:solidFill>
                <a:latin typeface="微软雅黑" pitchFamily="34" charset="-122"/>
                <a:ea typeface="微软雅黑" pitchFamily="34" charset="-122"/>
              </a:rPr>
              <a:t> </a:t>
            </a:r>
            <a:r>
              <a:rPr lang="zh-CN" altLang="en-US" sz="2000" b="1" dirty="0">
                <a:solidFill>
                  <a:prstClr val="white"/>
                </a:solidFill>
                <a:latin typeface="微软雅黑" pitchFamily="34" charset="-122"/>
                <a:ea typeface="微软雅黑" pitchFamily="34" charset="-122"/>
              </a:rPr>
              <a:t>算法，使 </a:t>
            </a:r>
            <a:r>
              <a:rPr lang="en-US" altLang="zh-CN" sz="2000" b="1" dirty="0">
                <a:solidFill>
                  <a:prstClr val="white"/>
                </a:solidFill>
                <a:latin typeface="微软雅黑" pitchFamily="34" charset="-122"/>
                <a:ea typeface="微软雅黑" pitchFamily="34" charset="-122"/>
              </a:rPr>
              <a:t>TCP </a:t>
            </a:r>
            <a:r>
              <a:rPr lang="zh-CN" altLang="en-US" sz="2000" b="1" dirty="0">
                <a:solidFill>
                  <a:prstClr val="white"/>
                </a:solidFill>
                <a:latin typeface="微软雅黑" pitchFamily="34" charset="-122"/>
                <a:ea typeface="微软雅黑" pitchFamily="34" charset="-122"/>
              </a:rPr>
              <a:t>性能有明显改进。</a:t>
            </a:r>
          </a:p>
        </p:txBody>
      </p:sp>
      <p:sp>
        <p:nvSpPr>
          <p:cNvPr id="2" name="灯片编号占位符 1">
            <a:extLst>
              <a:ext uri="{FF2B5EF4-FFF2-40B4-BE49-F238E27FC236}">
                <a16:creationId xmlns:a16="http://schemas.microsoft.com/office/drawing/2014/main" id="{F7A872BB-30C1-4A62-8093-28068C615400}"/>
              </a:ext>
            </a:extLst>
          </p:cNvPr>
          <p:cNvSpPr>
            <a:spLocks noGrp="1"/>
          </p:cNvSpPr>
          <p:nvPr>
            <p:ph type="sldNum" sz="quarter" idx="12"/>
          </p:nvPr>
        </p:nvSpPr>
        <p:spPr/>
        <p:txBody>
          <a:bodyPr/>
          <a:lstStyle/>
          <a:p>
            <a:fld id="{5956A083-5018-4B52-82A0-83241B8E3D94}" type="slidenum">
              <a:rPr lang="zh-CN" altLang="en-US" smtClean="0"/>
              <a:t>70</a:t>
            </a:fld>
            <a:endParaRPr lang="zh-CN" altLang="en-US"/>
          </a:p>
        </p:txBody>
      </p:sp>
    </p:spTree>
    <p:extLst>
      <p:ext uri="{BB962C8B-B14F-4D97-AF65-F5344CB8AC3E}">
        <p14:creationId xmlns:p14="http://schemas.microsoft.com/office/powerpoint/2010/main" val="7686054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F4942-EB6E-0AB7-25AD-F3EF0E092BD2}"/>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61BC2E56-4010-F3F0-1871-FBD84E2C83DA}"/>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EFFEB410-91EB-2AF6-D06B-5EDCD2EFC27F}"/>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FB0889B8-10D5-C720-3100-D042C2B799BD}"/>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058208A8-E0E9-BB8C-4CA1-12A3090FC707}"/>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26172970-76ED-B46F-D4CF-387E6B009BE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129" name="组合 128">
            <a:extLst>
              <a:ext uri="{FF2B5EF4-FFF2-40B4-BE49-F238E27FC236}">
                <a16:creationId xmlns:a16="http://schemas.microsoft.com/office/drawing/2014/main" id="{5524D13A-8A07-B48B-6090-F20B8F2D31F7}"/>
              </a:ext>
            </a:extLst>
          </p:cNvPr>
          <p:cNvGrpSpPr/>
          <p:nvPr/>
        </p:nvGrpSpPr>
        <p:grpSpPr>
          <a:xfrm>
            <a:off x="505664" y="1426139"/>
            <a:ext cx="6645148" cy="525530"/>
            <a:chOff x="722008" y="1303131"/>
            <a:chExt cx="6344982" cy="501792"/>
          </a:xfrm>
        </p:grpSpPr>
        <p:sp>
          <p:nvSpPr>
            <p:cNvPr id="130" name="流程图: 手动输入 6">
              <a:extLst>
                <a:ext uri="{FF2B5EF4-FFF2-40B4-BE49-F238E27FC236}">
                  <a16:creationId xmlns:a16="http://schemas.microsoft.com/office/drawing/2014/main" id="{17791A3B-733B-5BFD-4CE1-AC1F61333432}"/>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31" name="组合 130">
              <a:extLst>
                <a:ext uri="{FF2B5EF4-FFF2-40B4-BE49-F238E27FC236}">
                  <a16:creationId xmlns:a16="http://schemas.microsoft.com/office/drawing/2014/main" id="{F643721E-A779-7004-591D-4AF13B19EDA0}"/>
                </a:ext>
              </a:extLst>
            </p:cNvPr>
            <p:cNvGrpSpPr/>
            <p:nvPr/>
          </p:nvGrpSpPr>
          <p:grpSpPr>
            <a:xfrm>
              <a:off x="722008" y="1303131"/>
              <a:ext cx="546594" cy="475865"/>
              <a:chOff x="708742" y="1296102"/>
              <a:chExt cx="454744" cy="283828"/>
            </a:xfrm>
          </p:grpSpPr>
          <p:sp>
            <p:nvSpPr>
              <p:cNvPr id="133" name="平行四边形 132">
                <a:extLst>
                  <a:ext uri="{FF2B5EF4-FFF2-40B4-BE49-F238E27FC236}">
                    <a16:creationId xmlns:a16="http://schemas.microsoft.com/office/drawing/2014/main" id="{2BBAC4D5-9A42-FA0F-C486-F91328E27C30}"/>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34" name="平行四边形 133">
                <a:extLst>
                  <a:ext uri="{FF2B5EF4-FFF2-40B4-BE49-F238E27FC236}">
                    <a16:creationId xmlns:a16="http://schemas.microsoft.com/office/drawing/2014/main" id="{809D0E64-2F2B-E0E3-0A2F-0568C834A89E}"/>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32" name="Text Box 79">
              <a:extLst>
                <a:ext uri="{FF2B5EF4-FFF2-40B4-BE49-F238E27FC236}">
                  <a16:creationId xmlns:a16="http://schemas.microsoft.com/office/drawing/2014/main" id="{EC895D6D-A0F0-CC3A-BBB8-467EF9A63741}"/>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49" name="灯片编号占位符 48">
            <a:extLst>
              <a:ext uri="{FF2B5EF4-FFF2-40B4-BE49-F238E27FC236}">
                <a16:creationId xmlns:a16="http://schemas.microsoft.com/office/drawing/2014/main" id="{8C971562-A906-45FF-9E91-D613F9748CEE}"/>
              </a:ext>
            </a:extLst>
          </p:cNvPr>
          <p:cNvSpPr>
            <a:spLocks noGrp="1"/>
          </p:cNvSpPr>
          <p:nvPr>
            <p:ph type="sldNum" sz="quarter" idx="12"/>
          </p:nvPr>
        </p:nvSpPr>
        <p:spPr/>
        <p:txBody>
          <a:bodyPr/>
          <a:lstStyle/>
          <a:p>
            <a:fld id="{5956A083-5018-4B52-82A0-83241B8E3D94}" type="slidenum">
              <a:rPr lang="zh-CN" altLang="en-US" smtClean="0"/>
              <a:t>71</a:t>
            </a:fld>
            <a:endParaRPr lang="zh-CN" altLang="en-US"/>
          </a:p>
        </p:txBody>
      </p:sp>
      <p:sp>
        <p:nvSpPr>
          <p:cNvPr id="135" name="圆角矩形 150">
            <a:extLst>
              <a:ext uri="{FF2B5EF4-FFF2-40B4-BE49-F238E27FC236}">
                <a16:creationId xmlns:a16="http://schemas.microsoft.com/office/drawing/2014/main" id="{EC508BAE-9455-2848-AE23-09B5412A7CEC}"/>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36" name="组合 135">
            <a:extLst>
              <a:ext uri="{FF2B5EF4-FFF2-40B4-BE49-F238E27FC236}">
                <a16:creationId xmlns:a16="http://schemas.microsoft.com/office/drawing/2014/main" id="{A94D79A7-C97C-804D-8786-5FD0ECC7ABFA}"/>
              </a:ext>
            </a:extLst>
          </p:cNvPr>
          <p:cNvGrpSpPr/>
          <p:nvPr/>
        </p:nvGrpSpPr>
        <p:grpSpPr>
          <a:xfrm>
            <a:off x="3043104" y="2417895"/>
            <a:ext cx="6808860" cy="2262108"/>
            <a:chOff x="300646" y="840152"/>
            <a:chExt cx="9638211" cy="3093013"/>
          </a:xfrm>
        </p:grpSpPr>
        <p:sp>
          <p:nvSpPr>
            <p:cNvPr id="137" name="Text Box 140">
              <a:extLst>
                <a:ext uri="{FF2B5EF4-FFF2-40B4-BE49-F238E27FC236}">
                  <a16:creationId xmlns:a16="http://schemas.microsoft.com/office/drawing/2014/main" id="{1FCDBBD2-3262-3847-8E34-AA29CAF1218F}"/>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8" name="Line 2">
              <a:extLst>
                <a:ext uri="{FF2B5EF4-FFF2-40B4-BE49-F238E27FC236}">
                  <a16:creationId xmlns:a16="http://schemas.microsoft.com/office/drawing/2014/main" id="{C26AED0F-C718-FE48-B23F-ABC0BEFCAAA8}"/>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9" name="Line 3">
              <a:extLst>
                <a:ext uri="{FF2B5EF4-FFF2-40B4-BE49-F238E27FC236}">
                  <a16:creationId xmlns:a16="http://schemas.microsoft.com/office/drawing/2014/main" id="{6FB43AAA-FFF8-6147-A097-A665405AE6BE}"/>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0" name="Line 4">
              <a:extLst>
                <a:ext uri="{FF2B5EF4-FFF2-40B4-BE49-F238E27FC236}">
                  <a16:creationId xmlns:a16="http://schemas.microsoft.com/office/drawing/2014/main" id="{4C7901FD-398D-5043-9ACE-EBC66121461A}"/>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1" name="Line 5">
              <a:extLst>
                <a:ext uri="{FF2B5EF4-FFF2-40B4-BE49-F238E27FC236}">
                  <a16:creationId xmlns:a16="http://schemas.microsoft.com/office/drawing/2014/main" id="{71794ECE-850B-E54C-A513-45010CEB1516}"/>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2" name="Line 6">
              <a:extLst>
                <a:ext uri="{FF2B5EF4-FFF2-40B4-BE49-F238E27FC236}">
                  <a16:creationId xmlns:a16="http://schemas.microsoft.com/office/drawing/2014/main" id="{6189BEF2-B76B-F84B-9769-B59550D88B36}"/>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3" name="Line 7">
              <a:extLst>
                <a:ext uri="{FF2B5EF4-FFF2-40B4-BE49-F238E27FC236}">
                  <a16:creationId xmlns:a16="http://schemas.microsoft.com/office/drawing/2014/main" id="{2EABB5C4-C241-8444-8532-B64CFEC63F57}"/>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4" name="Line 8">
              <a:extLst>
                <a:ext uri="{FF2B5EF4-FFF2-40B4-BE49-F238E27FC236}">
                  <a16:creationId xmlns:a16="http://schemas.microsoft.com/office/drawing/2014/main" id="{F74A7A00-FE14-0D4C-BAA7-0F269506723F}"/>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5" name="Line 9">
              <a:extLst>
                <a:ext uri="{FF2B5EF4-FFF2-40B4-BE49-F238E27FC236}">
                  <a16:creationId xmlns:a16="http://schemas.microsoft.com/office/drawing/2014/main" id="{170BC69A-9391-204C-836A-925BC22775B3}"/>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6" name="Line 10">
              <a:extLst>
                <a:ext uri="{FF2B5EF4-FFF2-40B4-BE49-F238E27FC236}">
                  <a16:creationId xmlns:a16="http://schemas.microsoft.com/office/drawing/2014/main" id="{22753F70-3DA5-1242-AD03-3B15892E7917}"/>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7" name="Line 11">
              <a:extLst>
                <a:ext uri="{FF2B5EF4-FFF2-40B4-BE49-F238E27FC236}">
                  <a16:creationId xmlns:a16="http://schemas.microsoft.com/office/drawing/2014/main" id="{225ED489-4FD8-9C4F-ADA7-FA8C77228BCD}"/>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8" name="Line 12">
              <a:extLst>
                <a:ext uri="{FF2B5EF4-FFF2-40B4-BE49-F238E27FC236}">
                  <a16:creationId xmlns:a16="http://schemas.microsoft.com/office/drawing/2014/main" id="{051EE58E-8E56-9E46-B8F7-D7B8631659CA}"/>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9" name="Line 13">
              <a:extLst>
                <a:ext uri="{FF2B5EF4-FFF2-40B4-BE49-F238E27FC236}">
                  <a16:creationId xmlns:a16="http://schemas.microsoft.com/office/drawing/2014/main" id="{138BE6FA-3838-BA4A-87D1-AB08EFFDA601}"/>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0" name="Line 14">
              <a:extLst>
                <a:ext uri="{FF2B5EF4-FFF2-40B4-BE49-F238E27FC236}">
                  <a16:creationId xmlns:a16="http://schemas.microsoft.com/office/drawing/2014/main" id="{1EFEE950-805B-0B46-AEA4-3B3412323BA1}"/>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1" name="Line 15">
              <a:extLst>
                <a:ext uri="{FF2B5EF4-FFF2-40B4-BE49-F238E27FC236}">
                  <a16:creationId xmlns:a16="http://schemas.microsoft.com/office/drawing/2014/main" id="{80D1E434-4A51-CE4D-852E-6448C16A33E5}"/>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2" name="Line 16">
              <a:extLst>
                <a:ext uri="{FF2B5EF4-FFF2-40B4-BE49-F238E27FC236}">
                  <a16:creationId xmlns:a16="http://schemas.microsoft.com/office/drawing/2014/main" id="{13833ED7-8535-0644-9FCD-A8952170E032}"/>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3" name="Line 17">
              <a:extLst>
                <a:ext uri="{FF2B5EF4-FFF2-40B4-BE49-F238E27FC236}">
                  <a16:creationId xmlns:a16="http://schemas.microsoft.com/office/drawing/2014/main" id="{DBE425C0-A586-4C4A-A544-F39C298C17E7}"/>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4" name="Line 18">
              <a:extLst>
                <a:ext uri="{FF2B5EF4-FFF2-40B4-BE49-F238E27FC236}">
                  <a16:creationId xmlns:a16="http://schemas.microsoft.com/office/drawing/2014/main" id="{F9F5C90B-3AF5-CD4A-B8E8-002B494A9CA5}"/>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5" name="Line 19">
              <a:extLst>
                <a:ext uri="{FF2B5EF4-FFF2-40B4-BE49-F238E27FC236}">
                  <a16:creationId xmlns:a16="http://schemas.microsoft.com/office/drawing/2014/main" id="{13AF96DB-ABD6-2B49-8E67-79777FE0E0A4}"/>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6" name="Line 20">
              <a:extLst>
                <a:ext uri="{FF2B5EF4-FFF2-40B4-BE49-F238E27FC236}">
                  <a16:creationId xmlns:a16="http://schemas.microsoft.com/office/drawing/2014/main" id="{677E9EF3-33D1-4048-855E-7B783B267D82}"/>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7" name="Line 21">
              <a:extLst>
                <a:ext uri="{FF2B5EF4-FFF2-40B4-BE49-F238E27FC236}">
                  <a16:creationId xmlns:a16="http://schemas.microsoft.com/office/drawing/2014/main" id="{C82B352A-5FE8-6D43-B982-C1099F8EC6B2}"/>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8" name="Line 22">
              <a:extLst>
                <a:ext uri="{FF2B5EF4-FFF2-40B4-BE49-F238E27FC236}">
                  <a16:creationId xmlns:a16="http://schemas.microsoft.com/office/drawing/2014/main" id="{2273F960-04DC-D847-8CF5-FDC6607C9971}"/>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9" name="Line 23">
              <a:extLst>
                <a:ext uri="{FF2B5EF4-FFF2-40B4-BE49-F238E27FC236}">
                  <a16:creationId xmlns:a16="http://schemas.microsoft.com/office/drawing/2014/main" id="{80F7C8CB-B6A8-AD40-93F6-7E7C86E4D46A}"/>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0" name="Line 24">
              <a:extLst>
                <a:ext uri="{FF2B5EF4-FFF2-40B4-BE49-F238E27FC236}">
                  <a16:creationId xmlns:a16="http://schemas.microsoft.com/office/drawing/2014/main" id="{1B26B0CE-9D8E-6E4E-B57A-EE33B30D4540}"/>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1" name="Line 25">
              <a:extLst>
                <a:ext uri="{FF2B5EF4-FFF2-40B4-BE49-F238E27FC236}">
                  <a16:creationId xmlns:a16="http://schemas.microsoft.com/office/drawing/2014/main" id="{9C0AB732-E146-A74F-8F77-5F7347849E08}"/>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2" name="Line 40">
              <a:extLst>
                <a:ext uri="{FF2B5EF4-FFF2-40B4-BE49-F238E27FC236}">
                  <a16:creationId xmlns:a16="http://schemas.microsoft.com/office/drawing/2014/main" id="{787015D9-AF0D-FC41-82A0-DD0000A2A7A4}"/>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3" name="Line 41">
              <a:extLst>
                <a:ext uri="{FF2B5EF4-FFF2-40B4-BE49-F238E27FC236}">
                  <a16:creationId xmlns:a16="http://schemas.microsoft.com/office/drawing/2014/main" id="{83E6F6E5-FDA2-D742-8662-684150505797}"/>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4" name="Line 42">
              <a:extLst>
                <a:ext uri="{FF2B5EF4-FFF2-40B4-BE49-F238E27FC236}">
                  <a16:creationId xmlns:a16="http://schemas.microsoft.com/office/drawing/2014/main" id="{4CC8551B-A0E4-7A41-9D5D-B0EF26703CBC}"/>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5" name="Line 43">
              <a:extLst>
                <a:ext uri="{FF2B5EF4-FFF2-40B4-BE49-F238E27FC236}">
                  <a16:creationId xmlns:a16="http://schemas.microsoft.com/office/drawing/2014/main" id="{93BB74DF-8B3E-0544-B1CB-D5980498CAF7}"/>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6" name="Line 44">
              <a:extLst>
                <a:ext uri="{FF2B5EF4-FFF2-40B4-BE49-F238E27FC236}">
                  <a16:creationId xmlns:a16="http://schemas.microsoft.com/office/drawing/2014/main" id="{9132D4E4-252C-B447-8757-AF8FB5BB1D73}"/>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7" name="Line 45">
              <a:extLst>
                <a:ext uri="{FF2B5EF4-FFF2-40B4-BE49-F238E27FC236}">
                  <a16:creationId xmlns:a16="http://schemas.microsoft.com/office/drawing/2014/main" id="{93023C73-147A-B14B-86C0-A59F5273477B}"/>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8" name="Text Box 77">
              <a:extLst>
                <a:ext uri="{FF2B5EF4-FFF2-40B4-BE49-F238E27FC236}">
                  <a16:creationId xmlns:a16="http://schemas.microsoft.com/office/drawing/2014/main" id="{F22C9139-76B8-654F-9656-90BD9A418A36}"/>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169" name="Text Box 78">
              <a:extLst>
                <a:ext uri="{FF2B5EF4-FFF2-40B4-BE49-F238E27FC236}">
                  <a16:creationId xmlns:a16="http://schemas.microsoft.com/office/drawing/2014/main" id="{025CB034-7599-9140-93FA-CCA6A0618BF3}"/>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70" name="Text Box 79">
              <a:extLst>
                <a:ext uri="{FF2B5EF4-FFF2-40B4-BE49-F238E27FC236}">
                  <a16:creationId xmlns:a16="http://schemas.microsoft.com/office/drawing/2014/main" id="{94518AA9-9590-BE4E-AEA9-C9C0AFF03F47}"/>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171" name="Text Box 80">
              <a:extLst>
                <a:ext uri="{FF2B5EF4-FFF2-40B4-BE49-F238E27FC236}">
                  <a16:creationId xmlns:a16="http://schemas.microsoft.com/office/drawing/2014/main" id="{8EB15C3A-BC48-4D4F-9CF4-46822136E2F0}"/>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172" name="Text Box 81">
              <a:extLst>
                <a:ext uri="{FF2B5EF4-FFF2-40B4-BE49-F238E27FC236}">
                  <a16:creationId xmlns:a16="http://schemas.microsoft.com/office/drawing/2014/main" id="{D33939EA-7B5F-9F46-8E7C-4EFBB2CDB9BF}"/>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173" name="Text Box 82">
              <a:extLst>
                <a:ext uri="{FF2B5EF4-FFF2-40B4-BE49-F238E27FC236}">
                  <a16:creationId xmlns:a16="http://schemas.microsoft.com/office/drawing/2014/main" id="{3545FAA0-A554-5A49-BC44-E11F9CF4279D}"/>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74" name="Text Box 83">
              <a:extLst>
                <a:ext uri="{FF2B5EF4-FFF2-40B4-BE49-F238E27FC236}">
                  <a16:creationId xmlns:a16="http://schemas.microsoft.com/office/drawing/2014/main" id="{04F0E343-AC0F-E943-8F87-4633A8B69A28}"/>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175" name="Text Box 84">
              <a:extLst>
                <a:ext uri="{FF2B5EF4-FFF2-40B4-BE49-F238E27FC236}">
                  <a16:creationId xmlns:a16="http://schemas.microsoft.com/office/drawing/2014/main" id="{746A5930-A029-9344-B68A-4AEB23ED5D9E}"/>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76" name="Text Box 85">
              <a:extLst>
                <a:ext uri="{FF2B5EF4-FFF2-40B4-BE49-F238E27FC236}">
                  <a16:creationId xmlns:a16="http://schemas.microsoft.com/office/drawing/2014/main" id="{3C4418E0-899B-CB46-886E-AD81EF84D441}"/>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177" name="Text Box 86">
              <a:extLst>
                <a:ext uri="{FF2B5EF4-FFF2-40B4-BE49-F238E27FC236}">
                  <a16:creationId xmlns:a16="http://schemas.microsoft.com/office/drawing/2014/main" id="{E0084F0E-1F9B-8B44-96C0-A11C310E3AB9}"/>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78" name="Text Box 87">
              <a:extLst>
                <a:ext uri="{FF2B5EF4-FFF2-40B4-BE49-F238E27FC236}">
                  <a16:creationId xmlns:a16="http://schemas.microsoft.com/office/drawing/2014/main" id="{17D7914B-AE06-2D4C-B759-920B1A37ADD8}"/>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179" name="Text Box 89">
              <a:extLst>
                <a:ext uri="{FF2B5EF4-FFF2-40B4-BE49-F238E27FC236}">
                  <a16:creationId xmlns:a16="http://schemas.microsoft.com/office/drawing/2014/main" id="{95DC0849-18E0-C94F-BF7F-B40DD576CD7A}"/>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0" name="Text Box 90">
              <a:extLst>
                <a:ext uri="{FF2B5EF4-FFF2-40B4-BE49-F238E27FC236}">
                  <a16:creationId xmlns:a16="http://schemas.microsoft.com/office/drawing/2014/main" id="{A451EDAE-6C00-954E-9A23-7646BB8DFE10}"/>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1" name="Text Box 91">
              <a:extLst>
                <a:ext uri="{FF2B5EF4-FFF2-40B4-BE49-F238E27FC236}">
                  <a16:creationId xmlns:a16="http://schemas.microsoft.com/office/drawing/2014/main" id="{BA53F1F3-2CD4-384B-91E9-57F9B7129A2F}"/>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82" name="Text Box 92">
              <a:extLst>
                <a:ext uri="{FF2B5EF4-FFF2-40B4-BE49-F238E27FC236}">
                  <a16:creationId xmlns:a16="http://schemas.microsoft.com/office/drawing/2014/main" id="{778C808E-3AC8-164C-86C2-95CBFDFB7DCB}"/>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183" name="Text Box 93">
              <a:extLst>
                <a:ext uri="{FF2B5EF4-FFF2-40B4-BE49-F238E27FC236}">
                  <a16:creationId xmlns:a16="http://schemas.microsoft.com/office/drawing/2014/main" id="{A816191A-A500-B746-8E95-3422CC6EBC6F}"/>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84" name="Text Box 94">
              <a:extLst>
                <a:ext uri="{FF2B5EF4-FFF2-40B4-BE49-F238E27FC236}">
                  <a16:creationId xmlns:a16="http://schemas.microsoft.com/office/drawing/2014/main" id="{B803554A-8A02-B549-A77D-23A5B9087C09}"/>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85" name="Text Box 95">
              <a:extLst>
                <a:ext uri="{FF2B5EF4-FFF2-40B4-BE49-F238E27FC236}">
                  <a16:creationId xmlns:a16="http://schemas.microsoft.com/office/drawing/2014/main" id="{DBDFC7AC-8ABA-2B46-AAE1-0D2CCFB0DBD5}"/>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86" name="Text Box 96">
              <a:extLst>
                <a:ext uri="{FF2B5EF4-FFF2-40B4-BE49-F238E27FC236}">
                  <a16:creationId xmlns:a16="http://schemas.microsoft.com/office/drawing/2014/main" id="{CDD8100F-4EB6-AD4E-891E-2EC0A30D5C1E}"/>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187" name="Oval 102">
              <a:extLst>
                <a:ext uri="{FF2B5EF4-FFF2-40B4-BE49-F238E27FC236}">
                  <a16:creationId xmlns:a16="http://schemas.microsoft.com/office/drawing/2014/main" id="{FA09ED97-15EE-C74B-831C-68E656A19D02}"/>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8" name="Oval 103">
              <a:extLst>
                <a:ext uri="{FF2B5EF4-FFF2-40B4-BE49-F238E27FC236}">
                  <a16:creationId xmlns:a16="http://schemas.microsoft.com/office/drawing/2014/main" id="{3EDA274C-AFCA-CE44-9A24-B1C917874C66}"/>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9" name="Oval 104">
              <a:extLst>
                <a:ext uri="{FF2B5EF4-FFF2-40B4-BE49-F238E27FC236}">
                  <a16:creationId xmlns:a16="http://schemas.microsoft.com/office/drawing/2014/main" id="{D0A4B4B1-EE36-5B4D-9F46-361E74CC13BB}"/>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0" name="Oval 105">
              <a:extLst>
                <a:ext uri="{FF2B5EF4-FFF2-40B4-BE49-F238E27FC236}">
                  <a16:creationId xmlns:a16="http://schemas.microsoft.com/office/drawing/2014/main" id="{3145AF32-804D-7149-A9C5-988FB883C309}"/>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1" name="Oval 106">
              <a:extLst>
                <a:ext uri="{FF2B5EF4-FFF2-40B4-BE49-F238E27FC236}">
                  <a16:creationId xmlns:a16="http://schemas.microsoft.com/office/drawing/2014/main" id="{2E175183-234C-6D40-A519-3F6ED3CCD83E}"/>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2" name="Oval 107">
              <a:extLst>
                <a:ext uri="{FF2B5EF4-FFF2-40B4-BE49-F238E27FC236}">
                  <a16:creationId xmlns:a16="http://schemas.microsoft.com/office/drawing/2014/main" id="{24AF6430-E474-1D45-9001-58A9D747C356}"/>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3" name="Oval 108">
              <a:extLst>
                <a:ext uri="{FF2B5EF4-FFF2-40B4-BE49-F238E27FC236}">
                  <a16:creationId xmlns:a16="http://schemas.microsoft.com/office/drawing/2014/main" id="{E15CC1F0-CD49-D947-9146-6FF8AAF60F73}"/>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4" name="Oval 109">
              <a:extLst>
                <a:ext uri="{FF2B5EF4-FFF2-40B4-BE49-F238E27FC236}">
                  <a16:creationId xmlns:a16="http://schemas.microsoft.com/office/drawing/2014/main" id="{957372F2-8510-9D49-A1C8-66A271E967BE}"/>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5" name="Oval 110">
              <a:extLst>
                <a:ext uri="{FF2B5EF4-FFF2-40B4-BE49-F238E27FC236}">
                  <a16:creationId xmlns:a16="http://schemas.microsoft.com/office/drawing/2014/main" id="{8E9D6BD2-E9DF-F544-AB81-1A86D398D49E}"/>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6" name="Oval 113">
              <a:extLst>
                <a:ext uri="{FF2B5EF4-FFF2-40B4-BE49-F238E27FC236}">
                  <a16:creationId xmlns:a16="http://schemas.microsoft.com/office/drawing/2014/main" id="{182FA22C-2B6A-8041-9C48-774C3817BB9D}"/>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7" name="Oval 114">
              <a:extLst>
                <a:ext uri="{FF2B5EF4-FFF2-40B4-BE49-F238E27FC236}">
                  <a16:creationId xmlns:a16="http://schemas.microsoft.com/office/drawing/2014/main" id="{9D88CE77-DD05-9148-8A6A-B838DA022522}"/>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8" name="Oval 116">
              <a:extLst>
                <a:ext uri="{FF2B5EF4-FFF2-40B4-BE49-F238E27FC236}">
                  <a16:creationId xmlns:a16="http://schemas.microsoft.com/office/drawing/2014/main" id="{532B4377-5092-3947-9447-5A20A7592F08}"/>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9" name="Oval 117">
              <a:extLst>
                <a:ext uri="{FF2B5EF4-FFF2-40B4-BE49-F238E27FC236}">
                  <a16:creationId xmlns:a16="http://schemas.microsoft.com/office/drawing/2014/main" id="{0F6533DE-C220-6D48-B669-D3389BFED9DC}"/>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0" name="Freeform 118">
              <a:extLst>
                <a:ext uri="{FF2B5EF4-FFF2-40B4-BE49-F238E27FC236}">
                  <a16:creationId xmlns:a16="http://schemas.microsoft.com/office/drawing/2014/main" id="{4B66332B-B0F4-D74C-837B-AF3DA8259019}"/>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1" name="Text Box 134">
              <a:extLst>
                <a:ext uri="{FF2B5EF4-FFF2-40B4-BE49-F238E27FC236}">
                  <a16:creationId xmlns:a16="http://schemas.microsoft.com/office/drawing/2014/main" id="{EF505507-A0D6-D84D-B14D-1F9D07ED4C2C}"/>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02" name="Text Box 135">
              <a:extLst>
                <a:ext uri="{FF2B5EF4-FFF2-40B4-BE49-F238E27FC236}">
                  <a16:creationId xmlns:a16="http://schemas.microsoft.com/office/drawing/2014/main" id="{0166DA67-BBC8-FA4E-9F70-2A7B543558E7}"/>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203" name="Text Box 140">
              <a:extLst>
                <a:ext uri="{FF2B5EF4-FFF2-40B4-BE49-F238E27FC236}">
                  <a16:creationId xmlns:a16="http://schemas.microsoft.com/office/drawing/2014/main" id="{F9D312C1-4628-BF4B-993E-276DFF37AD48}"/>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204" name="Line 156">
              <a:extLst>
                <a:ext uri="{FF2B5EF4-FFF2-40B4-BE49-F238E27FC236}">
                  <a16:creationId xmlns:a16="http://schemas.microsoft.com/office/drawing/2014/main" id="{32A6292D-9919-B84B-AA8B-3487A397926F}"/>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5" name="Line 146">
              <a:extLst>
                <a:ext uri="{FF2B5EF4-FFF2-40B4-BE49-F238E27FC236}">
                  <a16:creationId xmlns:a16="http://schemas.microsoft.com/office/drawing/2014/main" id="{3DAE04D0-070E-E944-97EE-88BD7EECF7CB}"/>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6" name="Text Box 203">
              <a:extLst>
                <a:ext uri="{FF2B5EF4-FFF2-40B4-BE49-F238E27FC236}">
                  <a16:creationId xmlns:a16="http://schemas.microsoft.com/office/drawing/2014/main" id="{43AC5AFB-62E1-BA40-9837-D8B167926EB8}"/>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207" name="Text Box 205">
              <a:extLst>
                <a:ext uri="{FF2B5EF4-FFF2-40B4-BE49-F238E27FC236}">
                  <a16:creationId xmlns:a16="http://schemas.microsoft.com/office/drawing/2014/main" id="{DEF42FF9-1B9B-094E-9B8D-162C2E9B764F}"/>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208" name="Line 215">
              <a:extLst>
                <a:ext uri="{FF2B5EF4-FFF2-40B4-BE49-F238E27FC236}">
                  <a16:creationId xmlns:a16="http://schemas.microsoft.com/office/drawing/2014/main" id="{F54C16C2-EB59-7045-805F-16047A138C68}"/>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9" name="Text Box 206">
              <a:extLst>
                <a:ext uri="{FF2B5EF4-FFF2-40B4-BE49-F238E27FC236}">
                  <a16:creationId xmlns:a16="http://schemas.microsoft.com/office/drawing/2014/main" id="{7394BDC3-5C9C-6040-81B8-D3C55248EFDE}"/>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10" name="Oval 125">
              <a:extLst>
                <a:ext uri="{FF2B5EF4-FFF2-40B4-BE49-F238E27FC236}">
                  <a16:creationId xmlns:a16="http://schemas.microsoft.com/office/drawing/2014/main" id="{9D068A07-A5E7-6A43-8E42-2F2F890B9A37}"/>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1" name="Oval 126">
              <a:extLst>
                <a:ext uri="{FF2B5EF4-FFF2-40B4-BE49-F238E27FC236}">
                  <a16:creationId xmlns:a16="http://schemas.microsoft.com/office/drawing/2014/main" id="{05845FD2-70C4-5545-AF45-FD1E18330210}"/>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2" name="Oval 127">
              <a:extLst>
                <a:ext uri="{FF2B5EF4-FFF2-40B4-BE49-F238E27FC236}">
                  <a16:creationId xmlns:a16="http://schemas.microsoft.com/office/drawing/2014/main" id="{210EA2C2-340F-0D46-8040-987F70E10304}"/>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3" name="Oval 128">
              <a:extLst>
                <a:ext uri="{FF2B5EF4-FFF2-40B4-BE49-F238E27FC236}">
                  <a16:creationId xmlns:a16="http://schemas.microsoft.com/office/drawing/2014/main" id="{9B3BADC5-62F5-C945-95EB-FB5AE723CC03}"/>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4" name="Oval 129">
              <a:extLst>
                <a:ext uri="{FF2B5EF4-FFF2-40B4-BE49-F238E27FC236}">
                  <a16:creationId xmlns:a16="http://schemas.microsoft.com/office/drawing/2014/main" id="{88447F42-7B4E-AE4C-BFDF-36506522440A}"/>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5" name="Oval 130">
              <a:extLst>
                <a:ext uri="{FF2B5EF4-FFF2-40B4-BE49-F238E27FC236}">
                  <a16:creationId xmlns:a16="http://schemas.microsoft.com/office/drawing/2014/main" id="{C71D6CC5-CBF4-3B4C-A762-A815B89210A0}"/>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6" name="Oval 131">
              <a:extLst>
                <a:ext uri="{FF2B5EF4-FFF2-40B4-BE49-F238E27FC236}">
                  <a16:creationId xmlns:a16="http://schemas.microsoft.com/office/drawing/2014/main" id="{20A6274E-E226-0244-9F56-F6D65D06BC24}"/>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7" name="Oval 132">
              <a:extLst>
                <a:ext uri="{FF2B5EF4-FFF2-40B4-BE49-F238E27FC236}">
                  <a16:creationId xmlns:a16="http://schemas.microsoft.com/office/drawing/2014/main" id="{52485099-01FC-1249-9F37-757AD0695A3C}"/>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8" name="Line 147">
              <a:extLst>
                <a:ext uri="{FF2B5EF4-FFF2-40B4-BE49-F238E27FC236}">
                  <a16:creationId xmlns:a16="http://schemas.microsoft.com/office/drawing/2014/main" id="{8599A07B-BF23-4A48-8C40-FB7456D3FC28}"/>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19" name="直接连接符 115">
              <a:extLst>
                <a:ext uri="{FF2B5EF4-FFF2-40B4-BE49-F238E27FC236}">
                  <a16:creationId xmlns:a16="http://schemas.microsoft.com/office/drawing/2014/main" id="{12A9BBD2-521F-A944-90C7-99562CC99182}"/>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20" name="Rectangle 161">
              <a:extLst>
                <a:ext uri="{FF2B5EF4-FFF2-40B4-BE49-F238E27FC236}">
                  <a16:creationId xmlns:a16="http://schemas.microsoft.com/office/drawing/2014/main" id="{B4500DB0-8468-EE41-A5FE-CBE1ECD217AA}"/>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221" name="Oval 129">
              <a:extLst>
                <a:ext uri="{FF2B5EF4-FFF2-40B4-BE49-F238E27FC236}">
                  <a16:creationId xmlns:a16="http://schemas.microsoft.com/office/drawing/2014/main" id="{8DA859C1-55B2-6C41-87B9-45121A086F22}"/>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2" name="任意多边形 134">
              <a:extLst>
                <a:ext uri="{FF2B5EF4-FFF2-40B4-BE49-F238E27FC236}">
                  <a16:creationId xmlns:a16="http://schemas.microsoft.com/office/drawing/2014/main" id="{EA360F3E-6E84-6044-BF5F-B6BCF7A100CE}"/>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3" name="Rectangle 161">
              <a:extLst>
                <a:ext uri="{FF2B5EF4-FFF2-40B4-BE49-F238E27FC236}">
                  <a16:creationId xmlns:a16="http://schemas.microsoft.com/office/drawing/2014/main" id="{DBE334BA-7F7C-E34F-B770-EBD2A2410198}"/>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224" name="直接连接符 119">
              <a:extLst>
                <a:ext uri="{FF2B5EF4-FFF2-40B4-BE49-F238E27FC236}">
                  <a16:creationId xmlns:a16="http://schemas.microsoft.com/office/drawing/2014/main" id="{0E596E60-FF98-284D-814B-769FBCD6E9B7}"/>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25" name="直接连接符 121">
              <a:extLst>
                <a:ext uri="{FF2B5EF4-FFF2-40B4-BE49-F238E27FC236}">
                  <a16:creationId xmlns:a16="http://schemas.microsoft.com/office/drawing/2014/main" id="{035A8FFD-4AC4-D947-B0DE-82A05265C262}"/>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26" name="Line 24">
              <a:extLst>
                <a:ext uri="{FF2B5EF4-FFF2-40B4-BE49-F238E27FC236}">
                  <a16:creationId xmlns:a16="http://schemas.microsoft.com/office/drawing/2014/main" id="{A6B186FF-2AF8-AA4B-8CC9-DEE78FC022C2}"/>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7" name="Line 22">
              <a:extLst>
                <a:ext uri="{FF2B5EF4-FFF2-40B4-BE49-F238E27FC236}">
                  <a16:creationId xmlns:a16="http://schemas.microsoft.com/office/drawing/2014/main" id="{8E7A2ADA-52A5-B344-BBA5-342649DB8F5B}"/>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8" name="Text Box 87">
              <a:extLst>
                <a:ext uri="{FF2B5EF4-FFF2-40B4-BE49-F238E27FC236}">
                  <a16:creationId xmlns:a16="http://schemas.microsoft.com/office/drawing/2014/main" id="{8D89213C-7C09-364D-A2AD-5B0B2CB17698}"/>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229" name="Line 22">
              <a:extLst>
                <a:ext uri="{FF2B5EF4-FFF2-40B4-BE49-F238E27FC236}">
                  <a16:creationId xmlns:a16="http://schemas.microsoft.com/office/drawing/2014/main" id="{9FEC1F73-E84C-A24F-97D6-3D4D962D1785}"/>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30" name="直接连接符 134">
              <a:extLst>
                <a:ext uri="{FF2B5EF4-FFF2-40B4-BE49-F238E27FC236}">
                  <a16:creationId xmlns:a16="http://schemas.microsoft.com/office/drawing/2014/main" id="{EC84B855-7B15-AB41-9AA5-3683474D3781}"/>
                </a:ext>
              </a:extLst>
            </p:cNvPr>
            <p:cNvCxnSpPr>
              <a:cxnSpLocks noChangeShapeType="1"/>
              <a:stCxn id="222" idx="4"/>
            </p:cNvCxnSpPr>
            <p:nvPr/>
          </p:nvCxnSpPr>
          <p:spPr bwMode="auto">
            <a:xfrm>
              <a:off x="6706617" y="2109019"/>
              <a:ext cx="200025" cy="785812"/>
            </a:xfrm>
            <a:prstGeom prst="line">
              <a:avLst/>
            </a:prstGeom>
            <a:noFill/>
            <a:ln w="19050" algn="ctr">
              <a:solidFill>
                <a:srgbClr val="0000FF"/>
              </a:solidFill>
              <a:round/>
              <a:headEnd/>
              <a:tailEnd/>
            </a:ln>
          </p:spPr>
        </p:cxnSp>
        <p:sp>
          <p:nvSpPr>
            <p:cNvPr id="231" name="Text Box 206">
              <a:extLst>
                <a:ext uri="{FF2B5EF4-FFF2-40B4-BE49-F238E27FC236}">
                  <a16:creationId xmlns:a16="http://schemas.microsoft.com/office/drawing/2014/main" id="{E0D18B9D-AF80-9441-8680-914C722B4424}"/>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2" name="Text Box 206">
              <a:extLst>
                <a:ext uri="{FF2B5EF4-FFF2-40B4-BE49-F238E27FC236}">
                  <a16:creationId xmlns:a16="http://schemas.microsoft.com/office/drawing/2014/main" id="{E8249706-6CDF-224A-AA0E-4CFEA4F113E0}"/>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3" name="TextBox 147">
              <a:extLst>
                <a:ext uri="{FF2B5EF4-FFF2-40B4-BE49-F238E27FC236}">
                  <a16:creationId xmlns:a16="http://schemas.microsoft.com/office/drawing/2014/main" id="{BF7903E8-749F-9A4A-913A-CE22CB151070}"/>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34" name="TextBox 148">
              <a:extLst>
                <a:ext uri="{FF2B5EF4-FFF2-40B4-BE49-F238E27FC236}">
                  <a16:creationId xmlns:a16="http://schemas.microsoft.com/office/drawing/2014/main" id="{438D738D-490A-4C47-A6F7-3C3548A12160}"/>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235" name="直接连接符 153">
              <a:extLst>
                <a:ext uri="{FF2B5EF4-FFF2-40B4-BE49-F238E27FC236}">
                  <a16:creationId xmlns:a16="http://schemas.microsoft.com/office/drawing/2014/main" id="{8C43232D-30EC-654A-A92D-333A760D8684}"/>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36" name="直接连接符 119">
              <a:extLst>
                <a:ext uri="{FF2B5EF4-FFF2-40B4-BE49-F238E27FC236}">
                  <a16:creationId xmlns:a16="http://schemas.microsoft.com/office/drawing/2014/main" id="{887AA1DE-CA79-9A41-A6C9-AD457E2820B8}"/>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7" name="直接连接符 141">
              <a:extLst>
                <a:ext uri="{FF2B5EF4-FFF2-40B4-BE49-F238E27FC236}">
                  <a16:creationId xmlns:a16="http://schemas.microsoft.com/office/drawing/2014/main" id="{68A8E023-743B-C940-8FDC-FA2645D7C278}"/>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238" name="Oval 202">
              <a:extLst>
                <a:ext uri="{FF2B5EF4-FFF2-40B4-BE49-F238E27FC236}">
                  <a16:creationId xmlns:a16="http://schemas.microsoft.com/office/drawing/2014/main" id="{DCFBA477-F8C9-FE41-9F4B-6F87880B053C}"/>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9" name="Oval 130">
              <a:extLst>
                <a:ext uri="{FF2B5EF4-FFF2-40B4-BE49-F238E27FC236}">
                  <a16:creationId xmlns:a16="http://schemas.microsoft.com/office/drawing/2014/main" id="{5D9440AC-4BC7-7C49-95F6-0B00C1FEB6C3}"/>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0" name="Oval 130">
              <a:extLst>
                <a:ext uri="{FF2B5EF4-FFF2-40B4-BE49-F238E27FC236}">
                  <a16:creationId xmlns:a16="http://schemas.microsoft.com/office/drawing/2014/main" id="{0436E3E1-6DB2-6540-A3F2-558153EF8FEE}"/>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1" name="TextBox 149">
              <a:extLst>
                <a:ext uri="{FF2B5EF4-FFF2-40B4-BE49-F238E27FC236}">
                  <a16:creationId xmlns:a16="http://schemas.microsoft.com/office/drawing/2014/main" id="{EE587516-83F3-F54C-B367-7FDDFAE09619}"/>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42" name="Oval 202">
              <a:extLst>
                <a:ext uri="{FF2B5EF4-FFF2-40B4-BE49-F238E27FC236}">
                  <a16:creationId xmlns:a16="http://schemas.microsoft.com/office/drawing/2014/main" id="{CDDD744F-7F88-0B43-9721-C7CA2A2B18F8}"/>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43" name="直接连接符 126">
              <a:extLst>
                <a:ext uri="{FF2B5EF4-FFF2-40B4-BE49-F238E27FC236}">
                  <a16:creationId xmlns:a16="http://schemas.microsoft.com/office/drawing/2014/main" id="{8A966D9E-7914-A341-9072-87D76BE6E4B7}"/>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44" name="直接连接符 119">
              <a:extLst>
                <a:ext uri="{FF2B5EF4-FFF2-40B4-BE49-F238E27FC236}">
                  <a16:creationId xmlns:a16="http://schemas.microsoft.com/office/drawing/2014/main" id="{C17EF118-E16A-0141-ADB9-1731EFEE50EE}"/>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45" name="Text Box 140">
            <a:extLst>
              <a:ext uri="{FF2B5EF4-FFF2-40B4-BE49-F238E27FC236}">
                <a16:creationId xmlns:a16="http://schemas.microsoft.com/office/drawing/2014/main" id="{A663C0B6-354B-3844-AD6C-00F6DFE71886}"/>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246" name="Line 167">
            <a:extLst>
              <a:ext uri="{FF2B5EF4-FFF2-40B4-BE49-F238E27FC236}">
                <a16:creationId xmlns:a16="http://schemas.microsoft.com/office/drawing/2014/main" id="{C2B1BF73-9B4E-5142-9373-A983D7387B30}"/>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sp>
        <p:nvSpPr>
          <p:cNvPr id="247" name="Line 147">
            <a:extLst>
              <a:ext uri="{FF2B5EF4-FFF2-40B4-BE49-F238E27FC236}">
                <a16:creationId xmlns:a16="http://schemas.microsoft.com/office/drawing/2014/main" id="{9B913FE5-2905-F24F-AE82-928998E69A73}"/>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8" name="Oval 130">
            <a:extLst>
              <a:ext uri="{FF2B5EF4-FFF2-40B4-BE49-F238E27FC236}">
                <a16:creationId xmlns:a16="http://schemas.microsoft.com/office/drawing/2014/main" id="{A491F27B-7935-2442-8DF3-305B60B7AAF0}"/>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9" name="Text Box 93">
            <a:extLst>
              <a:ext uri="{FF2B5EF4-FFF2-40B4-BE49-F238E27FC236}">
                <a16:creationId xmlns:a16="http://schemas.microsoft.com/office/drawing/2014/main" id="{453BAE1B-5855-284B-B81A-CF38C809BC5F}"/>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
        <p:nvSpPr>
          <p:cNvPr id="252" name="Line 167">
            <a:extLst>
              <a:ext uri="{FF2B5EF4-FFF2-40B4-BE49-F238E27FC236}">
                <a16:creationId xmlns:a16="http://schemas.microsoft.com/office/drawing/2014/main" id="{AA46E8EB-3C81-8649-B40F-E41E73EBB0A4}"/>
              </a:ext>
            </a:extLst>
          </p:cNvPr>
          <p:cNvSpPr>
            <a:spLocks noChangeShapeType="1"/>
          </p:cNvSpPr>
          <p:nvPr/>
        </p:nvSpPr>
        <p:spPr bwMode="auto">
          <a:xfrm flipV="1">
            <a:off x="7309676" y="3727406"/>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a:defRPr/>
            </a:pPr>
            <a:endParaRPr lang="zh-CN" altLang="en-US" sz="2400" b="1" kern="0" dirty="0">
              <a:solidFill>
                <a:sysClr val="windowText" lastClr="000000"/>
              </a:solidFill>
              <a:latin typeface="Calibri"/>
              <a:ea typeface="宋体" panose="02010600030101010101" pitchFamily="2" charset="-122"/>
            </a:endParaRPr>
          </a:p>
        </p:txBody>
      </p:sp>
      <p:sp>
        <p:nvSpPr>
          <p:cNvPr id="250" name="Text Box 155">
            <a:extLst>
              <a:ext uri="{FF2B5EF4-FFF2-40B4-BE49-F238E27FC236}">
                <a16:creationId xmlns:a16="http://schemas.microsoft.com/office/drawing/2014/main" id="{D9BCAA68-BC92-7148-9DC8-ABF135E5A3AD}"/>
              </a:ext>
            </a:extLst>
          </p:cNvPr>
          <p:cNvSpPr txBox="1">
            <a:spLocks noChangeArrowheads="1"/>
          </p:cNvSpPr>
          <p:nvPr/>
        </p:nvSpPr>
        <p:spPr bwMode="auto">
          <a:xfrm>
            <a:off x="3381326" y="4769527"/>
            <a:ext cx="6316124"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16 </a:t>
            </a:r>
            <a:r>
              <a:rPr lang="zh-CN" altLang="en-US" sz="1600" b="1" dirty="0">
                <a:solidFill>
                  <a:srgbClr val="0000FF"/>
                </a:solidFill>
                <a:latin typeface="微软雅黑" pitchFamily="34" charset="-122"/>
                <a:ea typeface="微软雅黑" pitchFamily="34" charset="-122"/>
              </a:rPr>
              <a:t>时，发送方连续收到 </a:t>
            </a:r>
            <a:r>
              <a:rPr lang="en-US" altLang="zh-CN" sz="1600" b="1" dirty="0">
                <a:solidFill>
                  <a:srgbClr val="0000FF"/>
                </a:solidFill>
                <a:latin typeface="微软雅黑" pitchFamily="34" charset="-122"/>
                <a:ea typeface="微软雅黑" pitchFamily="34" charset="-122"/>
              </a:rPr>
              <a:t>3 </a:t>
            </a:r>
            <a:r>
              <a:rPr lang="zh-CN" altLang="en-US" sz="1600" b="1" dirty="0">
                <a:solidFill>
                  <a:srgbClr val="0000FF"/>
                </a:solidFill>
                <a:latin typeface="微软雅黑" pitchFamily="34" charset="-122"/>
                <a:ea typeface="微软雅黑" pitchFamily="34" charset="-122"/>
              </a:rPr>
              <a:t>个对同一个报文段的重复确认（记为 </a:t>
            </a:r>
            <a:r>
              <a:rPr lang="en-US" altLang="zh-CN" sz="1600" b="1" dirty="0">
                <a:solidFill>
                  <a:srgbClr val="0000FF"/>
                </a:solidFill>
                <a:latin typeface="微软雅黑" pitchFamily="34" charset="-122"/>
                <a:ea typeface="微软雅黑" pitchFamily="34" charset="-122"/>
              </a:rPr>
              <a:t>3-ACK</a:t>
            </a:r>
            <a:r>
              <a:rPr lang="zh-CN" altLang="en-US" sz="1600" b="1" dirty="0">
                <a:solidFill>
                  <a:srgbClr val="0000FF"/>
                </a:solidFill>
                <a:latin typeface="微软雅黑" pitchFamily="34" charset="-122"/>
                <a:ea typeface="微软雅黑" pitchFamily="34" charset="-122"/>
              </a:rPr>
              <a:t>）。发送方改为执行</a:t>
            </a:r>
            <a:r>
              <a:rPr lang="zh-CN" altLang="en-US" sz="1600" b="1" dirty="0">
                <a:solidFill>
                  <a:srgbClr val="C00000"/>
                </a:solidFill>
                <a:latin typeface="微软雅黑" pitchFamily="34" charset="-122"/>
                <a:ea typeface="微软雅黑" pitchFamily="34" charset="-122"/>
              </a:rPr>
              <a:t>快重传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快恢复</a:t>
            </a:r>
            <a:r>
              <a:rPr lang="zh-CN" altLang="en-US" sz="1600" b="1" dirty="0">
                <a:solidFill>
                  <a:srgbClr val="0000FF"/>
                </a:solidFill>
                <a:latin typeface="微软雅黑" pitchFamily="34" charset="-122"/>
                <a:ea typeface="微软雅黑" pitchFamily="34" charset="-122"/>
              </a:rPr>
              <a:t>算法。</a:t>
            </a:r>
          </a:p>
        </p:txBody>
      </p:sp>
    </p:spTree>
    <p:extLst>
      <p:ext uri="{BB962C8B-B14F-4D97-AF65-F5344CB8AC3E}">
        <p14:creationId xmlns:p14="http://schemas.microsoft.com/office/powerpoint/2010/main" val="1529883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F4942-EB6E-0AB7-25AD-F3EF0E092BD2}"/>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61BC2E56-4010-F3F0-1871-FBD84E2C83DA}"/>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EFFEB410-91EB-2AF6-D06B-5EDCD2EFC27F}"/>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FB0889B8-10D5-C720-3100-D042C2B799BD}"/>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058208A8-E0E9-BB8C-4CA1-12A3090FC707}"/>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26172970-76ED-B46F-D4CF-387E6B009BE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129" name="组合 128">
            <a:extLst>
              <a:ext uri="{FF2B5EF4-FFF2-40B4-BE49-F238E27FC236}">
                <a16:creationId xmlns:a16="http://schemas.microsoft.com/office/drawing/2014/main" id="{5524D13A-8A07-B48B-6090-F20B8F2D31F7}"/>
              </a:ext>
            </a:extLst>
          </p:cNvPr>
          <p:cNvGrpSpPr/>
          <p:nvPr/>
        </p:nvGrpSpPr>
        <p:grpSpPr>
          <a:xfrm>
            <a:off x="505664" y="1426139"/>
            <a:ext cx="6645148" cy="525530"/>
            <a:chOff x="722008" y="1303131"/>
            <a:chExt cx="6344982" cy="501792"/>
          </a:xfrm>
        </p:grpSpPr>
        <p:sp>
          <p:nvSpPr>
            <p:cNvPr id="130" name="流程图: 手动输入 6">
              <a:extLst>
                <a:ext uri="{FF2B5EF4-FFF2-40B4-BE49-F238E27FC236}">
                  <a16:creationId xmlns:a16="http://schemas.microsoft.com/office/drawing/2014/main" id="{17791A3B-733B-5BFD-4CE1-AC1F61333432}"/>
                </a:ext>
              </a:extLst>
            </p:cNvPr>
            <p:cNvSpPr/>
            <p:nvPr/>
          </p:nvSpPr>
          <p:spPr>
            <a:xfrm rot="5400000" flipV="1">
              <a:off x="3382747" y="-1087609"/>
              <a:ext cx="475861" cy="52641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31" name="组合 130">
              <a:extLst>
                <a:ext uri="{FF2B5EF4-FFF2-40B4-BE49-F238E27FC236}">
                  <a16:creationId xmlns:a16="http://schemas.microsoft.com/office/drawing/2014/main" id="{F643721E-A779-7004-591D-4AF13B19EDA0}"/>
                </a:ext>
              </a:extLst>
            </p:cNvPr>
            <p:cNvGrpSpPr/>
            <p:nvPr/>
          </p:nvGrpSpPr>
          <p:grpSpPr>
            <a:xfrm>
              <a:off x="722008" y="1303131"/>
              <a:ext cx="546594" cy="475865"/>
              <a:chOff x="708742" y="1296102"/>
              <a:chExt cx="454744" cy="283828"/>
            </a:xfrm>
          </p:grpSpPr>
          <p:sp>
            <p:nvSpPr>
              <p:cNvPr id="133" name="平行四边形 132">
                <a:extLst>
                  <a:ext uri="{FF2B5EF4-FFF2-40B4-BE49-F238E27FC236}">
                    <a16:creationId xmlns:a16="http://schemas.microsoft.com/office/drawing/2014/main" id="{2BBAC4D5-9A42-FA0F-C486-F91328E27C30}"/>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34" name="平行四边形 133">
                <a:extLst>
                  <a:ext uri="{FF2B5EF4-FFF2-40B4-BE49-F238E27FC236}">
                    <a16:creationId xmlns:a16="http://schemas.microsoft.com/office/drawing/2014/main" id="{809D0E64-2F2B-E0E3-0A2F-0568C834A89E}"/>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32" name="Text Box 79">
              <a:extLst>
                <a:ext uri="{FF2B5EF4-FFF2-40B4-BE49-F238E27FC236}">
                  <a16:creationId xmlns:a16="http://schemas.microsoft.com/office/drawing/2014/main" id="{EC895D6D-A0F0-CC3A-BBB8-467EF9A63741}"/>
                </a:ext>
              </a:extLst>
            </p:cNvPr>
            <p:cNvSpPr txBox="1">
              <a:spLocks noChangeArrowheads="1"/>
            </p:cNvSpPr>
            <p:nvPr/>
          </p:nvSpPr>
          <p:spPr bwMode="auto">
            <a:xfrm>
              <a:off x="1268603" y="1334724"/>
              <a:ext cx="5798387"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慢启动和拥塞避免算法的实现举例</a:t>
              </a:r>
            </a:p>
          </p:txBody>
        </p:sp>
      </p:grpSp>
      <p:sp>
        <p:nvSpPr>
          <p:cNvPr id="49" name="灯片编号占位符 48">
            <a:extLst>
              <a:ext uri="{FF2B5EF4-FFF2-40B4-BE49-F238E27FC236}">
                <a16:creationId xmlns:a16="http://schemas.microsoft.com/office/drawing/2014/main" id="{8C971562-A906-45FF-9E91-D613F9748CEE}"/>
              </a:ext>
            </a:extLst>
          </p:cNvPr>
          <p:cNvSpPr>
            <a:spLocks noGrp="1"/>
          </p:cNvSpPr>
          <p:nvPr>
            <p:ph type="sldNum" sz="quarter" idx="12"/>
          </p:nvPr>
        </p:nvSpPr>
        <p:spPr/>
        <p:txBody>
          <a:bodyPr/>
          <a:lstStyle/>
          <a:p>
            <a:fld id="{5956A083-5018-4B52-82A0-83241B8E3D94}" type="slidenum">
              <a:rPr lang="zh-CN" altLang="en-US" smtClean="0"/>
              <a:t>72</a:t>
            </a:fld>
            <a:endParaRPr lang="zh-CN" altLang="en-US"/>
          </a:p>
        </p:txBody>
      </p:sp>
      <p:sp>
        <p:nvSpPr>
          <p:cNvPr id="135" name="圆角矩形 150">
            <a:extLst>
              <a:ext uri="{FF2B5EF4-FFF2-40B4-BE49-F238E27FC236}">
                <a16:creationId xmlns:a16="http://schemas.microsoft.com/office/drawing/2014/main" id="{EC508BAE-9455-2848-AE23-09B5412A7CEC}"/>
              </a:ext>
            </a:extLst>
          </p:cNvPr>
          <p:cNvSpPr/>
          <p:nvPr/>
        </p:nvSpPr>
        <p:spPr>
          <a:xfrm>
            <a:off x="2271202" y="2315430"/>
            <a:ext cx="8053711" cy="3291839"/>
          </a:xfrm>
          <a:prstGeom prst="roundRect">
            <a:avLst/>
          </a:prstGeom>
          <a:solidFill>
            <a:srgbClr val="C5E5FB"/>
          </a:solidFill>
          <a:ln w="25400" cap="flat" cmpd="sng" algn="ctr">
            <a:noFill/>
            <a:prstDash val="solid"/>
          </a:ln>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36" name="组合 135">
            <a:extLst>
              <a:ext uri="{FF2B5EF4-FFF2-40B4-BE49-F238E27FC236}">
                <a16:creationId xmlns:a16="http://schemas.microsoft.com/office/drawing/2014/main" id="{A94D79A7-C97C-804D-8786-5FD0ECC7ABFA}"/>
              </a:ext>
            </a:extLst>
          </p:cNvPr>
          <p:cNvGrpSpPr/>
          <p:nvPr/>
        </p:nvGrpSpPr>
        <p:grpSpPr>
          <a:xfrm>
            <a:off x="3043104" y="2417895"/>
            <a:ext cx="6808860" cy="2262108"/>
            <a:chOff x="300646" y="840152"/>
            <a:chExt cx="9638211" cy="3093013"/>
          </a:xfrm>
        </p:grpSpPr>
        <p:sp>
          <p:nvSpPr>
            <p:cNvPr id="137" name="Text Box 140">
              <a:extLst>
                <a:ext uri="{FF2B5EF4-FFF2-40B4-BE49-F238E27FC236}">
                  <a16:creationId xmlns:a16="http://schemas.microsoft.com/office/drawing/2014/main" id="{1FCDBBD2-3262-3847-8E34-AA29CAF1218F}"/>
                </a:ext>
              </a:extLst>
            </p:cNvPr>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8" name="Line 2">
              <a:extLst>
                <a:ext uri="{FF2B5EF4-FFF2-40B4-BE49-F238E27FC236}">
                  <a16:creationId xmlns:a16="http://schemas.microsoft.com/office/drawing/2014/main" id="{C26AED0F-C718-FE48-B23F-ABC0BEFCAAA8}"/>
                </a:ext>
              </a:extLst>
            </p:cNvPr>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39" name="Line 3">
              <a:extLst>
                <a:ext uri="{FF2B5EF4-FFF2-40B4-BE49-F238E27FC236}">
                  <a16:creationId xmlns:a16="http://schemas.microsoft.com/office/drawing/2014/main" id="{6FB43AAA-FFF8-6147-A097-A665405AE6BE}"/>
                </a:ext>
              </a:extLst>
            </p:cNvPr>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0" name="Line 4">
              <a:extLst>
                <a:ext uri="{FF2B5EF4-FFF2-40B4-BE49-F238E27FC236}">
                  <a16:creationId xmlns:a16="http://schemas.microsoft.com/office/drawing/2014/main" id="{4C7901FD-398D-5043-9ACE-EBC66121461A}"/>
                </a:ext>
              </a:extLst>
            </p:cNvPr>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1" name="Line 5">
              <a:extLst>
                <a:ext uri="{FF2B5EF4-FFF2-40B4-BE49-F238E27FC236}">
                  <a16:creationId xmlns:a16="http://schemas.microsoft.com/office/drawing/2014/main" id="{71794ECE-850B-E54C-A513-45010CEB1516}"/>
                </a:ext>
              </a:extLst>
            </p:cNvPr>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2" name="Line 6">
              <a:extLst>
                <a:ext uri="{FF2B5EF4-FFF2-40B4-BE49-F238E27FC236}">
                  <a16:creationId xmlns:a16="http://schemas.microsoft.com/office/drawing/2014/main" id="{6189BEF2-B76B-F84B-9769-B59550D88B36}"/>
                </a:ext>
              </a:extLst>
            </p:cNvPr>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3" name="Line 7">
              <a:extLst>
                <a:ext uri="{FF2B5EF4-FFF2-40B4-BE49-F238E27FC236}">
                  <a16:creationId xmlns:a16="http://schemas.microsoft.com/office/drawing/2014/main" id="{2EABB5C4-C241-8444-8532-B64CFEC63F57}"/>
                </a:ext>
              </a:extLst>
            </p:cNvPr>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4" name="Line 8">
              <a:extLst>
                <a:ext uri="{FF2B5EF4-FFF2-40B4-BE49-F238E27FC236}">
                  <a16:creationId xmlns:a16="http://schemas.microsoft.com/office/drawing/2014/main" id="{F74A7A00-FE14-0D4C-BAA7-0F269506723F}"/>
                </a:ext>
              </a:extLst>
            </p:cNvPr>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5" name="Line 9">
              <a:extLst>
                <a:ext uri="{FF2B5EF4-FFF2-40B4-BE49-F238E27FC236}">
                  <a16:creationId xmlns:a16="http://schemas.microsoft.com/office/drawing/2014/main" id="{170BC69A-9391-204C-836A-925BC22775B3}"/>
                </a:ext>
              </a:extLst>
            </p:cNvPr>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6" name="Line 10">
              <a:extLst>
                <a:ext uri="{FF2B5EF4-FFF2-40B4-BE49-F238E27FC236}">
                  <a16:creationId xmlns:a16="http://schemas.microsoft.com/office/drawing/2014/main" id="{22753F70-3DA5-1242-AD03-3B15892E7917}"/>
                </a:ext>
              </a:extLst>
            </p:cNvPr>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7" name="Line 11">
              <a:extLst>
                <a:ext uri="{FF2B5EF4-FFF2-40B4-BE49-F238E27FC236}">
                  <a16:creationId xmlns:a16="http://schemas.microsoft.com/office/drawing/2014/main" id="{225ED489-4FD8-9C4F-ADA7-FA8C77228BCD}"/>
                </a:ext>
              </a:extLst>
            </p:cNvPr>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8" name="Line 12">
              <a:extLst>
                <a:ext uri="{FF2B5EF4-FFF2-40B4-BE49-F238E27FC236}">
                  <a16:creationId xmlns:a16="http://schemas.microsoft.com/office/drawing/2014/main" id="{051EE58E-8E56-9E46-B8F7-D7B8631659CA}"/>
                </a:ext>
              </a:extLst>
            </p:cNvPr>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49" name="Line 13">
              <a:extLst>
                <a:ext uri="{FF2B5EF4-FFF2-40B4-BE49-F238E27FC236}">
                  <a16:creationId xmlns:a16="http://schemas.microsoft.com/office/drawing/2014/main" id="{138BE6FA-3838-BA4A-87D1-AB08EFFDA601}"/>
                </a:ext>
              </a:extLst>
            </p:cNvPr>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0" name="Line 14">
              <a:extLst>
                <a:ext uri="{FF2B5EF4-FFF2-40B4-BE49-F238E27FC236}">
                  <a16:creationId xmlns:a16="http://schemas.microsoft.com/office/drawing/2014/main" id="{1EFEE950-805B-0B46-AEA4-3B3412323BA1}"/>
                </a:ext>
              </a:extLst>
            </p:cNvPr>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1" name="Line 15">
              <a:extLst>
                <a:ext uri="{FF2B5EF4-FFF2-40B4-BE49-F238E27FC236}">
                  <a16:creationId xmlns:a16="http://schemas.microsoft.com/office/drawing/2014/main" id="{80D1E434-4A51-CE4D-852E-6448C16A33E5}"/>
                </a:ext>
              </a:extLst>
            </p:cNvPr>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2" name="Line 16">
              <a:extLst>
                <a:ext uri="{FF2B5EF4-FFF2-40B4-BE49-F238E27FC236}">
                  <a16:creationId xmlns:a16="http://schemas.microsoft.com/office/drawing/2014/main" id="{13833ED7-8535-0644-9FCD-A8952170E032}"/>
                </a:ext>
              </a:extLst>
            </p:cNvPr>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3" name="Line 17">
              <a:extLst>
                <a:ext uri="{FF2B5EF4-FFF2-40B4-BE49-F238E27FC236}">
                  <a16:creationId xmlns:a16="http://schemas.microsoft.com/office/drawing/2014/main" id="{DBE425C0-A586-4C4A-A544-F39C298C17E7}"/>
                </a:ext>
              </a:extLst>
            </p:cNvPr>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4" name="Line 18">
              <a:extLst>
                <a:ext uri="{FF2B5EF4-FFF2-40B4-BE49-F238E27FC236}">
                  <a16:creationId xmlns:a16="http://schemas.microsoft.com/office/drawing/2014/main" id="{F9F5C90B-3AF5-CD4A-B8E8-002B494A9CA5}"/>
                </a:ext>
              </a:extLst>
            </p:cNvPr>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5" name="Line 19">
              <a:extLst>
                <a:ext uri="{FF2B5EF4-FFF2-40B4-BE49-F238E27FC236}">
                  <a16:creationId xmlns:a16="http://schemas.microsoft.com/office/drawing/2014/main" id="{13AF96DB-ABD6-2B49-8E67-79777FE0E0A4}"/>
                </a:ext>
              </a:extLst>
            </p:cNvPr>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6" name="Line 20">
              <a:extLst>
                <a:ext uri="{FF2B5EF4-FFF2-40B4-BE49-F238E27FC236}">
                  <a16:creationId xmlns:a16="http://schemas.microsoft.com/office/drawing/2014/main" id="{677E9EF3-33D1-4048-855E-7B783B267D82}"/>
                </a:ext>
              </a:extLst>
            </p:cNvPr>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7" name="Line 21">
              <a:extLst>
                <a:ext uri="{FF2B5EF4-FFF2-40B4-BE49-F238E27FC236}">
                  <a16:creationId xmlns:a16="http://schemas.microsoft.com/office/drawing/2014/main" id="{C82B352A-5FE8-6D43-B982-C1099F8EC6B2}"/>
                </a:ext>
              </a:extLst>
            </p:cNvPr>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8" name="Line 22">
              <a:extLst>
                <a:ext uri="{FF2B5EF4-FFF2-40B4-BE49-F238E27FC236}">
                  <a16:creationId xmlns:a16="http://schemas.microsoft.com/office/drawing/2014/main" id="{2273F960-04DC-D847-8CF5-FDC6607C9971}"/>
                </a:ext>
              </a:extLst>
            </p:cNvPr>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59" name="Line 23">
              <a:extLst>
                <a:ext uri="{FF2B5EF4-FFF2-40B4-BE49-F238E27FC236}">
                  <a16:creationId xmlns:a16="http://schemas.microsoft.com/office/drawing/2014/main" id="{80F7C8CB-B6A8-AD40-93F6-7E7C86E4D46A}"/>
                </a:ext>
              </a:extLst>
            </p:cNvPr>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0" name="Line 24">
              <a:extLst>
                <a:ext uri="{FF2B5EF4-FFF2-40B4-BE49-F238E27FC236}">
                  <a16:creationId xmlns:a16="http://schemas.microsoft.com/office/drawing/2014/main" id="{1B26B0CE-9D8E-6E4E-B57A-EE33B30D4540}"/>
                </a:ext>
              </a:extLst>
            </p:cNvPr>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1" name="Line 25">
              <a:extLst>
                <a:ext uri="{FF2B5EF4-FFF2-40B4-BE49-F238E27FC236}">
                  <a16:creationId xmlns:a16="http://schemas.microsoft.com/office/drawing/2014/main" id="{9C0AB732-E146-A74F-8F77-5F7347849E08}"/>
                </a:ext>
              </a:extLst>
            </p:cNvPr>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2" name="Line 40">
              <a:extLst>
                <a:ext uri="{FF2B5EF4-FFF2-40B4-BE49-F238E27FC236}">
                  <a16:creationId xmlns:a16="http://schemas.microsoft.com/office/drawing/2014/main" id="{787015D9-AF0D-FC41-82A0-DD0000A2A7A4}"/>
                </a:ext>
              </a:extLst>
            </p:cNvPr>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3" name="Line 41">
              <a:extLst>
                <a:ext uri="{FF2B5EF4-FFF2-40B4-BE49-F238E27FC236}">
                  <a16:creationId xmlns:a16="http://schemas.microsoft.com/office/drawing/2014/main" id="{83E6F6E5-FDA2-D742-8662-684150505797}"/>
                </a:ext>
              </a:extLst>
            </p:cNvPr>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4" name="Line 42">
              <a:extLst>
                <a:ext uri="{FF2B5EF4-FFF2-40B4-BE49-F238E27FC236}">
                  <a16:creationId xmlns:a16="http://schemas.microsoft.com/office/drawing/2014/main" id="{4CC8551B-A0E4-7A41-9D5D-B0EF26703CBC}"/>
                </a:ext>
              </a:extLst>
            </p:cNvPr>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5" name="Line 43">
              <a:extLst>
                <a:ext uri="{FF2B5EF4-FFF2-40B4-BE49-F238E27FC236}">
                  <a16:creationId xmlns:a16="http://schemas.microsoft.com/office/drawing/2014/main" id="{93BB74DF-8B3E-0544-B1CB-D5980498CAF7}"/>
                </a:ext>
              </a:extLst>
            </p:cNvPr>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6" name="Line 44">
              <a:extLst>
                <a:ext uri="{FF2B5EF4-FFF2-40B4-BE49-F238E27FC236}">
                  <a16:creationId xmlns:a16="http://schemas.microsoft.com/office/drawing/2014/main" id="{9132D4E4-252C-B447-8757-AF8FB5BB1D73}"/>
                </a:ext>
              </a:extLst>
            </p:cNvPr>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7" name="Line 45">
              <a:extLst>
                <a:ext uri="{FF2B5EF4-FFF2-40B4-BE49-F238E27FC236}">
                  <a16:creationId xmlns:a16="http://schemas.microsoft.com/office/drawing/2014/main" id="{93023C73-147A-B14B-86C0-A59F5273477B}"/>
                </a:ext>
              </a:extLst>
            </p:cNvPr>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68" name="Text Box 77">
              <a:extLst>
                <a:ext uri="{FF2B5EF4-FFF2-40B4-BE49-F238E27FC236}">
                  <a16:creationId xmlns:a16="http://schemas.microsoft.com/office/drawing/2014/main" id="{F22C9139-76B8-654F-9656-90BD9A418A36}"/>
                </a:ext>
              </a:extLst>
            </p:cNvPr>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a:t>
              </a:r>
            </a:p>
          </p:txBody>
        </p:sp>
        <p:sp>
          <p:nvSpPr>
            <p:cNvPr id="169" name="Text Box 78">
              <a:extLst>
                <a:ext uri="{FF2B5EF4-FFF2-40B4-BE49-F238E27FC236}">
                  <a16:creationId xmlns:a16="http://schemas.microsoft.com/office/drawing/2014/main" id="{025CB034-7599-9140-93FA-CCA6A0618BF3}"/>
                </a:ext>
              </a:extLst>
            </p:cNvPr>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70" name="Text Box 79">
              <a:extLst>
                <a:ext uri="{FF2B5EF4-FFF2-40B4-BE49-F238E27FC236}">
                  <a16:creationId xmlns:a16="http://schemas.microsoft.com/office/drawing/2014/main" id="{94518AA9-9590-BE4E-AEA9-C9C0AFF03F47}"/>
                </a:ext>
              </a:extLst>
            </p:cNvPr>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6</a:t>
              </a:r>
            </a:p>
          </p:txBody>
        </p:sp>
        <p:sp>
          <p:nvSpPr>
            <p:cNvPr id="171" name="Text Box 80">
              <a:extLst>
                <a:ext uri="{FF2B5EF4-FFF2-40B4-BE49-F238E27FC236}">
                  <a16:creationId xmlns:a16="http://schemas.microsoft.com/office/drawing/2014/main" id="{8EB15C3A-BC48-4D4F-9CF4-46822136E2F0}"/>
                </a:ext>
              </a:extLst>
            </p:cNvPr>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8</a:t>
              </a:r>
            </a:p>
          </p:txBody>
        </p:sp>
        <p:sp>
          <p:nvSpPr>
            <p:cNvPr id="172" name="Text Box 81">
              <a:extLst>
                <a:ext uri="{FF2B5EF4-FFF2-40B4-BE49-F238E27FC236}">
                  <a16:creationId xmlns:a16="http://schemas.microsoft.com/office/drawing/2014/main" id="{D33939EA-7B5F-9F46-8E7C-4EFBB2CDB9BF}"/>
                </a:ext>
              </a:extLst>
            </p:cNvPr>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10</a:t>
              </a:r>
            </a:p>
          </p:txBody>
        </p:sp>
        <p:sp>
          <p:nvSpPr>
            <p:cNvPr id="173" name="Text Box 82">
              <a:extLst>
                <a:ext uri="{FF2B5EF4-FFF2-40B4-BE49-F238E27FC236}">
                  <a16:creationId xmlns:a16="http://schemas.microsoft.com/office/drawing/2014/main" id="{3545FAA0-A554-5A49-BC44-E11F9CF4279D}"/>
                </a:ext>
              </a:extLst>
            </p:cNvPr>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74" name="Text Box 83">
              <a:extLst>
                <a:ext uri="{FF2B5EF4-FFF2-40B4-BE49-F238E27FC236}">
                  <a16:creationId xmlns:a16="http://schemas.microsoft.com/office/drawing/2014/main" id="{04F0E343-AC0F-E943-8F87-4633A8B69A28}"/>
                </a:ext>
              </a:extLst>
            </p:cNvPr>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14</a:t>
              </a:r>
            </a:p>
          </p:txBody>
        </p:sp>
        <p:sp>
          <p:nvSpPr>
            <p:cNvPr id="175" name="Text Box 84">
              <a:extLst>
                <a:ext uri="{FF2B5EF4-FFF2-40B4-BE49-F238E27FC236}">
                  <a16:creationId xmlns:a16="http://schemas.microsoft.com/office/drawing/2014/main" id="{746A5930-A029-9344-B68A-4AEB23ED5D9E}"/>
                </a:ext>
              </a:extLst>
            </p:cNvPr>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76" name="Text Box 85">
              <a:extLst>
                <a:ext uri="{FF2B5EF4-FFF2-40B4-BE49-F238E27FC236}">
                  <a16:creationId xmlns:a16="http://schemas.microsoft.com/office/drawing/2014/main" id="{3C4418E0-899B-CB46-886E-AD81EF84D441}"/>
                </a:ext>
              </a:extLst>
            </p:cNvPr>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18</a:t>
              </a:r>
            </a:p>
          </p:txBody>
        </p:sp>
        <p:sp>
          <p:nvSpPr>
            <p:cNvPr id="177" name="Text Box 86">
              <a:extLst>
                <a:ext uri="{FF2B5EF4-FFF2-40B4-BE49-F238E27FC236}">
                  <a16:creationId xmlns:a16="http://schemas.microsoft.com/office/drawing/2014/main" id="{E0084F0E-1F9B-8B44-96C0-A11C310E3AB9}"/>
                </a:ext>
              </a:extLst>
            </p:cNvPr>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78" name="Text Box 87">
              <a:extLst>
                <a:ext uri="{FF2B5EF4-FFF2-40B4-BE49-F238E27FC236}">
                  <a16:creationId xmlns:a16="http://schemas.microsoft.com/office/drawing/2014/main" id="{17D7914B-AE06-2D4C-B759-920B1A37ADD8}"/>
                </a:ext>
              </a:extLst>
            </p:cNvPr>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22</a:t>
              </a:r>
            </a:p>
          </p:txBody>
        </p:sp>
        <p:sp>
          <p:nvSpPr>
            <p:cNvPr id="179" name="Text Box 89">
              <a:extLst>
                <a:ext uri="{FF2B5EF4-FFF2-40B4-BE49-F238E27FC236}">
                  <a16:creationId xmlns:a16="http://schemas.microsoft.com/office/drawing/2014/main" id="{95DC0849-18E0-C94F-BF7F-B40DD576CD7A}"/>
                </a:ext>
              </a:extLst>
            </p:cNvPr>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0" name="Text Box 90">
              <a:extLst>
                <a:ext uri="{FF2B5EF4-FFF2-40B4-BE49-F238E27FC236}">
                  <a16:creationId xmlns:a16="http://schemas.microsoft.com/office/drawing/2014/main" id="{A451EDAE-6C00-954E-9A23-7646BB8DFE10}"/>
                </a:ext>
              </a:extLst>
            </p:cNvPr>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0</a:t>
              </a:r>
            </a:p>
          </p:txBody>
        </p:sp>
        <p:sp>
          <p:nvSpPr>
            <p:cNvPr id="181" name="Text Box 91">
              <a:extLst>
                <a:ext uri="{FF2B5EF4-FFF2-40B4-BE49-F238E27FC236}">
                  <a16:creationId xmlns:a16="http://schemas.microsoft.com/office/drawing/2014/main" id="{BA53F1F3-2CD4-384B-91E9-57F9B7129A2F}"/>
                </a:ext>
              </a:extLst>
            </p:cNvPr>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4</a:t>
              </a:r>
            </a:p>
          </p:txBody>
        </p:sp>
        <p:sp>
          <p:nvSpPr>
            <p:cNvPr id="182" name="Text Box 92">
              <a:extLst>
                <a:ext uri="{FF2B5EF4-FFF2-40B4-BE49-F238E27FC236}">
                  <a16:creationId xmlns:a16="http://schemas.microsoft.com/office/drawing/2014/main" id="{778C808E-3AC8-164C-86C2-95CBFDFB7DCB}"/>
                </a:ext>
              </a:extLst>
            </p:cNvPr>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8</a:t>
              </a:r>
            </a:p>
          </p:txBody>
        </p:sp>
        <p:sp>
          <p:nvSpPr>
            <p:cNvPr id="183" name="Text Box 93">
              <a:extLst>
                <a:ext uri="{FF2B5EF4-FFF2-40B4-BE49-F238E27FC236}">
                  <a16:creationId xmlns:a16="http://schemas.microsoft.com/office/drawing/2014/main" id="{A816191A-A500-B746-8E95-3422CC6EBC6F}"/>
                </a:ext>
              </a:extLst>
            </p:cNvPr>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12</a:t>
              </a:r>
            </a:p>
          </p:txBody>
        </p:sp>
        <p:sp>
          <p:nvSpPr>
            <p:cNvPr id="184" name="Text Box 94">
              <a:extLst>
                <a:ext uri="{FF2B5EF4-FFF2-40B4-BE49-F238E27FC236}">
                  <a16:creationId xmlns:a16="http://schemas.microsoft.com/office/drawing/2014/main" id="{B803554A-8A02-B549-A77D-23A5B9087C09}"/>
                </a:ext>
              </a:extLst>
            </p:cNvPr>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16</a:t>
              </a:r>
            </a:p>
          </p:txBody>
        </p:sp>
        <p:sp>
          <p:nvSpPr>
            <p:cNvPr id="185" name="Text Box 95">
              <a:extLst>
                <a:ext uri="{FF2B5EF4-FFF2-40B4-BE49-F238E27FC236}">
                  <a16:creationId xmlns:a16="http://schemas.microsoft.com/office/drawing/2014/main" id="{DBDFC7AC-8ABA-2B46-AAE1-0D2CCFB0DBD5}"/>
                </a:ext>
              </a:extLst>
            </p:cNvPr>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20</a:t>
              </a:r>
            </a:p>
          </p:txBody>
        </p:sp>
        <p:sp>
          <p:nvSpPr>
            <p:cNvPr id="186" name="Text Box 96">
              <a:extLst>
                <a:ext uri="{FF2B5EF4-FFF2-40B4-BE49-F238E27FC236}">
                  <a16:creationId xmlns:a16="http://schemas.microsoft.com/office/drawing/2014/main" id="{CDD8100F-4EB6-AD4E-891E-2EC0A30D5C1E}"/>
                </a:ext>
              </a:extLst>
            </p:cNvPr>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24</a:t>
              </a:r>
            </a:p>
          </p:txBody>
        </p:sp>
        <p:sp>
          <p:nvSpPr>
            <p:cNvPr id="187" name="Oval 102">
              <a:extLst>
                <a:ext uri="{FF2B5EF4-FFF2-40B4-BE49-F238E27FC236}">
                  <a16:creationId xmlns:a16="http://schemas.microsoft.com/office/drawing/2014/main" id="{FA09ED97-15EE-C74B-831C-68E656A19D02}"/>
                </a:ext>
              </a:extLst>
            </p:cNvPr>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8" name="Oval 103">
              <a:extLst>
                <a:ext uri="{FF2B5EF4-FFF2-40B4-BE49-F238E27FC236}">
                  <a16:creationId xmlns:a16="http://schemas.microsoft.com/office/drawing/2014/main" id="{3EDA274C-AFCA-CE44-9A24-B1C917874C66}"/>
                </a:ext>
              </a:extLst>
            </p:cNvPr>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89" name="Oval 104">
              <a:extLst>
                <a:ext uri="{FF2B5EF4-FFF2-40B4-BE49-F238E27FC236}">
                  <a16:creationId xmlns:a16="http://schemas.microsoft.com/office/drawing/2014/main" id="{D0A4B4B1-EE36-5B4D-9F46-361E74CC13BB}"/>
                </a:ext>
              </a:extLst>
            </p:cNvPr>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0" name="Oval 105">
              <a:extLst>
                <a:ext uri="{FF2B5EF4-FFF2-40B4-BE49-F238E27FC236}">
                  <a16:creationId xmlns:a16="http://schemas.microsoft.com/office/drawing/2014/main" id="{3145AF32-804D-7149-A9C5-988FB883C309}"/>
                </a:ext>
              </a:extLst>
            </p:cNvPr>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1" name="Oval 106">
              <a:extLst>
                <a:ext uri="{FF2B5EF4-FFF2-40B4-BE49-F238E27FC236}">
                  <a16:creationId xmlns:a16="http://schemas.microsoft.com/office/drawing/2014/main" id="{2E175183-234C-6D40-A519-3F6ED3CCD83E}"/>
                </a:ext>
              </a:extLst>
            </p:cNvPr>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2" name="Oval 107">
              <a:extLst>
                <a:ext uri="{FF2B5EF4-FFF2-40B4-BE49-F238E27FC236}">
                  <a16:creationId xmlns:a16="http://schemas.microsoft.com/office/drawing/2014/main" id="{24AF6430-E474-1D45-9001-58A9D747C356}"/>
                </a:ext>
              </a:extLst>
            </p:cNvPr>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3" name="Oval 108">
              <a:extLst>
                <a:ext uri="{FF2B5EF4-FFF2-40B4-BE49-F238E27FC236}">
                  <a16:creationId xmlns:a16="http://schemas.microsoft.com/office/drawing/2014/main" id="{E15CC1F0-CD49-D947-9146-6FF8AAF60F73}"/>
                </a:ext>
              </a:extLst>
            </p:cNvPr>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4" name="Oval 109">
              <a:extLst>
                <a:ext uri="{FF2B5EF4-FFF2-40B4-BE49-F238E27FC236}">
                  <a16:creationId xmlns:a16="http://schemas.microsoft.com/office/drawing/2014/main" id="{957372F2-8510-9D49-A1C8-66A271E967BE}"/>
                </a:ext>
              </a:extLst>
            </p:cNvPr>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5" name="Oval 110">
              <a:extLst>
                <a:ext uri="{FF2B5EF4-FFF2-40B4-BE49-F238E27FC236}">
                  <a16:creationId xmlns:a16="http://schemas.microsoft.com/office/drawing/2014/main" id="{8E9D6BD2-E9DF-F544-AB81-1A86D398D49E}"/>
                </a:ext>
              </a:extLst>
            </p:cNvPr>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6" name="Oval 113">
              <a:extLst>
                <a:ext uri="{FF2B5EF4-FFF2-40B4-BE49-F238E27FC236}">
                  <a16:creationId xmlns:a16="http://schemas.microsoft.com/office/drawing/2014/main" id="{182FA22C-2B6A-8041-9C48-774C3817BB9D}"/>
                </a:ext>
              </a:extLst>
            </p:cNvPr>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7" name="Oval 114">
              <a:extLst>
                <a:ext uri="{FF2B5EF4-FFF2-40B4-BE49-F238E27FC236}">
                  <a16:creationId xmlns:a16="http://schemas.microsoft.com/office/drawing/2014/main" id="{9D88CE77-DD05-9148-8A6A-B838DA022522}"/>
                </a:ext>
              </a:extLst>
            </p:cNvPr>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8" name="Oval 116">
              <a:extLst>
                <a:ext uri="{FF2B5EF4-FFF2-40B4-BE49-F238E27FC236}">
                  <a16:creationId xmlns:a16="http://schemas.microsoft.com/office/drawing/2014/main" id="{532B4377-5092-3947-9447-5A20A7592F08}"/>
                </a:ext>
              </a:extLst>
            </p:cNvPr>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199" name="Oval 117">
              <a:extLst>
                <a:ext uri="{FF2B5EF4-FFF2-40B4-BE49-F238E27FC236}">
                  <a16:creationId xmlns:a16="http://schemas.microsoft.com/office/drawing/2014/main" id="{0F6533DE-C220-6D48-B669-D3389BFED9DC}"/>
                </a:ext>
              </a:extLst>
            </p:cNvPr>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0" name="Freeform 118">
              <a:extLst>
                <a:ext uri="{FF2B5EF4-FFF2-40B4-BE49-F238E27FC236}">
                  <a16:creationId xmlns:a16="http://schemas.microsoft.com/office/drawing/2014/main" id="{4B66332B-B0F4-D74C-837B-AF3DA8259019}"/>
                </a:ext>
              </a:extLst>
            </p:cNvPr>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1" name="Text Box 134">
              <a:extLst>
                <a:ext uri="{FF2B5EF4-FFF2-40B4-BE49-F238E27FC236}">
                  <a16:creationId xmlns:a16="http://schemas.microsoft.com/office/drawing/2014/main" id="{EF505507-A0D6-D84D-B14D-1F9D07ED4C2C}"/>
                </a:ext>
              </a:extLst>
            </p:cNvPr>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02" name="Text Box 135">
              <a:extLst>
                <a:ext uri="{FF2B5EF4-FFF2-40B4-BE49-F238E27FC236}">
                  <a16:creationId xmlns:a16="http://schemas.microsoft.com/office/drawing/2014/main" id="{0166DA67-BBC8-FA4E-9F70-2A7B543558E7}"/>
                </a:ext>
              </a:extLst>
            </p:cNvPr>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200" b="1" kern="0" dirty="0">
                  <a:solidFill>
                    <a:srgbClr val="000000"/>
                  </a:solidFill>
                  <a:latin typeface="微软雅黑" pitchFamily="34" charset="-122"/>
                  <a:ea typeface="微软雅黑" pitchFamily="34" charset="-122"/>
                </a:rPr>
                <a:t>拥塞窗口  </a:t>
              </a:r>
              <a:r>
                <a:rPr lang="en-US" altLang="zh-CN" sz="1200" b="1" kern="0" dirty="0" err="1">
                  <a:solidFill>
                    <a:srgbClr val="000000"/>
                  </a:solidFill>
                  <a:latin typeface="微软雅黑" pitchFamily="34" charset="-122"/>
                  <a:ea typeface="微软雅黑" pitchFamily="34" charset="-122"/>
                </a:rPr>
                <a:t>cwnd</a:t>
              </a:r>
              <a:endParaRPr lang="en-US" altLang="zh-CN" sz="1200" b="1" kern="0" dirty="0">
                <a:solidFill>
                  <a:srgbClr val="000000"/>
                </a:solidFill>
                <a:latin typeface="微软雅黑" pitchFamily="34" charset="-122"/>
                <a:ea typeface="微软雅黑" pitchFamily="34" charset="-122"/>
              </a:endParaRPr>
            </a:p>
          </p:txBody>
        </p:sp>
        <p:sp>
          <p:nvSpPr>
            <p:cNvPr id="203" name="Text Box 140">
              <a:extLst>
                <a:ext uri="{FF2B5EF4-FFF2-40B4-BE49-F238E27FC236}">
                  <a16:creationId xmlns:a16="http://schemas.microsoft.com/office/drawing/2014/main" id="{F9D312C1-4628-BF4B-993E-276DFF37AD48}"/>
                </a:ext>
              </a:extLst>
            </p:cNvPr>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200" b="1" kern="0" dirty="0">
                  <a:solidFill>
                    <a:srgbClr val="CC00CC"/>
                  </a:solidFill>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p>
          </p:txBody>
        </p:sp>
        <p:sp>
          <p:nvSpPr>
            <p:cNvPr id="204" name="Line 156">
              <a:extLst>
                <a:ext uri="{FF2B5EF4-FFF2-40B4-BE49-F238E27FC236}">
                  <a16:creationId xmlns:a16="http://schemas.microsoft.com/office/drawing/2014/main" id="{32A6292D-9919-B84B-AA8B-3487A397926F}"/>
                </a:ext>
              </a:extLst>
            </p:cNvPr>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5" name="Line 146">
              <a:extLst>
                <a:ext uri="{FF2B5EF4-FFF2-40B4-BE49-F238E27FC236}">
                  <a16:creationId xmlns:a16="http://schemas.microsoft.com/office/drawing/2014/main" id="{3DAE04D0-070E-E944-97EE-88BD7EECF7CB}"/>
                </a:ext>
              </a:extLst>
            </p:cNvPr>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6" name="Text Box 203">
              <a:extLst>
                <a:ext uri="{FF2B5EF4-FFF2-40B4-BE49-F238E27FC236}">
                  <a16:creationId xmlns:a16="http://schemas.microsoft.com/office/drawing/2014/main" id="{43AC5AFB-62E1-BA40-9837-D8B167926EB8}"/>
                </a:ext>
              </a:extLst>
            </p:cNvPr>
            <p:cNvSpPr txBox="1">
              <a:spLocks noChangeArrowheads="1"/>
            </p:cNvSpPr>
            <p:nvPr/>
          </p:nvSpPr>
          <p:spPr bwMode="auto">
            <a:xfrm>
              <a:off x="8113258" y="1997451"/>
              <a:ext cx="1606881"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a:solidFill>
                    <a:srgbClr val="000099"/>
                  </a:solidFill>
                  <a:latin typeface="微软雅黑" pitchFamily="34" charset="-122"/>
                  <a:ea typeface="微软雅黑" pitchFamily="34" charset="-122"/>
                </a:rPr>
                <a:t>TCP Reno </a:t>
              </a:r>
            </a:p>
            <a:p>
              <a:pPr algn="ctr" eaLnBrk="1" hangingPunct="1">
                <a:defRPr/>
              </a:pPr>
              <a:r>
                <a:rPr lang="zh-CN" altLang="en-US" sz="1200" b="1" kern="0" dirty="0">
                  <a:solidFill>
                    <a:srgbClr val="000099"/>
                  </a:solidFill>
                  <a:latin typeface="微软雅黑" pitchFamily="34" charset="-122"/>
                  <a:ea typeface="微软雅黑" pitchFamily="34" charset="-122"/>
                </a:rPr>
                <a:t>版本</a:t>
              </a:r>
            </a:p>
          </p:txBody>
        </p:sp>
        <p:sp>
          <p:nvSpPr>
            <p:cNvPr id="207" name="Text Box 205">
              <a:extLst>
                <a:ext uri="{FF2B5EF4-FFF2-40B4-BE49-F238E27FC236}">
                  <a16:creationId xmlns:a16="http://schemas.microsoft.com/office/drawing/2014/main" id="{DEF42FF9-1B9B-094E-9B8D-162C2E9B764F}"/>
                </a:ext>
              </a:extLst>
            </p:cNvPr>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en-US" altLang="zh-CN" sz="1200" b="1" kern="0" dirty="0" err="1">
                  <a:solidFill>
                    <a:srgbClr val="CC00CC"/>
                  </a:solidFill>
                  <a:latin typeface="微软雅黑" pitchFamily="34" charset="-122"/>
                  <a:ea typeface="微软雅黑" pitchFamily="34" charset="-122"/>
                </a:rPr>
                <a:t>ssthresh</a:t>
              </a:r>
              <a:endParaRPr lang="en-US" altLang="zh-CN" sz="1200" b="1" kern="0" dirty="0">
                <a:solidFill>
                  <a:srgbClr val="CC00CC"/>
                </a:solidFill>
                <a:latin typeface="微软雅黑" pitchFamily="34" charset="-122"/>
                <a:ea typeface="微软雅黑" pitchFamily="34" charset="-122"/>
              </a:endParaRPr>
            </a:p>
            <a:p>
              <a:pPr algn="ctr" eaLnBrk="1" hangingPunct="1">
                <a:defRPr/>
              </a:pPr>
              <a:r>
                <a:rPr lang="zh-CN" altLang="en-US" sz="1200" b="1" kern="0" dirty="0">
                  <a:solidFill>
                    <a:srgbClr val="CC00CC"/>
                  </a:solidFill>
                  <a:latin typeface="微软雅黑" pitchFamily="34" charset="-122"/>
                  <a:ea typeface="微软雅黑" pitchFamily="34" charset="-122"/>
                </a:rPr>
                <a:t> 的初始值</a:t>
              </a:r>
            </a:p>
          </p:txBody>
        </p:sp>
        <p:sp>
          <p:nvSpPr>
            <p:cNvPr id="208" name="Line 215">
              <a:extLst>
                <a:ext uri="{FF2B5EF4-FFF2-40B4-BE49-F238E27FC236}">
                  <a16:creationId xmlns:a16="http://schemas.microsoft.com/office/drawing/2014/main" id="{F54C16C2-EB59-7045-805F-16047A138C68}"/>
                </a:ext>
              </a:extLst>
            </p:cNvPr>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09" name="Text Box 206">
              <a:extLst>
                <a:ext uri="{FF2B5EF4-FFF2-40B4-BE49-F238E27FC236}">
                  <a16:creationId xmlns:a16="http://schemas.microsoft.com/office/drawing/2014/main" id="{7394BDC3-5C9C-6040-81B8-D3C55248EFDE}"/>
                </a:ext>
              </a:extLst>
            </p:cNvPr>
            <p:cNvSpPr txBox="1">
              <a:spLocks noChangeArrowheads="1"/>
            </p:cNvSpPr>
            <p:nvPr/>
          </p:nvSpPr>
          <p:spPr bwMode="auto">
            <a:xfrm rot="20245475">
              <a:off x="7047863" y="2261430"/>
              <a:ext cx="1214912"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10" name="Oval 125">
              <a:extLst>
                <a:ext uri="{FF2B5EF4-FFF2-40B4-BE49-F238E27FC236}">
                  <a16:creationId xmlns:a16="http://schemas.microsoft.com/office/drawing/2014/main" id="{9D068A07-A5E7-6A43-8E42-2F2F890B9A37}"/>
                </a:ext>
              </a:extLst>
            </p:cNvPr>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1" name="Oval 126">
              <a:extLst>
                <a:ext uri="{FF2B5EF4-FFF2-40B4-BE49-F238E27FC236}">
                  <a16:creationId xmlns:a16="http://schemas.microsoft.com/office/drawing/2014/main" id="{05845FD2-70C4-5545-AF45-FD1E18330210}"/>
                </a:ext>
              </a:extLst>
            </p:cNvPr>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2" name="Oval 127">
              <a:extLst>
                <a:ext uri="{FF2B5EF4-FFF2-40B4-BE49-F238E27FC236}">
                  <a16:creationId xmlns:a16="http://schemas.microsoft.com/office/drawing/2014/main" id="{210EA2C2-340F-0D46-8040-987F70E10304}"/>
                </a:ext>
              </a:extLst>
            </p:cNvPr>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3" name="Oval 128">
              <a:extLst>
                <a:ext uri="{FF2B5EF4-FFF2-40B4-BE49-F238E27FC236}">
                  <a16:creationId xmlns:a16="http://schemas.microsoft.com/office/drawing/2014/main" id="{9B3BADC5-62F5-C945-95EB-FB5AE723CC03}"/>
                </a:ext>
              </a:extLst>
            </p:cNvPr>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4" name="Oval 129">
              <a:extLst>
                <a:ext uri="{FF2B5EF4-FFF2-40B4-BE49-F238E27FC236}">
                  <a16:creationId xmlns:a16="http://schemas.microsoft.com/office/drawing/2014/main" id="{88447F42-7B4E-AE4C-BFDF-36506522440A}"/>
                </a:ext>
              </a:extLst>
            </p:cNvPr>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5" name="Oval 130">
              <a:extLst>
                <a:ext uri="{FF2B5EF4-FFF2-40B4-BE49-F238E27FC236}">
                  <a16:creationId xmlns:a16="http://schemas.microsoft.com/office/drawing/2014/main" id="{C71D6CC5-CBF4-3B4C-A762-A815B89210A0}"/>
                </a:ext>
              </a:extLst>
            </p:cNvPr>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6" name="Oval 131">
              <a:extLst>
                <a:ext uri="{FF2B5EF4-FFF2-40B4-BE49-F238E27FC236}">
                  <a16:creationId xmlns:a16="http://schemas.microsoft.com/office/drawing/2014/main" id="{20A6274E-E226-0244-9F56-F6D65D06BC24}"/>
                </a:ext>
              </a:extLst>
            </p:cNvPr>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7" name="Oval 132">
              <a:extLst>
                <a:ext uri="{FF2B5EF4-FFF2-40B4-BE49-F238E27FC236}">
                  <a16:creationId xmlns:a16="http://schemas.microsoft.com/office/drawing/2014/main" id="{52485099-01FC-1249-9F37-757AD0695A3C}"/>
                </a:ext>
              </a:extLst>
            </p:cNvPr>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18" name="Line 147">
              <a:extLst>
                <a:ext uri="{FF2B5EF4-FFF2-40B4-BE49-F238E27FC236}">
                  <a16:creationId xmlns:a16="http://schemas.microsoft.com/office/drawing/2014/main" id="{8599A07B-BF23-4A48-8C40-FB7456D3FC28}"/>
                </a:ext>
              </a:extLst>
            </p:cNvPr>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19" name="直接连接符 115">
              <a:extLst>
                <a:ext uri="{FF2B5EF4-FFF2-40B4-BE49-F238E27FC236}">
                  <a16:creationId xmlns:a16="http://schemas.microsoft.com/office/drawing/2014/main" id="{12A9BBD2-521F-A944-90C7-99562CC99182}"/>
                </a:ext>
              </a:extLst>
            </p:cNvPr>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20" name="Rectangle 161">
              <a:extLst>
                <a:ext uri="{FF2B5EF4-FFF2-40B4-BE49-F238E27FC236}">
                  <a16:creationId xmlns:a16="http://schemas.microsoft.com/office/drawing/2014/main" id="{B4500DB0-8468-EE41-A5FE-CBE1ECD217AA}"/>
                </a:ext>
              </a:extLst>
            </p:cNvPr>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sp>
          <p:nvSpPr>
            <p:cNvPr id="221" name="Oval 129">
              <a:extLst>
                <a:ext uri="{FF2B5EF4-FFF2-40B4-BE49-F238E27FC236}">
                  <a16:creationId xmlns:a16="http://schemas.microsoft.com/office/drawing/2014/main" id="{8DA859C1-55B2-6C41-87B9-45121A086F22}"/>
                </a:ext>
              </a:extLst>
            </p:cNvPr>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2" name="任意多边形 134">
              <a:extLst>
                <a:ext uri="{FF2B5EF4-FFF2-40B4-BE49-F238E27FC236}">
                  <a16:creationId xmlns:a16="http://schemas.microsoft.com/office/drawing/2014/main" id="{EA360F3E-6E84-6044-BF5F-B6BCF7A100CE}"/>
                </a:ext>
              </a:extLst>
            </p:cNvPr>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3" name="Rectangle 161">
              <a:extLst>
                <a:ext uri="{FF2B5EF4-FFF2-40B4-BE49-F238E27FC236}">
                  <a16:creationId xmlns:a16="http://schemas.microsoft.com/office/drawing/2014/main" id="{DBE334BA-7F7C-E34F-B770-EBD2A2410198}"/>
                </a:ext>
              </a:extLst>
            </p:cNvPr>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defRPr/>
              </a:pPr>
              <a:r>
                <a:rPr lang="en-US" altLang="zh-CN" kern="0" dirty="0">
                  <a:solidFill>
                    <a:srgbClr val="CC00CC"/>
                  </a:solidFill>
                  <a:latin typeface="微软雅黑" pitchFamily="34" charset="-122"/>
                  <a:ea typeface="微软雅黑" pitchFamily="34" charset="-122"/>
                  <a:sym typeface="Wingdings" pitchFamily="2" charset="2"/>
                </a:rPr>
                <a:t></a:t>
              </a:r>
              <a:endParaRPr lang="zh-CN" altLang="en-US" kern="0" dirty="0">
                <a:solidFill>
                  <a:srgbClr val="CC00CC"/>
                </a:solidFill>
                <a:latin typeface="微软雅黑" pitchFamily="34" charset="-122"/>
                <a:ea typeface="微软雅黑" pitchFamily="34" charset="-122"/>
              </a:endParaRPr>
            </a:p>
          </p:txBody>
        </p:sp>
        <p:cxnSp>
          <p:nvCxnSpPr>
            <p:cNvPr id="224" name="直接连接符 119">
              <a:extLst>
                <a:ext uri="{FF2B5EF4-FFF2-40B4-BE49-F238E27FC236}">
                  <a16:creationId xmlns:a16="http://schemas.microsoft.com/office/drawing/2014/main" id="{0E596E60-FF98-284D-814B-769FBCD6E9B7}"/>
                </a:ext>
              </a:extLst>
            </p:cNvPr>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25" name="直接连接符 121">
              <a:extLst>
                <a:ext uri="{FF2B5EF4-FFF2-40B4-BE49-F238E27FC236}">
                  <a16:creationId xmlns:a16="http://schemas.microsoft.com/office/drawing/2014/main" id="{035A8FFD-4AC4-D947-B0DE-82A05265C262}"/>
                </a:ext>
              </a:extLst>
            </p:cNvPr>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26" name="Line 24">
              <a:extLst>
                <a:ext uri="{FF2B5EF4-FFF2-40B4-BE49-F238E27FC236}">
                  <a16:creationId xmlns:a16="http://schemas.microsoft.com/office/drawing/2014/main" id="{A6B186FF-2AF8-AA4B-8CC9-DEE78FC022C2}"/>
                </a:ext>
              </a:extLst>
            </p:cNvPr>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7" name="Line 22">
              <a:extLst>
                <a:ext uri="{FF2B5EF4-FFF2-40B4-BE49-F238E27FC236}">
                  <a16:creationId xmlns:a16="http://schemas.microsoft.com/office/drawing/2014/main" id="{8E7A2ADA-52A5-B344-BBA5-342649DB8F5B}"/>
                </a:ext>
              </a:extLst>
            </p:cNvPr>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28" name="Text Box 87">
              <a:extLst>
                <a:ext uri="{FF2B5EF4-FFF2-40B4-BE49-F238E27FC236}">
                  <a16:creationId xmlns:a16="http://schemas.microsoft.com/office/drawing/2014/main" id="{8D89213C-7C09-364D-A2AD-5B0B2CB17698}"/>
                </a:ext>
              </a:extLst>
            </p:cNvPr>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a:solidFill>
                    <a:srgbClr val="000000"/>
                  </a:solidFill>
                  <a:latin typeface="微软雅黑" pitchFamily="34" charset="-122"/>
                  <a:ea typeface="微软雅黑" pitchFamily="34" charset="-122"/>
                </a:rPr>
                <a:t>24</a:t>
              </a:r>
            </a:p>
          </p:txBody>
        </p:sp>
        <p:sp>
          <p:nvSpPr>
            <p:cNvPr id="229" name="Line 22">
              <a:extLst>
                <a:ext uri="{FF2B5EF4-FFF2-40B4-BE49-F238E27FC236}">
                  <a16:creationId xmlns:a16="http://schemas.microsoft.com/office/drawing/2014/main" id="{9FEC1F73-E84C-A24F-97D6-3D4D962D1785}"/>
                </a:ext>
              </a:extLst>
            </p:cNvPr>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30" name="直接连接符 134">
              <a:extLst>
                <a:ext uri="{FF2B5EF4-FFF2-40B4-BE49-F238E27FC236}">
                  <a16:creationId xmlns:a16="http://schemas.microsoft.com/office/drawing/2014/main" id="{EC84B855-7B15-AB41-9AA5-3683474D3781}"/>
                </a:ext>
              </a:extLst>
            </p:cNvPr>
            <p:cNvCxnSpPr>
              <a:cxnSpLocks noChangeShapeType="1"/>
              <a:stCxn id="222" idx="4"/>
            </p:cNvCxnSpPr>
            <p:nvPr/>
          </p:nvCxnSpPr>
          <p:spPr bwMode="auto">
            <a:xfrm>
              <a:off x="6706617" y="2109019"/>
              <a:ext cx="200025" cy="785812"/>
            </a:xfrm>
            <a:prstGeom prst="line">
              <a:avLst/>
            </a:prstGeom>
            <a:noFill/>
            <a:ln w="19050" algn="ctr">
              <a:solidFill>
                <a:srgbClr val="0000FF"/>
              </a:solidFill>
              <a:round/>
              <a:headEnd/>
              <a:tailEnd/>
            </a:ln>
          </p:spPr>
        </p:cxnSp>
        <p:sp>
          <p:nvSpPr>
            <p:cNvPr id="231" name="Text Box 206">
              <a:extLst>
                <a:ext uri="{FF2B5EF4-FFF2-40B4-BE49-F238E27FC236}">
                  <a16:creationId xmlns:a16="http://schemas.microsoft.com/office/drawing/2014/main" id="{E0D18B9D-AF80-9441-8680-914C722B4424}"/>
                </a:ext>
              </a:extLst>
            </p:cNvPr>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2" name="Text Box 206">
              <a:extLst>
                <a:ext uri="{FF2B5EF4-FFF2-40B4-BE49-F238E27FC236}">
                  <a16:creationId xmlns:a16="http://schemas.microsoft.com/office/drawing/2014/main" id="{E8249706-6CDF-224A-AA0E-4CFEA4F113E0}"/>
                </a:ext>
              </a:extLst>
            </p:cNvPr>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defRPr/>
              </a:pPr>
              <a:r>
                <a:rPr lang="zh-CN" altLang="en-US" sz="1200" b="1" kern="0" dirty="0">
                  <a:solidFill>
                    <a:srgbClr val="000000"/>
                  </a:solidFill>
                  <a:latin typeface="微软雅黑" pitchFamily="34" charset="-122"/>
                  <a:ea typeface="微软雅黑" pitchFamily="34" charset="-122"/>
                </a:rPr>
                <a:t>拥塞避免</a:t>
              </a:r>
            </a:p>
          </p:txBody>
        </p:sp>
        <p:sp>
          <p:nvSpPr>
            <p:cNvPr id="233" name="TextBox 147">
              <a:extLst>
                <a:ext uri="{FF2B5EF4-FFF2-40B4-BE49-F238E27FC236}">
                  <a16:creationId xmlns:a16="http://schemas.microsoft.com/office/drawing/2014/main" id="{BF7903E8-749F-9A4A-913A-CE22CB151070}"/>
                </a:ext>
              </a:extLst>
            </p:cNvPr>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34" name="TextBox 148">
              <a:extLst>
                <a:ext uri="{FF2B5EF4-FFF2-40B4-BE49-F238E27FC236}">
                  <a16:creationId xmlns:a16="http://schemas.microsoft.com/office/drawing/2014/main" id="{438D738D-490A-4C47-A6F7-3C3548A12160}"/>
                </a:ext>
              </a:extLst>
            </p:cNvPr>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a:solidFill>
                    <a:srgbClr val="CC00CC"/>
                  </a:solidFill>
                  <a:latin typeface="微软雅黑" pitchFamily="34" charset="-122"/>
                  <a:ea typeface="微软雅黑" pitchFamily="34" charset="-122"/>
                  <a:sym typeface="Wingdings" pitchFamily="2" charset="2"/>
                </a:rPr>
                <a:t></a:t>
              </a:r>
              <a:endParaRPr lang="zh-CN" altLang="en-US" sz="1800" kern="0">
                <a:solidFill>
                  <a:srgbClr val="CC00CC"/>
                </a:solidFill>
                <a:latin typeface="微软雅黑" pitchFamily="34" charset="-122"/>
                <a:ea typeface="微软雅黑" pitchFamily="34" charset="-122"/>
              </a:endParaRPr>
            </a:p>
          </p:txBody>
        </p:sp>
        <p:cxnSp>
          <p:nvCxnSpPr>
            <p:cNvPr id="235" name="直接连接符 153">
              <a:extLst>
                <a:ext uri="{FF2B5EF4-FFF2-40B4-BE49-F238E27FC236}">
                  <a16:creationId xmlns:a16="http://schemas.microsoft.com/office/drawing/2014/main" id="{8C43232D-30EC-654A-A92D-333A760D8684}"/>
                </a:ext>
              </a:extLst>
            </p:cNvPr>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36" name="直接连接符 119">
              <a:extLst>
                <a:ext uri="{FF2B5EF4-FFF2-40B4-BE49-F238E27FC236}">
                  <a16:creationId xmlns:a16="http://schemas.microsoft.com/office/drawing/2014/main" id="{887AA1DE-CA79-9A41-A6C9-AD457E2820B8}"/>
                </a:ext>
              </a:extLst>
            </p:cNvPr>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7" name="直接连接符 141">
              <a:extLst>
                <a:ext uri="{FF2B5EF4-FFF2-40B4-BE49-F238E27FC236}">
                  <a16:creationId xmlns:a16="http://schemas.microsoft.com/office/drawing/2014/main" id="{68A8E023-743B-C940-8FDC-FA2645D7C278}"/>
                </a:ext>
              </a:extLst>
            </p:cNvPr>
            <p:cNvCxnSpPr>
              <a:cxnSpLocks noChangeShapeType="1"/>
            </p:cNvCxnSpPr>
            <p:nvPr/>
          </p:nvCxnSpPr>
          <p:spPr bwMode="auto">
            <a:xfrm flipV="1">
              <a:off x="6921343" y="2049878"/>
              <a:ext cx="1219200" cy="528638"/>
            </a:xfrm>
            <a:prstGeom prst="line">
              <a:avLst/>
            </a:prstGeom>
            <a:noFill/>
            <a:ln w="19050" algn="ctr">
              <a:solidFill>
                <a:srgbClr val="0000FF"/>
              </a:solidFill>
              <a:round/>
              <a:headEnd/>
              <a:tailEnd/>
            </a:ln>
          </p:spPr>
        </p:cxnSp>
        <p:sp>
          <p:nvSpPr>
            <p:cNvPr id="238" name="Oval 202">
              <a:extLst>
                <a:ext uri="{FF2B5EF4-FFF2-40B4-BE49-F238E27FC236}">
                  <a16:creationId xmlns:a16="http://schemas.microsoft.com/office/drawing/2014/main" id="{DCFBA477-F8C9-FE41-9F4B-6F87880B053C}"/>
                </a:ext>
              </a:extLst>
            </p:cNvPr>
            <p:cNvSpPr>
              <a:spLocks noChangeArrowheads="1"/>
            </p:cNvSpPr>
            <p:nvPr/>
          </p:nvSpPr>
          <p:spPr bwMode="auto">
            <a:xfrm>
              <a:off x="7627780" y="2219741"/>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39" name="Oval 130">
              <a:extLst>
                <a:ext uri="{FF2B5EF4-FFF2-40B4-BE49-F238E27FC236}">
                  <a16:creationId xmlns:a16="http://schemas.microsoft.com/office/drawing/2014/main" id="{5D9440AC-4BC7-7C49-95F6-0B00C1FEB6C3}"/>
                </a:ext>
              </a:extLst>
            </p:cNvPr>
            <p:cNvSpPr>
              <a:spLocks noChangeArrowheads="1"/>
            </p:cNvSpPr>
            <p:nvPr/>
          </p:nvSpPr>
          <p:spPr bwMode="auto">
            <a:xfrm>
              <a:off x="7165818" y="2408653"/>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0" name="Oval 130">
              <a:extLst>
                <a:ext uri="{FF2B5EF4-FFF2-40B4-BE49-F238E27FC236}">
                  <a16:creationId xmlns:a16="http://schemas.microsoft.com/office/drawing/2014/main" id="{0436E3E1-6DB2-6540-A3F2-558153EF8FEE}"/>
                </a:ext>
              </a:extLst>
            </p:cNvPr>
            <p:cNvSpPr>
              <a:spLocks noChangeArrowheads="1"/>
            </p:cNvSpPr>
            <p:nvPr/>
          </p:nvSpPr>
          <p:spPr bwMode="auto">
            <a:xfrm>
              <a:off x="7399181" y="2316578"/>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1" name="TextBox 149">
              <a:extLst>
                <a:ext uri="{FF2B5EF4-FFF2-40B4-BE49-F238E27FC236}">
                  <a16:creationId xmlns:a16="http://schemas.microsoft.com/office/drawing/2014/main" id="{EE587516-83F3-F54C-B367-7FDDFAE09619}"/>
                </a:ext>
              </a:extLst>
            </p:cNvPr>
            <p:cNvSpPr txBox="1">
              <a:spLocks noChangeArrowheads="1"/>
            </p:cNvSpPr>
            <p:nvPr/>
          </p:nvSpPr>
          <p:spPr bwMode="auto">
            <a:xfrm>
              <a:off x="6663185" y="2466590"/>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1800" kern="0" dirty="0">
                  <a:solidFill>
                    <a:srgbClr val="CC00CC"/>
                  </a:solidFill>
                  <a:latin typeface="微软雅黑" pitchFamily="34" charset="-122"/>
                  <a:ea typeface="微软雅黑" pitchFamily="34" charset="-122"/>
                  <a:sym typeface="Wingdings" pitchFamily="2" charset="2"/>
                </a:rPr>
                <a:t></a:t>
              </a:r>
              <a:endParaRPr lang="zh-CN" altLang="en-US" sz="1800" kern="0" dirty="0">
                <a:solidFill>
                  <a:srgbClr val="CC00CC"/>
                </a:solidFill>
                <a:latin typeface="微软雅黑" pitchFamily="34" charset="-122"/>
                <a:ea typeface="微软雅黑" pitchFamily="34" charset="-122"/>
              </a:endParaRPr>
            </a:p>
          </p:txBody>
        </p:sp>
        <p:sp>
          <p:nvSpPr>
            <p:cNvPr id="242" name="Oval 202">
              <a:extLst>
                <a:ext uri="{FF2B5EF4-FFF2-40B4-BE49-F238E27FC236}">
                  <a16:creationId xmlns:a16="http://schemas.microsoft.com/office/drawing/2014/main" id="{CDDD744F-7F88-0B43-9721-C7CA2A2B18F8}"/>
                </a:ext>
              </a:extLst>
            </p:cNvPr>
            <p:cNvSpPr>
              <a:spLocks noChangeArrowheads="1"/>
            </p:cNvSpPr>
            <p:nvPr/>
          </p:nvSpPr>
          <p:spPr bwMode="auto">
            <a:xfrm>
              <a:off x="7864317" y="2102266"/>
              <a:ext cx="88900" cy="88900"/>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cxnSp>
          <p:nvCxnSpPr>
            <p:cNvPr id="243" name="直接连接符 126">
              <a:extLst>
                <a:ext uri="{FF2B5EF4-FFF2-40B4-BE49-F238E27FC236}">
                  <a16:creationId xmlns:a16="http://schemas.microsoft.com/office/drawing/2014/main" id="{8A966D9E-7914-A341-9072-87D76BE6E4B7}"/>
                </a:ext>
              </a:extLst>
            </p:cNvPr>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44" name="直接连接符 119">
              <a:extLst>
                <a:ext uri="{FF2B5EF4-FFF2-40B4-BE49-F238E27FC236}">
                  <a16:creationId xmlns:a16="http://schemas.microsoft.com/office/drawing/2014/main" id="{C17EF118-E16A-0141-ADB9-1731EFEE50EE}"/>
                </a:ext>
              </a:extLst>
            </p:cNvPr>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45" name="Text Box 140">
            <a:extLst>
              <a:ext uri="{FF2B5EF4-FFF2-40B4-BE49-F238E27FC236}">
                <a16:creationId xmlns:a16="http://schemas.microsoft.com/office/drawing/2014/main" id="{A663C0B6-354B-3844-AD6C-00F6DFE71886}"/>
              </a:ext>
            </a:extLst>
          </p:cNvPr>
          <p:cNvSpPr txBox="1">
            <a:spLocks noChangeArrowheads="1"/>
          </p:cNvSpPr>
          <p:nvPr/>
        </p:nvSpPr>
        <p:spPr bwMode="auto">
          <a:xfrm>
            <a:off x="7882489" y="4000127"/>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246" name="Line 167">
            <a:extLst>
              <a:ext uri="{FF2B5EF4-FFF2-40B4-BE49-F238E27FC236}">
                <a16:creationId xmlns:a16="http://schemas.microsoft.com/office/drawing/2014/main" id="{C2B1BF73-9B4E-5142-9373-A983D7387B30}"/>
              </a:ext>
            </a:extLst>
          </p:cNvPr>
          <p:cNvSpPr>
            <a:spLocks noChangeShapeType="1"/>
          </p:cNvSpPr>
          <p:nvPr/>
        </p:nvSpPr>
        <p:spPr bwMode="auto">
          <a:xfrm flipH="1" flipV="1">
            <a:off x="7937413" y="3914598"/>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prstClr val="black"/>
              </a:solidFill>
              <a:latin typeface="Calibri"/>
              <a:ea typeface="宋体" panose="02010600030101010101" pitchFamily="2" charset="-122"/>
            </a:endParaRPr>
          </a:p>
        </p:txBody>
      </p:sp>
      <p:sp>
        <p:nvSpPr>
          <p:cNvPr id="247" name="Line 147">
            <a:extLst>
              <a:ext uri="{FF2B5EF4-FFF2-40B4-BE49-F238E27FC236}">
                <a16:creationId xmlns:a16="http://schemas.microsoft.com/office/drawing/2014/main" id="{9B913FE5-2905-F24F-AE82-928998E69A73}"/>
              </a:ext>
            </a:extLst>
          </p:cNvPr>
          <p:cNvSpPr>
            <a:spLocks noChangeShapeType="1"/>
          </p:cNvSpPr>
          <p:nvPr/>
        </p:nvSpPr>
        <p:spPr bwMode="auto">
          <a:xfrm rot="10800000">
            <a:off x="4165993" y="3693951"/>
            <a:ext cx="354387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8" name="Oval 130">
            <a:extLst>
              <a:ext uri="{FF2B5EF4-FFF2-40B4-BE49-F238E27FC236}">
                <a16:creationId xmlns:a16="http://schemas.microsoft.com/office/drawing/2014/main" id="{A491F27B-7935-2442-8DF3-305B60B7AAF0}"/>
              </a:ext>
            </a:extLst>
          </p:cNvPr>
          <p:cNvSpPr>
            <a:spLocks noChangeArrowheads="1"/>
          </p:cNvSpPr>
          <p:nvPr/>
        </p:nvSpPr>
        <p:spPr bwMode="auto">
          <a:xfrm>
            <a:off x="7688321" y="3657639"/>
            <a:ext cx="62803" cy="65018"/>
          </a:xfrm>
          <a:prstGeom prst="ellipse">
            <a:avLst/>
          </a:prstGeom>
          <a:solidFill>
            <a:srgbClr val="0000FF"/>
          </a:solidFill>
          <a:ln w="9525">
            <a:solidFill>
              <a:srgbClr val="0000FF"/>
            </a:solidFill>
            <a:round/>
            <a:headEnd/>
            <a:tailEnd/>
          </a:ln>
        </p:spPr>
        <p:txBody>
          <a:bodyPr wrap="none" anchor="ctr"/>
          <a:lstStyle/>
          <a:p>
            <a:pPr>
              <a:defRPr/>
            </a:pPr>
            <a:endParaRPr lang="zh-CN" altLang="en-US" sz="1200" b="1" kern="0">
              <a:solidFill>
                <a:sysClr val="windowText" lastClr="000000"/>
              </a:solidFill>
              <a:latin typeface="微软雅黑" pitchFamily="34" charset="-122"/>
              <a:ea typeface="微软雅黑" pitchFamily="34" charset="-122"/>
            </a:endParaRPr>
          </a:p>
        </p:txBody>
      </p:sp>
      <p:sp>
        <p:nvSpPr>
          <p:cNvPr id="249" name="Text Box 93">
            <a:extLst>
              <a:ext uri="{FF2B5EF4-FFF2-40B4-BE49-F238E27FC236}">
                <a16:creationId xmlns:a16="http://schemas.microsoft.com/office/drawing/2014/main" id="{453BAE1B-5855-284B-B81A-CF38C809BC5F}"/>
              </a:ext>
            </a:extLst>
          </p:cNvPr>
          <p:cNvSpPr txBox="1">
            <a:spLocks noChangeArrowheads="1"/>
          </p:cNvSpPr>
          <p:nvPr/>
        </p:nvSpPr>
        <p:spPr bwMode="auto">
          <a:xfrm>
            <a:off x="3888747" y="362370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en-US" altLang="zh-CN" sz="1000" b="1" kern="0" dirty="0">
                <a:solidFill>
                  <a:srgbClr val="000000"/>
                </a:solidFill>
                <a:latin typeface="微软雅黑" pitchFamily="34" charset="-122"/>
                <a:ea typeface="微软雅黑" pitchFamily="34" charset="-122"/>
              </a:rPr>
              <a:t>11</a:t>
            </a:r>
          </a:p>
        </p:txBody>
      </p:sp>
      <p:sp>
        <p:nvSpPr>
          <p:cNvPr id="252" name="Line 167">
            <a:extLst>
              <a:ext uri="{FF2B5EF4-FFF2-40B4-BE49-F238E27FC236}">
                <a16:creationId xmlns:a16="http://schemas.microsoft.com/office/drawing/2014/main" id="{AA46E8EB-3C81-8649-B40F-E41E73EBB0A4}"/>
              </a:ext>
            </a:extLst>
          </p:cNvPr>
          <p:cNvSpPr>
            <a:spLocks noChangeShapeType="1"/>
          </p:cNvSpPr>
          <p:nvPr/>
        </p:nvSpPr>
        <p:spPr bwMode="auto">
          <a:xfrm flipV="1">
            <a:off x="7309676" y="3727406"/>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a:defRPr/>
            </a:pPr>
            <a:endParaRPr lang="zh-CN" altLang="en-US" sz="2400" b="1" kern="0" dirty="0">
              <a:solidFill>
                <a:sysClr val="windowText" lastClr="000000"/>
              </a:solidFill>
              <a:latin typeface="Calibri"/>
              <a:ea typeface="宋体" panose="02010600030101010101" pitchFamily="2" charset="-122"/>
            </a:endParaRPr>
          </a:p>
        </p:txBody>
      </p:sp>
      <p:sp>
        <p:nvSpPr>
          <p:cNvPr id="251" name="Text Box 155">
            <a:extLst>
              <a:ext uri="{FF2B5EF4-FFF2-40B4-BE49-F238E27FC236}">
                <a16:creationId xmlns:a16="http://schemas.microsoft.com/office/drawing/2014/main" id="{B31DAF31-17D2-9148-B42D-F90794C99407}"/>
              </a:ext>
            </a:extLst>
          </p:cNvPr>
          <p:cNvSpPr txBox="1">
            <a:spLocks noChangeArrowheads="1"/>
          </p:cNvSpPr>
          <p:nvPr/>
        </p:nvSpPr>
        <p:spPr bwMode="auto">
          <a:xfrm>
            <a:off x="3043104" y="4769527"/>
            <a:ext cx="7119944"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执行</a:t>
            </a:r>
            <a:r>
              <a:rPr lang="zh-CN" altLang="en-US" sz="1600" b="1" dirty="0">
                <a:solidFill>
                  <a:srgbClr val="C00000"/>
                </a:solidFill>
                <a:latin typeface="微软雅黑" pitchFamily="34" charset="-122"/>
                <a:ea typeface="微软雅黑" pitchFamily="34" charset="-122"/>
              </a:rPr>
              <a:t>快重传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快恢复</a:t>
            </a:r>
            <a:r>
              <a:rPr lang="zh-CN" altLang="en-US" sz="1600" b="1" dirty="0">
                <a:solidFill>
                  <a:srgbClr val="0000FF"/>
                </a:solidFill>
                <a:latin typeface="微软雅黑" pitchFamily="34" charset="-122"/>
                <a:ea typeface="微软雅黑" pitchFamily="34" charset="-122"/>
              </a:rPr>
              <a:t>算法：发送方调整门限值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2 = 8</a:t>
            </a:r>
            <a:r>
              <a:rPr lang="zh-CN" altLang="en-US" sz="1600" b="1" dirty="0">
                <a:solidFill>
                  <a:srgbClr val="0000FF"/>
                </a:solidFill>
                <a:latin typeface="微软雅黑" pitchFamily="34" charset="-122"/>
                <a:ea typeface="微软雅黑" pitchFamily="34" charset="-122"/>
              </a:rPr>
              <a:t>，设置拥塞窗口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ssthresh+3 = 11</a:t>
            </a:r>
            <a:r>
              <a:rPr lang="zh-CN" altLang="en-US" sz="1600" b="1" dirty="0">
                <a:solidFill>
                  <a:srgbClr val="0000FF"/>
                </a:solidFill>
                <a:latin typeface="微软雅黑" pitchFamily="34" charset="-122"/>
                <a:ea typeface="微软雅黑" pitchFamily="34" charset="-122"/>
              </a:rPr>
              <a:t>，开始执行拥塞避免算法。</a:t>
            </a:r>
          </a:p>
        </p:txBody>
      </p:sp>
    </p:spTree>
    <p:extLst>
      <p:ext uri="{BB962C8B-B14F-4D97-AF65-F5344CB8AC3E}">
        <p14:creationId xmlns:p14="http://schemas.microsoft.com/office/powerpoint/2010/main" val="31275791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16CEF-6095-2A98-0DCF-3EC5B3B8F840}"/>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7AE2ECC3-BDFD-E755-64F1-8C5426B6BC85}"/>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E13B276F-87BC-1271-CD94-14C9ED78D24B}"/>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C655A8D5-950E-19A9-1E70-B47EA1AFF699}"/>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6B6A81CE-F916-ADA0-81AC-7399A885E077}"/>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43967B66-C621-7CEE-865B-1A12FAE1FAD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792038D5-50E7-466B-5CBD-9A8777BCD6E7}"/>
              </a:ext>
            </a:extLst>
          </p:cNvPr>
          <p:cNvGrpSpPr/>
          <p:nvPr/>
        </p:nvGrpSpPr>
        <p:grpSpPr>
          <a:xfrm>
            <a:off x="505664" y="1426139"/>
            <a:ext cx="4559496" cy="525530"/>
            <a:chOff x="722008" y="1303131"/>
            <a:chExt cx="4353541" cy="501792"/>
          </a:xfrm>
        </p:grpSpPr>
        <p:sp>
          <p:nvSpPr>
            <p:cNvPr id="50" name="流程图: 手动输入 6">
              <a:extLst>
                <a:ext uri="{FF2B5EF4-FFF2-40B4-BE49-F238E27FC236}">
                  <a16:creationId xmlns:a16="http://schemas.microsoft.com/office/drawing/2014/main" id="{672FA080-32CE-DDAC-5AE4-202FC7BB9F87}"/>
                </a:ext>
              </a:extLst>
            </p:cNvPr>
            <p:cNvSpPr/>
            <p:nvPr/>
          </p:nvSpPr>
          <p:spPr>
            <a:xfrm rot="5400000" flipV="1">
              <a:off x="1822947" y="472191"/>
              <a:ext cx="475861" cy="21445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9A9E18EC-6EC1-AF40-92B4-84CEDBCA8394}"/>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77B597EC-2670-3919-29BA-C1A154605323}"/>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DF5AC1E3-9EE2-E304-2626-1B3F15B57008}"/>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787FE954-F11B-10EE-FB87-2CF94DCE9ABA}"/>
                </a:ext>
              </a:extLst>
            </p:cNvPr>
            <p:cNvSpPr txBox="1">
              <a:spLocks noChangeArrowheads="1"/>
            </p:cNvSpPr>
            <p:nvPr/>
          </p:nvSpPr>
          <p:spPr bwMode="auto">
            <a:xfrm>
              <a:off x="1268603" y="1334724"/>
              <a:ext cx="3806946"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TCP</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拥塞控制流程图</a:t>
              </a:r>
            </a:p>
          </p:txBody>
        </p:sp>
      </p:grpSp>
      <p:sp>
        <p:nvSpPr>
          <p:cNvPr id="2" name="圆角矩形 1">
            <a:extLst>
              <a:ext uri="{FF2B5EF4-FFF2-40B4-BE49-F238E27FC236}">
                <a16:creationId xmlns:a16="http://schemas.microsoft.com/office/drawing/2014/main" id="{8E2072DB-E184-79AB-08CD-76DC27DF9834}"/>
              </a:ext>
            </a:extLst>
          </p:cNvPr>
          <p:cNvSpPr/>
          <p:nvPr/>
        </p:nvSpPr>
        <p:spPr>
          <a:xfrm>
            <a:off x="2271204" y="2249058"/>
            <a:ext cx="8053710"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94DEF4AD-8E5A-2F93-A10E-60D0DF8036A8}"/>
              </a:ext>
            </a:extLst>
          </p:cNvPr>
          <p:cNvGrpSpPr/>
          <p:nvPr/>
        </p:nvGrpSpPr>
        <p:grpSpPr>
          <a:xfrm>
            <a:off x="3108632" y="2318362"/>
            <a:ext cx="6744092" cy="3248935"/>
            <a:chOff x="41479" y="1207205"/>
            <a:chExt cx="10835585" cy="5219993"/>
          </a:xfrm>
        </p:grpSpPr>
        <p:cxnSp>
          <p:nvCxnSpPr>
            <p:cNvPr id="4" name="肘形连接符 105">
              <a:extLst>
                <a:ext uri="{FF2B5EF4-FFF2-40B4-BE49-F238E27FC236}">
                  <a16:creationId xmlns:a16="http://schemas.microsoft.com/office/drawing/2014/main" id="{EF85DB2D-CED6-E068-361F-6671DC9AFBDD}"/>
                </a:ext>
              </a:extLst>
            </p:cNvPr>
            <p:cNvCxnSpPr>
              <a:endCxn id="13" idx="0"/>
            </p:cNvCxnSpPr>
            <p:nvPr/>
          </p:nvCxnSpPr>
          <p:spPr>
            <a:xfrm>
              <a:off x="7565199" y="2730400"/>
              <a:ext cx="1800394" cy="863599"/>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 name="肘形连接符 13">
              <a:extLst>
                <a:ext uri="{FF2B5EF4-FFF2-40B4-BE49-F238E27FC236}">
                  <a16:creationId xmlns:a16="http://schemas.microsoft.com/office/drawing/2014/main" id="{BF7F7447-7344-F403-2A81-AD7B2E618B4D}"/>
                </a:ext>
              </a:extLst>
            </p:cNvPr>
            <p:cNvCxnSpPr>
              <a:endCxn id="13" idx="2"/>
            </p:cNvCxnSpPr>
            <p:nvPr/>
          </p:nvCxnSpPr>
          <p:spPr>
            <a:xfrm flipV="1">
              <a:off x="7565199" y="4335747"/>
              <a:ext cx="1800394" cy="555172"/>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A25B7A02-2159-4FB8-9FEA-A1AFBD15AFEE}"/>
                </a:ext>
              </a:extLst>
            </p:cNvPr>
            <p:cNvCxnSpPr/>
            <p:nvPr/>
          </p:nvCxnSpPr>
          <p:spPr>
            <a:xfrm>
              <a:off x="5005388" y="1668870"/>
              <a:ext cx="0" cy="499555"/>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7" name="TextBox 31">
              <a:extLst>
                <a:ext uri="{FF2B5EF4-FFF2-40B4-BE49-F238E27FC236}">
                  <a16:creationId xmlns:a16="http://schemas.microsoft.com/office/drawing/2014/main" id="{9F22BE92-68D2-F9B9-D206-C191535A2526}"/>
                </a:ext>
              </a:extLst>
            </p:cNvPr>
            <p:cNvSpPr txBox="1">
              <a:spLocks noChangeArrowheads="1"/>
            </p:cNvSpPr>
            <p:nvPr/>
          </p:nvSpPr>
          <p:spPr bwMode="auto">
            <a:xfrm>
              <a:off x="4091988" y="1207205"/>
              <a:ext cx="1834898"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200" b="1" dirty="0">
                  <a:latin typeface="微软雅黑" pitchFamily="34" charset="-122"/>
                  <a:ea typeface="微软雅黑" pitchFamily="34" charset="-122"/>
                </a:rPr>
                <a:t>TCP </a:t>
              </a:r>
              <a:r>
                <a:rPr lang="zh-CN" altLang="en-US" sz="1200" b="1" dirty="0">
                  <a:latin typeface="微软雅黑" pitchFamily="34" charset="-122"/>
                  <a:ea typeface="微软雅黑" pitchFamily="34" charset="-122"/>
                </a:rPr>
                <a:t>连接建立</a:t>
              </a:r>
            </a:p>
          </p:txBody>
        </p:sp>
        <p:cxnSp>
          <p:nvCxnSpPr>
            <p:cNvPr id="8" name="直接箭头连接符 7">
              <a:extLst>
                <a:ext uri="{FF2B5EF4-FFF2-40B4-BE49-F238E27FC236}">
                  <a16:creationId xmlns:a16="http://schemas.microsoft.com/office/drawing/2014/main" id="{F6EAE0E5-2BF2-61A4-BDAC-DC479C6F6114}"/>
                </a:ext>
              </a:extLst>
            </p:cNvPr>
            <p:cNvCxnSpPr/>
            <p:nvPr/>
          </p:nvCxnSpPr>
          <p:spPr>
            <a:xfrm>
              <a:off x="5023645" y="3451125"/>
              <a:ext cx="0" cy="939330"/>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9" name="AutoShape 5">
              <a:extLst>
                <a:ext uri="{FF2B5EF4-FFF2-40B4-BE49-F238E27FC236}">
                  <a16:creationId xmlns:a16="http://schemas.microsoft.com/office/drawing/2014/main" id="{DAA355CF-58E9-07F8-0CDE-72196554255A}"/>
                </a:ext>
              </a:extLst>
            </p:cNvPr>
            <p:cNvSpPr>
              <a:spLocks noChangeArrowheads="1"/>
            </p:cNvSpPr>
            <p:nvPr/>
          </p:nvSpPr>
          <p:spPr bwMode="auto">
            <a:xfrm>
              <a:off x="2809082" y="4390456"/>
              <a:ext cx="4870860" cy="1169986"/>
            </a:xfrm>
            <a:prstGeom prst="flowChartProcess">
              <a:avLst/>
            </a:prstGeom>
            <a:solidFill>
              <a:srgbClr val="66FFCC"/>
            </a:solidFill>
            <a:ln w="9525">
              <a:solidFill>
                <a:schemeClr val="tx1"/>
              </a:solidFill>
              <a:miter lim="800000"/>
              <a:headEnd/>
              <a:tailEnd/>
            </a:ln>
          </p:spPr>
          <p:txBody>
            <a:bodyPr wrap="none" anchor="ctr"/>
            <a:lstStyle/>
            <a:p>
              <a:pPr algn="ctr"/>
              <a:endParaRPr lang="zh-CN" altLang="zh-CN" sz="1200" b="1">
                <a:latin typeface="微软雅黑" pitchFamily="34" charset="-122"/>
                <a:ea typeface="微软雅黑" pitchFamily="34" charset="-122"/>
              </a:endParaRPr>
            </a:p>
          </p:txBody>
        </p:sp>
        <p:sp>
          <p:nvSpPr>
            <p:cNvPr id="10" name="TextBox 65">
              <a:extLst>
                <a:ext uri="{FF2B5EF4-FFF2-40B4-BE49-F238E27FC236}">
                  <a16:creationId xmlns:a16="http://schemas.microsoft.com/office/drawing/2014/main" id="{E41755C7-E75F-2861-0FFA-52D2D87789FF}"/>
                </a:ext>
              </a:extLst>
            </p:cNvPr>
            <p:cNvSpPr txBox="1">
              <a:spLocks noChangeArrowheads="1"/>
            </p:cNvSpPr>
            <p:nvPr/>
          </p:nvSpPr>
          <p:spPr bwMode="auto">
            <a:xfrm>
              <a:off x="41479" y="1387974"/>
              <a:ext cx="2733943" cy="741747"/>
            </a:xfrm>
            <a:prstGeom prst="rect">
              <a:avLst/>
            </a:prstGeom>
            <a:solidFill>
              <a:srgbClr val="FFFF99"/>
            </a:solidFill>
            <a:ln w="12700">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err="1">
                  <a:latin typeface="微软雅黑" pitchFamily="34" charset="-122"/>
                  <a:ea typeface="微软雅黑" pitchFamily="34" charset="-122"/>
                  <a:cs typeface="Times New Roman" pitchFamily="18" charset="0"/>
                </a:rPr>
                <a:t>ssthresh</a:t>
              </a:r>
              <a:r>
                <a:rPr lang="en-US" altLang="zh-CN" sz="1200" b="1" dirty="0">
                  <a:latin typeface="微软雅黑" pitchFamily="34" charset="-122"/>
                  <a:ea typeface="微软雅黑" pitchFamily="34" charset="-122"/>
                  <a:cs typeface="Times New Roman" pitchFamily="18" charset="0"/>
                </a:rPr>
                <a:t> = </a:t>
              </a:r>
              <a:r>
                <a:rPr lang="en-US" altLang="zh-CN" sz="1200" b="1" dirty="0" err="1">
                  <a:latin typeface="微软雅黑" pitchFamily="34" charset="-122"/>
                  <a:ea typeface="微软雅黑" pitchFamily="34" charset="-122"/>
                  <a:cs typeface="Times New Roman" pitchFamily="18" charset="0"/>
                </a:rPr>
                <a:t>cwnd</a:t>
              </a:r>
              <a:r>
                <a:rPr lang="en-US" altLang="zh-CN" sz="1200" b="1" dirty="0">
                  <a:latin typeface="微软雅黑" pitchFamily="34" charset="-122"/>
                  <a:ea typeface="微软雅黑" pitchFamily="34" charset="-122"/>
                  <a:cs typeface="Times New Roman" pitchFamily="18" charset="0"/>
                </a:rPr>
                <a:t> / 2</a:t>
              </a:r>
            </a:p>
            <a:p>
              <a:pPr algn="ctr" eaLnBrk="1" hangingPunct="1"/>
              <a:r>
                <a:rPr lang="en-US" altLang="zh-CN" sz="1200" b="1" dirty="0" err="1">
                  <a:latin typeface="微软雅黑" pitchFamily="34" charset="-122"/>
                  <a:ea typeface="微软雅黑" pitchFamily="34" charset="-122"/>
                  <a:cs typeface="Times New Roman" pitchFamily="18" charset="0"/>
                </a:rPr>
                <a:t>cwnd</a:t>
              </a:r>
              <a:r>
                <a:rPr lang="en-US" altLang="zh-CN" sz="1200" b="1" dirty="0">
                  <a:latin typeface="微软雅黑" pitchFamily="34" charset="-122"/>
                  <a:ea typeface="微软雅黑" pitchFamily="34" charset="-122"/>
                  <a:cs typeface="Times New Roman" pitchFamily="18" charset="0"/>
                </a:rPr>
                <a:t> = 1</a:t>
              </a:r>
              <a:endParaRPr lang="zh-CN" altLang="en-US" sz="1200" b="1" dirty="0">
                <a:latin typeface="微软雅黑" pitchFamily="34" charset="-122"/>
                <a:ea typeface="微软雅黑" pitchFamily="34" charset="-122"/>
                <a:cs typeface="Times New Roman" pitchFamily="18" charset="0"/>
              </a:endParaRPr>
            </a:p>
          </p:txBody>
        </p:sp>
        <p:cxnSp>
          <p:nvCxnSpPr>
            <p:cNvPr id="11" name="肘形连接符 9">
              <a:extLst>
                <a:ext uri="{FF2B5EF4-FFF2-40B4-BE49-F238E27FC236}">
                  <a16:creationId xmlns:a16="http://schemas.microsoft.com/office/drawing/2014/main" id="{93887115-65FC-EC88-4B59-A1D17DDE59F6}"/>
                </a:ext>
              </a:extLst>
            </p:cNvPr>
            <p:cNvCxnSpPr>
              <a:stCxn id="21" idx="1"/>
              <a:endCxn id="10" idx="2"/>
            </p:cNvCxnSpPr>
            <p:nvPr/>
          </p:nvCxnSpPr>
          <p:spPr>
            <a:xfrm rot="10800000">
              <a:off x="1408450" y="2129721"/>
              <a:ext cx="1402453" cy="678741"/>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2" name="肘形连接符 10">
              <a:extLst>
                <a:ext uri="{FF2B5EF4-FFF2-40B4-BE49-F238E27FC236}">
                  <a16:creationId xmlns:a16="http://schemas.microsoft.com/office/drawing/2014/main" id="{DD4B2F45-1D6B-650A-AC75-4D7140B0EB2A}"/>
                </a:ext>
              </a:extLst>
            </p:cNvPr>
            <p:cNvCxnSpPr>
              <a:stCxn id="9" idx="1"/>
              <a:endCxn id="10" idx="2"/>
            </p:cNvCxnSpPr>
            <p:nvPr/>
          </p:nvCxnSpPr>
          <p:spPr>
            <a:xfrm rot="10800000">
              <a:off x="1408450" y="2129723"/>
              <a:ext cx="1400631" cy="2845728"/>
            </a:xfrm>
            <a:prstGeom prst="bentConnector2">
              <a:avLst/>
            </a:prstGeom>
            <a:ln w="12700">
              <a:solidFill>
                <a:srgbClr val="0033CC"/>
              </a:solidFill>
            </a:ln>
          </p:spPr>
          <p:style>
            <a:lnRef idx="1">
              <a:schemeClr val="accent1"/>
            </a:lnRef>
            <a:fillRef idx="0">
              <a:schemeClr val="accent1"/>
            </a:fillRef>
            <a:effectRef idx="0">
              <a:schemeClr val="accent1"/>
            </a:effectRef>
            <a:fontRef idx="minor">
              <a:schemeClr val="tx1"/>
            </a:fontRef>
          </p:style>
        </p:cxnSp>
        <p:sp>
          <p:nvSpPr>
            <p:cNvPr id="13" name="TextBox 36">
              <a:extLst>
                <a:ext uri="{FF2B5EF4-FFF2-40B4-BE49-F238E27FC236}">
                  <a16:creationId xmlns:a16="http://schemas.microsoft.com/office/drawing/2014/main" id="{F5F60DDF-2A03-301D-8D4C-F0E5E25DB410}"/>
                </a:ext>
              </a:extLst>
            </p:cNvPr>
            <p:cNvSpPr txBox="1">
              <a:spLocks noChangeArrowheads="1"/>
            </p:cNvSpPr>
            <p:nvPr/>
          </p:nvSpPr>
          <p:spPr bwMode="auto">
            <a:xfrm>
              <a:off x="7854125" y="3594000"/>
              <a:ext cx="3022939" cy="741747"/>
            </a:xfrm>
            <a:prstGeom prst="rect">
              <a:avLst/>
            </a:prstGeom>
            <a:solidFill>
              <a:srgbClr val="FFFF99"/>
            </a:solidFill>
            <a:ln w="9525">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err="1">
                  <a:latin typeface="微软雅黑" pitchFamily="34" charset="-122"/>
                  <a:ea typeface="微软雅黑" pitchFamily="34" charset="-122"/>
                  <a:cs typeface="Times New Roman" pitchFamily="18" charset="0"/>
                </a:rPr>
                <a:t>ssthresh</a:t>
              </a:r>
              <a:r>
                <a:rPr lang="en-US" altLang="zh-CN" sz="1200" b="1" dirty="0">
                  <a:latin typeface="微软雅黑" pitchFamily="34" charset="-122"/>
                  <a:ea typeface="微软雅黑" pitchFamily="34" charset="-122"/>
                  <a:cs typeface="Times New Roman" pitchFamily="18" charset="0"/>
                </a:rPr>
                <a:t> = </a:t>
              </a:r>
              <a:r>
                <a:rPr lang="en-US" altLang="zh-CN" sz="1200" b="1" dirty="0" err="1">
                  <a:latin typeface="微软雅黑" pitchFamily="34" charset="-122"/>
                  <a:ea typeface="微软雅黑" pitchFamily="34" charset="-122"/>
                  <a:cs typeface="Times New Roman" pitchFamily="18" charset="0"/>
                </a:rPr>
                <a:t>cwnd</a:t>
              </a:r>
              <a:r>
                <a:rPr lang="en-US" altLang="zh-CN" sz="1200" b="1" dirty="0">
                  <a:latin typeface="微软雅黑" pitchFamily="34" charset="-122"/>
                  <a:ea typeface="微软雅黑" pitchFamily="34" charset="-122"/>
                  <a:cs typeface="Times New Roman" pitchFamily="18" charset="0"/>
                </a:rPr>
                <a:t> / 2</a:t>
              </a:r>
            </a:p>
            <a:p>
              <a:pPr algn="ctr" eaLnBrk="1" hangingPunct="1"/>
              <a:r>
                <a:rPr lang="en-US" altLang="zh-CN" sz="1200" b="1" dirty="0" err="1">
                  <a:latin typeface="微软雅黑" pitchFamily="34" charset="-122"/>
                  <a:ea typeface="微软雅黑" pitchFamily="34" charset="-122"/>
                  <a:cs typeface="Times New Roman" pitchFamily="18" charset="0"/>
                </a:rPr>
                <a:t>cwnd</a:t>
              </a:r>
              <a:r>
                <a:rPr lang="en-US" altLang="zh-CN" sz="1200" b="1" dirty="0">
                  <a:latin typeface="微软雅黑" pitchFamily="34" charset="-122"/>
                  <a:ea typeface="微软雅黑" pitchFamily="34" charset="-122"/>
                  <a:cs typeface="Times New Roman" pitchFamily="18" charset="0"/>
                </a:rPr>
                <a:t> = ssthresh+3</a:t>
              </a:r>
              <a:endParaRPr lang="zh-CN" altLang="en-US" sz="1200" b="1" dirty="0">
                <a:latin typeface="微软雅黑" pitchFamily="34" charset="-122"/>
                <a:ea typeface="微软雅黑" pitchFamily="34" charset="-122"/>
                <a:cs typeface="Times New Roman" pitchFamily="18" charset="0"/>
              </a:endParaRPr>
            </a:p>
          </p:txBody>
        </p:sp>
        <p:cxnSp>
          <p:nvCxnSpPr>
            <p:cNvPr id="14" name="直接箭头连接符 13">
              <a:extLst>
                <a:ext uri="{FF2B5EF4-FFF2-40B4-BE49-F238E27FC236}">
                  <a16:creationId xmlns:a16="http://schemas.microsoft.com/office/drawing/2014/main" id="{8DD4DB21-BF54-514F-6762-BD3710394780}"/>
                </a:ext>
              </a:extLst>
            </p:cNvPr>
            <p:cNvCxnSpPr>
              <a:stCxn id="13" idx="1"/>
            </p:cNvCxnSpPr>
            <p:nvPr/>
          </p:nvCxnSpPr>
          <p:spPr>
            <a:xfrm flipH="1">
              <a:off x="5022057" y="3964874"/>
              <a:ext cx="2832067" cy="1271"/>
            </a:xfrm>
            <a:prstGeom prst="straightConnector1">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C160252C-A107-EEBC-A1AC-FF63461DE6B1}"/>
                </a:ext>
              </a:extLst>
            </p:cNvPr>
            <p:cNvCxnSpPr/>
            <p:nvPr/>
          </p:nvCxnSpPr>
          <p:spPr>
            <a:xfrm>
              <a:off x="5022057" y="5558286"/>
              <a:ext cx="4762" cy="466726"/>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6" name="TextBox 114">
              <a:extLst>
                <a:ext uri="{FF2B5EF4-FFF2-40B4-BE49-F238E27FC236}">
                  <a16:creationId xmlns:a16="http://schemas.microsoft.com/office/drawing/2014/main" id="{4BADFA33-6A6A-3796-1E37-E07705A47F5E}"/>
                </a:ext>
              </a:extLst>
            </p:cNvPr>
            <p:cNvSpPr txBox="1">
              <a:spLocks noChangeArrowheads="1"/>
            </p:cNvSpPr>
            <p:nvPr/>
          </p:nvSpPr>
          <p:spPr bwMode="auto">
            <a:xfrm>
              <a:off x="4119516" y="5982150"/>
              <a:ext cx="1834895"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a:latin typeface="微软雅黑" pitchFamily="34" charset="-122"/>
                  <a:ea typeface="微软雅黑" pitchFamily="34" charset="-122"/>
                </a:rPr>
                <a:t>TCP </a:t>
              </a:r>
              <a:r>
                <a:rPr lang="zh-CN" altLang="en-US" sz="1200" b="1" dirty="0">
                  <a:latin typeface="微软雅黑" pitchFamily="34" charset="-122"/>
                  <a:ea typeface="微软雅黑" pitchFamily="34" charset="-122"/>
                </a:rPr>
                <a:t>连接释放</a:t>
              </a:r>
            </a:p>
          </p:txBody>
        </p:sp>
        <p:sp>
          <p:nvSpPr>
            <p:cNvPr id="17" name="AutoShape 5">
              <a:extLst>
                <a:ext uri="{FF2B5EF4-FFF2-40B4-BE49-F238E27FC236}">
                  <a16:creationId xmlns:a16="http://schemas.microsoft.com/office/drawing/2014/main" id="{7B7B258B-2299-7BE0-A8AA-911C7E157B3C}"/>
                </a:ext>
              </a:extLst>
            </p:cNvPr>
            <p:cNvSpPr>
              <a:spLocks noChangeArrowheads="1"/>
            </p:cNvSpPr>
            <p:nvPr/>
          </p:nvSpPr>
          <p:spPr bwMode="auto">
            <a:xfrm>
              <a:off x="2809081" y="2154138"/>
              <a:ext cx="4870860" cy="1358938"/>
            </a:xfrm>
            <a:prstGeom prst="flowChartProcess">
              <a:avLst/>
            </a:prstGeom>
            <a:solidFill>
              <a:srgbClr val="0000FF"/>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a:defRPr/>
              </a:pPr>
              <a:endParaRPr lang="zh-CN" altLang="zh-CN" sz="1200" b="1">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8" name="Text Box 15">
              <a:extLst>
                <a:ext uri="{FF2B5EF4-FFF2-40B4-BE49-F238E27FC236}">
                  <a16:creationId xmlns:a16="http://schemas.microsoft.com/office/drawing/2014/main" id="{07031B0C-00CD-7A27-ACA2-5DB0F2D9225F}"/>
                </a:ext>
              </a:extLst>
            </p:cNvPr>
            <p:cNvSpPr txBox="1">
              <a:spLocks noChangeArrowheads="1"/>
            </p:cNvSpPr>
            <p:nvPr/>
          </p:nvSpPr>
          <p:spPr bwMode="auto">
            <a:xfrm>
              <a:off x="4472450" y="2118881"/>
              <a:ext cx="1038446"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solidFill>
                    <a:srgbClr val="FFFF00"/>
                  </a:solidFill>
                  <a:latin typeface="微软雅黑" pitchFamily="34" charset="-122"/>
                  <a:ea typeface="微软雅黑" pitchFamily="34" charset="-122"/>
                </a:rPr>
                <a:t>慢开始</a:t>
              </a:r>
            </a:p>
          </p:txBody>
        </p:sp>
        <p:sp>
          <p:nvSpPr>
            <p:cNvPr id="19" name="Text Box 16">
              <a:extLst>
                <a:ext uri="{FF2B5EF4-FFF2-40B4-BE49-F238E27FC236}">
                  <a16:creationId xmlns:a16="http://schemas.microsoft.com/office/drawing/2014/main" id="{AF42A4AF-4327-F25A-DE69-A19CDBD19BB3}"/>
                </a:ext>
              </a:extLst>
            </p:cNvPr>
            <p:cNvSpPr txBox="1">
              <a:spLocks noChangeArrowheads="1"/>
            </p:cNvSpPr>
            <p:nvPr/>
          </p:nvSpPr>
          <p:spPr bwMode="auto">
            <a:xfrm>
              <a:off x="3449325" y="2461317"/>
              <a:ext cx="3197835"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solidFill>
                    <a:srgbClr val="00FFFF"/>
                  </a:solidFill>
                  <a:latin typeface="微软雅黑" pitchFamily="34" charset="-122"/>
                  <a:ea typeface="微软雅黑" pitchFamily="34" charset="-122"/>
                </a:rPr>
                <a:t>初始拥塞窗口 </a:t>
              </a:r>
              <a:r>
                <a:rPr lang="en-US" altLang="zh-CN" sz="1200" b="1" dirty="0" err="1">
                  <a:solidFill>
                    <a:srgbClr val="00FFFF"/>
                  </a:solidFill>
                  <a:latin typeface="微软雅黑" pitchFamily="34" charset="-122"/>
                  <a:ea typeface="微软雅黑" pitchFamily="34" charset="-122"/>
                </a:rPr>
                <a:t>cwnd</a:t>
              </a:r>
              <a:r>
                <a:rPr lang="en-US" altLang="zh-CN" sz="1200" b="1" dirty="0">
                  <a:solidFill>
                    <a:srgbClr val="00FFFF"/>
                  </a:solidFill>
                  <a:latin typeface="微软雅黑" pitchFamily="34" charset="-122"/>
                  <a:ea typeface="微软雅黑" pitchFamily="34" charset="-122"/>
                </a:rPr>
                <a:t> =</a:t>
              </a:r>
              <a:r>
                <a:rPr lang="zh-CN" altLang="en-US" sz="1200" b="1" dirty="0">
                  <a:solidFill>
                    <a:srgbClr val="00FFFF"/>
                  </a:solidFill>
                  <a:latin typeface="微软雅黑" pitchFamily="34" charset="-122"/>
                  <a:ea typeface="微软雅黑" pitchFamily="34" charset="-122"/>
                </a:rPr>
                <a:t> </a:t>
              </a:r>
              <a:r>
                <a:rPr lang="en-US" altLang="zh-CN" sz="1200" b="1" dirty="0">
                  <a:solidFill>
                    <a:srgbClr val="00FFFF"/>
                  </a:solidFill>
                  <a:latin typeface="微软雅黑" pitchFamily="34" charset="-122"/>
                  <a:ea typeface="微软雅黑" pitchFamily="34" charset="-122"/>
                </a:rPr>
                <a:t>1 </a:t>
              </a:r>
              <a:endParaRPr lang="zh-CN" altLang="en-US" sz="1200" b="1" dirty="0">
                <a:solidFill>
                  <a:srgbClr val="00FFFF"/>
                </a:solidFill>
                <a:latin typeface="微软雅黑" pitchFamily="34" charset="-122"/>
                <a:ea typeface="微软雅黑" pitchFamily="34" charset="-122"/>
              </a:endParaRPr>
            </a:p>
            <a:p>
              <a:pPr algn="ctr" eaLnBrk="1" hangingPunct="1"/>
              <a:r>
                <a:rPr lang="zh-CN" altLang="en-US" sz="1200" b="1" dirty="0">
                  <a:solidFill>
                    <a:srgbClr val="00FFFF"/>
                  </a:solidFill>
                  <a:latin typeface="微软雅黑" pitchFamily="34" charset="-122"/>
                  <a:ea typeface="微软雅黑" pitchFamily="34" charset="-122"/>
                </a:rPr>
                <a:t>按指数规律</a:t>
              </a:r>
              <a:r>
                <a:rPr lang="zh-CN" altLang="en-US" sz="1100" b="1" dirty="0">
                  <a:solidFill>
                    <a:srgbClr val="00FFFF"/>
                  </a:solidFill>
                  <a:latin typeface="微软雅黑" pitchFamily="34" charset="-122"/>
                  <a:ea typeface="微软雅黑" pitchFamily="34" charset="-122"/>
                </a:rPr>
                <a:t>增大</a:t>
              </a:r>
              <a:endParaRPr lang="en-US" altLang="zh-CN" sz="1200" b="1" u="sng" dirty="0">
                <a:solidFill>
                  <a:srgbClr val="00FFFF"/>
                </a:solidFill>
                <a:latin typeface="微软雅黑" pitchFamily="34" charset="-122"/>
                <a:ea typeface="微软雅黑" pitchFamily="34" charset="-122"/>
                <a:sym typeface="Symbol" pitchFamily="18" charset="2"/>
              </a:endParaRPr>
            </a:p>
          </p:txBody>
        </p:sp>
        <p:sp>
          <p:nvSpPr>
            <p:cNvPr id="20" name="TextBox 25">
              <a:extLst>
                <a:ext uri="{FF2B5EF4-FFF2-40B4-BE49-F238E27FC236}">
                  <a16:creationId xmlns:a16="http://schemas.microsoft.com/office/drawing/2014/main" id="{30204C24-AC06-3D37-7E83-E583F40F585D}"/>
                </a:ext>
              </a:extLst>
            </p:cNvPr>
            <p:cNvSpPr txBox="1">
              <a:spLocks noChangeArrowheads="1"/>
            </p:cNvSpPr>
            <p:nvPr/>
          </p:nvSpPr>
          <p:spPr bwMode="auto">
            <a:xfrm>
              <a:off x="6332090" y="2443063"/>
              <a:ext cx="1395328"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b="1" dirty="0">
                  <a:solidFill>
                    <a:schemeClr val="bg1"/>
                  </a:solidFill>
                  <a:latin typeface="微软雅黑" pitchFamily="34" charset="-122"/>
                  <a:ea typeface="微软雅黑" pitchFamily="34" charset="-122"/>
                  <a:cs typeface="Times New Roman" pitchFamily="18" charset="0"/>
                </a:rPr>
                <a:t>3 </a:t>
              </a:r>
              <a:r>
                <a:rPr lang="zh-CN" altLang="en-US" sz="1200" b="1" dirty="0">
                  <a:solidFill>
                    <a:schemeClr val="bg1"/>
                  </a:solidFill>
                  <a:latin typeface="微软雅黑" pitchFamily="34" charset="-122"/>
                  <a:ea typeface="微软雅黑" pitchFamily="34" charset="-122"/>
                  <a:cs typeface="Times New Roman" pitchFamily="18" charset="0"/>
                </a:rPr>
                <a:t>个重复</a:t>
              </a:r>
              <a:endParaRPr lang="en-US" altLang="zh-CN" sz="1200" b="1" dirty="0">
                <a:solidFill>
                  <a:schemeClr val="bg1"/>
                </a:solidFill>
                <a:latin typeface="微软雅黑" pitchFamily="34" charset="-122"/>
                <a:ea typeface="微软雅黑" pitchFamily="34" charset="-122"/>
                <a:cs typeface="Times New Roman" pitchFamily="18" charset="0"/>
              </a:endParaRPr>
            </a:p>
            <a:p>
              <a:pPr algn="r" eaLnBrk="1" hangingPunct="1"/>
              <a:r>
                <a:rPr lang="zh-CN" altLang="en-US" sz="1200" b="1" dirty="0">
                  <a:solidFill>
                    <a:schemeClr val="bg1"/>
                  </a:solidFill>
                  <a:latin typeface="微软雅黑" pitchFamily="34" charset="-122"/>
                  <a:ea typeface="微软雅黑" pitchFamily="34" charset="-122"/>
                  <a:cs typeface="Times New Roman" pitchFamily="18" charset="0"/>
                </a:rPr>
                <a:t>的 </a:t>
              </a:r>
              <a:r>
                <a:rPr lang="en-US" altLang="zh-CN" sz="1200" b="1" dirty="0">
                  <a:solidFill>
                    <a:schemeClr val="bg1"/>
                  </a:solidFill>
                  <a:latin typeface="微软雅黑" pitchFamily="34" charset="-122"/>
                  <a:ea typeface="微软雅黑" pitchFamily="34" charset="-122"/>
                  <a:cs typeface="Times New Roman" pitchFamily="18" charset="0"/>
                </a:rPr>
                <a:t>ACK</a:t>
              </a:r>
              <a:endParaRPr lang="zh-CN" altLang="en-US" sz="1200" b="1" dirty="0">
                <a:solidFill>
                  <a:schemeClr val="bg1"/>
                </a:solidFill>
                <a:latin typeface="微软雅黑" pitchFamily="34" charset="-122"/>
                <a:ea typeface="微软雅黑" pitchFamily="34" charset="-122"/>
                <a:cs typeface="Times New Roman" pitchFamily="18" charset="0"/>
              </a:endParaRPr>
            </a:p>
          </p:txBody>
        </p:sp>
        <p:sp>
          <p:nvSpPr>
            <p:cNvPr id="21" name="TextBox 26">
              <a:extLst>
                <a:ext uri="{FF2B5EF4-FFF2-40B4-BE49-F238E27FC236}">
                  <a16:creationId xmlns:a16="http://schemas.microsoft.com/office/drawing/2014/main" id="{118B8A46-C740-42BD-BA76-66D89AEF5606}"/>
                </a:ext>
              </a:extLst>
            </p:cNvPr>
            <p:cNvSpPr txBox="1">
              <a:spLocks noChangeArrowheads="1"/>
            </p:cNvSpPr>
            <p:nvPr/>
          </p:nvSpPr>
          <p:spPr bwMode="auto">
            <a:xfrm>
              <a:off x="2810904" y="2585937"/>
              <a:ext cx="791197"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solidFill>
                    <a:schemeClr val="bg1"/>
                  </a:solidFill>
                  <a:latin typeface="微软雅黑" pitchFamily="34" charset="-122"/>
                  <a:ea typeface="微软雅黑" pitchFamily="34" charset="-122"/>
                </a:rPr>
                <a:t>超时</a:t>
              </a:r>
            </a:p>
          </p:txBody>
        </p:sp>
        <p:sp>
          <p:nvSpPr>
            <p:cNvPr id="22" name="TextBox 32">
              <a:extLst>
                <a:ext uri="{FF2B5EF4-FFF2-40B4-BE49-F238E27FC236}">
                  <a16:creationId xmlns:a16="http://schemas.microsoft.com/office/drawing/2014/main" id="{7903461F-73A6-2021-2676-DA2FB6B8D2D0}"/>
                </a:ext>
              </a:extLst>
            </p:cNvPr>
            <p:cNvSpPr txBox="1">
              <a:spLocks noChangeArrowheads="1"/>
            </p:cNvSpPr>
            <p:nvPr/>
          </p:nvSpPr>
          <p:spPr bwMode="auto">
            <a:xfrm>
              <a:off x="3871432" y="3072779"/>
              <a:ext cx="2281180"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err="1">
                  <a:solidFill>
                    <a:schemeClr val="bg1"/>
                  </a:solidFill>
                  <a:latin typeface="微软雅黑" pitchFamily="34" charset="-122"/>
                  <a:ea typeface="微软雅黑" pitchFamily="34" charset="-122"/>
                </a:rPr>
                <a:t>cwnd</a:t>
              </a:r>
              <a:r>
                <a:rPr lang="en-US" altLang="zh-CN" sz="1200" b="1" dirty="0">
                  <a:solidFill>
                    <a:schemeClr val="bg1"/>
                  </a:solidFill>
                  <a:latin typeface="微软雅黑" pitchFamily="34" charset="-122"/>
                  <a:ea typeface="微软雅黑" pitchFamily="34" charset="-122"/>
                </a:rPr>
                <a:t> </a:t>
              </a:r>
              <a:r>
                <a:rPr lang="en-US" altLang="zh-CN" sz="1200" b="1" dirty="0">
                  <a:solidFill>
                    <a:schemeClr val="bg1"/>
                  </a:solidFill>
                  <a:latin typeface="微软雅黑" pitchFamily="34" charset="-122"/>
                  <a:ea typeface="微软雅黑" pitchFamily="34" charset="-122"/>
                  <a:sym typeface="Symbol" pitchFamily="18" charset="2"/>
                </a:rPr>
                <a:t> </a:t>
              </a:r>
              <a:r>
                <a:rPr lang="en-US" altLang="zh-CN" sz="1200" b="1" dirty="0" err="1">
                  <a:solidFill>
                    <a:schemeClr val="bg1"/>
                  </a:solidFill>
                  <a:latin typeface="微软雅黑" pitchFamily="34" charset="-122"/>
                  <a:ea typeface="微软雅黑" pitchFamily="34" charset="-122"/>
                  <a:sym typeface="Symbol" pitchFamily="18" charset="2"/>
                </a:rPr>
                <a:t>ssthresh</a:t>
              </a:r>
              <a:endParaRPr lang="zh-CN" altLang="en-US" sz="1200" b="1" dirty="0">
                <a:solidFill>
                  <a:schemeClr val="bg1"/>
                </a:solidFill>
                <a:latin typeface="微软雅黑" pitchFamily="34" charset="-122"/>
                <a:ea typeface="微软雅黑" pitchFamily="34" charset="-122"/>
              </a:endParaRPr>
            </a:p>
          </p:txBody>
        </p:sp>
        <p:sp>
          <p:nvSpPr>
            <p:cNvPr id="23" name="Text Box 15">
              <a:extLst>
                <a:ext uri="{FF2B5EF4-FFF2-40B4-BE49-F238E27FC236}">
                  <a16:creationId xmlns:a16="http://schemas.microsoft.com/office/drawing/2014/main" id="{B62E839C-6A90-98D8-65AE-1C0435E14959}"/>
                </a:ext>
              </a:extLst>
            </p:cNvPr>
            <p:cNvSpPr txBox="1">
              <a:spLocks noChangeArrowheads="1"/>
            </p:cNvSpPr>
            <p:nvPr/>
          </p:nvSpPr>
          <p:spPr bwMode="auto">
            <a:xfrm>
              <a:off x="4411395" y="4338229"/>
              <a:ext cx="1285695"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solidFill>
                    <a:srgbClr val="A50021"/>
                  </a:solidFill>
                  <a:latin typeface="微软雅黑" pitchFamily="34" charset="-122"/>
                  <a:ea typeface="微软雅黑" pitchFamily="34" charset="-122"/>
                </a:rPr>
                <a:t>拥塞避免</a:t>
              </a:r>
            </a:p>
          </p:txBody>
        </p:sp>
        <p:sp>
          <p:nvSpPr>
            <p:cNvPr id="24" name="TextBox 41">
              <a:extLst>
                <a:ext uri="{FF2B5EF4-FFF2-40B4-BE49-F238E27FC236}">
                  <a16:creationId xmlns:a16="http://schemas.microsoft.com/office/drawing/2014/main" id="{0F57B6B8-2BA6-0CF0-D5E5-80AC408D9EF1}"/>
                </a:ext>
              </a:extLst>
            </p:cNvPr>
            <p:cNvSpPr txBox="1">
              <a:spLocks noChangeArrowheads="1"/>
            </p:cNvSpPr>
            <p:nvPr/>
          </p:nvSpPr>
          <p:spPr bwMode="auto">
            <a:xfrm>
              <a:off x="6379567" y="4642166"/>
              <a:ext cx="1347850"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b="1" dirty="0">
                  <a:solidFill>
                    <a:srgbClr val="0000FF"/>
                  </a:solidFill>
                  <a:latin typeface="微软雅黑" pitchFamily="34" charset="-122"/>
                  <a:ea typeface="微软雅黑" pitchFamily="34" charset="-122"/>
                  <a:cs typeface="Times New Roman" pitchFamily="18" charset="0"/>
                </a:rPr>
                <a:t>3 </a:t>
              </a:r>
              <a:r>
                <a:rPr lang="zh-CN" altLang="en-US" sz="1200" b="1" dirty="0">
                  <a:solidFill>
                    <a:srgbClr val="0000FF"/>
                  </a:solidFill>
                  <a:latin typeface="微软雅黑" pitchFamily="34" charset="-122"/>
                  <a:ea typeface="微软雅黑" pitchFamily="34" charset="-122"/>
                  <a:cs typeface="Times New Roman" pitchFamily="18" charset="0"/>
                </a:rPr>
                <a:t>个重复</a:t>
              </a:r>
              <a:endParaRPr lang="en-US" altLang="zh-CN" sz="1200" b="1" dirty="0">
                <a:solidFill>
                  <a:srgbClr val="0000FF"/>
                </a:solidFill>
                <a:latin typeface="微软雅黑" pitchFamily="34" charset="-122"/>
                <a:ea typeface="微软雅黑" pitchFamily="34" charset="-122"/>
                <a:cs typeface="Times New Roman" pitchFamily="18" charset="0"/>
              </a:endParaRPr>
            </a:p>
            <a:p>
              <a:pPr algn="r" eaLnBrk="1" hangingPunct="1"/>
              <a:r>
                <a:rPr lang="zh-CN" altLang="en-US" sz="1200" b="1" dirty="0">
                  <a:solidFill>
                    <a:srgbClr val="0000FF"/>
                  </a:solidFill>
                  <a:latin typeface="微软雅黑" pitchFamily="34" charset="-122"/>
                  <a:ea typeface="微软雅黑" pitchFamily="34" charset="-122"/>
                  <a:cs typeface="Times New Roman" pitchFamily="18" charset="0"/>
                </a:rPr>
                <a:t>的 </a:t>
              </a:r>
              <a:r>
                <a:rPr lang="en-US" altLang="zh-CN" sz="1200" b="1" dirty="0">
                  <a:solidFill>
                    <a:srgbClr val="0000FF"/>
                  </a:solidFill>
                  <a:latin typeface="微软雅黑" pitchFamily="34" charset="-122"/>
                  <a:ea typeface="微软雅黑" pitchFamily="34" charset="-122"/>
                  <a:cs typeface="Times New Roman" pitchFamily="18" charset="0"/>
                </a:rPr>
                <a:t>ACK</a:t>
              </a:r>
              <a:endParaRPr lang="zh-CN" altLang="en-US" sz="1200" b="1" dirty="0">
                <a:solidFill>
                  <a:srgbClr val="0000FF"/>
                </a:solidFill>
                <a:latin typeface="微软雅黑" pitchFamily="34" charset="-122"/>
                <a:ea typeface="微软雅黑" pitchFamily="34" charset="-122"/>
                <a:cs typeface="Times New Roman" pitchFamily="18" charset="0"/>
              </a:endParaRPr>
            </a:p>
          </p:txBody>
        </p:sp>
        <p:sp>
          <p:nvSpPr>
            <p:cNvPr id="25" name="TextBox 42">
              <a:extLst>
                <a:ext uri="{FF2B5EF4-FFF2-40B4-BE49-F238E27FC236}">
                  <a16:creationId xmlns:a16="http://schemas.microsoft.com/office/drawing/2014/main" id="{AC36C817-D414-3892-AF70-6B8D7A0D3032}"/>
                </a:ext>
              </a:extLst>
            </p:cNvPr>
            <p:cNvSpPr txBox="1">
              <a:spLocks noChangeArrowheads="1"/>
            </p:cNvSpPr>
            <p:nvPr/>
          </p:nvSpPr>
          <p:spPr bwMode="auto">
            <a:xfrm>
              <a:off x="2810904" y="4715163"/>
              <a:ext cx="791197"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solidFill>
                    <a:srgbClr val="0000FF"/>
                  </a:solidFill>
                  <a:latin typeface="微软雅黑" pitchFamily="34" charset="-122"/>
                  <a:ea typeface="微软雅黑" pitchFamily="34" charset="-122"/>
                </a:rPr>
                <a:t>超时</a:t>
              </a:r>
            </a:p>
          </p:txBody>
        </p:sp>
        <p:sp>
          <p:nvSpPr>
            <p:cNvPr id="26" name="Text Box 16">
              <a:extLst>
                <a:ext uri="{FF2B5EF4-FFF2-40B4-BE49-F238E27FC236}">
                  <a16:creationId xmlns:a16="http://schemas.microsoft.com/office/drawing/2014/main" id="{842111F5-D16B-E999-603E-7D49772D0D9C}"/>
                </a:ext>
              </a:extLst>
            </p:cNvPr>
            <p:cNvSpPr txBox="1">
              <a:spLocks noChangeArrowheads="1"/>
            </p:cNvSpPr>
            <p:nvPr/>
          </p:nvSpPr>
          <p:spPr bwMode="auto">
            <a:xfrm>
              <a:off x="3932016" y="4664561"/>
              <a:ext cx="2220366"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latin typeface="微软雅黑" pitchFamily="34" charset="-122"/>
                  <a:ea typeface="微软雅黑" pitchFamily="34" charset="-122"/>
                </a:rPr>
                <a:t>拥塞窗口 </a:t>
              </a:r>
              <a:r>
                <a:rPr lang="en-US" altLang="zh-CN" sz="1200" b="1" dirty="0" err="1">
                  <a:latin typeface="微软雅黑" pitchFamily="34" charset="-122"/>
                  <a:ea typeface="微软雅黑" pitchFamily="34" charset="-122"/>
                </a:rPr>
                <a:t>cwnd</a:t>
              </a:r>
              <a:r>
                <a:rPr lang="en-US" altLang="zh-CN" sz="1200" b="1" dirty="0">
                  <a:latin typeface="微软雅黑" pitchFamily="34" charset="-122"/>
                  <a:ea typeface="微软雅黑" pitchFamily="34" charset="-122"/>
                </a:rPr>
                <a:t> </a:t>
              </a:r>
              <a:endParaRPr lang="zh-CN" altLang="en-US" sz="1200" b="1" dirty="0">
                <a:latin typeface="微软雅黑" pitchFamily="34" charset="-122"/>
                <a:ea typeface="微软雅黑" pitchFamily="34" charset="-122"/>
              </a:endParaRPr>
            </a:p>
            <a:p>
              <a:pPr algn="ctr" eaLnBrk="1" hangingPunct="1"/>
              <a:r>
                <a:rPr lang="zh-CN" altLang="en-US" sz="1200" b="1" dirty="0">
                  <a:latin typeface="微软雅黑" pitchFamily="34" charset="-122"/>
                  <a:ea typeface="微软雅黑" pitchFamily="34" charset="-122"/>
                </a:rPr>
                <a:t>按线性规律增大</a:t>
              </a:r>
              <a:endParaRPr lang="en-US" altLang="zh-CN" sz="1200" b="1" u="sng" dirty="0">
                <a:latin typeface="微软雅黑" pitchFamily="34" charset="-122"/>
                <a:ea typeface="微软雅黑" pitchFamily="34" charset="-122"/>
                <a:sym typeface="Symbol" pitchFamily="18" charset="2"/>
              </a:endParaRPr>
            </a:p>
          </p:txBody>
        </p:sp>
        <p:grpSp>
          <p:nvGrpSpPr>
            <p:cNvPr id="27" name="组合 26">
              <a:extLst>
                <a:ext uri="{FF2B5EF4-FFF2-40B4-BE49-F238E27FC236}">
                  <a16:creationId xmlns:a16="http://schemas.microsoft.com/office/drawing/2014/main" id="{A6474BAC-32CA-BC88-247D-B964DAC62B2D}"/>
                </a:ext>
              </a:extLst>
            </p:cNvPr>
            <p:cNvGrpSpPr/>
            <p:nvPr/>
          </p:nvGrpSpPr>
          <p:grpSpPr>
            <a:xfrm>
              <a:off x="2775422" y="1756579"/>
              <a:ext cx="1169466" cy="397559"/>
              <a:chOff x="2775422" y="1756579"/>
              <a:chExt cx="1169466" cy="397559"/>
            </a:xfrm>
          </p:grpSpPr>
          <p:cxnSp>
            <p:nvCxnSpPr>
              <p:cNvPr id="28" name="直接连接符 27">
                <a:extLst>
                  <a:ext uri="{FF2B5EF4-FFF2-40B4-BE49-F238E27FC236}">
                    <a16:creationId xmlns:a16="http://schemas.microsoft.com/office/drawing/2014/main" id="{B0559072-E4E1-1039-062A-1F0FFE94F2E3}"/>
                  </a:ext>
                </a:extLst>
              </p:cNvPr>
              <p:cNvCxnSpPr/>
              <p:nvPr/>
            </p:nvCxnSpPr>
            <p:spPr bwMode="auto">
              <a:xfrm>
                <a:off x="2775422" y="1756579"/>
                <a:ext cx="1169466" cy="5"/>
              </a:xfrm>
              <a:prstGeom prst="line">
                <a:avLst/>
              </a:prstGeom>
              <a:solidFill>
                <a:schemeClr val="accent1"/>
              </a:solidFill>
              <a:ln w="12700" cap="flat" cmpd="sng" algn="ctr">
                <a:solidFill>
                  <a:srgbClr val="00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箭头连接符 28">
                <a:extLst>
                  <a:ext uri="{FF2B5EF4-FFF2-40B4-BE49-F238E27FC236}">
                    <a16:creationId xmlns:a16="http://schemas.microsoft.com/office/drawing/2014/main" id="{285E5DDE-7A53-06B4-AE1A-14E1AB419B85}"/>
                  </a:ext>
                </a:extLst>
              </p:cNvPr>
              <p:cNvCxnSpPr/>
              <p:nvPr/>
            </p:nvCxnSpPr>
            <p:spPr bwMode="auto">
              <a:xfrm>
                <a:off x="3944888" y="1756579"/>
                <a:ext cx="0" cy="397559"/>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sp>
        <p:nvSpPr>
          <p:cNvPr id="30" name="灯片编号占位符 29">
            <a:extLst>
              <a:ext uri="{FF2B5EF4-FFF2-40B4-BE49-F238E27FC236}">
                <a16:creationId xmlns:a16="http://schemas.microsoft.com/office/drawing/2014/main" id="{9B3BAECF-0E4B-4EDF-B1B8-7FBE640B2B79}"/>
              </a:ext>
            </a:extLst>
          </p:cNvPr>
          <p:cNvSpPr>
            <a:spLocks noGrp="1"/>
          </p:cNvSpPr>
          <p:nvPr>
            <p:ph type="sldNum" sz="quarter" idx="12"/>
          </p:nvPr>
        </p:nvSpPr>
        <p:spPr/>
        <p:txBody>
          <a:bodyPr/>
          <a:lstStyle/>
          <a:p>
            <a:fld id="{5956A083-5018-4B52-82A0-83241B8E3D94}" type="slidenum">
              <a:rPr lang="zh-CN" altLang="en-US" smtClean="0"/>
              <a:t>73</a:t>
            </a:fld>
            <a:endParaRPr lang="zh-CN" altLang="en-US"/>
          </a:p>
        </p:txBody>
      </p:sp>
    </p:spTree>
    <p:extLst>
      <p:ext uri="{BB962C8B-B14F-4D97-AF65-F5344CB8AC3E}">
        <p14:creationId xmlns:p14="http://schemas.microsoft.com/office/powerpoint/2010/main" val="12469386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91A7-49C8-FD3F-C8CC-5E2A1BF3BEA6}"/>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CD1BC1E5-9DA7-5F03-8199-9AB3C8A124EF}"/>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4760B851-F090-E1F4-6D4C-A672BA4ED672}"/>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08539C5E-AE60-B988-724A-973E4A88CFA0}"/>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0D566A0A-FF2F-BCA4-19E8-A7BC45E9375E}"/>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BF9A7535-9F2C-4D2D-30C2-63666D62EE4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B9B0C95C-E59D-B95F-972E-89085B28D86B}"/>
              </a:ext>
            </a:extLst>
          </p:cNvPr>
          <p:cNvGrpSpPr/>
          <p:nvPr/>
        </p:nvGrpSpPr>
        <p:grpSpPr>
          <a:xfrm>
            <a:off x="505664" y="1426139"/>
            <a:ext cx="5001283" cy="525530"/>
            <a:chOff x="722008" y="1303131"/>
            <a:chExt cx="4775373" cy="501792"/>
          </a:xfrm>
        </p:grpSpPr>
        <p:sp>
          <p:nvSpPr>
            <p:cNvPr id="50" name="流程图: 手动输入 6">
              <a:extLst>
                <a:ext uri="{FF2B5EF4-FFF2-40B4-BE49-F238E27FC236}">
                  <a16:creationId xmlns:a16="http://schemas.microsoft.com/office/drawing/2014/main" id="{2E0D78CE-6E1E-FAC3-DB2C-5A9D5EC2F87A}"/>
                </a:ext>
              </a:extLst>
            </p:cNvPr>
            <p:cNvSpPr/>
            <p:nvPr/>
          </p:nvSpPr>
          <p:spPr>
            <a:xfrm rot="5400000" flipV="1">
              <a:off x="2362503" y="-67364"/>
              <a:ext cx="475861" cy="3223665"/>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3948D5F0-1D69-AD4A-5D42-60C95BE68C45}"/>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DED7004F-9C21-8AEF-FC2C-2743ECD1155E}"/>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8EE10B0D-EDBA-B0CB-3E7B-9596ECF12C17}"/>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671178D9-029F-2CB3-D772-4AFEE981C58A}"/>
                </a:ext>
              </a:extLst>
            </p:cNvPr>
            <p:cNvSpPr txBox="1">
              <a:spLocks noChangeArrowheads="1"/>
            </p:cNvSpPr>
            <p:nvPr/>
          </p:nvSpPr>
          <p:spPr bwMode="auto">
            <a:xfrm>
              <a:off x="1268603" y="1334724"/>
              <a:ext cx="4228778"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发送窗口的上限值</a:t>
              </a:r>
            </a:p>
          </p:txBody>
        </p:sp>
      </p:grpSp>
      <p:sp>
        <p:nvSpPr>
          <p:cNvPr id="2" name="Rectangle 68">
            <a:extLst>
              <a:ext uri="{FF2B5EF4-FFF2-40B4-BE49-F238E27FC236}">
                <a16:creationId xmlns:a16="http://schemas.microsoft.com/office/drawing/2014/main" id="{E16AC034-13D3-6C9D-28E5-5DF27AFEA584}"/>
              </a:ext>
            </a:extLst>
          </p:cNvPr>
          <p:cNvSpPr>
            <a:spLocks noChangeArrowheads="1"/>
          </p:cNvSpPr>
          <p:nvPr/>
        </p:nvSpPr>
        <p:spPr bwMode="auto">
          <a:xfrm>
            <a:off x="1708602" y="3299851"/>
            <a:ext cx="9756474" cy="11350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当 </a:t>
            </a:r>
            <a:r>
              <a:rPr lang="en-US" altLang="zh-CN" sz="2400" dirty="0" err="1">
                <a:latin typeface="微软雅黑" pitchFamily="34" charset="-122"/>
                <a:ea typeface="微软雅黑" pitchFamily="34" charset="-122"/>
              </a:rPr>
              <a:t>rwnd</a:t>
            </a:r>
            <a:r>
              <a:rPr lang="en-US" altLang="zh-CN" sz="2400" dirty="0">
                <a:latin typeface="微软雅黑" pitchFamily="34" charset="-122"/>
                <a:ea typeface="微软雅黑" pitchFamily="34" charset="-122"/>
              </a:rPr>
              <a:t> &lt; </a:t>
            </a:r>
            <a:r>
              <a:rPr lang="en-US" altLang="zh-CN" sz="2400" dirty="0" err="1">
                <a:latin typeface="微软雅黑" pitchFamily="34" charset="-122"/>
                <a:ea typeface="微软雅黑" pitchFamily="34" charset="-122"/>
              </a:rPr>
              <a:t>cwnd</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时，是接收方的</a:t>
            </a:r>
            <a:r>
              <a:rPr lang="zh-CN" altLang="en-US" sz="2400" dirty="0">
                <a:solidFill>
                  <a:srgbClr val="0000FF"/>
                </a:solidFill>
                <a:latin typeface="微软雅黑" pitchFamily="34" charset="-122"/>
                <a:ea typeface="微软雅黑" pitchFamily="34" charset="-122"/>
              </a:rPr>
              <a:t>接收能力</a:t>
            </a:r>
            <a:r>
              <a:rPr lang="zh-CN" altLang="en-US" sz="2400" dirty="0">
                <a:solidFill>
                  <a:srgbClr val="C00000"/>
                </a:solidFill>
                <a:latin typeface="微软雅黑" pitchFamily="34" charset="-122"/>
                <a:ea typeface="微软雅黑" pitchFamily="34" charset="-122"/>
              </a:rPr>
              <a:t>限制</a:t>
            </a:r>
            <a:r>
              <a:rPr lang="zh-CN" altLang="en-US" sz="2400" dirty="0">
                <a:latin typeface="微软雅黑" pitchFamily="34" charset="-122"/>
                <a:ea typeface="微软雅黑" pitchFamily="34" charset="-122"/>
              </a:rPr>
              <a:t>发送窗口的最大值。</a:t>
            </a:r>
          </a:p>
          <a:p>
            <a:pPr marL="342900" indent="-342900">
              <a:lnSpc>
                <a:spcPct val="150000"/>
              </a:lnSpc>
              <a:buClr>
                <a:srgbClr val="0070C0"/>
              </a:buClr>
              <a:buFont typeface="Wingdings" pitchFamily="2" charset="2"/>
              <a:buChar char="l"/>
            </a:pPr>
            <a:r>
              <a:rPr lang="zh-CN" altLang="en-US" sz="2400" dirty="0">
                <a:latin typeface="微软雅黑" pitchFamily="34" charset="-122"/>
                <a:ea typeface="微软雅黑" pitchFamily="34" charset="-122"/>
              </a:rPr>
              <a:t>当 </a:t>
            </a:r>
            <a:r>
              <a:rPr lang="en-US" altLang="zh-CN" sz="2400" dirty="0" err="1">
                <a:latin typeface="微软雅黑" pitchFamily="34" charset="-122"/>
                <a:ea typeface="微软雅黑" pitchFamily="34" charset="-122"/>
              </a:rPr>
              <a:t>cwnd</a:t>
            </a:r>
            <a:r>
              <a:rPr lang="en-US" altLang="zh-CN" sz="2400" dirty="0">
                <a:latin typeface="微软雅黑" pitchFamily="34" charset="-122"/>
                <a:ea typeface="微软雅黑" pitchFamily="34" charset="-122"/>
              </a:rPr>
              <a:t> &lt; </a:t>
            </a:r>
            <a:r>
              <a:rPr lang="en-US" altLang="zh-CN" sz="2400" dirty="0" err="1">
                <a:latin typeface="微软雅黑" pitchFamily="34" charset="-122"/>
                <a:ea typeface="微软雅黑" pitchFamily="34" charset="-122"/>
              </a:rPr>
              <a:t>rwnd</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时，是</a:t>
            </a:r>
            <a:r>
              <a:rPr lang="zh-CN" altLang="en-US" sz="2400" dirty="0">
                <a:solidFill>
                  <a:srgbClr val="0000FF"/>
                </a:solidFill>
                <a:latin typeface="微软雅黑" pitchFamily="34" charset="-122"/>
                <a:ea typeface="微软雅黑" pitchFamily="34" charset="-122"/>
              </a:rPr>
              <a:t>网络拥塞</a:t>
            </a:r>
            <a:r>
              <a:rPr lang="zh-CN" altLang="en-US" sz="2400" dirty="0">
                <a:solidFill>
                  <a:srgbClr val="C00000"/>
                </a:solidFill>
                <a:latin typeface="微软雅黑" pitchFamily="34" charset="-122"/>
                <a:ea typeface="微软雅黑" pitchFamily="34" charset="-122"/>
              </a:rPr>
              <a:t>限制</a:t>
            </a:r>
            <a:r>
              <a:rPr lang="zh-CN" altLang="en-US" sz="2400" dirty="0">
                <a:latin typeface="微软雅黑" pitchFamily="34" charset="-122"/>
                <a:ea typeface="微软雅黑" pitchFamily="34" charset="-122"/>
              </a:rPr>
              <a:t>发送窗口的最大值。 </a:t>
            </a:r>
          </a:p>
        </p:txBody>
      </p:sp>
      <p:sp>
        <p:nvSpPr>
          <p:cNvPr id="3" name="矩形 2">
            <a:extLst>
              <a:ext uri="{FF2B5EF4-FFF2-40B4-BE49-F238E27FC236}">
                <a16:creationId xmlns:a16="http://schemas.microsoft.com/office/drawing/2014/main" id="{9F114716-6B0B-821E-9B5B-861E1586FFEB}"/>
              </a:ext>
            </a:extLst>
          </p:cNvPr>
          <p:cNvSpPr/>
          <p:nvPr/>
        </p:nvSpPr>
        <p:spPr>
          <a:xfrm>
            <a:off x="2462358" y="2443648"/>
            <a:ext cx="7267284" cy="531100"/>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400" b="1" dirty="0">
                <a:latin typeface="微软雅黑" pitchFamily="34" charset="-122"/>
                <a:ea typeface="微软雅黑" pitchFamily="34" charset="-122"/>
              </a:rPr>
              <a:t>发送窗口的上限值 </a:t>
            </a:r>
            <a:r>
              <a:rPr lang="en-US" altLang="zh-CN" sz="2400" b="1" dirty="0">
                <a:latin typeface="微软雅黑" pitchFamily="34" charset="-122"/>
                <a:ea typeface="微软雅黑" pitchFamily="34" charset="-122"/>
              </a:rPr>
              <a:t>=</a:t>
            </a:r>
            <a:r>
              <a:rPr lang="zh-CN" altLang="en-US" sz="2400" b="1" dirty="0">
                <a:latin typeface="微软雅黑" pitchFamily="34" charset="-122"/>
                <a:ea typeface="微软雅黑" pitchFamily="34" charset="-122"/>
              </a:rPr>
              <a:t> </a:t>
            </a:r>
            <a:r>
              <a:rPr lang="en-US" altLang="zh-CN" sz="2400" b="1" dirty="0">
                <a:latin typeface="微软雅黑" pitchFamily="34" charset="-122"/>
                <a:ea typeface="微软雅黑" pitchFamily="34" charset="-122"/>
              </a:rPr>
              <a:t>Min [</a:t>
            </a:r>
            <a:r>
              <a:rPr lang="en-US" altLang="zh-CN" sz="2400" b="1" dirty="0" err="1">
                <a:latin typeface="微软雅黑" pitchFamily="34" charset="-122"/>
                <a:ea typeface="微软雅黑" pitchFamily="34" charset="-122"/>
              </a:rPr>
              <a:t>rwnd</a:t>
            </a:r>
            <a:r>
              <a:rPr lang="en-US" altLang="zh-CN" sz="2400" b="1" dirty="0">
                <a:latin typeface="微软雅黑" pitchFamily="34" charset="-122"/>
                <a:ea typeface="微软雅黑" pitchFamily="34" charset="-122"/>
              </a:rPr>
              <a:t>, </a:t>
            </a:r>
            <a:r>
              <a:rPr lang="en-US" altLang="zh-CN" sz="2400" b="1" dirty="0" err="1">
                <a:latin typeface="微软雅黑" pitchFamily="34" charset="-122"/>
                <a:ea typeface="微软雅黑" pitchFamily="34" charset="-122"/>
              </a:rPr>
              <a:t>cwnd</a:t>
            </a:r>
            <a:r>
              <a:rPr lang="en-US" altLang="zh-CN" sz="2400" b="1" dirty="0">
                <a:latin typeface="微软雅黑" pitchFamily="34" charset="-122"/>
                <a:ea typeface="微软雅黑" pitchFamily="34" charset="-122"/>
              </a:rPr>
              <a:t>]</a:t>
            </a:r>
          </a:p>
        </p:txBody>
      </p:sp>
      <p:sp>
        <p:nvSpPr>
          <p:cNvPr id="4" name="灯片编号占位符 3">
            <a:extLst>
              <a:ext uri="{FF2B5EF4-FFF2-40B4-BE49-F238E27FC236}">
                <a16:creationId xmlns:a16="http://schemas.microsoft.com/office/drawing/2014/main" id="{C54C1020-AAFA-4BA3-952E-6DBE2D14192D}"/>
              </a:ext>
            </a:extLst>
          </p:cNvPr>
          <p:cNvSpPr>
            <a:spLocks noGrp="1"/>
          </p:cNvSpPr>
          <p:nvPr>
            <p:ph type="sldNum" sz="quarter" idx="12"/>
          </p:nvPr>
        </p:nvSpPr>
        <p:spPr/>
        <p:txBody>
          <a:bodyPr/>
          <a:lstStyle/>
          <a:p>
            <a:fld id="{5956A083-5018-4B52-82A0-83241B8E3D94}" type="slidenum">
              <a:rPr lang="zh-CN" altLang="en-US" smtClean="0"/>
              <a:t>74</a:t>
            </a:fld>
            <a:endParaRPr lang="zh-CN" altLang="en-US"/>
          </a:p>
        </p:txBody>
      </p:sp>
    </p:spTree>
    <p:extLst>
      <p:ext uri="{BB962C8B-B14F-4D97-AF65-F5344CB8AC3E}">
        <p14:creationId xmlns:p14="http://schemas.microsoft.com/office/powerpoint/2010/main" val="25995869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A226F-4F6C-7844-8F02-EF98AF2D5B79}"/>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BF16E180-ABF5-46A3-791E-5EF16B3DA21E}"/>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EA2DE57E-D280-352E-2A9C-58F0344EDCDC}"/>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659C604E-8782-BFB5-41CD-DAFADAB1301D}"/>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E1AECB7B-A7DC-64FF-2D84-4D8AFF8D4313}"/>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08FFFC57-0CBA-B75B-B83F-7542DCC162F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7E1FEC73-214D-40A5-1100-CF1AA8340D64}"/>
              </a:ext>
            </a:extLst>
          </p:cNvPr>
          <p:cNvGrpSpPr/>
          <p:nvPr/>
        </p:nvGrpSpPr>
        <p:grpSpPr>
          <a:xfrm>
            <a:off x="505664" y="1426139"/>
            <a:ext cx="4528673" cy="525530"/>
            <a:chOff x="722008" y="1303131"/>
            <a:chExt cx="4324111" cy="501792"/>
          </a:xfrm>
        </p:grpSpPr>
        <p:sp>
          <p:nvSpPr>
            <p:cNvPr id="50" name="流程图: 手动输入 6">
              <a:extLst>
                <a:ext uri="{FF2B5EF4-FFF2-40B4-BE49-F238E27FC236}">
                  <a16:creationId xmlns:a16="http://schemas.microsoft.com/office/drawing/2014/main" id="{4957DED5-EE30-5402-76F3-0F56019B1FDD}"/>
                </a:ext>
              </a:extLst>
            </p:cNvPr>
            <p:cNvSpPr/>
            <p:nvPr/>
          </p:nvSpPr>
          <p:spPr>
            <a:xfrm rot="5400000" flipV="1">
              <a:off x="1822947" y="472191"/>
              <a:ext cx="475861" cy="21445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26A847F0-6580-676D-9847-7D24E56FD406}"/>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99BA86AF-A5D0-742D-48E0-25FC74D5EDC0}"/>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158DDF15-7C22-2771-C211-F6E1405850BE}"/>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DAF982AA-8113-3D86-F8C2-A9F07A35AC65}"/>
                </a:ext>
              </a:extLst>
            </p:cNvPr>
            <p:cNvSpPr txBox="1">
              <a:spLocks noChangeArrowheads="1"/>
            </p:cNvSpPr>
            <p:nvPr/>
          </p:nvSpPr>
          <p:spPr bwMode="auto">
            <a:xfrm>
              <a:off x="1268603" y="1334724"/>
              <a:ext cx="3777516"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Reno</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算法的公平性分析</a:t>
              </a:r>
            </a:p>
          </p:txBody>
        </p:sp>
      </p:grpSp>
      <p:sp>
        <p:nvSpPr>
          <p:cNvPr id="4" name="Text Box 79">
            <a:extLst>
              <a:ext uri="{FF2B5EF4-FFF2-40B4-BE49-F238E27FC236}">
                <a16:creationId xmlns:a16="http://schemas.microsoft.com/office/drawing/2014/main" id="{2B611CE3-8176-959D-4001-6AEFED0D8366}"/>
              </a:ext>
            </a:extLst>
          </p:cNvPr>
          <p:cNvSpPr txBox="1">
            <a:spLocks noChangeArrowheads="1"/>
          </p:cNvSpPr>
          <p:nvPr/>
        </p:nvSpPr>
        <p:spPr bwMode="auto">
          <a:xfrm>
            <a:off x="1251968" y="1924513"/>
            <a:ext cx="10762670" cy="113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buClr>
                <a:srgbClr val="1969C2"/>
              </a:buClr>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基本问题：</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a:lnSpc>
                <a:spcPct val="150000"/>
              </a:lnSpc>
              <a:buClr>
                <a:srgbClr val="1969C2"/>
              </a:buClr>
            </a:pP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TCP Reno </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在多个连接竞争带宽时，并不能实现真正的公平性。</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p:txBody>
      </p:sp>
      <p:sp>
        <p:nvSpPr>
          <p:cNvPr id="7" name="对话气泡: 椭圆形 6">
            <a:extLst>
              <a:ext uri="{FF2B5EF4-FFF2-40B4-BE49-F238E27FC236}">
                <a16:creationId xmlns:a16="http://schemas.microsoft.com/office/drawing/2014/main" id="{F9485DC5-6FDB-7656-D4A6-DDE5A867AEDF}"/>
              </a:ext>
            </a:extLst>
          </p:cNvPr>
          <p:cNvSpPr/>
          <p:nvPr/>
        </p:nvSpPr>
        <p:spPr>
          <a:xfrm>
            <a:off x="505664" y="2020729"/>
            <a:ext cx="490436" cy="476221"/>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ound-web-cam_17861">
            <a:extLst>
              <a:ext uri="{FF2B5EF4-FFF2-40B4-BE49-F238E27FC236}">
                <a16:creationId xmlns:a16="http://schemas.microsoft.com/office/drawing/2014/main" id="{778A63D2-C0B6-336D-3294-819D113079E8}"/>
              </a:ext>
            </a:extLst>
          </p:cNvPr>
          <p:cNvSpPr>
            <a:spLocks noChangeAspect="1"/>
          </p:cNvSpPr>
          <p:nvPr/>
        </p:nvSpPr>
        <p:spPr bwMode="auto">
          <a:xfrm>
            <a:off x="605107" y="2088775"/>
            <a:ext cx="291550" cy="340129"/>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sp>
        <p:nvSpPr>
          <p:cNvPr id="9" name="文本框 8">
            <a:extLst>
              <a:ext uri="{FF2B5EF4-FFF2-40B4-BE49-F238E27FC236}">
                <a16:creationId xmlns:a16="http://schemas.microsoft.com/office/drawing/2014/main" id="{212F6653-BB29-E961-3B2A-748800A542AD}"/>
              </a:ext>
            </a:extLst>
          </p:cNvPr>
          <p:cNvSpPr txBox="1"/>
          <p:nvPr/>
        </p:nvSpPr>
        <p:spPr>
          <a:xfrm>
            <a:off x="1251967" y="3026229"/>
            <a:ext cx="10029057" cy="168886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
                <a:srgbClr val="1969C2"/>
              </a:buClr>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思源黑体 CN Normal" panose="020B0400000000000000" pitchFamily="34" charset="-122"/>
                <a:cs typeface="Times New Roman" panose="02020603050405020304" pitchFamily="18" charset="0"/>
              </a:rPr>
              <a:t>核心现象：</a:t>
            </a:r>
            <a:endParaRPr kumimoji="1"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思源黑体 CN Normal" panose="020B0400000000000000"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
                <a:srgbClr val="1969C2"/>
              </a:buClr>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思源黑体 CN Normal" panose="020B0400000000000000" pitchFamily="34" charset="-122"/>
                <a:cs typeface="Times New Roman" panose="02020603050405020304" pitchFamily="18" charset="0"/>
              </a:rPr>
              <a:t>在多个 </a:t>
            </a:r>
            <a:r>
              <a:rPr kumimoji="1"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思源黑体 CN Normal" panose="020B0400000000000000" pitchFamily="34" charset="-122"/>
                <a:cs typeface="Times New Roman" panose="02020603050405020304" pitchFamily="18" charset="0"/>
              </a:rPr>
              <a:t>TCP </a:t>
            </a:r>
            <a:r>
              <a:rPr kumimoji="1"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思源黑体 CN Normal" panose="020B0400000000000000" pitchFamily="34" charset="-122"/>
                <a:cs typeface="Times New Roman" panose="02020603050405020304" pitchFamily="18" charset="0"/>
              </a:rPr>
              <a:t>流竞争时：短</a:t>
            </a:r>
            <a:r>
              <a:rPr kumimoji="1"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思源黑体 CN Normal" panose="020B0400000000000000" pitchFamily="34" charset="-122"/>
                <a:cs typeface="Times New Roman" panose="02020603050405020304" pitchFamily="18" charset="0"/>
              </a:rPr>
              <a:t>RTT</a:t>
            </a:r>
            <a:r>
              <a:rPr kumimoji="1"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思源黑体 CN Normal" panose="020B0400000000000000" pitchFamily="34" charset="-122"/>
                <a:cs typeface="Times New Roman" panose="02020603050405020304" pitchFamily="18" charset="0"/>
              </a:rPr>
              <a:t>连接 更快进入拥塞恢复 → 能更快增加窗口 → 更占优势长</a:t>
            </a:r>
            <a:r>
              <a:rPr kumimoji="1"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思源黑体 CN Normal" panose="020B0400000000000000" pitchFamily="34" charset="-122"/>
                <a:cs typeface="Times New Roman" panose="02020603050405020304" pitchFamily="18" charset="0"/>
              </a:rPr>
              <a:t>RTT</a:t>
            </a:r>
            <a:r>
              <a:rPr kumimoji="1"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思源黑体 CN Normal" panose="020B0400000000000000" pitchFamily="34" charset="-122"/>
                <a:cs typeface="Times New Roman" panose="02020603050405020304" pitchFamily="18" charset="0"/>
              </a:rPr>
              <a:t>连接 增长速度慢，吞吐量受限 → 容易被“压制”</a:t>
            </a:r>
          </a:p>
        </p:txBody>
      </p:sp>
      <p:sp>
        <p:nvSpPr>
          <p:cNvPr id="10" name="对话气泡: 椭圆形 9">
            <a:extLst>
              <a:ext uri="{FF2B5EF4-FFF2-40B4-BE49-F238E27FC236}">
                <a16:creationId xmlns:a16="http://schemas.microsoft.com/office/drawing/2014/main" id="{AAF8F511-8FF6-DEF7-DBBF-0F09042520D2}"/>
              </a:ext>
            </a:extLst>
          </p:cNvPr>
          <p:cNvSpPr/>
          <p:nvPr/>
        </p:nvSpPr>
        <p:spPr>
          <a:xfrm>
            <a:off x="505664" y="3094275"/>
            <a:ext cx="490436" cy="476221"/>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ound-web-cam_17861">
            <a:extLst>
              <a:ext uri="{FF2B5EF4-FFF2-40B4-BE49-F238E27FC236}">
                <a16:creationId xmlns:a16="http://schemas.microsoft.com/office/drawing/2014/main" id="{226E3E9A-E5C4-3860-386E-40DFDD59DB18}"/>
              </a:ext>
            </a:extLst>
          </p:cNvPr>
          <p:cNvSpPr>
            <a:spLocks noChangeAspect="1"/>
          </p:cNvSpPr>
          <p:nvPr/>
        </p:nvSpPr>
        <p:spPr bwMode="auto">
          <a:xfrm>
            <a:off x="605107" y="3162321"/>
            <a:ext cx="291550" cy="340129"/>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sp>
        <p:nvSpPr>
          <p:cNvPr id="12" name="对话气泡: 椭圆形 11">
            <a:extLst>
              <a:ext uri="{FF2B5EF4-FFF2-40B4-BE49-F238E27FC236}">
                <a16:creationId xmlns:a16="http://schemas.microsoft.com/office/drawing/2014/main" id="{D4FAD073-F3E4-8C99-E1D2-75B34C878D4C}"/>
              </a:ext>
            </a:extLst>
          </p:cNvPr>
          <p:cNvSpPr/>
          <p:nvPr/>
        </p:nvSpPr>
        <p:spPr>
          <a:xfrm>
            <a:off x="505664" y="4715089"/>
            <a:ext cx="490436" cy="476221"/>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ound-web-cam_17861">
            <a:extLst>
              <a:ext uri="{FF2B5EF4-FFF2-40B4-BE49-F238E27FC236}">
                <a16:creationId xmlns:a16="http://schemas.microsoft.com/office/drawing/2014/main" id="{39B6D1A7-6C33-2C22-CADD-856FF2310D21}"/>
              </a:ext>
            </a:extLst>
          </p:cNvPr>
          <p:cNvSpPr>
            <a:spLocks noChangeAspect="1"/>
          </p:cNvSpPr>
          <p:nvPr/>
        </p:nvSpPr>
        <p:spPr bwMode="auto">
          <a:xfrm>
            <a:off x="605107" y="4783135"/>
            <a:ext cx="291550" cy="340129"/>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sp>
        <p:nvSpPr>
          <p:cNvPr id="14" name="文本框 13">
            <a:extLst>
              <a:ext uri="{FF2B5EF4-FFF2-40B4-BE49-F238E27FC236}">
                <a16:creationId xmlns:a16="http://schemas.microsoft.com/office/drawing/2014/main" id="{4B2F37A7-C7F2-C43F-AF8F-82094AA744A3}"/>
              </a:ext>
            </a:extLst>
          </p:cNvPr>
          <p:cNvSpPr txBox="1"/>
          <p:nvPr/>
        </p:nvSpPr>
        <p:spPr>
          <a:xfrm>
            <a:off x="1251966" y="4682745"/>
            <a:ext cx="9205645" cy="1688860"/>
          </a:xfrm>
          <a:prstGeom prst="rect">
            <a:avLst/>
          </a:prstGeom>
          <a:noFill/>
        </p:spPr>
        <p:txBody>
          <a:bodyPr wrap="square" rtlCol="0">
            <a:spAutoFit/>
          </a:bodyPr>
          <a:lstStyle/>
          <a:p>
            <a:pPr>
              <a:lnSpc>
                <a:spcPct val="150000"/>
              </a:lnSpc>
              <a:buNone/>
            </a:pPr>
            <a:r>
              <a:rPr kumimoji="1" lang="zh-CN" altLang="en-US"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原因分析：</a:t>
            </a:r>
          </a:p>
          <a:p>
            <a:pPr>
              <a:lnSpc>
                <a:spcPct val="150000"/>
              </a:lnSpc>
            </a:pPr>
            <a:r>
              <a:rPr kumimoji="1" lang="zh-CN" altLang="en-US"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拥塞窗口增长与</a:t>
            </a:r>
            <a:r>
              <a:rPr kumimoji="1" lang="en-US" altLang="zh-CN"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RTT</a:t>
            </a:r>
            <a:r>
              <a:rPr kumimoji="1" lang="zh-CN" altLang="en-US"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成反比</a:t>
            </a:r>
          </a:p>
          <a:p>
            <a:pPr>
              <a:lnSpc>
                <a:spcPct val="150000"/>
              </a:lnSpc>
            </a:pPr>
            <a:r>
              <a:rPr kumimoji="1" lang="zh-CN" altLang="en-US"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发送速率受</a:t>
            </a:r>
            <a:r>
              <a:rPr kumimoji="1" lang="en-US" altLang="zh-CN"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RTT</a:t>
            </a:r>
            <a:r>
              <a:rPr kumimoji="1" lang="zh-CN" altLang="en-US"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影响：速率 ≈ </a:t>
            </a:r>
            <a:r>
              <a:rPr kumimoji="1" lang="en-US" altLang="zh-CN" sz="2400" dirty="0" err="1">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cwnd</a:t>
            </a:r>
            <a:r>
              <a:rPr kumimoji="1" lang="en-US" altLang="zh-CN"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 / RTT</a:t>
            </a:r>
          </a:p>
        </p:txBody>
      </p:sp>
      <p:sp>
        <p:nvSpPr>
          <p:cNvPr id="15" name="对角圆角矩形 5">
            <a:extLst>
              <a:ext uri="{FF2B5EF4-FFF2-40B4-BE49-F238E27FC236}">
                <a16:creationId xmlns:a16="http://schemas.microsoft.com/office/drawing/2014/main" id="{CA6F57FD-6B40-8351-844B-F097AD50C191}"/>
              </a:ext>
            </a:extLst>
          </p:cNvPr>
          <p:cNvSpPr/>
          <p:nvPr/>
        </p:nvSpPr>
        <p:spPr>
          <a:xfrm>
            <a:off x="7109716" y="4828718"/>
            <a:ext cx="4719997" cy="1457036"/>
          </a:xfrm>
          <a:prstGeom prst="round2DiagRect">
            <a:avLst/>
          </a:prstGeom>
          <a:solidFill>
            <a:srgbClr val="0098F6"/>
          </a:solidFill>
          <a:ln w="25400" cap="flat" cmpd="sng" algn="ctr">
            <a:noFill/>
            <a:prstDash val="solid"/>
          </a:ln>
          <a:effectLst/>
          <a:scene3d>
            <a:camera prst="orthographicFront">
              <a:rot lat="0" lon="0" rev="0"/>
            </a:camera>
            <a:lightRig rig="glow" dir="t">
              <a:rot lat="0" lon="0" rev="14100000"/>
            </a:lightRig>
          </a:scene3d>
          <a:sp3d prstMaterial="softEdge">
            <a:bevelT w="127000" prst="artDeco"/>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结论：</a:t>
            </a:r>
            <a:r>
              <a:rPr kumimoji="0" lang="en-US" altLang="zh-CN"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TCP Reno </a:t>
            </a: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并不公平地对待不同 </a:t>
            </a:r>
            <a:r>
              <a:rPr kumimoji="0" lang="en-US" altLang="zh-CN"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RTT </a:t>
            </a: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的流，在多流竞争场景下，偏向短 </a:t>
            </a:r>
            <a:r>
              <a:rPr kumimoji="0" lang="en-US" altLang="zh-CN"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RTT </a:t>
            </a: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流。</a:t>
            </a:r>
          </a:p>
        </p:txBody>
      </p:sp>
      <p:sp>
        <p:nvSpPr>
          <p:cNvPr id="2" name="灯片编号占位符 1">
            <a:extLst>
              <a:ext uri="{FF2B5EF4-FFF2-40B4-BE49-F238E27FC236}">
                <a16:creationId xmlns:a16="http://schemas.microsoft.com/office/drawing/2014/main" id="{1900A471-60D4-4339-AFE4-0D38FACBD168}"/>
              </a:ext>
            </a:extLst>
          </p:cNvPr>
          <p:cNvSpPr>
            <a:spLocks noGrp="1"/>
          </p:cNvSpPr>
          <p:nvPr>
            <p:ph type="sldNum" sz="quarter" idx="12"/>
          </p:nvPr>
        </p:nvSpPr>
        <p:spPr/>
        <p:txBody>
          <a:bodyPr/>
          <a:lstStyle/>
          <a:p>
            <a:fld id="{5956A083-5018-4B52-82A0-83241B8E3D94}" type="slidenum">
              <a:rPr lang="zh-CN" altLang="en-US" smtClean="0"/>
              <a:t>75</a:t>
            </a:fld>
            <a:endParaRPr lang="zh-CN" altLang="en-US"/>
          </a:p>
        </p:txBody>
      </p:sp>
    </p:spTree>
    <p:extLst>
      <p:ext uri="{BB962C8B-B14F-4D97-AF65-F5344CB8AC3E}">
        <p14:creationId xmlns:p14="http://schemas.microsoft.com/office/powerpoint/2010/main" val="427882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BA246-AF14-46CB-C522-61A0C40E3FFA}"/>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BBBE2C7F-2A76-490C-F1FB-757BD6985B52}"/>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C49E86B6-3F5D-CAB2-D93C-82C7F3E34832}"/>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F78AC81B-693F-3252-E1E6-9AE6F9A1CA3B}"/>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449F475F-7E20-4E08-2C9C-BB621DA9F328}"/>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7C1700E4-2268-37D3-EF02-A8260E84D02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F862130A-85D2-627A-6410-5A109F3C4EFE}"/>
              </a:ext>
            </a:extLst>
          </p:cNvPr>
          <p:cNvGrpSpPr/>
          <p:nvPr/>
        </p:nvGrpSpPr>
        <p:grpSpPr>
          <a:xfrm>
            <a:off x="505664" y="1426139"/>
            <a:ext cx="4528673" cy="525530"/>
            <a:chOff x="722008" y="1303131"/>
            <a:chExt cx="4324111" cy="501792"/>
          </a:xfrm>
        </p:grpSpPr>
        <p:sp>
          <p:nvSpPr>
            <p:cNvPr id="50" name="流程图: 手动输入 6">
              <a:extLst>
                <a:ext uri="{FF2B5EF4-FFF2-40B4-BE49-F238E27FC236}">
                  <a16:creationId xmlns:a16="http://schemas.microsoft.com/office/drawing/2014/main" id="{82A0355E-144D-1A4A-022F-B69B833FE640}"/>
                </a:ext>
              </a:extLst>
            </p:cNvPr>
            <p:cNvSpPr/>
            <p:nvPr/>
          </p:nvSpPr>
          <p:spPr>
            <a:xfrm rot="5400000" flipV="1">
              <a:off x="1822947" y="472191"/>
              <a:ext cx="475861" cy="21445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BF99C1AF-F9BC-8FF3-99C6-FC4416ADD695}"/>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CA6BE243-04BA-F668-5E5A-BD6B6B264E75}"/>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6FBFAFEC-7837-F9F8-0256-84EB18DD34CE}"/>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344AF567-FAAB-E53C-E4DC-7386B56EE43F}"/>
                </a:ext>
              </a:extLst>
            </p:cNvPr>
            <p:cNvSpPr txBox="1">
              <a:spLocks noChangeArrowheads="1"/>
            </p:cNvSpPr>
            <p:nvPr/>
          </p:nvSpPr>
          <p:spPr bwMode="auto">
            <a:xfrm>
              <a:off x="1268603" y="1334724"/>
              <a:ext cx="3777516"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Reno</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算法的时延分析</a:t>
              </a:r>
            </a:p>
          </p:txBody>
        </p:sp>
      </p:grpSp>
      <p:sp>
        <p:nvSpPr>
          <p:cNvPr id="4" name="Text Box 79">
            <a:extLst>
              <a:ext uri="{FF2B5EF4-FFF2-40B4-BE49-F238E27FC236}">
                <a16:creationId xmlns:a16="http://schemas.microsoft.com/office/drawing/2014/main" id="{09560988-0CF0-5660-0240-B4A2F7867993}"/>
              </a:ext>
            </a:extLst>
          </p:cNvPr>
          <p:cNvSpPr txBox="1">
            <a:spLocks noChangeArrowheads="1"/>
          </p:cNvSpPr>
          <p:nvPr/>
        </p:nvSpPr>
        <p:spPr bwMode="auto">
          <a:xfrm>
            <a:off x="1251968" y="1924513"/>
            <a:ext cx="10762670" cy="1688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buClr>
                <a:srgbClr val="1969C2"/>
              </a:buClr>
            </a:pPr>
            <a:r>
              <a:rPr kumimoji="1" lang="zh-CN" altLang="en-US" sz="2400" b="1" dirty="0">
                <a:latin typeface="Times New Roman" panose="02020603050405020304" pitchFamily="18" charset="0"/>
                <a:ea typeface="思源黑体 CN Normal" panose="020B0400000000000000" pitchFamily="34" charset="-122"/>
                <a:cs typeface="Times New Roman" panose="02020603050405020304" pitchFamily="18" charset="0"/>
              </a:rPr>
              <a:t>慢启动阶段</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a:lnSpc>
                <a:spcPct val="150000"/>
              </a:lnSpc>
              <a:buClr>
                <a:srgbClr val="1969C2"/>
              </a:buClr>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窗口指数级增长，网络迅速填满 → 队列积压</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a:lnSpc>
                <a:spcPct val="150000"/>
              </a:lnSpc>
              <a:buClr>
                <a:srgbClr val="1969C2"/>
              </a:buClr>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出现较大的传输时延和可能的丢包</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p:txBody>
      </p:sp>
      <p:sp>
        <p:nvSpPr>
          <p:cNvPr id="7" name="对话气泡: 椭圆形 6">
            <a:extLst>
              <a:ext uri="{FF2B5EF4-FFF2-40B4-BE49-F238E27FC236}">
                <a16:creationId xmlns:a16="http://schemas.microsoft.com/office/drawing/2014/main" id="{A363876F-6C7B-8631-D2DF-A2DEA0AAF40B}"/>
              </a:ext>
            </a:extLst>
          </p:cNvPr>
          <p:cNvSpPr/>
          <p:nvPr/>
        </p:nvSpPr>
        <p:spPr>
          <a:xfrm>
            <a:off x="505664" y="2020729"/>
            <a:ext cx="490436" cy="476221"/>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ound-web-cam_17861">
            <a:extLst>
              <a:ext uri="{FF2B5EF4-FFF2-40B4-BE49-F238E27FC236}">
                <a16:creationId xmlns:a16="http://schemas.microsoft.com/office/drawing/2014/main" id="{B9162692-E4BF-34DD-5C99-13B26F2DC628}"/>
              </a:ext>
            </a:extLst>
          </p:cNvPr>
          <p:cNvSpPr>
            <a:spLocks noChangeAspect="1"/>
          </p:cNvSpPr>
          <p:nvPr/>
        </p:nvSpPr>
        <p:spPr bwMode="auto">
          <a:xfrm>
            <a:off x="605107" y="2088775"/>
            <a:ext cx="291550" cy="340129"/>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sp>
        <p:nvSpPr>
          <p:cNvPr id="9" name="文本框 8">
            <a:extLst>
              <a:ext uri="{FF2B5EF4-FFF2-40B4-BE49-F238E27FC236}">
                <a16:creationId xmlns:a16="http://schemas.microsoft.com/office/drawing/2014/main" id="{04C3F339-BE34-E14C-728D-6FC1504FC91A}"/>
              </a:ext>
            </a:extLst>
          </p:cNvPr>
          <p:cNvSpPr txBox="1"/>
          <p:nvPr/>
        </p:nvSpPr>
        <p:spPr>
          <a:xfrm>
            <a:off x="1251966" y="3553015"/>
            <a:ext cx="10029057" cy="1134862"/>
          </a:xfrm>
          <a:prstGeom prst="rect">
            <a:avLst/>
          </a:prstGeom>
          <a:noFill/>
        </p:spPr>
        <p:txBody>
          <a:bodyPr wrap="square" rtlCol="0">
            <a:spAutoFit/>
          </a:bodyPr>
          <a:lstStyle/>
          <a:p>
            <a:pPr lvl="0">
              <a:lnSpc>
                <a:spcPct val="150000"/>
              </a:lnSpc>
              <a:buClr>
                <a:srgbClr val="1969C2"/>
              </a:buClr>
              <a:defRPr/>
            </a:pPr>
            <a:r>
              <a:rPr kumimoji="1" lang="zh-CN" altLang="en-US" sz="2400" b="1"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拥塞避免阶段</a:t>
            </a:r>
            <a:r>
              <a:rPr kumimoji="1" lang="zh-CN" altLang="en-US"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a:t>
            </a:r>
            <a:endParaRPr kumimoji="1" lang="en-US" altLang="zh-CN"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endParaRPr>
          </a:p>
          <a:p>
            <a:pPr lvl="0">
              <a:lnSpc>
                <a:spcPct val="150000"/>
              </a:lnSpc>
              <a:buClr>
                <a:srgbClr val="1969C2"/>
              </a:buClr>
              <a:defRPr/>
            </a:pPr>
            <a:r>
              <a:rPr kumimoji="1" lang="zh-CN" altLang="en-US"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窗口线性增长，时延稳定，但可能较高</a:t>
            </a:r>
            <a:endParaRPr kumimoji="1"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思源黑体 CN Normal" panose="020B0400000000000000" pitchFamily="34" charset="-122"/>
              <a:cs typeface="Times New Roman" panose="02020603050405020304" pitchFamily="18" charset="0"/>
            </a:endParaRPr>
          </a:p>
        </p:txBody>
      </p:sp>
      <p:sp>
        <p:nvSpPr>
          <p:cNvPr id="10" name="对话气泡: 椭圆形 9">
            <a:extLst>
              <a:ext uri="{FF2B5EF4-FFF2-40B4-BE49-F238E27FC236}">
                <a16:creationId xmlns:a16="http://schemas.microsoft.com/office/drawing/2014/main" id="{F69BE008-B6A9-D62A-017C-37DF7E585F9A}"/>
              </a:ext>
            </a:extLst>
          </p:cNvPr>
          <p:cNvSpPr/>
          <p:nvPr/>
        </p:nvSpPr>
        <p:spPr>
          <a:xfrm>
            <a:off x="505664" y="3606073"/>
            <a:ext cx="490436" cy="476221"/>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ound-web-cam_17861">
            <a:extLst>
              <a:ext uri="{FF2B5EF4-FFF2-40B4-BE49-F238E27FC236}">
                <a16:creationId xmlns:a16="http://schemas.microsoft.com/office/drawing/2014/main" id="{28C8097D-040D-F228-4E4E-E6E5895FE4A5}"/>
              </a:ext>
            </a:extLst>
          </p:cNvPr>
          <p:cNvSpPr>
            <a:spLocks noChangeAspect="1"/>
          </p:cNvSpPr>
          <p:nvPr/>
        </p:nvSpPr>
        <p:spPr bwMode="auto">
          <a:xfrm>
            <a:off x="605107" y="3674119"/>
            <a:ext cx="291550" cy="340129"/>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sp>
        <p:nvSpPr>
          <p:cNvPr id="12" name="对话气泡: 椭圆形 11">
            <a:extLst>
              <a:ext uri="{FF2B5EF4-FFF2-40B4-BE49-F238E27FC236}">
                <a16:creationId xmlns:a16="http://schemas.microsoft.com/office/drawing/2014/main" id="{8114EE43-A92F-0C46-B021-D8DAEE5AC45B}"/>
              </a:ext>
            </a:extLst>
          </p:cNvPr>
          <p:cNvSpPr/>
          <p:nvPr/>
        </p:nvSpPr>
        <p:spPr>
          <a:xfrm>
            <a:off x="505664" y="4692883"/>
            <a:ext cx="490436" cy="476221"/>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ound-web-cam_17861">
            <a:extLst>
              <a:ext uri="{FF2B5EF4-FFF2-40B4-BE49-F238E27FC236}">
                <a16:creationId xmlns:a16="http://schemas.microsoft.com/office/drawing/2014/main" id="{D216B0C3-F250-04E2-9715-0BFDCA774E12}"/>
              </a:ext>
            </a:extLst>
          </p:cNvPr>
          <p:cNvSpPr>
            <a:spLocks noChangeAspect="1"/>
          </p:cNvSpPr>
          <p:nvPr/>
        </p:nvSpPr>
        <p:spPr bwMode="auto">
          <a:xfrm>
            <a:off x="605107" y="4760929"/>
            <a:ext cx="291550" cy="340129"/>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sp>
        <p:nvSpPr>
          <p:cNvPr id="14" name="文本框 13">
            <a:extLst>
              <a:ext uri="{FF2B5EF4-FFF2-40B4-BE49-F238E27FC236}">
                <a16:creationId xmlns:a16="http://schemas.microsoft.com/office/drawing/2014/main" id="{E33DCBD3-5053-8C04-DE6A-BFF0B9B070A0}"/>
              </a:ext>
            </a:extLst>
          </p:cNvPr>
          <p:cNvSpPr txBox="1"/>
          <p:nvPr/>
        </p:nvSpPr>
        <p:spPr>
          <a:xfrm>
            <a:off x="1251966" y="4682745"/>
            <a:ext cx="9205645" cy="1688860"/>
          </a:xfrm>
          <a:prstGeom prst="rect">
            <a:avLst/>
          </a:prstGeom>
          <a:noFill/>
        </p:spPr>
        <p:txBody>
          <a:bodyPr wrap="square" rtlCol="0">
            <a:spAutoFit/>
          </a:bodyPr>
          <a:lstStyle/>
          <a:p>
            <a:pPr>
              <a:lnSpc>
                <a:spcPct val="150000"/>
              </a:lnSpc>
              <a:buNone/>
            </a:pPr>
            <a:r>
              <a:rPr kumimoji="1" lang="zh-CN" altLang="en-US" sz="2400" b="1"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重传恢复阶段</a:t>
            </a:r>
            <a:r>
              <a:rPr kumimoji="1" lang="zh-CN" altLang="en-US"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（快速重传</a:t>
            </a:r>
            <a:r>
              <a:rPr kumimoji="1" lang="en-US" altLang="zh-CN"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a:t>
            </a:r>
            <a:r>
              <a:rPr kumimoji="1" lang="zh-CN" altLang="en-US"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超时）：</a:t>
            </a:r>
            <a:endParaRPr kumimoji="1" lang="en-US" altLang="zh-CN"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endParaRPr>
          </a:p>
          <a:p>
            <a:pPr>
              <a:lnSpc>
                <a:spcPct val="150000"/>
              </a:lnSpc>
              <a:buNone/>
            </a:pPr>
            <a:r>
              <a:rPr kumimoji="1" lang="zh-CN" altLang="en-US"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窗口骤降，发送速率下降 → 时延短暂下降</a:t>
            </a:r>
            <a:endParaRPr kumimoji="1" lang="en-US" altLang="zh-CN"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endParaRPr>
          </a:p>
          <a:p>
            <a:pPr>
              <a:lnSpc>
                <a:spcPct val="150000"/>
              </a:lnSpc>
              <a:buNone/>
            </a:pPr>
            <a:r>
              <a:rPr kumimoji="1" lang="zh-CN" altLang="en-US"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rPr>
              <a:t>之后缓慢恢复，时延波动明显</a:t>
            </a:r>
            <a:endParaRPr kumimoji="1" lang="en-US" altLang="zh-CN" sz="2400" dirty="0">
              <a:solidFill>
                <a:prstClr val="black"/>
              </a:solidFill>
              <a:latin typeface="Times New Roman" panose="02020603050405020304" pitchFamily="18" charset="0"/>
              <a:ea typeface="思源黑体 CN Normal" panose="020B0400000000000000" pitchFamily="34" charset="-122"/>
              <a:cs typeface="Times New Roman" panose="02020603050405020304" pitchFamily="18" charset="0"/>
            </a:endParaRPr>
          </a:p>
        </p:txBody>
      </p:sp>
      <p:sp>
        <p:nvSpPr>
          <p:cNvPr id="15" name="对角圆角矩形 5">
            <a:extLst>
              <a:ext uri="{FF2B5EF4-FFF2-40B4-BE49-F238E27FC236}">
                <a16:creationId xmlns:a16="http://schemas.microsoft.com/office/drawing/2014/main" id="{D899986F-67EE-751A-FF1C-5EA394317968}"/>
              </a:ext>
            </a:extLst>
          </p:cNvPr>
          <p:cNvSpPr/>
          <p:nvPr/>
        </p:nvSpPr>
        <p:spPr>
          <a:xfrm>
            <a:off x="7109716" y="4828718"/>
            <a:ext cx="4719997" cy="1457036"/>
          </a:xfrm>
          <a:prstGeom prst="round2DiagRect">
            <a:avLst/>
          </a:prstGeom>
          <a:solidFill>
            <a:srgbClr val="0098F6"/>
          </a:solidFill>
          <a:ln w="25400" cap="flat" cmpd="sng" algn="ctr">
            <a:noFill/>
            <a:prstDash val="solid"/>
          </a:ln>
          <a:effectLst/>
          <a:scene3d>
            <a:camera prst="orthographicFront">
              <a:rot lat="0" lon="0" rev="0"/>
            </a:camera>
            <a:lightRig rig="glow" dir="t">
              <a:rot lat="0" lon="0" rev="14100000"/>
            </a:lightRig>
          </a:scene3d>
          <a:sp3d prstMaterial="softEdge">
            <a:bevelT w="127000" prst="artDeco"/>
          </a:sp3d>
        </p:spPr>
        <p:txBody>
          <a:bodyPr rtlCol="0" anchor="ctr"/>
          <a:lstStyle/>
          <a:p>
            <a:pPr lvl="0" algn="ctr">
              <a:defRPr/>
            </a:pP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结论：</a:t>
            </a:r>
            <a:r>
              <a:rPr lang="en-US" altLang="zh-CN" sz="2000" kern="0" dirty="0">
                <a:solidFill>
                  <a:prstClr val="white"/>
                </a:solidFill>
                <a:latin typeface="微软雅黑" panose="020B0503020204020204" pitchFamily="34" charset="-122"/>
                <a:ea typeface="微软雅黑" panose="020B0503020204020204" pitchFamily="34" charset="-122"/>
              </a:rPr>
              <a:t>TCP Reno </a:t>
            </a:r>
            <a:r>
              <a:rPr lang="zh-CN" altLang="en-US" sz="2000" kern="0" dirty="0">
                <a:solidFill>
                  <a:prstClr val="white"/>
                </a:solidFill>
                <a:latin typeface="微软雅黑" panose="020B0503020204020204" pitchFamily="34" charset="-122"/>
                <a:ea typeface="微软雅黑" panose="020B0503020204020204" pitchFamily="34" charset="-122"/>
              </a:rPr>
              <a:t>的时延波动性较大，尤其在突发性网络环境下，可能出现</a:t>
            </a:r>
            <a:r>
              <a:rPr lang="zh-CN" altLang="en-US" sz="2000" b="1" kern="0" dirty="0">
                <a:solidFill>
                  <a:srgbClr val="FFC000"/>
                </a:solidFill>
                <a:latin typeface="微软雅黑" panose="020B0503020204020204" pitchFamily="34" charset="-122"/>
                <a:ea typeface="微软雅黑" panose="020B0503020204020204" pitchFamily="34" charset="-122"/>
              </a:rPr>
              <a:t>高抖动</a:t>
            </a:r>
            <a:r>
              <a:rPr lang="zh-CN" altLang="en-US" sz="2000" kern="0" dirty="0">
                <a:solidFill>
                  <a:schemeClr val="bg1"/>
                </a:solidFill>
                <a:latin typeface="微软雅黑" panose="020B0503020204020204" pitchFamily="34" charset="-122"/>
                <a:ea typeface="微软雅黑" panose="020B0503020204020204" pitchFamily="34" charset="-122"/>
              </a:rPr>
              <a:t>与</a:t>
            </a:r>
            <a:r>
              <a:rPr lang="zh-CN" altLang="en-US" sz="2000" b="1" kern="0" dirty="0">
                <a:solidFill>
                  <a:srgbClr val="FFC000"/>
                </a:solidFill>
                <a:latin typeface="微软雅黑" panose="020B0503020204020204" pitchFamily="34" charset="-122"/>
                <a:ea typeface="微软雅黑" panose="020B0503020204020204" pitchFamily="34" charset="-122"/>
              </a:rPr>
              <a:t>不稳定</a:t>
            </a:r>
            <a:r>
              <a:rPr lang="zh-CN" altLang="en-US" sz="2000" kern="0" dirty="0">
                <a:solidFill>
                  <a:prstClr val="white"/>
                </a:solidFill>
                <a:latin typeface="微软雅黑" panose="020B0503020204020204" pitchFamily="34" charset="-122"/>
                <a:ea typeface="微软雅黑" panose="020B0503020204020204" pitchFamily="34" charset="-122"/>
              </a:rPr>
              <a:t>的交互体验。</a:t>
            </a: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CD51217F-A811-4F48-9B87-909EAD962154}"/>
              </a:ext>
            </a:extLst>
          </p:cNvPr>
          <p:cNvSpPr>
            <a:spLocks noGrp="1"/>
          </p:cNvSpPr>
          <p:nvPr>
            <p:ph type="sldNum" sz="quarter" idx="12"/>
          </p:nvPr>
        </p:nvSpPr>
        <p:spPr/>
        <p:txBody>
          <a:bodyPr/>
          <a:lstStyle/>
          <a:p>
            <a:fld id="{5956A083-5018-4B52-82A0-83241B8E3D94}" type="slidenum">
              <a:rPr lang="zh-CN" altLang="en-US" smtClean="0"/>
              <a:t>76</a:t>
            </a:fld>
            <a:endParaRPr lang="zh-CN" altLang="en-US"/>
          </a:p>
        </p:txBody>
      </p:sp>
    </p:spTree>
    <p:extLst>
      <p:ext uri="{BB962C8B-B14F-4D97-AF65-F5344CB8AC3E}">
        <p14:creationId xmlns:p14="http://schemas.microsoft.com/office/powerpoint/2010/main" val="343076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FAF38-326B-5E2B-A28F-183C784E91BF}"/>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8D9D8920-6897-8772-2CA5-DBFD9AAFA2FE}"/>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CC254EEE-FD5F-15BA-E417-FD89C6348D82}"/>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57A62210-11D9-FA3C-A3F1-E45BEEF25B7E}"/>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93E18F0F-FE5A-19E8-AAEE-1A79573CA8E3}"/>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E144F663-69FA-6234-804B-74FC0D94278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0F0FD836-C1AF-BFDD-44BF-158ED426A2E1}"/>
              </a:ext>
            </a:extLst>
          </p:cNvPr>
          <p:cNvGrpSpPr/>
          <p:nvPr/>
        </p:nvGrpSpPr>
        <p:grpSpPr>
          <a:xfrm>
            <a:off x="505664" y="1426139"/>
            <a:ext cx="6285553" cy="525530"/>
            <a:chOff x="722008" y="1303131"/>
            <a:chExt cx="6001632" cy="501792"/>
          </a:xfrm>
        </p:grpSpPr>
        <p:sp>
          <p:nvSpPr>
            <p:cNvPr id="50" name="流程图: 手动输入 6">
              <a:extLst>
                <a:ext uri="{FF2B5EF4-FFF2-40B4-BE49-F238E27FC236}">
                  <a16:creationId xmlns:a16="http://schemas.microsoft.com/office/drawing/2014/main" id="{B0F046AF-264F-118A-F525-620B4691B237}"/>
                </a:ext>
              </a:extLst>
            </p:cNvPr>
            <p:cNvSpPr/>
            <p:nvPr/>
          </p:nvSpPr>
          <p:spPr>
            <a:xfrm rot="5400000" flipV="1">
              <a:off x="3286285" y="-991146"/>
              <a:ext cx="475861" cy="507122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dirty="0">
                <a:latin typeface="+mn-ea"/>
                <a:cs typeface="Arial" panose="020B0604020202020204" pitchFamily="34" charset="0"/>
              </a:endParaRPr>
            </a:p>
          </p:txBody>
        </p:sp>
        <p:grpSp>
          <p:nvGrpSpPr>
            <p:cNvPr id="51" name="组合 50">
              <a:extLst>
                <a:ext uri="{FF2B5EF4-FFF2-40B4-BE49-F238E27FC236}">
                  <a16:creationId xmlns:a16="http://schemas.microsoft.com/office/drawing/2014/main" id="{FEA934B1-9571-0B4A-5BCC-086D711001A4}"/>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2BBB0B25-F57E-9718-A3E2-50EBB357EA90}"/>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3297C329-30FE-899E-041A-1F91CEAACFF1}"/>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2A67157F-B2C7-9AE5-A26B-2C1C0468DCAF}"/>
                </a:ext>
              </a:extLst>
            </p:cNvPr>
            <p:cNvSpPr txBox="1">
              <a:spLocks noChangeArrowheads="1"/>
            </p:cNvSpPr>
            <p:nvPr/>
          </p:nvSpPr>
          <p:spPr bwMode="auto">
            <a:xfrm>
              <a:off x="1268602" y="1334724"/>
              <a:ext cx="5455038"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Reno</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算法的改进</a:t>
              </a:r>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——New Reno</a:t>
              </a:r>
            </a:p>
          </p:txBody>
        </p:sp>
      </p:grpSp>
      <p:grpSp>
        <p:nvGrpSpPr>
          <p:cNvPr id="18" name="组合 17">
            <a:extLst>
              <a:ext uri="{FF2B5EF4-FFF2-40B4-BE49-F238E27FC236}">
                <a16:creationId xmlns:a16="http://schemas.microsoft.com/office/drawing/2014/main" id="{32A594E2-E46C-0C09-B407-72E74750B220}"/>
              </a:ext>
            </a:extLst>
          </p:cNvPr>
          <p:cNvGrpSpPr/>
          <p:nvPr/>
        </p:nvGrpSpPr>
        <p:grpSpPr>
          <a:xfrm>
            <a:off x="505664" y="2381886"/>
            <a:ext cx="11030204" cy="2094228"/>
            <a:chOff x="1403750" y="3554922"/>
            <a:chExt cx="11030204" cy="2094228"/>
          </a:xfrm>
        </p:grpSpPr>
        <p:grpSp>
          <p:nvGrpSpPr>
            <p:cNvPr id="19" name="组合 18">
              <a:extLst>
                <a:ext uri="{FF2B5EF4-FFF2-40B4-BE49-F238E27FC236}">
                  <a16:creationId xmlns:a16="http://schemas.microsoft.com/office/drawing/2014/main" id="{355196B6-6F18-0FB9-8DF9-9EF87F96C4A5}"/>
                </a:ext>
              </a:extLst>
            </p:cNvPr>
            <p:cNvGrpSpPr/>
            <p:nvPr/>
          </p:nvGrpSpPr>
          <p:grpSpPr>
            <a:xfrm>
              <a:off x="1403750" y="3593123"/>
              <a:ext cx="490436" cy="476221"/>
              <a:chOff x="1403750" y="3593123"/>
              <a:chExt cx="808892" cy="785446"/>
            </a:xfrm>
          </p:grpSpPr>
          <p:sp>
            <p:nvSpPr>
              <p:cNvPr id="21" name="对话气泡: 椭圆形 20">
                <a:extLst>
                  <a:ext uri="{FF2B5EF4-FFF2-40B4-BE49-F238E27FC236}">
                    <a16:creationId xmlns:a16="http://schemas.microsoft.com/office/drawing/2014/main" id="{574D6217-79D3-20B0-0104-ED12632815BF}"/>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ound-web-cam_17861">
                <a:extLst>
                  <a:ext uri="{FF2B5EF4-FFF2-40B4-BE49-F238E27FC236}">
                    <a16:creationId xmlns:a16="http://schemas.microsoft.com/office/drawing/2014/main" id="{AA5BD1B3-589C-B868-E01E-AC18F2986DCC}"/>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20" name="Text Box 79">
              <a:extLst>
                <a:ext uri="{FF2B5EF4-FFF2-40B4-BE49-F238E27FC236}">
                  <a16:creationId xmlns:a16="http://schemas.microsoft.com/office/drawing/2014/main" id="{67DEC700-2354-84DB-D8CF-3549C9799807}"/>
                </a:ext>
              </a:extLst>
            </p:cNvPr>
            <p:cNvSpPr txBox="1">
              <a:spLocks noChangeArrowheads="1"/>
            </p:cNvSpPr>
            <p:nvPr/>
          </p:nvSpPr>
          <p:spPr bwMode="auto">
            <a:xfrm>
              <a:off x="2013554" y="3554922"/>
              <a:ext cx="10420400" cy="2094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pP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Reno</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存在的问题：当收到一个新的</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ACK</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，就会退出快速恢复，</a:t>
              </a:r>
              <a:r>
                <a:rPr kumimoji="1" lang="en-US" altLang="zh-CN" sz="2400" dirty="0" err="1">
                  <a:latin typeface="Times New Roman" panose="02020603050405020304" pitchFamily="18" charset="0"/>
                  <a:ea typeface="思源黑体 CN Normal" panose="020B0400000000000000" pitchFamily="34" charset="-122"/>
                  <a:cs typeface="Times New Roman" panose="02020603050405020304" pitchFamily="18" charset="0"/>
                </a:rPr>
                <a:t>CongWin</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收缩到门限值，可能导致较长时间内无法发送新的报文段，也无法触发快速重传的机制</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a:lnSpc>
                  <a:spcPct val="110000"/>
                </a:lnSpc>
              </a:pPr>
              <a:endPar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a:lnSpc>
                  <a:spcPct val="110000"/>
                </a:lnSpc>
              </a:pPr>
              <a:endPar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endParaRPr>
            </a:p>
          </p:txBody>
        </p:sp>
      </p:grpSp>
      <p:sp>
        <p:nvSpPr>
          <p:cNvPr id="23" name="Text Box 79">
            <a:extLst>
              <a:ext uri="{FF2B5EF4-FFF2-40B4-BE49-F238E27FC236}">
                <a16:creationId xmlns:a16="http://schemas.microsoft.com/office/drawing/2014/main" id="{78216A89-DF42-2379-D309-153FD874F593}"/>
              </a:ext>
            </a:extLst>
          </p:cNvPr>
          <p:cNvSpPr txBox="1">
            <a:spLocks noChangeArrowheads="1"/>
          </p:cNvSpPr>
          <p:nvPr/>
        </p:nvSpPr>
        <p:spPr bwMode="auto">
          <a:xfrm>
            <a:off x="1129162" y="3759250"/>
            <a:ext cx="7309915" cy="12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nSpc>
                <a:spcPct val="110000"/>
              </a:lnSpc>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信道空闲</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lnSpc>
                <a:spcPct val="110000"/>
              </a:lnSpc>
              <a:buClr>
                <a:srgbClr val="009FF6"/>
              </a:buClr>
              <a:buFont typeface="Wingdings" panose="05000000000000000000" pitchFamily="2" charset="2"/>
              <a:buChar char="p"/>
            </a:pP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Timeout</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直接回到慢启动</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lnSpc>
                <a:spcPct val="110000"/>
              </a:lnSpc>
              <a:buClr>
                <a:srgbClr val="009FF6"/>
              </a:buClr>
              <a:buFont typeface="Wingdings" panose="05000000000000000000" pitchFamily="2" charset="2"/>
              <a:buChar char="p"/>
            </a:pP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F04267F1-FA4B-4849-AF09-169F7AFFBA07}"/>
              </a:ext>
            </a:extLst>
          </p:cNvPr>
          <p:cNvSpPr>
            <a:spLocks noGrp="1"/>
          </p:cNvSpPr>
          <p:nvPr>
            <p:ph type="sldNum" sz="quarter" idx="12"/>
          </p:nvPr>
        </p:nvSpPr>
        <p:spPr/>
        <p:txBody>
          <a:bodyPr/>
          <a:lstStyle/>
          <a:p>
            <a:fld id="{5956A083-5018-4B52-82A0-83241B8E3D94}" type="slidenum">
              <a:rPr lang="zh-CN" altLang="en-US" smtClean="0"/>
              <a:t>77</a:t>
            </a:fld>
            <a:endParaRPr lang="zh-CN" altLang="en-US"/>
          </a:p>
        </p:txBody>
      </p:sp>
    </p:spTree>
    <p:extLst>
      <p:ext uri="{BB962C8B-B14F-4D97-AF65-F5344CB8AC3E}">
        <p14:creationId xmlns:p14="http://schemas.microsoft.com/office/powerpoint/2010/main" val="4170779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0" end="0"/>
                                            </p:txEl>
                                          </p:spTgt>
                                        </p:tgtEl>
                                        <p:attrNameLst>
                                          <p:attrName>style.visibility</p:attrName>
                                        </p:attrNameLst>
                                      </p:cBhvr>
                                      <p:to>
                                        <p:strVal val="visible"/>
                                      </p:to>
                                    </p:set>
                                    <p:animEffect transition="in" filter="wipe(left)">
                                      <p:cBhvr>
                                        <p:cTn id="12" dur="500"/>
                                        <p:tgtEl>
                                          <p:spTgt spid="23">
                                            <p:txEl>
                                              <p:pRg st="0" end="0"/>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3">
                                            <p:txEl>
                                              <p:pRg st="1" end="1"/>
                                            </p:txEl>
                                          </p:spTgt>
                                        </p:tgtEl>
                                        <p:attrNameLst>
                                          <p:attrName>style.visibility</p:attrName>
                                        </p:attrNameLst>
                                      </p:cBhvr>
                                      <p:to>
                                        <p:strVal val="visible"/>
                                      </p:to>
                                    </p:set>
                                    <p:animEffect transition="in" filter="wipe(left)">
                                      <p:cBhvr>
                                        <p:cTn id="16" dur="500"/>
                                        <p:tgtEl>
                                          <p:spTgt spid="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55CD5-1B30-6423-C36F-61BCCD8A6E88}"/>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40AA1CDB-5EE5-FA06-8828-F64FA7816B2F}"/>
              </a:ext>
            </a:extLst>
          </p:cNvPr>
          <p:cNvGrpSpPr/>
          <p:nvPr/>
        </p:nvGrpSpPr>
        <p:grpSpPr>
          <a:xfrm>
            <a:off x="101440" y="-186234"/>
            <a:ext cx="7624057" cy="1428589"/>
            <a:chOff x="551030" y="-368704"/>
            <a:chExt cx="7624057" cy="1428589"/>
          </a:xfrm>
        </p:grpSpPr>
        <p:grpSp>
          <p:nvGrpSpPr>
            <p:cNvPr id="45" name="组合 44">
              <a:extLst>
                <a:ext uri="{FF2B5EF4-FFF2-40B4-BE49-F238E27FC236}">
                  <a16:creationId xmlns:a16="http://schemas.microsoft.com/office/drawing/2014/main" id="{7E437BE6-2CE1-5C77-6AAD-E79C49ACA410}"/>
                </a:ext>
              </a:extLst>
            </p:cNvPr>
            <p:cNvGrpSpPr/>
            <p:nvPr/>
          </p:nvGrpSpPr>
          <p:grpSpPr>
            <a:xfrm>
              <a:off x="1201633" y="303925"/>
              <a:ext cx="6973454" cy="675443"/>
              <a:chOff x="1839060" y="967769"/>
              <a:chExt cx="6973454" cy="675443"/>
            </a:xfrm>
          </p:grpSpPr>
          <p:sp>
            <p:nvSpPr>
              <p:cNvPr id="47" name="矩形: 圆角 46">
                <a:extLst>
                  <a:ext uri="{FF2B5EF4-FFF2-40B4-BE49-F238E27FC236}">
                    <a16:creationId xmlns:a16="http://schemas.microsoft.com/office/drawing/2014/main" id="{872D195F-5C8E-C24B-636E-7530A89A7F31}"/>
                  </a:ext>
                </a:extLst>
              </p:cNvPr>
              <p:cNvSpPr/>
              <p:nvPr/>
            </p:nvSpPr>
            <p:spPr>
              <a:xfrm>
                <a:off x="1839060" y="967769"/>
                <a:ext cx="6881656"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41E343C1-AF21-F8B7-8860-FBBA907DB5DA}"/>
                  </a:ext>
                </a:extLst>
              </p:cNvPr>
              <p:cNvSpPr txBox="1"/>
              <p:nvPr/>
            </p:nvSpPr>
            <p:spPr>
              <a:xfrm>
                <a:off x="2597180" y="1053620"/>
                <a:ext cx="621533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New Reno</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算法）</a:t>
                </a:r>
              </a:p>
            </p:txBody>
          </p:sp>
        </p:grpSp>
        <p:pic>
          <p:nvPicPr>
            <p:cNvPr id="46" name="图片 45">
              <a:extLst>
                <a:ext uri="{FF2B5EF4-FFF2-40B4-BE49-F238E27FC236}">
                  <a16:creationId xmlns:a16="http://schemas.microsoft.com/office/drawing/2014/main" id="{FF027DC0-5314-9836-8D72-F04B208DB2D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2" name="组合 1">
            <a:extLst>
              <a:ext uri="{FF2B5EF4-FFF2-40B4-BE49-F238E27FC236}">
                <a16:creationId xmlns:a16="http://schemas.microsoft.com/office/drawing/2014/main" id="{10816196-5263-63D3-A69A-58804D244F13}"/>
              </a:ext>
            </a:extLst>
          </p:cNvPr>
          <p:cNvGrpSpPr/>
          <p:nvPr/>
        </p:nvGrpSpPr>
        <p:grpSpPr>
          <a:xfrm>
            <a:off x="683025" y="5260508"/>
            <a:ext cx="7919719" cy="514422"/>
            <a:chOff x="1403750" y="3554922"/>
            <a:chExt cx="7919719" cy="514422"/>
          </a:xfrm>
        </p:grpSpPr>
        <p:grpSp>
          <p:nvGrpSpPr>
            <p:cNvPr id="3" name="组合 2">
              <a:extLst>
                <a:ext uri="{FF2B5EF4-FFF2-40B4-BE49-F238E27FC236}">
                  <a16:creationId xmlns:a16="http://schemas.microsoft.com/office/drawing/2014/main" id="{4694DF51-0DF4-2640-7658-8184919FBFEF}"/>
                </a:ext>
              </a:extLst>
            </p:cNvPr>
            <p:cNvGrpSpPr/>
            <p:nvPr/>
          </p:nvGrpSpPr>
          <p:grpSpPr>
            <a:xfrm>
              <a:off x="1403750" y="3593123"/>
              <a:ext cx="490436" cy="476221"/>
              <a:chOff x="1403750" y="3593123"/>
              <a:chExt cx="808892" cy="785446"/>
            </a:xfrm>
          </p:grpSpPr>
          <p:sp>
            <p:nvSpPr>
              <p:cNvPr id="5" name="对话气泡: 椭圆形 4">
                <a:extLst>
                  <a:ext uri="{FF2B5EF4-FFF2-40B4-BE49-F238E27FC236}">
                    <a16:creationId xmlns:a16="http://schemas.microsoft.com/office/drawing/2014/main" id="{DE0821D4-A1BB-A48D-45B6-2035F32D4327}"/>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ound-web-cam_17861">
                <a:extLst>
                  <a:ext uri="{FF2B5EF4-FFF2-40B4-BE49-F238E27FC236}">
                    <a16:creationId xmlns:a16="http://schemas.microsoft.com/office/drawing/2014/main" id="{F78E6263-5B3F-AB7B-E509-3CF43E7EEA8E}"/>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4" name="Text Box 79">
              <a:extLst>
                <a:ext uri="{FF2B5EF4-FFF2-40B4-BE49-F238E27FC236}">
                  <a16:creationId xmlns:a16="http://schemas.microsoft.com/office/drawing/2014/main" id="{87D49E7C-0125-598F-531D-6124B3F41131}"/>
                </a:ext>
              </a:extLst>
            </p:cNvPr>
            <p:cNvSpPr txBox="1">
              <a:spLocks noChangeArrowheads="1"/>
            </p:cNvSpPr>
            <p:nvPr/>
          </p:nvSpPr>
          <p:spPr bwMode="auto">
            <a:xfrm>
              <a:off x="2013554" y="3554922"/>
              <a:ext cx="7309915" cy="47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解决方案</a:t>
              </a:r>
            </a:p>
          </p:txBody>
        </p:sp>
      </p:grpSp>
      <p:sp>
        <p:nvSpPr>
          <p:cNvPr id="7" name="Text Box 79">
            <a:extLst>
              <a:ext uri="{FF2B5EF4-FFF2-40B4-BE49-F238E27FC236}">
                <a16:creationId xmlns:a16="http://schemas.microsoft.com/office/drawing/2014/main" id="{5E9A88C2-3482-7E8C-626C-EC2FC83C5818}"/>
              </a:ext>
            </a:extLst>
          </p:cNvPr>
          <p:cNvSpPr txBox="1">
            <a:spLocks noChangeArrowheads="1"/>
          </p:cNvSpPr>
          <p:nvPr/>
        </p:nvSpPr>
        <p:spPr bwMode="auto">
          <a:xfrm>
            <a:off x="1292830" y="2126964"/>
            <a:ext cx="10527136"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nSpc>
                <a:spcPct val="110000"/>
              </a:lnSpc>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记录进入快速重传时的已发送的最高报文段序号</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Recovery</a:t>
            </a:r>
          </a:p>
          <a:p>
            <a:pPr marL="342900" indent="-342900">
              <a:lnSpc>
                <a:spcPct val="110000"/>
              </a:lnSpc>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每收到一个新的</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ACK</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，如果序号不大于</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Recovery</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，不退出快速恢复，而是重传该</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ACK</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后的报文段</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lnSpc>
                <a:spcPct val="110000"/>
              </a:lnSpc>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一旦</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ACK</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序号大于</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Recovery</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，立即退出快速恢复，收缩到门限值</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lnSpc>
                <a:spcPct val="110000"/>
              </a:lnSpc>
              <a:buClr>
                <a:srgbClr val="009FF6"/>
              </a:buClr>
              <a:buFont typeface="Wingdings" panose="05000000000000000000" pitchFamily="2" charset="2"/>
              <a:buChar char="p"/>
            </a:pP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p:txBody>
      </p:sp>
      <p:sp>
        <p:nvSpPr>
          <p:cNvPr id="8" name="Text Box 79">
            <a:extLst>
              <a:ext uri="{FF2B5EF4-FFF2-40B4-BE49-F238E27FC236}">
                <a16:creationId xmlns:a16="http://schemas.microsoft.com/office/drawing/2014/main" id="{52623848-B6CA-68D8-C2DA-41DB3EA2AA53}"/>
              </a:ext>
            </a:extLst>
          </p:cNvPr>
          <p:cNvSpPr txBox="1">
            <a:spLocks noChangeArrowheads="1"/>
          </p:cNvSpPr>
          <p:nvPr/>
        </p:nvSpPr>
        <p:spPr bwMode="auto">
          <a:xfrm>
            <a:off x="1292829" y="4676110"/>
            <a:ext cx="7812389" cy="12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nSpc>
                <a:spcPct val="110000"/>
              </a:lnSpc>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部分分组可能已经被接收，无意义的重发</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lnSpc>
                <a:spcPct val="110000"/>
              </a:lnSpc>
              <a:buClr>
                <a:srgbClr val="009FF6"/>
              </a:buClr>
              <a:buFont typeface="Wingdings" panose="05000000000000000000" pitchFamily="2" charset="2"/>
              <a:buChar char="p"/>
            </a:pP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lnSpc>
                <a:spcPct val="110000"/>
              </a:lnSpc>
              <a:buClr>
                <a:srgbClr val="009FF6"/>
              </a:buClr>
              <a:buFont typeface="Wingdings" panose="05000000000000000000" pitchFamily="2" charset="2"/>
              <a:buChar char="p"/>
            </a:pP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p:txBody>
      </p:sp>
      <p:sp>
        <p:nvSpPr>
          <p:cNvPr id="9" name="Text Box 79">
            <a:extLst>
              <a:ext uri="{FF2B5EF4-FFF2-40B4-BE49-F238E27FC236}">
                <a16:creationId xmlns:a16="http://schemas.microsoft.com/office/drawing/2014/main" id="{37F82DF3-CFBE-33F0-E6B4-11C12EBFB05E}"/>
              </a:ext>
            </a:extLst>
          </p:cNvPr>
          <p:cNvSpPr txBox="1">
            <a:spLocks noChangeArrowheads="1"/>
          </p:cNvSpPr>
          <p:nvPr/>
        </p:nvSpPr>
        <p:spPr bwMode="auto">
          <a:xfrm>
            <a:off x="1292829" y="5831619"/>
            <a:ext cx="8355721" cy="470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nSpc>
                <a:spcPct val="110000"/>
              </a:lnSpc>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在</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TCP</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报文段的选项字段中，增加</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SACK</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，选择重传</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p:txBody>
      </p:sp>
      <p:grpSp>
        <p:nvGrpSpPr>
          <p:cNvPr id="10" name="组合 9">
            <a:extLst>
              <a:ext uri="{FF2B5EF4-FFF2-40B4-BE49-F238E27FC236}">
                <a16:creationId xmlns:a16="http://schemas.microsoft.com/office/drawing/2014/main" id="{9182C91B-1B3A-EEF6-9EF3-F70E7BCA8019}"/>
              </a:ext>
            </a:extLst>
          </p:cNvPr>
          <p:cNvGrpSpPr/>
          <p:nvPr/>
        </p:nvGrpSpPr>
        <p:grpSpPr>
          <a:xfrm>
            <a:off x="684913" y="1450543"/>
            <a:ext cx="7919719" cy="514422"/>
            <a:chOff x="1403750" y="3554922"/>
            <a:chExt cx="7919719" cy="514422"/>
          </a:xfrm>
        </p:grpSpPr>
        <p:grpSp>
          <p:nvGrpSpPr>
            <p:cNvPr id="11" name="组合 10">
              <a:extLst>
                <a:ext uri="{FF2B5EF4-FFF2-40B4-BE49-F238E27FC236}">
                  <a16:creationId xmlns:a16="http://schemas.microsoft.com/office/drawing/2014/main" id="{F424B7A0-0811-978A-C90B-86DC8217E378}"/>
                </a:ext>
              </a:extLst>
            </p:cNvPr>
            <p:cNvGrpSpPr/>
            <p:nvPr/>
          </p:nvGrpSpPr>
          <p:grpSpPr>
            <a:xfrm>
              <a:off x="1403750" y="3593123"/>
              <a:ext cx="490436" cy="476221"/>
              <a:chOff x="1403750" y="3593123"/>
              <a:chExt cx="808892" cy="785446"/>
            </a:xfrm>
          </p:grpSpPr>
          <p:sp>
            <p:nvSpPr>
              <p:cNvPr id="13" name="对话气泡: 椭圆形 12">
                <a:extLst>
                  <a:ext uri="{FF2B5EF4-FFF2-40B4-BE49-F238E27FC236}">
                    <a16:creationId xmlns:a16="http://schemas.microsoft.com/office/drawing/2014/main" id="{3A02F577-D7A6-0CE0-1882-FF5196C30F5D}"/>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ound-web-cam_17861">
                <a:extLst>
                  <a:ext uri="{FF2B5EF4-FFF2-40B4-BE49-F238E27FC236}">
                    <a16:creationId xmlns:a16="http://schemas.microsoft.com/office/drawing/2014/main" id="{625ECBA6-7F0D-81EE-88E7-ED4528052CB7}"/>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12" name="Text Box 79">
              <a:extLst>
                <a:ext uri="{FF2B5EF4-FFF2-40B4-BE49-F238E27FC236}">
                  <a16:creationId xmlns:a16="http://schemas.microsoft.com/office/drawing/2014/main" id="{541EDA9A-D7EF-A75B-48E3-C62E54256E09}"/>
                </a:ext>
              </a:extLst>
            </p:cNvPr>
            <p:cNvSpPr txBox="1">
              <a:spLocks noChangeArrowheads="1"/>
            </p:cNvSpPr>
            <p:nvPr/>
          </p:nvSpPr>
          <p:spPr bwMode="auto">
            <a:xfrm>
              <a:off x="2013554" y="3554922"/>
              <a:ext cx="7309915" cy="47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解决方案</a:t>
              </a:r>
            </a:p>
          </p:txBody>
        </p:sp>
      </p:grpSp>
      <p:grpSp>
        <p:nvGrpSpPr>
          <p:cNvPr id="15" name="组合 14">
            <a:extLst>
              <a:ext uri="{FF2B5EF4-FFF2-40B4-BE49-F238E27FC236}">
                <a16:creationId xmlns:a16="http://schemas.microsoft.com/office/drawing/2014/main" id="{249C20C8-E623-4F19-3630-B3E9DE87986D}"/>
              </a:ext>
            </a:extLst>
          </p:cNvPr>
          <p:cNvGrpSpPr/>
          <p:nvPr/>
        </p:nvGrpSpPr>
        <p:grpSpPr>
          <a:xfrm>
            <a:off x="684913" y="4063072"/>
            <a:ext cx="7919719" cy="514422"/>
            <a:chOff x="1403750" y="3554922"/>
            <a:chExt cx="7919719" cy="514422"/>
          </a:xfrm>
        </p:grpSpPr>
        <p:grpSp>
          <p:nvGrpSpPr>
            <p:cNvPr id="16" name="组合 15">
              <a:extLst>
                <a:ext uri="{FF2B5EF4-FFF2-40B4-BE49-F238E27FC236}">
                  <a16:creationId xmlns:a16="http://schemas.microsoft.com/office/drawing/2014/main" id="{778C729C-B292-32D6-F43E-A6983ABD43C4}"/>
                </a:ext>
              </a:extLst>
            </p:cNvPr>
            <p:cNvGrpSpPr/>
            <p:nvPr/>
          </p:nvGrpSpPr>
          <p:grpSpPr>
            <a:xfrm>
              <a:off x="1403750" y="3593123"/>
              <a:ext cx="490436" cy="476221"/>
              <a:chOff x="1403750" y="3593123"/>
              <a:chExt cx="808892" cy="785446"/>
            </a:xfrm>
          </p:grpSpPr>
          <p:sp>
            <p:nvSpPr>
              <p:cNvPr id="18" name="对话气泡: 椭圆形 17">
                <a:extLst>
                  <a:ext uri="{FF2B5EF4-FFF2-40B4-BE49-F238E27FC236}">
                    <a16:creationId xmlns:a16="http://schemas.microsoft.com/office/drawing/2014/main" id="{88B338A7-DD8B-1899-5971-85D037025875}"/>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ound-web-cam_17861">
                <a:extLst>
                  <a:ext uri="{FF2B5EF4-FFF2-40B4-BE49-F238E27FC236}">
                    <a16:creationId xmlns:a16="http://schemas.microsoft.com/office/drawing/2014/main" id="{C169B457-A2FD-46C5-8497-35CFE41CB033}"/>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17" name="Text Box 79">
              <a:extLst>
                <a:ext uri="{FF2B5EF4-FFF2-40B4-BE49-F238E27FC236}">
                  <a16:creationId xmlns:a16="http://schemas.microsoft.com/office/drawing/2014/main" id="{802D6EC8-B107-A133-EB24-C883F58A809D}"/>
                </a:ext>
              </a:extLst>
            </p:cNvPr>
            <p:cNvSpPr txBox="1">
              <a:spLocks noChangeArrowheads="1"/>
            </p:cNvSpPr>
            <p:nvPr/>
          </p:nvSpPr>
          <p:spPr bwMode="auto">
            <a:xfrm>
              <a:off x="2013554" y="3554922"/>
              <a:ext cx="7309915" cy="47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新的问题</a:t>
              </a:r>
            </a:p>
          </p:txBody>
        </p:sp>
      </p:grpSp>
      <p:sp>
        <p:nvSpPr>
          <p:cNvPr id="20" name="灯片编号占位符 19">
            <a:extLst>
              <a:ext uri="{FF2B5EF4-FFF2-40B4-BE49-F238E27FC236}">
                <a16:creationId xmlns:a16="http://schemas.microsoft.com/office/drawing/2014/main" id="{1809DDA4-E6CA-4286-BCD3-76FDCAF55D07}"/>
              </a:ext>
            </a:extLst>
          </p:cNvPr>
          <p:cNvSpPr>
            <a:spLocks noGrp="1"/>
          </p:cNvSpPr>
          <p:nvPr>
            <p:ph type="sldNum" sz="quarter" idx="12"/>
          </p:nvPr>
        </p:nvSpPr>
        <p:spPr/>
        <p:txBody>
          <a:bodyPr/>
          <a:lstStyle/>
          <a:p>
            <a:fld id="{5956A083-5018-4B52-82A0-83241B8E3D94}" type="slidenum">
              <a:rPr lang="zh-CN" altLang="en-US" smtClean="0"/>
              <a:t>78</a:t>
            </a:fld>
            <a:endParaRPr lang="zh-CN" altLang="en-US"/>
          </a:p>
        </p:txBody>
      </p:sp>
    </p:spTree>
    <p:extLst>
      <p:ext uri="{BB962C8B-B14F-4D97-AF65-F5344CB8AC3E}">
        <p14:creationId xmlns:p14="http://schemas.microsoft.com/office/powerpoint/2010/main" val="3862634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wipe(left)">
                                      <p:cBhvr>
                                        <p:cTn id="15" dur="500"/>
                                        <p:tgtEl>
                                          <p:spTgt spid="7">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wipe(left)">
                                      <p:cBhvr>
                                        <p:cTn id="19" dur="500"/>
                                        <p:tgtEl>
                                          <p:spTgt spid="7">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8">
                                            <p:txEl>
                                              <p:pRg st="0" end="0"/>
                                            </p:txEl>
                                          </p:spTgt>
                                        </p:tgtEl>
                                        <p:attrNameLst>
                                          <p:attrName>style.visibility</p:attrName>
                                        </p:attrNameLst>
                                      </p:cBhvr>
                                      <p:to>
                                        <p:strVal val="visible"/>
                                      </p:to>
                                    </p:set>
                                    <p:animEffect transition="in" filter="wipe(left)">
                                      <p:cBhvr>
                                        <p:cTn id="28" dur="500"/>
                                        <p:tgtEl>
                                          <p:spTgt spid="8">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500"/>
                                        <p:tgtEl>
                                          <p:spTgt spid="2"/>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9">
                                            <p:txEl>
                                              <p:pRg st="0" end="0"/>
                                            </p:txEl>
                                          </p:spTgt>
                                        </p:tgtEl>
                                        <p:attrNameLst>
                                          <p:attrName>style.visibility</p:attrName>
                                        </p:attrNameLst>
                                      </p:cBhvr>
                                      <p:to>
                                        <p:strVal val="visible"/>
                                      </p:to>
                                    </p:set>
                                    <p:animEffect transition="in" filter="wipe(left)">
                                      <p:cBhvr>
                                        <p:cTn id="3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P spid="9"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9BBD1-D75B-3959-594B-24AC09137359}"/>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E901C481-0DF5-3608-AB86-EDA3D42302C2}"/>
              </a:ext>
            </a:extLst>
          </p:cNvPr>
          <p:cNvGrpSpPr/>
          <p:nvPr/>
        </p:nvGrpSpPr>
        <p:grpSpPr>
          <a:xfrm>
            <a:off x="101440" y="-186234"/>
            <a:ext cx="6865937" cy="1428589"/>
            <a:chOff x="551030" y="-368704"/>
            <a:chExt cx="6865937" cy="1428589"/>
          </a:xfrm>
        </p:grpSpPr>
        <p:grpSp>
          <p:nvGrpSpPr>
            <p:cNvPr id="45" name="组合 44">
              <a:extLst>
                <a:ext uri="{FF2B5EF4-FFF2-40B4-BE49-F238E27FC236}">
                  <a16:creationId xmlns:a16="http://schemas.microsoft.com/office/drawing/2014/main" id="{FE5D30C9-7411-56D6-4DA0-280E623310D0}"/>
                </a:ext>
              </a:extLst>
            </p:cNvPr>
            <p:cNvGrpSpPr/>
            <p:nvPr/>
          </p:nvGrpSpPr>
          <p:grpSpPr>
            <a:xfrm>
              <a:off x="1201633" y="303925"/>
              <a:ext cx="6215334" cy="675443"/>
              <a:chOff x="1839060" y="967769"/>
              <a:chExt cx="6215334" cy="675443"/>
            </a:xfrm>
          </p:grpSpPr>
          <p:sp>
            <p:nvSpPr>
              <p:cNvPr id="47" name="矩形: 圆角 46">
                <a:extLst>
                  <a:ext uri="{FF2B5EF4-FFF2-40B4-BE49-F238E27FC236}">
                    <a16:creationId xmlns:a16="http://schemas.microsoft.com/office/drawing/2014/main" id="{2FB767F4-9555-CA06-E755-0A348314DDA9}"/>
                  </a:ext>
                </a:extLst>
              </p:cNvPr>
              <p:cNvSpPr/>
              <p:nvPr/>
            </p:nvSpPr>
            <p:spPr>
              <a:xfrm>
                <a:off x="1839060" y="967769"/>
                <a:ext cx="6215334"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E3909C6F-C204-2AF1-263B-12AF1A853D22}"/>
                  </a:ext>
                </a:extLst>
              </p:cNvPr>
              <p:cNvSpPr txBox="1"/>
              <p:nvPr/>
            </p:nvSpPr>
            <p:spPr>
              <a:xfrm>
                <a:off x="2597180" y="1053620"/>
                <a:ext cx="5457214"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CUBIC</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a:t>
                </a:r>
              </a:p>
            </p:txBody>
          </p:sp>
        </p:grpSp>
        <p:pic>
          <p:nvPicPr>
            <p:cNvPr id="46" name="图片 45">
              <a:extLst>
                <a:ext uri="{FF2B5EF4-FFF2-40B4-BE49-F238E27FC236}">
                  <a16:creationId xmlns:a16="http://schemas.microsoft.com/office/drawing/2014/main" id="{3262A19F-1A0D-76D8-058B-D95FB4F038F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1030" y="-368704"/>
              <a:ext cx="1607162" cy="1428589"/>
            </a:xfrm>
            <a:prstGeom prst="rect">
              <a:avLst/>
            </a:prstGeom>
          </p:spPr>
        </p:pic>
      </p:grpSp>
      <p:grpSp>
        <p:nvGrpSpPr>
          <p:cNvPr id="49" name="组合 48">
            <a:extLst>
              <a:ext uri="{FF2B5EF4-FFF2-40B4-BE49-F238E27FC236}">
                <a16:creationId xmlns:a16="http://schemas.microsoft.com/office/drawing/2014/main" id="{75064554-5ED1-DDD3-DEB8-6DD0B1F07389}"/>
              </a:ext>
            </a:extLst>
          </p:cNvPr>
          <p:cNvGrpSpPr/>
          <p:nvPr/>
        </p:nvGrpSpPr>
        <p:grpSpPr>
          <a:xfrm>
            <a:off x="505664" y="1426139"/>
            <a:ext cx="4528673" cy="525530"/>
            <a:chOff x="722008" y="1303131"/>
            <a:chExt cx="4324111" cy="501792"/>
          </a:xfrm>
        </p:grpSpPr>
        <p:sp>
          <p:nvSpPr>
            <p:cNvPr id="50" name="流程图: 手动输入 6">
              <a:extLst>
                <a:ext uri="{FF2B5EF4-FFF2-40B4-BE49-F238E27FC236}">
                  <a16:creationId xmlns:a16="http://schemas.microsoft.com/office/drawing/2014/main" id="{6F727D3F-BDE3-F27F-BB22-AECB9762F7FF}"/>
                </a:ext>
              </a:extLst>
            </p:cNvPr>
            <p:cNvSpPr/>
            <p:nvPr/>
          </p:nvSpPr>
          <p:spPr>
            <a:xfrm rot="5400000" flipV="1">
              <a:off x="1822947" y="472191"/>
              <a:ext cx="475861" cy="21445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CD5A980F-A3B4-E053-988A-5ED13DE4E973}"/>
                </a:ext>
              </a:extLst>
            </p:cNvPr>
            <p:cNvGrpSpPr/>
            <p:nvPr/>
          </p:nvGrpSpPr>
          <p:grpSpPr>
            <a:xfrm>
              <a:off x="722008" y="1303131"/>
              <a:ext cx="546594" cy="475865"/>
              <a:chOff x="708742" y="1296102"/>
              <a:chExt cx="454744" cy="283828"/>
            </a:xfrm>
          </p:grpSpPr>
          <p:sp>
            <p:nvSpPr>
              <p:cNvPr id="53" name="平行四边形 52">
                <a:extLst>
                  <a:ext uri="{FF2B5EF4-FFF2-40B4-BE49-F238E27FC236}">
                    <a16:creationId xmlns:a16="http://schemas.microsoft.com/office/drawing/2014/main" id="{8C1D1D20-E31F-B89F-1440-38ADD0BD0D69}"/>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54" name="平行四边形 53">
                <a:extLst>
                  <a:ext uri="{FF2B5EF4-FFF2-40B4-BE49-F238E27FC236}">
                    <a16:creationId xmlns:a16="http://schemas.microsoft.com/office/drawing/2014/main" id="{F13F3B95-BCD8-52C9-F28D-F94E8F62705A}"/>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2" name="Text Box 79">
              <a:extLst>
                <a:ext uri="{FF2B5EF4-FFF2-40B4-BE49-F238E27FC236}">
                  <a16:creationId xmlns:a16="http://schemas.microsoft.com/office/drawing/2014/main" id="{8B37EB2F-949B-58E8-374C-325FD0CEE426}"/>
                </a:ext>
              </a:extLst>
            </p:cNvPr>
            <p:cNvSpPr txBox="1">
              <a:spLocks noChangeArrowheads="1"/>
            </p:cNvSpPr>
            <p:nvPr/>
          </p:nvSpPr>
          <p:spPr bwMode="auto">
            <a:xfrm>
              <a:off x="1268603" y="1334724"/>
              <a:ext cx="3777516"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Reno</a:t>
              </a:r>
              <a:r>
                <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rPr>
                <a:t>算法的一个问题</a:t>
              </a:r>
            </a:p>
          </p:txBody>
        </p:sp>
      </p:grpSp>
      <p:grpSp>
        <p:nvGrpSpPr>
          <p:cNvPr id="2" name="组合 1">
            <a:extLst>
              <a:ext uri="{FF2B5EF4-FFF2-40B4-BE49-F238E27FC236}">
                <a16:creationId xmlns:a16="http://schemas.microsoft.com/office/drawing/2014/main" id="{39EA0E1B-66D0-65C7-4294-7EB12B22E647}"/>
              </a:ext>
            </a:extLst>
          </p:cNvPr>
          <p:cNvGrpSpPr/>
          <p:nvPr/>
        </p:nvGrpSpPr>
        <p:grpSpPr>
          <a:xfrm>
            <a:off x="635164" y="1991847"/>
            <a:ext cx="9403950" cy="514422"/>
            <a:chOff x="1403750" y="3554922"/>
            <a:chExt cx="9403950" cy="514422"/>
          </a:xfrm>
        </p:grpSpPr>
        <p:grpSp>
          <p:nvGrpSpPr>
            <p:cNvPr id="3" name="组合 2">
              <a:extLst>
                <a:ext uri="{FF2B5EF4-FFF2-40B4-BE49-F238E27FC236}">
                  <a16:creationId xmlns:a16="http://schemas.microsoft.com/office/drawing/2014/main" id="{A1171B67-2316-BE00-5523-158459C0E928}"/>
                </a:ext>
              </a:extLst>
            </p:cNvPr>
            <p:cNvGrpSpPr/>
            <p:nvPr/>
          </p:nvGrpSpPr>
          <p:grpSpPr>
            <a:xfrm>
              <a:off x="1403750" y="3593123"/>
              <a:ext cx="490436" cy="476221"/>
              <a:chOff x="1403750" y="3593123"/>
              <a:chExt cx="808892" cy="785446"/>
            </a:xfrm>
          </p:grpSpPr>
          <p:sp>
            <p:nvSpPr>
              <p:cNvPr id="5" name="对话气泡: 椭圆形 4">
                <a:extLst>
                  <a:ext uri="{FF2B5EF4-FFF2-40B4-BE49-F238E27FC236}">
                    <a16:creationId xmlns:a16="http://schemas.microsoft.com/office/drawing/2014/main" id="{DC0ADCE2-A271-A568-3D3A-FE82C94339BC}"/>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ound-web-cam_17861">
                <a:extLst>
                  <a:ext uri="{FF2B5EF4-FFF2-40B4-BE49-F238E27FC236}">
                    <a16:creationId xmlns:a16="http://schemas.microsoft.com/office/drawing/2014/main" id="{771D37C4-378C-3B97-406F-2DD4862BC767}"/>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4" name="Text Box 79">
              <a:extLst>
                <a:ext uri="{FF2B5EF4-FFF2-40B4-BE49-F238E27FC236}">
                  <a16:creationId xmlns:a16="http://schemas.microsoft.com/office/drawing/2014/main" id="{9FA43085-3033-89C2-7F5B-19F9629C7C60}"/>
                </a:ext>
              </a:extLst>
            </p:cNvPr>
            <p:cNvSpPr txBox="1">
              <a:spLocks noChangeArrowheads="1"/>
            </p:cNvSpPr>
            <p:nvPr/>
          </p:nvSpPr>
          <p:spPr bwMode="auto">
            <a:xfrm>
              <a:off x="2013554" y="3554922"/>
              <a:ext cx="8794146" cy="470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将拥塞窗口值减半甚至减到</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1MSS</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，无法充分的利用链路带宽</a:t>
              </a:r>
            </a:p>
          </p:txBody>
        </p:sp>
      </p:grpSp>
      <p:grpSp>
        <p:nvGrpSpPr>
          <p:cNvPr id="7" name="组合 6">
            <a:extLst>
              <a:ext uri="{FF2B5EF4-FFF2-40B4-BE49-F238E27FC236}">
                <a16:creationId xmlns:a16="http://schemas.microsoft.com/office/drawing/2014/main" id="{6CE343B9-461C-F562-C614-D51D351702A0}"/>
              </a:ext>
            </a:extLst>
          </p:cNvPr>
          <p:cNvGrpSpPr/>
          <p:nvPr/>
        </p:nvGrpSpPr>
        <p:grpSpPr>
          <a:xfrm>
            <a:off x="635164" y="3359970"/>
            <a:ext cx="11217276" cy="514422"/>
            <a:chOff x="1403750" y="3554922"/>
            <a:chExt cx="11217276" cy="514422"/>
          </a:xfrm>
        </p:grpSpPr>
        <p:grpSp>
          <p:nvGrpSpPr>
            <p:cNvPr id="8" name="组合 7">
              <a:extLst>
                <a:ext uri="{FF2B5EF4-FFF2-40B4-BE49-F238E27FC236}">
                  <a16:creationId xmlns:a16="http://schemas.microsoft.com/office/drawing/2014/main" id="{4B933102-55CD-ED2A-ED59-0A556478DF57}"/>
                </a:ext>
              </a:extLst>
            </p:cNvPr>
            <p:cNvGrpSpPr/>
            <p:nvPr/>
          </p:nvGrpSpPr>
          <p:grpSpPr>
            <a:xfrm>
              <a:off x="1403750" y="3593123"/>
              <a:ext cx="490436" cy="476221"/>
              <a:chOff x="1403750" y="3593123"/>
              <a:chExt cx="808892" cy="785446"/>
            </a:xfrm>
          </p:grpSpPr>
          <p:sp>
            <p:nvSpPr>
              <p:cNvPr id="10" name="对话气泡: 椭圆形 9">
                <a:extLst>
                  <a:ext uri="{FF2B5EF4-FFF2-40B4-BE49-F238E27FC236}">
                    <a16:creationId xmlns:a16="http://schemas.microsoft.com/office/drawing/2014/main" id="{D79B71E0-289E-9877-853C-1C719FDAD5B2}"/>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ound-web-cam_17861">
                <a:extLst>
                  <a:ext uri="{FF2B5EF4-FFF2-40B4-BE49-F238E27FC236}">
                    <a16:creationId xmlns:a16="http://schemas.microsoft.com/office/drawing/2014/main" id="{AC08E1E9-6CF2-D418-B717-7108090C6299}"/>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9" name="Text Box 79">
              <a:extLst>
                <a:ext uri="{FF2B5EF4-FFF2-40B4-BE49-F238E27FC236}">
                  <a16:creationId xmlns:a16="http://schemas.microsoft.com/office/drawing/2014/main" id="{CAF3DD23-7E35-1E1C-759F-F075C9BF0901}"/>
                </a:ext>
              </a:extLst>
            </p:cNvPr>
            <p:cNvSpPr txBox="1">
              <a:spLocks noChangeArrowheads="1"/>
            </p:cNvSpPr>
            <p:nvPr/>
          </p:nvSpPr>
          <p:spPr bwMode="auto">
            <a:xfrm>
              <a:off x="2013554" y="3554922"/>
              <a:ext cx="10607472" cy="470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不调整慢启动和快速恢复，仅优化拥塞避免阶段</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2" name="Text Box 79">
                <a:extLst>
                  <a:ext uri="{FF2B5EF4-FFF2-40B4-BE49-F238E27FC236}">
                    <a16:creationId xmlns:a16="http://schemas.microsoft.com/office/drawing/2014/main" id="{5EB166E1-F178-F187-4733-DD2A8206E96A}"/>
                  </a:ext>
                </a:extLst>
              </p:cNvPr>
              <p:cNvSpPr txBox="1">
                <a:spLocks noChangeArrowheads="1"/>
              </p:cNvSpPr>
              <p:nvPr/>
            </p:nvSpPr>
            <p:spPr bwMode="auto">
              <a:xfrm>
                <a:off x="1066558" y="3761188"/>
                <a:ext cx="9150965" cy="168828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nSpc>
                    <a:spcPct val="150000"/>
                  </a:lnSpc>
                  <a:buClr>
                    <a:srgbClr val="009FF6"/>
                  </a:buClr>
                  <a:buFont typeface="Wingdings" panose="05000000000000000000" pitchFamily="2" charset="2"/>
                  <a:buChar char="p"/>
                </a:pP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W</a:t>
                </a:r>
                <a:r>
                  <a:rPr kumimoji="1" lang="en-US" altLang="zh-CN" sz="2400" baseline="-25000" dirty="0">
                    <a:latin typeface="Times New Roman" panose="02020603050405020304" pitchFamily="18" charset="0"/>
                    <a:ea typeface="思源黑体 CN Normal" panose="020B0400000000000000" pitchFamily="34" charset="-122"/>
                    <a:cs typeface="Times New Roman" panose="02020603050405020304" pitchFamily="18" charset="0"/>
                  </a:rPr>
                  <a:t>max</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：最后检测到丢包时</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TCP</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拥塞窗口的大小</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lnSpc>
                    <a:spcPct val="150000"/>
                  </a:lnSpc>
                  <a:buClr>
                    <a:srgbClr val="009FF6"/>
                  </a:buClr>
                  <a:buFont typeface="Wingdings" panose="05000000000000000000" pitchFamily="2" charset="2"/>
                  <a:buChar char="p"/>
                </a:pP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K</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：无丢包情况下，拥塞窗口再次达到</a:t>
                </a:r>
                <a:r>
                  <a:rPr kumimoji="1" lang="en-US" altLang="zh-CN" sz="2400" dirty="0" err="1">
                    <a:latin typeface="Times New Roman" panose="02020603050405020304" pitchFamily="18" charset="0"/>
                    <a:ea typeface="思源黑体 CN Normal" panose="020B0400000000000000" pitchFamily="34" charset="-122"/>
                    <a:cs typeface="Times New Roman" panose="02020603050405020304" pitchFamily="18" charset="0"/>
                  </a:rPr>
                  <a:t>W</a:t>
                </a:r>
                <a:r>
                  <a:rPr kumimoji="1" lang="en-US" altLang="zh-CN" sz="2400" baseline="-25000" dirty="0" err="1">
                    <a:latin typeface="Times New Roman" panose="02020603050405020304" pitchFamily="18" charset="0"/>
                    <a:ea typeface="思源黑体 CN Normal" panose="020B0400000000000000" pitchFamily="34" charset="-122"/>
                    <a:cs typeface="Times New Roman" panose="02020603050405020304" pitchFamily="18" charset="0"/>
                  </a:rPr>
                  <a:t>max</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的未来时间点</a:t>
                </a:r>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a:p>
                <a:pPr marL="342900" indent="-342900">
                  <a:lnSpc>
                    <a:spcPct val="150000"/>
                  </a:lnSpc>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拥塞窗口增加量</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a:t>
                </a:r>
                <a14:m>
                  <m:oMath xmlns:m="http://schemas.openxmlformats.org/officeDocument/2006/math">
                    <m:r>
                      <a:rPr kumimoji="1" lang="en-US" altLang="zh-CN" sz="2400" b="0" i="1" smtClean="0">
                        <a:latin typeface="Cambria Math" panose="02040503050406030204" pitchFamily="18" charset="0"/>
                        <a:ea typeface="思源黑体 CN Normal" panose="020B0400000000000000" pitchFamily="34" charset="-122"/>
                        <a:cs typeface="Times New Roman" panose="02020603050405020304" pitchFamily="18" charset="0"/>
                      </a:rPr>
                      <m:t>𝑓</m:t>
                    </m:r>
                    <m:r>
                      <a:rPr kumimoji="1" lang="en-US" altLang="zh-CN" sz="2400" b="0" i="1" smtClean="0">
                        <a:latin typeface="Cambria Math" panose="02040503050406030204" pitchFamily="18" charset="0"/>
                        <a:ea typeface="思源黑体 CN Normal" panose="020B0400000000000000" pitchFamily="34" charset="-122"/>
                        <a:cs typeface="Times New Roman" panose="02020603050405020304" pitchFamily="18" charset="0"/>
                      </a:rPr>
                      <m:t>(</m:t>
                    </m:r>
                    <m:sSup>
                      <m:sSupPr>
                        <m:ctrlPr>
                          <a:rPr kumimoji="1" lang="en-US" altLang="zh-CN" sz="2400" b="0" i="1" smtClean="0">
                            <a:latin typeface="Cambria Math" panose="02040503050406030204" pitchFamily="18" charset="0"/>
                            <a:ea typeface="思源黑体 CN Normal" panose="020B0400000000000000" pitchFamily="34" charset="-122"/>
                            <a:cs typeface="Times New Roman" panose="02020603050405020304" pitchFamily="18" charset="0"/>
                          </a:rPr>
                        </m:ctrlPr>
                      </m:sSupPr>
                      <m:e>
                        <m:r>
                          <a:rPr kumimoji="1" lang="en-US" altLang="zh-CN" sz="2400" i="1">
                            <a:latin typeface="Cambria Math" panose="02040503050406030204" pitchFamily="18" charset="0"/>
                            <a:ea typeface="思源黑体 CN Normal" panose="020B0400000000000000" pitchFamily="34" charset="-122"/>
                            <a:cs typeface="Times New Roman" panose="02020603050405020304" pitchFamily="18" charset="0"/>
                          </a:rPr>
                          <m:t>|</m:t>
                        </m:r>
                        <m:r>
                          <a:rPr kumimoji="1" lang="en-US" altLang="zh-CN" sz="2400" i="1">
                            <a:latin typeface="Cambria Math" panose="02040503050406030204" pitchFamily="18" charset="0"/>
                            <a:ea typeface="思源黑体 CN Normal" panose="020B0400000000000000" pitchFamily="34" charset="-122"/>
                            <a:cs typeface="Times New Roman" panose="02020603050405020304" pitchFamily="18" charset="0"/>
                          </a:rPr>
                          <m:t>𝑡</m:t>
                        </m:r>
                        <m:r>
                          <a:rPr kumimoji="1" lang="en-US" altLang="zh-CN" sz="2400" i="1">
                            <a:latin typeface="Cambria Math" panose="02040503050406030204" pitchFamily="18" charset="0"/>
                            <a:ea typeface="思源黑体 CN Normal" panose="020B0400000000000000" pitchFamily="34" charset="-122"/>
                            <a:cs typeface="Times New Roman" panose="02020603050405020304" pitchFamily="18" charset="0"/>
                          </a:rPr>
                          <m:t>−</m:t>
                        </m:r>
                        <m:r>
                          <a:rPr kumimoji="1" lang="en-US" altLang="zh-CN" sz="2400" i="1">
                            <a:latin typeface="Cambria Math" panose="02040503050406030204" pitchFamily="18" charset="0"/>
                            <a:ea typeface="思源黑体 CN Normal" panose="020B0400000000000000" pitchFamily="34" charset="-122"/>
                            <a:cs typeface="Times New Roman" panose="02020603050405020304" pitchFamily="18" charset="0"/>
                          </a:rPr>
                          <m:t>𝐾</m:t>
                        </m:r>
                        <m:r>
                          <a:rPr kumimoji="1" lang="en-US" altLang="zh-CN" sz="2400" i="1">
                            <a:latin typeface="Cambria Math" panose="02040503050406030204" pitchFamily="18" charset="0"/>
                            <a:ea typeface="思源黑体 CN Normal" panose="020B0400000000000000" pitchFamily="34" charset="-122"/>
                            <a:cs typeface="Times New Roman" panose="02020603050405020304" pitchFamily="18" charset="0"/>
                          </a:rPr>
                          <m:t>|</m:t>
                        </m:r>
                      </m:e>
                      <m:sup>
                        <m:r>
                          <a:rPr kumimoji="1" lang="en-US" altLang="zh-CN" sz="2400" b="0" i="1" smtClean="0">
                            <a:latin typeface="Cambria Math" panose="02040503050406030204" pitchFamily="18" charset="0"/>
                            <a:ea typeface="思源黑体 CN Normal" panose="020B0400000000000000" pitchFamily="34" charset="-122"/>
                            <a:cs typeface="Times New Roman" panose="02020603050405020304" pitchFamily="18" charset="0"/>
                          </a:rPr>
                          <m:t>3</m:t>
                        </m:r>
                      </m:sup>
                    </m:sSup>
                    <m:r>
                      <a:rPr kumimoji="1" lang="en-US" altLang="zh-CN" sz="2400" b="0" i="1" smtClean="0">
                        <a:latin typeface="Cambria Math" panose="02040503050406030204" pitchFamily="18" charset="0"/>
                        <a:ea typeface="思源黑体 CN Normal" panose="020B0400000000000000" pitchFamily="34" charset="-122"/>
                        <a:cs typeface="Times New Roman" panose="02020603050405020304" pitchFamily="18" charset="0"/>
                      </a:rPr>
                      <m:t>)</m:t>
                    </m:r>
                  </m:oMath>
                </a14:m>
                <a:endPar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endParaRPr>
              </a:p>
            </p:txBody>
          </p:sp>
        </mc:Choice>
        <mc:Fallback xmlns="">
          <p:sp>
            <p:nvSpPr>
              <p:cNvPr id="12" name="Text Box 79">
                <a:extLst>
                  <a:ext uri="{FF2B5EF4-FFF2-40B4-BE49-F238E27FC236}">
                    <a16:creationId xmlns:a16="http://schemas.microsoft.com/office/drawing/2014/main" id="{5EB166E1-F178-F187-4733-DD2A8206E96A}"/>
                  </a:ext>
                </a:extLst>
              </p:cNvPr>
              <p:cNvSpPr txBox="1">
                <a:spLocks noRot="1" noChangeAspect="1" noMove="1" noResize="1" noEditPoints="1" noAdjustHandles="1" noChangeArrowheads="1" noChangeShapeType="1" noTextEdit="1"/>
              </p:cNvSpPr>
              <p:nvPr/>
            </p:nvSpPr>
            <p:spPr bwMode="auto">
              <a:xfrm>
                <a:off x="1066558" y="3761188"/>
                <a:ext cx="9150965" cy="1688283"/>
              </a:xfrm>
              <a:prstGeom prst="rect">
                <a:avLst/>
              </a:prstGeom>
              <a:blipFill>
                <a:blip r:embed="rId3"/>
                <a:stretch>
                  <a:fillRect l="-933" b="-758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C2DD9DA5-C269-7EFA-074D-4220B235454D}"/>
              </a:ext>
            </a:extLst>
          </p:cNvPr>
          <p:cNvGrpSpPr/>
          <p:nvPr/>
        </p:nvGrpSpPr>
        <p:grpSpPr>
          <a:xfrm>
            <a:off x="505664" y="2679607"/>
            <a:ext cx="2967337" cy="546155"/>
            <a:chOff x="430213" y="1601271"/>
            <a:chExt cx="2967337" cy="546155"/>
          </a:xfrm>
        </p:grpSpPr>
        <p:sp>
          <p:nvSpPr>
            <p:cNvPr id="14" name="流程图: 手动输入 6">
              <a:extLst>
                <a:ext uri="{FF2B5EF4-FFF2-40B4-BE49-F238E27FC236}">
                  <a16:creationId xmlns:a16="http://schemas.microsoft.com/office/drawing/2014/main" id="{211BF2DA-D66C-5728-D7E4-976A76C07B09}"/>
                </a:ext>
              </a:extLst>
            </p:cNvPr>
            <p:cNvSpPr/>
            <p:nvPr/>
          </p:nvSpPr>
          <p:spPr>
            <a:xfrm rot="5400000" flipV="1">
              <a:off x="2088079" y="1004309"/>
              <a:ext cx="498372" cy="173485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5" name="组合 14">
              <a:extLst>
                <a:ext uri="{FF2B5EF4-FFF2-40B4-BE49-F238E27FC236}">
                  <a16:creationId xmlns:a16="http://schemas.microsoft.com/office/drawing/2014/main" id="{9ED9674D-D6CC-8B46-2FB6-BCF11C850353}"/>
                </a:ext>
              </a:extLst>
            </p:cNvPr>
            <p:cNvGrpSpPr/>
            <p:nvPr/>
          </p:nvGrpSpPr>
          <p:grpSpPr>
            <a:xfrm>
              <a:off x="430213" y="1601271"/>
              <a:ext cx="2967337" cy="546155"/>
              <a:chOff x="722008" y="1303131"/>
              <a:chExt cx="2833300" cy="521485"/>
            </a:xfrm>
          </p:grpSpPr>
          <p:sp>
            <p:nvSpPr>
              <p:cNvPr id="16" name="流程图: 手动输入 6">
                <a:extLst>
                  <a:ext uri="{FF2B5EF4-FFF2-40B4-BE49-F238E27FC236}">
                    <a16:creationId xmlns:a16="http://schemas.microsoft.com/office/drawing/2014/main" id="{F4300FC4-30DD-CD0B-A4C4-B7D6606B8A8D}"/>
                  </a:ext>
                </a:extLst>
              </p:cNvPr>
              <p:cNvSpPr/>
              <p:nvPr/>
            </p:nvSpPr>
            <p:spPr>
              <a:xfrm rot="5400000" flipV="1">
                <a:off x="1941948" y="353189"/>
                <a:ext cx="475861" cy="238256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7" name="组合 16">
                <a:extLst>
                  <a:ext uri="{FF2B5EF4-FFF2-40B4-BE49-F238E27FC236}">
                    <a16:creationId xmlns:a16="http://schemas.microsoft.com/office/drawing/2014/main" id="{08483EC8-3E4C-A064-D04F-ADF4652F0E98}"/>
                  </a:ext>
                </a:extLst>
              </p:cNvPr>
              <p:cNvGrpSpPr/>
              <p:nvPr/>
            </p:nvGrpSpPr>
            <p:grpSpPr>
              <a:xfrm>
                <a:off x="722008" y="1303131"/>
                <a:ext cx="546594" cy="475865"/>
                <a:chOff x="708742" y="1296102"/>
                <a:chExt cx="454744" cy="283828"/>
              </a:xfrm>
            </p:grpSpPr>
            <p:sp>
              <p:nvSpPr>
                <p:cNvPr id="19" name="平行四边形 18">
                  <a:extLst>
                    <a:ext uri="{FF2B5EF4-FFF2-40B4-BE49-F238E27FC236}">
                      <a16:creationId xmlns:a16="http://schemas.microsoft.com/office/drawing/2014/main" id="{02DB84AC-0E08-3053-4AD3-9FF42522CCE1}"/>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20" name="平行四边形 19">
                  <a:extLst>
                    <a:ext uri="{FF2B5EF4-FFF2-40B4-BE49-F238E27FC236}">
                      <a16:creationId xmlns:a16="http://schemas.microsoft.com/office/drawing/2014/main" id="{35FD4CB4-9925-2CB9-CD3E-B5BC019D468E}"/>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8" name="Text Box 79">
                <a:extLst>
                  <a:ext uri="{FF2B5EF4-FFF2-40B4-BE49-F238E27FC236}">
                    <a16:creationId xmlns:a16="http://schemas.microsoft.com/office/drawing/2014/main" id="{D8BCD208-D6FA-75C8-B20A-B3B2D3CFEBF9}"/>
                  </a:ext>
                </a:extLst>
              </p:cNvPr>
              <p:cNvSpPr txBox="1">
                <a:spLocks noChangeArrowheads="1"/>
              </p:cNvSpPr>
              <p:nvPr/>
            </p:nvSpPr>
            <p:spPr bwMode="auto">
              <a:xfrm>
                <a:off x="1172745" y="1354417"/>
                <a:ext cx="2382563"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CUBIC</a:t>
                </a:r>
                <a:r>
                  <a:rPr kumimoji="1" lang="zh-CN" altLang="en-US" sz="2600" dirty="0">
                    <a:solidFill>
                      <a:schemeClr val="tx1">
                        <a:lumMod val="85000"/>
                        <a:lumOff val="15000"/>
                      </a:schemeClr>
                    </a:solidFill>
                    <a:ea typeface="思源黑体 CN Medium" panose="020B0600000000000000" pitchFamily="34" charset="-122"/>
                  </a:rPr>
                  <a:t>的方案</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grpSp>
        <p:nvGrpSpPr>
          <p:cNvPr id="21" name="Group 4">
            <a:extLst>
              <a:ext uri="{FF2B5EF4-FFF2-40B4-BE49-F238E27FC236}">
                <a16:creationId xmlns:a16="http://schemas.microsoft.com/office/drawing/2014/main" id="{CAE7F5EC-4FAB-B541-D073-50B37D244E69}"/>
              </a:ext>
            </a:extLst>
          </p:cNvPr>
          <p:cNvGrpSpPr/>
          <p:nvPr/>
        </p:nvGrpSpPr>
        <p:grpSpPr>
          <a:xfrm>
            <a:off x="6159413" y="2640995"/>
            <a:ext cx="5714572" cy="3644759"/>
            <a:chOff x="5030365" y="2893914"/>
            <a:chExt cx="5714572" cy="3644759"/>
          </a:xfrm>
        </p:grpSpPr>
        <p:sp>
          <p:nvSpPr>
            <p:cNvPr id="22" name="TextBox 73">
              <a:extLst>
                <a:ext uri="{FF2B5EF4-FFF2-40B4-BE49-F238E27FC236}">
                  <a16:creationId xmlns:a16="http://schemas.microsoft.com/office/drawing/2014/main" id="{B5E5D100-1E67-C0CD-FDD9-D1AB6450C902}"/>
                </a:ext>
              </a:extLst>
            </p:cNvPr>
            <p:cNvSpPr txBox="1"/>
            <p:nvPr/>
          </p:nvSpPr>
          <p:spPr>
            <a:xfrm>
              <a:off x="5030365" y="5185258"/>
              <a:ext cx="808134" cy="887935"/>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TCP</a:t>
              </a:r>
            </a:p>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sending </a:t>
              </a:r>
            </a:p>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 name="Straight Connector 36">
              <a:extLst>
                <a:ext uri="{FF2B5EF4-FFF2-40B4-BE49-F238E27FC236}">
                  <a16:creationId xmlns:a16="http://schemas.microsoft.com/office/drawing/2014/main" id="{EAEA1D2B-F8FC-A539-151A-0874B9076C18}"/>
                </a:ext>
              </a:extLst>
            </p:cNvPr>
            <p:cNvCxnSpPr/>
            <p:nvPr/>
          </p:nvCxnSpPr>
          <p:spPr>
            <a:xfrm>
              <a:off x="5801903" y="6262085"/>
              <a:ext cx="4597974" cy="0"/>
            </a:xfrm>
            <a:prstGeom prst="line">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37">
              <a:extLst>
                <a:ext uri="{FF2B5EF4-FFF2-40B4-BE49-F238E27FC236}">
                  <a16:creationId xmlns:a16="http://schemas.microsoft.com/office/drawing/2014/main" id="{9AD88F45-D4AE-7E75-7791-A44D128AC7D7}"/>
                </a:ext>
              </a:extLst>
            </p:cNvPr>
            <p:cNvCxnSpPr>
              <a:cxnSpLocks/>
            </p:cNvCxnSpPr>
            <p:nvPr/>
          </p:nvCxnSpPr>
          <p:spPr>
            <a:xfrm flipV="1">
              <a:off x="5801904" y="4039871"/>
              <a:ext cx="0" cy="2222517"/>
            </a:xfrm>
            <a:prstGeom prst="line">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Freeform 38">
              <a:extLst>
                <a:ext uri="{FF2B5EF4-FFF2-40B4-BE49-F238E27FC236}">
                  <a16:creationId xmlns:a16="http://schemas.microsoft.com/office/drawing/2014/main" id="{A6B51A03-28AF-140C-3F3E-1A13D095D67E}"/>
                </a:ext>
              </a:extLst>
            </p:cNvPr>
            <p:cNvSpPr/>
            <p:nvPr/>
          </p:nvSpPr>
          <p:spPr>
            <a:xfrm>
              <a:off x="5815989" y="4445300"/>
              <a:ext cx="480875" cy="1811260"/>
            </a:xfrm>
            <a:custGeom>
              <a:avLst/>
              <a:gdLst>
                <a:gd name="connsiteX0" fmla="*/ 860489 w 860489"/>
                <a:gd name="connsiteY0" fmla="*/ 0 h 3186525"/>
                <a:gd name="connsiteX1" fmla="*/ 777551 w 860489"/>
                <a:gd name="connsiteY1" fmla="*/ 2384490 h 3186525"/>
                <a:gd name="connsiteX2" fmla="*/ 632408 w 860489"/>
                <a:gd name="connsiteY2" fmla="*/ 3084286 h 3186525"/>
                <a:gd name="connsiteX3" fmla="*/ 440612 w 860489"/>
                <a:gd name="connsiteY3" fmla="*/ 3177592 h 3186525"/>
                <a:gd name="connsiteX4" fmla="*/ 0 w 860489"/>
                <a:gd name="connsiteY4" fmla="*/ 3182776 h 3186525"/>
                <a:gd name="connsiteX0" fmla="*/ 860489 w 860489"/>
                <a:gd name="connsiteY0" fmla="*/ 0 h 3186525"/>
                <a:gd name="connsiteX1" fmla="*/ 777551 w 860489"/>
                <a:gd name="connsiteY1" fmla="*/ 2384490 h 3186525"/>
                <a:gd name="connsiteX2" fmla="*/ 632408 w 860489"/>
                <a:gd name="connsiteY2" fmla="*/ 3084286 h 3186525"/>
                <a:gd name="connsiteX3" fmla="*/ 440612 w 860489"/>
                <a:gd name="connsiteY3" fmla="*/ 3177592 h 3186525"/>
                <a:gd name="connsiteX4" fmla="*/ 0 w 860489"/>
                <a:gd name="connsiteY4" fmla="*/ 3182776 h 3186525"/>
                <a:gd name="connsiteX0" fmla="*/ 860489 w 860489"/>
                <a:gd name="connsiteY0" fmla="*/ 0 h 3182776"/>
                <a:gd name="connsiteX1" fmla="*/ 777551 w 860489"/>
                <a:gd name="connsiteY1" fmla="*/ 2384490 h 3182776"/>
                <a:gd name="connsiteX2" fmla="*/ 632408 w 860489"/>
                <a:gd name="connsiteY2" fmla="*/ 3084286 h 3182776"/>
                <a:gd name="connsiteX3" fmla="*/ 0 w 860489"/>
                <a:gd name="connsiteY3" fmla="*/ 3182776 h 3182776"/>
                <a:gd name="connsiteX0" fmla="*/ 860489 w 860489"/>
                <a:gd name="connsiteY0" fmla="*/ 0 h 3183334"/>
                <a:gd name="connsiteX1" fmla="*/ 777551 w 860489"/>
                <a:gd name="connsiteY1" fmla="*/ 2384490 h 3183334"/>
                <a:gd name="connsiteX2" fmla="*/ 632408 w 860489"/>
                <a:gd name="connsiteY2" fmla="*/ 3084286 h 3183334"/>
                <a:gd name="connsiteX3" fmla="*/ 0 w 860489"/>
                <a:gd name="connsiteY3" fmla="*/ 3182776 h 3183334"/>
                <a:gd name="connsiteX0" fmla="*/ 860489 w 860489"/>
                <a:gd name="connsiteY0" fmla="*/ 0 h 3185488"/>
                <a:gd name="connsiteX1" fmla="*/ 777551 w 860489"/>
                <a:gd name="connsiteY1" fmla="*/ 2384490 h 3185488"/>
                <a:gd name="connsiteX2" fmla="*/ 632408 w 860489"/>
                <a:gd name="connsiteY2" fmla="*/ 3084286 h 3185488"/>
                <a:gd name="connsiteX3" fmla="*/ 0 w 860489"/>
                <a:gd name="connsiteY3" fmla="*/ 3182776 h 3185488"/>
                <a:gd name="connsiteX0" fmla="*/ 860489 w 860489"/>
                <a:gd name="connsiteY0" fmla="*/ 0 h 3182776"/>
                <a:gd name="connsiteX1" fmla="*/ 777551 w 860489"/>
                <a:gd name="connsiteY1" fmla="*/ 2384490 h 3182776"/>
                <a:gd name="connsiteX2" fmla="*/ 664158 w 860489"/>
                <a:gd name="connsiteY2" fmla="*/ 3043011 h 3182776"/>
                <a:gd name="connsiteX3" fmla="*/ 0 w 860489"/>
                <a:gd name="connsiteY3" fmla="*/ 3182776 h 3182776"/>
                <a:gd name="connsiteX0" fmla="*/ 860489 w 860489"/>
                <a:gd name="connsiteY0" fmla="*/ 0 h 3184087"/>
                <a:gd name="connsiteX1" fmla="*/ 777551 w 860489"/>
                <a:gd name="connsiteY1" fmla="*/ 2384490 h 3184087"/>
                <a:gd name="connsiteX2" fmla="*/ 664158 w 860489"/>
                <a:gd name="connsiteY2" fmla="*/ 3043011 h 3184087"/>
                <a:gd name="connsiteX3" fmla="*/ 0 w 860489"/>
                <a:gd name="connsiteY3" fmla="*/ 3182776 h 3184087"/>
                <a:gd name="connsiteX0" fmla="*/ 860489 w 860489"/>
                <a:gd name="connsiteY0" fmla="*/ 0 h 3182776"/>
                <a:gd name="connsiteX1" fmla="*/ 793426 w 860489"/>
                <a:gd name="connsiteY1" fmla="*/ 2378140 h 3182776"/>
                <a:gd name="connsiteX2" fmla="*/ 664158 w 860489"/>
                <a:gd name="connsiteY2" fmla="*/ 3043011 h 3182776"/>
                <a:gd name="connsiteX3" fmla="*/ 0 w 860489"/>
                <a:gd name="connsiteY3" fmla="*/ 3182776 h 3182776"/>
                <a:gd name="connsiteX0" fmla="*/ 860489 w 860489"/>
                <a:gd name="connsiteY0" fmla="*/ 0 h 3182776"/>
                <a:gd name="connsiteX1" fmla="*/ 793426 w 860489"/>
                <a:gd name="connsiteY1" fmla="*/ 2378140 h 3182776"/>
                <a:gd name="connsiteX2" fmla="*/ 664158 w 860489"/>
                <a:gd name="connsiteY2" fmla="*/ 3043011 h 3182776"/>
                <a:gd name="connsiteX3" fmla="*/ 0 w 860489"/>
                <a:gd name="connsiteY3" fmla="*/ 3182776 h 3182776"/>
                <a:gd name="connsiteX0" fmla="*/ 860489 w 860489"/>
                <a:gd name="connsiteY0" fmla="*/ 0 h 3182776"/>
                <a:gd name="connsiteX1" fmla="*/ 793426 w 860489"/>
                <a:gd name="connsiteY1" fmla="*/ 2378140 h 3182776"/>
                <a:gd name="connsiteX2" fmla="*/ 664158 w 860489"/>
                <a:gd name="connsiteY2" fmla="*/ 3043011 h 3182776"/>
                <a:gd name="connsiteX3" fmla="*/ 0 w 860489"/>
                <a:gd name="connsiteY3" fmla="*/ 3182776 h 3182776"/>
                <a:gd name="connsiteX0" fmla="*/ 860489 w 860489"/>
                <a:gd name="connsiteY0" fmla="*/ 0 h 3182776"/>
                <a:gd name="connsiteX1" fmla="*/ 793426 w 860489"/>
                <a:gd name="connsiteY1" fmla="*/ 2378140 h 3182776"/>
                <a:gd name="connsiteX2" fmla="*/ 664158 w 860489"/>
                <a:gd name="connsiteY2" fmla="*/ 3043011 h 3182776"/>
                <a:gd name="connsiteX3" fmla="*/ 0 w 860489"/>
                <a:gd name="connsiteY3" fmla="*/ 3182776 h 3182776"/>
                <a:gd name="connsiteX0" fmla="*/ 860489 w 860489"/>
                <a:gd name="connsiteY0" fmla="*/ 0 h 3186401"/>
                <a:gd name="connsiteX1" fmla="*/ 793426 w 860489"/>
                <a:gd name="connsiteY1" fmla="*/ 2378140 h 3186401"/>
                <a:gd name="connsiteX2" fmla="*/ 664158 w 860489"/>
                <a:gd name="connsiteY2" fmla="*/ 3043011 h 3186401"/>
                <a:gd name="connsiteX3" fmla="*/ 0 w 860489"/>
                <a:gd name="connsiteY3" fmla="*/ 3182776 h 3186401"/>
                <a:gd name="connsiteX0" fmla="*/ 860489 w 860489"/>
                <a:gd name="connsiteY0" fmla="*/ 0 h 3188070"/>
                <a:gd name="connsiteX1" fmla="*/ 793426 w 860489"/>
                <a:gd name="connsiteY1" fmla="*/ 2378140 h 3188070"/>
                <a:gd name="connsiteX2" fmla="*/ 664158 w 860489"/>
                <a:gd name="connsiteY2" fmla="*/ 3043011 h 3188070"/>
                <a:gd name="connsiteX3" fmla="*/ 0 w 860489"/>
                <a:gd name="connsiteY3" fmla="*/ 3182776 h 3188070"/>
                <a:gd name="connsiteX0" fmla="*/ 860489 w 860489"/>
                <a:gd name="connsiteY0" fmla="*/ 0 h 3182776"/>
                <a:gd name="connsiteX1" fmla="*/ 793426 w 860489"/>
                <a:gd name="connsiteY1" fmla="*/ 2378140 h 3182776"/>
                <a:gd name="connsiteX2" fmla="*/ 676858 w 860489"/>
                <a:gd name="connsiteY2" fmla="*/ 2998561 h 3182776"/>
                <a:gd name="connsiteX3" fmla="*/ 0 w 860489"/>
                <a:gd name="connsiteY3" fmla="*/ 3182776 h 3182776"/>
                <a:gd name="connsiteX0" fmla="*/ 860489 w 860489"/>
                <a:gd name="connsiteY0" fmla="*/ 0 h 3192503"/>
                <a:gd name="connsiteX1" fmla="*/ 793426 w 860489"/>
                <a:gd name="connsiteY1" fmla="*/ 2378140 h 3192503"/>
                <a:gd name="connsiteX2" fmla="*/ 676858 w 860489"/>
                <a:gd name="connsiteY2" fmla="*/ 2998561 h 3192503"/>
                <a:gd name="connsiteX3" fmla="*/ 0 w 860489"/>
                <a:gd name="connsiteY3" fmla="*/ 3182776 h 3192503"/>
                <a:gd name="connsiteX0" fmla="*/ 860489 w 860489"/>
                <a:gd name="connsiteY0" fmla="*/ 0 h 3182981"/>
                <a:gd name="connsiteX1" fmla="*/ 793426 w 860489"/>
                <a:gd name="connsiteY1" fmla="*/ 2378140 h 3182981"/>
                <a:gd name="connsiteX2" fmla="*/ 676858 w 860489"/>
                <a:gd name="connsiteY2" fmla="*/ 2998561 h 3182981"/>
                <a:gd name="connsiteX3" fmla="*/ 0 w 860489"/>
                <a:gd name="connsiteY3" fmla="*/ 3182776 h 3182981"/>
                <a:gd name="connsiteX0" fmla="*/ 860489 w 860489"/>
                <a:gd name="connsiteY0" fmla="*/ 0 h 3182981"/>
                <a:gd name="connsiteX1" fmla="*/ 793426 w 860489"/>
                <a:gd name="connsiteY1" fmla="*/ 2378140 h 3182981"/>
                <a:gd name="connsiteX2" fmla="*/ 676858 w 860489"/>
                <a:gd name="connsiteY2" fmla="*/ 2998561 h 3182981"/>
                <a:gd name="connsiteX3" fmla="*/ 0 w 860489"/>
                <a:gd name="connsiteY3" fmla="*/ 3182776 h 3182981"/>
                <a:gd name="connsiteX0" fmla="*/ 892239 w 892239"/>
                <a:gd name="connsiteY0" fmla="*/ 0 h 3160756"/>
                <a:gd name="connsiteX1" fmla="*/ 793426 w 892239"/>
                <a:gd name="connsiteY1" fmla="*/ 2355915 h 3160756"/>
                <a:gd name="connsiteX2" fmla="*/ 676858 w 892239"/>
                <a:gd name="connsiteY2" fmla="*/ 2976336 h 3160756"/>
                <a:gd name="connsiteX3" fmla="*/ 0 w 892239"/>
                <a:gd name="connsiteY3" fmla="*/ 3160551 h 3160756"/>
                <a:gd name="connsiteX0" fmla="*/ 892239 w 892239"/>
                <a:gd name="connsiteY0" fmla="*/ 0 h 3160756"/>
                <a:gd name="connsiteX1" fmla="*/ 793426 w 892239"/>
                <a:gd name="connsiteY1" fmla="*/ 2355915 h 3160756"/>
                <a:gd name="connsiteX2" fmla="*/ 676858 w 892239"/>
                <a:gd name="connsiteY2" fmla="*/ 2976336 h 3160756"/>
                <a:gd name="connsiteX3" fmla="*/ 0 w 892239"/>
                <a:gd name="connsiteY3" fmla="*/ 3160551 h 3160756"/>
              </a:gdLst>
              <a:ahLst/>
              <a:cxnLst>
                <a:cxn ang="0">
                  <a:pos x="connsiteX0" y="connsiteY0"/>
                </a:cxn>
                <a:cxn ang="0">
                  <a:pos x="connsiteX1" y="connsiteY1"/>
                </a:cxn>
                <a:cxn ang="0">
                  <a:pos x="connsiteX2" y="connsiteY2"/>
                </a:cxn>
                <a:cxn ang="0">
                  <a:pos x="connsiteX3" y="connsiteY3"/>
                </a:cxn>
              </a:cxnLst>
              <a:rect l="l" t="t" r="r" b="b"/>
              <a:pathLst>
                <a:path w="892239" h="3160756">
                  <a:moveTo>
                    <a:pt x="892239" y="0"/>
                  </a:moveTo>
                  <a:cubicBezTo>
                    <a:pt x="857076" y="951096"/>
                    <a:pt x="829323" y="1859859"/>
                    <a:pt x="793426" y="2355915"/>
                  </a:cubicBezTo>
                  <a:cubicBezTo>
                    <a:pt x="757529" y="2851971"/>
                    <a:pt x="751946" y="2746980"/>
                    <a:pt x="676858" y="2976336"/>
                  </a:cubicBezTo>
                  <a:cubicBezTo>
                    <a:pt x="601770" y="3205692"/>
                    <a:pt x="160327" y="3152732"/>
                    <a:pt x="0" y="3160551"/>
                  </a:cubicBezTo>
                </a:path>
              </a:pathLst>
            </a:custGeom>
            <a:ln>
              <a:solidFill>
                <a:schemeClr val="accent3">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6" name="Straight Connector 39">
              <a:extLst>
                <a:ext uri="{FF2B5EF4-FFF2-40B4-BE49-F238E27FC236}">
                  <a16:creationId xmlns:a16="http://schemas.microsoft.com/office/drawing/2014/main" id="{E974A476-8A31-F83D-B311-F10292E2C198}"/>
                </a:ext>
              </a:extLst>
            </p:cNvPr>
            <p:cNvCxnSpPr/>
            <p:nvPr/>
          </p:nvCxnSpPr>
          <p:spPr>
            <a:xfrm>
              <a:off x="6296864" y="4404648"/>
              <a:ext cx="2774587" cy="0"/>
            </a:xfrm>
            <a:prstGeom prst="line">
              <a:avLst/>
            </a:prstGeom>
            <a:ln w="1270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grpSp>
          <p:nvGrpSpPr>
            <p:cNvPr id="27" name="Group 52">
              <a:extLst>
                <a:ext uri="{FF2B5EF4-FFF2-40B4-BE49-F238E27FC236}">
                  <a16:creationId xmlns:a16="http://schemas.microsoft.com/office/drawing/2014/main" id="{23570C8F-36E7-A6A6-970D-7002596E257E}"/>
                </a:ext>
              </a:extLst>
            </p:cNvPr>
            <p:cNvGrpSpPr/>
            <p:nvPr/>
          </p:nvGrpSpPr>
          <p:grpSpPr>
            <a:xfrm>
              <a:off x="6350326" y="4445306"/>
              <a:ext cx="795772" cy="900465"/>
              <a:chOff x="1257299" y="2448186"/>
              <a:chExt cx="919846" cy="1571364"/>
            </a:xfrm>
          </p:grpSpPr>
          <p:cxnSp>
            <p:nvCxnSpPr>
              <p:cNvPr id="60" name="Straight Connector 54">
                <a:extLst>
                  <a:ext uri="{FF2B5EF4-FFF2-40B4-BE49-F238E27FC236}">
                    <a16:creationId xmlns:a16="http://schemas.microsoft.com/office/drawing/2014/main" id="{ADCAD56B-287C-E1EE-D677-4D437BAC8B2E}"/>
                  </a:ext>
                </a:extLst>
              </p:cNvPr>
              <p:cNvCxnSpPr/>
              <p:nvPr/>
            </p:nvCxnSpPr>
            <p:spPr>
              <a:xfrm flipH="1">
                <a:off x="1294561" y="2448186"/>
                <a:ext cx="882584" cy="1571364"/>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61" name="Freeform 55">
                <a:extLst>
                  <a:ext uri="{FF2B5EF4-FFF2-40B4-BE49-F238E27FC236}">
                    <a16:creationId xmlns:a16="http://schemas.microsoft.com/office/drawing/2014/main" id="{086087ED-6E74-E8A0-3148-A75E06A72A81}"/>
                  </a:ext>
                </a:extLst>
              </p:cNvPr>
              <p:cNvSpPr/>
              <p:nvPr/>
            </p:nvSpPr>
            <p:spPr>
              <a:xfrm>
                <a:off x="1257299" y="2450273"/>
                <a:ext cx="854076" cy="1562928"/>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8197" y="56892"/>
                      <a:pt x="50361" y="547727"/>
                      <a:pt x="0" y="2103931"/>
                    </a:cubicBezTo>
                  </a:path>
                </a:pathLst>
              </a:custGeom>
              <a:ln w="25400">
                <a:solidFill>
                  <a:srgbClr val="0000A3"/>
                </a:solidFill>
                <a:prstDash val="dash"/>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 name="Group 56">
              <a:extLst>
                <a:ext uri="{FF2B5EF4-FFF2-40B4-BE49-F238E27FC236}">
                  <a16:creationId xmlns:a16="http://schemas.microsoft.com/office/drawing/2014/main" id="{5BE1C046-4204-B0A5-88A5-91F73C281D46}"/>
                </a:ext>
              </a:extLst>
            </p:cNvPr>
            <p:cNvGrpSpPr/>
            <p:nvPr/>
          </p:nvGrpSpPr>
          <p:grpSpPr>
            <a:xfrm>
              <a:off x="7112500" y="4441667"/>
              <a:ext cx="795772" cy="900465"/>
              <a:chOff x="1257299" y="2448186"/>
              <a:chExt cx="919846" cy="1571364"/>
            </a:xfrm>
          </p:grpSpPr>
          <p:cxnSp>
            <p:nvCxnSpPr>
              <p:cNvPr id="58" name="Straight Connector 57">
                <a:extLst>
                  <a:ext uri="{FF2B5EF4-FFF2-40B4-BE49-F238E27FC236}">
                    <a16:creationId xmlns:a16="http://schemas.microsoft.com/office/drawing/2014/main" id="{3D10989B-775E-D791-D6FD-44F4F928B975}"/>
                  </a:ext>
                </a:extLst>
              </p:cNvPr>
              <p:cNvCxnSpPr/>
              <p:nvPr/>
            </p:nvCxnSpPr>
            <p:spPr>
              <a:xfrm flipH="1">
                <a:off x="1294561" y="2448186"/>
                <a:ext cx="882584" cy="1571364"/>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59" name="Freeform 59">
                <a:extLst>
                  <a:ext uri="{FF2B5EF4-FFF2-40B4-BE49-F238E27FC236}">
                    <a16:creationId xmlns:a16="http://schemas.microsoft.com/office/drawing/2014/main" id="{6A118F1B-48D8-3D21-971D-E97C3FC9A89D}"/>
                  </a:ext>
                </a:extLst>
              </p:cNvPr>
              <p:cNvSpPr/>
              <p:nvPr/>
            </p:nvSpPr>
            <p:spPr>
              <a:xfrm>
                <a:off x="1257299" y="2450273"/>
                <a:ext cx="854076" cy="1562928"/>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8197" y="56892"/>
                      <a:pt x="50361" y="547727"/>
                      <a:pt x="0" y="2103931"/>
                    </a:cubicBezTo>
                  </a:path>
                </a:pathLst>
              </a:custGeom>
              <a:ln w="25400">
                <a:solidFill>
                  <a:srgbClr val="0000A3"/>
                </a:solidFill>
                <a:prstDash val="dash"/>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9" name="Group 62">
              <a:extLst>
                <a:ext uri="{FF2B5EF4-FFF2-40B4-BE49-F238E27FC236}">
                  <a16:creationId xmlns:a16="http://schemas.microsoft.com/office/drawing/2014/main" id="{ECB032E2-D9B0-930E-14D5-72AE0FDEEE51}"/>
                </a:ext>
              </a:extLst>
            </p:cNvPr>
            <p:cNvGrpSpPr/>
            <p:nvPr/>
          </p:nvGrpSpPr>
          <p:grpSpPr>
            <a:xfrm>
              <a:off x="7915954" y="4439699"/>
              <a:ext cx="795772" cy="900465"/>
              <a:chOff x="1257299" y="2448186"/>
              <a:chExt cx="919846" cy="1571364"/>
            </a:xfrm>
          </p:grpSpPr>
          <p:cxnSp>
            <p:nvCxnSpPr>
              <p:cNvPr id="56" name="Straight Connector 63">
                <a:extLst>
                  <a:ext uri="{FF2B5EF4-FFF2-40B4-BE49-F238E27FC236}">
                    <a16:creationId xmlns:a16="http://schemas.microsoft.com/office/drawing/2014/main" id="{D57B125B-85DD-BD80-AC15-690C0DD84F02}"/>
                  </a:ext>
                </a:extLst>
              </p:cNvPr>
              <p:cNvCxnSpPr/>
              <p:nvPr/>
            </p:nvCxnSpPr>
            <p:spPr>
              <a:xfrm flipH="1">
                <a:off x="1294561" y="2448186"/>
                <a:ext cx="882584" cy="1571364"/>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57" name="Freeform 64">
                <a:extLst>
                  <a:ext uri="{FF2B5EF4-FFF2-40B4-BE49-F238E27FC236}">
                    <a16:creationId xmlns:a16="http://schemas.microsoft.com/office/drawing/2014/main" id="{B6362F71-167F-3FC6-CC4C-DE9B331F8B9A}"/>
                  </a:ext>
                </a:extLst>
              </p:cNvPr>
              <p:cNvSpPr/>
              <p:nvPr/>
            </p:nvSpPr>
            <p:spPr>
              <a:xfrm>
                <a:off x="1257299" y="2450273"/>
                <a:ext cx="854076" cy="1562928"/>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8197" y="56892"/>
                      <a:pt x="50361" y="547727"/>
                      <a:pt x="0" y="2103931"/>
                    </a:cubicBezTo>
                  </a:path>
                </a:pathLst>
              </a:custGeom>
              <a:ln w="25400">
                <a:solidFill>
                  <a:srgbClr val="0000A3"/>
                </a:solidFill>
                <a:prstDash val="dash"/>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0" name="Group 65">
              <a:extLst>
                <a:ext uri="{FF2B5EF4-FFF2-40B4-BE49-F238E27FC236}">
                  <a16:creationId xmlns:a16="http://schemas.microsoft.com/office/drawing/2014/main" id="{A64CA368-EA69-AEF1-DFCF-EEF3DA5AFA3D}"/>
                </a:ext>
              </a:extLst>
            </p:cNvPr>
            <p:cNvGrpSpPr/>
            <p:nvPr/>
          </p:nvGrpSpPr>
          <p:grpSpPr>
            <a:xfrm>
              <a:off x="8750371" y="4432898"/>
              <a:ext cx="795772" cy="900465"/>
              <a:chOff x="1257299" y="2448186"/>
              <a:chExt cx="919846" cy="1571364"/>
            </a:xfrm>
          </p:grpSpPr>
          <p:cxnSp>
            <p:nvCxnSpPr>
              <p:cNvPr id="43" name="Straight Connector 66">
                <a:extLst>
                  <a:ext uri="{FF2B5EF4-FFF2-40B4-BE49-F238E27FC236}">
                    <a16:creationId xmlns:a16="http://schemas.microsoft.com/office/drawing/2014/main" id="{7BD8FA47-791C-F944-F18A-F84220054636}"/>
                  </a:ext>
                </a:extLst>
              </p:cNvPr>
              <p:cNvCxnSpPr/>
              <p:nvPr/>
            </p:nvCxnSpPr>
            <p:spPr>
              <a:xfrm flipH="1">
                <a:off x="1294561" y="2448186"/>
                <a:ext cx="882584" cy="1571364"/>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55" name="Freeform 67">
                <a:extLst>
                  <a:ext uri="{FF2B5EF4-FFF2-40B4-BE49-F238E27FC236}">
                    <a16:creationId xmlns:a16="http://schemas.microsoft.com/office/drawing/2014/main" id="{6875B895-DAD6-D7FA-1C04-54F176AD1F0D}"/>
                  </a:ext>
                </a:extLst>
              </p:cNvPr>
              <p:cNvSpPr/>
              <p:nvPr/>
            </p:nvSpPr>
            <p:spPr>
              <a:xfrm>
                <a:off x="1257299" y="2450273"/>
                <a:ext cx="854076" cy="1562928"/>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8197" y="56892"/>
                      <a:pt x="50361" y="547727"/>
                      <a:pt x="0" y="2103931"/>
                    </a:cubicBezTo>
                  </a:path>
                </a:pathLst>
              </a:custGeom>
              <a:ln w="25400">
                <a:solidFill>
                  <a:srgbClr val="0000A3"/>
                </a:solidFill>
                <a:prstDash val="dash"/>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1" name="Group 68">
              <a:extLst>
                <a:ext uri="{FF2B5EF4-FFF2-40B4-BE49-F238E27FC236}">
                  <a16:creationId xmlns:a16="http://schemas.microsoft.com/office/drawing/2014/main" id="{13B4720C-D0D9-5E49-8372-75FD3089B844}"/>
                </a:ext>
              </a:extLst>
            </p:cNvPr>
            <p:cNvGrpSpPr/>
            <p:nvPr/>
          </p:nvGrpSpPr>
          <p:grpSpPr>
            <a:xfrm rot="10800000">
              <a:off x="9544542" y="3096950"/>
              <a:ext cx="1128132" cy="1337145"/>
              <a:chOff x="873118" y="2448184"/>
              <a:chExt cx="1304027" cy="2333396"/>
            </a:xfrm>
          </p:grpSpPr>
          <p:cxnSp>
            <p:nvCxnSpPr>
              <p:cNvPr id="41" name="Straight Connector 69">
                <a:extLst>
                  <a:ext uri="{FF2B5EF4-FFF2-40B4-BE49-F238E27FC236}">
                    <a16:creationId xmlns:a16="http://schemas.microsoft.com/office/drawing/2014/main" id="{79260CB7-730B-9923-E60F-B6BA38FB1096}"/>
                  </a:ext>
                </a:extLst>
              </p:cNvPr>
              <p:cNvCxnSpPr/>
              <p:nvPr/>
            </p:nvCxnSpPr>
            <p:spPr>
              <a:xfrm rot="10800000" flipV="1">
                <a:off x="873118" y="2448184"/>
                <a:ext cx="1304027" cy="2333396"/>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42" name="Freeform 70">
                <a:extLst>
                  <a:ext uri="{FF2B5EF4-FFF2-40B4-BE49-F238E27FC236}">
                    <a16:creationId xmlns:a16="http://schemas.microsoft.com/office/drawing/2014/main" id="{6224CB94-A117-1A22-6C4B-D953EEBCB8BC}"/>
                  </a:ext>
                </a:extLst>
              </p:cNvPr>
              <p:cNvSpPr/>
              <p:nvPr/>
            </p:nvSpPr>
            <p:spPr>
              <a:xfrm>
                <a:off x="1252647" y="2450273"/>
                <a:ext cx="858729" cy="1600620"/>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 name="connsiteX0" fmla="*/ 1153813 w 1153813"/>
                  <a:gd name="connsiteY0" fmla="*/ 0 h 2154669"/>
                  <a:gd name="connsiteX1" fmla="*/ 0 w 1153813"/>
                  <a:gd name="connsiteY1" fmla="*/ 2154669 h 2154669"/>
                </a:gdLst>
                <a:ahLst/>
                <a:cxnLst>
                  <a:cxn ang="0">
                    <a:pos x="connsiteX0" y="connsiteY0"/>
                  </a:cxn>
                  <a:cxn ang="0">
                    <a:pos x="connsiteX1" y="connsiteY1"/>
                  </a:cxn>
                </a:cxnLst>
                <a:rect l="l" t="t" r="r" b="b"/>
                <a:pathLst>
                  <a:path w="1153813" h="2154669">
                    <a:moveTo>
                      <a:pt x="1153813" y="0"/>
                    </a:moveTo>
                    <a:cubicBezTo>
                      <a:pt x="-31946" y="56892"/>
                      <a:pt x="50361" y="598465"/>
                      <a:pt x="0" y="2154669"/>
                    </a:cubicBezTo>
                  </a:path>
                </a:pathLst>
              </a:custGeom>
              <a:ln w="25400">
                <a:solidFill>
                  <a:srgbClr val="0000A3"/>
                </a:solidFill>
                <a:prstDash val="dash"/>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32" name="Straight Connector 71">
              <a:extLst>
                <a:ext uri="{FF2B5EF4-FFF2-40B4-BE49-F238E27FC236}">
                  <a16:creationId xmlns:a16="http://schemas.microsoft.com/office/drawing/2014/main" id="{0627035F-7C63-58ED-CEFD-3338A4765D5C}"/>
                </a:ext>
              </a:extLst>
            </p:cNvPr>
            <p:cNvCxnSpPr/>
            <p:nvPr/>
          </p:nvCxnSpPr>
          <p:spPr>
            <a:xfrm flipH="1">
              <a:off x="10340170" y="2893914"/>
              <a:ext cx="30503" cy="717091"/>
            </a:xfrm>
            <a:prstGeom prst="line">
              <a:avLst/>
            </a:prstGeom>
            <a:ln w="25400">
              <a:solidFill>
                <a:srgbClr val="0000A3"/>
              </a:solidFill>
              <a:prstDash val="dash"/>
            </a:ln>
            <a:effectLst/>
          </p:spPr>
          <p:style>
            <a:lnRef idx="2">
              <a:schemeClr val="accent1"/>
            </a:lnRef>
            <a:fillRef idx="0">
              <a:schemeClr val="accent1"/>
            </a:fillRef>
            <a:effectRef idx="1">
              <a:schemeClr val="accent1"/>
            </a:effectRef>
            <a:fontRef idx="minor">
              <a:schemeClr val="tx1"/>
            </a:fontRef>
          </p:style>
        </p:cxnSp>
        <p:sp>
          <p:nvSpPr>
            <p:cNvPr id="33" name="TextBox 72">
              <a:extLst>
                <a:ext uri="{FF2B5EF4-FFF2-40B4-BE49-F238E27FC236}">
                  <a16:creationId xmlns:a16="http://schemas.microsoft.com/office/drawing/2014/main" id="{4A4F2E57-1E81-7263-20B3-1F72CE8FD710}"/>
                </a:ext>
              </a:extLst>
            </p:cNvPr>
            <p:cNvSpPr txBox="1"/>
            <p:nvPr/>
          </p:nvSpPr>
          <p:spPr>
            <a:xfrm>
              <a:off x="9881790" y="5941210"/>
              <a:ext cx="51809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time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Box 74">
              <a:extLst>
                <a:ext uri="{FF2B5EF4-FFF2-40B4-BE49-F238E27FC236}">
                  <a16:creationId xmlns:a16="http://schemas.microsoft.com/office/drawing/2014/main" id="{8A1A56D8-B39B-478B-26FE-3543A797CC9D}"/>
                </a:ext>
              </a:extLst>
            </p:cNvPr>
            <p:cNvSpPr txBox="1"/>
            <p:nvPr/>
          </p:nvSpPr>
          <p:spPr>
            <a:xfrm>
              <a:off x="9472281" y="4611687"/>
              <a:ext cx="1272656" cy="938719"/>
            </a:xfrm>
            <a:prstGeom prst="rect">
              <a:avLst/>
            </a:prstGeom>
            <a:noFill/>
          </p:spPr>
          <p:txBody>
            <a:bodyPr wrap="none" rtlCol="0">
              <a:spAutoFit/>
            </a:bodyPr>
            <a:lstStyle/>
            <a:p>
              <a:pPr marL="0" marR="0" lvl="0" indent="0" algn="l" defTabSz="914400" rtl="0" eaLnBrk="1" fontAlgn="auto" latinLnBrk="0" hangingPunct="1">
                <a:lnSpc>
                  <a:spcPct val="85000"/>
                </a:lnSpc>
                <a:spcBef>
                  <a:spcPts val="60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TCP Reno</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85000"/>
                </a:lnSpc>
                <a:spcBef>
                  <a:spcPts val="600"/>
                </a:spcBef>
                <a:spcAft>
                  <a:spcPts val="0"/>
                </a:spcAft>
                <a:buClrTx/>
                <a:buSzTx/>
                <a:buFontTx/>
                <a:buNone/>
                <a:tabLst/>
                <a:defRPr/>
              </a:pPr>
              <a:r>
                <a:rPr kumimoji="0" lang="en-US" sz="2000" b="0" i="0" u="none" strike="noStrike" kern="1200" cap="none" spc="0" normalizeH="0" baseline="0" noProof="0" dirty="0">
                  <a:ln>
                    <a:noFill/>
                  </a:ln>
                  <a:solidFill>
                    <a:srgbClr val="0000A3"/>
                  </a:solidFill>
                  <a:effectLst/>
                  <a:uLnTx/>
                  <a:uFillTx/>
                  <a:latin typeface="Calibri" panose="020F0502020204030204"/>
                  <a:ea typeface="+mn-ea"/>
                  <a:cs typeface="+mn-cs"/>
                </a:rPr>
                <a:t>TCP CUBIC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Box 75">
              <a:extLst>
                <a:ext uri="{FF2B5EF4-FFF2-40B4-BE49-F238E27FC236}">
                  <a16:creationId xmlns:a16="http://schemas.microsoft.com/office/drawing/2014/main" id="{EDE64592-057B-C79A-1FCC-67EACA3B76A1}"/>
                </a:ext>
              </a:extLst>
            </p:cNvPr>
            <p:cNvSpPr txBox="1"/>
            <p:nvPr/>
          </p:nvSpPr>
          <p:spPr>
            <a:xfrm>
              <a:off x="5297976" y="4213131"/>
              <a:ext cx="549173" cy="280846"/>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W</a:t>
              </a:r>
              <a:r>
                <a:rPr kumimoji="0" lang="en-US" sz="1400" b="0" i="0" u="none" strike="noStrike" kern="1200" cap="none" spc="0" normalizeH="0" baseline="-25000" noProof="0" dirty="0" err="1">
                  <a:ln>
                    <a:noFill/>
                  </a:ln>
                  <a:solidFill>
                    <a:prstClr val="black"/>
                  </a:solidFill>
                  <a:effectLst/>
                  <a:uLnTx/>
                  <a:uFillTx/>
                  <a:latin typeface="Calibri" panose="020F0502020204030204"/>
                  <a:ea typeface="+mn-ea"/>
                  <a:cs typeface="+mn-cs"/>
                </a:rPr>
                <a:t>max</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36" name="TextBox 76">
              <a:extLst>
                <a:ext uri="{FF2B5EF4-FFF2-40B4-BE49-F238E27FC236}">
                  <a16:creationId xmlns:a16="http://schemas.microsoft.com/office/drawing/2014/main" id="{0CFBF4EA-D7B9-47FC-A7E7-48794B35D8EA}"/>
                </a:ext>
              </a:extLst>
            </p:cNvPr>
            <p:cNvSpPr txBox="1"/>
            <p:nvPr/>
          </p:nvSpPr>
          <p:spPr>
            <a:xfrm>
              <a:off x="6180953" y="6255332"/>
              <a:ext cx="312906" cy="280846"/>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4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37" name="TextBox 77">
              <a:extLst>
                <a:ext uri="{FF2B5EF4-FFF2-40B4-BE49-F238E27FC236}">
                  <a16:creationId xmlns:a16="http://schemas.microsoft.com/office/drawing/2014/main" id="{5633EF71-C135-55D2-6DAB-B3DB3B182560}"/>
                </a:ext>
              </a:extLst>
            </p:cNvPr>
            <p:cNvSpPr txBox="1"/>
            <p:nvPr/>
          </p:nvSpPr>
          <p:spPr>
            <a:xfrm>
              <a:off x="6997088" y="6257827"/>
              <a:ext cx="305467" cy="280846"/>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400" b="0" i="0" u="none" strike="noStrike" kern="1200" cap="none" spc="0" normalizeH="0" baseline="-25000" noProof="0" dirty="0">
                  <a:ln>
                    <a:noFill/>
                  </a:ln>
                  <a:solidFill>
                    <a:prstClr val="black"/>
                  </a:solidFill>
                  <a:effectLst/>
                  <a:uLnTx/>
                  <a:uFillTx/>
                  <a:latin typeface="Calibri" panose="020F0502020204030204"/>
                  <a:ea typeface="+mn-ea"/>
                  <a:cs typeface="+mn-cs"/>
                </a:rPr>
                <a:t>1 </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38" name="TextBox 78">
              <a:extLst>
                <a:ext uri="{FF2B5EF4-FFF2-40B4-BE49-F238E27FC236}">
                  <a16:creationId xmlns:a16="http://schemas.microsoft.com/office/drawing/2014/main" id="{4496E1E6-0FDE-E71D-B68B-ED034F70CB54}"/>
                </a:ext>
              </a:extLst>
            </p:cNvPr>
            <p:cNvSpPr txBox="1"/>
            <p:nvPr/>
          </p:nvSpPr>
          <p:spPr>
            <a:xfrm>
              <a:off x="7796251" y="6257147"/>
              <a:ext cx="312906" cy="280846"/>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400" b="0" i="0" u="none" strike="noStrike" kern="1200" cap="none" spc="0" normalizeH="0" baseline="-25000" noProof="0" dirty="0">
                  <a:ln>
                    <a:noFill/>
                  </a:ln>
                  <a:solidFill>
                    <a:prstClr val="black"/>
                  </a:solidFill>
                  <a:effectLst/>
                  <a:uLnTx/>
                  <a:uFillTx/>
                  <a:latin typeface="Calibri" panose="020F0502020204030204"/>
                  <a:ea typeface="+mn-ea"/>
                  <a:cs typeface="+mn-cs"/>
                </a:rPr>
                <a:t>2 </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39" name="TextBox 79">
              <a:extLst>
                <a:ext uri="{FF2B5EF4-FFF2-40B4-BE49-F238E27FC236}">
                  <a16:creationId xmlns:a16="http://schemas.microsoft.com/office/drawing/2014/main" id="{62B26AB5-1973-245A-F4B9-DFFF9CE3F8A1}"/>
                </a:ext>
              </a:extLst>
            </p:cNvPr>
            <p:cNvSpPr txBox="1"/>
            <p:nvPr/>
          </p:nvSpPr>
          <p:spPr>
            <a:xfrm>
              <a:off x="8625086" y="6256467"/>
              <a:ext cx="305467" cy="280846"/>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400" b="0" i="0" u="none" strike="noStrike" kern="1200" cap="none" spc="0" normalizeH="0" baseline="-25000" noProof="0" dirty="0">
                  <a:ln>
                    <a:noFill/>
                  </a:ln>
                  <a:solidFill>
                    <a:prstClr val="black"/>
                  </a:solidFill>
                  <a:effectLst/>
                  <a:uLnTx/>
                  <a:uFillTx/>
                  <a:latin typeface="Calibri" panose="020F0502020204030204"/>
                  <a:ea typeface="+mn-ea"/>
                  <a:cs typeface="+mn-cs"/>
                </a:rPr>
                <a:t>3 </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40" name="TextBox 80">
              <a:extLst>
                <a:ext uri="{FF2B5EF4-FFF2-40B4-BE49-F238E27FC236}">
                  <a16:creationId xmlns:a16="http://schemas.microsoft.com/office/drawing/2014/main" id="{755D1D4C-95F2-4A9A-8422-E9920E7C5C1C}"/>
                </a:ext>
              </a:extLst>
            </p:cNvPr>
            <p:cNvSpPr txBox="1"/>
            <p:nvPr/>
          </p:nvSpPr>
          <p:spPr>
            <a:xfrm>
              <a:off x="9424249" y="6256467"/>
              <a:ext cx="312906" cy="280846"/>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400" b="0" i="0" u="none" strike="noStrike" kern="1200" cap="none" spc="0" normalizeH="0" baseline="-25000" noProof="0" dirty="0">
                  <a:ln>
                    <a:noFill/>
                  </a:ln>
                  <a:solidFill>
                    <a:prstClr val="black"/>
                  </a:solidFill>
                  <a:effectLst/>
                  <a:uLnTx/>
                  <a:uFillTx/>
                  <a:latin typeface="Calibri" panose="020F0502020204030204"/>
                  <a:ea typeface="+mn-ea"/>
                  <a:cs typeface="+mn-cs"/>
                </a:rPr>
                <a:t>4 </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grpSp>
      <p:sp>
        <p:nvSpPr>
          <p:cNvPr id="62" name="灯片编号占位符 61">
            <a:extLst>
              <a:ext uri="{FF2B5EF4-FFF2-40B4-BE49-F238E27FC236}">
                <a16:creationId xmlns:a16="http://schemas.microsoft.com/office/drawing/2014/main" id="{02A935F7-D0F4-4C15-A26F-D448F54F35C6}"/>
              </a:ext>
            </a:extLst>
          </p:cNvPr>
          <p:cNvSpPr>
            <a:spLocks noGrp="1"/>
          </p:cNvSpPr>
          <p:nvPr>
            <p:ph type="sldNum" sz="quarter" idx="12"/>
          </p:nvPr>
        </p:nvSpPr>
        <p:spPr/>
        <p:txBody>
          <a:bodyPr/>
          <a:lstStyle/>
          <a:p>
            <a:fld id="{5956A083-5018-4B52-82A0-83241B8E3D94}" type="slidenum">
              <a:rPr lang="zh-CN" altLang="en-US" smtClean="0"/>
              <a:t>79</a:t>
            </a:fld>
            <a:endParaRPr lang="zh-CN" altLang="en-US"/>
          </a:p>
        </p:txBody>
      </p:sp>
    </p:spTree>
    <p:extLst>
      <p:ext uri="{BB962C8B-B14F-4D97-AF65-F5344CB8AC3E}">
        <p14:creationId xmlns:p14="http://schemas.microsoft.com/office/powerpoint/2010/main" val="1295462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animEffect transition="in" filter="wipe(left)">
                                      <p:cBhvr>
                                        <p:cTn id="21" dur="500"/>
                                        <p:tgtEl>
                                          <p:spTgt spid="1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2">
                                            <p:txEl>
                                              <p:pRg st="1" end="1"/>
                                            </p:txEl>
                                          </p:spTgt>
                                        </p:tgtEl>
                                        <p:attrNameLst>
                                          <p:attrName>style.visibility</p:attrName>
                                        </p:attrNameLst>
                                      </p:cBhvr>
                                      <p:to>
                                        <p:strVal val="visible"/>
                                      </p:to>
                                    </p:set>
                                    <p:animEffect transition="in" filter="wipe(left)">
                                      <p:cBhvr>
                                        <p:cTn id="26" dur="500"/>
                                        <p:tgtEl>
                                          <p:spTgt spid="12">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animEffect transition="in" filter="wipe(left)">
                                      <p:cBhvr>
                                        <p:cTn id="31" dur="500"/>
                                        <p:tgtEl>
                                          <p:spTgt spid="12">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500"/>
                                        <p:tgtEl>
                                          <p:spTgt spid="12">
                                            <p:txEl>
                                              <p:pRg st="0" end="0"/>
                                            </p:txEl>
                                          </p:spTgt>
                                        </p:tgtEl>
                                      </p:cBhvr>
                                    </p:animEffect>
                                    <p:set>
                                      <p:cBhvr>
                                        <p:cTn id="36" dur="1" fill="hold">
                                          <p:stCondLst>
                                            <p:cond delay="499"/>
                                          </p:stCondLst>
                                        </p:cTn>
                                        <p:tgtEl>
                                          <p:spTgt spid="12">
                                            <p:txEl>
                                              <p:pRg st="0" end="0"/>
                                            </p:txEl>
                                          </p:spTgt>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500"/>
                                        <p:tgtEl>
                                          <p:spTgt spid="12">
                                            <p:txEl>
                                              <p:pRg st="1" end="1"/>
                                            </p:txEl>
                                          </p:spTgt>
                                        </p:tgtEl>
                                      </p:cBhvr>
                                    </p:animEffect>
                                    <p:set>
                                      <p:cBhvr>
                                        <p:cTn id="39" dur="1" fill="hold">
                                          <p:stCondLst>
                                            <p:cond delay="499"/>
                                          </p:stCondLst>
                                        </p:cTn>
                                        <p:tgtEl>
                                          <p:spTgt spid="12">
                                            <p:txEl>
                                              <p:pRg st="1" end="1"/>
                                            </p:txEl>
                                          </p:spTgt>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500"/>
                                        <p:tgtEl>
                                          <p:spTgt spid="12">
                                            <p:txEl>
                                              <p:pRg st="2" end="2"/>
                                            </p:txEl>
                                          </p:spTgt>
                                        </p:tgtEl>
                                      </p:cBhvr>
                                    </p:animEffect>
                                    <p:set>
                                      <p:cBhvr>
                                        <p:cTn id="42" dur="1" fill="hold">
                                          <p:stCondLst>
                                            <p:cond delay="499"/>
                                          </p:stCondLst>
                                        </p:cTn>
                                        <p:tgtEl>
                                          <p:spTgt spid="12">
                                            <p:txEl>
                                              <p:pRg st="2" end="2"/>
                                            </p:txEl>
                                          </p:spTgt>
                                        </p:tgtEl>
                                        <p:attrNameLst>
                                          <p:attrName>style.visibility</p:attrName>
                                        </p:attrNameLst>
                                      </p:cBhvr>
                                      <p:to>
                                        <p:strVal val="hidden"/>
                                      </p:to>
                                    </p:set>
                                  </p:childTnLst>
                                </p:cTn>
                              </p:par>
                            </p:childTnLst>
                          </p:cTn>
                        </p:par>
                        <p:par>
                          <p:cTn id="43" fill="hold">
                            <p:stCondLst>
                              <p:cond delay="500"/>
                            </p:stCondLst>
                            <p:childTnLst>
                              <p:par>
                                <p:cTn id="44" presetID="9" presetClass="entr" presetSubtype="0"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dissolve">
                                      <p:cBhvr>
                                        <p:cTn id="4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P spid="12" grpId="1" build="allAtOnce"/>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0F8BB-6FEC-E62E-D1A5-E8E827F2374D}"/>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BF2A57CE-D987-E5A1-E83F-454F3890BEE4}"/>
              </a:ext>
            </a:extLst>
          </p:cNvPr>
          <p:cNvGrpSpPr/>
          <p:nvPr/>
        </p:nvGrpSpPr>
        <p:grpSpPr>
          <a:xfrm>
            <a:off x="103094" y="-173759"/>
            <a:ext cx="6452977" cy="1428589"/>
            <a:chOff x="552684" y="-356229"/>
            <a:chExt cx="6452977" cy="1428589"/>
          </a:xfrm>
        </p:grpSpPr>
        <p:grpSp>
          <p:nvGrpSpPr>
            <p:cNvPr id="45" name="组合 44">
              <a:extLst>
                <a:ext uri="{FF2B5EF4-FFF2-40B4-BE49-F238E27FC236}">
                  <a16:creationId xmlns:a16="http://schemas.microsoft.com/office/drawing/2014/main" id="{FDABBB05-5782-033C-C9D1-BDB988D57102}"/>
                </a:ext>
              </a:extLst>
            </p:cNvPr>
            <p:cNvGrpSpPr/>
            <p:nvPr/>
          </p:nvGrpSpPr>
          <p:grpSpPr>
            <a:xfrm>
              <a:off x="1201633" y="303925"/>
              <a:ext cx="5804028" cy="675443"/>
              <a:chOff x="1839060" y="967769"/>
              <a:chExt cx="5804028" cy="675443"/>
            </a:xfrm>
          </p:grpSpPr>
          <p:sp>
            <p:nvSpPr>
              <p:cNvPr id="47" name="矩形: 圆角 46">
                <a:extLst>
                  <a:ext uri="{FF2B5EF4-FFF2-40B4-BE49-F238E27FC236}">
                    <a16:creationId xmlns:a16="http://schemas.microsoft.com/office/drawing/2014/main" id="{9232288D-738B-9F55-42A6-351A2E4EEF12}"/>
                  </a:ext>
                </a:extLst>
              </p:cNvPr>
              <p:cNvSpPr/>
              <p:nvPr/>
            </p:nvSpPr>
            <p:spPr>
              <a:xfrm>
                <a:off x="1839060" y="967769"/>
                <a:ext cx="5804028"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B1EA54C9-1549-3F36-F29F-5CEE5C3D0AAD}"/>
                  </a:ext>
                </a:extLst>
              </p:cNvPr>
              <p:cNvSpPr txBox="1"/>
              <p:nvPr/>
            </p:nvSpPr>
            <p:spPr>
              <a:xfrm>
                <a:off x="2597180" y="1053620"/>
                <a:ext cx="5006918"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拥塞控制方法（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Vegas</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a:t>
                </a:r>
              </a:p>
            </p:txBody>
          </p:sp>
        </p:grpSp>
        <p:pic>
          <p:nvPicPr>
            <p:cNvPr id="46" name="图片 45">
              <a:extLst>
                <a:ext uri="{FF2B5EF4-FFF2-40B4-BE49-F238E27FC236}">
                  <a16:creationId xmlns:a16="http://schemas.microsoft.com/office/drawing/2014/main" id="{694A9120-B27F-4201-EEEE-D37C9E2D6EF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sp>
        <p:nvSpPr>
          <p:cNvPr id="2" name="流程图: 手动输入 6">
            <a:extLst>
              <a:ext uri="{FF2B5EF4-FFF2-40B4-BE49-F238E27FC236}">
                <a16:creationId xmlns:a16="http://schemas.microsoft.com/office/drawing/2014/main" id="{6B211F15-9776-AC5C-3BB6-FAA49A0E128E}"/>
              </a:ext>
            </a:extLst>
          </p:cNvPr>
          <p:cNvSpPr/>
          <p:nvPr/>
        </p:nvSpPr>
        <p:spPr>
          <a:xfrm rot="5400000" flipV="1">
            <a:off x="3337949" y="-1049004"/>
            <a:ext cx="498373" cy="6248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3" name="组合 2">
            <a:extLst>
              <a:ext uri="{FF2B5EF4-FFF2-40B4-BE49-F238E27FC236}">
                <a16:creationId xmlns:a16="http://schemas.microsoft.com/office/drawing/2014/main" id="{B540A61B-2960-EC36-C870-DA0B6A4A13CF}"/>
              </a:ext>
            </a:extLst>
          </p:cNvPr>
          <p:cNvGrpSpPr/>
          <p:nvPr/>
        </p:nvGrpSpPr>
        <p:grpSpPr>
          <a:xfrm>
            <a:off x="434616" y="1328206"/>
            <a:ext cx="10952900" cy="1346374"/>
            <a:chOff x="430213" y="1601272"/>
            <a:chExt cx="10952900" cy="1346374"/>
          </a:xfrm>
        </p:grpSpPr>
        <p:sp>
          <p:nvSpPr>
            <p:cNvPr id="4" name="流程图: 手动输入 6">
              <a:extLst>
                <a:ext uri="{FF2B5EF4-FFF2-40B4-BE49-F238E27FC236}">
                  <a16:creationId xmlns:a16="http://schemas.microsoft.com/office/drawing/2014/main" id="{FBD218BC-C8AF-4140-6155-05A46496FCC0}"/>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 name="组合 4">
              <a:extLst>
                <a:ext uri="{FF2B5EF4-FFF2-40B4-BE49-F238E27FC236}">
                  <a16:creationId xmlns:a16="http://schemas.microsoft.com/office/drawing/2014/main" id="{1E02C314-FCD9-7543-68E5-9ACA32C5B1DF}"/>
                </a:ext>
              </a:extLst>
            </p:cNvPr>
            <p:cNvGrpSpPr/>
            <p:nvPr/>
          </p:nvGrpSpPr>
          <p:grpSpPr>
            <a:xfrm>
              <a:off x="430213" y="1601272"/>
              <a:ext cx="10952900" cy="1346374"/>
              <a:chOff x="722008" y="1303131"/>
              <a:chExt cx="10458147" cy="1285557"/>
            </a:xfrm>
          </p:grpSpPr>
          <p:sp>
            <p:nvSpPr>
              <p:cNvPr id="6" name="流程图: 手动输入 6">
                <a:extLst>
                  <a:ext uri="{FF2B5EF4-FFF2-40B4-BE49-F238E27FC236}">
                    <a16:creationId xmlns:a16="http://schemas.microsoft.com/office/drawing/2014/main" id="{8CE94F90-7800-15C9-364D-A9D5AABEB1BF}"/>
                  </a:ext>
                </a:extLst>
              </p:cNvPr>
              <p:cNvSpPr/>
              <p:nvPr/>
            </p:nvSpPr>
            <p:spPr>
              <a:xfrm rot="5400000" flipV="1">
                <a:off x="5846445" y="-3551310"/>
                <a:ext cx="475861" cy="10191558"/>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7" name="组合 6">
                <a:extLst>
                  <a:ext uri="{FF2B5EF4-FFF2-40B4-BE49-F238E27FC236}">
                    <a16:creationId xmlns:a16="http://schemas.microsoft.com/office/drawing/2014/main" id="{7EF3415F-F060-40CC-EC4E-1672E227128F}"/>
                  </a:ext>
                </a:extLst>
              </p:cNvPr>
              <p:cNvGrpSpPr/>
              <p:nvPr/>
            </p:nvGrpSpPr>
            <p:grpSpPr>
              <a:xfrm>
                <a:off x="722008" y="1303131"/>
                <a:ext cx="546594" cy="475865"/>
                <a:chOff x="708742" y="1296102"/>
                <a:chExt cx="454744" cy="283828"/>
              </a:xfrm>
            </p:grpSpPr>
            <p:sp>
              <p:nvSpPr>
                <p:cNvPr id="9" name="平行四边形 8">
                  <a:extLst>
                    <a:ext uri="{FF2B5EF4-FFF2-40B4-BE49-F238E27FC236}">
                      <a16:creationId xmlns:a16="http://schemas.microsoft.com/office/drawing/2014/main" id="{81D2D1A1-EDA0-31D3-4D63-8BA7F2DB4478}"/>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0" name="平行四边形 9">
                  <a:extLst>
                    <a:ext uri="{FF2B5EF4-FFF2-40B4-BE49-F238E27FC236}">
                      <a16:creationId xmlns:a16="http://schemas.microsoft.com/office/drawing/2014/main" id="{F23C20AE-D950-3A01-3929-B124A2B2DBC0}"/>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8" name="Text Box 79">
                <a:extLst>
                  <a:ext uri="{FF2B5EF4-FFF2-40B4-BE49-F238E27FC236}">
                    <a16:creationId xmlns:a16="http://schemas.microsoft.com/office/drawing/2014/main" id="{EBD04A29-6FDC-1020-6AF5-41DD02F6D860}"/>
                  </a:ext>
                </a:extLst>
              </p:cNvPr>
              <p:cNvSpPr txBox="1">
                <a:spLocks noChangeArrowheads="1"/>
              </p:cNvSpPr>
              <p:nvPr/>
            </p:nvSpPr>
            <p:spPr bwMode="auto">
              <a:xfrm>
                <a:off x="1172744" y="1354417"/>
                <a:ext cx="9977698" cy="1234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TCP</a:t>
                </a:r>
                <a:r>
                  <a:rPr kumimoji="1" lang="zh-CN" altLang="en-US" sz="2600" dirty="0">
                    <a:solidFill>
                      <a:schemeClr val="tx1">
                        <a:lumMod val="85000"/>
                        <a:lumOff val="15000"/>
                      </a:schemeClr>
                    </a:solidFill>
                    <a:ea typeface="思源黑体 CN Medium" panose="020B0600000000000000" pitchFamily="34" charset="-122"/>
                  </a:rPr>
                  <a:t>（</a:t>
                </a:r>
                <a:r>
                  <a:rPr kumimoji="1" lang="en-US" altLang="zh-CN" sz="2600" dirty="0">
                    <a:solidFill>
                      <a:schemeClr val="tx1">
                        <a:lumMod val="85000"/>
                        <a:lumOff val="15000"/>
                      </a:schemeClr>
                    </a:solidFill>
                    <a:ea typeface="思源黑体 CN Medium" panose="020B0600000000000000" pitchFamily="34" charset="-122"/>
                  </a:rPr>
                  <a:t>Reno</a:t>
                </a:r>
                <a:r>
                  <a:rPr kumimoji="1" lang="zh-CN" altLang="en-US" sz="2600" dirty="0">
                    <a:solidFill>
                      <a:schemeClr val="tx1">
                        <a:lumMod val="85000"/>
                        <a:lumOff val="15000"/>
                      </a:schemeClr>
                    </a:solidFill>
                    <a:ea typeface="思源黑体 CN Medium" panose="020B0600000000000000" pitchFamily="34" charset="-122"/>
                  </a:rPr>
                  <a:t>、</a:t>
                </a:r>
                <a:r>
                  <a:rPr kumimoji="1" lang="en-US" altLang="zh-CN" sz="2600" dirty="0">
                    <a:solidFill>
                      <a:schemeClr val="tx1">
                        <a:lumMod val="85000"/>
                        <a:lumOff val="15000"/>
                      </a:schemeClr>
                    </a:solidFill>
                    <a:ea typeface="思源黑体 CN Medium" panose="020B0600000000000000" pitchFamily="34" charset="-122"/>
                  </a:rPr>
                  <a:t>CUBIC</a:t>
                </a:r>
                <a:r>
                  <a:rPr kumimoji="1" lang="zh-CN" altLang="en-US" sz="2600" dirty="0">
                    <a:solidFill>
                      <a:schemeClr val="tx1">
                        <a:lumMod val="85000"/>
                        <a:lumOff val="15000"/>
                      </a:schemeClr>
                    </a:solidFill>
                    <a:ea typeface="思源黑体 CN Medium" panose="020B0600000000000000" pitchFamily="34" charset="-122"/>
                  </a:rPr>
                  <a:t>）会稳定提高 </a:t>
                </a:r>
                <a:r>
                  <a:rPr kumimoji="1" lang="en-US" altLang="zh-CN" sz="2600" dirty="0">
                    <a:solidFill>
                      <a:schemeClr val="tx1">
                        <a:lumMod val="85000"/>
                        <a:lumOff val="15000"/>
                      </a:schemeClr>
                    </a:solidFill>
                    <a:ea typeface="思源黑体 CN Medium" panose="020B0600000000000000" pitchFamily="34" charset="-122"/>
                  </a:rPr>
                  <a:t>TCP </a:t>
                </a:r>
                <a:r>
                  <a:rPr kumimoji="1" lang="zh-CN" altLang="en-US" sz="2600" dirty="0">
                    <a:solidFill>
                      <a:schemeClr val="tx1">
                        <a:lumMod val="85000"/>
                        <a:lumOff val="15000"/>
                      </a:schemeClr>
                    </a:solidFill>
                    <a:ea typeface="思源黑体 CN Medium" panose="020B0600000000000000" pitchFamily="34" charset="-122"/>
                  </a:rPr>
                  <a:t>发送速率，直到某个路由器的输出端出现数据包丢失为止：</a:t>
                </a:r>
                <a:r>
                  <a:rPr kumimoji="1" lang="zh-CN" altLang="en-US" sz="2600" dirty="0">
                    <a:solidFill>
                      <a:srgbClr val="FF0000"/>
                    </a:solidFill>
                    <a:ea typeface="思源黑体 CN Medium" panose="020B0600000000000000" pitchFamily="34" charset="-122"/>
                  </a:rPr>
                  <a:t>瓶颈链路</a:t>
                </a:r>
                <a:endParaRPr kumimoji="1" lang="en-US" altLang="zh-CN" sz="2600" dirty="0">
                  <a:solidFill>
                    <a:srgbClr val="FF0000"/>
                  </a:solidFill>
                  <a:ea typeface="思源黑体 CN Medium" panose="020B0600000000000000" pitchFamily="34" charset="-122"/>
                </a:endParaRPr>
              </a:p>
              <a:p>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grpSp>
        <p:nvGrpSpPr>
          <p:cNvPr id="11" name="Group 7">
            <a:extLst>
              <a:ext uri="{FF2B5EF4-FFF2-40B4-BE49-F238E27FC236}">
                <a16:creationId xmlns:a16="http://schemas.microsoft.com/office/drawing/2014/main" id="{92F451DC-93E9-6E5C-5A86-EB238966C51E}"/>
              </a:ext>
            </a:extLst>
          </p:cNvPr>
          <p:cNvGrpSpPr/>
          <p:nvPr/>
        </p:nvGrpSpPr>
        <p:grpSpPr>
          <a:xfrm>
            <a:off x="4743216" y="3906953"/>
            <a:ext cx="2885057" cy="1508681"/>
            <a:chOff x="4094463" y="4663823"/>
            <a:chExt cx="2885057" cy="1508681"/>
          </a:xfrm>
        </p:grpSpPr>
        <p:sp>
          <p:nvSpPr>
            <p:cNvPr id="12" name="Freeform 2">
              <a:extLst>
                <a:ext uri="{FF2B5EF4-FFF2-40B4-BE49-F238E27FC236}">
                  <a16:creationId xmlns:a16="http://schemas.microsoft.com/office/drawing/2014/main" id="{FD52C307-0A67-9A5B-8D9B-ECA0545F4F79}"/>
                </a:ext>
              </a:extLst>
            </p:cNvPr>
            <p:cNvSpPr>
              <a:spLocks/>
            </p:cNvSpPr>
            <p:nvPr/>
          </p:nvSpPr>
          <p:spPr bwMode="auto">
            <a:xfrm>
              <a:off x="4129957" y="4691367"/>
              <a:ext cx="2849563" cy="1481137"/>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3" name="Group 3">
              <a:extLst>
                <a:ext uri="{FF2B5EF4-FFF2-40B4-BE49-F238E27FC236}">
                  <a16:creationId xmlns:a16="http://schemas.microsoft.com/office/drawing/2014/main" id="{E535EBEC-8021-80BC-B292-7704D292E949}"/>
                </a:ext>
              </a:extLst>
            </p:cNvPr>
            <p:cNvGrpSpPr/>
            <p:nvPr/>
          </p:nvGrpSpPr>
          <p:grpSpPr>
            <a:xfrm>
              <a:off x="5035264" y="5554092"/>
              <a:ext cx="496248" cy="260542"/>
              <a:chOff x="7141236" y="6068702"/>
              <a:chExt cx="496248" cy="260542"/>
            </a:xfrm>
          </p:grpSpPr>
          <p:sp>
            <p:nvSpPr>
              <p:cNvPr id="75" name="Freeform 356">
                <a:extLst>
                  <a:ext uri="{FF2B5EF4-FFF2-40B4-BE49-F238E27FC236}">
                    <a16:creationId xmlns:a16="http://schemas.microsoft.com/office/drawing/2014/main" id="{58141AAD-DD2C-47B1-F182-8893CC00DB49}"/>
                  </a:ext>
                </a:extLst>
              </p:cNvPr>
              <p:cNvSpPr/>
              <p:nvPr/>
            </p:nvSpPr>
            <p:spPr>
              <a:xfrm>
                <a:off x="7141236" y="6158887"/>
                <a:ext cx="496248" cy="170357"/>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bg1"/>
                  </a:gs>
                  <a:gs pos="51000">
                    <a:srgbClr val="ED356A"/>
                  </a:gs>
                  <a:gs pos="100000">
                    <a:srgbClr val="E40000"/>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6" name="Oval 357">
                <a:extLst>
                  <a:ext uri="{FF2B5EF4-FFF2-40B4-BE49-F238E27FC236}">
                    <a16:creationId xmlns:a16="http://schemas.microsoft.com/office/drawing/2014/main" id="{57F9E405-DB29-FF96-B3A9-B89FA6C7D7B1}"/>
                  </a:ext>
                </a:extLst>
              </p:cNvPr>
              <p:cNvSpPr/>
              <p:nvPr/>
            </p:nvSpPr>
            <p:spPr>
              <a:xfrm>
                <a:off x="7141522" y="6068702"/>
                <a:ext cx="495647" cy="168664"/>
              </a:xfrm>
              <a:prstGeom prst="ellipse">
                <a:avLst/>
              </a:prstGeom>
              <a:solidFill>
                <a:srgbClr val="FA376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77" name="Group 358">
                <a:extLst>
                  <a:ext uri="{FF2B5EF4-FFF2-40B4-BE49-F238E27FC236}">
                    <a16:creationId xmlns:a16="http://schemas.microsoft.com/office/drawing/2014/main" id="{3156BDC0-F06C-FADE-AD5D-C509E3898322}"/>
                  </a:ext>
                </a:extLst>
              </p:cNvPr>
              <p:cNvGrpSpPr/>
              <p:nvPr/>
            </p:nvGrpSpPr>
            <p:grpSpPr>
              <a:xfrm>
                <a:off x="7214834" y="6090139"/>
                <a:ext cx="348960" cy="123931"/>
                <a:chOff x="7786941" y="2884917"/>
                <a:chExt cx="897649" cy="353919"/>
              </a:xfrm>
            </p:grpSpPr>
            <p:sp>
              <p:nvSpPr>
                <p:cNvPr id="78" name="Freeform 359">
                  <a:extLst>
                    <a:ext uri="{FF2B5EF4-FFF2-40B4-BE49-F238E27FC236}">
                      <a16:creationId xmlns:a16="http://schemas.microsoft.com/office/drawing/2014/main" id="{227A7C71-C202-E9AD-6606-4F52BC08175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Freeform 360">
                  <a:extLst>
                    <a:ext uri="{FF2B5EF4-FFF2-40B4-BE49-F238E27FC236}">
                      <a16:creationId xmlns:a16="http://schemas.microsoft.com/office/drawing/2014/main" id="{079A6579-178B-7490-6677-BD0E564AB09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Freeform 361">
                  <a:extLst>
                    <a:ext uri="{FF2B5EF4-FFF2-40B4-BE49-F238E27FC236}">
                      <a16:creationId xmlns:a16="http://schemas.microsoft.com/office/drawing/2014/main" id="{F6E960BA-5416-D87E-E434-02FD0617D64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Freeform 362">
                  <a:extLst>
                    <a:ext uri="{FF2B5EF4-FFF2-40B4-BE49-F238E27FC236}">
                      <a16:creationId xmlns:a16="http://schemas.microsoft.com/office/drawing/2014/main" id="{F6EC6CB4-3C66-E12E-8359-21E4E0A7911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 name="Group 322">
              <a:extLst>
                <a:ext uri="{FF2B5EF4-FFF2-40B4-BE49-F238E27FC236}">
                  <a16:creationId xmlns:a16="http://schemas.microsoft.com/office/drawing/2014/main" id="{553C463F-5AEA-FBCE-94EE-FC466AB15076}"/>
                </a:ext>
              </a:extLst>
            </p:cNvPr>
            <p:cNvGrpSpPr/>
            <p:nvPr/>
          </p:nvGrpSpPr>
          <p:grpSpPr>
            <a:xfrm>
              <a:off x="6131364" y="5156690"/>
              <a:ext cx="496248" cy="260542"/>
              <a:chOff x="7493876" y="2774731"/>
              <a:chExt cx="1481958" cy="894622"/>
            </a:xfrm>
          </p:grpSpPr>
          <p:sp>
            <p:nvSpPr>
              <p:cNvPr id="68" name="Freeform 323">
                <a:extLst>
                  <a:ext uri="{FF2B5EF4-FFF2-40B4-BE49-F238E27FC236}">
                    <a16:creationId xmlns:a16="http://schemas.microsoft.com/office/drawing/2014/main" id="{7F757D68-F509-D0AB-07A9-50D60FB1A9C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9" name="Oval 324">
                <a:extLst>
                  <a:ext uri="{FF2B5EF4-FFF2-40B4-BE49-F238E27FC236}">
                    <a16:creationId xmlns:a16="http://schemas.microsoft.com/office/drawing/2014/main" id="{E87B4444-3393-D044-A062-EE67842E106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70" name="Group 325">
                <a:extLst>
                  <a:ext uri="{FF2B5EF4-FFF2-40B4-BE49-F238E27FC236}">
                    <a16:creationId xmlns:a16="http://schemas.microsoft.com/office/drawing/2014/main" id="{F23C7E72-2D9B-9721-070A-E0E2F9E45579}"/>
                  </a:ext>
                </a:extLst>
              </p:cNvPr>
              <p:cNvGrpSpPr/>
              <p:nvPr/>
            </p:nvGrpSpPr>
            <p:grpSpPr>
              <a:xfrm>
                <a:off x="7713663" y="2848339"/>
                <a:ext cx="1042107" cy="425543"/>
                <a:chOff x="7786941" y="2884917"/>
                <a:chExt cx="897649" cy="353919"/>
              </a:xfrm>
            </p:grpSpPr>
            <p:sp>
              <p:nvSpPr>
                <p:cNvPr id="71" name="Freeform 326">
                  <a:extLst>
                    <a:ext uri="{FF2B5EF4-FFF2-40B4-BE49-F238E27FC236}">
                      <a16:creationId xmlns:a16="http://schemas.microsoft.com/office/drawing/2014/main" id="{A9C06F16-FF62-B562-4954-F956D5FF1F4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Freeform 327">
                  <a:extLst>
                    <a:ext uri="{FF2B5EF4-FFF2-40B4-BE49-F238E27FC236}">
                      <a16:creationId xmlns:a16="http://schemas.microsoft.com/office/drawing/2014/main" id="{64552620-FE9A-2B56-145C-8FD9D7040C7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Freeform 328">
                  <a:extLst>
                    <a:ext uri="{FF2B5EF4-FFF2-40B4-BE49-F238E27FC236}">
                      <a16:creationId xmlns:a16="http://schemas.microsoft.com/office/drawing/2014/main" id="{0D28F6C4-6F54-1B03-7967-A0297C8ADE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Freeform 329">
                  <a:extLst>
                    <a:ext uri="{FF2B5EF4-FFF2-40B4-BE49-F238E27FC236}">
                      <a16:creationId xmlns:a16="http://schemas.microsoft.com/office/drawing/2014/main" id="{97A3AE53-8CCF-1360-ED44-0C3BD5DB5C3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 name="Group 331">
              <a:extLst>
                <a:ext uri="{FF2B5EF4-FFF2-40B4-BE49-F238E27FC236}">
                  <a16:creationId xmlns:a16="http://schemas.microsoft.com/office/drawing/2014/main" id="{28D9E8AB-D5F3-CF38-A1FA-98FCB6E940BD}"/>
                </a:ext>
              </a:extLst>
            </p:cNvPr>
            <p:cNvGrpSpPr/>
            <p:nvPr/>
          </p:nvGrpSpPr>
          <p:grpSpPr>
            <a:xfrm>
              <a:off x="5122533" y="4861037"/>
              <a:ext cx="496248" cy="260542"/>
              <a:chOff x="7493876" y="2774731"/>
              <a:chExt cx="1481958" cy="894622"/>
            </a:xfrm>
          </p:grpSpPr>
          <p:sp>
            <p:nvSpPr>
              <p:cNvPr id="61" name="Freeform 332">
                <a:extLst>
                  <a:ext uri="{FF2B5EF4-FFF2-40B4-BE49-F238E27FC236}">
                    <a16:creationId xmlns:a16="http://schemas.microsoft.com/office/drawing/2014/main" id="{59D7A20E-A125-EA6A-5F7E-57EA8CD19E7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2" name="Oval 333">
                <a:extLst>
                  <a:ext uri="{FF2B5EF4-FFF2-40B4-BE49-F238E27FC236}">
                    <a16:creationId xmlns:a16="http://schemas.microsoft.com/office/drawing/2014/main" id="{379EF202-0B98-147D-D1B5-4189348D1F6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3" name="Group 334">
                <a:extLst>
                  <a:ext uri="{FF2B5EF4-FFF2-40B4-BE49-F238E27FC236}">
                    <a16:creationId xmlns:a16="http://schemas.microsoft.com/office/drawing/2014/main" id="{D451C048-AC9A-3AD7-3E29-AFF6E8D20120}"/>
                  </a:ext>
                </a:extLst>
              </p:cNvPr>
              <p:cNvGrpSpPr/>
              <p:nvPr/>
            </p:nvGrpSpPr>
            <p:grpSpPr>
              <a:xfrm>
                <a:off x="7713663" y="2848339"/>
                <a:ext cx="1042107" cy="425543"/>
                <a:chOff x="7786941" y="2884917"/>
                <a:chExt cx="897649" cy="353919"/>
              </a:xfrm>
            </p:grpSpPr>
            <p:sp>
              <p:nvSpPr>
                <p:cNvPr id="64" name="Freeform 335">
                  <a:extLst>
                    <a:ext uri="{FF2B5EF4-FFF2-40B4-BE49-F238E27FC236}">
                      <a16:creationId xmlns:a16="http://schemas.microsoft.com/office/drawing/2014/main" id="{9AB04EE7-1598-6BE7-4B9A-2DE7648536B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Freeform 336">
                  <a:extLst>
                    <a:ext uri="{FF2B5EF4-FFF2-40B4-BE49-F238E27FC236}">
                      <a16:creationId xmlns:a16="http://schemas.microsoft.com/office/drawing/2014/main" id="{BD9A889F-093E-229E-C5FD-AD15DD10830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Freeform 337">
                  <a:extLst>
                    <a:ext uri="{FF2B5EF4-FFF2-40B4-BE49-F238E27FC236}">
                      <a16:creationId xmlns:a16="http://schemas.microsoft.com/office/drawing/2014/main" id="{1D620EEA-74E6-6476-4B4A-D3AC6E24ACE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Freeform 338">
                  <a:extLst>
                    <a:ext uri="{FF2B5EF4-FFF2-40B4-BE49-F238E27FC236}">
                      <a16:creationId xmlns:a16="http://schemas.microsoft.com/office/drawing/2014/main" id="{6D2811A2-1907-7D54-F165-30D34750F0D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 name="Group 339">
              <a:extLst>
                <a:ext uri="{FF2B5EF4-FFF2-40B4-BE49-F238E27FC236}">
                  <a16:creationId xmlns:a16="http://schemas.microsoft.com/office/drawing/2014/main" id="{AF276E23-394B-D5B0-9BC1-5051C6F1A4C6}"/>
                </a:ext>
              </a:extLst>
            </p:cNvPr>
            <p:cNvGrpSpPr/>
            <p:nvPr/>
          </p:nvGrpSpPr>
          <p:grpSpPr>
            <a:xfrm>
              <a:off x="4450588" y="5823254"/>
              <a:ext cx="496248" cy="260542"/>
              <a:chOff x="7493876" y="2774731"/>
              <a:chExt cx="1481958" cy="894622"/>
            </a:xfrm>
          </p:grpSpPr>
          <p:sp>
            <p:nvSpPr>
              <p:cNvPr id="43" name="Freeform 340">
                <a:extLst>
                  <a:ext uri="{FF2B5EF4-FFF2-40B4-BE49-F238E27FC236}">
                    <a16:creationId xmlns:a16="http://schemas.microsoft.com/office/drawing/2014/main" id="{795877E2-DA2C-283A-6366-04D5722F7C9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5" name="Oval 341">
                <a:extLst>
                  <a:ext uri="{FF2B5EF4-FFF2-40B4-BE49-F238E27FC236}">
                    <a16:creationId xmlns:a16="http://schemas.microsoft.com/office/drawing/2014/main" id="{362F3D07-CD5A-E3AB-1700-5FE887C9256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6" name="Group 342">
                <a:extLst>
                  <a:ext uri="{FF2B5EF4-FFF2-40B4-BE49-F238E27FC236}">
                    <a16:creationId xmlns:a16="http://schemas.microsoft.com/office/drawing/2014/main" id="{D94D0243-65A0-87C2-67BC-646AAD2080F4}"/>
                  </a:ext>
                </a:extLst>
              </p:cNvPr>
              <p:cNvGrpSpPr/>
              <p:nvPr/>
            </p:nvGrpSpPr>
            <p:grpSpPr>
              <a:xfrm>
                <a:off x="7713663" y="2848339"/>
                <a:ext cx="1042107" cy="425543"/>
                <a:chOff x="7786941" y="2884917"/>
                <a:chExt cx="897649" cy="353919"/>
              </a:xfrm>
            </p:grpSpPr>
            <p:sp>
              <p:nvSpPr>
                <p:cNvPr id="57" name="Freeform 343">
                  <a:extLst>
                    <a:ext uri="{FF2B5EF4-FFF2-40B4-BE49-F238E27FC236}">
                      <a16:creationId xmlns:a16="http://schemas.microsoft.com/office/drawing/2014/main" id="{6A18E7EC-0CE4-F0FF-AB9A-B7283D25EAD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Freeform 344">
                  <a:extLst>
                    <a:ext uri="{FF2B5EF4-FFF2-40B4-BE49-F238E27FC236}">
                      <a16:creationId xmlns:a16="http://schemas.microsoft.com/office/drawing/2014/main" id="{ADE75F22-5823-06E6-5433-E7038E7D7D7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Freeform 345">
                  <a:extLst>
                    <a:ext uri="{FF2B5EF4-FFF2-40B4-BE49-F238E27FC236}">
                      <a16:creationId xmlns:a16="http://schemas.microsoft.com/office/drawing/2014/main" id="{C4C5ED1F-BCE6-6415-343F-FE55ACC2A8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Freeform 346">
                  <a:extLst>
                    <a:ext uri="{FF2B5EF4-FFF2-40B4-BE49-F238E27FC236}">
                      <a16:creationId xmlns:a16="http://schemas.microsoft.com/office/drawing/2014/main" id="{BFDE1F47-585C-444C-7A93-C16EDCE00AA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 name="Group 347">
              <a:extLst>
                <a:ext uri="{FF2B5EF4-FFF2-40B4-BE49-F238E27FC236}">
                  <a16:creationId xmlns:a16="http://schemas.microsoft.com/office/drawing/2014/main" id="{4EB4ED36-6B62-0D33-7387-F16C9CB6CD7D}"/>
                </a:ext>
              </a:extLst>
            </p:cNvPr>
            <p:cNvGrpSpPr/>
            <p:nvPr/>
          </p:nvGrpSpPr>
          <p:grpSpPr>
            <a:xfrm>
              <a:off x="4094463" y="5164346"/>
              <a:ext cx="496248" cy="260542"/>
              <a:chOff x="7493876" y="2774731"/>
              <a:chExt cx="1481958" cy="894622"/>
            </a:xfrm>
          </p:grpSpPr>
          <p:sp>
            <p:nvSpPr>
              <p:cNvPr id="36" name="Freeform 348">
                <a:extLst>
                  <a:ext uri="{FF2B5EF4-FFF2-40B4-BE49-F238E27FC236}">
                    <a16:creationId xmlns:a16="http://schemas.microsoft.com/office/drawing/2014/main" id="{04FD5961-6817-ADC7-5D32-743DFA4F53A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7" name="Oval 349">
                <a:extLst>
                  <a:ext uri="{FF2B5EF4-FFF2-40B4-BE49-F238E27FC236}">
                    <a16:creationId xmlns:a16="http://schemas.microsoft.com/office/drawing/2014/main" id="{96FEC0B1-001E-82AF-4841-1EF10D0647A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8" name="Group 350">
                <a:extLst>
                  <a:ext uri="{FF2B5EF4-FFF2-40B4-BE49-F238E27FC236}">
                    <a16:creationId xmlns:a16="http://schemas.microsoft.com/office/drawing/2014/main" id="{EC57461F-16FF-C5F0-4DFA-958E577F7DA4}"/>
                  </a:ext>
                </a:extLst>
              </p:cNvPr>
              <p:cNvGrpSpPr/>
              <p:nvPr/>
            </p:nvGrpSpPr>
            <p:grpSpPr>
              <a:xfrm>
                <a:off x="7713663" y="2848339"/>
                <a:ext cx="1042107" cy="425543"/>
                <a:chOff x="7786941" y="2884917"/>
                <a:chExt cx="897649" cy="353919"/>
              </a:xfrm>
            </p:grpSpPr>
            <p:sp>
              <p:nvSpPr>
                <p:cNvPr id="39" name="Freeform 351">
                  <a:extLst>
                    <a:ext uri="{FF2B5EF4-FFF2-40B4-BE49-F238E27FC236}">
                      <a16:creationId xmlns:a16="http://schemas.microsoft.com/office/drawing/2014/main" id="{E6E2E364-B6B7-1D7E-285C-B860D2ABD6B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352">
                  <a:extLst>
                    <a:ext uri="{FF2B5EF4-FFF2-40B4-BE49-F238E27FC236}">
                      <a16:creationId xmlns:a16="http://schemas.microsoft.com/office/drawing/2014/main" id="{78034298-C4E9-C1CF-D802-2C7C705C16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Freeform 353">
                  <a:extLst>
                    <a:ext uri="{FF2B5EF4-FFF2-40B4-BE49-F238E27FC236}">
                      <a16:creationId xmlns:a16="http://schemas.microsoft.com/office/drawing/2014/main" id="{130DFDCB-8DEA-7C62-F36E-357A6317DA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354">
                  <a:extLst>
                    <a:ext uri="{FF2B5EF4-FFF2-40B4-BE49-F238E27FC236}">
                      <a16:creationId xmlns:a16="http://schemas.microsoft.com/office/drawing/2014/main" id="{D13B1672-CD6B-BC79-B1CB-8D383CDF5C5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8" name="Freeform 6">
              <a:extLst>
                <a:ext uri="{FF2B5EF4-FFF2-40B4-BE49-F238E27FC236}">
                  <a16:creationId xmlns:a16="http://schemas.microsoft.com/office/drawing/2014/main" id="{402F85BE-08CB-D9DE-C8B5-D6AA959633BF}"/>
                </a:ext>
              </a:extLst>
            </p:cNvPr>
            <p:cNvSpPr>
              <a:spLocks/>
            </p:cNvSpPr>
            <p:nvPr/>
          </p:nvSpPr>
          <p:spPr bwMode="auto">
            <a:xfrm>
              <a:off x="4581324" y="4994579"/>
              <a:ext cx="542925" cy="295275"/>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 name="Freeform 91">
              <a:extLst>
                <a:ext uri="{FF2B5EF4-FFF2-40B4-BE49-F238E27FC236}">
                  <a16:creationId xmlns:a16="http://schemas.microsoft.com/office/drawing/2014/main" id="{69B87A8D-0FC9-94AF-1E44-B79B5CEB46A7}"/>
                </a:ext>
              </a:extLst>
            </p:cNvPr>
            <p:cNvSpPr>
              <a:spLocks/>
            </p:cNvSpPr>
            <p:nvPr/>
          </p:nvSpPr>
          <p:spPr bwMode="auto">
            <a:xfrm>
              <a:off x="5622724" y="4988229"/>
              <a:ext cx="506413" cy="30797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 name="Freeform 92">
              <a:extLst>
                <a:ext uri="{FF2B5EF4-FFF2-40B4-BE49-F238E27FC236}">
                  <a16:creationId xmlns:a16="http://schemas.microsoft.com/office/drawing/2014/main" id="{766B920B-4111-859F-0CE1-669F9F66C254}"/>
                </a:ext>
              </a:extLst>
            </p:cNvPr>
            <p:cNvSpPr>
              <a:spLocks/>
            </p:cNvSpPr>
            <p:nvPr/>
          </p:nvSpPr>
          <p:spPr bwMode="auto">
            <a:xfrm>
              <a:off x="4557512" y="5380342"/>
              <a:ext cx="481012" cy="238125"/>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 name="Freeform 93">
              <a:extLst>
                <a:ext uri="{FF2B5EF4-FFF2-40B4-BE49-F238E27FC236}">
                  <a16:creationId xmlns:a16="http://schemas.microsoft.com/office/drawing/2014/main" id="{BFDCF822-1D43-F574-BC19-1115FCF7B0AA}"/>
                </a:ext>
              </a:extLst>
            </p:cNvPr>
            <p:cNvSpPr>
              <a:spLocks/>
            </p:cNvSpPr>
            <p:nvPr/>
          </p:nvSpPr>
          <p:spPr bwMode="auto">
            <a:xfrm>
              <a:off x="5505249" y="5356529"/>
              <a:ext cx="630238" cy="247650"/>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 name="Freeform 94">
              <a:extLst>
                <a:ext uri="{FF2B5EF4-FFF2-40B4-BE49-F238E27FC236}">
                  <a16:creationId xmlns:a16="http://schemas.microsoft.com/office/drawing/2014/main" id="{FEA47061-262B-B3A1-49FB-5D32A7EE6922}"/>
                </a:ext>
              </a:extLst>
            </p:cNvPr>
            <p:cNvSpPr>
              <a:spLocks/>
            </p:cNvSpPr>
            <p:nvPr/>
          </p:nvSpPr>
          <p:spPr bwMode="auto">
            <a:xfrm>
              <a:off x="6173587" y="5410504"/>
              <a:ext cx="206375" cy="50800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 name="Freeform 95">
              <a:extLst>
                <a:ext uri="{FF2B5EF4-FFF2-40B4-BE49-F238E27FC236}">
                  <a16:creationId xmlns:a16="http://schemas.microsoft.com/office/drawing/2014/main" id="{C90179F8-952A-DE10-E7A4-00D40EBD1CEC}"/>
                </a:ext>
              </a:extLst>
            </p:cNvPr>
            <p:cNvSpPr>
              <a:spLocks/>
            </p:cNvSpPr>
            <p:nvPr/>
          </p:nvSpPr>
          <p:spPr bwMode="auto">
            <a:xfrm>
              <a:off x="4936923" y="5943904"/>
              <a:ext cx="970395" cy="81756"/>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 name="Freeform 96">
              <a:extLst>
                <a:ext uri="{FF2B5EF4-FFF2-40B4-BE49-F238E27FC236}">
                  <a16:creationId xmlns:a16="http://schemas.microsoft.com/office/drawing/2014/main" id="{E23CCC87-E775-7C45-51B9-BCFCD800635D}"/>
                </a:ext>
              </a:extLst>
            </p:cNvPr>
            <p:cNvSpPr>
              <a:spLocks/>
            </p:cNvSpPr>
            <p:nvPr/>
          </p:nvSpPr>
          <p:spPr bwMode="auto">
            <a:xfrm>
              <a:off x="4400349" y="5424888"/>
              <a:ext cx="193675" cy="404716"/>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5" name="Group 314">
              <a:extLst>
                <a:ext uri="{FF2B5EF4-FFF2-40B4-BE49-F238E27FC236}">
                  <a16:creationId xmlns:a16="http://schemas.microsoft.com/office/drawing/2014/main" id="{190839E3-FA36-06F4-36D2-F7B161AEB3C2}"/>
                </a:ext>
              </a:extLst>
            </p:cNvPr>
            <p:cNvGrpSpPr/>
            <p:nvPr/>
          </p:nvGrpSpPr>
          <p:grpSpPr>
            <a:xfrm>
              <a:off x="5868328" y="5862061"/>
              <a:ext cx="496248" cy="260542"/>
              <a:chOff x="7493876" y="2774731"/>
              <a:chExt cx="1481958" cy="894622"/>
            </a:xfrm>
          </p:grpSpPr>
          <p:sp>
            <p:nvSpPr>
              <p:cNvPr id="29" name="Freeform 315">
                <a:extLst>
                  <a:ext uri="{FF2B5EF4-FFF2-40B4-BE49-F238E27FC236}">
                    <a16:creationId xmlns:a16="http://schemas.microsoft.com/office/drawing/2014/main" id="{8C0C9592-12CC-15E3-6650-ED1421A39A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0" name="Oval 316">
                <a:extLst>
                  <a:ext uri="{FF2B5EF4-FFF2-40B4-BE49-F238E27FC236}">
                    <a16:creationId xmlns:a16="http://schemas.microsoft.com/office/drawing/2014/main" id="{751B2AC2-CAFE-2CCA-7D58-36568359005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1" name="Group 317">
                <a:extLst>
                  <a:ext uri="{FF2B5EF4-FFF2-40B4-BE49-F238E27FC236}">
                    <a16:creationId xmlns:a16="http://schemas.microsoft.com/office/drawing/2014/main" id="{E351A2FF-7B5C-C64C-E8A4-1B2271E3AA23}"/>
                  </a:ext>
                </a:extLst>
              </p:cNvPr>
              <p:cNvGrpSpPr/>
              <p:nvPr/>
            </p:nvGrpSpPr>
            <p:grpSpPr>
              <a:xfrm>
                <a:off x="7713663" y="2848339"/>
                <a:ext cx="1042107" cy="425543"/>
                <a:chOff x="7786941" y="2884917"/>
                <a:chExt cx="897649" cy="353919"/>
              </a:xfrm>
            </p:grpSpPr>
            <p:sp>
              <p:nvSpPr>
                <p:cNvPr id="32" name="Freeform 318">
                  <a:extLst>
                    <a:ext uri="{FF2B5EF4-FFF2-40B4-BE49-F238E27FC236}">
                      <a16:creationId xmlns:a16="http://schemas.microsoft.com/office/drawing/2014/main" id="{54D62EE0-0E59-C153-E622-2F5F1344F6E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Freeform 319">
                  <a:extLst>
                    <a:ext uri="{FF2B5EF4-FFF2-40B4-BE49-F238E27FC236}">
                      <a16:creationId xmlns:a16="http://schemas.microsoft.com/office/drawing/2014/main" id="{19725170-3C54-FDDC-6D92-8BFE8172994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Freeform 320">
                  <a:extLst>
                    <a:ext uri="{FF2B5EF4-FFF2-40B4-BE49-F238E27FC236}">
                      <a16:creationId xmlns:a16="http://schemas.microsoft.com/office/drawing/2014/main" id="{EA74C408-E570-2651-26CD-7F12AAA2DF8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Freeform 321">
                  <a:extLst>
                    <a:ext uri="{FF2B5EF4-FFF2-40B4-BE49-F238E27FC236}">
                      <a16:creationId xmlns:a16="http://schemas.microsoft.com/office/drawing/2014/main" id="{DD28E388-12EB-46E0-0390-17F4B084748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6" name="Freeform 91">
              <a:extLst>
                <a:ext uri="{FF2B5EF4-FFF2-40B4-BE49-F238E27FC236}">
                  <a16:creationId xmlns:a16="http://schemas.microsoft.com/office/drawing/2014/main" id="{62C09B52-685A-75F2-E63B-F92FD9B34D44}"/>
                </a:ext>
              </a:extLst>
            </p:cNvPr>
            <p:cNvSpPr>
              <a:spLocks/>
            </p:cNvSpPr>
            <p:nvPr/>
          </p:nvSpPr>
          <p:spPr bwMode="auto">
            <a:xfrm flipV="1">
              <a:off x="4860724" y="5735086"/>
              <a:ext cx="178041" cy="104043"/>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 name="Freeform 91">
              <a:extLst>
                <a:ext uri="{FF2B5EF4-FFF2-40B4-BE49-F238E27FC236}">
                  <a16:creationId xmlns:a16="http://schemas.microsoft.com/office/drawing/2014/main" id="{7C455FE2-8E1A-B0E4-4821-B2A6E20B3A44}"/>
                </a:ext>
              </a:extLst>
            </p:cNvPr>
            <p:cNvSpPr>
              <a:spLocks/>
            </p:cNvSpPr>
            <p:nvPr/>
          </p:nvSpPr>
          <p:spPr bwMode="auto">
            <a:xfrm flipV="1">
              <a:off x="5445456" y="4663823"/>
              <a:ext cx="45719" cy="202880"/>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 name="Freeform 92">
              <a:extLst>
                <a:ext uri="{FF2B5EF4-FFF2-40B4-BE49-F238E27FC236}">
                  <a16:creationId xmlns:a16="http://schemas.microsoft.com/office/drawing/2014/main" id="{1F951B12-6FED-5DD3-D5F7-83AB2B295CC2}"/>
                </a:ext>
              </a:extLst>
            </p:cNvPr>
            <p:cNvSpPr>
              <a:spLocks/>
            </p:cNvSpPr>
            <p:nvPr/>
          </p:nvSpPr>
          <p:spPr bwMode="auto">
            <a:xfrm>
              <a:off x="5532311" y="5746564"/>
              <a:ext cx="336683" cy="244860"/>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82" name="Text Box 8">
            <a:extLst>
              <a:ext uri="{FF2B5EF4-FFF2-40B4-BE49-F238E27FC236}">
                <a16:creationId xmlns:a16="http://schemas.microsoft.com/office/drawing/2014/main" id="{8F02F59A-A113-6EDD-E2AE-28BBAFBDA00D}"/>
              </a:ext>
            </a:extLst>
          </p:cNvPr>
          <p:cNvSpPr txBox="1">
            <a:spLocks noChangeArrowheads="1"/>
          </p:cNvSpPr>
          <p:nvPr/>
        </p:nvSpPr>
        <p:spPr bwMode="auto">
          <a:xfrm>
            <a:off x="3546724" y="2837175"/>
            <a:ext cx="9541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0" i="1" u="none" strike="noStrike" kern="1200" cap="none" spc="0" normalizeH="0" baseline="0" noProof="0" dirty="0">
                <a:ln>
                  <a:noFill/>
                </a:ln>
                <a:solidFill>
                  <a:srgbClr val="000099"/>
                </a:solidFill>
                <a:effectLst/>
                <a:uLnTx/>
                <a:uFillTx/>
                <a:latin typeface="华文仿宋" panose="02010600040101010101" pitchFamily="2" charset="-122"/>
                <a:ea typeface="华文仿宋" panose="02010600040101010101" pitchFamily="2" charset="-122"/>
              </a:rPr>
              <a:t>源主机</a:t>
            </a:r>
            <a:endParaRPr kumimoji="0" lang="en-US" altLang="en-US" sz="2000" b="0" i="1" u="none" strike="noStrike" kern="1200" cap="none" spc="0" normalizeH="0" baseline="0" noProof="0" dirty="0">
              <a:ln>
                <a:noFill/>
              </a:ln>
              <a:solidFill>
                <a:srgbClr val="000099"/>
              </a:solidFill>
              <a:effectLst/>
              <a:uLnTx/>
              <a:uFillTx/>
              <a:latin typeface="华文仿宋" panose="02010600040101010101" pitchFamily="2" charset="-122"/>
              <a:ea typeface="华文仿宋" panose="02010600040101010101" pitchFamily="2" charset="-122"/>
            </a:endParaRPr>
          </a:p>
        </p:txBody>
      </p:sp>
      <p:sp>
        <p:nvSpPr>
          <p:cNvPr id="83" name="Freeform 10">
            <a:extLst>
              <a:ext uri="{FF2B5EF4-FFF2-40B4-BE49-F238E27FC236}">
                <a16:creationId xmlns:a16="http://schemas.microsoft.com/office/drawing/2014/main" id="{CA559E98-BCDD-CE67-1141-E96DFE5C1B4D}"/>
              </a:ext>
            </a:extLst>
          </p:cNvPr>
          <p:cNvSpPr>
            <a:spLocks/>
          </p:cNvSpPr>
          <p:nvPr/>
        </p:nvSpPr>
        <p:spPr bwMode="auto">
          <a:xfrm flipH="1">
            <a:off x="3130016" y="3168962"/>
            <a:ext cx="326408" cy="1262816"/>
          </a:xfrm>
          <a:custGeom>
            <a:avLst/>
            <a:gdLst>
              <a:gd name="T0" fmla="*/ 2147483647 w 12213"/>
              <a:gd name="T1" fmla="*/ 2147483647 h 10000"/>
              <a:gd name="T2" fmla="*/ 0 w 12213"/>
              <a:gd name="T3" fmla="*/ 0 h 10000"/>
              <a:gd name="T4" fmla="*/ 0 w 12213"/>
              <a:gd name="T5" fmla="*/ 2147483647 h 10000"/>
              <a:gd name="T6" fmla="*/ 2147483647 w 12213"/>
              <a:gd name="T7" fmla="*/ 2147483647 h 10000"/>
              <a:gd name="T8" fmla="*/ 2147483647 w 12213"/>
              <a:gd name="T9" fmla="*/ 2147483647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13" h="10000">
                <a:moveTo>
                  <a:pt x="11726" y="4661"/>
                </a:moveTo>
                <a:lnTo>
                  <a:pt x="0" y="0"/>
                </a:lnTo>
                <a:lnTo>
                  <a:pt x="0" y="10000"/>
                </a:lnTo>
                <a:lnTo>
                  <a:pt x="12213" y="6473"/>
                </a:lnTo>
                <a:lnTo>
                  <a:pt x="11726" y="4661"/>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4" name="Rectangle 23">
            <a:extLst>
              <a:ext uri="{FF2B5EF4-FFF2-40B4-BE49-F238E27FC236}">
                <a16:creationId xmlns:a16="http://schemas.microsoft.com/office/drawing/2014/main" id="{13FD4511-7AB9-951E-FEB0-AC8DE2384D6D}"/>
              </a:ext>
            </a:extLst>
          </p:cNvPr>
          <p:cNvSpPr>
            <a:spLocks noChangeArrowheads="1"/>
          </p:cNvSpPr>
          <p:nvPr/>
        </p:nvSpPr>
        <p:spPr bwMode="auto">
          <a:xfrm>
            <a:off x="3503079" y="3153086"/>
            <a:ext cx="1062368" cy="1290639"/>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5" name="Rectangle 24">
            <a:extLst>
              <a:ext uri="{FF2B5EF4-FFF2-40B4-BE49-F238E27FC236}">
                <a16:creationId xmlns:a16="http://schemas.microsoft.com/office/drawing/2014/main" id="{97BB8EDC-21FC-79E6-5C42-1F97B9FE759B}"/>
              </a:ext>
            </a:extLst>
          </p:cNvPr>
          <p:cNvSpPr>
            <a:spLocks noChangeArrowheads="1"/>
          </p:cNvSpPr>
          <p:nvPr/>
        </p:nvSpPr>
        <p:spPr bwMode="auto">
          <a:xfrm>
            <a:off x="3463391" y="3192775"/>
            <a:ext cx="1066800" cy="1231900"/>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5">
            <a:extLst>
              <a:ext uri="{FF2B5EF4-FFF2-40B4-BE49-F238E27FC236}">
                <a16:creationId xmlns:a16="http://schemas.microsoft.com/office/drawing/2014/main" id="{657A76F8-0E6B-161D-D138-34A181635049}"/>
              </a:ext>
            </a:extLst>
          </p:cNvPr>
          <p:cNvSpPr>
            <a:spLocks noChangeShapeType="1"/>
          </p:cNvSpPr>
          <p:nvPr/>
        </p:nvSpPr>
        <p:spPr bwMode="auto">
          <a:xfrm>
            <a:off x="3463391" y="3470587"/>
            <a:ext cx="1058862"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id="{DEAEC0DF-E409-D1A4-FA88-BA392971B7C7}"/>
              </a:ext>
            </a:extLst>
          </p:cNvPr>
          <p:cNvSpPr txBox="1">
            <a:spLocks noChangeArrowheads="1"/>
          </p:cNvSpPr>
          <p:nvPr/>
        </p:nvSpPr>
        <p:spPr bwMode="auto">
          <a:xfrm>
            <a:off x="3422357" y="3200184"/>
            <a:ext cx="1104900" cy="12747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application</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A3"/>
                </a:solidFill>
                <a:effectLst/>
                <a:uLnTx/>
                <a:uFillTx/>
                <a:latin typeface="Arial" charset="0"/>
                <a:ea typeface="ＭＳ Ｐゴシック" charset="0"/>
              </a:rPr>
              <a:t>TCP</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physical</a:t>
            </a:r>
          </a:p>
        </p:txBody>
      </p:sp>
      <p:grpSp>
        <p:nvGrpSpPr>
          <p:cNvPr id="88" name="Group 190">
            <a:extLst>
              <a:ext uri="{FF2B5EF4-FFF2-40B4-BE49-F238E27FC236}">
                <a16:creationId xmlns:a16="http://schemas.microsoft.com/office/drawing/2014/main" id="{674E7C2D-8E9F-1D15-F58B-144BE694385D}"/>
              </a:ext>
            </a:extLst>
          </p:cNvPr>
          <p:cNvGrpSpPr>
            <a:grpSpLocks/>
          </p:cNvGrpSpPr>
          <p:nvPr/>
        </p:nvGrpSpPr>
        <p:grpSpPr bwMode="auto">
          <a:xfrm flipH="1">
            <a:off x="2799816" y="3667437"/>
            <a:ext cx="673100" cy="701675"/>
            <a:chOff x="-44" y="1473"/>
            <a:chExt cx="981" cy="1105"/>
          </a:xfrm>
        </p:grpSpPr>
        <p:pic>
          <p:nvPicPr>
            <p:cNvPr id="89" name="Picture 191" descr="desktop_computer_stylized_medium">
              <a:extLst>
                <a:ext uri="{FF2B5EF4-FFF2-40B4-BE49-F238E27FC236}">
                  <a16:creationId xmlns:a16="http://schemas.microsoft.com/office/drawing/2014/main" id="{02C15341-584F-289A-3DAC-A20F66D174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Freeform 192">
              <a:extLst>
                <a:ext uri="{FF2B5EF4-FFF2-40B4-BE49-F238E27FC236}">
                  <a16:creationId xmlns:a16="http://schemas.microsoft.com/office/drawing/2014/main" id="{ABA5C350-C0B3-8C16-7957-00E301EDBA46}"/>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1" name="Line 25">
            <a:extLst>
              <a:ext uri="{FF2B5EF4-FFF2-40B4-BE49-F238E27FC236}">
                <a16:creationId xmlns:a16="http://schemas.microsoft.com/office/drawing/2014/main" id="{3E8DA79F-A257-CBAC-4F8A-DA3FCCACF8B6}"/>
              </a:ext>
            </a:extLst>
          </p:cNvPr>
          <p:cNvSpPr>
            <a:spLocks noChangeShapeType="1"/>
          </p:cNvSpPr>
          <p:nvPr/>
        </p:nvSpPr>
        <p:spPr bwMode="auto">
          <a:xfrm>
            <a:off x="3468153" y="3699187"/>
            <a:ext cx="1058863"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2" name="Line 25">
            <a:extLst>
              <a:ext uri="{FF2B5EF4-FFF2-40B4-BE49-F238E27FC236}">
                <a16:creationId xmlns:a16="http://schemas.microsoft.com/office/drawing/2014/main" id="{25C2CD87-460E-B8E2-EB98-F0BD5CE589D0}"/>
              </a:ext>
            </a:extLst>
          </p:cNvPr>
          <p:cNvSpPr>
            <a:spLocks noChangeShapeType="1"/>
          </p:cNvSpPr>
          <p:nvPr/>
        </p:nvSpPr>
        <p:spPr bwMode="auto">
          <a:xfrm>
            <a:off x="3472916" y="3927787"/>
            <a:ext cx="1058862"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3" name="Line 25">
            <a:extLst>
              <a:ext uri="{FF2B5EF4-FFF2-40B4-BE49-F238E27FC236}">
                <a16:creationId xmlns:a16="http://schemas.microsoft.com/office/drawing/2014/main" id="{C2613CC7-34E5-CF1A-1E08-44441AB4BE26}"/>
              </a:ext>
            </a:extLst>
          </p:cNvPr>
          <p:cNvSpPr>
            <a:spLocks noChangeShapeType="1"/>
          </p:cNvSpPr>
          <p:nvPr/>
        </p:nvSpPr>
        <p:spPr bwMode="auto">
          <a:xfrm>
            <a:off x="3476091" y="4167500"/>
            <a:ext cx="1060450"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94" name="Group 3">
            <a:extLst>
              <a:ext uri="{FF2B5EF4-FFF2-40B4-BE49-F238E27FC236}">
                <a16:creationId xmlns:a16="http://schemas.microsoft.com/office/drawing/2014/main" id="{410CADDF-C68F-BB5E-BC87-8E67A369606E}"/>
              </a:ext>
            </a:extLst>
          </p:cNvPr>
          <p:cNvGrpSpPr>
            <a:grpSpLocks/>
          </p:cNvGrpSpPr>
          <p:nvPr/>
        </p:nvGrpSpPr>
        <p:grpSpPr bwMode="auto">
          <a:xfrm>
            <a:off x="8451446" y="2917108"/>
            <a:ext cx="2039808" cy="1620287"/>
            <a:chOff x="4890815" y="4007261"/>
            <a:chExt cx="2038753" cy="1619544"/>
          </a:xfrm>
        </p:grpSpPr>
        <p:sp>
          <p:nvSpPr>
            <p:cNvPr id="95" name="Text Box 54">
              <a:extLst>
                <a:ext uri="{FF2B5EF4-FFF2-40B4-BE49-F238E27FC236}">
                  <a16:creationId xmlns:a16="http://schemas.microsoft.com/office/drawing/2014/main" id="{61571CF5-2BCF-BFE8-FE74-4EF0E9EEA290}"/>
                </a:ext>
              </a:extLst>
            </p:cNvPr>
            <p:cNvSpPr txBox="1">
              <a:spLocks noChangeArrowheads="1"/>
            </p:cNvSpPr>
            <p:nvPr/>
          </p:nvSpPr>
          <p:spPr bwMode="auto">
            <a:xfrm>
              <a:off x="4890815" y="4007261"/>
              <a:ext cx="1209963" cy="399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0" i="1" u="none" strike="noStrike" kern="0" cap="none" spc="0" normalizeH="0" baseline="0" noProof="0" dirty="0">
                  <a:ln>
                    <a:noFill/>
                  </a:ln>
                  <a:solidFill>
                    <a:srgbClr val="000099"/>
                  </a:solidFill>
                  <a:effectLst/>
                  <a:uLnTx/>
                  <a:uFillTx/>
                  <a:latin typeface="华文仿宋" panose="02010600040101010101" pitchFamily="2" charset="-122"/>
                  <a:ea typeface="华文仿宋" panose="02010600040101010101" pitchFamily="2" charset="-122"/>
                </a:rPr>
                <a:t>目标主机</a:t>
              </a:r>
              <a:endParaRPr kumimoji="0" lang="en-US" altLang="en-US" sz="2800" b="0" i="1" u="none" strike="noStrike" kern="0" cap="none" spc="0" normalizeH="0" baseline="0" noProof="0" dirty="0">
                <a:ln>
                  <a:noFill/>
                </a:ln>
                <a:solidFill>
                  <a:srgbClr val="000099"/>
                </a:solidFill>
                <a:effectLst/>
                <a:uLnTx/>
                <a:uFillTx/>
                <a:latin typeface="华文仿宋" panose="02010600040101010101" pitchFamily="2" charset="-122"/>
                <a:ea typeface="华文仿宋" panose="02010600040101010101" pitchFamily="2" charset="-122"/>
              </a:endParaRPr>
            </a:p>
          </p:txBody>
        </p:sp>
        <p:grpSp>
          <p:nvGrpSpPr>
            <p:cNvPr id="96" name="Group 2">
              <a:extLst>
                <a:ext uri="{FF2B5EF4-FFF2-40B4-BE49-F238E27FC236}">
                  <a16:creationId xmlns:a16="http://schemas.microsoft.com/office/drawing/2014/main" id="{69E56683-29FC-F98C-259A-DEBCB7CFB8B0}"/>
                </a:ext>
              </a:extLst>
            </p:cNvPr>
            <p:cNvGrpSpPr>
              <a:grpSpLocks/>
            </p:cNvGrpSpPr>
            <p:nvPr/>
          </p:nvGrpSpPr>
          <p:grpSpPr bwMode="auto">
            <a:xfrm>
              <a:off x="4927179" y="4319856"/>
              <a:ext cx="2002389" cy="1306949"/>
              <a:chOff x="1305623" y="4714561"/>
              <a:chExt cx="2002389" cy="1306949"/>
            </a:xfrm>
          </p:grpSpPr>
          <p:sp>
            <p:nvSpPr>
              <p:cNvPr id="97" name="Freeform 10">
                <a:extLst>
                  <a:ext uri="{FF2B5EF4-FFF2-40B4-BE49-F238E27FC236}">
                    <a16:creationId xmlns:a16="http://schemas.microsoft.com/office/drawing/2014/main" id="{99346E61-D45E-C392-5B76-74B2066EEE89}"/>
                  </a:ext>
                </a:extLst>
              </p:cNvPr>
              <p:cNvSpPr>
                <a:spLocks/>
              </p:cNvSpPr>
              <p:nvPr/>
            </p:nvSpPr>
            <p:spPr bwMode="auto">
              <a:xfrm>
                <a:off x="2426569" y="4714561"/>
                <a:ext cx="288261" cy="1290044"/>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8" name="Rectangle 23">
                <a:extLst>
                  <a:ext uri="{FF2B5EF4-FFF2-40B4-BE49-F238E27FC236}">
                    <a16:creationId xmlns:a16="http://schemas.microsoft.com/office/drawing/2014/main" id="{D3430760-48BE-0B4A-3809-1BCBC5EA6976}"/>
                  </a:ext>
                </a:extLst>
              </p:cNvPr>
              <p:cNvSpPr>
                <a:spLocks noChangeArrowheads="1"/>
              </p:cNvSpPr>
              <p:nvPr/>
            </p:nvSpPr>
            <p:spPr bwMode="auto">
              <a:xfrm>
                <a:off x="1398616" y="4722494"/>
                <a:ext cx="1045433" cy="127129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9" name="Rectangle 24">
                <a:extLst>
                  <a:ext uri="{FF2B5EF4-FFF2-40B4-BE49-F238E27FC236}">
                    <a16:creationId xmlns:a16="http://schemas.microsoft.com/office/drawing/2014/main" id="{D7E5179D-7CAF-A365-2DEE-3FD72165EA55}"/>
                  </a:ext>
                </a:extLst>
              </p:cNvPr>
              <p:cNvSpPr>
                <a:spLocks noChangeArrowheads="1"/>
              </p:cNvSpPr>
              <p:nvPr/>
            </p:nvSpPr>
            <p:spPr bwMode="auto">
              <a:xfrm>
                <a:off x="1341249" y="4752754"/>
                <a:ext cx="1067215" cy="1231976"/>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0" name="Line 25">
                <a:extLst>
                  <a:ext uri="{FF2B5EF4-FFF2-40B4-BE49-F238E27FC236}">
                    <a16:creationId xmlns:a16="http://schemas.microsoft.com/office/drawing/2014/main" id="{06F2FB36-08D4-6C5B-23CB-8281146AFD50}"/>
                  </a:ext>
                </a:extLst>
              </p:cNvPr>
              <p:cNvSpPr>
                <a:spLocks noChangeShapeType="1"/>
              </p:cNvSpPr>
              <p:nvPr/>
            </p:nvSpPr>
            <p:spPr bwMode="auto">
              <a:xfrm>
                <a:off x="1341249" y="50313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1" name="Text Box 26">
                <a:extLst>
                  <a:ext uri="{FF2B5EF4-FFF2-40B4-BE49-F238E27FC236}">
                    <a16:creationId xmlns:a16="http://schemas.microsoft.com/office/drawing/2014/main" id="{61C3B51D-34E2-1A17-2493-07F4D1F1C9D4}"/>
                  </a:ext>
                </a:extLst>
              </p:cNvPr>
              <p:cNvSpPr txBox="1">
                <a:spLocks noChangeArrowheads="1"/>
              </p:cNvSpPr>
              <p:nvPr/>
            </p:nvSpPr>
            <p:spPr bwMode="auto">
              <a:xfrm>
                <a:off x="1305623" y="4747333"/>
                <a:ext cx="1104329" cy="12741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application</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A3"/>
                    </a:solidFill>
                    <a:effectLst/>
                    <a:uLnTx/>
                    <a:uFillTx/>
                    <a:latin typeface="Arial" charset="0"/>
                    <a:ea typeface="ＭＳ Ｐゴシック" charset="0"/>
                  </a:rPr>
                  <a:t>TCP</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physical</a:t>
                </a:r>
              </a:p>
            </p:txBody>
          </p:sp>
          <p:grpSp>
            <p:nvGrpSpPr>
              <p:cNvPr id="102" name="Group 190">
                <a:extLst>
                  <a:ext uri="{FF2B5EF4-FFF2-40B4-BE49-F238E27FC236}">
                    <a16:creationId xmlns:a16="http://schemas.microsoft.com/office/drawing/2014/main" id="{1CF8606E-A42E-CFFF-7C3E-5579AF0CB849}"/>
                  </a:ext>
                </a:extLst>
              </p:cNvPr>
              <p:cNvGrpSpPr>
                <a:grpSpLocks/>
              </p:cNvGrpSpPr>
              <p:nvPr/>
            </p:nvGrpSpPr>
            <p:grpSpPr bwMode="auto">
              <a:xfrm flipH="1">
                <a:off x="2634682" y="5076164"/>
                <a:ext cx="673330" cy="701684"/>
                <a:chOff x="-44" y="1473"/>
                <a:chExt cx="981" cy="1105"/>
              </a:xfrm>
            </p:grpSpPr>
            <p:pic>
              <p:nvPicPr>
                <p:cNvPr id="106" name="Picture 191" descr="desktop_computer_stylized_medium">
                  <a:extLst>
                    <a:ext uri="{FF2B5EF4-FFF2-40B4-BE49-F238E27FC236}">
                      <a16:creationId xmlns:a16="http://schemas.microsoft.com/office/drawing/2014/main" id="{39998475-04C7-3B4F-12DB-D789DB5348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 name="Freeform 192">
                  <a:extLst>
                    <a:ext uri="{FF2B5EF4-FFF2-40B4-BE49-F238E27FC236}">
                      <a16:creationId xmlns:a16="http://schemas.microsoft.com/office/drawing/2014/main" id="{476B817F-3ED5-C4A1-EC3B-DF287E0AB7E7}"/>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03" name="Line 25">
                <a:extLst>
                  <a:ext uri="{FF2B5EF4-FFF2-40B4-BE49-F238E27FC236}">
                    <a16:creationId xmlns:a16="http://schemas.microsoft.com/office/drawing/2014/main" id="{4AE9F1DA-F031-356E-8D70-B131F2312C0B}"/>
                  </a:ext>
                </a:extLst>
              </p:cNvPr>
              <p:cNvSpPr>
                <a:spLocks noChangeShapeType="1"/>
              </p:cNvSpPr>
              <p:nvPr/>
            </p:nvSpPr>
            <p:spPr bwMode="auto">
              <a:xfrm>
                <a:off x="1345720" y="52602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4" name="Line 25">
                <a:extLst>
                  <a:ext uri="{FF2B5EF4-FFF2-40B4-BE49-F238E27FC236}">
                    <a16:creationId xmlns:a16="http://schemas.microsoft.com/office/drawing/2014/main" id="{CF504AD7-DA9C-0D21-1654-5B998FBF429B}"/>
                  </a:ext>
                </a:extLst>
              </p:cNvPr>
              <p:cNvSpPr>
                <a:spLocks noChangeShapeType="1"/>
              </p:cNvSpPr>
              <p:nvPr/>
            </p:nvSpPr>
            <p:spPr bwMode="auto">
              <a:xfrm>
                <a:off x="1350191" y="54891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5" name="Line 25">
                <a:extLst>
                  <a:ext uri="{FF2B5EF4-FFF2-40B4-BE49-F238E27FC236}">
                    <a16:creationId xmlns:a16="http://schemas.microsoft.com/office/drawing/2014/main" id="{0EED4278-E0CC-15EE-D04F-529EB7334066}"/>
                  </a:ext>
                </a:extLst>
              </p:cNvPr>
              <p:cNvSpPr>
                <a:spLocks noChangeShapeType="1"/>
              </p:cNvSpPr>
              <p:nvPr/>
            </p:nvSpPr>
            <p:spPr bwMode="auto">
              <a:xfrm>
                <a:off x="1354662" y="57282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sp>
        <p:nvSpPr>
          <p:cNvPr id="108" name="Freeform 7">
            <a:extLst>
              <a:ext uri="{FF2B5EF4-FFF2-40B4-BE49-F238E27FC236}">
                <a16:creationId xmlns:a16="http://schemas.microsoft.com/office/drawing/2014/main" id="{25E01AFA-BE38-135A-A063-665CABD811D3}"/>
              </a:ext>
            </a:extLst>
          </p:cNvPr>
          <p:cNvSpPr>
            <a:spLocks/>
          </p:cNvSpPr>
          <p:nvPr/>
        </p:nvSpPr>
        <p:spPr bwMode="auto">
          <a:xfrm>
            <a:off x="3978363" y="3667106"/>
            <a:ext cx="5073926" cy="1202035"/>
          </a:xfrm>
          <a:custGeom>
            <a:avLst/>
            <a:gdLst>
              <a:gd name="T0" fmla="*/ 0 w 5156094"/>
              <a:gd name="T1" fmla="*/ 0 h 1509215"/>
              <a:gd name="T2" fmla="*/ 6961 w 5156094"/>
              <a:gd name="T3" fmla="*/ 1168047 h 1509215"/>
              <a:gd name="T4" fmla="*/ 1131015 w 5156094"/>
              <a:gd name="T5" fmla="*/ 1170389 h 1509215"/>
              <a:gd name="T6" fmla="*/ 1755021 w 5156094"/>
              <a:gd name="T7" fmla="*/ 1490285 h 1509215"/>
              <a:gd name="T8" fmla="*/ 2207298 w 5156094"/>
              <a:gd name="T9" fmla="*/ 1510706 h 1509215"/>
              <a:gd name="T10" fmla="*/ 2988945 w 5156094"/>
              <a:gd name="T11" fmla="*/ 1198737 h 1509215"/>
              <a:gd name="T12" fmla="*/ 3391674 w 5156094"/>
              <a:gd name="T13" fmla="*/ 1210330 h 1509215"/>
              <a:gd name="T14" fmla="*/ 5156412 w 5156094"/>
              <a:gd name="T15" fmla="*/ 1199641 h 1509215"/>
              <a:gd name="T16" fmla="*/ 5126696 w 5156094"/>
              <a:gd name="T17" fmla="*/ 64147 h 15092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207163 w 5156094"/>
              <a:gd name="connsiteY4" fmla="*/ 1509215 h 1559667"/>
              <a:gd name="connsiteX5" fmla="*/ 2988762 w 5156094"/>
              <a:gd name="connsiteY5" fmla="*/ 1197554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88762 w 5156094"/>
              <a:gd name="connsiteY5" fmla="*/ 1197554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30257 w 5156094"/>
              <a:gd name="connsiteY5" fmla="*/ 1152811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30257 w 5156094"/>
              <a:gd name="connsiteY5" fmla="*/ 1152811 h 1559667"/>
              <a:gd name="connsiteX6" fmla="*/ 5156094 w 5156094"/>
              <a:gd name="connsiteY6" fmla="*/ 1198456 h 1559667"/>
              <a:gd name="connsiteX7" fmla="*/ 5126381 w 5156094"/>
              <a:gd name="connsiteY7" fmla="*/ 64084 h 1559667"/>
              <a:gd name="connsiteX0" fmla="*/ 0 w 5156094"/>
              <a:gd name="connsiteY0" fmla="*/ 0 h 1559667"/>
              <a:gd name="connsiteX1" fmla="*/ 6961 w 5156094"/>
              <a:gd name="connsiteY1" fmla="*/ 1166894 h 1559667"/>
              <a:gd name="connsiteX2" fmla="*/ 1387547 w 5156094"/>
              <a:gd name="connsiteY2" fmla="*/ 1150854 h 1559667"/>
              <a:gd name="connsiteX3" fmla="*/ 1824854 w 5156094"/>
              <a:gd name="connsiteY3" fmla="*/ 1559667 h 1559667"/>
              <a:gd name="connsiteX4" fmla="*/ 2145216 w 5156094"/>
              <a:gd name="connsiteY4" fmla="*/ 1553959 h 1559667"/>
              <a:gd name="connsiteX5" fmla="*/ 2930257 w 5156094"/>
              <a:gd name="connsiteY5" fmla="*/ 1152811 h 1559667"/>
              <a:gd name="connsiteX6" fmla="*/ 5156094 w 5156094"/>
              <a:gd name="connsiteY6" fmla="*/ 1198456 h 1559667"/>
              <a:gd name="connsiteX7" fmla="*/ 5126381 w 5156094"/>
              <a:gd name="connsiteY7" fmla="*/ 64084 h 1559667"/>
              <a:gd name="connsiteX0" fmla="*/ 0 w 5156094"/>
              <a:gd name="connsiteY0" fmla="*/ 0 h 1553959"/>
              <a:gd name="connsiteX1" fmla="*/ 6961 w 5156094"/>
              <a:gd name="connsiteY1" fmla="*/ 1166894 h 1553959"/>
              <a:gd name="connsiteX2" fmla="*/ 1387547 w 5156094"/>
              <a:gd name="connsiteY2" fmla="*/ 1150854 h 1553959"/>
              <a:gd name="connsiteX3" fmla="*/ 1824854 w 5156094"/>
              <a:gd name="connsiteY3" fmla="*/ 1458577 h 1553959"/>
              <a:gd name="connsiteX4" fmla="*/ 2145216 w 5156094"/>
              <a:gd name="connsiteY4" fmla="*/ 1553959 h 1553959"/>
              <a:gd name="connsiteX5" fmla="*/ 2930257 w 5156094"/>
              <a:gd name="connsiteY5" fmla="*/ 1152811 h 1553959"/>
              <a:gd name="connsiteX6" fmla="*/ 5156094 w 5156094"/>
              <a:gd name="connsiteY6" fmla="*/ 1198456 h 1553959"/>
              <a:gd name="connsiteX7" fmla="*/ 5126381 w 5156094"/>
              <a:gd name="connsiteY7" fmla="*/ 64084 h 1553959"/>
              <a:gd name="connsiteX0" fmla="*/ 0 w 5156094"/>
              <a:gd name="connsiteY0" fmla="*/ 0 h 1458577"/>
              <a:gd name="connsiteX1" fmla="*/ 6961 w 5156094"/>
              <a:gd name="connsiteY1" fmla="*/ 1166894 h 1458577"/>
              <a:gd name="connsiteX2" fmla="*/ 1387547 w 5156094"/>
              <a:gd name="connsiteY2" fmla="*/ 1150854 h 1458577"/>
              <a:gd name="connsiteX3" fmla="*/ 1824854 w 5156094"/>
              <a:gd name="connsiteY3" fmla="*/ 1458577 h 1458577"/>
              <a:gd name="connsiteX4" fmla="*/ 2145216 w 5156094"/>
              <a:gd name="connsiteY4" fmla="*/ 1434487 h 1458577"/>
              <a:gd name="connsiteX5" fmla="*/ 2930257 w 5156094"/>
              <a:gd name="connsiteY5" fmla="*/ 1152811 h 1458577"/>
              <a:gd name="connsiteX6" fmla="*/ 5156094 w 5156094"/>
              <a:gd name="connsiteY6" fmla="*/ 1198456 h 1458577"/>
              <a:gd name="connsiteX7" fmla="*/ 5126381 w 5156094"/>
              <a:gd name="connsiteY7" fmla="*/ 64084 h 1458577"/>
              <a:gd name="connsiteX0" fmla="*/ 0 w 5156094"/>
              <a:gd name="connsiteY0" fmla="*/ 0 h 1458577"/>
              <a:gd name="connsiteX1" fmla="*/ 6961 w 5156094"/>
              <a:gd name="connsiteY1" fmla="*/ 1166894 h 1458577"/>
              <a:gd name="connsiteX2" fmla="*/ 1387547 w 5156094"/>
              <a:gd name="connsiteY2" fmla="*/ 1150854 h 1458577"/>
              <a:gd name="connsiteX3" fmla="*/ 1824854 w 5156094"/>
              <a:gd name="connsiteY3" fmla="*/ 1458577 h 1458577"/>
              <a:gd name="connsiteX4" fmla="*/ 2145216 w 5156094"/>
              <a:gd name="connsiteY4" fmla="*/ 1434487 h 1458577"/>
              <a:gd name="connsiteX5" fmla="*/ 2809732 w 5156094"/>
              <a:gd name="connsiteY5" fmla="*/ 1093074 h 1458577"/>
              <a:gd name="connsiteX6" fmla="*/ 5156094 w 5156094"/>
              <a:gd name="connsiteY6" fmla="*/ 1198456 h 1458577"/>
              <a:gd name="connsiteX7" fmla="*/ 5126381 w 5156094"/>
              <a:gd name="connsiteY7" fmla="*/ 64084 h 1458577"/>
              <a:gd name="connsiteX0" fmla="*/ 0 w 5156094"/>
              <a:gd name="connsiteY0" fmla="*/ 0 h 1458577"/>
              <a:gd name="connsiteX1" fmla="*/ 6961 w 5156094"/>
              <a:gd name="connsiteY1" fmla="*/ 1166894 h 1458577"/>
              <a:gd name="connsiteX2" fmla="*/ 1387547 w 5156094"/>
              <a:gd name="connsiteY2" fmla="*/ 1150854 h 1458577"/>
              <a:gd name="connsiteX3" fmla="*/ 1824854 w 5156094"/>
              <a:gd name="connsiteY3" fmla="*/ 1458577 h 1458577"/>
              <a:gd name="connsiteX4" fmla="*/ 2063570 w 5156094"/>
              <a:gd name="connsiteY4" fmla="*/ 1443677 h 1458577"/>
              <a:gd name="connsiteX5" fmla="*/ 2809732 w 5156094"/>
              <a:gd name="connsiteY5" fmla="*/ 1093074 h 1458577"/>
              <a:gd name="connsiteX6" fmla="*/ 5156094 w 5156094"/>
              <a:gd name="connsiteY6" fmla="*/ 1198456 h 1458577"/>
              <a:gd name="connsiteX7" fmla="*/ 5126381 w 5156094"/>
              <a:gd name="connsiteY7" fmla="*/ 64084 h 1458577"/>
              <a:gd name="connsiteX0" fmla="*/ 0 w 5156094"/>
              <a:gd name="connsiteY0" fmla="*/ 0 h 1443677"/>
              <a:gd name="connsiteX1" fmla="*/ 6961 w 5156094"/>
              <a:gd name="connsiteY1" fmla="*/ 1166894 h 1443677"/>
              <a:gd name="connsiteX2" fmla="*/ 1387547 w 5156094"/>
              <a:gd name="connsiteY2" fmla="*/ 1150854 h 1443677"/>
              <a:gd name="connsiteX3" fmla="*/ 1832629 w 5156094"/>
              <a:gd name="connsiteY3" fmla="*/ 1440196 h 1443677"/>
              <a:gd name="connsiteX4" fmla="*/ 2063570 w 5156094"/>
              <a:gd name="connsiteY4" fmla="*/ 1443677 h 1443677"/>
              <a:gd name="connsiteX5" fmla="*/ 2809732 w 5156094"/>
              <a:gd name="connsiteY5" fmla="*/ 1093074 h 1443677"/>
              <a:gd name="connsiteX6" fmla="*/ 5156094 w 5156094"/>
              <a:gd name="connsiteY6" fmla="*/ 1198456 h 1443677"/>
              <a:gd name="connsiteX7" fmla="*/ 5126381 w 5156094"/>
              <a:gd name="connsiteY7" fmla="*/ 64084 h 144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56094" h="1443677">
                <a:moveTo>
                  <a:pt x="0" y="0"/>
                </a:moveTo>
                <a:cubicBezTo>
                  <a:pt x="2320" y="388965"/>
                  <a:pt x="4641" y="777929"/>
                  <a:pt x="6961" y="1166894"/>
                </a:cubicBezTo>
                <a:lnTo>
                  <a:pt x="1387547" y="1150854"/>
                </a:lnTo>
                <a:lnTo>
                  <a:pt x="1832629" y="1440196"/>
                </a:lnTo>
                <a:lnTo>
                  <a:pt x="2063570" y="1443677"/>
                </a:lnTo>
                <a:lnTo>
                  <a:pt x="2809732" y="1093074"/>
                </a:lnTo>
                <a:lnTo>
                  <a:pt x="5156094" y="1198456"/>
                </a:lnTo>
                <a:lnTo>
                  <a:pt x="5126381" y="64084"/>
                </a:lnTo>
              </a:path>
            </a:pathLst>
          </a:custGeom>
          <a:noFill/>
          <a:ln w="22225">
            <a:solidFill>
              <a:srgbClr val="000090"/>
            </a:solidFill>
            <a:round/>
            <a:headEnd/>
            <a:tailEnd/>
          </a:ln>
          <a:extLst>
            <a:ext uri="{909E8E84-426E-40DD-AFC4-6F175D3DCCD1}">
              <a14:hiddenFill xmlns:a14="http://schemas.microsoft.com/office/drawing/2010/main">
                <a:solidFill>
                  <a:srgbClr val="FFFFFF"/>
                </a:solidFill>
              </a14:hiddenFill>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9" name="TextBox 123">
            <a:extLst>
              <a:ext uri="{FF2B5EF4-FFF2-40B4-BE49-F238E27FC236}">
                <a16:creationId xmlns:a16="http://schemas.microsoft.com/office/drawing/2014/main" id="{4B87F918-EC57-03F1-1E89-0CB7332D99CD}"/>
              </a:ext>
            </a:extLst>
          </p:cNvPr>
          <p:cNvSpPr txBox="1"/>
          <p:nvPr/>
        </p:nvSpPr>
        <p:spPr>
          <a:xfrm>
            <a:off x="5341310" y="5520468"/>
            <a:ext cx="2646878"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C00000"/>
                </a:solidFill>
                <a:effectLst/>
                <a:uLnTx/>
                <a:uFillTx/>
                <a:latin typeface="华文仿宋" panose="02010600040101010101" pitchFamily="2" charset="-122"/>
                <a:ea typeface="华文仿宋" panose="02010600040101010101" pitchFamily="2" charset="-122"/>
              </a:rPr>
              <a:t>瓶颈链路（几乎总是忙碌）</a:t>
            </a:r>
            <a:endParaRPr kumimoji="0" lang="en-US" sz="1600" b="0" i="0" u="none" strike="noStrike" kern="1200" cap="none" spc="0" normalizeH="0" baseline="0" noProof="0" dirty="0">
              <a:ln>
                <a:noFill/>
              </a:ln>
              <a:solidFill>
                <a:srgbClr val="C00000"/>
              </a:solidFill>
              <a:effectLst/>
              <a:uLnTx/>
              <a:uFillTx/>
              <a:latin typeface="华文仿宋" panose="02010600040101010101" pitchFamily="2" charset="-122"/>
              <a:ea typeface="华文仿宋" panose="02010600040101010101" pitchFamily="2" charset="-122"/>
            </a:endParaRPr>
          </a:p>
        </p:txBody>
      </p:sp>
      <p:cxnSp>
        <p:nvCxnSpPr>
          <p:cNvPr id="110" name="Straight Connector 9">
            <a:extLst>
              <a:ext uri="{FF2B5EF4-FFF2-40B4-BE49-F238E27FC236}">
                <a16:creationId xmlns:a16="http://schemas.microsoft.com/office/drawing/2014/main" id="{DB12B90A-9FA7-FF63-AF68-7BA2FFDA9C3D}"/>
              </a:ext>
            </a:extLst>
          </p:cNvPr>
          <p:cNvCxnSpPr>
            <a:cxnSpLocks/>
          </p:cNvCxnSpPr>
          <p:nvPr/>
        </p:nvCxnSpPr>
        <p:spPr>
          <a:xfrm>
            <a:off x="6258260" y="5010981"/>
            <a:ext cx="0" cy="56627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11" name="Group 19">
            <a:extLst>
              <a:ext uri="{FF2B5EF4-FFF2-40B4-BE49-F238E27FC236}">
                <a16:creationId xmlns:a16="http://schemas.microsoft.com/office/drawing/2014/main" id="{5DB8E48B-A133-EBF5-27B0-3F008DB49A85}"/>
              </a:ext>
            </a:extLst>
          </p:cNvPr>
          <p:cNvGrpSpPr/>
          <p:nvPr/>
        </p:nvGrpSpPr>
        <p:grpSpPr>
          <a:xfrm>
            <a:off x="1510163" y="4515321"/>
            <a:ext cx="4763156" cy="584775"/>
            <a:chOff x="705145" y="5383177"/>
            <a:chExt cx="4763156" cy="584775"/>
          </a:xfrm>
        </p:grpSpPr>
        <p:sp>
          <p:nvSpPr>
            <p:cNvPr id="112" name="TextBox 134">
              <a:extLst>
                <a:ext uri="{FF2B5EF4-FFF2-40B4-BE49-F238E27FC236}">
                  <a16:creationId xmlns:a16="http://schemas.microsoft.com/office/drawing/2014/main" id="{170BB666-96F1-E63E-6A9C-603C9CDB00E3}"/>
                </a:ext>
              </a:extLst>
            </p:cNvPr>
            <p:cNvSpPr txBox="1"/>
            <p:nvPr/>
          </p:nvSpPr>
          <p:spPr>
            <a:xfrm>
              <a:off x="705145" y="5383177"/>
              <a:ext cx="2330267"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C00000"/>
                  </a:solidFill>
                  <a:effectLst/>
                  <a:uLnTx/>
                  <a:uFillTx/>
                  <a:latin typeface="华文仿宋" panose="02010600040101010101" pitchFamily="2" charset="-122"/>
                  <a:ea typeface="华文仿宋" panose="02010600040101010101" pitchFamily="2" charset="-122"/>
                </a:rPr>
                <a:t>输出队列几乎从不为空，有时会丢包</a:t>
              </a:r>
              <a:endParaRPr kumimoji="0" lang="en-US" sz="1600" b="0" i="0" u="none" strike="noStrike" kern="1200" cap="none" spc="0" normalizeH="0" baseline="0" noProof="0" dirty="0">
                <a:ln>
                  <a:noFill/>
                </a:ln>
                <a:solidFill>
                  <a:srgbClr val="C00000"/>
                </a:solidFill>
                <a:effectLst/>
                <a:uLnTx/>
                <a:uFillTx/>
                <a:latin typeface="华文仿宋" panose="02010600040101010101" pitchFamily="2" charset="-122"/>
                <a:ea typeface="华文仿宋" panose="02010600040101010101" pitchFamily="2" charset="-122"/>
              </a:endParaRPr>
            </a:p>
          </p:txBody>
        </p:sp>
        <p:grpSp>
          <p:nvGrpSpPr>
            <p:cNvPr id="113" name="Group 18">
              <a:extLst>
                <a:ext uri="{FF2B5EF4-FFF2-40B4-BE49-F238E27FC236}">
                  <a16:creationId xmlns:a16="http://schemas.microsoft.com/office/drawing/2014/main" id="{E8598F5D-1813-F3C2-1051-F87CA5D116F3}"/>
                </a:ext>
              </a:extLst>
            </p:cNvPr>
            <p:cNvGrpSpPr/>
            <p:nvPr/>
          </p:nvGrpSpPr>
          <p:grpSpPr>
            <a:xfrm>
              <a:off x="4921820" y="5505951"/>
              <a:ext cx="546481" cy="386071"/>
              <a:chOff x="4621648" y="3046041"/>
              <a:chExt cx="1120964" cy="769030"/>
            </a:xfrm>
          </p:grpSpPr>
          <p:grpSp>
            <p:nvGrpSpPr>
              <p:cNvPr id="115" name="Group 58">
                <a:extLst>
                  <a:ext uri="{FF2B5EF4-FFF2-40B4-BE49-F238E27FC236}">
                    <a16:creationId xmlns:a16="http://schemas.microsoft.com/office/drawing/2014/main" id="{A2B3F436-6BA7-622C-8EEE-C05A36A773F7}"/>
                  </a:ext>
                </a:extLst>
              </p:cNvPr>
              <p:cNvGrpSpPr>
                <a:grpSpLocks/>
              </p:cNvGrpSpPr>
              <p:nvPr/>
            </p:nvGrpSpPr>
            <p:grpSpPr bwMode="auto">
              <a:xfrm>
                <a:off x="5247312" y="3046041"/>
                <a:ext cx="495300" cy="760413"/>
                <a:chOff x="333961" y="4406169"/>
                <a:chExt cx="1255305" cy="2136353"/>
              </a:xfrm>
            </p:grpSpPr>
            <p:sp>
              <p:nvSpPr>
                <p:cNvPr id="128" name="Freeform 199">
                  <a:extLst>
                    <a:ext uri="{FF2B5EF4-FFF2-40B4-BE49-F238E27FC236}">
                      <a16:creationId xmlns:a16="http://schemas.microsoft.com/office/drawing/2014/main" id="{C7F6F92E-9F23-B222-4BAE-FCE6BC8483D3}"/>
                    </a:ext>
                  </a:extLst>
                </p:cNvPr>
                <p:cNvSpPr/>
                <p:nvPr/>
              </p:nvSpPr>
              <p:spPr>
                <a:xfrm>
                  <a:off x="333961" y="4406169"/>
                  <a:ext cx="969641" cy="213635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C000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华文仿宋" panose="02010600040101010101" pitchFamily="2" charset="-122"/>
                    <a:ea typeface="华文仿宋" panose="02010600040101010101" pitchFamily="2" charset="-122"/>
                  </a:endParaRPr>
                </a:p>
              </p:txBody>
            </p:sp>
            <p:sp>
              <p:nvSpPr>
                <p:cNvPr id="129" name="Freeform 200">
                  <a:extLst>
                    <a:ext uri="{FF2B5EF4-FFF2-40B4-BE49-F238E27FC236}">
                      <a16:creationId xmlns:a16="http://schemas.microsoft.com/office/drawing/2014/main" id="{E210F94B-721D-B02A-2985-545C3D9962D0}"/>
                    </a:ext>
                  </a:extLst>
                </p:cNvPr>
                <p:cNvSpPr/>
                <p:nvPr/>
              </p:nvSpPr>
              <p:spPr>
                <a:xfrm>
                  <a:off x="350055" y="4410631"/>
                  <a:ext cx="1239211" cy="77158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华文仿宋" panose="02010600040101010101" pitchFamily="2" charset="-122"/>
                    <a:ea typeface="华文仿宋" panose="02010600040101010101" pitchFamily="2" charset="-122"/>
                  </a:endParaRPr>
                </a:p>
              </p:txBody>
            </p:sp>
            <p:sp>
              <p:nvSpPr>
                <p:cNvPr id="130" name="Rectangle 68">
                  <a:extLst>
                    <a:ext uri="{FF2B5EF4-FFF2-40B4-BE49-F238E27FC236}">
                      <a16:creationId xmlns:a16="http://schemas.microsoft.com/office/drawing/2014/main" id="{F18CC2CF-0A7C-5B2F-57EB-5AD12E1E47A6}"/>
                    </a:ext>
                  </a:extLst>
                </p:cNvPr>
                <p:cNvSpPr>
                  <a:spLocks noChangeArrowheads="1"/>
                </p:cNvSpPr>
                <p:nvPr/>
              </p:nvSpPr>
              <p:spPr bwMode="auto">
                <a:xfrm>
                  <a:off x="1289719" y="5166823"/>
                  <a:ext cx="289686" cy="1351386"/>
                </a:xfrm>
                <a:prstGeom prst="rect">
                  <a:avLst/>
                </a:prstGeom>
                <a:solidFill>
                  <a:srgbClr val="E4000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srgbClr val="FFFFFF"/>
                    </a:solidFill>
                    <a:effectLst/>
                    <a:uLnTx/>
                    <a:uFillTx/>
                    <a:latin typeface="华文仿宋" panose="02010600040101010101" pitchFamily="2" charset="-122"/>
                    <a:ea typeface="华文仿宋" panose="02010600040101010101" pitchFamily="2" charset="-122"/>
                  </a:endParaRPr>
                </a:p>
              </p:txBody>
            </p:sp>
          </p:grpSp>
          <p:grpSp>
            <p:nvGrpSpPr>
              <p:cNvPr id="116" name="Group 58">
                <a:extLst>
                  <a:ext uri="{FF2B5EF4-FFF2-40B4-BE49-F238E27FC236}">
                    <a16:creationId xmlns:a16="http://schemas.microsoft.com/office/drawing/2014/main" id="{70AC5A81-6092-8F84-9C05-3BF52BB18FF1}"/>
                  </a:ext>
                </a:extLst>
              </p:cNvPr>
              <p:cNvGrpSpPr>
                <a:grpSpLocks/>
              </p:cNvGrpSpPr>
              <p:nvPr/>
            </p:nvGrpSpPr>
            <p:grpSpPr bwMode="auto">
              <a:xfrm>
                <a:off x="5041006" y="3051076"/>
                <a:ext cx="495300" cy="760413"/>
                <a:chOff x="333961" y="4406169"/>
                <a:chExt cx="1255305" cy="2136353"/>
              </a:xfrm>
            </p:grpSpPr>
            <p:sp>
              <p:nvSpPr>
                <p:cNvPr id="125" name="Freeform 151">
                  <a:extLst>
                    <a:ext uri="{FF2B5EF4-FFF2-40B4-BE49-F238E27FC236}">
                      <a16:creationId xmlns:a16="http://schemas.microsoft.com/office/drawing/2014/main" id="{5C79DDFB-A6F1-9AF2-F034-AD0C259F5D55}"/>
                    </a:ext>
                  </a:extLst>
                </p:cNvPr>
                <p:cNvSpPr/>
                <p:nvPr/>
              </p:nvSpPr>
              <p:spPr>
                <a:xfrm>
                  <a:off x="333961" y="4406169"/>
                  <a:ext cx="969641" cy="213635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C000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华文仿宋" panose="02010600040101010101" pitchFamily="2" charset="-122"/>
                    <a:ea typeface="华文仿宋" panose="02010600040101010101" pitchFamily="2" charset="-122"/>
                  </a:endParaRPr>
                </a:p>
              </p:txBody>
            </p:sp>
            <p:sp>
              <p:nvSpPr>
                <p:cNvPr id="126" name="Freeform 152">
                  <a:extLst>
                    <a:ext uri="{FF2B5EF4-FFF2-40B4-BE49-F238E27FC236}">
                      <a16:creationId xmlns:a16="http://schemas.microsoft.com/office/drawing/2014/main" id="{A2C6FA36-E58D-FBF8-3075-47F5B9051B48}"/>
                    </a:ext>
                  </a:extLst>
                </p:cNvPr>
                <p:cNvSpPr/>
                <p:nvPr/>
              </p:nvSpPr>
              <p:spPr>
                <a:xfrm>
                  <a:off x="350055" y="4410631"/>
                  <a:ext cx="1239211" cy="77158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华文仿宋" panose="02010600040101010101" pitchFamily="2" charset="-122"/>
                    <a:ea typeface="华文仿宋" panose="02010600040101010101" pitchFamily="2" charset="-122"/>
                  </a:endParaRPr>
                </a:p>
              </p:txBody>
            </p:sp>
            <p:sp>
              <p:nvSpPr>
                <p:cNvPr id="127" name="Rectangle 68">
                  <a:extLst>
                    <a:ext uri="{FF2B5EF4-FFF2-40B4-BE49-F238E27FC236}">
                      <a16:creationId xmlns:a16="http://schemas.microsoft.com/office/drawing/2014/main" id="{DA3F1692-6917-4C75-9E73-4FD9C7891509}"/>
                    </a:ext>
                  </a:extLst>
                </p:cNvPr>
                <p:cNvSpPr>
                  <a:spLocks noChangeArrowheads="1"/>
                </p:cNvSpPr>
                <p:nvPr/>
              </p:nvSpPr>
              <p:spPr bwMode="auto">
                <a:xfrm>
                  <a:off x="1289719" y="5166823"/>
                  <a:ext cx="289686" cy="1351386"/>
                </a:xfrm>
                <a:prstGeom prst="rect">
                  <a:avLst/>
                </a:prstGeom>
                <a:solidFill>
                  <a:srgbClr val="E4000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srgbClr val="FFFFFF"/>
                    </a:solidFill>
                    <a:effectLst/>
                    <a:uLnTx/>
                    <a:uFillTx/>
                    <a:latin typeface="华文仿宋" panose="02010600040101010101" pitchFamily="2" charset="-122"/>
                    <a:ea typeface="华文仿宋" panose="02010600040101010101" pitchFamily="2" charset="-122"/>
                  </a:endParaRPr>
                </a:p>
              </p:txBody>
            </p:sp>
          </p:grpSp>
          <p:grpSp>
            <p:nvGrpSpPr>
              <p:cNvPr id="117" name="Group 61">
                <a:extLst>
                  <a:ext uri="{FF2B5EF4-FFF2-40B4-BE49-F238E27FC236}">
                    <a16:creationId xmlns:a16="http://schemas.microsoft.com/office/drawing/2014/main" id="{0538AD71-F267-632A-7777-860A68F3A001}"/>
                  </a:ext>
                </a:extLst>
              </p:cNvPr>
              <p:cNvGrpSpPr>
                <a:grpSpLocks/>
              </p:cNvGrpSpPr>
              <p:nvPr/>
            </p:nvGrpSpPr>
            <p:grpSpPr bwMode="auto">
              <a:xfrm>
                <a:off x="4816091" y="3049780"/>
                <a:ext cx="494208" cy="761128"/>
                <a:chOff x="335231" y="4405745"/>
                <a:chExt cx="1252537" cy="2138362"/>
              </a:xfrm>
            </p:grpSpPr>
            <p:sp>
              <p:nvSpPr>
                <p:cNvPr id="122" name="Freeform 148">
                  <a:extLst>
                    <a:ext uri="{FF2B5EF4-FFF2-40B4-BE49-F238E27FC236}">
                      <a16:creationId xmlns:a16="http://schemas.microsoft.com/office/drawing/2014/main" id="{CBD2DFAC-50FF-42B7-BF68-F0BBAB477E5E}"/>
                    </a:ext>
                  </a:extLst>
                </p:cNvPr>
                <p:cNvSpPr/>
                <p:nvPr/>
              </p:nvSpPr>
              <p:spPr>
                <a:xfrm>
                  <a:off x="335231" y="4406992"/>
                  <a:ext cx="965619" cy="2136350"/>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C000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华文仿宋" panose="02010600040101010101" pitchFamily="2" charset="-122"/>
                    <a:ea typeface="华文仿宋" panose="02010600040101010101" pitchFamily="2" charset="-122"/>
                  </a:endParaRPr>
                </a:p>
              </p:txBody>
            </p:sp>
            <p:sp>
              <p:nvSpPr>
                <p:cNvPr id="123" name="Freeform 149">
                  <a:extLst>
                    <a:ext uri="{FF2B5EF4-FFF2-40B4-BE49-F238E27FC236}">
                      <a16:creationId xmlns:a16="http://schemas.microsoft.com/office/drawing/2014/main" id="{ACC381D1-D6EC-C6C0-B8AA-21A41B7516B4}"/>
                    </a:ext>
                  </a:extLst>
                </p:cNvPr>
                <p:cNvSpPr/>
                <p:nvPr/>
              </p:nvSpPr>
              <p:spPr>
                <a:xfrm>
                  <a:off x="351325" y="4411451"/>
                  <a:ext cx="1235186" cy="77158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华文仿宋" panose="02010600040101010101" pitchFamily="2" charset="-122"/>
                    <a:ea typeface="华文仿宋" panose="02010600040101010101" pitchFamily="2" charset="-122"/>
                  </a:endParaRPr>
                </a:p>
              </p:txBody>
            </p:sp>
            <p:sp>
              <p:nvSpPr>
                <p:cNvPr id="124" name="Rectangle 65">
                  <a:extLst>
                    <a:ext uri="{FF2B5EF4-FFF2-40B4-BE49-F238E27FC236}">
                      <a16:creationId xmlns:a16="http://schemas.microsoft.com/office/drawing/2014/main" id="{D68FEDC9-87C2-CB63-DCD7-A62B7ACBF90D}"/>
                    </a:ext>
                  </a:extLst>
                </p:cNvPr>
                <p:cNvSpPr>
                  <a:spLocks noChangeArrowheads="1"/>
                </p:cNvSpPr>
                <p:nvPr/>
              </p:nvSpPr>
              <p:spPr bwMode="auto">
                <a:xfrm>
                  <a:off x="1296825" y="5178575"/>
                  <a:ext cx="289686" cy="1351389"/>
                </a:xfrm>
                <a:prstGeom prst="rect">
                  <a:avLst/>
                </a:prstGeom>
                <a:solidFill>
                  <a:srgbClr val="E4000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srgbClr val="FFFFFF"/>
                    </a:solidFill>
                    <a:effectLst/>
                    <a:uLnTx/>
                    <a:uFillTx/>
                    <a:latin typeface="华文仿宋" panose="02010600040101010101" pitchFamily="2" charset="-122"/>
                    <a:ea typeface="华文仿宋" panose="02010600040101010101" pitchFamily="2" charset="-122"/>
                  </a:endParaRPr>
                </a:p>
              </p:txBody>
            </p:sp>
          </p:grpSp>
          <p:grpSp>
            <p:nvGrpSpPr>
              <p:cNvPr id="118" name="Group 61">
                <a:extLst>
                  <a:ext uri="{FF2B5EF4-FFF2-40B4-BE49-F238E27FC236}">
                    <a16:creationId xmlns:a16="http://schemas.microsoft.com/office/drawing/2014/main" id="{13356D32-F6BB-C86A-1D2E-EBDF032DF76E}"/>
                  </a:ext>
                </a:extLst>
              </p:cNvPr>
              <p:cNvGrpSpPr>
                <a:grpSpLocks/>
              </p:cNvGrpSpPr>
              <p:nvPr/>
            </p:nvGrpSpPr>
            <p:grpSpPr bwMode="auto">
              <a:xfrm>
                <a:off x="4621648" y="3053943"/>
                <a:ext cx="494208" cy="761128"/>
                <a:chOff x="335231" y="4405745"/>
                <a:chExt cx="1252537" cy="2138362"/>
              </a:xfrm>
            </p:grpSpPr>
            <p:sp>
              <p:nvSpPr>
                <p:cNvPr id="119" name="Freeform 203">
                  <a:extLst>
                    <a:ext uri="{FF2B5EF4-FFF2-40B4-BE49-F238E27FC236}">
                      <a16:creationId xmlns:a16="http://schemas.microsoft.com/office/drawing/2014/main" id="{6D0260A1-370E-73AE-DE8D-37BA9FFA5122}"/>
                    </a:ext>
                  </a:extLst>
                </p:cNvPr>
                <p:cNvSpPr/>
                <p:nvPr/>
              </p:nvSpPr>
              <p:spPr>
                <a:xfrm>
                  <a:off x="335231" y="4406992"/>
                  <a:ext cx="965619" cy="2136350"/>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C000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华文仿宋" panose="02010600040101010101" pitchFamily="2" charset="-122"/>
                    <a:ea typeface="华文仿宋" panose="02010600040101010101" pitchFamily="2" charset="-122"/>
                  </a:endParaRPr>
                </a:p>
              </p:txBody>
            </p:sp>
            <p:sp>
              <p:nvSpPr>
                <p:cNvPr id="120" name="Freeform 204">
                  <a:extLst>
                    <a:ext uri="{FF2B5EF4-FFF2-40B4-BE49-F238E27FC236}">
                      <a16:creationId xmlns:a16="http://schemas.microsoft.com/office/drawing/2014/main" id="{62046D1B-DB1B-B94A-B3A0-C728D9EF9389}"/>
                    </a:ext>
                  </a:extLst>
                </p:cNvPr>
                <p:cNvSpPr/>
                <p:nvPr/>
              </p:nvSpPr>
              <p:spPr>
                <a:xfrm>
                  <a:off x="351325" y="4411451"/>
                  <a:ext cx="1235186" cy="77158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 lastClr="FFFFFF"/>
                    </a:solidFill>
                    <a:effectLst/>
                    <a:uLnTx/>
                    <a:uFillTx/>
                    <a:latin typeface="华文仿宋" panose="02010600040101010101" pitchFamily="2" charset="-122"/>
                    <a:ea typeface="华文仿宋" panose="02010600040101010101" pitchFamily="2" charset="-122"/>
                  </a:endParaRPr>
                </a:p>
              </p:txBody>
            </p:sp>
            <p:sp>
              <p:nvSpPr>
                <p:cNvPr id="121" name="Rectangle 65">
                  <a:extLst>
                    <a:ext uri="{FF2B5EF4-FFF2-40B4-BE49-F238E27FC236}">
                      <a16:creationId xmlns:a16="http://schemas.microsoft.com/office/drawing/2014/main" id="{57985D6A-89BD-0C25-AFF4-EC6139F3D577}"/>
                    </a:ext>
                  </a:extLst>
                </p:cNvPr>
                <p:cNvSpPr>
                  <a:spLocks noChangeArrowheads="1"/>
                </p:cNvSpPr>
                <p:nvPr/>
              </p:nvSpPr>
              <p:spPr bwMode="auto">
                <a:xfrm>
                  <a:off x="1296825" y="5178575"/>
                  <a:ext cx="289686" cy="1351389"/>
                </a:xfrm>
                <a:prstGeom prst="rect">
                  <a:avLst/>
                </a:prstGeom>
                <a:solidFill>
                  <a:srgbClr val="E4000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srgbClr val="FFFFFF"/>
                    </a:solidFill>
                    <a:effectLst/>
                    <a:uLnTx/>
                    <a:uFillTx/>
                    <a:latin typeface="华文仿宋" panose="02010600040101010101" pitchFamily="2" charset="-122"/>
                    <a:ea typeface="华文仿宋" panose="02010600040101010101" pitchFamily="2" charset="-122"/>
                  </a:endParaRPr>
                </a:p>
              </p:txBody>
            </p:sp>
          </p:grpSp>
        </p:grpSp>
        <p:cxnSp>
          <p:nvCxnSpPr>
            <p:cNvPr id="114" name="Straight Connector 16">
              <a:extLst>
                <a:ext uri="{FF2B5EF4-FFF2-40B4-BE49-F238E27FC236}">
                  <a16:creationId xmlns:a16="http://schemas.microsoft.com/office/drawing/2014/main" id="{5C7C34BA-7DD5-2641-471F-A4E84ADAD8D3}"/>
                </a:ext>
              </a:extLst>
            </p:cNvPr>
            <p:cNvCxnSpPr>
              <a:cxnSpLocks/>
            </p:cNvCxnSpPr>
            <p:nvPr/>
          </p:nvCxnSpPr>
          <p:spPr>
            <a:xfrm flipH="1">
              <a:off x="2972773" y="5696183"/>
              <a:ext cx="193163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1" name="Group 23">
            <a:extLst>
              <a:ext uri="{FF2B5EF4-FFF2-40B4-BE49-F238E27FC236}">
                <a16:creationId xmlns:a16="http://schemas.microsoft.com/office/drawing/2014/main" id="{5B77D53F-551B-63DD-E472-07EC4991BBFA}"/>
              </a:ext>
            </a:extLst>
          </p:cNvPr>
          <p:cNvGrpSpPr/>
          <p:nvPr/>
        </p:nvGrpSpPr>
        <p:grpSpPr>
          <a:xfrm>
            <a:off x="6046253" y="3306771"/>
            <a:ext cx="609600" cy="628987"/>
            <a:chOff x="5486400" y="4101741"/>
            <a:chExt cx="609600" cy="628987"/>
          </a:xfrm>
        </p:grpSpPr>
        <p:sp>
          <p:nvSpPr>
            <p:cNvPr id="132" name="Freeform 10">
              <a:extLst>
                <a:ext uri="{FF2B5EF4-FFF2-40B4-BE49-F238E27FC236}">
                  <a16:creationId xmlns:a16="http://schemas.microsoft.com/office/drawing/2014/main" id="{33139C83-D24C-3E18-D545-5B254666480E}"/>
                </a:ext>
              </a:extLst>
            </p:cNvPr>
            <p:cNvSpPr>
              <a:spLocks/>
            </p:cNvSpPr>
            <p:nvPr/>
          </p:nvSpPr>
          <p:spPr bwMode="auto">
            <a:xfrm flipH="1">
              <a:off x="5658360" y="4102100"/>
              <a:ext cx="176916" cy="454025"/>
            </a:xfrm>
            <a:custGeom>
              <a:avLst/>
              <a:gdLst>
                <a:gd name="T0" fmla="*/ 2147483647 w 12213"/>
                <a:gd name="T1" fmla="*/ 2147483647 h 10000"/>
                <a:gd name="T2" fmla="*/ 0 w 12213"/>
                <a:gd name="T3" fmla="*/ 0 h 10000"/>
                <a:gd name="T4" fmla="*/ 0 w 12213"/>
                <a:gd name="T5" fmla="*/ 2147483647 h 10000"/>
                <a:gd name="T6" fmla="*/ 2147483647 w 12213"/>
                <a:gd name="T7" fmla="*/ 2147483647 h 10000"/>
                <a:gd name="T8" fmla="*/ 2147483647 w 12213"/>
                <a:gd name="T9" fmla="*/ 2147483647 h 10000"/>
                <a:gd name="T10" fmla="*/ 0 60000 65536"/>
                <a:gd name="T11" fmla="*/ 0 60000 65536"/>
                <a:gd name="T12" fmla="*/ 0 60000 65536"/>
                <a:gd name="T13" fmla="*/ 0 60000 65536"/>
                <a:gd name="T14" fmla="*/ 0 60000 65536"/>
                <a:gd name="connsiteX0" fmla="*/ 12224 w 12711"/>
                <a:gd name="connsiteY0" fmla="*/ 4661 h 7743"/>
                <a:gd name="connsiteX1" fmla="*/ 498 w 12711"/>
                <a:gd name="connsiteY1" fmla="*/ 0 h 7743"/>
                <a:gd name="connsiteX2" fmla="*/ 0 w 12711"/>
                <a:gd name="connsiteY2" fmla="*/ 7743 h 7743"/>
                <a:gd name="connsiteX3" fmla="*/ 12711 w 12711"/>
                <a:gd name="connsiteY3" fmla="*/ 6473 h 7743"/>
                <a:gd name="connsiteX4" fmla="*/ 12224 w 12711"/>
                <a:gd name="connsiteY4" fmla="*/ 4661 h 7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 h="7743">
                  <a:moveTo>
                    <a:pt x="12224" y="4661"/>
                  </a:moveTo>
                  <a:lnTo>
                    <a:pt x="498" y="0"/>
                  </a:lnTo>
                  <a:lnTo>
                    <a:pt x="0" y="7743"/>
                  </a:lnTo>
                  <a:lnTo>
                    <a:pt x="12711" y="6473"/>
                  </a:lnTo>
                  <a:lnTo>
                    <a:pt x="12224" y="4661"/>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33" name="Group 190">
              <a:extLst>
                <a:ext uri="{FF2B5EF4-FFF2-40B4-BE49-F238E27FC236}">
                  <a16:creationId xmlns:a16="http://schemas.microsoft.com/office/drawing/2014/main" id="{7E592264-6E44-3839-3478-4BD5188570DA}"/>
                </a:ext>
              </a:extLst>
            </p:cNvPr>
            <p:cNvGrpSpPr>
              <a:grpSpLocks/>
            </p:cNvGrpSpPr>
            <p:nvPr/>
          </p:nvGrpSpPr>
          <p:grpSpPr bwMode="auto">
            <a:xfrm flipH="1">
              <a:off x="5486400" y="4355542"/>
              <a:ext cx="350533" cy="375186"/>
              <a:chOff x="-44" y="1473"/>
              <a:chExt cx="981" cy="1105"/>
            </a:xfrm>
          </p:grpSpPr>
          <p:pic>
            <p:nvPicPr>
              <p:cNvPr id="141" name="Picture 191" descr="desktop_computer_stylized_medium">
                <a:extLst>
                  <a:ext uri="{FF2B5EF4-FFF2-40B4-BE49-F238E27FC236}">
                    <a16:creationId xmlns:a16="http://schemas.microsoft.com/office/drawing/2014/main" id="{C07892C8-ECB2-E325-4E95-36D3951DC3D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 name="Freeform 192">
                <a:extLst>
                  <a:ext uri="{FF2B5EF4-FFF2-40B4-BE49-F238E27FC236}">
                    <a16:creationId xmlns:a16="http://schemas.microsoft.com/office/drawing/2014/main" id="{CECD1AFF-6D2E-2172-BC7C-B74D16FD88C9}"/>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34" name="Group 22">
              <a:extLst>
                <a:ext uri="{FF2B5EF4-FFF2-40B4-BE49-F238E27FC236}">
                  <a16:creationId xmlns:a16="http://schemas.microsoft.com/office/drawing/2014/main" id="{29727B13-1450-D1AA-213A-684FF2FEB5F8}"/>
                </a:ext>
              </a:extLst>
            </p:cNvPr>
            <p:cNvGrpSpPr/>
            <p:nvPr/>
          </p:nvGrpSpPr>
          <p:grpSpPr>
            <a:xfrm>
              <a:off x="5831973" y="4101741"/>
              <a:ext cx="264027" cy="451210"/>
              <a:chOff x="5831973" y="4101740"/>
              <a:chExt cx="295777" cy="502587"/>
            </a:xfrm>
          </p:grpSpPr>
          <p:sp>
            <p:nvSpPr>
              <p:cNvPr id="135" name="Rectangle 24">
                <a:extLst>
                  <a:ext uri="{FF2B5EF4-FFF2-40B4-BE49-F238E27FC236}">
                    <a16:creationId xmlns:a16="http://schemas.microsoft.com/office/drawing/2014/main" id="{5CF9DD64-63B2-BEAE-4580-BCD223B429B9}"/>
                  </a:ext>
                </a:extLst>
              </p:cNvPr>
              <p:cNvSpPr>
                <a:spLocks noChangeArrowheads="1"/>
              </p:cNvSpPr>
              <p:nvPr/>
            </p:nvSpPr>
            <p:spPr bwMode="auto">
              <a:xfrm>
                <a:off x="5831973" y="4101740"/>
                <a:ext cx="295777" cy="502587"/>
              </a:xfrm>
              <a:prstGeom prst="rect">
                <a:avLst/>
              </a:prstGeom>
              <a:solidFill>
                <a:srgbClr val="FFFFFF"/>
              </a:solidFill>
              <a:ln w="9525">
                <a:solidFill>
                  <a:srgbClr val="000000"/>
                </a:solidFill>
                <a:miter lim="800000"/>
                <a:headEnd/>
                <a:tailEnd/>
              </a:ln>
              <a:effectLst>
                <a:outerShdw blurRad="50800" dist="38100" dir="2700000" algn="tl" rotWithShape="0">
                  <a:prstClr val="black">
                    <a:alpha val="40000"/>
                  </a:prstClr>
                </a:outerShdw>
              </a:effec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36" name="Group 21">
                <a:extLst>
                  <a:ext uri="{FF2B5EF4-FFF2-40B4-BE49-F238E27FC236}">
                    <a16:creationId xmlns:a16="http://schemas.microsoft.com/office/drawing/2014/main" id="{8A4A0314-AD26-CD28-AFF9-92CA95B52173}"/>
                  </a:ext>
                </a:extLst>
              </p:cNvPr>
              <p:cNvGrpSpPr/>
              <p:nvPr/>
            </p:nvGrpSpPr>
            <p:grpSpPr>
              <a:xfrm>
                <a:off x="5832475" y="4197350"/>
                <a:ext cx="295275" cy="307975"/>
                <a:chOff x="5832475" y="4197350"/>
                <a:chExt cx="295275" cy="307975"/>
              </a:xfrm>
            </p:grpSpPr>
            <p:cxnSp>
              <p:nvCxnSpPr>
                <p:cNvPr id="137" name="Straight Connector 10">
                  <a:extLst>
                    <a:ext uri="{FF2B5EF4-FFF2-40B4-BE49-F238E27FC236}">
                      <a16:creationId xmlns:a16="http://schemas.microsoft.com/office/drawing/2014/main" id="{9FDB801C-5439-DFFD-BF8D-7E1C973FDD7A}"/>
                    </a:ext>
                  </a:extLst>
                </p:cNvPr>
                <p:cNvCxnSpPr>
                  <a:cxnSpLocks/>
                </p:cNvCxnSpPr>
                <p:nvPr/>
              </p:nvCxnSpPr>
              <p:spPr>
                <a:xfrm>
                  <a:off x="5835650" y="4305300"/>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2">
                  <a:extLst>
                    <a:ext uri="{FF2B5EF4-FFF2-40B4-BE49-F238E27FC236}">
                      <a16:creationId xmlns:a16="http://schemas.microsoft.com/office/drawing/2014/main" id="{04C5A6CB-DC6C-C4A9-BCA0-3E93EB5B4C45}"/>
                    </a:ext>
                  </a:extLst>
                </p:cNvPr>
                <p:cNvCxnSpPr>
                  <a:cxnSpLocks/>
                </p:cNvCxnSpPr>
                <p:nvPr/>
              </p:nvCxnSpPr>
              <p:spPr>
                <a:xfrm>
                  <a:off x="5835650" y="4197350"/>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3">
                  <a:extLst>
                    <a:ext uri="{FF2B5EF4-FFF2-40B4-BE49-F238E27FC236}">
                      <a16:creationId xmlns:a16="http://schemas.microsoft.com/office/drawing/2014/main" id="{4E6B0D31-BB44-D8EF-F2B5-9A4C5B240A81}"/>
                    </a:ext>
                  </a:extLst>
                </p:cNvPr>
                <p:cNvCxnSpPr>
                  <a:cxnSpLocks/>
                </p:cNvCxnSpPr>
                <p:nvPr/>
              </p:nvCxnSpPr>
              <p:spPr>
                <a:xfrm>
                  <a:off x="5832475" y="4413250"/>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5">
                  <a:extLst>
                    <a:ext uri="{FF2B5EF4-FFF2-40B4-BE49-F238E27FC236}">
                      <a16:creationId xmlns:a16="http://schemas.microsoft.com/office/drawing/2014/main" id="{17D6C9B9-E756-909F-2E6A-B6D805D5540C}"/>
                    </a:ext>
                  </a:extLst>
                </p:cNvPr>
                <p:cNvCxnSpPr>
                  <a:cxnSpLocks/>
                </p:cNvCxnSpPr>
                <p:nvPr/>
              </p:nvCxnSpPr>
              <p:spPr>
                <a:xfrm>
                  <a:off x="5832475" y="4505325"/>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43" name="Group 24">
            <a:extLst>
              <a:ext uri="{FF2B5EF4-FFF2-40B4-BE49-F238E27FC236}">
                <a16:creationId xmlns:a16="http://schemas.microsoft.com/office/drawing/2014/main" id="{F42628DF-2D64-8389-AC0B-D54B8FC4F515}"/>
              </a:ext>
            </a:extLst>
          </p:cNvPr>
          <p:cNvGrpSpPr/>
          <p:nvPr/>
        </p:nvGrpSpPr>
        <p:grpSpPr>
          <a:xfrm>
            <a:off x="4279322" y="4995021"/>
            <a:ext cx="719335" cy="546078"/>
            <a:chOff x="6454273" y="3133725"/>
            <a:chExt cx="719335" cy="546078"/>
          </a:xfrm>
        </p:grpSpPr>
        <p:sp>
          <p:nvSpPr>
            <p:cNvPr id="144" name="Freeform 10">
              <a:extLst>
                <a:ext uri="{FF2B5EF4-FFF2-40B4-BE49-F238E27FC236}">
                  <a16:creationId xmlns:a16="http://schemas.microsoft.com/office/drawing/2014/main" id="{0982BEBB-99DA-1F89-447E-686316E44783}"/>
                </a:ext>
              </a:extLst>
            </p:cNvPr>
            <p:cNvSpPr>
              <a:spLocks/>
            </p:cNvSpPr>
            <p:nvPr/>
          </p:nvSpPr>
          <p:spPr bwMode="auto">
            <a:xfrm>
              <a:off x="6709285" y="3133725"/>
              <a:ext cx="176916" cy="454025"/>
            </a:xfrm>
            <a:custGeom>
              <a:avLst/>
              <a:gdLst>
                <a:gd name="T0" fmla="*/ 2147483647 w 12213"/>
                <a:gd name="T1" fmla="*/ 2147483647 h 10000"/>
                <a:gd name="T2" fmla="*/ 0 w 12213"/>
                <a:gd name="T3" fmla="*/ 0 h 10000"/>
                <a:gd name="T4" fmla="*/ 0 w 12213"/>
                <a:gd name="T5" fmla="*/ 2147483647 h 10000"/>
                <a:gd name="T6" fmla="*/ 2147483647 w 12213"/>
                <a:gd name="T7" fmla="*/ 2147483647 h 10000"/>
                <a:gd name="T8" fmla="*/ 2147483647 w 12213"/>
                <a:gd name="T9" fmla="*/ 2147483647 h 10000"/>
                <a:gd name="T10" fmla="*/ 0 60000 65536"/>
                <a:gd name="T11" fmla="*/ 0 60000 65536"/>
                <a:gd name="T12" fmla="*/ 0 60000 65536"/>
                <a:gd name="T13" fmla="*/ 0 60000 65536"/>
                <a:gd name="T14" fmla="*/ 0 60000 65536"/>
                <a:gd name="connsiteX0" fmla="*/ 12224 w 12711"/>
                <a:gd name="connsiteY0" fmla="*/ 4661 h 7743"/>
                <a:gd name="connsiteX1" fmla="*/ 498 w 12711"/>
                <a:gd name="connsiteY1" fmla="*/ 0 h 7743"/>
                <a:gd name="connsiteX2" fmla="*/ 0 w 12711"/>
                <a:gd name="connsiteY2" fmla="*/ 7743 h 7743"/>
                <a:gd name="connsiteX3" fmla="*/ 12711 w 12711"/>
                <a:gd name="connsiteY3" fmla="*/ 6473 h 7743"/>
                <a:gd name="connsiteX4" fmla="*/ 12224 w 12711"/>
                <a:gd name="connsiteY4" fmla="*/ 4661 h 7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 h="7743">
                  <a:moveTo>
                    <a:pt x="12224" y="4661"/>
                  </a:moveTo>
                  <a:lnTo>
                    <a:pt x="498" y="0"/>
                  </a:lnTo>
                  <a:lnTo>
                    <a:pt x="0" y="7743"/>
                  </a:lnTo>
                  <a:lnTo>
                    <a:pt x="12711" y="6473"/>
                  </a:lnTo>
                  <a:lnTo>
                    <a:pt x="12224" y="4661"/>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45" name="Group 190">
              <a:extLst>
                <a:ext uri="{FF2B5EF4-FFF2-40B4-BE49-F238E27FC236}">
                  <a16:creationId xmlns:a16="http://schemas.microsoft.com/office/drawing/2014/main" id="{757B8FDE-EE28-505E-8F97-4D50946F1676}"/>
                </a:ext>
              </a:extLst>
            </p:cNvPr>
            <p:cNvGrpSpPr>
              <a:grpSpLocks/>
            </p:cNvGrpSpPr>
            <p:nvPr/>
          </p:nvGrpSpPr>
          <p:grpSpPr bwMode="auto">
            <a:xfrm flipH="1">
              <a:off x="6823075" y="3304617"/>
              <a:ext cx="350533" cy="375186"/>
              <a:chOff x="-44" y="1473"/>
              <a:chExt cx="981" cy="1105"/>
            </a:xfrm>
          </p:grpSpPr>
          <p:pic>
            <p:nvPicPr>
              <p:cNvPr id="153" name="Picture 191" descr="desktop_computer_stylized_medium">
                <a:extLst>
                  <a:ext uri="{FF2B5EF4-FFF2-40B4-BE49-F238E27FC236}">
                    <a16:creationId xmlns:a16="http://schemas.microsoft.com/office/drawing/2014/main" id="{989DB4DD-23F5-1D7F-F160-BA5882BB8AD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2">
                <a:extLst>
                  <a:ext uri="{FF2B5EF4-FFF2-40B4-BE49-F238E27FC236}">
                    <a16:creationId xmlns:a16="http://schemas.microsoft.com/office/drawing/2014/main" id="{EF61ABF5-DCC0-6B32-50E8-F51E5D96B018}"/>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46" name="Group 158">
              <a:extLst>
                <a:ext uri="{FF2B5EF4-FFF2-40B4-BE49-F238E27FC236}">
                  <a16:creationId xmlns:a16="http://schemas.microsoft.com/office/drawing/2014/main" id="{A0BBE5D4-7AA4-7A80-0509-1DFEA222B60B}"/>
                </a:ext>
              </a:extLst>
            </p:cNvPr>
            <p:cNvGrpSpPr/>
            <p:nvPr/>
          </p:nvGrpSpPr>
          <p:grpSpPr>
            <a:xfrm>
              <a:off x="6454273" y="3142891"/>
              <a:ext cx="264027" cy="451210"/>
              <a:chOff x="5831973" y="4101740"/>
              <a:chExt cx="295777" cy="502587"/>
            </a:xfrm>
          </p:grpSpPr>
          <p:sp>
            <p:nvSpPr>
              <p:cNvPr id="147" name="Rectangle 24">
                <a:extLst>
                  <a:ext uri="{FF2B5EF4-FFF2-40B4-BE49-F238E27FC236}">
                    <a16:creationId xmlns:a16="http://schemas.microsoft.com/office/drawing/2014/main" id="{9E49661F-3998-A53F-F8AD-65772FD93822}"/>
                  </a:ext>
                </a:extLst>
              </p:cNvPr>
              <p:cNvSpPr>
                <a:spLocks noChangeArrowheads="1"/>
              </p:cNvSpPr>
              <p:nvPr/>
            </p:nvSpPr>
            <p:spPr bwMode="auto">
              <a:xfrm>
                <a:off x="5831973" y="4101740"/>
                <a:ext cx="295777" cy="502587"/>
              </a:xfrm>
              <a:prstGeom prst="rect">
                <a:avLst/>
              </a:prstGeom>
              <a:solidFill>
                <a:srgbClr val="FFFFFF"/>
              </a:solidFill>
              <a:ln w="9525">
                <a:solidFill>
                  <a:srgbClr val="000000"/>
                </a:solidFill>
                <a:miter lim="800000"/>
                <a:headEnd/>
                <a:tailEnd/>
              </a:ln>
              <a:effectLst>
                <a:outerShdw blurRad="50800" dist="38100" dir="2700000" algn="tl" rotWithShape="0">
                  <a:prstClr val="black">
                    <a:alpha val="40000"/>
                  </a:prstClr>
                </a:outerShdw>
              </a:effec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48" name="Group 160">
                <a:extLst>
                  <a:ext uri="{FF2B5EF4-FFF2-40B4-BE49-F238E27FC236}">
                    <a16:creationId xmlns:a16="http://schemas.microsoft.com/office/drawing/2014/main" id="{8EF6AD88-E831-522D-F1BC-ABC37F5FA1EA}"/>
                  </a:ext>
                </a:extLst>
              </p:cNvPr>
              <p:cNvGrpSpPr/>
              <p:nvPr/>
            </p:nvGrpSpPr>
            <p:grpSpPr>
              <a:xfrm>
                <a:off x="5832475" y="4197350"/>
                <a:ext cx="295275" cy="307975"/>
                <a:chOff x="5832475" y="4197350"/>
                <a:chExt cx="295275" cy="307975"/>
              </a:xfrm>
            </p:grpSpPr>
            <p:cxnSp>
              <p:nvCxnSpPr>
                <p:cNvPr id="149" name="Straight Connector 161">
                  <a:extLst>
                    <a:ext uri="{FF2B5EF4-FFF2-40B4-BE49-F238E27FC236}">
                      <a16:creationId xmlns:a16="http://schemas.microsoft.com/office/drawing/2014/main" id="{C0DDC626-03C9-374E-08FB-69B2449AF319}"/>
                    </a:ext>
                  </a:extLst>
                </p:cNvPr>
                <p:cNvCxnSpPr>
                  <a:cxnSpLocks/>
                </p:cNvCxnSpPr>
                <p:nvPr/>
              </p:nvCxnSpPr>
              <p:spPr>
                <a:xfrm>
                  <a:off x="5835650" y="4305300"/>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90">
                  <a:extLst>
                    <a:ext uri="{FF2B5EF4-FFF2-40B4-BE49-F238E27FC236}">
                      <a16:creationId xmlns:a16="http://schemas.microsoft.com/office/drawing/2014/main" id="{C95011F5-EB69-24A9-2726-A15068D71762}"/>
                    </a:ext>
                  </a:extLst>
                </p:cNvPr>
                <p:cNvCxnSpPr>
                  <a:cxnSpLocks/>
                </p:cNvCxnSpPr>
                <p:nvPr/>
              </p:nvCxnSpPr>
              <p:spPr>
                <a:xfrm>
                  <a:off x="5835650" y="4197350"/>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91">
                  <a:extLst>
                    <a:ext uri="{FF2B5EF4-FFF2-40B4-BE49-F238E27FC236}">
                      <a16:creationId xmlns:a16="http://schemas.microsoft.com/office/drawing/2014/main" id="{9A13A8DC-6AF4-2871-5FD1-7B7FBB106D8C}"/>
                    </a:ext>
                  </a:extLst>
                </p:cNvPr>
                <p:cNvCxnSpPr>
                  <a:cxnSpLocks/>
                </p:cNvCxnSpPr>
                <p:nvPr/>
              </p:nvCxnSpPr>
              <p:spPr>
                <a:xfrm>
                  <a:off x="5832475" y="4413250"/>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92">
                  <a:extLst>
                    <a:ext uri="{FF2B5EF4-FFF2-40B4-BE49-F238E27FC236}">
                      <a16:creationId xmlns:a16="http://schemas.microsoft.com/office/drawing/2014/main" id="{99CC8CF6-8103-D0E2-E408-D13550EB6909}"/>
                    </a:ext>
                  </a:extLst>
                </p:cNvPr>
                <p:cNvCxnSpPr>
                  <a:cxnSpLocks/>
                </p:cNvCxnSpPr>
                <p:nvPr/>
              </p:nvCxnSpPr>
              <p:spPr>
                <a:xfrm>
                  <a:off x="5832475" y="4505325"/>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155" name="Freeform 26">
            <a:extLst>
              <a:ext uri="{FF2B5EF4-FFF2-40B4-BE49-F238E27FC236}">
                <a16:creationId xmlns:a16="http://schemas.microsoft.com/office/drawing/2014/main" id="{670A5CEF-7040-47BB-2CBA-3AF9119B2FF5}"/>
              </a:ext>
            </a:extLst>
          </p:cNvPr>
          <p:cNvSpPr/>
          <p:nvPr/>
        </p:nvSpPr>
        <p:spPr>
          <a:xfrm>
            <a:off x="4872591" y="3861041"/>
            <a:ext cx="1958882" cy="1476814"/>
          </a:xfrm>
          <a:custGeom>
            <a:avLst/>
            <a:gdLst>
              <a:gd name="connsiteX0" fmla="*/ 0 w 1809670"/>
              <a:gd name="connsiteY0" fmla="*/ 1560984 h 1560984"/>
              <a:gd name="connsiteX1" fmla="*/ 0 w 1809670"/>
              <a:gd name="connsiteY1" fmla="*/ 1560984 h 1560984"/>
              <a:gd name="connsiteX2" fmla="*/ 765188 w 1809670"/>
              <a:gd name="connsiteY2" fmla="*/ 1059786 h 1560984"/>
              <a:gd name="connsiteX3" fmla="*/ 1086567 w 1809670"/>
              <a:gd name="connsiteY3" fmla="*/ 1055960 h 1560984"/>
              <a:gd name="connsiteX4" fmla="*/ 1798193 w 1809670"/>
              <a:gd name="connsiteY4" fmla="*/ 780492 h 1560984"/>
              <a:gd name="connsiteX5" fmla="*/ 1809670 w 1809670"/>
              <a:gd name="connsiteY5" fmla="*/ 623629 h 1560984"/>
              <a:gd name="connsiteX6" fmla="*/ 1136305 w 1809670"/>
              <a:gd name="connsiteY6" fmla="*/ 218079 h 1560984"/>
              <a:gd name="connsiteX7" fmla="*/ 1178390 w 1809670"/>
              <a:gd name="connsiteY7" fmla="*/ 0 h 1560984"/>
              <a:gd name="connsiteX0" fmla="*/ 3826 w 1813496"/>
              <a:gd name="connsiteY0" fmla="*/ 1560984 h 1560984"/>
              <a:gd name="connsiteX1" fmla="*/ 0 w 1813496"/>
              <a:gd name="connsiteY1" fmla="*/ 1358209 h 1560984"/>
              <a:gd name="connsiteX2" fmla="*/ 769014 w 1813496"/>
              <a:gd name="connsiteY2" fmla="*/ 1059786 h 1560984"/>
              <a:gd name="connsiteX3" fmla="*/ 1090393 w 1813496"/>
              <a:gd name="connsiteY3" fmla="*/ 1055960 h 1560984"/>
              <a:gd name="connsiteX4" fmla="*/ 1802019 w 1813496"/>
              <a:gd name="connsiteY4" fmla="*/ 780492 h 1560984"/>
              <a:gd name="connsiteX5" fmla="*/ 1813496 w 1813496"/>
              <a:gd name="connsiteY5" fmla="*/ 623629 h 1560984"/>
              <a:gd name="connsiteX6" fmla="*/ 1140131 w 1813496"/>
              <a:gd name="connsiteY6" fmla="*/ 218079 h 1560984"/>
              <a:gd name="connsiteX7" fmla="*/ 1182216 w 1813496"/>
              <a:gd name="connsiteY7" fmla="*/ 0 h 1560984"/>
              <a:gd name="connsiteX0" fmla="*/ 57824 w 1867494"/>
              <a:gd name="connsiteY0" fmla="*/ 1560984 h 1560984"/>
              <a:gd name="connsiteX1" fmla="*/ 53998 w 1867494"/>
              <a:gd name="connsiteY1" fmla="*/ 1358209 h 1560984"/>
              <a:gd name="connsiteX2" fmla="*/ 796231 w 1867494"/>
              <a:gd name="connsiteY2" fmla="*/ 1048308 h 1560984"/>
              <a:gd name="connsiteX3" fmla="*/ 1144391 w 1867494"/>
              <a:gd name="connsiteY3" fmla="*/ 1055960 h 1560984"/>
              <a:gd name="connsiteX4" fmla="*/ 1856017 w 1867494"/>
              <a:gd name="connsiteY4" fmla="*/ 780492 h 1560984"/>
              <a:gd name="connsiteX5" fmla="*/ 1867494 w 1867494"/>
              <a:gd name="connsiteY5" fmla="*/ 623629 h 1560984"/>
              <a:gd name="connsiteX6" fmla="*/ 1194129 w 1867494"/>
              <a:gd name="connsiteY6" fmla="*/ 218079 h 1560984"/>
              <a:gd name="connsiteX7" fmla="*/ 1236214 w 1867494"/>
              <a:gd name="connsiteY7" fmla="*/ 0 h 1560984"/>
              <a:gd name="connsiteX0" fmla="*/ 0 w 1809670"/>
              <a:gd name="connsiteY0" fmla="*/ 1560984 h 1560984"/>
              <a:gd name="connsiteX1" fmla="*/ 738407 w 1809670"/>
              <a:gd name="connsiteY1" fmla="*/ 1048308 h 1560984"/>
              <a:gd name="connsiteX2" fmla="*/ 1086567 w 1809670"/>
              <a:gd name="connsiteY2" fmla="*/ 1055960 h 1560984"/>
              <a:gd name="connsiteX3" fmla="*/ 1798193 w 1809670"/>
              <a:gd name="connsiteY3" fmla="*/ 780492 h 1560984"/>
              <a:gd name="connsiteX4" fmla="*/ 1809670 w 1809670"/>
              <a:gd name="connsiteY4" fmla="*/ 623629 h 1560984"/>
              <a:gd name="connsiteX5" fmla="*/ 1136305 w 1809670"/>
              <a:gd name="connsiteY5" fmla="*/ 218079 h 1560984"/>
              <a:gd name="connsiteX6" fmla="*/ 1178390 w 1809670"/>
              <a:gd name="connsiteY6" fmla="*/ 0 h 1560984"/>
              <a:gd name="connsiteX0" fmla="*/ 0 w 1882363"/>
              <a:gd name="connsiteY0" fmla="*/ 1476814 h 1476814"/>
              <a:gd name="connsiteX1" fmla="*/ 811100 w 1882363"/>
              <a:gd name="connsiteY1" fmla="*/ 1048308 h 1476814"/>
              <a:gd name="connsiteX2" fmla="*/ 1159260 w 1882363"/>
              <a:gd name="connsiteY2" fmla="*/ 1055960 h 1476814"/>
              <a:gd name="connsiteX3" fmla="*/ 1870886 w 1882363"/>
              <a:gd name="connsiteY3" fmla="*/ 780492 h 1476814"/>
              <a:gd name="connsiteX4" fmla="*/ 1882363 w 1882363"/>
              <a:gd name="connsiteY4" fmla="*/ 623629 h 1476814"/>
              <a:gd name="connsiteX5" fmla="*/ 1208998 w 1882363"/>
              <a:gd name="connsiteY5" fmla="*/ 218079 h 1476814"/>
              <a:gd name="connsiteX6" fmla="*/ 1251083 w 1882363"/>
              <a:gd name="connsiteY6" fmla="*/ 0 h 1476814"/>
              <a:gd name="connsiteX0" fmla="*/ 0 w 1958882"/>
              <a:gd name="connsiteY0" fmla="*/ 1476814 h 1476814"/>
              <a:gd name="connsiteX1" fmla="*/ 887619 w 1958882"/>
              <a:gd name="connsiteY1" fmla="*/ 1048308 h 1476814"/>
              <a:gd name="connsiteX2" fmla="*/ 1235779 w 1958882"/>
              <a:gd name="connsiteY2" fmla="*/ 1055960 h 1476814"/>
              <a:gd name="connsiteX3" fmla="*/ 1947405 w 1958882"/>
              <a:gd name="connsiteY3" fmla="*/ 780492 h 1476814"/>
              <a:gd name="connsiteX4" fmla="*/ 1958882 w 1958882"/>
              <a:gd name="connsiteY4" fmla="*/ 623629 h 1476814"/>
              <a:gd name="connsiteX5" fmla="*/ 1285517 w 1958882"/>
              <a:gd name="connsiteY5" fmla="*/ 218079 h 1476814"/>
              <a:gd name="connsiteX6" fmla="*/ 1327602 w 1958882"/>
              <a:gd name="connsiteY6" fmla="*/ 0 h 1476814"/>
              <a:gd name="connsiteX0" fmla="*/ 0 w 1958882"/>
              <a:gd name="connsiteY0" fmla="*/ 1476814 h 1476814"/>
              <a:gd name="connsiteX1" fmla="*/ 887619 w 1958882"/>
              <a:gd name="connsiteY1" fmla="*/ 1048308 h 1476814"/>
              <a:gd name="connsiteX2" fmla="*/ 1235779 w 1958882"/>
              <a:gd name="connsiteY2" fmla="*/ 1055960 h 1476814"/>
              <a:gd name="connsiteX3" fmla="*/ 1947405 w 1958882"/>
              <a:gd name="connsiteY3" fmla="*/ 780492 h 1476814"/>
              <a:gd name="connsiteX4" fmla="*/ 1958882 w 1958882"/>
              <a:gd name="connsiteY4" fmla="*/ 623629 h 1476814"/>
              <a:gd name="connsiteX5" fmla="*/ 1285517 w 1958882"/>
              <a:gd name="connsiteY5" fmla="*/ 218079 h 1476814"/>
              <a:gd name="connsiteX6" fmla="*/ 1327602 w 1958882"/>
              <a:gd name="connsiteY6" fmla="*/ 0 h 14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882" h="1476814">
                <a:moveTo>
                  <a:pt x="0" y="1476814"/>
                </a:moveTo>
                <a:cubicBezTo>
                  <a:pt x="192094" y="1377658"/>
                  <a:pt x="706525" y="1132479"/>
                  <a:pt x="887619" y="1048308"/>
                </a:cubicBezTo>
                <a:lnTo>
                  <a:pt x="1235779" y="1055960"/>
                </a:lnTo>
                <a:lnTo>
                  <a:pt x="1947405" y="780492"/>
                </a:lnTo>
                <a:lnTo>
                  <a:pt x="1958882" y="623629"/>
                </a:lnTo>
                <a:lnTo>
                  <a:pt x="1285517" y="218079"/>
                </a:lnTo>
                <a:lnTo>
                  <a:pt x="1327602" y="0"/>
                </a:lnTo>
              </a:path>
            </a:pathLst>
          </a:cu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6" name="Oval 27">
            <a:extLst>
              <a:ext uri="{FF2B5EF4-FFF2-40B4-BE49-F238E27FC236}">
                <a16:creationId xmlns:a16="http://schemas.microsoft.com/office/drawing/2014/main" id="{BA3686D6-0BF8-7E8A-A579-C9A8DBA663CA}"/>
              </a:ext>
            </a:extLst>
          </p:cNvPr>
          <p:cNvSpPr/>
          <p:nvPr/>
        </p:nvSpPr>
        <p:spPr>
          <a:xfrm>
            <a:off x="6192303" y="4634280"/>
            <a:ext cx="133350" cy="371475"/>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灯片编号占位符 48">
            <a:extLst>
              <a:ext uri="{FF2B5EF4-FFF2-40B4-BE49-F238E27FC236}">
                <a16:creationId xmlns:a16="http://schemas.microsoft.com/office/drawing/2014/main" id="{FFBEF70D-842C-4947-8707-B6B9F46080C0}"/>
              </a:ext>
            </a:extLst>
          </p:cNvPr>
          <p:cNvSpPr>
            <a:spLocks noGrp="1"/>
          </p:cNvSpPr>
          <p:nvPr>
            <p:ph type="sldNum" sz="quarter" idx="12"/>
          </p:nvPr>
        </p:nvSpPr>
        <p:spPr/>
        <p:txBody>
          <a:bodyPr/>
          <a:lstStyle/>
          <a:p>
            <a:fld id="{5956A083-5018-4B52-82A0-83241B8E3D94}" type="slidenum">
              <a:rPr lang="zh-CN" altLang="en-US" smtClean="0"/>
              <a:t>80</a:t>
            </a:fld>
            <a:endParaRPr lang="zh-CN" altLang="en-US"/>
          </a:p>
        </p:txBody>
      </p:sp>
    </p:spTree>
    <p:extLst>
      <p:ext uri="{BB962C8B-B14F-4D97-AF65-F5344CB8AC3E}">
        <p14:creationId xmlns:p14="http://schemas.microsoft.com/office/powerpoint/2010/main" val="54189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1"/>
                                        </p:tgtEl>
                                        <p:attrNameLst>
                                          <p:attrName>style.visibility</p:attrName>
                                        </p:attrNameLst>
                                      </p:cBhvr>
                                      <p:to>
                                        <p:strVal val="visible"/>
                                      </p:to>
                                    </p:set>
                                    <p:animEffect transition="in" filter="dissolve">
                                      <p:cBhvr>
                                        <p:cTn id="12"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C8730-B5B4-92E5-F4D9-A8D52339D51B}"/>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5310BD0F-B615-C8CA-6005-8D85A747E6A7}"/>
              </a:ext>
            </a:extLst>
          </p:cNvPr>
          <p:cNvGrpSpPr/>
          <p:nvPr/>
        </p:nvGrpSpPr>
        <p:grpSpPr>
          <a:xfrm>
            <a:off x="103094" y="-173759"/>
            <a:ext cx="6452977" cy="1428589"/>
            <a:chOff x="552684" y="-356229"/>
            <a:chExt cx="6452977" cy="1428589"/>
          </a:xfrm>
        </p:grpSpPr>
        <p:grpSp>
          <p:nvGrpSpPr>
            <p:cNvPr id="45" name="组合 44">
              <a:extLst>
                <a:ext uri="{FF2B5EF4-FFF2-40B4-BE49-F238E27FC236}">
                  <a16:creationId xmlns:a16="http://schemas.microsoft.com/office/drawing/2014/main" id="{8A775071-E90A-3F72-733D-620B6EF49E7F}"/>
                </a:ext>
              </a:extLst>
            </p:cNvPr>
            <p:cNvGrpSpPr/>
            <p:nvPr/>
          </p:nvGrpSpPr>
          <p:grpSpPr>
            <a:xfrm>
              <a:off x="1201633" y="303925"/>
              <a:ext cx="5804028" cy="675443"/>
              <a:chOff x="1839060" y="967769"/>
              <a:chExt cx="5804028" cy="675443"/>
            </a:xfrm>
          </p:grpSpPr>
          <p:sp>
            <p:nvSpPr>
              <p:cNvPr id="47" name="矩形: 圆角 46">
                <a:extLst>
                  <a:ext uri="{FF2B5EF4-FFF2-40B4-BE49-F238E27FC236}">
                    <a16:creationId xmlns:a16="http://schemas.microsoft.com/office/drawing/2014/main" id="{602EFC92-640B-D45A-9769-233F3C74448E}"/>
                  </a:ext>
                </a:extLst>
              </p:cNvPr>
              <p:cNvSpPr/>
              <p:nvPr/>
            </p:nvSpPr>
            <p:spPr>
              <a:xfrm>
                <a:off x="1839060" y="967769"/>
                <a:ext cx="5804028"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9E1324D7-230F-B26E-D9B3-2033676E5106}"/>
                  </a:ext>
                </a:extLst>
              </p:cNvPr>
              <p:cNvSpPr txBox="1"/>
              <p:nvPr/>
            </p:nvSpPr>
            <p:spPr>
              <a:xfrm>
                <a:off x="2597180" y="1053620"/>
                <a:ext cx="5006918"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拥塞控制方法（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Vegas</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a:t>
                </a:r>
              </a:p>
            </p:txBody>
          </p:sp>
        </p:grpSp>
        <p:pic>
          <p:nvPicPr>
            <p:cNvPr id="46" name="图片 45">
              <a:extLst>
                <a:ext uri="{FF2B5EF4-FFF2-40B4-BE49-F238E27FC236}">
                  <a16:creationId xmlns:a16="http://schemas.microsoft.com/office/drawing/2014/main" id="{21E82765-EDEE-3BB3-4A2A-2B5525B284C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sp>
        <p:nvSpPr>
          <p:cNvPr id="2" name="流程图: 手动输入 6">
            <a:extLst>
              <a:ext uri="{FF2B5EF4-FFF2-40B4-BE49-F238E27FC236}">
                <a16:creationId xmlns:a16="http://schemas.microsoft.com/office/drawing/2014/main" id="{3D52251E-8265-D860-24E6-B80CA696A7F4}"/>
              </a:ext>
            </a:extLst>
          </p:cNvPr>
          <p:cNvSpPr/>
          <p:nvPr/>
        </p:nvSpPr>
        <p:spPr>
          <a:xfrm rot="5400000" flipV="1">
            <a:off x="3337949" y="-1049004"/>
            <a:ext cx="498373" cy="6248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3" name="组合 2">
            <a:extLst>
              <a:ext uri="{FF2B5EF4-FFF2-40B4-BE49-F238E27FC236}">
                <a16:creationId xmlns:a16="http://schemas.microsoft.com/office/drawing/2014/main" id="{1D8871FC-CEAC-3A27-4EBF-07AF74FE3E51}"/>
              </a:ext>
            </a:extLst>
          </p:cNvPr>
          <p:cNvGrpSpPr/>
          <p:nvPr/>
        </p:nvGrpSpPr>
        <p:grpSpPr>
          <a:xfrm>
            <a:off x="434616" y="1328206"/>
            <a:ext cx="10952900" cy="1346374"/>
            <a:chOff x="430213" y="1601272"/>
            <a:chExt cx="10952900" cy="1346374"/>
          </a:xfrm>
        </p:grpSpPr>
        <p:sp>
          <p:nvSpPr>
            <p:cNvPr id="4" name="流程图: 手动输入 6">
              <a:extLst>
                <a:ext uri="{FF2B5EF4-FFF2-40B4-BE49-F238E27FC236}">
                  <a16:creationId xmlns:a16="http://schemas.microsoft.com/office/drawing/2014/main" id="{8D98444D-97C4-0A13-C521-4AEF0B99EB2B}"/>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 name="组合 4">
              <a:extLst>
                <a:ext uri="{FF2B5EF4-FFF2-40B4-BE49-F238E27FC236}">
                  <a16:creationId xmlns:a16="http://schemas.microsoft.com/office/drawing/2014/main" id="{79680AD4-308C-AD88-C06B-6F21D69065F8}"/>
                </a:ext>
              </a:extLst>
            </p:cNvPr>
            <p:cNvGrpSpPr/>
            <p:nvPr/>
          </p:nvGrpSpPr>
          <p:grpSpPr>
            <a:xfrm>
              <a:off x="430213" y="1601272"/>
              <a:ext cx="10952900" cy="1346374"/>
              <a:chOff x="722008" y="1303131"/>
              <a:chExt cx="10458147" cy="1285557"/>
            </a:xfrm>
          </p:grpSpPr>
          <p:sp>
            <p:nvSpPr>
              <p:cNvPr id="6" name="流程图: 手动输入 6">
                <a:extLst>
                  <a:ext uri="{FF2B5EF4-FFF2-40B4-BE49-F238E27FC236}">
                    <a16:creationId xmlns:a16="http://schemas.microsoft.com/office/drawing/2014/main" id="{5E49DEE1-3E70-C2D5-18FC-63EB2F1BBED0}"/>
                  </a:ext>
                </a:extLst>
              </p:cNvPr>
              <p:cNvSpPr/>
              <p:nvPr/>
            </p:nvSpPr>
            <p:spPr>
              <a:xfrm rot="5400000" flipV="1">
                <a:off x="5846445" y="-3551310"/>
                <a:ext cx="475861" cy="10191558"/>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7" name="组合 6">
                <a:extLst>
                  <a:ext uri="{FF2B5EF4-FFF2-40B4-BE49-F238E27FC236}">
                    <a16:creationId xmlns:a16="http://schemas.microsoft.com/office/drawing/2014/main" id="{44562785-D16F-C85B-EA57-F3D57A548962}"/>
                  </a:ext>
                </a:extLst>
              </p:cNvPr>
              <p:cNvGrpSpPr/>
              <p:nvPr/>
            </p:nvGrpSpPr>
            <p:grpSpPr>
              <a:xfrm>
                <a:off x="722008" y="1303131"/>
                <a:ext cx="546594" cy="475865"/>
                <a:chOff x="708742" y="1296102"/>
                <a:chExt cx="454744" cy="283828"/>
              </a:xfrm>
            </p:grpSpPr>
            <p:sp>
              <p:nvSpPr>
                <p:cNvPr id="9" name="平行四边形 8">
                  <a:extLst>
                    <a:ext uri="{FF2B5EF4-FFF2-40B4-BE49-F238E27FC236}">
                      <a16:creationId xmlns:a16="http://schemas.microsoft.com/office/drawing/2014/main" id="{15D928D3-DE34-689A-B382-DF9FF7109C40}"/>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0" name="平行四边形 9">
                  <a:extLst>
                    <a:ext uri="{FF2B5EF4-FFF2-40B4-BE49-F238E27FC236}">
                      <a16:creationId xmlns:a16="http://schemas.microsoft.com/office/drawing/2014/main" id="{C35D60F2-78D1-40A3-3699-B385C9E44AAA}"/>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8" name="Text Box 79">
                <a:extLst>
                  <a:ext uri="{FF2B5EF4-FFF2-40B4-BE49-F238E27FC236}">
                    <a16:creationId xmlns:a16="http://schemas.microsoft.com/office/drawing/2014/main" id="{48D591F6-E478-827E-AB4B-81251D5CE090}"/>
                  </a:ext>
                </a:extLst>
              </p:cNvPr>
              <p:cNvSpPr txBox="1">
                <a:spLocks noChangeArrowheads="1"/>
              </p:cNvSpPr>
              <p:nvPr/>
            </p:nvSpPr>
            <p:spPr bwMode="auto">
              <a:xfrm>
                <a:off x="1172744" y="1354417"/>
                <a:ext cx="9977698" cy="1234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TCP</a:t>
                </a:r>
                <a:r>
                  <a:rPr kumimoji="1" lang="zh-CN" altLang="en-US" sz="2600" dirty="0">
                    <a:solidFill>
                      <a:schemeClr val="tx1">
                        <a:lumMod val="85000"/>
                        <a:lumOff val="15000"/>
                      </a:schemeClr>
                    </a:solidFill>
                    <a:ea typeface="思源黑体 CN Medium" panose="020B0600000000000000" pitchFamily="34" charset="-122"/>
                  </a:rPr>
                  <a:t>（</a:t>
                </a:r>
                <a:r>
                  <a:rPr kumimoji="1" lang="en-US" altLang="zh-CN" sz="2600" dirty="0">
                    <a:solidFill>
                      <a:schemeClr val="tx1">
                        <a:lumMod val="85000"/>
                        <a:lumOff val="15000"/>
                      </a:schemeClr>
                    </a:solidFill>
                    <a:ea typeface="思源黑体 CN Medium" panose="020B0600000000000000" pitchFamily="34" charset="-122"/>
                  </a:rPr>
                  <a:t>Reno</a:t>
                </a:r>
                <a:r>
                  <a:rPr kumimoji="1" lang="zh-CN" altLang="en-US" sz="2600" dirty="0">
                    <a:solidFill>
                      <a:schemeClr val="tx1">
                        <a:lumMod val="85000"/>
                        <a:lumOff val="15000"/>
                      </a:schemeClr>
                    </a:solidFill>
                    <a:ea typeface="思源黑体 CN Medium" panose="020B0600000000000000" pitchFamily="34" charset="-122"/>
                  </a:rPr>
                  <a:t>、</a:t>
                </a:r>
                <a:r>
                  <a:rPr kumimoji="1" lang="en-US" altLang="zh-CN" sz="2600" dirty="0">
                    <a:solidFill>
                      <a:schemeClr val="tx1">
                        <a:lumMod val="85000"/>
                        <a:lumOff val="15000"/>
                      </a:schemeClr>
                    </a:solidFill>
                    <a:ea typeface="思源黑体 CN Medium" panose="020B0600000000000000" pitchFamily="34" charset="-122"/>
                  </a:rPr>
                  <a:t>CUBIC</a:t>
                </a:r>
                <a:r>
                  <a:rPr kumimoji="1" lang="zh-CN" altLang="en-US" sz="2600" dirty="0">
                    <a:solidFill>
                      <a:schemeClr val="tx1">
                        <a:lumMod val="85000"/>
                        <a:lumOff val="15000"/>
                      </a:schemeClr>
                    </a:solidFill>
                    <a:ea typeface="思源黑体 CN Medium" panose="020B0600000000000000" pitchFamily="34" charset="-122"/>
                  </a:rPr>
                  <a:t>）会稳定提高 </a:t>
                </a:r>
                <a:r>
                  <a:rPr kumimoji="1" lang="en-US" altLang="zh-CN" sz="2600" dirty="0">
                    <a:solidFill>
                      <a:schemeClr val="tx1">
                        <a:lumMod val="85000"/>
                        <a:lumOff val="15000"/>
                      </a:schemeClr>
                    </a:solidFill>
                    <a:ea typeface="思源黑体 CN Medium" panose="020B0600000000000000" pitchFamily="34" charset="-122"/>
                  </a:rPr>
                  <a:t>TCP </a:t>
                </a:r>
                <a:r>
                  <a:rPr kumimoji="1" lang="zh-CN" altLang="en-US" sz="2600" dirty="0">
                    <a:solidFill>
                      <a:schemeClr val="tx1">
                        <a:lumMod val="85000"/>
                        <a:lumOff val="15000"/>
                      </a:schemeClr>
                    </a:solidFill>
                    <a:ea typeface="思源黑体 CN Medium" panose="020B0600000000000000" pitchFamily="34" charset="-122"/>
                  </a:rPr>
                  <a:t>发送速率，直到某个路由器的输出端出现数据包丢失为止：</a:t>
                </a:r>
                <a:r>
                  <a:rPr kumimoji="1" lang="zh-CN" altLang="en-US" sz="2600" dirty="0">
                    <a:solidFill>
                      <a:srgbClr val="FF0000"/>
                    </a:solidFill>
                    <a:ea typeface="思源黑体 CN Medium" panose="020B0600000000000000" pitchFamily="34" charset="-122"/>
                  </a:rPr>
                  <a:t>瓶颈链路</a:t>
                </a:r>
                <a:endParaRPr kumimoji="1" lang="en-US" altLang="zh-CN" sz="2600" dirty="0">
                  <a:solidFill>
                    <a:srgbClr val="FF0000"/>
                  </a:solidFill>
                  <a:ea typeface="思源黑体 CN Medium" panose="020B0600000000000000" pitchFamily="34" charset="-122"/>
                </a:endParaRPr>
              </a:p>
              <a:p>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grpSp>
        <p:nvGrpSpPr>
          <p:cNvPr id="49" name="组合 48">
            <a:extLst>
              <a:ext uri="{FF2B5EF4-FFF2-40B4-BE49-F238E27FC236}">
                <a16:creationId xmlns:a16="http://schemas.microsoft.com/office/drawing/2014/main" id="{797498B2-1132-667A-DB51-FF6F52A13F81}"/>
              </a:ext>
            </a:extLst>
          </p:cNvPr>
          <p:cNvGrpSpPr/>
          <p:nvPr/>
        </p:nvGrpSpPr>
        <p:grpSpPr>
          <a:xfrm>
            <a:off x="434616" y="2346062"/>
            <a:ext cx="10921781" cy="946265"/>
            <a:chOff x="430213" y="1601272"/>
            <a:chExt cx="10921781" cy="946265"/>
          </a:xfrm>
        </p:grpSpPr>
        <p:sp>
          <p:nvSpPr>
            <p:cNvPr id="50" name="流程图: 手动输入 6">
              <a:extLst>
                <a:ext uri="{FF2B5EF4-FFF2-40B4-BE49-F238E27FC236}">
                  <a16:creationId xmlns:a16="http://schemas.microsoft.com/office/drawing/2014/main" id="{D052023D-FF5F-F6CF-1538-47C01919E80A}"/>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1" name="组合 50">
              <a:extLst>
                <a:ext uri="{FF2B5EF4-FFF2-40B4-BE49-F238E27FC236}">
                  <a16:creationId xmlns:a16="http://schemas.microsoft.com/office/drawing/2014/main" id="{00419374-11C5-37C8-DA07-3A908320A668}"/>
                </a:ext>
              </a:extLst>
            </p:cNvPr>
            <p:cNvGrpSpPr/>
            <p:nvPr/>
          </p:nvGrpSpPr>
          <p:grpSpPr>
            <a:xfrm>
              <a:off x="430213" y="1601272"/>
              <a:ext cx="10921781" cy="946265"/>
              <a:chOff x="722008" y="1303131"/>
              <a:chExt cx="10428434" cy="903521"/>
            </a:xfrm>
          </p:grpSpPr>
          <p:sp>
            <p:nvSpPr>
              <p:cNvPr id="52" name="流程图: 手动输入 6">
                <a:extLst>
                  <a:ext uri="{FF2B5EF4-FFF2-40B4-BE49-F238E27FC236}">
                    <a16:creationId xmlns:a16="http://schemas.microsoft.com/office/drawing/2014/main" id="{475E7D92-8374-1CBE-478E-D0F227A12AB8}"/>
                  </a:ext>
                </a:extLst>
              </p:cNvPr>
              <p:cNvSpPr/>
              <p:nvPr/>
            </p:nvSpPr>
            <p:spPr>
              <a:xfrm rot="5400000" flipV="1">
                <a:off x="3903386" y="-1608251"/>
                <a:ext cx="475861" cy="630544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3" name="组合 52">
                <a:extLst>
                  <a:ext uri="{FF2B5EF4-FFF2-40B4-BE49-F238E27FC236}">
                    <a16:creationId xmlns:a16="http://schemas.microsoft.com/office/drawing/2014/main" id="{FB2BD3FA-99FA-919F-6CF2-74CFA726BA74}"/>
                  </a:ext>
                </a:extLst>
              </p:cNvPr>
              <p:cNvGrpSpPr/>
              <p:nvPr/>
            </p:nvGrpSpPr>
            <p:grpSpPr>
              <a:xfrm>
                <a:off x="722008" y="1303131"/>
                <a:ext cx="546594" cy="475865"/>
                <a:chOff x="708742" y="1296102"/>
                <a:chExt cx="454744" cy="283828"/>
              </a:xfrm>
            </p:grpSpPr>
            <p:sp>
              <p:nvSpPr>
                <p:cNvPr id="157" name="平行四边形 156">
                  <a:extLst>
                    <a:ext uri="{FF2B5EF4-FFF2-40B4-BE49-F238E27FC236}">
                      <a16:creationId xmlns:a16="http://schemas.microsoft.com/office/drawing/2014/main" id="{07AE2CCD-7989-076F-03D2-2F174ED9B250}"/>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58" name="平行四边形 157">
                  <a:extLst>
                    <a:ext uri="{FF2B5EF4-FFF2-40B4-BE49-F238E27FC236}">
                      <a16:creationId xmlns:a16="http://schemas.microsoft.com/office/drawing/2014/main" id="{C6F23B15-08D2-B589-ADFB-C88AB2F9D0A4}"/>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54" name="Text Box 79">
                <a:extLst>
                  <a:ext uri="{FF2B5EF4-FFF2-40B4-BE49-F238E27FC236}">
                    <a16:creationId xmlns:a16="http://schemas.microsoft.com/office/drawing/2014/main" id="{4EE70AEE-9118-203B-E527-B431DD2735D4}"/>
                  </a:ext>
                </a:extLst>
              </p:cNvPr>
              <p:cNvSpPr txBox="1">
                <a:spLocks noChangeArrowheads="1"/>
              </p:cNvSpPr>
              <p:nvPr/>
            </p:nvSpPr>
            <p:spPr bwMode="auto">
              <a:xfrm>
                <a:off x="1172744" y="1354417"/>
                <a:ext cx="9977698" cy="852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ea typeface="思源黑体 CN Medium" panose="020B0600000000000000" pitchFamily="34" charset="-122"/>
                  </a:rPr>
                  <a:t>关注瓶颈链路对于了解拥塞状况是有价值的</a:t>
                </a:r>
                <a:endParaRPr kumimoji="1" lang="en-US" altLang="zh-CN" sz="2600" dirty="0">
                  <a:solidFill>
                    <a:srgbClr val="FF0000"/>
                  </a:solidFill>
                  <a:ea typeface="思源黑体 CN Medium" panose="020B0600000000000000" pitchFamily="34" charset="-122"/>
                </a:endParaRPr>
              </a:p>
              <a:p>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grpSp>
        <p:nvGrpSpPr>
          <p:cNvPr id="159" name="Group 6">
            <a:extLst>
              <a:ext uri="{FF2B5EF4-FFF2-40B4-BE49-F238E27FC236}">
                <a16:creationId xmlns:a16="http://schemas.microsoft.com/office/drawing/2014/main" id="{FDE2E2B8-588C-E43F-6ACA-0D3FC6CC50B6}"/>
              </a:ext>
            </a:extLst>
          </p:cNvPr>
          <p:cNvGrpSpPr/>
          <p:nvPr/>
        </p:nvGrpSpPr>
        <p:grpSpPr>
          <a:xfrm>
            <a:off x="4432497" y="4338448"/>
            <a:ext cx="2885057" cy="1481137"/>
            <a:chOff x="4094463" y="4691367"/>
            <a:chExt cx="2885057" cy="1481137"/>
          </a:xfrm>
        </p:grpSpPr>
        <p:sp>
          <p:nvSpPr>
            <p:cNvPr id="160" name="Freeform 2">
              <a:extLst>
                <a:ext uri="{FF2B5EF4-FFF2-40B4-BE49-F238E27FC236}">
                  <a16:creationId xmlns:a16="http://schemas.microsoft.com/office/drawing/2014/main" id="{4A30F9AF-3564-BC66-381A-07B0F6ED4CA4}"/>
                </a:ext>
              </a:extLst>
            </p:cNvPr>
            <p:cNvSpPr>
              <a:spLocks/>
            </p:cNvSpPr>
            <p:nvPr/>
          </p:nvSpPr>
          <p:spPr bwMode="auto">
            <a:xfrm>
              <a:off x="4129957" y="4691367"/>
              <a:ext cx="2849563" cy="1481137"/>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1" name="Group 3">
              <a:extLst>
                <a:ext uri="{FF2B5EF4-FFF2-40B4-BE49-F238E27FC236}">
                  <a16:creationId xmlns:a16="http://schemas.microsoft.com/office/drawing/2014/main" id="{B9FC5F13-B6CD-7F94-A05F-C76BA1ECF012}"/>
                </a:ext>
              </a:extLst>
            </p:cNvPr>
            <p:cNvGrpSpPr/>
            <p:nvPr/>
          </p:nvGrpSpPr>
          <p:grpSpPr>
            <a:xfrm>
              <a:off x="5035264" y="5554092"/>
              <a:ext cx="496248" cy="260542"/>
              <a:chOff x="7141236" y="6068702"/>
              <a:chExt cx="496248" cy="260542"/>
            </a:xfrm>
          </p:grpSpPr>
          <p:sp>
            <p:nvSpPr>
              <p:cNvPr id="209" name="Freeform 356">
                <a:extLst>
                  <a:ext uri="{FF2B5EF4-FFF2-40B4-BE49-F238E27FC236}">
                    <a16:creationId xmlns:a16="http://schemas.microsoft.com/office/drawing/2014/main" id="{FB67BA98-A0E4-DA31-9361-08B6C190F193}"/>
                  </a:ext>
                </a:extLst>
              </p:cNvPr>
              <p:cNvSpPr/>
              <p:nvPr/>
            </p:nvSpPr>
            <p:spPr>
              <a:xfrm>
                <a:off x="7141236" y="6158887"/>
                <a:ext cx="496248" cy="170357"/>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bg1"/>
                  </a:gs>
                  <a:gs pos="51000">
                    <a:srgbClr val="ED356A"/>
                  </a:gs>
                  <a:gs pos="100000">
                    <a:srgbClr val="E40000"/>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0" name="Oval 357">
                <a:extLst>
                  <a:ext uri="{FF2B5EF4-FFF2-40B4-BE49-F238E27FC236}">
                    <a16:creationId xmlns:a16="http://schemas.microsoft.com/office/drawing/2014/main" id="{F8AA1B6C-C0BA-24D1-B659-1465537A33CC}"/>
                  </a:ext>
                </a:extLst>
              </p:cNvPr>
              <p:cNvSpPr/>
              <p:nvPr/>
            </p:nvSpPr>
            <p:spPr>
              <a:xfrm>
                <a:off x="7141522" y="6068702"/>
                <a:ext cx="495647" cy="168664"/>
              </a:xfrm>
              <a:prstGeom prst="ellipse">
                <a:avLst/>
              </a:prstGeom>
              <a:solidFill>
                <a:srgbClr val="FA376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1" name="Group 358">
                <a:extLst>
                  <a:ext uri="{FF2B5EF4-FFF2-40B4-BE49-F238E27FC236}">
                    <a16:creationId xmlns:a16="http://schemas.microsoft.com/office/drawing/2014/main" id="{6E730150-DC87-38DB-6613-3CFE8F03ED33}"/>
                  </a:ext>
                </a:extLst>
              </p:cNvPr>
              <p:cNvGrpSpPr/>
              <p:nvPr/>
            </p:nvGrpSpPr>
            <p:grpSpPr>
              <a:xfrm>
                <a:off x="7214834" y="6090139"/>
                <a:ext cx="348960" cy="123931"/>
                <a:chOff x="7786941" y="2884917"/>
                <a:chExt cx="897649" cy="353919"/>
              </a:xfrm>
            </p:grpSpPr>
            <p:sp>
              <p:nvSpPr>
                <p:cNvPr id="212" name="Freeform 359">
                  <a:extLst>
                    <a:ext uri="{FF2B5EF4-FFF2-40B4-BE49-F238E27FC236}">
                      <a16:creationId xmlns:a16="http://schemas.microsoft.com/office/drawing/2014/main" id="{10014148-8CE6-498E-AFE8-8D2EBEB73D9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 name="Freeform 360">
                  <a:extLst>
                    <a:ext uri="{FF2B5EF4-FFF2-40B4-BE49-F238E27FC236}">
                      <a16:creationId xmlns:a16="http://schemas.microsoft.com/office/drawing/2014/main" id="{355FD8CF-B19D-F46F-5E2D-5A9BE61F73D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Freeform 361">
                  <a:extLst>
                    <a:ext uri="{FF2B5EF4-FFF2-40B4-BE49-F238E27FC236}">
                      <a16:creationId xmlns:a16="http://schemas.microsoft.com/office/drawing/2014/main" id="{92BCFF38-7606-B7BF-B292-AE85EAF5FFB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 name="Freeform 362">
                  <a:extLst>
                    <a:ext uri="{FF2B5EF4-FFF2-40B4-BE49-F238E27FC236}">
                      <a16:creationId xmlns:a16="http://schemas.microsoft.com/office/drawing/2014/main" id="{5CB19AA4-1026-8C75-5105-6F9F88BC652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2" name="Group 322">
              <a:extLst>
                <a:ext uri="{FF2B5EF4-FFF2-40B4-BE49-F238E27FC236}">
                  <a16:creationId xmlns:a16="http://schemas.microsoft.com/office/drawing/2014/main" id="{641C5A76-5B79-AB80-C7E0-B316D8D70F92}"/>
                </a:ext>
              </a:extLst>
            </p:cNvPr>
            <p:cNvGrpSpPr/>
            <p:nvPr/>
          </p:nvGrpSpPr>
          <p:grpSpPr>
            <a:xfrm>
              <a:off x="6131364" y="5156690"/>
              <a:ext cx="496248" cy="260542"/>
              <a:chOff x="7493876" y="2774731"/>
              <a:chExt cx="1481958" cy="894622"/>
            </a:xfrm>
          </p:grpSpPr>
          <p:sp>
            <p:nvSpPr>
              <p:cNvPr id="202" name="Freeform 323">
                <a:extLst>
                  <a:ext uri="{FF2B5EF4-FFF2-40B4-BE49-F238E27FC236}">
                    <a16:creationId xmlns:a16="http://schemas.microsoft.com/office/drawing/2014/main" id="{60A158AD-1306-91E4-4B29-C2F2276FB47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324">
                <a:extLst>
                  <a:ext uri="{FF2B5EF4-FFF2-40B4-BE49-F238E27FC236}">
                    <a16:creationId xmlns:a16="http://schemas.microsoft.com/office/drawing/2014/main" id="{DDDC9918-26DC-C28B-045D-A80F99B38D1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325">
                <a:extLst>
                  <a:ext uri="{FF2B5EF4-FFF2-40B4-BE49-F238E27FC236}">
                    <a16:creationId xmlns:a16="http://schemas.microsoft.com/office/drawing/2014/main" id="{AEF495C8-668E-9743-C600-0353D237256B}"/>
                  </a:ext>
                </a:extLst>
              </p:cNvPr>
              <p:cNvGrpSpPr/>
              <p:nvPr/>
            </p:nvGrpSpPr>
            <p:grpSpPr>
              <a:xfrm>
                <a:off x="7713663" y="2848339"/>
                <a:ext cx="1042107" cy="425543"/>
                <a:chOff x="7786941" y="2884917"/>
                <a:chExt cx="897649" cy="353919"/>
              </a:xfrm>
            </p:grpSpPr>
            <p:sp>
              <p:nvSpPr>
                <p:cNvPr id="205" name="Freeform 326">
                  <a:extLst>
                    <a:ext uri="{FF2B5EF4-FFF2-40B4-BE49-F238E27FC236}">
                      <a16:creationId xmlns:a16="http://schemas.microsoft.com/office/drawing/2014/main" id="{858D80C9-1959-4EC3-5DF5-0E22E252F7D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 name="Freeform 327">
                  <a:extLst>
                    <a:ext uri="{FF2B5EF4-FFF2-40B4-BE49-F238E27FC236}">
                      <a16:creationId xmlns:a16="http://schemas.microsoft.com/office/drawing/2014/main" id="{DCB5F4D3-9A9F-8B19-A7CF-3443C9ADE3E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Freeform 328">
                  <a:extLst>
                    <a:ext uri="{FF2B5EF4-FFF2-40B4-BE49-F238E27FC236}">
                      <a16:creationId xmlns:a16="http://schemas.microsoft.com/office/drawing/2014/main" id="{E6BC6B59-7758-B7AB-2D32-82A0D64165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Freeform 329">
                  <a:extLst>
                    <a:ext uri="{FF2B5EF4-FFF2-40B4-BE49-F238E27FC236}">
                      <a16:creationId xmlns:a16="http://schemas.microsoft.com/office/drawing/2014/main" id="{CB953CFA-407A-118E-71F7-6EDD5582EF9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3" name="Group 331">
              <a:extLst>
                <a:ext uri="{FF2B5EF4-FFF2-40B4-BE49-F238E27FC236}">
                  <a16:creationId xmlns:a16="http://schemas.microsoft.com/office/drawing/2014/main" id="{E19E8766-B819-DA6B-EDC7-8B82CE1AB189}"/>
                </a:ext>
              </a:extLst>
            </p:cNvPr>
            <p:cNvGrpSpPr/>
            <p:nvPr/>
          </p:nvGrpSpPr>
          <p:grpSpPr>
            <a:xfrm>
              <a:off x="5122533" y="4861037"/>
              <a:ext cx="496248" cy="260542"/>
              <a:chOff x="7493876" y="2774731"/>
              <a:chExt cx="1481958" cy="894622"/>
            </a:xfrm>
          </p:grpSpPr>
          <p:sp>
            <p:nvSpPr>
              <p:cNvPr id="195" name="Freeform 332">
                <a:extLst>
                  <a:ext uri="{FF2B5EF4-FFF2-40B4-BE49-F238E27FC236}">
                    <a16:creationId xmlns:a16="http://schemas.microsoft.com/office/drawing/2014/main" id="{7DCE00BF-F914-E7B4-9D05-222F9025C60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6" name="Oval 333">
                <a:extLst>
                  <a:ext uri="{FF2B5EF4-FFF2-40B4-BE49-F238E27FC236}">
                    <a16:creationId xmlns:a16="http://schemas.microsoft.com/office/drawing/2014/main" id="{9ACDD59D-D90B-7E11-A615-177B696F316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7" name="Group 334">
                <a:extLst>
                  <a:ext uri="{FF2B5EF4-FFF2-40B4-BE49-F238E27FC236}">
                    <a16:creationId xmlns:a16="http://schemas.microsoft.com/office/drawing/2014/main" id="{D65FB1AE-1CF9-8E00-6DA7-3CDCA306898E}"/>
                  </a:ext>
                </a:extLst>
              </p:cNvPr>
              <p:cNvGrpSpPr/>
              <p:nvPr/>
            </p:nvGrpSpPr>
            <p:grpSpPr>
              <a:xfrm>
                <a:off x="7713663" y="2848339"/>
                <a:ext cx="1042107" cy="425543"/>
                <a:chOff x="7786941" y="2884917"/>
                <a:chExt cx="897649" cy="353919"/>
              </a:xfrm>
            </p:grpSpPr>
            <p:sp>
              <p:nvSpPr>
                <p:cNvPr id="198" name="Freeform 335">
                  <a:extLst>
                    <a:ext uri="{FF2B5EF4-FFF2-40B4-BE49-F238E27FC236}">
                      <a16:creationId xmlns:a16="http://schemas.microsoft.com/office/drawing/2014/main" id="{48A6B9C1-DCFE-6427-A452-29E09FBF993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Freeform 336">
                  <a:extLst>
                    <a:ext uri="{FF2B5EF4-FFF2-40B4-BE49-F238E27FC236}">
                      <a16:creationId xmlns:a16="http://schemas.microsoft.com/office/drawing/2014/main" id="{42207598-3597-B472-FFBD-7063806203F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Freeform 337">
                  <a:extLst>
                    <a:ext uri="{FF2B5EF4-FFF2-40B4-BE49-F238E27FC236}">
                      <a16:creationId xmlns:a16="http://schemas.microsoft.com/office/drawing/2014/main" id="{C3030FE9-BC8B-3497-9881-F9E0B996964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 name="Freeform 338">
                  <a:extLst>
                    <a:ext uri="{FF2B5EF4-FFF2-40B4-BE49-F238E27FC236}">
                      <a16:creationId xmlns:a16="http://schemas.microsoft.com/office/drawing/2014/main" id="{E69EE0C0-2CAD-A825-2664-62531C0E650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4" name="Group 339">
              <a:extLst>
                <a:ext uri="{FF2B5EF4-FFF2-40B4-BE49-F238E27FC236}">
                  <a16:creationId xmlns:a16="http://schemas.microsoft.com/office/drawing/2014/main" id="{1F3C9906-894A-D918-1268-059E4F4564E4}"/>
                </a:ext>
              </a:extLst>
            </p:cNvPr>
            <p:cNvGrpSpPr/>
            <p:nvPr/>
          </p:nvGrpSpPr>
          <p:grpSpPr>
            <a:xfrm>
              <a:off x="4450588" y="5823254"/>
              <a:ext cx="496248" cy="260542"/>
              <a:chOff x="7493876" y="2774731"/>
              <a:chExt cx="1481958" cy="894622"/>
            </a:xfrm>
          </p:grpSpPr>
          <p:sp>
            <p:nvSpPr>
              <p:cNvPr id="188" name="Freeform 340">
                <a:extLst>
                  <a:ext uri="{FF2B5EF4-FFF2-40B4-BE49-F238E27FC236}">
                    <a16:creationId xmlns:a16="http://schemas.microsoft.com/office/drawing/2014/main" id="{6B74AA73-727A-6F1C-0039-91A67FA3CB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9" name="Oval 341">
                <a:extLst>
                  <a:ext uri="{FF2B5EF4-FFF2-40B4-BE49-F238E27FC236}">
                    <a16:creationId xmlns:a16="http://schemas.microsoft.com/office/drawing/2014/main" id="{84BCCE0D-8FC7-3E07-10FE-679B96F344E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0" name="Group 342">
                <a:extLst>
                  <a:ext uri="{FF2B5EF4-FFF2-40B4-BE49-F238E27FC236}">
                    <a16:creationId xmlns:a16="http://schemas.microsoft.com/office/drawing/2014/main" id="{13B474D7-2C7C-2AB7-455D-239B6F3ABD87}"/>
                  </a:ext>
                </a:extLst>
              </p:cNvPr>
              <p:cNvGrpSpPr/>
              <p:nvPr/>
            </p:nvGrpSpPr>
            <p:grpSpPr>
              <a:xfrm>
                <a:off x="7713663" y="2848339"/>
                <a:ext cx="1042107" cy="425543"/>
                <a:chOff x="7786941" y="2884917"/>
                <a:chExt cx="897649" cy="353919"/>
              </a:xfrm>
            </p:grpSpPr>
            <p:sp>
              <p:nvSpPr>
                <p:cNvPr id="191" name="Freeform 343">
                  <a:extLst>
                    <a:ext uri="{FF2B5EF4-FFF2-40B4-BE49-F238E27FC236}">
                      <a16:creationId xmlns:a16="http://schemas.microsoft.com/office/drawing/2014/main" id="{0F24E573-4CDF-E8D2-8AC2-87E0F899D98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Freeform 344">
                  <a:extLst>
                    <a:ext uri="{FF2B5EF4-FFF2-40B4-BE49-F238E27FC236}">
                      <a16:creationId xmlns:a16="http://schemas.microsoft.com/office/drawing/2014/main" id="{1CE1549D-9264-1E71-278D-32EBAE910E6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 name="Freeform 345">
                  <a:extLst>
                    <a:ext uri="{FF2B5EF4-FFF2-40B4-BE49-F238E27FC236}">
                      <a16:creationId xmlns:a16="http://schemas.microsoft.com/office/drawing/2014/main" id="{3D8452C1-10FE-D495-D170-0877490C1F2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4" name="Freeform 346">
                  <a:extLst>
                    <a:ext uri="{FF2B5EF4-FFF2-40B4-BE49-F238E27FC236}">
                      <a16:creationId xmlns:a16="http://schemas.microsoft.com/office/drawing/2014/main" id="{F0989B78-4A87-58DA-A46F-E323B47F05E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5" name="Group 347">
              <a:extLst>
                <a:ext uri="{FF2B5EF4-FFF2-40B4-BE49-F238E27FC236}">
                  <a16:creationId xmlns:a16="http://schemas.microsoft.com/office/drawing/2014/main" id="{58A35009-6A8A-630A-8B22-429E1ABFD005}"/>
                </a:ext>
              </a:extLst>
            </p:cNvPr>
            <p:cNvGrpSpPr/>
            <p:nvPr/>
          </p:nvGrpSpPr>
          <p:grpSpPr>
            <a:xfrm>
              <a:off x="4094463" y="5164346"/>
              <a:ext cx="496248" cy="260542"/>
              <a:chOff x="7493876" y="2774731"/>
              <a:chExt cx="1481958" cy="894622"/>
            </a:xfrm>
          </p:grpSpPr>
          <p:sp>
            <p:nvSpPr>
              <p:cNvPr id="181" name="Freeform 348">
                <a:extLst>
                  <a:ext uri="{FF2B5EF4-FFF2-40B4-BE49-F238E27FC236}">
                    <a16:creationId xmlns:a16="http://schemas.microsoft.com/office/drawing/2014/main" id="{650508B4-D1B1-E486-8325-1E5E2B6C26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2" name="Oval 349">
                <a:extLst>
                  <a:ext uri="{FF2B5EF4-FFF2-40B4-BE49-F238E27FC236}">
                    <a16:creationId xmlns:a16="http://schemas.microsoft.com/office/drawing/2014/main" id="{44ECA5E3-651A-C19C-7F96-7EB16A8B938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3" name="Group 350">
                <a:extLst>
                  <a:ext uri="{FF2B5EF4-FFF2-40B4-BE49-F238E27FC236}">
                    <a16:creationId xmlns:a16="http://schemas.microsoft.com/office/drawing/2014/main" id="{15694621-01EE-C615-93AF-124535F381C0}"/>
                  </a:ext>
                </a:extLst>
              </p:cNvPr>
              <p:cNvGrpSpPr/>
              <p:nvPr/>
            </p:nvGrpSpPr>
            <p:grpSpPr>
              <a:xfrm>
                <a:off x="7713663" y="2848339"/>
                <a:ext cx="1042107" cy="425543"/>
                <a:chOff x="7786941" y="2884917"/>
                <a:chExt cx="897649" cy="353919"/>
              </a:xfrm>
            </p:grpSpPr>
            <p:sp>
              <p:nvSpPr>
                <p:cNvPr id="184" name="Freeform 351">
                  <a:extLst>
                    <a:ext uri="{FF2B5EF4-FFF2-40B4-BE49-F238E27FC236}">
                      <a16:creationId xmlns:a16="http://schemas.microsoft.com/office/drawing/2014/main" id="{BFA0DE85-2402-71A5-9A68-27D29001F90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 name="Freeform 352">
                  <a:extLst>
                    <a:ext uri="{FF2B5EF4-FFF2-40B4-BE49-F238E27FC236}">
                      <a16:creationId xmlns:a16="http://schemas.microsoft.com/office/drawing/2014/main" id="{A9AC3F63-6F08-B048-5668-B337AFCBB16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 name="Freeform 353">
                  <a:extLst>
                    <a:ext uri="{FF2B5EF4-FFF2-40B4-BE49-F238E27FC236}">
                      <a16:creationId xmlns:a16="http://schemas.microsoft.com/office/drawing/2014/main" id="{276A6D6B-5F5B-5B66-D31E-95047AFCE55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 name="Freeform 354">
                  <a:extLst>
                    <a:ext uri="{FF2B5EF4-FFF2-40B4-BE49-F238E27FC236}">
                      <a16:creationId xmlns:a16="http://schemas.microsoft.com/office/drawing/2014/main" id="{46873191-924E-9A83-B2DD-D3E691C5F6D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66" name="Freeform 6">
              <a:extLst>
                <a:ext uri="{FF2B5EF4-FFF2-40B4-BE49-F238E27FC236}">
                  <a16:creationId xmlns:a16="http://schemas.microsoft.com/office/drawing/2014/main" id="{989F39C9-B609-8F51-69DF-A6E82B6BFFD7}"/>
                </a:ext>
              </a:extLst>
            </p:cNvPr>
            <p:cNvSpPr>
              <a:spLocks/>
            </p:cNvSpPr>
            <p:nvPr/>
          </p:nvSpPr>
          <p:spPr bwMode="auto">
            <a:xfrm>
              <a:off x="4581324" y="4994579"/>
              <a:ext cx="542925" cy="295275"/>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7" name="Freeform 91">
              <a:extLst>
                <a:ext uri="{FF2B5EF4-FFF2-40B4-BE49-F238E27FC236}">
                  <a16:creationId xmlns:a16="http://schemas.microsoft.com/office/drawing/2014/main" id="{B768C914-D2BC-2413-962C-B1650FCB8A3E}"/>
                </a:ext>
              </a:extLst>
            </p:cNvPr>
            <p:cNvSpPr>
              <a:spLocks/>
            </p:cNvSpPr>
            <p:nvPr/>
          </p:nvSpPr>
          <p:spPr bwMode="auto">
            <a:xfrm>
              <a:off x="5622724" y="4988229"/>
              <a:ext cx="506413" cy="30797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Freeform 92">
              <a:extLst>
                <a:ext uri="{FF2B5EF4-FFF2-40B4-BE49-F238E27FC236}">
                  <a16:creationId xmlns:a16="http://schemas.microsoft.com/office/drawing/2014/main" id="{82730A8A-3A37-1E21-18BC-F719FC636D6F}"/>
                </a:ext>
              </a:extLst>
            </p:cNvPr>
            <p:cNvSpPr>
              <a:spLocks/>
            </p:cNvSpPr>
            <p:nvPr/>
          </p:nvSpPr>
          <p:spPr bwMode="auto">
            <a:xfrm>
              <a:off x="4557512" y="5380342"/>
              <a:ext cx="481012" cy="238125"/>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9" name="Freeform 93">
              <a:extLst>
                <a:ext uri="{FF2B5EF4-FFF2-40B4-BE49-F238E27FC236}">
                  <a16:creationId xmlns:a16="http://schemas.microsoft.com/office/drawing/2014/main" id="{B78B01D3-6D0D-33C2-DC9D-805C8DDFC0FC}"/>
                </a:ext>
              </a:extLst>
            </p:cNvPr>
            <p:cNvSpPr>
              <a:spLocks/>
            </p:cNvSpPr>
            <p:nvPr/>
          </p:nvSpPr>
          <p:spPr bwMode="auto">
            <a:xfrm>
              <a:off x="5505249" y="5356529"/>
              <a:ext cx="630238" cy="247650"/>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Freeform 94">
              <a:extLst>
                <a:ext uri="{FF2B5EF4-FFF2-40B4-BE49-F238E27FC236}">
                  <a16:creationId xmlns:a16="http://schemas.microsoft.com/office/drawing/2014/main" id="{6602CBE7-DD54-5AD4-2063-9B6ABAF99CE7}"/>
                </a:ext>
              </a:extLst>
            </p:cNvPr>
            <p:cNvSpPr>
              <a:spLocks/>
            </p:cNvSpPr>
            <p:nvPr/>
          </p:nvSpPr>
          <p:spPr bwMode="auto">
            <a:xfrm>
              <a:off x="6173587" y="5410504"/>
              <a:ext cx="206375" cy="50800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1" name="Freeform 95">
              <a:extLst>
                <a:ext uri="{FF2B5EF4-FFF2-40B4-BE49-F238E27FC236}">
                  <a16:creationId xmlns:a16="http://schemas.microsoft.com/office/drawing/2014/main" id="{E8AFA50B-3B72-95C4-3553-D79EAF7F6B67}"/>
                </a:ext>
              </a:extLst>
            </p:cNvPr>
            <p:cNvSpPr>
              <a:spLocks/>
            </p:cNvSpPr>
            <p:nvPr/>
          </p:nvSpPr>
          <p:spPr bwMode="auto">
            <a:xfrm>
              <a:off x="4936923" y="5943904"/>
              <a:ext cx="970395" cy="81756"/>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2" name="Freeform 96">
              <a:extLst>
                <a:ext uri="{FF2B5EF4-FFF2-40B4-BE49-F238E27FC236}">
                  <a16:creationId xmlns:a16="http://schemas.microsoft.com/office/drawing/2014/main" id="{C7347733-8D7E-2F64-1A2E-5411DF793DC7}"/>
                </a:ext>
              </a:extLst>
            </p:cNvPr>
            <p:cNvSpPr>
              <a:spLocks/>
            </p:cNvSpPr>
            <p:nvPr/>
          </p:nvSpPr>
          <p:spPr bwMode="auto">
            <a:xfrm>
              <a:off x="4400349" y="5424888"/>
              <a:ext cx="193675" cy="404716"/>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3" name="Group 314">
              <a:extLst>
                <a:ext uri="{FF2B5EF4-FFF2-40B4-BE49-F238E27FC236}">
                  <a16:creationId xmlns:a16="http://schemas.microsoft.com/office/drawing/2014/main" id="{995B48AC-4865-FC27-0A42-401AE5A05335}"/>
                </a:ext>
              </a:extLst>
            </p:cNvPr>
            <p:cNvGrpSpPr/>
            <p:nvPr/>
          </p:nvGrpSpPr>
          <p:grpSpPr>
            <a:xfrm>
              <a:off x="5868328" y="5862061"/>
              <a:ext cx="496248" cy="260542"/>
              <a:chOff x="7493876" y="2774731"/>
              <a:chExt cx="1481958" cy="894622"/>
            </a:xfrm>
          </p:grpSpPr>
          <p:sp>
            <p:nvSpPr>
              <p:cNvPr id="174" name="Freeform 315">
                <a:extLst>
                  <a:ext uri="{FF2B5EF4-FFF2-40B4-BE49-F238E27FC236}">
                    <a16:creationId xmlns:a16="http://schemas.microsoft.com/office/drawing/2014/main" id="{24948089-4E33-FC40-7AE5-4AF0350328B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5" name="Oval 316">
                <a:extLst>
                  <a:ext uri="{FF2B5EF4-FFF2-40B4-BE49-F238E27FC236}">
                    <a16:creationId xmlns:a16="http://schemas.microsoft.com/office/drawing/2014/main" id="{1D2C8C45-F8F4-F2EF-6F64-977F7172ACE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6" name="Group 317">
                <a:extLst>
                  <a:ext uri="{FF2B5EF4-FFF2-40B4-BE49-F238E27FC236}">
                    <a16:creationId xmlns:a16="http://schemas.microsoft.com/office/drawing/2014/main" id="{B9969D14-544C-A7A8-E6B1-C9AF8D69AC9F}"/>
                  </a:ext>
                </a:extLst>
              </p:cNvPr>
              <p:cNvGrpSpPr/>
              <p:nvPr/>
            </p:nvGrpSpPr>
            <p:grpSpPr>
              <a:xfrm>
                <a:off x="7713663" y="2848339"/>
                <a:ext cx="1042107" cy="425543"/>
                <a:chOff x="7786941" y="2884917"/>
                <a:chExt cx="897649" cy="353919"/>
              </a:xfrm>
            </p:grpSpPr>
            <p:sp>
              <p:nvSpPr>
                <p:cNvPr id="177" name="Freeform 318">
                  <a:extLst>
                    <a:ext uri="{FF2B5EF4-FFF2-40B4-BE49-F238E27FC236}">
                      <a16:creationId xmlns:a16="http://schemas.microsoft.com/office/drawing/2014/main" id="{BD3D5411-9F67-C1C9-73B9-10D261A2041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Freeform 319">
                  <a:extLst>
                    <a:ext uri="{FF2B5EF4-FFF2-40B4-BE49-F238E27FC236}">
                      <a16:creationId xmlns:a16="http://schemas.microsoft.com/office/drawing/2014/main" id="{7859F16D-0B27-24CB-3050-8D1D8B83700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Freeform 320">
                  <a:extLst>
                    <a:ext uri="{FF2B5EF4-FFF2-40B4-BE49-F238E27FC236}">
                      <a16:creationId xmlns:a16="http://schemas.microsoft.com/office/drawing/2014/main" id="{819DA626-6137-7353-6428-19024FFE27D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Freeform 321">
                  <a:extLst>
                    <a:ext uri="{FF2B5EF4-FFF2-40B4-BE49-F238E27FC236}">
                      <a16:creationId xmlns:a16="http://schemas.microsoft.com/office/drawing/2014/main" id="{1D88252D-93DD-0F62-AEDB-7BEB29AD147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sp>
        <p:nvSpPr>
          <p:cNvPr id="216" name="Text Box 8">
            <a:extLst>
              <a:ext uri="{FF2B5EF4-FFF2-40B4-BE49-F238E27FC236}">
                <a16:creationId xmlns:a16="http://schemas.microsoft.com/office/drawing/2014/main" id="{2288E58E-906E-2A1B-1979-CE67E1D185BC}"/>
              </a:ext>
            </a:extLst>
          </p:cNvPr>
          <p:cNvSpPr txBox="1">
            <a:spLocks noChangeArrowheads="1"/>
          </p:cNvSpPr>
          <p:nvPr/>
        </p:nvSpPr>
        <p:spPr bwMode="auto">
          <a:xfrm>
            <a:off x="3236006" y="3241126"/>
            <a:ext cx="9541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0" i="1" u="none" strike="noStrike" kern="1200" cap="none" spc="0" normalizeH="0" baseline="0" noProof="0" dirty="0">
                <a:ln>
                  <a:noFill/>
                </a:ln>
                <a:solidFill>
                  <a:srgbClr val="000099"/>
                </a:solidFill>
                <a:effectLst/>
                <a:uLnTx/>
                <a:uFillTx/>
                <a:latin typeface="华文仿宋" panose="02010600040101010101" pitchFamily="2" charset="-122"/>
                <a:ea typeface="华文仿宋" panose="02010600040101010101" pitchFamily="2" charset="-122"/>
              </a:rPr>
              <a:t>源主机</a:t>
            </a:r>
            <a:endParaRPr kumimoji="0" lang="en-US" altLang="en-US" sz="2800" b="0" i="1" u="none" strike="noStrike" kern="1200" cap="none" spc="0" normalizeH="0" baseline="0" noProof="0" dirty="0">
              <a:ln>
                <a:noFill/>
              </a:ln>
              <a:solidFill>
                <a:srgbClr val="000099"/>
              </a:solidFill>
              <a:effectLst/>
              <a:uLnTx/>
              <a:uFillTx/>
              <a:latin typeface="华文仿宋" panose="02010600040101010101" pitchFamily="2" charset="-122"/>
              <a:ea typeface="华文仿宋" panose="02010600040101010101" pitchFamily="2" charset="-122"/>
            </a:endParaRPr>
          </a:p>
        </p:txBody>
      </p:sp>
      <p:sp>
        <p:nvSpPr>
          <p:cNvPr id="217" name="Freeform 10">
            <a:extLst>
              <a:ext uri="{FF2B5EF4-FFF2-40B4-BE49-F238E27FC236}">
                <a16:creationId xmlns:a16="http://schemas.microsoft.com/office/drawing/2014/main" id="{8E842E7B-F0C7-73F4-1223-BF81D8F15136}"/>
              </a:ext>
            </a:extLst>
          </p:cNvPr>
          <p:cNvSpPr>
            <a:spLocks/>
          </p:cNvSpPr>
          <p:nvPr/>
        </p:nvSpPr>
        <p:spPr bwMode="auto">
          <a:xfrm flipH="1">
            <a:off x="2819297" y="3572913"/>
            <a:ext cx="326408" cy="1262816"/>
          </a:xfrm>
          <a:custGeom>
            <a:avLst/>
            <a:gdLst>
              <a:gd name="T0" fmla="*/ 2147483647 w 12213"/>
              <a:gd name="T1" fmla="*/ 2147483647 h 10000"/>
              <a:gd name="T2" fmla="*/ 0 w 12213"/>
              <a:gd name="T3" fmla="*/ 0 h 10000"/>
              <a:gd name="T4" fmla="*/ 0 w 12213"/>
              <a:gd name="T5" fmla="*/ 2147483647 h 10000"/>
              <a:gd name="T6" fmla="*/ 2147483647 w 12213"/>
              <a:gd name="T7" fmla="*/ 2147483647 h 10000"/>
              <a:gd name="T8" fmla="*/ 2147483647 w 12213"/>
              <a:gd name="T9" fmla="*/ 2147483647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13" h="10000">
                <a:moveTo>
                  <a:pt x="11726" y="4661"/>
                </a:moveTo>
                <a:lnTo>
                  <a:pt x="0" y="0"/>
                </a:lnTo>
                <a:lnTo>
                  <a:pt x="0" y="10000"/>
                </a:lnTo>
                <a:lnTo>
                  <a:pt x="12213" y="6473"/>
                </a:lnTo>
                <a:lnTo>
                  <a:pt x="11726" y="4661"/>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8" name="Rectangle 23">
            <a:extLst>
              <a:ext uri="{FF2B5EF4-FFF2-40B4-BE49-F238E27FC236}">
                <a16:creationId xmlns:a16="http://schemas.microsoft.com/office/drawing/2014/main" id="{C597E817-75FC-3864-32CF-596D75B4F056}"/>
              </a:ext>
            </a:extLst>
          </p:cNvPr>
          <p:cNvSpPr>
            <a:spLocks noChangeArrowheads="1"/>
          </p:cNvSpPr>
          <p:nvPr/>
        </p:nvSpPr>
        <p:spPr bwMode="auto">
          <a:xfrm>
            <a:off x="3192360" y="3557037"/>
            <a:ext cx="1062368" cy="1290639"/>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9" name="Rectangle 24">
            <a:extLst>
              <a:ext uri="{FF2B5EF4-FFF2-40B4-BE49-F238E27FC236}">
                <a16:creationId xmlns:a16="http://schemas.microsoft.com/office/drawing/2014/main" id="{31D9EFA7-2B9B-F1C8-173B-674B3103AF84}"/>
              </a:ext>
            </a:extLst>
          </p:cNvPr>
          <p:cNvSpPr>
            <a:spLocks noChangeArrowheads="1"/>
          </p:cNvSpPr>
          <p:nvPr/>
        </p:nvSpPr>
        <p:spPr bwMode="auto">
          <a:xfrm>
            <a:off x="3152672" y="3596726"/>
            <a:ext cx="1066800" cy="1231900"/>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0" name="Line 25">
            <a:extLst>
              <a:ext uri="{FF2B5EF4-FFF2-40B4-BE49-F238E27FC236}">
                <a16:creationId xmlns:a16="http://schemas.microsoft.com/office/drawing/2014/main" id="{87AADE9F-3DE9-C018-F29B-B2A536E9F7C7}"/>
              </a:ext>
            </a:extLst>
          </p:cNvPr>
          <p:cNvSpPr>
            <a:spLocks noChangeShapeType="1"/>
          </p:cNvSpPr>
          <p:nvPr/>
        </p:nvSpPr>
        <p:spPr bwMode="auto">
          <a:xfrm>
            <a:off x="3152672" y="3874538"/>
            <a:ext cx="1058862"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1" name="Text Box 26">
            <a:extLst>
              <a:ext uri="{FF2B5EF4-FFF2-40B4-BE49-F238E27FC236}">
                <a16:creationId xmlns:a16="http://schemas.microsoft.com/office/drawing/2014/main" id="{5805C496-51D7-AFD2-4949-80CFF8BFC04D}"/>
              </a:ext>
            </a:extLst>
          </p:cNvPr>
          <p:cNvSpPr txBox="1">
            <a:spLocks noChangeArrowheads="1"/>
          </p:cNvSpPr>
          <p:nvPr/>
        </p:nvSpPr>
        <p:spPr bwMode="auto">
          <a:xfrm>
            <a:off x="3111638" y="3604135"/>
            <a:ext cx="1104900" cy="12747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application</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A3"/>
                </a:solidFill>
                <a:effectLst/>
                <a:uLnTx/>
                <a:uFillTx/>
                <a:latin typeface="Arial" charset="0"/>
                <a:ea typeface="ＭＳ Ｐゴシック" charset="0"/>
              </a:rPr>
              <a:t>TCP</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physical</a:t>
            </a:r>
          </a:p>
        </p:txBody>
      </p:sp>
      <p:grpSp>
        <p:nvGrpSpPr>
          <p:cNvPr id="222" name="Group 190">
            <a:extLst>
              <a:ext uri="{FF2B5EF4-FFF2-40B4-BE49-F238E27FC236}">
                <a16:creationId xmlns:a16="http://schemas.microsoft.com/office/drawing/2014/main" id="{9FC2692F-04EE-26E1-C03C-E844521F63F4}"/>
              </a:ext>
            </a:extLst>
          </p:cNvPr>
          <p:cNvGrpSpPr>
            <a:grpSpLocks/>
          </p:cNvGrpSpPr>
          <p:nvPr/>
        </p:nvGrpSpPr>
        <p:grpSpPr bwMode="auto">
          <a:xfrm flipH="1">
            <a:off x="2489097" y="4071388"/>
            <a:ext cx="673100" cy="701675"/>
            <a:chOff x="-44" y="1473"/>
            <a:chExt cx="981" cy="1105"/>
          </a:xfrm>
        </p:grpSpPr>
        <p:pic>
          <p:nvPicPr>
            <p:cNvPr id="223" name="Picture 191" descr="desktop_computer_stylized_medium">
              <a:extLst>
                <a:ext uri="{FF2B5EF4-FFF2-40B4-BE49-F238E27FC236}">
                  <a16:creationId xmlns:a16="http://schemas.microsoft.com/office/drawing/2014/main" id="{EE1B72E8-F7F4-065C-CD8E-27020FB756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 name="Freeform 192">
              <a:extLst>
                <a:ext uri="{FF2B5EF4-FFF2-40B4-BE49-F238E27FC236}">
                  <a16:creationId xmlns:a16="http://schemas.microsoft.com/office/drawing/2014/main" id="{0D78F097-281B-C008-CF09-151EFA6EEBB6}"/>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25" name="Line 25">
            <a:extLst>
              <a:ext uri="{FF2B5EF4-FFF2-40B4-BE49-F238E27FC236}">
                <a16:creationId xmlns:a16="http://schemas.microsoft.com/office/drawing/2014/main" id="{19446132-3132-64F2-D58C-4A4016A0DBEC}"/>
              </a:ext>
            </a:extLst>
          </p:cNvPr>
          <p:cNvSpPr>
            <a:spLocks noChangeShapeType="1"/>
          </p:cNvSpPr>
          <p:nvPr/>
        </p:nvSpPr>
        <p:spPr bwMode="auto">
          <a:xfrm>
            <a:off x="3157434" y="4103138"/>
            <a:ext cx="1058863"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Line 25">
            <a:extLst>
              <a:ext uri="{FF2B5EF4-FFF2-40B4-BE49-F238E27FC236}">
                <a16:creationId xmlns:a16="http://schemas.microsoft.com/office/drawing/2014/main" id="{476F7D13-5109-DB6B-A1CF-545DD12FC0BA}"/>
              </a:ext>
            </a:extLst>
          </p:cNvPr>
          <p:cNvSpPr>
            <a:spLocks noChangeShapeType="1"/>
          </p:cNvSpPr>
          <p:nvPr/>
        </p:nvSpPr>
        <p:spPr bwMode="auto">
          <a:xfrm>
            <a:off x="3162197" y="4331738"/>
            <a:ext cx="1058862"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Line 25">
            <a:extLst>
              <a:ext uri="{FF2B5EF4-FFF2-40B4-BE49-F238E27FC236}">
                <a16:creationId xmlns:a16="http://schemas.microsoft.com/office/drawing/2014/main" id="{E7BE0E13-7232-9E56-9198-90692E13506E}"/>
              </a:ext>
            </a:extLst>
          </p:cNvPr>
          <p:cNvSpPr>
            <a:spLocks noChangeShapeType="1"/>
          </p:cNvSpPr>
          <p:nvPr/>
        </p:nvSpPr>
        <p:spPr bwMode="auto">
          <a:xfrm>
            <a:off x="3165372" y="4571451"/>
            <a:ext cx="1060450"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8" name="Group 3">
            <a:extLst>
              <a:ext uri="{FF2B5EF4-FFF2-40B4-BE49-F238E27FC236}">
                <a16:creationId xmlns:a16="http://schemas.microsoft.com/office/drawing/2014/main" id="{CDB35327-76EE-EE48-74BF-810C4CC849AA}"/>
              </a:ext>
            </a:extLst>
          </p:cNvPr>
          <p:cNvGrpSpPr>
            <a:grpSpLocks/>
          </p:cNvGrpSpPr>
          <p:nvPr/>
        </p:nvGrpSpPr>
        <p:grpSpPr bwMode="auto">
          <a:xfrm>
            <a:off x="8140727" y="3321059"/>
            <a:ext cx="2039808" cy="1620287"/>
            <a:chOff x="4890815" y="4007261"/>
            <a:chExt cx="2038753" cy="1619544"/>
          </a:xfrm>
        </p:grpSpPr>
        <p:sp>
          <p:nvSpPr>
            <p:cNvPr id="229" name="Text Box 54">
              <a:extLst>
                <a:ext uri="{FF2B5EF4-FFF2-40B4-BE49-F238E27FC236}">
                  <a16:creationId xmlns:a16="http://schemas.microsoft.com/office/drawing/2014/main" id="{646E7DAE-C117-BB27-D424-D076CE4959A9}"/>
                </a:ext>
              </a:extLst>
            </p:cNvPr>
            <p:cNvSpPr txBox="1">
              <a:spLocks noChangeArrowheads="1"/>
            </p:cNvSpPr>
            <p:nvPr/>
          </p:nvSpPr>
          <p:spPr bwMode="auto">
            <a:xfrm>
              <a:off x="4890815" y="4007261"/>
              <a:ext cx="1209963" cy="399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0" i="1" u="none" strike="noStrike" kern="0" cap="none" spc="0" normalizeH="0" baseline="0" noProof="0" dirty="0">
                  <a:ln>
                    <a:noFill/>
                  </a:ln>
                  <a:solidFill>
                    <a:srgbClr val="000099"/>
                  </a:solidFill>
                  <a:effectLst/>
                  <a:uLnTx/>
                  <a:uFillTx/>
                  <a:latin typeface="华文仿宋" panose="02010600040101010101" pitchFamily="2" charset="-122"/>
                  <a:ea typeface="华文仿宋" panose="02010600040101010101" pitchFamily="2" charset="-122"/>
                </a:rPr>
                <a:t>目标主机</a:t>
              </a:r>
              <a:endParaRPr kumimoji="0" lang="en-US" altLang="en-US" sz="2800" b="0" i="1" u="none" strike="noStrike" kern="0" cap="none" spc="0" normalizeH="0" baseline="0" noProof="0" dirty="0">
                <a:ln>
                  <a:noFill/>
                </a:ln>
                <a:solidFill>
                  <a:srgbClr val="000099"/>
                </a:solidFill>
                <a:effectLst/>
                <a:uLnTx/>
                <a:uFillTx/>
                <a:latin typeface="华文仿宋" panose="02010600040101010101" pitchFamily="2" charset="-122"/>
                <a:ea typeface="华文仿宋" panose="02010600040101010101" pitchFamily="2" charset="-122"/>
              </a:endParaRPr>
            </a:p>
          </p:txBody>
        </p:sp>
        <p:grpSp>
          <p:nvGrpSpPr>
            <p:cNvPr id="230" name="Group 2">
              <a:extLst>
                <a:ext uri="{FF2B5EF4-FFF2-40B4-BE49-F238E27FC236}">
                  <a16:creationId xmlns:a16="http://schemas.microsoft.com/office/drawing/2014/main" id="{E991261F-FE16-DF23-0EC5-70C2E3D24302}"/>
                </a:ext>
              </a:extLst>
            </p:cNvPr>
            <p:cNvGrpSpPr>
              <a:grpSpLocks/>
            </p:cNvGrpSpPr>
            <p:nvPr/>
          </p:nvGrpSpPr>
          <p:grpSpPr bwMode="auto">
            <a:xfrm>
              <a:off x="4927179" y="4319856"/>
              <a:ext cx="2002389" cy="1306949"/>
              <a:chOff x="1305623" y="4714561"/>
              <a:chExt cx="2002389" cy="1306949"/>
            </a:xfrm>
          </p:grpSpPr>
          <p:sp>
            <p:nvSpPr>
              <p:cNvPr id="231" name="Freeform 10">
                <a:extLst>
                  <a:ext uri="{FF2B5EF4-FFF2-40B4-BE49-F238E27FC236}">
                    <a16:creationId xmlns:a16="http://schemas.microsoft.com/office/drawing/2014/main" id="{BD196AFB-C729-C95C-7956-527F29534E08}"/>
                  </a:ext>
                </a:extLst>
              </p:cNvPr>
              <p:cNvSpPr>
                <a:spLocks/>
              </p:cNvSpPr>
              <p:nvPr/>
            </p:nvSpPr>
            <p:spPr bwMode="auto">
              <a:xfrm>
                <a:off x="2426569" y="4714561"/>
                <a:ext cx="288261" cy="1290044"/>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2" name="Rectangle 23">
                <a:extLst>
                  <a:ext uri="{FF2B5EF4-FFF2-40B4-BE49-F238E27FC236}">
                    <a16:creationId xmlns:a16="http://schemas.microsoft.com/office/drawing/2014/main" id="{A96BCCD1-6C6E-26A3-2EC9-544F58FD17D4}"/>
                  </a:ext>
                </a:extLst>
              </p:cNvPr>
              <p:cNvSpPr>
                <a:spLocks noChangeArrowheads="1"/>
              </p:cNvSpPr>
              <p:nvPr/>
            </p:nvSpPr>
            <p:spPr bwMode="auto">
              <a:xfrm>
                <a:off x="1398616" y="4722494"/>
                <a:ext cx="1045433" cy="127129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3" name="Rectangle 24">
                <a:extLst>
                  <a:ext uri="{FF2B5EF4-FFF2-40B4-BE49-F238E27FC236}">
                    <a16:creationId xmlns:a16="http://schemas.microsoft.com/office/drawing/2014/main" id="{7F356254-F9C0-540C-6807-55931298A852}"/>
                  </a:ext>
                </a:extLst>
              </p:cNvPr>
              <p:cNvSpPr>
                <a:spLocks noChangeArrowheads="1"/>
              </p:cNvSpPr>
              <p:nvPr/>
            </p:nvSpPr>
            <p:spPr bwMode="auto">
              <a:xfrm>
                <a:off x="1341249" y="4752754"/>
                <a:ext cx="1067215" cy="1231976"/>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4" name="Line 25">
                <a:extLst>
                  <a:ext uri="{FF2B5EF4-FFF2-40B4-BE49-F238E27FC236}">
                    <a16:creationId xmlns:a16="http://schemas.microsoft.com/office/drawing/2014/main" id="{D1FB5BC1-AC05-C999-3828-A660A87327F0}"/>
                  </a:ext>
                </a:extLst>
              </p:cNvPr>
              <p:cNvSpPr>
                <a:spLocks noChangeShapeType="1"/>
              </p:cNvSpPr>
              <p:nvPr/>
            </p:nvSpPr>
            <p:spPr bwMode="auto">
              <a:xfrm>
                <a:off x="1341249" y="50313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5" name="Text Box 26">
                <a:extLst>
                  <a:ext uri="{FF2B5EF4-FFF2-40B4-BE49-F238E27FC236}">
                    <a16:creationId xmlns:a16="http://schemas.microsoft.com/office/drawing/2014/main" id="{86143649-ADE7-9B13-FF57-57E92B4A156C}"/>
                  </a:ext>
                </a:extLst>
              </p:cNvPr>
              <p:cNvSpPr txBox="1">
                <a:spLocks noChangeArrowheads="1"/>
              </p:cNvSpPr>
              <p:nvPr/>
            </p:nvSpPr>
            <p:spPr bwMode="auto">
              <a:xfrm>
                <a:off x="1305623" y="4747333"/>
                <a:ext cx="1104329" cy="12741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application</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A3"/>
                    </a:solidFill>
                    <a:effectLst/>
                    <a:uLnTx/>
                    <a:uFillTx/>
                    <a:latin typeface="Arial" charset="0"/>
                    <a:ea typeface="ＭＳ Ｐゴシック" charset="0"/>
                  </a:rPr>
                  <a:t>TCP</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physical</a:t>
                </a:r>
              </a:p>
            </p:txBody>
          </p:sp>
          <p:grpSp>
            <p:nvGrpSpPr>
              <p:cNvPr id="236" name="Group 190">
                <a:extLst>
                  <a:ext uri="{FF2B5EF4-FFF2-40B4-BE49-F238E27FC236}">
                    <a16:creationId xmlns:a16="http://schemas.microsoft.com/office/drawing/2014/main" id="{879A1535-4D4A-E7C0-6A29-101B5B733D3A}"/>
                  </a:ext>
                </a:extLst>
              </p:cNvPr>
              <p:cNvGrpSpPr>
                <a:grpSpLocks/>
              </p:cNvGrpSpPr>
              <p:nvPr/>
            </p:nvGrpSpPr>
            <p:grpSpPr bwMode="auto">
              <a:xfrm flipH="1">
                <a:off x="2634682" y="5076164"/>
                <a:ext cx="673330" cy="701684"/>
                <a:chOff x="-44" y="1473"/>
                <a:chExt cx="981" cy="1105"/>
              </a:xfrm>
            </p:grpSpPr>
            <p:pic>
              <p:nvPicPr>
                <p:cNvPr id="240" name="Picture 191" descr="desktop_computer_stylized_medium">
                  <a:extLst>
                    <a:ext uri="{FF2B5EF4-FFF2-40B4-BE49-F238E27FC236}">
                      <a16:creationId xmlns:a16="http://schemas.microsoft.com/office/drawing/2014/main" id="{F4BFB680-4DC0-8E2C-4A1A-3E1C14BF5C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1" name="Freeform 192">
                  <a:extLst>
                    <a:ext uri="{FF2B5EF4-FFF2-40B4-BE49-F238E27FC236}">
                      <a16:creationId xmlns:a16="http://schemas.microsoft.com/office/drawing/2014/main" id="{FE53C974-8DCB-F5A8-C910-A9765BC227A4}"/>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37" name="Line 25">
                <a:extLst>
                  <a:ext uri="{FF2B5EF4-FFF2-40B4-BE49-F238E27FC236}">
                    <a16:creationId xmlns:a16="http://schemas.microsoft.com/office/drawing/2014/main" id="{88FFFA17-62B6-D6CB-9024-C46B9CD10DBD}"/>
                  </a:ext>
                </a:extLst>
              </p:cNvPr>
              <p:cNvSpPr>
                <a:spLocks noChangeShapeType="1"/>
              </p:cNvSpPr>
              <p:nvPr/>
            </p:nvSpPr>
            <p:spPr bwMode="auto">
              <a:xfrm>
                <a:off x="1345720" y="52602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Line 25">
                <a:extLst>
                  <a:ext uri="{FF2B5EF4-FFF2-40B4-BE49-F238E27FC236}">
                    <a16:creationId xmlns:a16="http://schemas.microsoft.com/office/drawing/2014/main" id="{EC92751C-FA20-29CB-E87B-8FC7B1C08EC9}"/>
                  </a:ext>
                </a:extLst>
              </p:cNvPr>
              <p:cNvSpPr>
                <a:spLocks noChangeShapeType="1"/>
              </p:cNvSpPr>
              <p:nvPr/>
            </p:nvSpPr>
            <p:spPr bwMode="auto">
              <a:xfrm>
                <a:off x="1350191" y="54891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Line 25">
                <a:extLst>
                  <a:ext uri="{FF2B5EF4-FFF2-40B4-BE49-F238E27FC236}">
                    <a16:creationId xmlns:a16="http://schemas.microsoft.com/office/drawing/2014/main" id="{B44AE2F1-B05A-1623-8D6F-E70BB7D872BE}"/>
                  </a:ext>
                </a:extLst>
              </p:cNvPr>
              <p:cNvSpPr>
                <a:spLocks noChangeShapeType="1"/>
              </p:cNvSpPr>
              <p:nvPr/>
            </p:nvSpPr>
            <p:spPr bwMode="auto">
              <a:xfrm>
                <a:off x="1354662" y="57282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sp>
        <p:nvSpPr>
          <p:cNvPr id="242" name="Freeform 7">
            <a:extLst>
              <a:ext uri="{FF2B5EF4-FFF2-40B4-BE49-F238E27FC236}">
                <a16:creationId xmlns:a16="http://schemas.microsoft.com/office/drawing/2014/main" id="{AFBE31F5-C58C-ECCB-2117-9C49334D6FFB}"/>
              </a:ext>
            </a:extLst>
          </p:cNvPr>
          <p:cNvSpPr>
            <a:spLocks/>
          </p:cNvSpPr>
          <p:nvPr/>
        </p:nvSpPr>
        <p:spPr bwMode="auto">
          <a:xfrm>
            <a:off x="3667644" y="4071058"/>
            <a:ext cx="5073926" cy="1298611"/>
          </a:xfrm>
          <a:custGeom>
            <a:avLst/>
            <a:gdLst>
              <a:gd name="T0" fmla="*/ 0 w 5156094"/>
              <a:gd name="T1" fmla="*/ 0 h 1509215"/>
              <a:gd name="T2" fmla="*/ 6961 w 5156094"/>
              <a:gd name="T3" fmla="*/ 1168047 h 1509215"/>
              <a:gd name="T4" fmla="*/ 1131015 w 5156094"/>
              <a:gd name="T5" fmla="*/ 1170389 h 1509215"/>
              <a:gd name="T6" fmla="*/ 1755021 w 5156094"/>
              <a:gd name="T7" fmla="*/ 1490285 h 1509215"/>
              <a:gd name="T8" fmla="*/ 2207298 w 5156094"/>
              <a:gd name="T9" fmla="*/ 1510706 h 1509215"/>
              <a:gd name="T10" fmla="*/ 2988945 w 5156094"/>
              <a:gd name="T11" fmla="*/ 1198737 h 1509215"/>
              <a:gd name="T12" fmla="*/ 3391674 w 5156094"/>
              <a:gd name="T13" fmla="*/ 1210330 h 1509215"/>
              <a:gd name="T14" fmla="*/ 5156412 w 5156094"/>
              <a:gd name="T15" fmla="*/ 1199641 h 1509215"/>
              <a:gd name="T16" fmla="*/ 5126696 w 5156094"/>
              <a:gd name="T17" fmla="*/ 64147 h 15092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207163 w 5156094"/>
              <a:gd name="connsiteY4" fmla="*/ 1509215 h 1559667"/>
              <a:gd name="connsiteX5" fmla="*/ 2988762 w 5156094"/>
              <a:gd name="connsiteY5" fmla="*/ 1197554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88762 w 5156094"/>
              <a:gd name="connsiteY5" fmla="*/ 1197554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30257 w 5156094"/>
              <a:gd name="connsiteY5" fmla="*/ 1152811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30257 w 5156094"/>
              <a:gd name="connsiteY5" fmla="*/ 1152811 h 1559667"/>
              <a:gd name="connsiteX6" fmla="*/ 5156094 w 5156094"/>
              <a:gd name="connsiteY6" fmla="*/ 1198456 h 1559667"/>
              <a:gd name="connsiteX7" fmla="*/ 5126381 w 5156094"/>
              <a:gd name="connsiteY7" fmla="*/ 64084 h 155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56094" h="1559667">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w="22225">
            <a:solidFill>
              <a:srgbClr val="000090"/>
            </a:solidFill>
            <a:round/>
            <a:headEnd/>
            <a:tailEnd/>
          </a:ln>
          <a:extLst>
            <a:ext uri="{909E8E84-426E-40DD-AFC4-6F175D3DCCD1}">
              <a14:hiddenFill xmlns:a14="http://schemas.microsoft.com/office/drawing/2010/main">
                <a:solidFill>
                  <a:srgbClr val="FFFFFF"/>
                </a:solidFill>
              </a14:hiddenFill>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43" name="Group 15">
            <a:extLst>
              <a:ext uri="{FF2B5EF4-FFF2-40B4-BE49-F238E27FC236}">
                <a16:creationId xmlns:a16="http://schemas.microsoft.com/office/drawing/2014/main" id="{F0B3DD50-C453-316F-0E1D-EDB1E51AE3A8}"/>
              </a:ext>
            </a:extLst>
          </p:cNvPr>
          <p:cNvGrpSpPr/>
          <p:nvPr/>
        </p:nvGrpSpPr>
        <p:grpSpPr>
          <a:xfrm>
            <a:off x="5177079" y="5164959"/>
            <a:ext cx="876995" cy="403711"/>
            <a:chOff x="5033182" y="4091488"/>
            <a:chExt cx="876995" cy="403711"/>
          </a:xfrm>
        </p:grpSpPr>
        <p:cxnSp>
          <p:nvCxnSpPr>
            <p:cNvPr id="244" name="Straight Connector 14">
              <a:extLst>
                <a:ext uri="{FF2B5EF4-FFF2-40B4-BE49-F238E27FC236}">
                  <a16:creationId xmlns:a16="http://schemas.microsoft.com/office/drawing/2014/main" id="{6C7ECCD7-1260-9C34-B07A-B2C381C140EC}"/>
                </a:ext>
              </a:extLst>
            </p:cNvPr>
            <p:cNvCxnSpPr/>
            <p:nvPr/>
          </p:nvCxnSpPr>
          <p:spPr>
            <a:xfrm>
              <a:off x="5518407" y="4289261"/>
              <a:ext cx="869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5" name="Rectangle 7">
              <a:extLst>
                <a:ext uri="{FF2B5EF4-FFF2-40B4-BE49-F238E27FC236}">
                  <a16:creationId xmlns:a16="http://schemas.microsoft.com/office/drawing/2014/main" id="{31B2BFAE-D1B1-AD51-3F72-80FCB8F929C9}"/>
                </a:ext>
              </a:extLst>
            </p:cNvPr>
            <p:cNvSpPr/>
            <p:nvPr/>
          </p:nvSpPr>
          <p:spPr>
            <a:xfrm>
              <a:off x="5150875" y="4091488"/>
              <a:ext cx="382771" cy="403711"/>
            </a:xfrm>
            <a:prstGeom prst="rect">
              <a:avLst/>
            </a:prstGeom>
            <a:solidFill>
              <a:srgbClr val="E4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6" name="Oval 8">
              <a:extLst>
                <a:ext uri="{FF2B5EF4-FFF2-40B4-BE49-F238E27FC236}">
                  <a16:creationId xmlns:a16="http://schemas.microsoft.com/office/drawing/2014/main" id="{569E6FD1-9642-B01F-4E84-B05EE974555B}"/>
                </a:ext>
              </a:extLst>
            </p:cNvPr>
            <p:cNvSpPr/>
            <p:nvPr/>
          </p:nvSpPr>
          <p:spPr>
            <a:xfrm>
              <a:off x="5565439" y="4115310"/>
              <a:ext cx="344738" cy="344738"/>
            </a:xfrm>
            <a:prstGeom prst="ellipse">
              <a:avLst/>
            </a:prstGeom>
            <a:solidFill>
              <a:srgbClr val="E4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7" name="Straight Connector 12">
              <a:extLst>
                <a:ext uri="{FF2B5EF4-FFF2-40B4-BE49-F238E27FC236}">
                  <a16:creationId xmlns:a16="http://schemas.microsoft.com/office/drawing/2014/main" id="{49BEAB3D-EEA6-95B8-2710-AD3E26AFBCB3}"/>
                </a:ext>
              </a:extLst>
            </p:cNvPr>
            <p:cNvCxnSpPr/>
            <p:nvPr/>
          </p:nvCxnSpPr>
          <p:spPr>
            <a:xfrm>
              <a:off x="5427947" y="4125482"/>
              <a:ext cx="0" cy="3285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8" name="Straight Connector 96">
              <a:extLst>
                <a:ext uri="{FF2B5EF4-FFF2-40B4-BE49-F238E27FC236}">
                  <a16:creationId xmlns:a16="http://schemas.microsoft.com/office/drawing/2014/main" id="{5E51B940-7503-7E17-5148-50E638744DDF}"/>
                </a:ext>
              </a:extLst>
            </p:cNvPr>
            <p:cNvCxnSpPr/>
            <p:nvPr/>
          </p:nvCxnSpPr>
          <p:spPr>
            <a:xfrm>
              <a:off x="5330094" y="4125482"/>
              <a:ext cx="0" cy="3285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9" name="Straight Connector 97">
              <a:extLst>
                <a:ext uri="{FF2B5EF4-FFF2-40B4-BE49-F238E27FC236}">
                  <a16:creationId xmlns:a16="http://schemas.microsoft.com/office/drawing/2014/main" id="{624959A6-7691-C208-39BA-2E2C5DA4B795}"/>
                </a:ext>
              </a:extLst>
            </p:cNvPr>
            <p:cNvCxnSpPr/>
            <p:nvPr/>
          </p:nvCxnSpPr>
          <p:spPr>
            <a:xfrm>
              <a:off x="5238591" y="4125482"/>
              <a:ext cx="0" cy="3285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50" name="Rectangle 98">
              <a:extLst>
                <a:ext uri="{FF2B5EF4-FFF2-40B4-BE49-F238E27FC236}">
                  <a16:creationId xmlns:a16="http://schemas.microsoft.com/office/drawing/2014/main" id="{577609EE-DD9D-A4D0-3814-0ACB069DC025}"/>
                </a:ext>
              </a:extLst>
            </p:cNvPr>
            <p:cNvSpPr/>
            <p:nvPr/>
          </p:nvSpPr>
          <p:spPr>
            <a:xfrm>
              <a:off x="5033182" y="4091488"/>
              <a:ext cx="112907" cy="4037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51" name="Group 21">
            <a:extLst>
              <a:ext uri="{FF2B5EF4-FFF2-40B4-BE49-F238E27FC236}">
                <a16:creationId xmlns:a16="http://schemas.microsoft.com/office/drawing/2014/main" id="{A150343F-2EBC-0E6F-E6E1-55E257EA2EF2}"/>
              </a:ext>
            </a:extLst>
          </p:cNvPr>
          <p:cNvGrpSpPr/>
          <p:nvPr/>
        </p:nvGrpSpPr>
        <p:grpSpPr>
          <a:xfrm>
            <a:off x="3951993" y="2977646"/>
            <a:ext cx="4208491" cy="1038257"/>
            <a:chOff x="3613959" y="3330565"/>
            <a:chExt cx="4208491" cy="1038257"/>
          </a:xfrm>
        </p:grpSpPr>
        <p:sp>
          <p:nvSpPr>
            <p:cNvPr id="252" name="TextBox 17">
              <a:extLst>
                <a:ext uri="{FF2B5EF4-FFF2-40B4-BE49-F238E27FC236}">
                  <a16:creationId xmlns:a16="http://schemas.microsoft.com/office/drawing/2014/main" id="{2ECA387B-FAAA-0AFC-0DFA-6821DCA7B8E2}"/>
                </a:ext>
              </a:extLst>
            </p:cNvPr>
            <p:cNvSpPr txBox="1"/>
            <p:nvPr/>
          </p:nvSpPr>
          <p:spPr>
            <a:xfrm>
              <a:off x="3932558" y="3330565"/>
              <a:ext cx="3889892" cy="592919"/>
            </a:xfrm>
            <a:prstGeom prst="rect">
              <a:avLst/>
            </a:prstGeom>
            <a:noFill/>
          </p:spPr>
          <p:txBody>
            <a:bodyPr wrap="square" rtlCol="0">
              <a:spAutoFit/>
            </a:bodyPr>
            <a:lstStyle/>
            <a:p>
              <a:pPr marL="460375" marR="0" lvl="0" indent="-460375" algn="l" defTabSz="914400" rtl="0" eaLnBrk="1" fontAlgn="auto" latinLnBrk="0" hangingPunct="1">
                <a:lnSpc>
                  <a:spcPct val="9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A3"/>
                  </a:solidFill>
                  <a:effectLst/>
                  <a:uLnTx/>
                  <a:uFillTx/>
                  <a:latin typeface="华文仿宋" panose="02010600040101010101" pitchFamily="2" charset="-122"/>
                  <a:ea typeface="华文仿宋" panose="02010600040101010101" pitchFamily="2" charset="-122"/>
                </a:rPr>
                <a:t>启示：</a:t>
              </a:r>
              <a:r>
                <a:rPr kumimoji="0" lang="zh-CN" altLang="en-US" sz="1800" i="0" u="none" strike="noStrike" kern="1200" cap="none" spc="0" normalizeH="0" baseline="0" noProof="0" dirty="0">
                  <a:ln>
                    <a:noFill/>
                  </a:ln>
                  <a:effectLst/>
                  <a:uLnTx/>
                  <a:uFillTx/>
                  <a:latin typeface="华文仿宋" panose="02010600040101010101" pitchFamily="2" charset="-122"/>
                  <a:ea typeface="华文仿宋" panose="02010600040101010101" pitchFamily="2" charset="-122"/>
                </a:rPr>
                <a:t>提高 </a:t>
              </a:r>
              <a:r>
                <a:rPr kumimoji="0" lang="en-US" altLang="zh-CN" sz="1800" i="0" u="none" strike="noStrike" kern="1200" cap="none" spc="0" normalizeH="0" baseline="0" noProof="0" dirty="0">
                  <a:ln>
                    <a:noFill/>
                  </a:ln>
                  <a:effectLst/>
                  <a:uLnTx/>
                  <a:uFillTx/>
                  <a:latin typeface="华文仿宋" panose="02010600040101010101" pitchFamily="2" charset="-122"/>
                  <a:ea typeface="华文仿宋" panose="02010600040101010101" pitchFamily="2" charset="-122"/>
                </a:rPr>
                <a:t>TCP </a:t>
              </a:r>
              <a:r>
                <a:rPr kumimoji="0" lang="zh-CN" altLang="en-US" sz="1800" i="0" u="none" strike="noStrike" kern="1200" cap="none" spc="0" normalizeH="0" baseline="0" noProof="0" dirty="0">
                  <a:ln>
                    <a:noFill/>
                  </a:ln>
                  <a:effectLst/>
                  <a:uLnTx/>
                  <a:uFillTx/>
                  <a:latin typeface="华文仿宋" panose="02010600040101010101" pitchFamily="2" charset="-122"/>
                  <a:ea typeface="华文仿宋" panose="02010600040101010101" pitchFamily="2" charset="-122"/>
                </a:rPr>
                <a:t>发送速率并不会增加存在拥塞瓶颈的端到端吞吐量</a:t>
              </a:r>
              <a:endParaRPr kumimoji="0" lang="en-US" sz="1800" i="0" u="none" strike="noStrike" kern="1200" cap="none" spc="0" normalizeH="0" baseline="0" noProof="0" dirty="0">
                <a:ln>
                  <a:noFill/>
                </a:ln>
                <a:effectLst/>
                <a:uLnTx/>
                <a:uFillTx/>
                <a:latin typeface="华文仿宋" panose="02010600040101010101" pitchFamily="2" charset="-122"/>
                <a:ea typeface="华文仿宋" panose="02010600040101010101" pitchFamily="2" charset="-122"/>
              </a:endParaRPr>
            </a:p>
          </p:txBody>
        </p:sp>
        <p:cxnSp>
          <p:nvCxnSpPr>
            <p:cNvPr id="253" name="Straight Connector 19">
              <a:extLst>
                <a:ext uri="{FF2B5EF4-FFF2-40B4-BE49-F238E27FC236}">
                  <a16:creationId xmlns:a16="http://schemas.microsoft.com/office/drawing/2014/main" id="{299E7D30-4696-6FDC-FF1D-78BFD1D7CE2F}"/>
                </a:ext>
              </a:extLst>
            </p:cNvPr>
            <p:cNvCxnSpPr>
              <a:cxnSpLocks/>
            </p:cNvCxnSpPr>
            <p:nvPr/>
          </p:nvCxnSpPr>
          <p:spPr>
            <a:xfrm flipH="1">
              <a:off x="3613959" y="3751185"/>
              <a:ext cx="738967" cy="617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4" name="Group 25">
            <a:extLst>
              <a:ext uri="{FF2B5EF4-FFF2-40B4-BE49-F238E27FC236}">
                <a16:creationId xmlns:a16="http://schemas.microsoft.com/office/drawing/2014/main" id="{EA1308F0-47BB-6F65-F2CD-76E68B72EA9C}"/>
              </a:ext>
            </a:extLst>
          </p:cNvPr>
          <p:cNvGrpSpPr/>
          <p:nvPr/>
        </p:nvGrpSpPr>
        <p:grpSpPr>
          <a:xfrm>
            <a:off x="650980" y="4976360"/>
            <a:ext cx="4408183" cy="842218"/>
            <a:chOff x="749051" y="5329279"/>
            <a:chExt cx="3972078" cy="842218"/>
          </a:xfrm>
        </p:grpSpPr>
        <p:sp>
          <p:nvSpPr>
            <p:cNvPr id="255" name="TextBox 109">
              <a:extLst>
                <a:ext uri="{FF2B5EF4-FFF2-40B4-BE49-F238E27FC236}">
                  <a16:creationId xmlns:a16="http://schemas.microsoft.com/office/drawing/2014/main" id="{BB95F598-D1AC-88A7-6322-0E038C0A302B}"/>
                </a:ext>
              </a:extLst>
            </p:cNvPr>
            <p:cNvSpPr txBox="1"/>
            <p:nvPr/>
          </p:nvSpPr>
          <p:spPr>
            <a:xfrm>
              <a:off x="749051" y="5329279"/>
              <a:ext cx="2546800" cy="842218"/>
            </a:xfrm>
            <a:prstGeom prst="rect">
              <a:avLst/>
            </a:prstGeom>
            <a:noFill/>
          </p:spPr>
          <p:txBody>
            <a:bodyPr wrap="square" rtlCol="0">
              <a:spAutoFit/>
            </a:bodyPr>
            <a:lstStyle/>
            <a:p>
              <a:pPr marL="460375" marR="0" lvl="0" indent="-460375" algn="r" defTabSz="914400" rtl="0" eaLnBrk="1" fontAlgn="auto" latinLnBrk="0" hangingPunct="1">
                <a:lnSpc>
                  <a:spcPct val="90000"/>
                </a:lnSpc>
                <a:spcBef>
                  <a:spcPts val="0"/>
                </a:spcBef>
                <a:spcAft>
                  <a:spcPts val="0"/>
                </a:spcAft>
                <a:buClrTx/>
                <a:buSzTx/>
                <a:buFontTx/>
                <a:buNone/>
                <a:tabLst/>
                <a:defRPr/>
              </a:pPr>
              <a:r>
                <a:rPr kumimoji="0" lang="zh-CN" altLang="en-US" b="1" i="0" u="none" strike="noStrike" kern="1200" cap="none" spc="0" normalizeH="0" baseline="0" noProof="0" dirty="0">
                  <a:ln>
                    <a:noFill/>
                  </a:ln>
                  <a:solidFill>
                    <a:srgbClr val="0000A3"/>
                  </a:solidFill>
                  <a:effectLst/>
                  <a:uLnTx/>
                  <a:uFillTx/>
                  <a:latin typeface="华文仿宋" panose="02010600040101010101" pitchFamily="2" charset="-122"/>
                  <a:ea typeface="华文仿宋" panose="02010600040101010101" pitchFamily="2" charset="-122"/>
                </a:rPr>
                <a:t>启示：</a:t>
              </a:r>
              <a:r>
                <a:rPr kumimoji="0" lang="zh-CN" altLang="en-US" i="0" u="none" strike="noStrike" kern="1200" cap="none" spc="0" normalizeH="0" baseline="0" noProof="0" dirty="0">
                  <a:ln>
                    <a:noFill/>
                  </a:ln>
                  <a:effectLst/>
                  <a:uLnTx/>
                  <a:uFillTx/>
                  <a:latin typeface="华文仿宋" panose="02010600040101010101" pitchFamily="2" charset="-122"/>
                  <a:ea typeface="华文仿宋" panose="02010600040101010101" pitchFamily="2" charset="-122"/>
                </a:rPr>
                <a:t>提高 </a:t>
              </a:r>
              <a:r>
                <a:rPr kumimoji="0" lang="en-US" altLang="zh-CN" i="0" u="none" strike="noStrike" kern="1200" cap="none" spc="0" normalizeH="0" baseline="0" noProof="0" dirty="0">
                  <a:ln>
                    <a:noFill/>
                  </a:ln>
                  <a:effectLst/>
                  <a:uLnTx/>
                  <a:uFillTx/>
                  <a:latin typeface="华文仿宋" panose="02010600040101010101" pitchFamily="2" charset="-122"/>
                  <a:ea typeface="华文仿宋" panose="02010600040101010101" pitchFamily="2" charset="-122"/>
                </a:rPr>
                <a:t>TCP </a:t>
              </a:r>
              <a:r>
                <a:rPr kumimoji="0" lang="zh-CN" altLang="en-US" i="0" u="none" strike="noStrike" kern="1200" cap="none" spc="0" normalizeH="0" baseline="0" noProof="0" dirty="0">
                  <a:ln>
                    <a:noFill/>
                  </a:ln>
                  <a:effectLst/>
                  <a:uLnTx/>
                  <a:uFillTx/>
                  <a:latin typeface="华文仿宋" panose="02010600040101010101" pitchFamily="2" charset="-122"/>
                  <a:ea typeface="华文仿宋" panose="02010600040101010101" pitchFamily="2" charset="-122"/>
                </a:rPr>
                <a:t>发送速率会增加测得的 </a:t>
              </a:r>
              <a:r>
                <a:rPr kumimoji="0" lang="en-US" altLang="zh-CN" i="0" u="none" strike="noStrike" kern="1200" cap="none" spc="0" normalizeH="0" baseline="0" noProof="0" dirty="0">
                  <a:ln>
                    <a:noFill/>
                  </a:ln>
                  <a:effectLst/>
                  <a:uLnTx/>
                  <a:uFillTx/>
                  <a:latin typeface="华文仿宋" panose="02010600040101010101" pitchFamily="2" charset="-122"/>
                  <a:ea typeface="华文仿宋" panose="02010600040101010101" pitchFamily="2" charset="-122"/>
                </a:rPr>
                <a:t>RTT</a:t>
              </a:r>
              <a:endParaRPr kumimoji="0" lang="en-US" i="0" u="none" strike="noStrike" kern="1200" cap="none" spc="0" normalizeH="0" baseline="0" noProof="0" dirty="0">
                <a:ln>
                  <a:noFill/>
                </a:ln>
                <a:effectLst/>
                <a:uLnTx/>
                <a:uFillTx/>
                <a:latin typeface="华文仿宋" panose="02010600040101010101" pitchFamily="2" charset="-122"/>
                <a:ea typeface="华文仿宋" panose="02010600040101010101" pitchFamily="2" charset="-122"/>
              </a:endParaRPr>
            </a:p>
          </p:txBody>
        </p:sp>
        <p:cxnSp>
          <p:nvCxnSpPr>
            <p:cNvPr id="256" name="Straight Connector 24">
              <a:extLst>
                <a:ext uri="{FF2B5EF4-FFF2-40B4-BE49-F238E27FC236}">
                  <a16:creationId xmlns:a16="http://schemas.microsoft.com/office/drawing/2014/main" id="{AD058F86-10CA-3DFF-42B2-17D8B6279B0B}"/>
                </a:ext>
              </a:extLst>
            </p:cNvPr>
            <p:cNvCxnSpPr/>
            <p:nvPr/>
          </p:nvCxnSpPr>
          <p:spPr>
            <a:xfrm>
              <a:off x="3375025" y="5714069"/>
              <a:ext cx="13461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7" name="Straight Connector 27">
            <a:extLst>
              <a:ext uri="{FF2B5EF4-FFF2-40B4-BE49-F238E27FC236}">
                <a16:creationId xmlns:a16="http://schemas.microsoft.com/office/drawing/2014/main" id="{F676E11A-1D9E-D5A5-EFC3-A70D5BC76D75}"/>
              </a:ext>
            </a:extLst>
          </p:cNvPr>
          <p:cNvCxnSpPr/>
          <p:nvPr/>
        </p:nvCxnSpPr>
        <p:spPr>
          <a:xfrm>
            <a:off x="3713059" y="6090170"/>
            <a:ext cx="5028511" cy="0"/>
          </a:xfrm>
          <a:prstGeom prst="line">
            <a:avLst/>
          </a:prstGeom>
          <a:ln w="15875">
            <a:solidFill>
              <a:schemeClr val="tx1"/>
            </a:solidFill>
            <a:headEnd type="triangle"/>
            <a:tailEnd type="triangle" w="lg" len="med"/>
          </a:ln>
        </p:spPr>
        <p:style>
          <a:lnRef idx="1">
            <a:schemeClr val="accent1"/>
          </a:lnRef>
          <a:fillRef idx="0">
            <a:schemeClr val="accent1"/>
          </a:fillRef>
          <a:effectRef idx="0">
            <a:schemeClr val="accent1"/>
          </a:effectRef>
          <a:fontRef idx="minor">
            <a:schemeClr val="tx1"/>
          </a:fontRef>
        </p:style>
      </p:cxnSp>
      <p:sp>
        <p:nvSpPr>
          <p:cNvPr id="258" name="TextBox 28">
            <a:extLst>
              <a:ext uri="{FF2B5EF4-FFF2-40B4-BE49-F238E27FC236}">
                <a16:creationId xmlns:a16="http://schemas.microsoft.com/office/drawing/2014/main" id="{5477DB15-DCB7-1F7C-E2F3-C035F194DEAB}"/>
              </a:ext>
            </a:extLst>
          </p:cNvPr>
          <p:cNvSpPr txBox="1"/>
          <p:nvPr/>
        </p:nvSpPr>
        <p:spPr>
          <a:xfrm>
            <a:off x="5308669" y="5916422"/>
            <a:ext cx="535018"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RTT</a:t>
            </a:r>
          </a:p>
        </p:txBody>
      </p:sp>
      <p:sp>
        <p:nvSpPr>
          <p:cNvPr id="259" name="TextBox 30">
            <a:extLst>
              <a:ext uri="{FF2B5EF4-FFF2-40B4-BE49-F238E27FC236}">
                <a16:creationId xmlns:a16="http://schemas.microsoft.com/office/drawing/2014/main" id="{A715DB61-7107-2AD5-CD13-9176A56B5590}"/>
              </a:ext>
            </a:extLst>
          </p:cNvPr>
          <p:cNvSpPr txBox="1"/>
          <p:nvPr/>
        </p:nvSpPr>
        <p:spPr>
          <a:xfrm>
            <a:off x="5956501" y="5522045"/>
            <a:ext cx="5640772" cy="399468"/>
          </a:xfrm>
          <a:prstGeom prst="rect">
            <a:avLst/>
          </a:prstGeom>
          <a:noFill/>
        </p:spPr>
        <p:txBody>
          <a:bodyPr wrap="square" rtlCol="0">
            <a:spAutoFit/>
          </a:bodyPr>
          <a:lstStyle/>
          <a:p>
            <a:pPr marL="587375" marR="0" lvl="0" indent="-587375" algn="l" defTabSz="914400" rtl="0" eaLnBrk="1" fontAlgn="auto" latinLnBrk="0" hangingPunct="1">
              <a:lnSpc>
                <a:spcPct val="90000"/>
              </a:lnSpc>
              <a:spcBef>
                <a:spcPts val="0"/>
              </a:spcBef>
              <a:spcAft>
                <a:spcPts val="0"/>
              </a:spcAft>
              <a:buClrTx/>
              <a:buSzTx/>
              <a:buFontTx/>
              <a:buNone/>
              <a:tabLst/>
              <a:defRPr/>
            </a:pPr>
            <a:r>
              <a:rPr kumimoji="0" lang="zh-CN" altLang="en-US" sz="2200" b="1" i="1" u="none" strike="noStrike" kern="1200" cap="none" spc="0" normalizeH="0" baseline="0" noProof="0" dirty="0">
                <a:ln>
                  <a:noFill/>
                </a:ln>
                <a:solidFill>
                  <a:srgbClr val="0000A3"/>
                </a:solidFill>
                <a:effectLst/>
                <a:uLnTx/>
                <a:uFillTx/>
                <a:latin typeface="华文仿宋" panose="02010600040101010101" pitchFamily="2" charset="-122"/>
                <a:ea typeface="华文仿宋" panose="02010600040101010101" pitchFamily="2" charset="-122"/>
              </a:rPr>
              <a:t>目标</a:t>
            </a:r>
            <a:r>
              <a:rPr kumimoji="0" lang="en-US" sz="2200" b="1" i="1" u="none" strike="noStrike" kern="1200" cap="none" spc="0" normalizeH="0" baseline="0" noProof="0" dirty="0">
                <a:ln>
                  <a:noFill/>
                </a:ln>
                <a:solidFill>
                  <a:srgbClr val="0000A3"/>
                </a:solidFill>
                <a:effectLst/>
                <a:uLnTx/>
                <a:uFillTx/>
                <a:latin typeface="华文仿宋" panose="02010600040101010101" pitchFamily="2" charset="-122"/>
                <a:ea typeface="华文仿宋" panose="02010600040101010101" pitchFamily="2" charset="-122"/>
              </a:rPr>
              <a:t>: </a:t>
            </a:r>
            <a:r>
              <a:rPr kumimoji="0" lang="en-US" sz="2200" b="0" i="1"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a:t>
            </a:r>
            <a:r>
              <a:rPr kumimoji="0" lang="zh-CN" altLang="en-US" sz="2200" b="0" i="1"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保持管道刚好充满，而不可以更满</a:t>
            </a:r>
            <a:r>
              <a:rPr kumimoji="0" lang="en-US" sz="2200" b="0" i="1"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a:t>
            </a:r>
          </a:p>
        </p:txBody>
      </p:sp>
      <p:sp>
        <p:nvSpPr>
          <p:cNvPr id="11" name="灯片编号占位符 10">
            <a:extLst>
              <a:ext uri="{FF2B5EF4-FFF2-40B4-BE49-F238E27FC236}">
                <a16:creationId xmlns:a16="http://schemas.microsoft.com/office/drawing/2014/main" id="{A889B5E3-AEC6-49EF-AA40-B94FCA349F22}"/>
              </a:ext>
            </a:extLst>
          </p:cNvPr>
          <p:cNvSpPr>
            <a:spLocks noGrp="1"/>
          </p:cNvSpPr>
          <p:nvPr>
            <p:ph type="sldNum" sz="quarter" idx="12"/>
          </p:nvPr>
        </p:nvSpPr>
        <p:spPr/>
        <p:txBody>
          <a:bodyPr/>
          <a:lstStyle/>
          <a:p>
            <a:fld id="{5956A083-5018-4B52-82A0-83241B8E3D94}" type="slidenum">
              <a:rPr lang="zh-CN" altLang="en-US" smtClean="0"/>
              <a:t>81</a:t>
            </a:fld>
            <a:endParaRPr lang="zh-CN" altLang="en-US"/>
          </a:p>
        </p:txBody>
      </p:sp>
    </p:spTree>
    <p:extLst>
      <p:ext uri="{BB962C8B-B14F-4D97-AF65-F5344CB8AC3E}">
        <p14:creationId xmlns:p14="http://schemas.microsoft.com/office/powerpoint/2010/main" val="333369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par>
                                <p:cTn id="8" presetID="9" presetClass="exit" presetSubtype="0" fill="hold" nodeType="withEffect">
                                  <p:stCondLst>
                                    <p:cond delay="0"/>
                                  </p:stCondLst>
                                  <p:childTnLst>
                                    <p:animEffect transition="out" filter="dissolve">
                                      <p:cBhvr>
                                        <p:cTn id="9" dur="500"/>
                                        <p:tgtEl>
                                          <p:spTgt spid="159"/>
                                        </p:tgtEl>
                                      </p:cBhvr>
                                    </p:animEffect>
                                    <p:set>
                                      <p:cBhvr>
                                        <p:cTn id="10" dur="1" fill="hold">
                                          <p:stCondLst>
                                            <p:cond delay="499"/>
                                          </p:stCondLst>
                                        </p:cTn>
                                        <p:tgtEl>
                                          <p:spTgt spid="15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51"/>
                                        </p:tgtEl>
                                        <p:attrNameLst>
                                          <p:attrName>style.visibility</p:attrName>
                                        </p:attrNameLst>
                                      </p:cBhvr>
                                      <p:to>
                                        <p:strVal val="visible"/>
                                      </p:to>
                                    </p:set>
                                    <p:animEffect transition="in" filter="dissolve">
                                      <p:cBhvr>
                                        <p:cTn id="15" dur="500"/>
                                        <p:tgtEl>
                                          <p:spTgt spid="25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54"/>
                                        </p:tgtEl>
                                        <p:attrNameLst>
                                          <p:attrName>style.visibility</p:attrName>
                                        </p:attrNameLst>
                                      </p:cBhvr>
                                      <p:to>
                                        <p:strVal val="visible"/>
                                      </p:to>
                                    </p:set>
                                    <p:animEffect transition="in" filter="dissolve">
                                      <p:cBhvr>
                                        <p:cTn id="20" dur="500"/>
                                        <p:tgtEl>
                                          <p:spTgt spid="25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59"/>
                                        </p:tgtEl>
                                        <p:attrNameLst>
                                          <p:attrName>style.visibility</p:attrName>
                                        </p:attrNameLst>
                                      </p:cBhvr>
                                      <p:to>
                                        <p:strVal val="visible"/>
                                      </p:to>
                                    </p:set>
                                    <p:animEffect transition="in" filter="dissolve">
                                      <p:cBhvr>
                                        <p:cTn id="25" dur="500"/>
                                        <p:tgtEl>
                                          <p:spTgt spid="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F7E53-D629-0A82-3AEE-BF76E94430CB}"/>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358A0DD7-AC94-4B43-5989-8FF71AC1F3AA}"/>
              </a:ext>
            </a:extLst>
          </p:cNvPr>
          <p:cNvGrpSpPr/>
          <p:nvPr/>
        </p:nvGrpSpPr>
        <p:grpSpPr>
          <a:xfrm>
            <a:off x="103094" y="-173759"/>
            <a:ext cx="6452977" cy="1428589"/>
            <a:chOff x="552684" y="-356229"/>
            <a:chExt cx="6452977" cy="1428589"/>
          </a:xfrm>
        </p:grpSpPr>
        <p:grpSp>
          <p:nvGrpSpPr>
            <p:cNvPr id="45" name="组合 44">
              <a:extLst>
                <a:ext uri="{FF2B5EF4-FFF2-40B4-BE49-F238E27FC236}">
                  <a16:creationId xmlns:a16="http://schemas.microsoft.com/office/drawing/2014/main" id="{69852D9F-1E7C-1D6A-4C5B-6C600750363E}"/>
                </a:ext>
              </a:extLst>
            </p:cNvPr>
            <p:cNvGrpSpPr/>
            <p:nvPr/>
          </p:nvGrpSpPr>
          <p:grpSpPr>
            <a:xfrm>
              <a:off x="1201633" y="303925"/>
              <a:ext cx="5804028" cy="675443"/>
              <a:chOff x="1839060" y="967769"/>
              <a:chExt cx="5804028" cy="675443"/>
            </a:xfrm>
          </p:grpSpPr>
          <p:sp>
            <p:nvSpPr>
              <p:cNvPr id="47" name="矩形: 圆角 46">
                <a:extLst>
                  <a:ext uri="{FF2B5EF4-FFF2-40B4-BE49-F238E27FC236}">
                    <a16:creationId xmlns:a16="http://schemas.microsoft.com/office/drawing/2014/main" id="{30ABC0BA-7C06-3E0D-6619-C3993FDD6A9E}"/>
                  </a:ext>
                </a:extLst>
              </p:cNvPr>
              <p:cNvSpPr/>
              <p:nvPr/>
            </p:nvSpPr>
            <p:spPr>
              <a:xfrm>
                <a:off x="1839060" y="967769"/>
                <a:ext cx="5804028"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E7E233B3-268A-8A51-1CEA-62EFFA16CAF0}"/>
                  </a:ext>
                </a:extLst>
              </p:cNvPr>
              <p:cNvSpPr txBox="1"/>
              <p:nvPr/>
            </p:nvSpPr>
            <p:spPr>
              <a:xfrm>
                <a:off x="2597180" y="1053620"/>
                <a:ext cx="5006918"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拥塞控制方法（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Vegas</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a:t>
                </a:r>
              </a:p>
            </p:txBody>
          </p:sp>
        </p:grpSp>
        <p:pic>
          <p:nvPicPr>
            <p:cNvPr id="46" name="图片 45">
              <a:extLst>
                <a:ext uri="{FF2B5EF4-FFF2-40B4-BE49-F238E27FC236}">
                  <a16:creationId xmlns:a16="http://schemas.microsoft.com/office/drawing/2014/main" id="{E297DDCE-AB5A-F513-E8AE-3FEABFAF703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sp>
        <p:nvSpPr>
          <p:cNvPr id="11" name="流程图: 手动输入 6">
            <a:extLst>
              <a:ext uri="{FF2B5EF4-FFF2-40B4-BE49-F238E27FC236}">
                <a16:creationId xmlns:a16="http://schemas.microsoft.com/office/drawing/2014/main" id="{B9DF7C59-3380-253F-38EE-F16110B00F18}"/>
              </a:ext>
            </a:extLst>
          </p:cNvPr>
          <p:cNvSpPr/>
          <p:nvPr/>
        </p:nvSpPr>
        <p:spPr>
          <a:xfrm rot="5400000" flipV="1">
            <a:off x="2100288" y="552480"/>
            <a:ext cx="498374" cy="304529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2" name="组合 11">
            <a:extLst>
              <a:ext uri="{FF2B5EF4-FFF2-40B4-BE49-F238E27FC236}">
                <a16:creationId xmlns:a16="http://schemas.microsoft.com/office/drawing/2014/main" id="{C73B91F9-D57A-66D9-C6F1-90F0F6839E75}"/>
              </a:ext>
            </a:extLst>
          </p:cNvPr>
          <p:cNvGrpSpPr/>
          <p:nvPr/>
        </p:nvGrpSpPr>
        <p:grpSpPr>
          <a:xfrm>
            <a:off x="547632" y="1340681"/>
            <a:ext cx="10921783" cy="946265"/>
            <a:chOff x="430213" y="1601272"/>
            <a:chExt cx="10921783" cy="946265"/>
          </a:xfrm>
        </p:grpSpPr>
        <p:sp>
          <p:nvSpPr>
            <p:cNvPr id="13" name="流程图: 手动输入 6">
              <a:extLst>
                <a:ext uri="{FF2B5EF4-FFF2-40B4-BE49-F238E27FC236}">
                  <a16:creationId xmlns:a16="http://schemas.microsoft.com/office/drawing/2014/main" id="{49827D3C-68A1-3B71-257F-3413FE4BF2A4}"/>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4" name="组合 13">
              <a:extLst>
                <a:ext uri="{FF2B5EF4-FFF2-40B4-BE49-F238E27FC236}">
                  <a16:creationId xmlns:a16="http://schemas.microsoft.com/office/drawing/2014/main" id="{68E9BC9C-A2E5-049B-178F-5F6FDFD2C1A1}"/>
                </a:ext>
              </a:extLst>
            </p:cNvPr>
            <p:cNvGrpSpPr/>
            <p:nvPr/>
          </p:nvGrpSpPr>
          <p:grpSpPr>
            <a:xfrm>
              <a:off x="430213" y="1601272"/>
              <a:ext cx="10921783" cy="946265"/>
              <a:chOff x="722008" y="1303131"/>
              <a:chExt cx="10428436" cy="903521"/>
            </a:xfrm>
          </p:grpSpPr>
          <p:sp>
            <p:nvSpPr>
              <p:cNvPr id="15" name="流程图: 手动输入 6">
                <a:extLst>
                  <a:ext uri="{FF2B5EF4-FFF2-40B4-BE49-F238E27FC236}">
                    <a16:creationId xmlns:a16="http://schemas.microsoft.com/office/drawing/2014/main" id="{BBAE8398-B600-9F28-0F16-0E6AB41E4405}"/>
                  </a:ext>
                </a:extLst>
              </p:cNvPr>
              <p:cNvSpPr/>
              <p:nvPr/>
            </p:nvSpPr>
            <p:spPr>
              <a:xfrm rot="5400000" flipV="1">
                <a:off x="5831589" y="-3536454"/>
                <a:ext cx="475861" cy="10161848"/>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16" name="组合 15">
                <a:extLst>
                  <a:ext uri="{FF2B5EF4-FFF2-40B4-BE49-F238E27FC236}">
                    <a16:creationId xmlns:a16="http://schemas.microsoft.com/office/drawing/2014/main" id="{13D83FC6-9EEF-AC53-B2BA-0F2AFF17126F}"/>
                  </a:ext>
                </a:extLst>
              </p:cNvPr>
              <p:cNvGrpSpPr/>
              <p:nvPr/>
            </p:nvGrpSpPr>
            <p:grpSpPr>
              <a:xfrm>
                <a:off x="722008" y="1303131"/>
                <a:ext cx="546594" cy="475865"/>
                <a:chOff x="708742" y="1296102"/>
                <a:chExt cx="454744" cy="283828"/>
              </a:xfrm>
            </p:grpSpPr>
            <p:sp>
              <p:nvSpPr>
                <p:cNvPr id="18" name="平行四边形 17">
                  <a:extLst>
                    <a:ext uri="{FF2B5EF4-FFF2-40B4-BE49-F238E27FC236}">
                      <a16:creationId xmlns:a16="http://schemas.microsoft.com/office/drawing/2014/main" id="{965891AB-DE24-1480-5918-9272C097881B}"/>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9" name="平行四边形 18">
                  <a:extLst>
                    <a:ext uri="{FF2B5EF4-FFF2-40B4-BE49-F238E27FC236}">
                      <a16:creationId xmlns:a16="http://schemas.microsoft.com/office/drawing/2014/main" id="{5262EA7F-AAFD-7D92-BB29-6CF78E2EF65D}"/>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17" name="Text Box 79">
                <a:extLst>
                  <a:ext uri="{FF2B5EF4-FFF2-40B4-BE49-F238E27FC236}">
                    <a16:creationId xmlns:a16="http://schemas.microsoft.com/office/drawing/2014/main" id="{B7C8433D-BF7B-D7F0-942D-8505C2071761}"/>
                  </a:ext>
                </a:extLst>
              </p:cNvPr>
              <p:cNvSpPr txBox="1">
                <a:spLocks noChangeArrowheads="1"/>
              </p:cNvSpPr>
              <p:nvPr/>
            </p:nvSpPr>
            <p:spPr bwMode="auto">
              <a:xfrm>
                <a:off x="1172744" y="1354417"/>
                <a:ext cx="9977698" cy="852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ea typeface="思源黑体 CN Medium" panose="020B0600000000000000" pitchFamily="34" charset="-122"/>
                  </a:rPr>
                  <a:t>保持发送端到接收端管道 </a:t>
                </a:r>
                <a:r>
                  <a:rPr kumimoji="1" lang="en-US" altLang="zh-CN" sz="2600" dirty="0">
                    <a:solidFill>
                      <a:schemeClr val="tx1">
                        <a:lumMod val="85000"/>
                        <a:lumOff val="15000"/>
                      </a:schemeClr>
                    </a:solidFill>
                    <a:ea typeface="思源黑体 CN Medium" panose="020B0600000000000000" pitchFamily="34" charset="-122"/>
                  </a:rPr>
                  <a:t>"</a:t>
                </a:r>
                <a:r>
                  <a:rPr kumimoji="1" lang="zh-CN" altLang="en-US" sz="2600" dirty="0">
                    <a:solidFill>
                      <a:schemeClr val="tx1">
                        <a:lumMod val="85000"/>
                        <a:lumOff val="15000"/>
                      </a:schemeClr>
                    </a:solidFill>
                    <a:ea typeface="思源黑体 CN Medium" panose="020B0600000000000000" pitchFamily="34" charset="-122"/>
                  </a:rPr>
                  <a:t>刚好满，但不能更满</a:t>
                </a:r>
                <a:r>
                  <a:rPr kumimoji="1" lang="en-US" altLang="zh-CN" sz="2600" dirty="0">
                    <a:solidFill>
                      <a:schemeClr val="tx1">
                        <a:lumMod val="85000"/>
                        <a:lumOff val="15000"/>
                      </a:schemeClr>
                    </a:solidFill>
                    <a:ea typeface="思源黑体 CN Medium" panose="020B0600000000000000" pitchFamily="34" charset="-122"/>
                  </a:rPr>
                  <a:t>"</a:t>
                </a:r>
                <a:r>
                  <a:rPr kumimoji="1" lang="zh-CN" altLang="en-US" sz="2600" dirty="0">
                    <a:solidFill>
                      <a:schemeClr val="tx1">
                        <a:lumMod val="85000"/>
                        <a:lumOff val="15000"/>
                      </a:schemeClr>
                    </a:solidFill>
                    <a:ea typeface="思源黑体 CN Medium" panose="020B0600000000000000" pitchFamily="34" charset="-122"/>
                  </a:rPr>
                  <a:t>：让瓶颈链路忙于传输，但避免高延迟</a:t>
                </a:r>
                <a:r>
                  <a:rPr kumimoji="1" lang="en-US" altLang="zh-CN" sz="2600" dirty="0">
                    <a:solidFill>
                      <a:schemeClr val="tx1">
                        <a:lumMod val="85000"/>
                        <a:lumOff val="15000"/>
                      </a:schemeClr>
                    </a:solidFill>
                    <a:ea typeface="思源黑体 CN Medium" panose="020B0600000000000000" pitchFamily="34" charset="-122"/>
                  </a:rPr>
                  <a:t>/</a:t>
                </a:r>
                <a:r>
                  <a:rPr kumimoji="1" lang="zh-CN" altLang="en-US" sz="2600" dirty="0">
                    <a:solidFill>
                      <a:schemeClr val="tx1">
                        <a:lumMod val="85000"/>
                        <a:lumOff val="15000"/>
                      </a:schemeClr>
                    </a:solidFill>
                    <a:ea typeface="思源黑体 CN Medium" panose="020B0600000000000000" pitchFamily="34" charset="-122"/>
                  </a:rPr>
                  <a:t>缓冲</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grpSp>
        <p:nvGrpSpPr>
          <p:cNvPr id="20" name="组合 19">
            <a:extLst>
              <a:ext uri="{FF2B5EF4-FFF2-40B4-BE49-F238E27FC236}">
                <a16:creationId xmlns:a16="http://schemas.microsoft.com/office/drawing/2014/main" id="{B8D22160-4B7C-83DE-713F-D26D6B082969}"/>
              </a:ext>
            </a:extLst>
          </p:cNvPr>
          <p:cNvGrpSpPr/>
          <p:nvPr/>
        </p:nvGrpSpPr>
        <p:grpSpPr>
          <a:xfrm>
            <a:off x="547632" y="3370489"/>
            <a:ext cx="3183796" cy="546156"/>
            <a:chOff x="430213" y="1601273"/>
            <a:chExt cx="3183796" cy="546156"/>
          </a:xfrm>
        </p:grpSpPr>
        <p:sp>
          <p:nvSpPr>
            <p:cNvPr id="21" name="流程图: 手动输入 6">
              <a:extLst>
                <a:ext uri="{FF2B5EF4-FFF2-40B4-BE49-F238E27FC236}">
                  <a16:creationId xmlns:a16="http://schemas.microsoft.com/office/drawing/2014/main" id="{556ABACC-1F74-641F-9D10-E05EDCD265E7}"/>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22" name="组合 21">
              <a:extLst>
                <a:ext uri="{FF2B5EF4-FFF2-40B4-BE49-F238E27FC236}">
                  <a16:creationId xmlns:a16="http://schemas.microsoft.com/office/drawing/2014/main" id="{32DCE14F-DEC7-4970-47FB-FAF6F41AF177}"/>
                </a:ext>
              </a:extLst>
            </p:cNvPr>
            <p:cNvGrpSpPr/>
            <p:nvPr/>
          </p:nvGrpSpPr>
          <p:grpSpPr>
            <a:xfrm>
              <a:off x="430213" y="1601273"/>
              <a:ext cx="3183796" cy="546156"/>
              <a:chOff x="722008" y="1303131"/>
              <a:chExt cx="3039981" cy="521485"/>
            </a:xfrm>
          </p:grpSpPr>
          <p:sp>
            <p:nvSpPr>
              <p:cNvPr id="23" name="流程图: 手动输入 6">
                <a:extLst>
                  <a:ext uri="{FF2B5EF4-FFF2-40B4-BE49-F238E27FC236}">
                    <a16:creationId xmlns:a16="http://schemas.microsoft.com/office/drawing/2014/main" id="{F3CA7DBA-9BE9-C207-6899-673FDF0BC277}"/>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24" name="组合 23">
                <a:extLst>
                  <a:ext uri="{FF2B5EF4-FFF2-40B4-BE49-F238E27FC236}">
                    <a16:creationId xmlns:a16="http://schemas.microsoft.com/office/drawing/2014/main" id="{BF81531E-87C0-1B0B-AAB3-0521E4F58CAE}"/>
                  </a:ext>
                </a:extLst>
              </p:cNvPr>
              <p:cNvGrpSpPr/>
              <p:nvPr/>
            </p:nvGrpSpPr>
            <p:grpSpPr>
              <a:xfrm>
                <a:off x="722008" y="1303131"/>
                <a:ext cx="546594" cy="475865"/>
                <a:chOff x="708742" y="1296102"/>
                <a:chExt cx="454744" cy="283828"/>
              </a:xfrm>
            </p:grpSpPr>
            <p:sp>
              <p:nvSpPr>
                <p:cNvPr id="26" name="平行四边形 25">
                  <a:extLst>
                    <a:ext uri="{FF2B5EF4-FFF2-40B4-BE49-F238E27FC236}">
                      <a16:creationId xmlns:a16="http://schemas.microsoft.com/office/drawing/2014/main" id="{537E3354-F22F-87F8-E19E-A294D2E1F047}"/>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27" name="平行四边形 26">
                  <a:extLst>
                    <a:ext uri="{FF2B5EF4-FFF2-40B4-BE49-F238E27FC236}">
                      <a16:creationId xmlns:a16="http://schemas.microsoft.com/office/drawing/2014/main" id="{C0C2C7C7-C602-F959-BC87-169196C1F516}"/>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25" name="Text Box 79">
                <a:extLst>
                  <a:ext uri="{FF2B5EF4-FFF2-40B4-BE49-F238E27FC236}">
                    <a16:creationId xmlns:a16="http://schemas.microsoft.com/office/drawing/2014/main" id="{7C09E264-DEDC-5B3A-E3D5-71A0AE9B84A5}"/>
                  </a:ext>
                </a:extLst>
              </p:cNvPr>
              <p:cNvSpPr txBox="1">
                <a:spLocks noChangeArrowheads="1"/>
              </p:cNvSpPr>
              <p:nvPr/>
            </p:nvSpPr>
            <p:spPr bwMode="auto">
              <a:xfrm>
                <a:off x="1172744" y="1354417"/>
                <a:ext cx="2589245" cy="47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ea typeface="思源黑体 CN Medium" panose="020B0600000000000000" pitchFamily="34" charset="-122"/>
                  </a:rPr>
                  <a:t>基于时延的方法</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grpSp>
        <p:nvGrpSpPr>
          <p:cNvPr id="28" name="Group 22">
            <a:extLst>
              <a:ext uri="{FF2B5EF4-FFF2-40B4-BE49-F238E27FC236}">
                <a16:creationId xmlns:a16="http://schemas.microsoft.com/office/drawing/2014/main" id="{5081900B-D6A3-375C-0C47-7627A0E1848B}"/>
              </a:ext>
            </a:extLst>
          </p:cNvPr>
          <p:cNvGrpSpPr/>
          <p:nvPr/>
        </p:nvGrpSpPr>
        <p:grpSpPr>
          <a:xfrm>
            <a:off x="1144707" y="2323910"/>
            <a:ext cx="5802008" cy="918937"/>
            <a:chOff x="2365663" y="2430127"/>
            <a:chExt cx="5802008" cy="918937"/>
          </a:xfrm>
        </p:grpSpPr>
        <p:grpSp>
          <p:nvGrpSpPr>
            <p:cNvPr id="29" name="Group 190">
              <a:extLst>
                <a:ext uri="{FF2B5EF4-FFF2-40B4-BE49-F238E27FC236}">
                  <a16:creationId xmlns:a16="http://schemas.microsoft.com/office/drawing/2014/main" id="{3812E279-90A3-F56C-ED38-1C0185A08D9C}"/>
                </a:ext>
              </a:extLst>
            </p:cNvPr>
            <p:cNvGrpSpPr>
              <a:grpSpLocks/>
            </p:cNvGrpSpPr>
            <p:nvPr/>
          </p:nvGrpSpPr>
          <p:grpSpPr bwMode="auto">
            <a:xfrm flipH="1">
              <a:off x="2365663" y="2430127"/>
              <a:ext cx="673100" cy="701675"/>
              <a:chOff x="-44" y="1473"/>
              <a:chExt cx="981" cy="1105"/>
            </a:xfrm>
          </p:grpSpPr>
          <p:pic>
            <p:nvPicPr>
              <p:cNvPr id="57" name="Picture 191" descr="desktop_computer_stylized_medium">
                <a:extLst>
                  <a:ext uri="{FF2B5EF4-FFF2-40B4-BE49-F238E27FC236}">
                    <a16:creationId xmlns:a16="http://schemas.microsoft.com/office/drawing/2014/main" id="{8BE9AE98-0EC2-02E8-61A2-94CBBD94DB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Freeform 192">
                <a:extLst>
                  <a:ext uri="{FF2B5EF4-FFF2-40B4-BE49-F238E27FC236}">
                    <a16:creationId xmlns:a16="http://schemas.microsoft.com/office/drawing/2014/main" id="{EAB1423C-F32D-9E9F-A69B-DB94A45C7D8C}"/>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0" name="Group 190">
              <a:extLst>
                <a:ext uri="{FF2B5EF4-FFF2-40B4-BE49-F238E27FC236}">
                  <a16:creationId xmlns:a16="http://schemas.microsoft.com/office/drawing/2014/main" id="{24EA0C64-F9E4-BA06-06DF-45B3417B6C81}"/>
                </a:ext>
              </a:extLst>
            </p:cNvPr>
            <p:cNvGrpSpPr>
              <a:grpSpLocks/>
            </p:cNvGrpSpPr>
            <p:nvPr/>
          </p:nvGrpSpPr>
          <p:grpSpPr bwMode="auto">
            <a:xfrm flipH="1">
              <a:off x="7493993" y="2467744"/>
              <a:ext cx="673678" cy="702006"/>
              <a:chOff x="-44" y="1473"/>
              <a:chExt cx="981" cy="1105"/>
            </a:xfrm>
          </p:grpSpPr>
          <p:pic>
            <p:nvPicPr>
              <p:cNvPr id="55" name="Picture 191" descr="desktop_computer_stylized_medium">
                <a:extLst>
                  <a:ext uri="{FF2B5EF4-FFF2-40B4-BE49-F238E27FC236}">
                    <a16:creationId xmlns:a16="http://schemas.microsoft.com/office/drawing/2014/main" id="{28B5E2B7-AA1F-9F31-2712-34D7583DDA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Freeform 192">
                <a:extLst>
                  <a:ext uri="{FF2B5EF4-FFF2-40B4-BE49-F238E27FC236}">
                    <a16:creationId xmlns:a16="http://schemas.microsoft.com/office/drawing/2014/main" id="{4DA772D2-2B5C-42FD-46DE-18AA3EE904F5}"/>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1" name="Group 232">
              <a:extLst>
                <a:ext uri="{FF2B5EF4-FFF2-40B4-BE49-F238E27FC236}">
                  <a16:creationId xmlns:a16="http://schemas.microsoft.com/office/drawing/2014/main" id="{50000992-68C9-1EF7-C6E8-03744DC5FB14}"/>
                </a:ext>
              </a:extLst>
            </p:cNvPr>
            <p:cNvGrpSpPr/>
            <p:nvPr/>
          </p:nvGrpSpPr>
          <p:grpSpPr>
            <a:xfrm>
              <a:off x="5227521" y="2574515"/>
              <a:ext cx="876995" cy="403711"/>
              <a:chOff x="5033182" y="4091488"/>
              <a:chExt cx="876995" cy="403711"/>
            </a:xfrm>
          </p:grpSpPr>
          <p:cxnSp>
            <p:nvCxnSpPr>
              <p:cNvPr id="37" name="Straight Connector 233">
                <a:extLst>
                  <a:ext uri="{FF2B5EF4-FFF2-40B4-BE49-F238E27FC236}">
                    <a16:creationId xmlns:a16="http://schemas.microsoft.com/office/drawing/2014/main" id="{84236C34-9842-68CB-44EC-62C16B2B5AAB}"/>
                  </a:ext>
                </a:extLst>
              </p:cNvPr>
              <p:cNvCxnSpPr/>
              <p:nvPr/>
            </p:nvCxnSpPr>
            <p:spPr>
              <a:xfrm>
                <a:off x="5518407" y="4289261"/>
                <a:ext cx="869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tangle 234">
                <a:extLst>
                  <a:ext uri="{FF2B5EF4-FFF2-40B4-BE49-F238E27FC236}">
                    <a16:creationId xmlns:a16="http://schemas.microsoft.com/office/drawing/2014/main" id="{485D3DF7-12BC-58FE-6AA3-7FC0BE279189}"/>
                  </a:ext>
                </a:extLst>
              </p:cNvPr>
              <p:cNvSpPr/>
              <p:nvPr/>
            </p:nvSpPr>
            <p:spPr>
              <a:xfrm>
                <a:off x="5150875" y="4091488"/>
                <a:ext cx="382771" cy="403711"/>
              </a:xfrm>
              <a:prstGeom prst="rect">
                <a:avLst/>
              </a:prstGeom>
              <a:solidFill>
                <a:srgbClr val="E4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Oval 235">
                <a:extLst>
                  <a:ext uri="{FF2B5EF4-FFF2-40B4-BE49-F238E27FC236}">
                    <a16:creationId xmlns:a16="http://schemas.microsoft.com/office/drawing/2014/main" id="{0F063CD2-C568-DA31-B0BF-FC0A79FF1DD8}"/>
                  </a:ext>
                </a:extLst>
              </p:cNvPr>
              <p:cNvSpPr/>
              <p:nvPr/>
            </p:nvSpPr>
            <p:spPr>
              <a:xfrm>
                <a:off x="5565439" y="4115310"/>
                <a:ext cx="344738" cy="344738"/>
              </a:xfrm>
              <a:prstGeom prst="ellipse">
                <a:avLst/>
              </a:prstGeom>
              <a:solidFill>
                <a:srgbClr val="E4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Connector 236">
                <a:extLst>
                  <a:ext uri="{FF2B5EF4-FFF2-40B4-BE49-F238E27FC236}">
                    <a16:creationId xmlns:a16="http://schemas.microsoft.com/office/drawing/2014/main" id="{A2CA0E09-2C49-317A-58DE-2E258AB669E2}"/>
                  </a:ext>
                </a:extLst>
              </p:cNvPr>
              <p:cNvCxnSpPr/>
              <p:nvPr/>
            </p:nvCxnSpPr>
            <p:spPr>
              <a:xfrm>
                <a:off x="5427947" y="4125482"/>
                <a:ext cx="0" cy="3285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237">
                <a:extLst>
                  <a:ext uri="{FF2B5EF4-FFF2-40B4-BE49-F238E27FC236}">
                    <a16:creationId xmlns:a16="http://schemas.microsoft.com/office/drawing/2014/main" id="{B61C1E88-BCA1-6FAE-953B-92163F169885}"/>
                  </a:ext>
                </a:extLst>
              </p:cNvPr>
              <p:cNvCxnSpPr/>
              <p:nvPr/>
            </p:nvCxnSpPr>
            <p:spPr>
              <a:xfrm>
                <a:off x="5330094" y="4125482"/>
                <a:ext cx="0" cy="3285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238">
                <a:extLst>
                  <a:ext uri="{FF2B5EF4-FFF2-40B4-BE49-F238E27FC236}">
                    <a16:creationId xmlns:a16="http://schemas.microsoft.com/office/drawing/2014/main" id="{F55955AF-D394-8A10-809D-2E6EE6547842}"/>
                  </a:ext>
                </a:extLst>
              </p:cNvPr>
              <p:cNvCxnSpPr/>
              <p:nvPr/>
            </p:nvCxnSpPr>
            <p:spPr>
              <a:xfrm>
                <a:off x="5238591" y="4125482"/>
                <a:ext cx="0" cy="3285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Rectangle 239">
                <a:extLst>
                  <a:ext uri="{FF2B5EF4-FFF2-40B4-BE49-F238E27FC236}">
                    <a16:creationId xmlns:a16="http://schemas.microsoft.com/office/drawing/2014/main" id="{1CBB6059-988F-295C-D04A-4692E5C6C2A8}"/>
                  </a:ext>
                </a:extLst>
              </p:cNvPr>
              <p:cNvSpPr/>
              <p:nvPr/>
            </p:nvSpPr>
            <p:spPr>
              <a:xfrm>
                <a:off x="5033182" y="4091488"/>
                <a:ext cx="112907" cy="4037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2" name="Group 11">
              <a:extLst>
                <a:ext uri="{FF2B5EF4-FFF2-40B4-BE49-F238E27FC236}">
                  <a16:creationId xmlns:a16="http://schemas.microsoft.com/office/drawing/2014/main" id="{E97E6DB6-670E-4430-8131-417B3C53B3A9}"/>
                </a:ext>
              </a:extLst>
            </p:cNvPr>
            <p:cNvGrpSpPr/>
            <p:nvPr/>
          </p:nvGrpSpPr>
          <p:grpSpPr>
            <a:xfrm>
              <a:off x="3067072" y="2776371"/>
              <a:ext cx="4456450" cy="344905"/>
              <a:chOff x="3391522" y="3946678"/>
              <a:chExt cx="4456450" cy="344905"/>
            </a:xfrm>
          </p:grpSpPr>
          <p:cxnSp>
            <p:nvCxnSpPr>
              <p:cNvPr id="34" name="Straight Connector 246">
                <a:extLst>
                  <a:ext uri="{FF2B5EF4-FFF2-40B4-BE49-F238E27FC236}">
                    <a16:creationId xmlns:a16="http://schemas.microsoft.com/office/drawing/2014/main" id="{67B53A42-D6CF-D961-C279-7045E17DA65E}"/>
                  </a:ext>
                </a:extLst>
              </p:cNvPr>
              <p:cNvCxnSpPr>
                <a:cxnSpLocks/>
              </p:cNvCxnSpPr>
              <p:nvPr/>
            </p:nvCxnSpPr>
            <p:spPr>
              <a:xfrm>
                <a:off x="3391522" y="3946678"/>
                <a:ext cx="4456450" cy="0"/>
              </a:xfrm>
              <a:prstGeom prst="line">
                <a:avLst/>
              </a:prstGeom>
              <a:ln w="15875">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35" name="Straight Connector 247">
                <a:extLst>
                  <a:ext uri="{FF2B5EF4-FFF2-40B4-BE49-F238E27FC236}">
                    <a16:creationId xmlns:a16="http://schemas.microsoft.com/office/drawing/2014/main" id="{898B760E-4D31-616C-8A3C-778415317A71}"/>
                  </a:ext>
                </a:extLst>
              </p:cNvPr>
              <p:cNvCxnSpPr>
                <a:cxnSpLocks/>
              </p:cNvCxnSpPr>
              <p:nvPr/>
            </p:nvCxnSpPr>
            <p:spPr>
              <a:xfrm>
                <a:off x="3391522" y="4291583"/>
                <a:ext cx="4456450" cy="0"/>
              </a:xfrm>
              <a:prstGeom prst="line">
                <a:avLst/>
              </a:prstGeom>
              <a:ln w="15875">
                <a:solidFill>
                  <a:schemeClr val="tx1"/>
                </a:solidFill>
                <a:headEnd type="triangle"/>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9">
                <a:extLst>
                  <a:ext uri="{FF2B5EF4-FFF2-40B4-BE49-F238E27FC236}">
                    <a16:creationId xmlns:a16="http://schemas.microsoft.com/office/drawing/2014/main" id="{B3DFF9CF-0499-DFFB-82A7-37C4FDC1B8BB}"/>
                  </a:ext>
                </a:extLst>
              </p:cNvPr>
              <p:cNvCxnSpPr>
                <a:cxnSpLocks/>
              </p:cNvCxnSpPr>
              <p:nvPr/>
            </p:nvCxnSpPr>
            <p:spPr>
              <a:xfrm>
                <a:off x="7847972" y="3946678"/>
                <a:ext cx="0" cy="34490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TextBox 12">
              <a:extLst>
                <a:ext uri="{FF2B5EF4-FFF2-40B4-BE49-F238E27FC236}">
                  <a16:creationId xmlns:a16="http://schemas.microsoft.com/office/drawing/2014/main" id="{99ECEF95-0FA1-46B4-B71D-84F1871A46C6}"/>
                </a:ext>
              </a:extLst>
            </p:cNvPr>
            <p:cNvSpPr txBox="1"/>
            <p:nvPr/>
          </p:nvSpPr>
          <p:spPr>
            <a:xfrm>
              <a:off x="3454066" y="2887399"/>
              <a:ext cx="1064330"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RTT</a:t>
              </a:r>
              <a:r>
                <a:rPr kumimoji="0" lang="zh-CN" altLang="en-US" sz="2400" b="0" i="0" u="none" strike="noStrike" kern="1200" cap="none" spc="0" normalizeH="0" baseline="-25000" noProof="0" dirty="0">
                  <a:ln>
                    <a:noFill/>
                  </a:ln>
                  <a:solidFill>
                    <a:prstClr val="black"/>
                  </a:solidFill>
                  <a:effectLst/>
                  <a:uLnTx/>
                  <a:uFillTx/>
                  <a:latin typeface="华文仿宋" panose="02010600040101010101" pitchFamily="2" charset="-122"/>
                  <a:ea typeface="华文仿宋" panose="02010600040101010101" pitchFamily="2" charset="-122"/>
                </a:rPr>
                <a:t>测量</a:t>
              </a:r>
              <a:endParaRPr kumimoji="0" lang="en-US" sz="1800" b="0" i="0" u="none" strike="noStrike" kern="1200" cap="none" spc="0" normalizeH="0" baseline="-25000" noProof="0" dirty="0">
                <a:ln>
                  <a:noFill/>
                </a:ln>
                <a:solidFill>
                  <a:prstClr val="black"/>
                </a:solidFill>
                <a:effectLst/>
                <a:uLnTx/>
                <a:uFillTx/>
                <a:latin typeface="华文仿宋" panose="02010600040101010101" pitchFamily="2" charset="-122"/>
                <a:ea typeface="华文仿宋" panose="02010600040101010101" pitchFamily="2" charset="-122"/>
              </a:endParaRPr>
            </a:p>
          </p:txBody>
        </p:sp>
      </p:grpSp>
      <p:grpSp>
        <p:nvGrpSpPr>
          <p:cNvPr id="59" name="Group 23">
            <a:extLst>
              <a:ext uri="{FF2B5EF4-FFF2-40B4-BE49-F238E27FC236}">
                <a16:creationId xmlns:a16="http://schemas.microsoft.com/office/drawing/2014/main" id="{F5AFE262-61EF-6E7B-C1C2-BD583A260BA0}"/>
              </a:ext>
            </a:extLst>
          </p:cNvPr>
          <p:cNvGrpSpPr/>
          <p:nvPr/>
        </p:nvGrpSpPr>
        <p:grpSpPr>
          <a:xfrm>
            <a:off x="7376927" y="2358879"/>
            <a:ext cx="3675036" cy="1235335"/>
            <a:chOff x="7562408" y="2305955"/>
            <a:chExt cx="3675036" cy="1235335"/>
          </a:xfrm>
        </p:grpSpPr>
        <p:sp>
          <p:nvSpPr>
            <p:cNvPr id="60" name="TextBox 249">
              <a:extLst>
                <a:ext uri="{FF2B5EF4-FFF2-40B4-BE49-F238E27FC236}">
                  <a16:creationId xmlns:a16="http://schemas.microsoft.com/office/drawing/2014/main" id="{DDF75C51-B9CD-484E-D74A-E8B1DC80EB1C}"/>
                </a:ext>
              </a:extLst>
            </p:cNvPr>
            <p:cNvSpPr txBox="1"/>
            <p:nvPr/>
          </p:nvSpPr>
          <p:spPr>
            <a:xfrm>
              <a:off x="9501507" y="3018070"/>
              <a:ext cx="1208792" cy="52322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RTT</a:t>
              </a:r>
              <a:r>
                <a:rPr kumimoji="0" lang="zh-CN" altLang="en-US" sz="2800" b="0" i="0" u="none" strike="noStrike" kern="1200" cap="none" spc="0" normalizeH="0" baseline="-25000" noProof="0" dirty="0">
                  <a:ln>
                    <a:noFill/>
                  </a:ln>
                  <a:solidFill>
                    <a:prstClr val="black"/>
                  </a:solidFill>
                  <a:effectLst/>
                  <a:uLnTx/>
                  <a:uFillTx/>
                  <a:latin typeface="华文仿宋" panose="02010600040101010101" pitchFamily="2" charset="-122"/>
                  <a:ea typeface="华文仿宋" panose="02010600040101010101" pitchFamily="2" charset="-122"/>
                </a:rPr>
                <a:t>测量</a:t>
              </a:r>
              <a:endParaRPr kumimoji="0" lang="en-US" sz="2000" b="0" i="0" u="none" strike="noStrike" kern="1200" cap="none" spc="0" normalizeH="0" baseline="-25000" noProof="0" dirty="0">
                <a:ln>
                  <a:noFill/>
                </a:ln>
                <a:solidFill>
                  <a:prstClr val="black"/>
                </a:solidFill>
                <a:effectLst/>
                <a:uLnTx/>
                <a:uFillTx/>
                <a:latin typeface="华文仿宋" panose="02010600040101010101" pitchFamily="2" charset="-122"/>
                <a:ea typeface="华文仿宋" panose="02010600040101010101" pitchFamily="2" charset="-122"/>
              </a:endParaRPr>
            </a:p>
          </p:txBody>
        </p:sp>
        <p:grpSp>
          <p:nvGrpSpPr>
            <p:cNvPr id="61" name="Group 21">
              <a:extLst>
                <a:ext uri="{FF2B5EF4-FFF2-40B4-BE49-F238E27FC236}">
                  <a16:creationId xmlns:a16="http://schemas.microsoft.com/office/drawing/2014/main" id="{9CD23A0F-4FED-27BA-20E8-C901BC095B18}"/>
                </a:ext>
              </a:extLst>
            </p:cNvPr>
            <p:cNvGrpSpPr/>
            <p:nvPr/>
          </p:nvGrpSpPr>
          <p:grpSpPr>
            <a:xfrm>
              <a:off x="7562408" y="2305955"/>
              <a:ext cx="3675036" cy="968896"/>
              <a:chOff x="7600182" y="2409071"/>
              <a:chExt cx="3675036" cy="968896"/>
            </a:xfrm>
          </p:grpSpPr>
          <p:sp>
            <p:nvSpPr>
              <p:cNvPr id="62" name="TextBox 14">
                <a:extLst>
                  <a:ext uri="{FF2B5EF4-FFF2-40B4-BE49-F238E27FC236}">
                    <a16:creationId xmlns:a16="http://schemas.microsoft.com/office/drawing/2014/main" id="{1187039C-5F7A-7A65-CA98-6A157C0D4C93}"/>
                  </a:ext>
                </a:extLst>
              </p:cNvPr>
              <p:cNvSpPr txBox="1"/>
              <p:nvPr/>
            </p:nvSpPr>
            <p:spPr>
              <a:xfrm>
                <a:off x="7600182" y="2731636"/>
                <a:ext cx="1291051" cy="646331"/>
              </a:xfrm>
              <a:prstGeom prst="rect">
                <a:avLst/>
              </a:prstGeom>
              <a:noFill/>
            </p:spPr>
            <p:txBody>
              <a:bodyPr wrap="square" rtlCol="0">
                <a:spAutoFit/>
              </a:body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mn-ea"/>
                    <a:cs typeface="+mn-cs"/>
                  </a:rPr>
                  <a:t>测量得到的吞吐率</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63" name="Straight Connector 19">
                <a:extLst>
                  <a:ext uri="{FF2B5EF4-FFF2-40B4-BE49-F238E27FC236}">
                    <a16:creationId xmlns:a16="http://schemas.microsoft.com/office/drawing/2014/main" id="{E2894219-D848-9914-56D9-CD3058EDD229}"/>
                  </a:ext>
                </a:extLst>
              </p:cNvPr>
              <p:cNvCxnSpPr>
                <a:cxnSpLocks/>
              </p:cNvCxnSpPr>
              <p:nvPr/>
            </p:nvCxnSpPr>
            <p:spPr>
              <a:xfrm>
                <a:off x="9284574" y="3075516"/>
                <a:ext cx="1806511" cy="26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TextBox 250">
                <a:extLst>
                  <a:ext uri="{FF2B5EF4-FFF2-40B4-BE49-F238E27FC236}">
                    <a16:creationId xmlns:a16="http://schemas.microsoft.com/office/drawing/2014/main" id="{EF9DA1F4-C1F9-AD70-EB83-8A36891BFA45}"/>
                  </a:ext>
                </a:extLst>
              </p:cNvPr>
              <p:cNvSpPr txBox="1"/>
              <p:nvPr/>
            </p:nvSpPr>
            <p:spPr>
              <a:xfrm>
                <a:off x="8852626" y="2855966"/>
                <a:ext cx="31290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29" name="TextBox 251">
                <a:extLst>
                  <a:ext uri="{FF2B5EF4-FFF2-40B4-BE49-F238E27FC236}">
                    <a16:creationId xmlns:a16="http://schemas.microsoft.com/office/drawing/2014/main" id="{B3A73B15-A06F-1E35-4A5B-3649212DCCF5}"/>
                  </a:ext>
                </a:extLst>
              </p:cNvPr>
              <p:cNvSpPr txBox="1"/>
              <p:nvPr/>
            </p:nvSpPr>
            <p:spPr>
              <a:xfrm>
                <a:off x="9235734" y="2409071"/>
                <a:ext cx="2039484" cy="646331"/>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mn-ea"/>
                    <a:cs typeface="+mn-cs"/>
                  </a:rPr>
                  <a:t>上一个</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mn-ea"/>
                    <a:cs typeface="+mn-cs"/>
                  </a:rPr>
                  <a:t>RTT</a:t>
                </a:r>
                <a:r>
                  <a:rPr kumimoji="0" lang="zh-CN" altLang="en-US" sz="2000" b="0" i="0" u="none" strike="noStrike" kern="1200" cap="none" spc="0" normalizeH="0" baseline="0" noProof="0" dirty="0">
                    <a:ln>
                      <a:noFill/>
                    </a:ln>
                    <a:solidFill>
                      <a:prstClr val="black"/>
                    </a:solidFill>
                    <a:effectLst/>
                    <a:uLnTx/>
                    <a:uFillTx/>
                    <a:latin typeface="Calibri" panose="020F0502020204030204"/>
                    <a:ea typeface="+mn-ea"/>
                    <a:cs typeface="+mn-cs"/>
                  </a:rPr>
                  <a:t>周期内发送的字节数</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130" name="组合 129">
            <a:extLst>
              <a:ext uri="{FF2B5EF4-FFF2-40B4-BE49-F238E27FC236}">
                <a16:creationId xmlns:a16="http://schemas.microsoft.com/office/drawing/2014/main" id="{1C9535BB-750C-E665-E814-99EFA0B396AF}"/>
              </a:ext>
            </a:extLst>
          </p:cNvPr>
          <p:cNvGrpSpPr/>
          <p:nvPr/>
        </p:nvGrpSpPr>
        <p:grpSpPr>
          <a:xfrm>
            <a:off x="616261" y="3921796"/>
            <a:ext cx="6891425" cy="476221"/>
            <a:chOff x="1403750" y="3593123"/>
            <a:chExt cx="6891425" cy="476221"/>
          </a:xfrm>
        </p:grpSpPr>
        <p:grpSp>
          <p:nvGrpSpPr>
            <p:cNvPr id="131" name="组合 130">
              <a:extLst>
                <a:ext uri="{FF2B5EF4-FFF2-40B4-BE49-F238E27FC236}">
                  <a16:creationId xmlns:a16="http://schemas.microsoft.com/office/drawing/2014/main" id="{ACB4515F-CF51-F1CB-C4FA-955B28903A54}"/>
                </a:ext>
              </a:extLst>
            </p:cNvPr>
            <p:cNvGrpSpPr/>
            <p:nvPr/>
          </p:nvGrpSpPr>
          <p:grpSpPr>
            <a:xfrm>
              <a:off x="1403750" y="3593123"/>
              <a:ext cx="490436" cy="476221"/>
              <a:chOff x="1403750" y="3593123"/>
              <a:chExt cx="808892" cy="785446"/>
            </a:xfrm>
          </p:grpSpPr>
          <p:sp>
            <p:nvSpPr>
              <p:cNvPr id="133" name="对话气泡: 椭圆形 132">
                <a:extLst>
                  <a:ext uri="{FF2B5EF4-FFF2-40B4-BE49-F238E27FC236}">
                    <a16:creationId xmlns:a16="http://schemas.microsoft.com/office/drawing/2014/main" id="{552C6A48-0CBB-21EF-2656-AA0EF6970AC3}"/>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华文仿宋" panose="02010600040101010101" pitchFamily="2" charset="-122"/>
                  <a:ea typeface="华文仿宋" panose="02010600040101010101" pitchFamily="2" charset="-122"/>
                </a:endParaRPr>
              </a:p>
            </p:txBody>
          </p:sp>
          <p:sp>
            <p:nvSpPr>
              <p:cNvPr id="134" name="round-web-cam_17861">
                <a:extLst>
                  <a:ext uri="{FF2B5EF4-FFF2-40B4-BE49-F238E27FC236}">
                    <a16:creationId xmlns:a16="http://schemas.microsoft.com/office/drawing/2014/main" id="{5A253EE2-F642-108F-914E-4DEEDFA02936}"/>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132" name="Text Box 79">
              <a:extLst>
                <a:ext uri="{FF2B5EF4-FFF2-40B4-BE49-F238E27FC236}">
                  <a16:creationId xmlns:a16="http://schemas.microsoft.com/office/drawing/2014/main" id="{E78A9CC8-3682-D20C-65DA-1E23BD4A9F9A}"/>
                </a:ext>
              </a:extLst>
            </p:cNvPr>
            <p:cNvSpPr txBox="1">
              <a:spLocks noChangeArrowheads="1"/>
            </p:cNvSpPr>
            <p:nvPr/>
          </p:nvSpPr>
          <p:spPr bwMode="auto">
            <a:xfrm>
              <a:off x="1778073" y="3622890"/>
              <a:ext cx="6517102" cy="3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41300" marR="0" lvl="0" algn="l" defTabSz="914400" rtl="0" eaLnBrk="1" fontAlgn="auto" latinLnBrk="0" hangingPunct="1">
                <a:lnSpc>
                  <a:spcPct val="90000"/>
                </a:lnSpc>
                <a:spcBef>
                  <a:spcPts val="1000"/>
                </a:spcBef>
                <a:spcAft>
                  <a:spcPts val="0"/>
                </a:spcAft>
                <a:buClr>
                  <a:srgbClr val="0000A3"/>
                </a:buClr>
                <a:buSzTx/>
                <a:tabLst/>
                <a:defRPr/>
              </a:pPr>
              <a:r>
                <a:rPr kumimoji="0" lang="en-US" altLang="zh-CN" sz="2000" b="0" i="0" u="none" strike="noStrike" kern="1200" cap="none" spc="0" normalizeH="0" baseline="0" noProof="0" dirty="0" err="1">
                  <a:ln>
                    <a:noFill/>
                  </a:ln>
                  <a:solidFill>
                    <a:prstClr val="black"/>
                  </a:solidFill>
                  <a:effectLst/>
                  <a:uLnTx/>
                  <a:uFillTx/>
                  <a:latin typeface="华文仿宋" panose="02010600040101010101" pitchFamily="2" charset="-122"/>
                  <a:ea typeface="华文仿宋" panose="02010600040101010101" pitchFamily="2" charset="-122"/>
                </a:rPr>
                <a:t>RTT</a:t>
              </a:r>
              <a:r>
                <a:rPr kumimoji="0" lang="en-US" altLang="zh-CN" sz="2000" b="0" i="0" u="none" strike="noStrike" kern="1200" cap="none" spc="0" normalizeH="0" baseline="-25000" noProof="0" dirty="0" err="1">
                  <a:ln>
                    <a:noFill/>
                  </a:ln>
                  <a:solidFill>
                    <a:prstClr val="black"/>
                  </a:solidFill>
                  <a:effectLst/>
                  <a:uLnTx/>
                  <a:uFillTx/>
                  <a:latin typeface="华文仿宋" panose="02010600040101010101" pitchFamily="2" charset="-122"/>
                  <a:ea typeface="华文仿宋" panose="02010600040101010101" pitchFamily="2" charset="-122"/>
                </a:rPr>
                <a:t>min</a:t>
              </a:r>
              <a:r>
                <a:rPr kumimoji="0" lang="en-US" altLang="zh-CN"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 – </a:t>
              </a:r>
              <a:r>
                <a:rPr kumimoji="0" lang="zh-CN" alt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观察到的最小的</a:t>
              </a:r>
              <a:r>
                <a:rPr kumimoji="0" lang="en-US" altLang="zh-CN"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 RTT</a:t>
              </a:r>
              <a:r>
                <a:rPr kumimoji="0" lang="en-US" altLang="zh-CN"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sym typeface="Wingdings" pitchFamily="2" charset="2"/>
                </a:rPr>
                <a:t> </a:t>
              </a:r>
              <a:r>
                <a:rPr kumimoji="0" lang="zh-CN" alt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sym typeface="Wingdings" pitchFamily="2" charset="2"/>
                </a:rPr>
                <a:t>（无拥塞状态）</a:t>
              </a:r>
              <a:endParaRPr kumimoji="0" lang="en-US" altLang="zh-CN"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endParaRPr>
            </a:p>
          </p:txBody>
        </p:sp>
      </p:grpSp>
      <p:grpSp>
        <p:nvGrpSpPr>
          <p:cNvPr id="135" name="组合 134">
            <a:extLst>
              <a:ext uri="{FF2B5EF4-FFF2-40B4-BE49-F238E27FC236}">
                <a16:creationId xmlns:a16="http://schemas.microsoft.com/office/drawing/2014/main" id="{946D3A8F-A2C9-70E7-3E12-56BAA6B92257}"/>
              </a:ext>
            </a:extLst>
          </p:cNvPr>
          <p:cNvGrpSpPr/>
          <p:nvPr/>
        </p:nvGrpSpPr>
        <p:grpSpPr>
          <a:xfrm>
            <a:off x="616261" y="4547799"/>
            <a:ext cx="6593969" cy="476221"/>
            <a:chOff x="1403750" y="3593123"/>
            <a:chExt cx="6593969" cy="476221"/>
          </a:xfrm>
        </p:grpSpPr>
        <p:grpSp>
          <p:nvGrpSpPr>
            <p:cNvPr id="136" name="组合 135">
              <a:extLst>
                <a:ext uri="{FF2B5EF4-FFF2-40B4-BE49-F238E27FC236}">
                  <a16:creationId xmlns:a16="http://schemas.microsoft.com/office/drawing/2014/main" id="{1586A5CC-B3A8-2190-1669-FE5745524F39}"/>
                </a:ext>
              </a:extLst>
            </p:cNvPr>
            <p:cNvGrpSpPr/>
            <p:nvPr/>
          </p:nvGrpSpPr>
          <p:grpSpPr>
            <a:xfrm>
              <a:off x="1403750" y="3593123"/>
              <a:ext cx="490436" cy="476221"/>
              <a:chOff x="1403750" y="3593123"/>
              <a:chExt cx="808892" cy="785446"/>
            </a:xfrm>
          </p:grpSpPr>
          <p:sp>
            <p:nvSpPr>
              <p:cNvPr id="138" name="对话气泡: 椭圆形 137">
                <a:extLst>
                  <a:ext uri="{FF2B5EF4-FFF2-40B4-BE49-F238E27FC236}">
                    <a16:creationId xmlns:a16="http://schemas.microsoft.com/office/drawing/2014/main" id="{F5B23EF5-41C0-9EA2-E204-AE2EDD5164F4}"/>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华文仿宋" panose="02010600040101010101" pitchFamily="2" charset="-122"/>
                  <a:ea typeface="华文仿宋" panose="02010600040101010101" pitchFamily="2" charset="-122"/>
                </a:endParaRPr>
              </a:p>
            </p:txBody>
          </p:sp>
          <p:sp>
            <p:nvSpPr>
              <p:cNvPr id="139" name="round-web-cam_17861">
                <a:extLst>
                  <a:ext uri="{FF2B5EF4-FFF2-40B4-BE49-F238E27FC236}">
                    <a16:creationId xmlns:a16="http://schemas.microsoft.com/office/drawing/2014/main" id="{E9F388DE-AE0D-44A6-FC62-BC2580837ADF}"/>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137" name="Text Box 79">
              <a:extLst>
                <a:ext uri="{FF2B5EF4-FFF2-40B4-BE49-F238E27FC236}">
                  <a16:creationId xmlns:a16="http://schemas.microsoft.com/office/drawing/2014/main" id="{51F7728D-EAE9-E5B3-11AB-7201308A11E2}"/>
                </a:ext>
              </a:extLst>
            </p:cNvPr>
            <p:cNvSpPr txBox="1">
              <a:spLocks noChangeArrowheads="1"/>
            </p:cNvSpPr>
            <p:nvPr/>
          </p:nvSpPr>
          <p:spPr bwMode="auto">
            <a:xfrm>
              <a:off x="1778073" y="3622890"/>
              <a:ext cx="6219646" cy="3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41300" marR="0" lvl="0" algn="l" defTabSz="914400" rtl="0" eaLnBrk="1" fontAlgn="auto" latinLnBrk="0" hangingPunct="1">
                <a:lnSpc>
                  <a:spcPct val="90000"/>
                </a:lnSpc>
                <a:spcBef>
                  <a:spcPts val="1000"/>
                </a:spcBef>
                <a:spcAft>
                  <a:spcPts val="0"/>
                </a:spcAft>
                <a:buClr>
                  <a:srgbClr val="0000A3"/>
                </a:buClr>
                <a:buSzTx/>
                <a:tabLst/>
                <a:defRPr/>
              </a:pPr>
              <a:r>
                <a:rPr lang="zh-CN" altLang="en-US" sz="2000" dirty="0">
                  <a:solidFill>
                    <a:prstClr val="black"/>
                  </a:solidFill>
                  <a:latin typeface="华文仿宋" panose="02010600040101010101" pitchFamily="2" charset="-122"/>
                  <a:ea typeface="华文仿宋" panose="02010600040101010101" pitchFamily="2" charset="-122"/>
                </a:rPr>
                <a:t>无拥塞状态的吞吐率 </a:t>
              </a:r>
              <a:r>
                <a:rPr lang="en-US" altLang="zh-CN" sz="2000" dirty="0">
                  <a:solidFill>
                    <a:prstClr val="black"/>
                  </a:solidFill>
                  <a:latin typeface="华文仿宋" panose="02010600040101010101" pitchFamily="2" charset="-122"/>
                  <a:ea typeface="华文仿宋" panose="02010600040101010101" pitchFamily="2" charset="-122"/>
                </a:rPr>
                <a:t>= </a:t>
              </a:r>
              <a:r>
                <a:rPr kumimoji="0" lang="en-US" altLang="zh-CN"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 </a:t>
              </a:r>
              <a:r>
                <a:rPr kumimoji="0" lang="en-US" altLang="zh-CN" sz="2000" b="0" i="0" u="none" strike="noStrike" kern="1200" cap="none" spc="0" normalizeH="0" baseline="0" noProof="0" dirty="0" err="1">
                  <a:ln>
                    <a:noFill/>
                  </a:ln>
                  <a:solidFill>
                    <a:prstClr val="black"/>
                  </a:solidFill>
                  <a:effectLst/>
                  <a:uLnTx/>
                  <a:uFillTx/>
                  <a:latin typeface="华文仿宋" panose="02010600040101010101" pitchFamily="2" charset="-122"/>
                  <a:ea typeface="华文仿宋" panose="02010600040101010101" pitchFamily="2" charset="-122"/>
                </a:rPr>
                <a:t>cwnd</a:t>
              </a:r>
              <a:r>
                <a:rPr kumimoji="0" lang="en-US" altLang="zh-CN"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a:t>
              </a:r>
              <a:r>
                <a:rPr kumimoji="0" lang="en-US" altLang="zh-CN" sz="2000" b="0" i="0" u="none" strike="noStrike" kern="1200" cap="none" spc="0" normalizeH="0" baseline="0" noProof="0" dirty="0" err="1">
                  <a:ln>
                    <a:noFill/>
                  </a:ln>
                  <a:solidFill>
                    <a:prstClr val="black"/>
                  </a:solidFill>
                  <a:effectLst/>
                  <a:uLnTx/>
                  <a:uFillTx/>
                  <a:latin typeface="华文仿宋" panose="02010600040101010101" pitchFamily="2" charset="-122"/>
                  <a:ea typeface="华文仿宋" panose="02010600040101010101" pitchFamily="2" charset="-122"/>
                </a:rPr>
                <a:t>RTT</a:t>
              </a:r>
              <a:r>
                <a:rPr kumimoji="0" lang="en-US" altLang="zh-CN" sz="2000" b="0" i="0" u="none" strike="noStrike" kern="1200" cap="none" spc="0" normalizeH="0" baseline="-25000" noProof="0" dirty="0" err="1">
                  <a:ln>
                    <a:noFill/>
                  </a:ln>
                  <a:solidFill>
                    <a:prstClr val="black"/>
                  </a:solidFill>
                  <a:effectLst/>
                  <a:uLnTx/>
                  <a:uFillTx/>
                  <a:latin typeface="华文仿宋" panose="02010600040101010101" pitchFamily="2" charset="-122"/>
                  <a:ea typeface="华文仿宋" panose="02010600040101010101" pitchFamily="2" charset="-122"/>
                </a:rPr>
                <a:t>min</a:t>
              </a:r>
              <a:endParaRPr kumimoji="0" lang="en-US" altLang="zh-CN" sz="2000" b="0" i="0" u="none" strike="noStrike" kern="1200" cap="none" spc="0" normalizeH="0" baseline="-25000" noProof="0" dirty="0">
                <a:ln>
                  <a:noFill/>
                </a:ln>
                <a:solidFill>
                  <a:prstClr val="black"/>
                </a:solidFill>
                <a:effectLst/>
                <a:uLnTx/>
                <a:uFillTx/>
                <a:latin typeface="华文仿宋" panose="02010600040101010101" pitchFamily="2" charset="-122"/>
                <a:ea typeface="华文仿宋" panose="02010600040101010101" pitchFamily="2" charset="-122"/>
              </a:endParaRPr>
            </a:p>
          </p:txBody>
        </p:sp>
      </p:grpSp>
      <p:sp>
        <p:nvSpPr>
          <p:cNvPr id="140" name="TextBox 20">
            <a:extLst>
              <a:ext uri="{FF2B5EF4-FFF2-40B4-BE49-F238E27FC236}">
                <a16:creationId xmlns:a16="http://schemas.microsoft.com/office/drawing/2014/main" id="{FB2E668F-F7D7-DABA-C2CF-B121AD83A480}"/>
              </a:ext>
            </a:extLst>
          </p:cNvPr>
          <p:cNvSpPr txBox="1"/>
          <p:nvPr/>
        </p:nvSpPr>
        <p:spPr>
          <a:xfrm>
            <a:off x="2139530" y="5083141"/>
            <a:ext cx="7555832" cy="16004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if </a:t>
            </a:r>
            <a:r>
              <a:rPr kumimoji="0" lang="zh-CN" alt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测得吞吐率</a:t>
            </a:r>
            <a:r>
              <a:rPr kumimoji="0" 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a:t>
            </a:r>
            <a:r>
              <a:rPr kumimoji="0" lang="zh-CN" alt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非常接近</a:t>
            </a:r>
            <a:r>
              <a:rPr kumimoji="0" 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a:t>
            </a:r>
            <a:r>
              <a:rPr kumimoji="0" lang="zh-CN" alt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无拥塞状态的吞吐率</a:t>
            </a:r>
            <a:endParaRPr kumimoji="0" 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        </a:t>
            </a:r>
            <a:r>
              <a:rPr kumimoji="0" lang="zh-CN" alt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线性增加</a:t>
            </a:r>
            <a:r>
              <a:rPr kumimoji="0" lang="en-US" sz="2000" b="0" i="0" u="none" strike="noStrike" kern="1200" cap="none" spc="0" normalizeH="0" baseline="0" noProof="0" dirty="0" err="1">
                <a:ln>
                  <a:noFill/>
                </a:ln>
                <a:solidFill>
                  <a:prstClr val="black"/>
                </a:solidFill>
                <a:effectLst/>
                <a:uLnTx/>
                <a:uFillTx/>
                <a:latin typeface="华文仿宋" panose="02010600040101010101" pitchFamily="2" charset="-122"/>
                <a:ea typeface="华文仿宋" panose="02010600040101010101" pitchFamily="2" charset="-122"/>
              </a:rPr>
              <a:t>cwnd</a:t>
            </a:r>
            <a:r>
              <a:rPr kumimoji="0" 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                           /* </a:t>
            </a:r>
            <a:r>
              <a:rPr kumimoji="0" lang="zh-CN" alt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因为路径上无拥塞 </a:t>
            </a:r>
            <a:r>
              <a:rPr kumimoji="0" 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 </a:t>
            </a:r>
          </a:p>
          <a:p>
            <a:pPr lvl="0">
              <a:defRPr/>
            </a:pPr>
            <a:r>
              <a:rPr kumimoji="0" 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else if </a:t>
            </a:r>
            <a:r>
              <a:rPr lang="zh-CN" altLang="en-US" sz="2000" dirty="0">
                <a:solidFill>
                  <a:prstClr val="black"/>
                </a:solidFill>
                <a:latin typeface="华文仿宋" panose="02010600040101010101" pitchFamily="2" charset="-122"/>
                <a:ea typeface="华文仿宋" panose="02010600040101010101" pitchFamily="2" charset="-122"/>
              </a:rPr>
              <a:t>测得吞吐率</a:t>
            </a:r>
            <a:r>
              <a:rPr lang="en-US" altLang="zh-CN" sz="2000" dirty="0">
                <a:solidFill>
                  <a:prstClr val="black"/>
                </a:solidFill>
                <a:latin typeface="华文仿宋" panose="02010600040101010101" pitchFamily="2" charset="-122"/>
                <a:ea typeface="华文仿宋" panose="02010600040101010101" pitchFamily="2" charset="-122"/>
              </a:rPr>
              <a:t>“</a:t>
            </a:r>
            <a:r>
              <a:rPr lang="zh-CN" altLang="en-US" sz="2000" dirty="0">
                <a:solidFill>
                  <a:prstClr val="black"/>
                </a:solidFill>
                <a:latin typeface="华文仿宋" panose="02010600040101010101" pitchFamily="2" charset="-122"/>
                <a:ea typeface="华文仿宋" panose="02010600040101010101" pitchFamily="2" charset="-122"/>
              </a:rPr>
              <a:t>远小于</a:t>
            </a:r>
            <a:r>
              <a:rPr lang="en-US" altLang="zh-CN" sz="2000" dirty="0">
                <a:solidFill>
                  <a:prstClr val="black"/>
                </a:solidFill>
                <a:latin typeface="华文仿宋" panose="02010600040101010101" pitchFamily="2" charset="-122"/>
                <a:ea typeface="华文仿宋" panose="02010600040101010101" pitchFamily="2" charset="-122"/>
              </a:rPr>
              <a:t>”</a:t>
            </a:r>
            <a:r>
              <a:rPr lang="zh-CN" altLang="en-US" sz="2000" dirty="0">
                <a:solidFill>
                  <a:prstClr val="black"/>
                </a:solidFill>
                <a:latin typeface="华文仿宋" panose="02010600040101010101" pitchFamily="2" charset="-122"/>
                <a:ea typeface="华文仿宋" panose="02010600040101010101" pitchFamily="2" charset="-122"/>
              </a:rPr>
              <a:t>无拥塞状态的吞吐率</a:t>
            </a:r>
            <a:endParaRPr kumimoji="0" 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endParaRPr>
          </a:p>
          <a:p>
            <a:pPr lvl="0">
              <a:defRPr/>
            </a:pPr>
            <a:r>
              <a:rPr kumimoji="0" 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        </a:t>
            </a:r>
            <a:r>
              <a:rPr kumimoji="0" lang="zh-CN" alt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线性减小</a:t>
            </a:r>
            <a:r>
              <a:rPr kumimoji="0" lang="en-US" sz="2000" b="0" i="0" u="none" strike="noStrike" kern="1200" cap="none" spc="0" normalizeH="0" baseline="0" noProof="0" dirty="0" err="1">
                <a:ln>
                  <a:noFill/>
                </a:ln>
                <a:solidFill>
                  <a:prstClr val="black"/>
                </a:solidFill>
                <a:effectLst/>
                <a:uLnTx/>
                <a:uFillTx/>
                <a:latin typeface="华文仿宋" panose="02010600040101010101" pitchFamily="2" charset="-122"/>
                <a:ea typeface="华文仿宋" panose="02010600040101010101" pitchFamily="2" charset="-122"/>
              </a:rPr>
              <a:t>cwnd</a:t>
            </a:r>
            <a:r>
              <a:rPr kumimoji="0" 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          /* </a:t>
            </a:r>
            <a:r>
              <a:rPr lang="en-US" altLang="zh-CN" sz="2000" dirty="0">
                <a:solidFill>
                  <a:prstClr val="black"/>
                </a:solidFill>
                <a:latin typeface="华文仿宋" panose="02010600040101010101" pitchFamily="2" charset="-122"/>
                <a:ea typeface="华文仿宋" panose="02010600040101010101" pitchFamily="2" charset="-122"/>
              </a:rPr>
              <a:t> </a:t>
            </a:r>
            <a:r>
              <a:rPr lang="zh-CN" altLang="en-US" sz="2000" dirty="0">
                <a:solidFill>
                  <a:prstClr val="black"/>
                </a:solidFill>
                <a:latin typeface="华文仿宋" panose="02010600040101010101" pitchFamily="2" charset="-122"/>
                <a:ea typeface="华文仿宋" panose="02010600040101010101" pitchFamily="2" charset="-122"/>
              </a:rPr>
              <a:t>因为路径上有拥塞 </a:t>
            </a:r>
            <a:r>
              <a:rPr kumimoji="0" lang="en-US" sz="20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endParaRPr>
          </a:p>
        </p:txBody>
      </p:sp>
      <p:sp>
        <p:nvSpPr>
          <p:cNvPr id="2" name="灯片编号占位符 1">
            <a:extLst>
              <a:ext uri="{FF2B5EF4-FFF2-40B4-BE49-F238E27FC236}">
                <a16:creationId xmlns:a16="http://schemas.microsoft.com/office/drawing/2014/main" id="{1E9EE238-976D-44CF-9263-E2683F63B2EF}"/>
              </a:ext>
            </a:extLst>
          </p:cNvPr>
          <p:cNvSpPr>
            <a:spLocks noGrp="1"/>
          </p:cNvSpPr>
          <p:nvPr>
            <p:ph type="sldNum" sz="quarter" idx="12"/>
          </p:nvPr>
        </p:nvSpPr>
        <p:spPr/>
        <p:txBody>
          <a:bodyPr/>
          <a:lstStyle/>
          <a:p>
            <a:fld id="{5956A083-5018-4B52-82A0-83241B8E3D94}" type="slidenum">
              <a:rPr lang="zh-CN" altLang="en-US" smtClean="0"/>
              <a:t>82</a:t>
            </a:fld>
            <a:endParaRPr lang="zh-CN" altLang="en-US"/>
          </a:p>
        </p:txBody>
      </p:sp>
    </p:spTree>
    <p:extLst>
      <p:ext uri="{BB962C8B-B14F-4D97-AF65-F5344CB8AC3E}">
        <p14:creationId xmlns:p14="http://schemas.microsoft.com/office/powerpoint/2010/main" val="347562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par>
                                <p:cTn id="13" presetID="22" presetClass="entr" presetSubtype="8" fill="hold" nodeType="withEffect">
                                  <p:stCondLst>
                                    <p:cond delay="0"/>
                                  </p:stCondLst>
                                  <p:childTnLst>
                                    <p:set>
                                      <p:cBhvr>
                                        <p:cTn id="14" dur="1" fill="hold">
                                          <p:stCondLst>
                                            <p:cond delay="0"/>
                                          </p:stCondLst>
                                        </p:cTn>
                                        <p:tgtEl>
                                          <p:spTgt spid="130"/>
                                        </p:tgtEl>
                                        <p:attrNameLst>
                                          <p:attrName>style.visibility</p:attrName>
                                        </p:attrNameLst>
                                      </p:cBhvr>
                                      <p:to>
                                        <p:strVal val="visible"/>
                                      </p:to>
                                    </p:set>
                                    <p:animEffect transition="in" filter="wipe(left)">
                                      <p:cBhvr>
                                        <p:cTn id="15" dur="500"/>
                                        <p:tgtEl>
                                          <p:spTgt spid="130"/>
                                        </p:tgtEl>
                                      </p:cBhvr>
                                    </p:animEffect>
                                  </p:childTnLst>
                                </p:cTn>
                              </p:par>
                              <p:par>
                                <p:cTn id="16" presetID="22" presetClass="entr" presetSubtype="8" fill="hold" nodeType="withEffect">
                                  <p:stCondLst>
                                    <p:cond delay="0"/>
                                  </p:stCondLst>
                                  <p:childTnLst>
                                    <p:set>
                                      <p:cBhvr>
                                        <p:cTn id="17" dur="1" fill="hold">
                                          <p:stCondLst>
                                            <p:cond delay="0"/>
                                          </p:stCondLst>
                                        </p:cTn>
                                        <p:tgtEl>
                                          <p:spTgt spid="135"/>
                                        </p:tgtEl>
                                        <p:attrNameLst>
                                          <p:attrName>style.visibility</p:attrName>
                                        </p:attrNameLst>
                                      </p:cBhvr>
                                      <p:to>
                                        <p:strVal val="visible"/>
                                      </p:to>
                                    </p:set>
                                    <p:animEffect transition="in" filter="wipe(left)">
                                      <p:cBhvr>
                                        <p:cTn id="18" dur="500"/>
                                        <p:tgtEl>
                                          <p:spTgt spid="13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dissolve">
                                      <p:cBhvr>
                                        <p:cTn id="23" dur="500"/>
                                        <p:tgtEl>
                                          <p:spTgt spid="5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40"/>
                                        </p:tgtEl>
                                        <p:attrNameLst>
                                          <p:attrName>style.visibility</p:attrName>
                                        </p:attrNameLst>
                                      </p:cBhvr>
                                      <p:to>
                                        <p:strVal val="visible"/>
                                      </p:to>
                                    </p:set>
                                    <p:animEffect transition="in" filter="dissolve">
                                      <p:cBhvr>
                                        <p:cTn id="28"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DFC3C-5C0F-6FBD-4660-48AD75115905}"/>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0F810C5A-BC80-B265-3091-05BF46884BFC}"/>
              </a:ext>
            </a:extLst>
          </p:cNvPr>
          <p:cNvGrpSpPr/>
          <p:nvPr/>
        </p:nvGrpSpPr>
        <p:grpSpPr>
          <a:xfrm>
            <a:off x="103094" y="-173759"/>
            <a:ext cx="6452977" cy="1428589"/>
            <a:chOff x="552684" y="-356229"/>
            <a:chExt cx="6452977" cy="1428589"/>
          </a:xfrm>
        </p:grpSpPr>
        <p:grpSp>
          <p:nvGrpSpPr>
            <p:cNvPr id="45" name="组合 44">
              <a:extLst>
                <a:ext uri="{FF2B5EF4-FFF2-40B4-BE49-F238E27FC236}">
                  <a16:creationId xmlns:a16="http://schemas.microsoft.com/office/drawing/2014/main" id="{17AB0841-BE45-418B-8C21-274C925C03C2}"/>
                </a:ext>
              </a:extLst>
            </p:cNvPr>
            <p:cNvGrpSpPr/>
            <p:nvPr/>
          </p:nvGrpSpPr>
          <p:grpSpPr>
            <a:xfrm>
              <a:off x="1201633" y="303925"/>
              <a:ext cx="5804028" cy="675443"/>
              <a:chOff x="1839060" y="967769"/>
              <a:chExt cx="5804028" cy="675443"/>
            </a:xfrm>
          </p:grpSpPr>
          <p:sp>
            <p:nvSpPr>
              <p:cNvPr id="47" name="矩形: 圆角 46">
                <a:extLst>
                  <a:ext uri="{FF2B5EF4-FFF2-40B4-BE49-F238E27FC236}">
                    <a16:creationId xmlns:a16="http://schemas.microsoft.com/office/drawing/2014/main" id="{33A6E96A-391B-2FCA-2676-308DBD2E678B}"/>
                  </a:ext>
                </a:extLst>
              </p:cNvPr>
              <p:cNvSpPr/>
              <p:nvPr/>
            </p:nvSpPr>
            <p:spPr>
              <a:xfrm>
                <a:off x="1839060" y="967769"/>
                <a:ext cx="5804028"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599E0834-6D3D-A920-D429-57AD38498654}"/>
                  </a:ext>
                </a:extLst>
              </p:cNvPr>
              <p:cNvSpPr txBox="1"/>
              <p:nvPr/>
            </p:nvSpPr>
            <p:spPr>
              <a:xfrm>
                <a:off x="2597180" y="1053620"/>
                <a:ext cx="5006918"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拥塞控制方法（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Vegas</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a:t>
                </a:r>
              </a:p>
            </p:txBody>
          </p:sp>
        </p:grpSp>
        <p:pic>
          <p:nvPicPr>
            <p:cNvPr id="46" name="图片 45">
              <a:extLst>
                <a:ext uri="{FF2B5EF4-FFF2-40B4-BE49-F238E27FC236}">
                  <a16:creationId xmlns:a16="http://schemas.microsoft.com/office/drawing/2014/main" id="{41DCC25F-051C-D7E6-7C95-325E23ED00E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pSp>
        <p:nvGrpSpPr>
          <p:cNvPr id="2" name="组合 1">
            <a:extLst>
              <a:ext uri="{FF2B5EF4-FFF2-40B4-BE49-F238E27FC236}">
                <a16:creationId xmlns:a16="http://schemas.microsoft.com/office/drawing/2014/main" id="{DE99208D-3928-3E87-A411-9DAD831BC1AD}"/>
              </a:ext>
            </a:extLst>
          </p:cNvPr>
          <p:cNvGrpSpPr/>
          <p:nvPr/>
        </p:nvGrpSpPr>
        <p:grpSpPr>
          <a:xfrm>
            <a:off x="749051" y="1747177"/>
            <a:ext cx="9403950" cy="514422"/>
            <a:chOff x="1403750" y="3554922"/>
            <a:chExt cx="9403950" cy="514422"/>
          </a:xfrm>
        </p:grpSpPr>
        <p:grpSp>
          <p:nvGrpSpPr>
            <p:cNvPr id="3" name="组合 2">
              <a:extLst>
                <a:ext uri="{FF2B5EF4-FFF2-40B4-BE49-F238E27FC236}">
                  <a16:creationId xmlns:a16="http://schemas.microsoft.com/office/drawing/2014/main" id="{2F9676AD-9D7E-3736-BCE9-51479660666E}"/>
                </a:ext>
              </a:extLst>
            </p:cNvPr>
            <p:cNvGrpSpPr/>
            <p:nvPr/>
          </p:nvGrpSpPr>
          <p:grpSpPr>
            <a:xfrm>
              <a:off x="1403750" y="3593123"/>
              <a:ext cx="490436" cy="476221"/>
              <a:chOff x="1403750" y="3593123"/>
              <a:chExt cx="808892" cy="785446"/>
            </a:xfrm>
          </p:grpSpPr>
          <p:sp>
            <p:nvSpPr>
              <p:cNvPr id="5" name="对话气泡: 椭圆形 4">
                <a:extLst>
                  <a:ext uri="{FF2B5EF4-FFF2-40B4-BE49-F238E27FC236}">
                    <a16:creationId xmlns:a16="http://schemas.microsoft.com/office/drawing/2014/main" id="{34A5FE4B-58EE-A50A-A845-C3832BDC0B47}"/>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round-web-cam_17861">
                <a:extLst>
                  <a:ext uri="{FF2B5EF4-FFF2-40B4-BE49-F238E27FC236}">
                    <a16:creationId xmlns:a16="http://schemas.microsoft.com/office/drawing/2014/main" id="{92E63E4D-9246-5B41-A60D-AD2D4C727A70}"/>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4" name="Text Box 79">
              <a:extLst>
                <a:ext uri="{FF2B5EF4-FFF2-40B4-BE49-F238E27FC236}">
                  <a16:creationId xmlns:a16="http://schemas.microsoft.com/office/drawing/2014/main" id="{F6FB9206-507F-AF7C-6AB5-47CAA082AD5D}"/>
                </a:ext>
              </a:extLst>
            </p:cNvPr>
            <p:cNvSpPr txBox="1">
              <a:spLocks noChangeArrowheads="1"/>
            </p:cNvSpPr>
            <p:nvPr/>
          </p:nvSpPr>
          <p:spPr bwMode="auto">
            <a:xfrm>
              <a:off x="2013554" y="3554922"/>
              <a:ext cx="8794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dirty="0">
                  <a:solidFill>
                    <a:schemeClr val="tx1">
                      <a:lumMod val="85000"/>
                      <a:lumOff val="15000"/>
                    </a:schemeClr>
                  </a:solidFill>
                  <a:ea typeface="思源黑体 CN Medium" panose="020B0600000000000000" pitchFamily="34" charset="-122"/>
                </a:rPr>
                <a:t>拥塞控制过程中不存在诱导</a:t>
              </a:r>
              <a:r>
                <a:rPr kumimoji="1" lang="en-US" altLang="zh-CN" sz="2400" dirty="0">
                  <a:solidFill>
                    <a:schemeClr val="tx1">
                      <a:lumMod val="85000"/>
                      <a:lumOff val="15000"/>
                    </a:schemeClr>
                  </a:solidFill>
                  <a:ea typeface="思源黑体 CN Medium" panose="020B0600000000000000" pitchFamily="34" charset="-122"/>
                </a:rPr>
                <a:t>/</a:t>
              </a:r>
              <a:r>
                <a:rPr kumimoji="1" lang="zh-CN" altLang="en-US" sz="2400" dirty="0">
                  <a:solidFill>
                    <a:schemeClr val="tx1">
                      <a:lumMod val="85000"/>
                      <a:lumOff val="15000"/>
                    </a:schemeClr>
                  </a:solidFill>
                  <a:ea typeface="思源黑体 CN Medium" panose="020B0600000000000000" pitchFamily="34" charset="-122"/>
                </a:rPr>
                <a:t>强制性能损失</a:t>
              </a:r>
              <a:endParaRPr kumimoji="1"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nvGrpSpPr>
          <p:cNvPr id="7" name="组合 6">
            <a:extLst>
              <a:ext uri="{FF2B5EF4-FFF2-40B4-BE49-F238E27FC236}">
                <a16:creationId xmlns:a16="http://schemas.microsoft.com/office/drawing/2014/main" id="{8046D375-F060-610F-F74F-D5FAAA073496}"/>
              </a:ext>
            </a:extLst>
          </p:cNvPr>
          <p:cNvGrpSpPr/>
          <p:nvPr/>
        </p:nvGrpSpPr>
        <p:grpSpPr>
          <a:xfrm>
            <a:off x="749051" y="2716868"/>
            <a:ext cx="11231830" cy="514422"/>
            <a:chOff x="1403750" y="3554922"/>
            <a:chExt cx="11231830" cy="514422"/>
          </a:xfrm>
        </p:grpSpPr>
        <p:grpSp>
          <p:nvGrpSpPr>
            <p:cNvPr id="8" name="组合 7">
              <a:extLst>
                <a:ext uri="{FF2B5EF4-FFF2-40B4-BE49-F238E27FC236}">
                  <a16:creationId xmlns:a16="http://schemas.microsoft.com/office/drawing/2014/main" id="{92DFA26C-EB5D-DB63-E344-83244BFDF024}"/>
                </a:ext>
              </a:extLst>
            </p:cNvPr>
            <p:cNvGrpSpPr/>
            <p:nvPr/>
          </p:nvGrpSpPr>
          <p:grpSpPr>
            <a:xfrm>
              <a:off x="1403750" y="3593123"/>
              <a:ext cx="490436" cy="476221"/>
              <a:chOff x="1403750" y="3593123"/>
              <a:chExt cx="808892" cy="785446"/>
            </a:xfrm>
          </p:grpSpPr>
          <p:sp>
            <p:nvSpPr>
              <p:cNvPr id="10" name="对话气泡: 椭圆形 9">
                <a:extLst>
                  <a:ext uri="{FF2B5EF4-FFF2-40B4-BE49-F238E27FC236}">
                    <a16:creationId xmlns:a16="http://schemas.microsoft.com/office/drawing/2014/main" id="{60D8BEC4-D02C-1C51-F3F1-1D85940856A8}"/>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9" name="round-web-cam_17861">
                <a:extLst>
                  <a:ext uri="{FF2B5EF4-FFF2-40B4-BE49-F238E27FC236}">
                    <a16:creationId xmlns:a16="http://schemas.microsoft.com/office/drawing/2014/main" id="{B4EBDEC9-2B64-08DD-25B5-20A3AF6D1D69}"/>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9" name="Text Box 79">
              <a:extLst>
                <a:ext uri="{FF2B5EF4-FFF2-40B4-BE49-F238E27FC236}">
                  <a16:creationId xmlns:a16="http://schemas.microsoft.com/office/drawing/2014/main" id="{BDFEA190-A386-62C1-10E1-B40A276ED2E6}"/>
                </a:ext>
              </a:extLst>
            </p:cNvPr>
            <p:cNvSpPr txBox="1">
              <a:spLocks noChangeArrowheads="1"/>
            </p:cNvSpPr>
            <p:nvPr/>
          </p:nvSpPr>
          <p:spPr bwMode="auto">
            <a:xfrm>
              <a:off x="2013554" y="3554922"/>
              <a:ext cx="106220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dirty="0">
                  <a:solidFill>
                    <a:schemeClr val="tx1">
                      <a:lumMod val="85000"/>
                      <a:lumOff val="15000"/>
                    </a:schemeClr>
                  </a:solidFill>
                  <a:ea typeface="思源黑体 CN Medium" panose="020B0600000000000000" pitchFamily="34" charset="-122"/>
                </a:rPr>
                <a:t>在保持低时延（</a:t>
              </a:r>
              <a:r>
                <a:rPr kumimoji="1" lang="en-US" altLang="zh-CN" sz="2400" dirty="0">
                  <a:solidFill>
                    <a:schemeClr val="tx1">
                      <a:lumMod val="85000"/>
                      <a:lumOff val="15000"/>
                    </a:schemeClr>
                  </a:solidFill>
                  <a:ea typeface="思源黑体 CN Medium" panose="020B0600000000000000" pitchFamily="34" charset="-122"/>
                </a:rPr>
                <a:t>“......</a:t>
              </a:r>
              <a:r>
                <a:rPr kumimoji="1" lang="zh-CN" altLang="en-US" sz="2400" dirty="0">
                  <a:solidFill>
                    <a:schemeClr val="tx1">
                      <a:lumMod val="85000"/>
                      <a:lumOff val="15000"/>
                    </a:schemeClr>
                  </a:solidFill>
                  <a:ea typeface="思源黑体 CN Medium" panose="020B0600000000000000" pitchFamily="34" charset="-122"/>
                </a:rPr>
                <a:t>但不是更满</a:t>
              </a:r>
              <a:r>
                <a:rPr kumimoji="1" lang="en-US" altLang="zh-CN" sz="2400" dirty="0">
                  <a:solidFill>
                    <a:schemeClr val="tx1">
                      <a:lumMod val="85000"/>
                      <a:lumOff val="15000"/>
                    </a:schemeClr>
                  </a:solidFill>
                  <a:ea typeface="思源黑体 CN Medium" panose="020B0600000000000000" pitchFamily="34" charset="-122"/>
                </a:rPr>
                <a:t>”</a:t>
              </a:r>
              <a:r>
                <a:rPr kumimoji="1" lang="zh-CN" altLang="en-US" sz="2400" dirty="0">
                  <a:solidFill>
                    <a:schemeClr val="tx1">
                      <a:lumMod val="85000"/>
                      <a:lumOff val="15000"/>
                    </a:schemeClr>
                  </a:solidFill>
                  <a:ea typeface="思源黑体 CN Medium" panose="020B0600000000000000" pitchFamily="34" charset="-122"/>
                </a:rPr>
                <a:t>）的同时，最大化吞吐率（</a:t>
              </a:r>
              <a:r>
                <a:rPr kumimoji="1" lang="en-US" altLang="zh-CN" sz="2400" dirty="0">
                  <a:solidFill>
                    <a:schemeClr val="tx1">
                      <a:lumMod val="85000"/>
                      <a:lumOff val="15000"/>
                    </a:schemeClr>
                  </a:solidFill>
                  <a:ea typeface="思源黑体 CN Medium" panose="020B0600000000000000" pitchFamily="34" charset="-122"/>
                </a:rPr>
                <a:t>"</a:t>
              </a:r>
              <a:r>
                <a:rPr kumimoji="1" lang="zh-CN" altLang="en-US" sz="2400" dirty="0">
                  <a:solidFill>
                    <a:schemeClr val="tx1">
                      <a:lumMod val="85000"/>
                      <a:lumOff val="15000"/>
                    </a:schemeClr>
                  </a:solidFill>
                  <a:ea typeface="思源黑体 CN Medium" panose="020B0600000000000000" pitchFamily="34" charset="-122"/>
                </a:rPr>
                <a:t>保持管道满</a:t>
              </a:r>
              <a:r>
                <a:rPr kumimoji="1" lang="en-US" altLang="zh-CN" sz="2400" dirty="0">
                  <a:solidFill>
                    <a:schemeClr val="tx1">
                      <a:lumMod val="85000"/>
                      <a:lumOff val="15000"/>
                    </a:schemeClr>
                  </a:solidFill>
                  <a:ea typeface="思源黑体 CN Medium" panose="020B0600000000000000" pitchFamily="34" charset="-122"/>
                </a:rPr>
                <a:t>……"</a:t>
              </a:r>
              <a:r>
                <a:rPr kumimoji="1" lang="zh-CN" altLang="en-US" sz="2400" dirty="0">
                  <a:solidFill>
                    <a:schemeClr val="tx1">
                      <a:lumMod val="85000"/>
                      <a:lumOff val="15000"/>
                    </a:schemeClr>
                  </a:solidFill>
                  <a:ea typeface="思源黑体 CN Medium" panose="020B0600000000000000" pitchFamily="34" charset="-122"/>
                </a:rPr>
                <a:t>）</a:t>
              </a:r>
              <a:endParaRPr kumimoji="1"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nvGrpSpPr>
          <p:cNvPr id="50" name="组合 49">
            <a:extLst>
              <a:ext uri="{FF2B5EF4-FFF2-40B4-BE49-F238E27FC236}">
                <a16:creationId xmlns:a16="http://schemas.microsoft.com/office/drawing/2014/main" id="{CF70FBB1-A1E5-2867-8191-8895B185EF8E}"/>
              </a:ext>
            </a:extLst>
          </p:cNvPr>
          <p:cNvGrpSpPr/>
          <p:nvPr/>
        </p:nvGrpSpPr>
        <p:grpSpPr>
          <a:xfrm>
            <a:off x="749051" y="3686559"/>
            <a:ext cx="9403950" cy="514422"/>
            <a:chOff x="1403750" y="3554922"/>
            <a:chExt cx="9403950" cy="514422"/>
          </a:xfrm>
        </p:grpSpPr>
        <p:grpSp>
          <p:nvGrpSpPr>
            <p:cNvPr id="51" name="组合 50">
              <a:extLst>
                <a:ext uri="{FF2B5EF4-FFF2-40B4-BE49-F238E27FC236}">
                  <a16:creationId xmlns:a16="http://schemas.microsoft.com/office/drawing/2014/main" id="{C1F36A95-45CF-EC69-28F3-809A07D23D45}"/>
                </a:ext>
              </a:extLst>
            </p:cNvPr>
            <p:cNvGrpSpPr/>
            <p:nvPr/>
          </p:nvGrpSpPr>
          <p:grpSpPr>
            <a:xfrm>
              <a:off x="1403750" y="3593123"/>
              <a:ext cx="490436" cy="476221"/>
              <a:chOff x="1403750" y="3593123"/>
              <a:chExt cx="808892" cy="785446"/>
            </a:xfrm>
          </p:grpSpPr>
          <p:sp>
            <p:nvSpPr>
              <p:cNvPr id="53" name="对话气泡: 椭圆形 52">
                <a:extLst>
                  <a:ext uri="{FF2B5EF4-FFF2-40B4-BE49-F238E27FC236}">
                    <a16:creationId xmlns:a16="http://schemas.microsoft.com/office/drawing/2014/main" id="{5B7F3A88-B990-47D5-C7FD-EA3168A446A6}"/>
                  </a:ext>
                </a:extLst>
              </p:cNvPr>
              <p:cNvSpPr/>
              <p:nvPr/>
            </p:nvSpPr>
            <p:spPr>
              <a:xfrm>
                <a:off x="1403750" y="3593123"/>
                <a:ext cx="808892" cy="785446"/>
              </a:xfrm>
              <a:prstGeom prst="wedgeEllipseCallout">
                <a:avLst>
                  <a:gd name="adj1" fmla="val 66124"/>
                  <a:gd name="adj2" fmla="val 2799"/>
                </a:avLst>
              </a:prstGeom>
              <a:solidFill>
                <a:srgbClr val="009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4" name="round-web-cam_17861">
                <a:extLst>
                  <a:ext uri="{FF2B5EF4-FFF2-40B4-BE49-F238E27FC236}">
                    <a16:creationId xmlns:a16="http://schemas.microsoft.com/office/drawing/2014/main" id="{AA47C32F-D950-314A-6C73-0B870EB8BDD3}"/>
                  </a:ext>
                </a:extLst>
              </p:cNvPr>
              <p:cNvSpPr>
                <a:spLocks noChangeAspect="1"/>
              </p:cNvSpPr>
              <p:nvPr/>
            </p:nvSpPr>
            <p:spPr bwMode="auto">
              <a:xfrm>
                <a:off x="1567764" y="3705353"/>
                <a:ext cx="480863" cy="560986"/>
              </a:xfrm>
              <a:custGeom>
                <a:avLst/>
                <a:gdLst>
                  <a:gd name="connsiteX0" fmla="*/ 382866 w 517527"/>
                  <a:gd name="connsiteY0" fmla="*/ 485037 h 603758"/>
                  <a:gd name="connsiteX1" fmla="*/ 258763 w 517527"/>
                  <a:gd name="connsiteY1" fmla="*/ 516800 h 603758"/>
                  <a:gd name="connsiteX2" fmla="*/ 136617 w 517527"/>
                  <a:gd name="connsiteY2" fmla="*/ 486079 h 603758"/>
                  <a:gd name="connsiteX3" fmla="*/ 81214 w 517527"/>
                  <a:gd name="connsiteY3" fmla="*/ 525522 h 603758"/>
                  <a:gd name="connsiteX4" fmla="*/ 261371 w 517527"/>
                  <a:gd name="connsiteY4" fmla="*/ 581888 h 603758"/>
                  <a:gd name="connsiteX5" fmla="*/ 441658 w 517527"/>
                  <a:gd name="connsiteY5" fmla="*/ 525522 h 603758"/>
                  <a:gd name="connsiteX6" fmla="*/ 382866 w 517527"/>
                  <a:gd name="connsiteY6" fmla="*/ 485037 h 603758"/>
                  <a:gd name="connsiteX7" fmla="*/ 258870 w 517527"/>
                  <a:gd name="connsiteY7" fmla="*/ 184740 h 603758"/>
                  <a:gd name="connsiteX8" fmla="*/ 332717 w 517527"/>
                  <a:gd name="connsiteY8" fmla="*/ 258481 h 603758"/>
                  <a:gd name="connsiteX9" fmla="*/ 258870 w 517527"/>
                  <a:gd name="connsiteY9" fmla="*/ 332222 h 603758"/>
                  <a:gd name="connsiteX10" fmla="*/ 185023 w 517527"/>
                  <a:gd name="connsiteY10" fmla="*/ 258481 h 603758"/>
                  <a:gd name="connsiteX11" fmla="*/ 258870 w 517527"/>
                  <a:gd name="connsiteY11" fmla="*/ 184740 h 603758"/>
                  <a:gd name="connsiteX12" fmla="*/ 258763 w 517527"/>
                  <a:gd name="connsiteY12" fmla="*/ 147620 h 603758"/>
                  <a:gd name="connsiteX13" fmla="*/ 147697 w 517527"/>
                  <a:gd name="connsiteY13" fmla="*/ 258400 h 603758"/>
                  <a:gd name="connsiteX14" fmla="*/ 258763 w 517527"/>
                  <a:gd name="connsiteY14" fmla="*/ 369310 h 603758"/>
                  <a:gd name="connsiteX15" fmla="*/ 369830 w 517527"/>
                  <a:gd name="connsiteY15" fmla="*/ 258400 h 603758"/>
                  <a:gd name="connsiteX16" fmla="*/ 258763 w 517527"/>
                  <a:gd name="connsiteY16" fmla="*/ 147620 h 603758"/>
                  <a:gd name="connsiteX17" fmla="*/ 258112 w 517527"/>
                  <a:gd name="connsiteY17" fmla="*/ 80189 h 603758"/>
                  <a:gd name="connsiteX18" fmla="*/ 236342 w 517527"/>
                  <a:gd name="connsiteY18" fmla="*/ 102058 h 603758"/>
                  <a:gd name="connsiteX19" fmla="*/ 258112 w 517527"/>
                  <a:gd name="connsiteY19" fmla="*/ 123798 h 603758"/>
                  <a:gd name="connsiteX20" fmla="*/ 280012 w 517527"/>
                  <a:gd name="connsiteY20" fmla="*/ 102058 h 603758"/>
                  <a:gd name="connsiteX21" fmla="*/ 258112 w 517527"/>
                  <a:gd name="connsiteY21" fmla="*/ 80189 h 603758"/>
                  <a:gd name="connsiteX22" fmla="*/ 258763 w 517527"/>
                  <a:gd name="connsiteY22" fmla="*/ 0 h 603758"/>
                  <a:gd name="connsiteX23" fmla="*/ 517527 w 517527"/>
                  <a:gd name="connsiteY23" fmla="*/ 258400 h 603758"/>
                  <a:gd name="connsiteX24" fmla="*/ 406852 w 517527"/>
                  <a:gd name="connsiteY24" fmla="*/ 470197 h 603758"/>
                  <a:gd name="connsiteX25" fmla="*/ 463428 w 517527"/>
                  <a:gd name="connsiteY25" fmla="*/ 525522 h 603758"/>
                  <a:gd name="connsiteX26" fmla="*/ 261371 w 517527"/>
                  <a:gd name="connsiteY26" fmla="*/ 603758 h 603758"/>
                  <a:gd name="connsiteX27" fmla="*/ 59314 w 517527"/>
                  <a:gd name="connsiteY27" fmla="*/ 525522 h 603758"/>
                  <a:gd name="connsiteX28" fmla="*/ 112631 w 517527"/>
                  <a:gd name="connsiteY28" fmla="*/ 471499 h 603758"/>
                  <a:gd name="connsiteX29" fmla="*/ 0 w 517527"/>
                  <a:gd name="connsiteY29" fmla="*/ 258400 h 603758"/>
                  <a:gd name="connsiteX30" fmla="*/ 258763 w 517527"/>
                  <a:gd name="connsiteY30" fmla="*/ 0 h 60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7527" h="603758">
                    <a:moveTo>
                      <a:pt x="382866" y="485037"/>
                    </a:moveTo>
                    <a:cubicBezTo>
                      <a:pt x="345974" y="505345"/>
                      <a:pt x="303737" y="516800"/>
                      <a:pt x="258763" y="516800"/>
                    </a:cubicBezTo>
                    <a:cubicBezTo>
                      <a:pt x="214572" y="516800"/>
                      <a:pt x="172987" y="505735"/>
                      <a:pt x="136617" y="486079"/>
                    </a:cubicBezTo>
                    <a:cubicBezTo>
                      <a:pt x="102463" y="497013"/>
                      <a:pt x="81214" y="511984"/>
                      <a:pt x="81214" y="525522"/>
                    </a:cubicBezTo>
                    <a:cubicBezTo>
                      <a:pt x="81214" y="549084"/>
                      <a:pt x="149783" y="581888"/>
                      <a:pt x="261371" y="581888"/>
                    </a:cubicBezTo>
                    <a:cubicBezTo>
                      <a:pt x="373089" y="581888"/>
                      <a:pt x="441658" y="549084"/>
                      <a:pt x="441658" y="525522"/>
                    </a:cubicBezTo>
                    <a:cubicBezTo>
                      <a:pt x="441658" y="511593"/>
                      <a:pt x="418584" y="495972"/>
                      <a:pt x="382866" y="485037"/>
                    </a:cubicBezTo>
                    <a:close/>
                    <a:moveTo>
                      <a:pt x="258870" y="184740"/>
                    </a:moveTo>
                    <a:cubicBezTo>
                      <a:pt x="299655" y="184740"/>
                      <a:pt x="332717" y="217755"/>
                      <a:pt x="332717" y="258481"/>
                    </a:cubicBezTo>
                    <a:cubicBezTo>
                      <a:pt x="332717" y="299207"/>
                      <a:pt x="299655" y="332222"/>
                      <a:pt x="258870" y="332222"/>
                    </a:cubicBezTo>
                    <a:cubicBezTo>
                      <a:pt x="218085" y="332222"/>
                      <a:pt x="185023" y="299207"/>
                      <a:pt x="185023" y="258481"/>
                    </a:cubicBezTo>
                    <a:cubicBezTo>
                      <a:pt x="185023" y="217755"/>
                      <a:pt x="218085" y="184740"/>
                      <a:pt x="258870" y="184740"/>
                    </a:cubicBezTo>
                    <a:close/>
                    <a:moveTo>
                      <a:pt x="258763" y="147620"/>
                    </a:moveTo>
                    <a:cubicBezTo>
                      <a:pt x="197495" y="147620"/>
                      <a:pt x="147697" y="197347"/>
                      <a:pt x="147697" y="258400"/>
                    </a:cubicBezTo>
                    <a:cubicBezTo>
                      <a:pt x="147697" y="319583"/>
                      <a:pt x="197495" y="369310"/>
                      <a:pt x="258763" y="369310"/>
                    </a:cubicBezTo>
                    <a:cubicBezTo>
                      <a:pt x="320032" y="369310"/>
                      <a:pt x="369830" y="319453"/>
                      <a:pt x="369830" y="258400"/>
                    </a:cubicBezTo>
                    <a:cubicBezTo>
                      <a:pt x="369830" y="197347"/>
                      <a:pt x="320032" y="147620"/>
                      <a:pt x="258763" y="147620"/>
                    </a:cubicBezTo>
                    <a:close/>
                    <a:moveTo>
                      <a:pt x="258112" y="80189"/>
                    </a:moveTo>
                    <a:cubicBezTo>
                      <a:pt x="246119" y="80189"/>
                      <a:pt x="236342" y="89952"/>
                      <a:pt x="236342" y="102058"/>
                    </a:cubicBezTo>
                    <a:cubicBezTo>
                      <a:pt x="236342" y="114034"/>
                      <a:pt x="246119" y="123798"/>
                      <a:pt x="258112" y="123798"/>
                    </a:cubicBezTo>
                    <a:cubicBezTo>
                      <a:pt x="270235" y="123798"/>
                      <a:pt x="280012" y="114034"/>
                      <a:pt x="280012" y="102058"/>
                    </a:cubicBezTo>
                    <a:cubicBezTo>
                      <a:pt x="280012" y="89952"/>
                      <a:pt x="270235" y="80189"/>
                      <a:pt x="258112" y="80189"/>
                    </a:cubicBezTo>
                    <a:close/>
                    <a:moveTo>
                      <a:pt x="258763" y="0"/>
                    </a:moveTo>
                    <a:cubicBezTo>
                      <a:pt x="401507" y="0"/>
                      <a:pt x="517527" y="115857"/>
                      <a:pt x="517527" y="258400"/>
                    </a:cubicBezTo>
                    <a:cubicBezTo>
                      <a:pt x="517527" y="346009"/>
                      <a:pt x="473726" y="423464"/>
                      <a:pt x="406852" y="470197"/>
                    </a:cubicBezTo>
                    <a:cubicBezTo>
                      <a:pt x="443483" y="484386"/>
                      <a:pt x="463428" y="503652"/>
                      <a:pt x="463428" y="525522"/>
                    </a:cubicBezTo>
                    <a:cubicBezTo>
                      <a:pt x="463428" y="576291"/>
                      <a:pt x="359401" y="603758"/>
                      <a:pt x="261371" y="603758"/>
                    </a:cubicBezTo>
                    <a:cubicBezTo>
                      <a:pt x="163471" y="603758"/>
                      <a:pt x="59314" y="576291"/>
                      <a:pt x="59314" y="525522"/>
                    </a:cubicBezTo>
                    <a:cubicBezTo>
                      <a:pt x="59314" y="504434"/>
                      <a:pt x="78085" y="485688"/>
                      <a:pt x="112631" y="471499"/>
                    </a:cubicBezTo>
                    <a:cubicBezTo>
                      <a:pt x="44713" y="424896"/>
                      <a:pt x="0" y="346790"/>
                      <a:pt x="0" y="258400"/>
                    </a:cubicBezTo>
                    <a:cubicBezTo>
                      <a:pt x="0" y="115857"/>
                      <a:pt x="116020" y="0"/>
                      <a:pt x="258763" y="0"/>
                    </a:cubicBezTo>
                    <a:close/>
                  </a:path>
                </a:pathLst>
              </a:custGeom>
              <a:solidFill>
                <a:schemeClr val="bg1"/>
              </a:solidFill>
              <a:ln>
                <a:noFill/>
              </a:ln>
            </p:spPr>
          </p:sp>
        </p:grpSp>
        <p:sp>
          <p:nvSpPr>
            <p:cNvPr id="52" name="Text Box 79">
              <a:extLst>
                <a:ext uri="{FF2B5EF4-FFF2-40B4-BE49-F238E27FC236}">
                  <a16:creationId xmlns:a16="http://schemas.microsoft.com/office/drawing/2014/main" id="{DD329891-6DDC-5BB5-8A78-44242A5E12A2}"/>
                </a:ext>
              </a:extLst>
            </p:cNvPr>
            <p:cNvSpPr txBox="1">
              <a:spLocks noChangeArrowheads="1"/>
            </p:cNvSpPr>
            <p:nvPr/>
          </p:nvSpPr>
          <p:spPr bwMode="auto">
            <a:xfrm>
              <a:off x="2013554" y="3554922"/>
              <a:ext cx="8794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dirty="0">
                  <a:solidFill>
                    <a:schemeClr val="tx1">
                      <a:lumMod val="85000"/>
                      <a:lumOff val="15000"/>
                    </a:schemeClr>
                  </a:solidFill>
                  <a:ea typeface="思源黑体 CN Medium" panose="020B0600000000000000" pitchFamily="34" charset="-122"/>
                </a:rPr>
                <a:t>一些已部署的 </a:t>
              </a:r>
              <a:r>
                <a:rPr kumimoji="1" lang="en-US" altLang="zh-CN" sz="2400" dirty="0">
                  <a:solidFill>
                    <a:schemeClr val="tx1">
                      <a:lumMod val="85000"/>
                      <a:lumOff val="15000"/>
                    </a:schemeClr>
                  </a:solidFill>
                  <a:ea typeface="思源黑体 CN Medium" panose="020B0600000000000000" pitchFamily="34" charset="-122"/>
                </a:rPr>
                <a:t>TCP </a:t>
              </a:r>
              <a:r>
                <a:rPr kumimoji="1" lang="zh-CN" altLang="en-US" sz="2400" dirty="0">
                  <a:solidFill>
                    <a:schemeClr val="tx1">
                      <a:lumMod val="85000"/>
                      <a:lumOff val="15000"/>
                    </a:schemeClr>
                  </a:solidFill>
                  <a:ea typeface="思源黑体 CN Medium" panose="020B0600000000000000" pitchFamily="34" charset="-122"/>
                </a:rPr>
                <a:t>采用了这种基于时延的方法</a:t>
              </a:r>
              <a:endParaRPr kumimoji="1"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sp>
        <p:nvSpPr>
          <p:cNvPr id="141" name="Text Box 79">
            <a:extLst>
              <a:ext uri="{FF2B5EF4-FFF2-40B4-BE49-F238E27FC236}">
                <a16:creationId xmlns:a16="http://schemas.microsoft.com/office/drawing/2014/main" id="{1B300379-C2A3-27CE-4FBA-7F2B78521B16}"/>
              </a:ext>
            </a:extLst>
          </p:cNvPr>
          <p:cNvSpPr txBox="1">
            <a:spLocks noChangeArrowheads="1"/>
          </p:cNvSpPr>
          <p:nvPr/>
        </p:nvSpPr>
        <p:spPr bwMode="auto">
          <a:xfrm>
            <a:off x="1358855" y="4387854"/>
            <a:ext cx="9150965" cy="57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nSpc>
                <a:spcPct val="150000"/>
              </a:lnSpc>
              <a:buClr>
                <a:srgbClr val="009FF6"/>
              </a:buClr>
              <a:buFont typeface="Wingdings" panose="05000000000000000000" pitchFamily="2" charset="2"/>
              <a:buChar char="p"/>
            </a:pP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在谷歌（内部）骨干网络上就部署了</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Vegas</a:t>
            </a:r>
            <a:r>
              <a:rPr kumimoji="1"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的一种实现方法</a:t>
            </a:r>
            <a:r>
              <a:rPr kumimoji="1" lang="en-US" altLang="zh-CN" sz="2400" dirty="0">
                <a:latin typeface="Times New Roman" panose="02020603050405020304" pitchFamily="18" charset="0"/>
                <a:ea typeface="思源黑体 CN Normal" panose="020B0400000000000000" pitchFamily="34" charset="-122"/>
                <a:cs typeface="Times New Roman" panose="02020603050405020304" pitchFamily="18" charset="0"/>
              </a:rPr>
              <a:t>BBR</a:t>
            </a:r>
          </a:p>
        </p:txBody>
      </p:sp>
      <p:sp>
        <p:nvSpPr>
          <p:cNvPr id="11" name="灯片编号占位符 10">
            <a:extLst>
              <a:ext uri="{FF2B5EF4-FFF2-40B4-BE49-F238E27FC236}">
                <a16:creationId xmlns:a16="http://schemas.microsoft.com/office/drawing/2014/main" id="{2519C386-9826-469F-A6D4-8D1A908B187D}"/>
              </a:ext>
            </a:extLst>
          </p:cNvPr>
          <p:cNvSpPr>
            <a:spLocks noGrp="1"/>
          </p:cNvSpPr>
          <p:nvPr>
            <p:ph type="sldNum" sz="quarter" idx="12"/>
          </p:nvPr>
        </p:nvSpPr>
        <p:spPr/>
        <p:txBody>
          <a:bodyPr/>
          <a:lstStyle/>
          <a:p>
            <a:fld id="{5956A083-5018-4B52-82A0-83241B8E3D94}" type="slidenum">
              <a:rPr lang="zh-CN" altLang="en-US" smtClean="0"/>
              <a:t>83</a:t>
            </a:fld>
            <a:endParaRPr lang="zh-CN" altLang="en-US"/>
          </a:p>
        </p:txBody>
      </p:sp>
    </p:spTree>
    <p:extLst>
      <p:ext uri="{BB962C8B-B14F-4D97-AF65-F5344CB8AC3E}">
        <p14:creationId xmlns:p14="http://schemas.microsoft.com/office/powerpoint/2010/main" val="303094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wipe(left)">
                                      <p:cBhvr>
                                        <p:cTn id="17" dur="5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1">
                                            <p:txEl>
                                              <p:pRg st="0" end="0"/>
                                            </p:txEl>
                                          </p:spTgt>
                                        </p:tgtEl>
                                        <p:attrNameLst>
                                          <p:attrName>style.visibility</p:attrName>
                                        </p:attrNameLst>
                                      </p:cBhvr>
                                      <p:to>
                                        <p:strVal val="visible"/>
                                      </p:to>
                                    </p:set>
                                    <p:animEffect transition="in" filter="wipe(left)">
                                      <p:cBhvr>
                                        <p:cTn id="22" dur="500"/>
                                        <p:tgtEl>
                                          <p:spTgt spid="14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141">
                                            <p:txEl>
                                              <p:pRg st="0" end="0"/>
                                            </p:txEl>
                                          </p:spTgt>
                                        </p:tgtEl>
                                      </p:cBhvr>
                                    </p:animEffect>
                                    <p:set>
                                      <p:cBhvr>
                                        <p:cTn id="27" dur="1" fill="hold">
                                          <p:stCondLst>
                                            <p:cond delay="499"/>
                                          </p:stCondLst>
                                        </p:cTn>
                                        <p:tgtEl>
                                          <p:spTgt spid="141">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uiExpand="1" build="p"/>
      <p:bldP spid="141" grpId="1" build="allAtOnce"/>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FAD49-ACD1-7589-3DC6-D13A31A68B01}"/>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108BE6F2-1EB0-F3DD-D303-32020EE63553}"/>
              </a:ext>
            </a:extLst>
          </p:cNvPr>
          <p:cNvGrpSpPr/>
          <p:nvPr/>
        </p:nvGrpSpPr>
        <p:grpSpPr>
          <a:xfrm>
            <a:off x="103094" y="-173759"/>
            <a:ext cx="6452977" cy="1428589"/>
            <a:chOff x="552684" y="-356229"/>
            <a:chExt cx="6452977" cy="1428589"/>
          </a:xfrm>
        </p:grpSpPr>
        <p:grpSp>
          <p:nvGrpSpPr>
            <p:cNvPr id="45" name="组合 44">
              <a:extLst>
                <a:ext uri="{FF2B5EF4-FFF2-40B4-BE49-F238E27FC236}">
                  <a16:creationId xmlns:a16="http://schemas.microsoft.com/office/drawing/2014/main" id="{AE0DC7D8-8FAE-3FDC-A21B-595B946BEB0E}"/>
                </a:ext>
              </a:extLst>
            </p:cNvPr>
            <p:cNvGrpSpPr/>
            <p:nvPr/>
          </p:nvGrpSpPr>
          <p:grpSpPr>
            <a:xfrm>
              <a:off x="1201633" y="303925"/>
              <a:ext cx="5804028" cy="675443"/>
              <a:chOff x="1839060" y="967769"/>
              <a:chExt cx="5804028" cy="675443"/>
            </a:xfrm>
          </p:grpSpPr>
          <p:sp>
            <p:nvSpPr>
              <p:cNvPr id="47" name="矩形: 圆角 46">
                <a:extLst>
                  <a:ext uri="{FF2B5EF4-FFF2-40B4-BE49-F238E27FC236}">
                    <a16:creationId xmlns:a16="http://schemas.microsoft.com/office/drawing/2014/main" id="{B5D7ABBE-324D-6FE3-BB87-A0A6ECED2A7F}"/>
                  </a:ext>
                </a:extLst>
              </p:cNvPr>
              <p:cNvSpPr/>
              <p:nvPr/>
            </p:nvSpPr>
            <p:spPr>
              <a:xfrm>
                <a:off x="1839060" y="967769"/>
                <a:ext cx="5804028"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63C08C16-5C8B-05BF-4334-261A6DFC9214}"/>
                  </a:ext>
                </a:extLst>
              </p:cNvPr>
              <p:cNvSpPr txBox="1"/>
              <p:nvPr/>
            </p:nvSpPr>
            <p:spPr>
              <a:xfrm>
                <a:off x="2597180" y="1053620"/>
                <a:ext cx="5006918"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拥塞控制方法（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Vegas</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a:t>
                </a:r>
              </a:p>
            </p:txBody>
          </p:sp>
        </p:grpSp>
        <p:pic>
          <p:nvPicPr>
            <p:cNvPr id="46" name="图片 45">
              <a:extLst>
                <a:ext uri="{FF2B5EF4-FFF2-40B4-BE49-F238E27FC236}">
                  <a16:creationId xmlns:a16="http://schemas.microsoft.com/office/drawing/2014/main" id="{749D7ACC-AA50-9AAD-06F9-176CB8FDC91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sp>
        <p:nvSpPr>
          <p:cNvPr id="12" name="文本框 11">
            <a:extLst>
              <a:ext uri="{FF2B5EF4-FFF2-40B4-BE49-F238E27FC236}">
                <a16:creationId xmlns:a16="http://schemas.microsoft.com/office/drawing/2014/main" id="{A19F6D77-FFCF-C956-3218-19213EC05CF3}"/>
              </a:ext>
            </a:extLst>
          </p:cNvPr>
          <p:cNvSpPr txBox="1"/>
          <p:nvPr/>
        </p:nvSpPr>
        <p:spPr>
          <a:xfrm>
            <a:off x="599761" y="2069554"/>
            <a:ext cx="10066645" cy="3350404"/>
          </a:xfrm>
          <a:prstGeom prst="rect">
            <a:avLst/>
          </a:prstGeom>
          <a:noFill/>
        </p:spPr>
        <p:txBody>
          <a:bodyPr wrap="square">
            <a:spAutoFit/>
          </a:bodyPr>
          <a:lstStyle/>
          <a:p>
            <a:pPr marL="457200" indent="-457200">
              <a:lnSpc>
                <a:spcPct val="150000"/>
              </a:lnSpc>
              <a:buClr>
                <a:srgbClr val="1969C2"/>
              </a:buClr>
              <a:buFont typeface="Wingdings" panose="05000000000000000000" pitchFamily="2" charset="2"/>
              <a:buChar char="p"/>
            </a:pP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传统 </a:t>
            </a: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TCP </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问题：依赖三重 </a:t>
            </a: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ACK </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或重传超时 → 反应慢</a:t>
            </a:r>
            <a:endPar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endParaRPr>
          </a:p>
          <a:p>
            <a:pPr marL="457200" indent="-457200">
              <a:lnSpc>
                <a:spcPct val="150000"/>
              </a:lnSpc>
              <a:buClr>
                <a:srgbClr val="1969C2"/>
              </a:buClr>
              <a:buFont typeface="Wingdings" panose="05000000000000000000" pitchFamily="2" charset="2"/>
              <a:buChar char="p"/>
            </a:pP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Vegas </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机制：利用 </a:t>
            </a:r>
            <a:r>
              <a:rPr kumimoji="1" lang="en-US" altLang="zh-CN" sz="2400" dirty="0">
                <a:solidFill>
                  <a:srgbClr val="FF0000"/>
                </a:solidFill>
                <a:latin typeface="Arial" panose="020B0604020202020204" pitchFamily="34" charset="0"/>
                <a:ea typeface="思源黑体 CN Medium" panose="020B0600000000000000" pitchFamily="34" charset="-122"/>
              </a:rPr>
              <a:t>RTT</a:t>
            </a:r>
            <a:r>
              <a:rPr kumimoji="1" lang="zh-CN" altLang="en-US" sz="2400" dirty="0">
                <a:solidFill>
                  <a:srgbClr val="FF0000"/>
                </a:solidFill>
                <a:latin typeface="Arial" panose="020B0604020202020204" pitchFamily="34" charset="0"/>
                <a:ea typeface="思源黑体 CN Medium" panose="020B0600000000000000" pitchFamily="34" charset="-122"/>
              </a:rPr>
              <a:t>变化 </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检测潜在丢包若 </a:t>
            </a: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RTT </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超过一定阈值（如超时），</a:t>
            </a:r>
            <a:r>
              <a:rPr kumimoji="1" lang="zh-CN" altLang="en-US" sz="2400" dirty="0">
                <a:solidFill>
                  <a:srgbClr val="FF0000"/>
                </a:solidFill>
                <a:latin typeface="Arial" panose="020B0604020202020204" pitchFamily="34" charset="0"/>
                <a:ea typeface="思源黑体 CN Medium" panose="020B0600000000000000" pitchFamily="34" charset="-122"/>
              </a:rPr>
              <a:t>提前重传</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丢失段</a:t>
            </a:r>
            <a:endPar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endParaRPr>
          </a:p>
          <a:p>
            <a:pPr marL="457200" indent="-457200">
              <a:lnSpc>
                <a:spcPct val="150000"/>
              </a:lnSpc>
              <a:buClr>
                <a:srgbClr val="1969C2"/>
              </a:buClr>
              <a:buFont typeface="Wingdings" panose="05000000000000000000" pitchFamily="2" charset="2"/>
              <a:buChar char="p"/>
            </a:pP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实现方式：维护 </a:t>
            </a: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RTT </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的基准值判断是否有包未被 </a:t>
            </a: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ACK </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且时间超过估计 </a:t>
            </a: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RTT</a:t>
            </a:r>
          </a:p>
          <a:p>
            <a:pPr marL="457200" indent="-457200">
              <a:lnSpc>
                <a:spcPct val="150000"/>
              </a:lnSpc>
              <a:buClr>
                <a:srgbClr val="1969C2"/>
              </a:buClr>
              <a:buFont typeface="Wingdings" panose="05000000000000000000" pitchFamily="2" charset="2"/>
              <a:buChar char="p"/>
            </a:pP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优点：更快检测丢包 → </a:t>
            </a:r>
            <a:r>
              <a:rPr kumimoji="1" lang="zh-CN" altLang="en-US" sz="2400" dirty="0">
                <a:solidFill>
                  <a:srgbClr val="FF0000"/>
                </a:solidFill>
                <a:latin typeface="Arial" panose="020B0604020202020204" pitchFamily="34" charset="0"/>
                <a:ea typeface="思源黑体 CN Medium" panose="020B0600000000000000" pitchFamily="34" charset="-122"/>
              </a:rPr>
              <a:t>减少不必要的等待</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，提升响应性</a:t>
            </a:r>
            <a:endParaRPr kumimoji="1" lang="zh-CN" altLang="en-US" sz="2800" dirty="0">
              <a:solidFill>
                <a:schemeClr val="tx1">
                  <a:lumMod val="85000"/>
                  <a:lumOff val="15000"/>
                </a:schemeClr>
              </a:solidFill>
              <a:latin typeface="Arial" panose="020B0604020202020204" pitchFamily="34" charset="0"/>
              <a:ea typeface="思源黑体 CN Medium" panose="020B0600000000000000" pitchFamily="34" charset="-122"/>
            </a:endParaRPr>
          </a:p>
        </p:txBody>
      </p:sp>
      <p:grpSp>
        <p:nvGrpSpPr>
          <p:cNvPr id="21" name="组合 20">
            <a:extLst>
              <a:ext uri="{FF2B5EF4-FFF2-40B4-BE49-F238E27FC236}">
                <a16:creationId xmlns:a16="http://schemas.microsoft.com/office/drawing/2014/main" id="{90DD0AD1-0135-BBCD-E9C8-86015F2A5016}"/>
              </a:ext>
            </a:extLst>
          </p:cNvPr>
          <p:cNvGrpSpPr/>
          <p:nvPr/>
        </p:nvGrpSpPr>
        <p:grpSpPr>
          <a:xfrm>
            <a:off x="470261" y="1413004"/>
            <a:ext cx="4594900" cy="546155"/>
            <a:chOff x="430213" y="1601273"/>
            <a:chExt cx="4594900" cy="546155"/>
          </a:xfrm>
        </p:grpSpPr>
        <p:sp>
          <p:nvSpPr>
            <p:cNvPr id="22" name="流程图: 手动输入 6">
              <a:extLst>
                <a:ext uri="{FF2B5EF4-FFF2-40B4-BE49-F238E27FC236}">
                  <a16:creationId xmlns:a16="http://schemas.microsoft.com/office/drawing/2014/main" id="{72802922-11CE-6FA8-9EE3-08FB4CE0FEE7}"/>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23" name="组合 22">
              <a:extLst>
                <a:ext uri="{FF2B5EF4-FFF2-40B4-BE49-F238E27FC236}">
                  <a16:creationId xmlns:a16="http://schemas.microsoft.com/office/drawing/2014/main" id="{FE7C4108-15DD-D621-FACA-8D36F87C7ADD}"/>
                </a:ext>
              </a:extLst>
            </p:cNvPr>
            <p:cNvGrpSpPr/>
            <p:nvPr/>
          </p:nvGrpSpPr>
          <p:grpSpPr>
            <a:xfrm>
              <a:off x="430213" y="1601273"/>
              <a:ext cx="4594900" cy="546155"/>
              <a:chOff x="722008" y="1303131"/>
              <a:chExt cx="4387344" cy="521484"/>
            </a:xfrm>
          </p:grpSpPr>
          <p:sp>
            <p:nvSpPr>
              <p:cNvPr id="24" name="流程图: 手动输入 6">
                <a:extLst>
                  <a:ext uri="{FF2B5EF4-FFF2-40B4-BE49-F238E27FC236}">
                    <a16:creationId xmlns:a16="http://schemas.microsoft.com/office/drawing/2014/main" id="{30749DD8-8C95-C87C-2687-BEFD2724D425}"/>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25" name="组合 24">
                <a:extLst>
                  <a:ext uri="{FF2B5EF4-FFF2-40B4-BE49-F238E27FC236}">
                    <a16:creationId xmlns:a16="http://schemas.microsoft.com/office/drawing/2014/main" id="{210E5AA3-4AC0-FF40-681D-5B315BD3F5BC}"/>
                  </a:ext>
                </a:extLst>
              </p:cNvPr>
              <p:cNvGrpSpPr/>
              <p:nvPr/>
            </p:nvGrpSpPr>
            <p:grpSpPr>
              <a:xfrm>
                <a:off x="722008" y="1303131"/>
                <a:ext cx="546594" cy="475865"/>
                <a:chOff x="708742" y="1296102"/>
                <a:chExt cx="454744" cy="283828"/>
              </a:xfrm>
            </p:grpSpPr>
            <p:sp>
              <p:nvSpPr>
                <p:cNvPr id="27" name="平行四边形 26">
                  <a:extLst>
                    <a:ext uri="{FF2B5EF4-FFF2-40B4-BE49-F238E27FC236}">
                      <a16:creationId xmlns:a16="http://schemas.microsoft.com/office/drawing/2014/main" id="{B5713E1D-94DD-3B51-F1CE-C0A924DF4FE8}"/>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28" name="平行四边形 27">
                  <a:extLst>
                    <a:ext uri="{FF2B5EF4-FFF2-40B4-BE49-F238E27FC236}">
                      <a16:creationId xmlns:a16="http://schemas.microsoft.com/office/drawing/2014/main" id="{DE081AB5-7145-8517-9C7D-DFC19C7F7506}"/>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26" name="Text Box 79">
                <a:extLst>
                  <a:ext uri="{FF2B5EF4-FFF2-40B4-BE49-F238E27FC236}">
                    <a16:creationId xmlns:a16="http://schemas.microsoft.com/office/drawing/2014/main" id="{870C6684-58A1-B02B-4E48-12EF92C7038C}"/>
                  </a:ext>
                </a:extLst>
              </p:cNvPr>
              <p:cNvSpPr txBox="1">
                <a:spLocks noChangeArrowheads="1"/>
              </p:cNvSpPr>
              <p:nvPr/>
            </p:nvSpPr>
            <p:spPr bwMode="auto">
              <a:xfrm>
                <a:off x="1172744" y="1354417"/>
                <a:ext cx="3936608"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Vegas </a:t>
                </a:r>
                <a:r>
                  <a:rPr kumimoji="1" lang="zh-CN" altLang="en-US" sz="2600" dirty="0">
                    <a:solidFill>
                      <a:schemeClr val="tx1">
                        <a:lumMod val="85000"/>
                        <a:lumOff val="15000"/>
                      </a:schemeClr>
                    </a:solidFill>
                    <a:ea typeface="思源黑体 CN Medium" panose="020B0600000000000000" pitchFamily="34" charset="-122"/>
                  </a:rPr>
                  <a:t>的重传机制</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2" name="灯片编号占位符 1">
            <a:extLst>
              <a:ext uri="{FF2B5EF4-FFF2-40B4-BE49-F238E27FC236}">
                <a16:creationId xmlns:a16="http://schemas.microsoft.com/office/drawing/2014/main" id="{0142EEC9-2621-41B6-80A4-2FC9C383F67B}"/>
              </a:ext>
            </a:extLst>
          </p:cNvPr>
          <p:cNvSpPr>
            <a:spLocks noGrp="1"/>
          </p:cNvSpPr>
          <p:nvPr>
            <p:ph type="sldNum" sz="quarter" idx="12"/>
          </p:nvPr>
        </p:nvSpPr>
        <p:spPr/>
        <p:txBody>
          <a:bodyPr/>
          <a:lstStyle/>
          <a:p>
            <a:fld id="{5956A083-5018-4B52-82A0-83241B8E3D94}" type="slidenum">
              <a:rPr lang="zh-CN" altLang="en-US" smtClean="0"/>
              <a:t>84</a:t>
            </a:fld>
            <a:endParaRPr lang="zh-CN" altLang="en-US"/>
          </a:p>
        </p:txBody>
      </p:sp>
    </p:spTree>
    <p:extLst>
      <p:ext uri="{BB962C8B-B14F-4D97-AF65-F5344CB8AC3E}">
        <p14:creationId xmlns:p14="http://schemas.microsoft.com/office/powerpoint/2010/main" val="19858076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73FFD-1DAC-5509-560B-AF592A5EC06A}"/>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0618F39B-F421-2C9E-5638-12203252DB5C}"/>
              </a:ext>
            </a:extLst>
          </p:cNvPr>
          <p:cNvGrpSpPr/>
          <p:nvPr/>
        </p:nvGrpSpPr>
        <p:grpSpPr>
          <a:xfrm>
            <a:off x="103094" y="-173759"/>
            <a:ext cx="6452977" cy="1428589"/>
            <a:chOff x="552684" y="-356229"/>
            <a:chExt cx="6452977" cy="1428589"/>
          </a:xfrm>
        </p:grpSpPr>
        <p:grpSp>
          <p:nvGrpSpPr>
            <p:cNvPr id="45" name="组合 44">
              <a:extLst>
                <a:ext uri="{FF2B5EF4-FFF2-40B4-BE49-F238E27FC236}">
                  <a16:creationId xmlns:a16="http://schemas.microsoft.com/office/drawing/2014/main" id="{02B28AFE-4F85-181A-02DA-995E90A97A2B}"/>
                </a:ext>
              </a:extLst>
            </p:cNvPr>
            <p:cNvGrpSpPr/>
            <p:nvPr/>
          </p:nvGrpSpPr>
          <p:grpSpPr>
            <a:xfrm>
              <a:off x="1201633" y="303925"/>
              <a:ext cx="5804028" cy="675443"/>
              <a:chOff x="1839060" y="967769"/>
              <a:chExt cx="5804028" cy="675443"/>
            </a:xfrm>
          </p:grpSpPr>
          <p:sp>
            <p:nvSpPr>
              <p:cNvPr id="47" name="矩形: 圆角 46">
                <a:extLst>
                  <a:ext uri="{FF2B5EF4-FFF2-40B4-BE49-F238E27FC236}">
                    <a16:creationId xmlns:a16="http://schemas.microsoft.com/office/drawing/2014/main" id="{083D0C28-138A-604A-EF03-E7081C0A9838}"/>
                  </a:ext>
                </a:extLst>
              </p:cNvPr>
              <p:cNvSpPr/>
              <p:nvPr/>
            </p:nvSpPr>
            <p:spPr>
              <a:xfrm>
                <a:off x="1839060" y="967769"/>
                <a:ext cx="5804028"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C992F1EE-A7CB-147D-1CF4-CF98E5DF5F8C}"/>
                  </a:ext>
                </a:extLst>
              </p:cNvPr>
              <p:cNvSpPr txBox="1"/>
              <p:nvPr/>
            </p:nvSpPr>
            <p:spPr>
              <a:xfrm>
                <a:off x="2597180" y="1053620"/>
                <a:ext cx="5006918"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拥塞控制方法（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Vegas</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a:t>
                </a:r>
              </a:p>
            </p:txBody>
          </p:sp>
        </p:grpSp>
        <p:pic>
          <p:nvPicPr>
            <p:cNvPr id="46" name="图片 45">
              <a:extLst>
                <a:ext uri="{FF2B5EF4-FFF2-40B4-BE49-F238E27FC236}">
                  <a16:creationId xmlns:a16="http://schemas.microsoft.com/office/drawing/2014/main" id="{B2163194-F574-2614-EC31-67A2C791AAD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sp>
        <p:nvSpPr>
          <p:cNvPr id="12" name="文本框 11">
            <a:extLst>
              <a:ext uri="{FF2B5EF4-FFF2-40B4-BE49-F238E27FC236}">
                <a16:creationId xmlns:a16="http://schemas.microsoft.com/office/drawing/2014/main" id="{5DACB357-79C7-5A8E-028C-BFBEECF8267A}"/>
              </a:ext>
            </a:extLst>
          </p:cNvPr>
          <p:cNvSpPr txBox="1"/>
          <p:nvPr/>
        </p:nvSpPr>
        <p:spPr>
          <a:xfrm>
            <a:off x="599761" y="2069554"/>
            <a:ext cx="9427817" cy="2796407"/>
          </a:xfrm>
          <a:prstGeom prst="rect">
            <a:avLst/>
          </a:prstGeom>
          <a:noFill/>
        </p:spPr>
        <p:txBody>
          <a:bodyPr wrap="square">
            <a:spAutoFit/>
          </a:bodyPr>
          <a:lstStyle/>
          <a:p>
            <a:pPr marL="457200" indent="-457200">
              <a:lnSpc>
                <a:spcPct val="150000"/>
              </a:lnSpc>
              <a:buClr>
                <a:srgbClr val="1969C2"/>
              </a:buClr>
              <a:buFont typeface="Wingdings" panose="05000000000000000000" pitchFamily="2" charset="2"/>
              <a:buChar char="p"/>
            </a:pP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目标：保持网络处于高利用率而不拥塞的状态</a:t>
            </a:r>
            <a:endPar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endParaRPr>
          </a:p>
          <a:p>
            <a:pPr marL="457200" indent="-457200">
              <a:lnSpc>
                <a:spcPct val="150000"/>
              </a:lnSpc>
              <a:buClr>
                <a:srgbClr val="1969C2"/>
              </a:buClr>
              <a:buFont typeface="Wingdings" panose="05000000000000000000" pitchFamily="2" charset="2"/>
              <a:buChar char="p"/>
            </a:pP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机制原理：动态测量 </a:t>
            </a: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Actual </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与 </a:t>
            </a: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Expected </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的差值维持发送速率在 “最佳窗口范围” 内（</a:t>
            </a: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[α, β]</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a:t>
            </a:r>
            <a:endPar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endParaRPr>
          </a:p>
          <a:p>
            <a:pPr marL="457200" indent="-457200">
              <a:lnSpc>
                <a:spcPct val="150000"/>
              </a:lnSpc>
              <a:buClr>
                <a:srgbClr val="1969C2"/>
              </a:buClr>
              <a:buFont typeface="Wingdings" panose="05000000000000000000" pitchFamily="2" charset="2"/>
              <a:buChar char="p"/>
            </a:pP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调整策略：每 </a:t>
            </a: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RTT </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调整 </a:t>
            </a:r>
            <a:r>
              <a:rPr kumimoji="1" lang="en-US" altLang="zh-CN" sz="2400" dirty="0" err="1">
                <a:solidFill>
                  <a:schemeClr val="tx1">
                    <a:lumMod val="85000"/>
                    <a:lumOff val="15000"/>
                  </a:schemeClr>
                </a:solidFill>
                <a:latin typeface="Arial" panose="020B0604020202020204" pitchFamily="34" charset="0"/>
                <a:ea typeface="思源黑体 CN Medium" panose="020B0600000000000000" pitchFamily="34" charset="-122"/>
              </a:rPr>
              <a:t>cwnd</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：根据估算差值微调窗口</a:t>
            </a:r>
            <a:endPar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endParaRPr>
          </a:p>
          <a:p>
            <a:pPr marL="457200" indent="-457200">
              <a:lnSpc>
                <a:spcPct val="150000"/>
              </a:lnSpc>
              <a:buClr>
                <a:srgbClr val="1969C2"/>
              </a:buClr>
              <a:buFont typeface="Wingdings" panose="05000000000000000000" pitchFamily="2" charset="2"/>
              <a:buChar char="p"/>
            </a:pP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优势：主动控制拥塞，</a:t>
            </a:r>
            <a:r>
              <a:rPr kumimoji="1" lang="zh-CN" altLang="en-US" sz="2400" dirty="0">
                <a:solidFill>
                  <a:srgbClr val="FF0000"/>
                </a:solidFill>
                <a:latin typeface="Arial" panose="020B0604020202020204" pitchFamily="34" charset="0"/>
                <a:ea typeface="思源黑体 CN Medium" panose="020B0600000000000000" pitchFamily="34" charset="-122"/>
              </a:rPr>
              <a:t>比丢包反应更早、控制更平滑</a:t>
            </a:r>
            <a:endParaRPr kumimoji="1" lang="zh-CN" altLang="en-US" sz="2800" dirty="0">
              <a:solidFill>
                <a:srgbClr val="FF0000"/>
              </a:solidFill>
              <a:latin typeface="Arial" panose="020B0604020202020204" pitchFamily="34" charset="0"/>
              <a:ea typeface="思源黑体 CN Medium" panose="020B0600000000000000" pitchFamily="34" charset="-122"/>
            </a:endParaRPr>
          </a:p>
        </p:txBody>
      </p:sp>
      <p:grpSp>
        <p:nvGrpSpPr>
          <p:cNvPr id="21" name="组合 20">
            <a:extLst>
              <a:ext uri="{FF2B5EF4-FFF2-40B4-BE49-F238E27FC236}">
                <a16:creationId xmlns:a16="http://schemas.microsoft.com/office/drawing/2014/main" id="{1C5ECB9C-520A-3C45-AC13-03C4B90C3579}"/>
              </a:ext>
            </a:extLst>
          </p:cNvPr>
          <p:cNvGrpSpPr/>
          <p:nvPr/>
        </p:nvGrpSpPr>
        <p:grpSpPr>
          <a:xfrm>
            <a:off x="470261" y="1413004"/>
            <a:ext cx="4594900" cy="546155"/>
            <a:chOff x="430213" y="1601273"/>
            <a:chExt cx="4594900" cy="546155"/>
          </a:xfrm>
        </p:grpSpPr>
        <p:sp>
          <p:nvSpPr>
            <p:cNvPr id="22" name="流程图: 手动输入 6">
              <a:extLst>
                <a:ext uri="{FF2B5EF4-FFF2-40B4-BE49-F238E27FC236}">
                  <a16:creationId xmlns:a16="http://schemas.microsoft.com/office/drawing/2014/main" id="{685C032E-DEBD-425D-1E03-067239E336CD}"/>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23" name="组合 22">
              <a:extLst>
                <a:ext uri="{FF2B5EF4-FFF2-40B4-BE49-F238E27FC236}">
                  <a16:creationId xmlns:a16="http://schemas.microsoft.com/office/drawing/2014/main" id="{CD65A242-3F00-BFB1-4DC8-E4C8D8B210E8}"/>
                </a:ext>
              </a:extLst>
            </p:cNvPr>
            <p:cNvGrpSpPr/>
            <p:nvPr/>
          </p:nvGrpSpPr>
          <p:grpSpPr>
            <a:xfrm>
              <a:off x="430213" y="1601273"/>
              <a:ext cx="4594900" cy="546155"/>
              <a:chOff x="722008" y="1303131"/>
              <a:chExt cx="4387344" cy="521484"/>
            </a:xfrm>
          </p:grpSpPr>
          <p:sp>
            <p:nvSpPr>
              <p:cNvPr id="24" name="流程图: 手动输入 6">
                <a:extLst>
                  <a:ext uri="{FF2B5EF4-FFF2-40B4-BE49-F238E27FC236}">
                    <a16:creationId xmlns:a16="http://schemas.microsoft.com/office/drawing/2014/main" id="{CF1ECF8B-6A2D-967A-7914-182B51789A27}"/>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25" name="组合 24">
                <a:extLst>
                  <a:ext uri="{FF2B5EF4-FFF2-40B4-BE49-F238E27FC236}">
                    <a16:creationId xmlns:a16="http://schemas.microsoft.com/office/drawing/2014/main" id="{17787A11-BAB6-B907-A629-8A109C3B9147}"/>
                  </a:ext>
                </a:extLst>
              </p:cNvPr>
              <p:cNvGrpSpPr/>
              <p:nvPr/>
            </p:nvGrpSpPr>
            <p:grpSpPr>
              <a:xfrm>
                <a:off x="722008" y="1303131"/>
                <a:ext cx="546594" cy="475865"/>
                <a:chOff x="708742" y="1296102"/>
                <a:chExt cx="454744" cy="283828"/>
              </a:xfrm>
            </p:grpSpPr>
            <p:sp>
              <p:nvSpPr>
                <p:cNvPr id="27" name="平行四边形 26">
                  <a:extLst>
                    <a:ext uri="{FF2B5EF4-FFF2-40B4-BE49-F238E27FC236}">
                      <a16:creationId xmlns:a16="http://schemas.microsoft.com/office/drawing/2014/main" id="{36777E51-3E41-03CB-DB12-2F821A8CD7CB}"/>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28" name="平行四边形 27">
                  <a:extLst>
                    <a:ext uri="{FF2B5EF4-FFF2-40B4-BE49-F238E27FC236}">
                      <a16:creationId xmlns:a16="http://schemas.microsoft.com/office/drawing/2014/main" id="{224BAC64-F3D8-385B-AF63-2345C1C9DC10}"/>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26" name="Text Box 79">
                <a:extLst>
                  <a:ext uri="{FF2B5EF4-FFF2-40B4-BE49-F238E27FC236}">
                    <a16:creationId xmlns:a16="http://schemas.microsoft.com/office/drawing/2014/main" id="{BD9C4B1D-5E33-C86F-4784-12576504F046}"/>
                  </a:ext>
                </a:extLst>
              </p:cNvPr>
              <p:cNvSpPr txBox="1">
                <a:spLocks noChangeArrowheads="1"/>
              </p:cNvSpPr>
              <p:nvPr/>
            </p:nvSpPr>
            <p:spPr bwMode="auto">
              <a:xfrm>
                <a:off x="1172744" y="1354417"/>
                <a:ext cx="3936608"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Vegas </a:t>
                </a:r>
                <a:r>
                  <a:rPr kumimoji="1" lang="zh-CN" altLang="en-US" sz="2600" dirty="0">
                    <a:solidFill>
                      <a:schemeClr val="tx1">
                        <a:lumMod val="85000"/>
                        <a:lumOff val="15000"/>
                      </a:schemeClr>
                    </a:solidFill>
                    <a:ea typeface="思源黑体 CN Medium" panose="020B0600000000000000" pitchFamily="34" charset="-122"/>
                  </a:rPr>
                  <a:t>拥塞避免机制</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2" name="灯片编号占位符 1">
            <a:extLst>
              <a:ext uri="{FF2B5EF4-FFF2-40B4-BE49-F238E27FC236}">
                <a16:creationId xmlns:a16="http://schemas.microsoft.com/office/drawing/2014/main" id="{0E172176-40B0-4150-AD1C-B95B5DB52772}"/>
              </a:ext>
            </a:extLst>
          </p:cNvPr>
          <p:cNvSpPr>
            <a:spLocks noGrp="1"/>
          </p:cNvSpPr>
          <p:nvPr>
            <p:ph type="sldNum" sz="quarter" idx="12"/>
          </p:nvPr>
        </p:nvSpPr>
        <p:spPr/>
        <p:txBody>
          <a:bodyPr/>
          <a:lstStyle/>
          <a:p>
            <a:fld id="{5956A083-5018-4B52-82A0-83241B8E3D94}" type="slidenum">
              <a:rPr lang="zh-CN" altLang="en-US" smtClean="0"/>
              <a:t>85</a:t>
            </a:fld>
            <a:endParaRPr lang="zh-CN" altLang="en-US"/>
          </a:p>
        </p:txBody>
      </p:sp>
    </p:spTree>
    <p:extLst>
      <p:ext uri="{BB962C8B-B14F-4D97-AF65-F5344CB8AC3E}">
        <p14:creationId xmlns:p14="http://schemas.microsoft.com/office/powerpoint/2010/main" val="14614012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CDC4D-64A1-D73B-EECB-0DB206871DE0}"/>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2E32F39C-D907-CE9B-A8F2-9E5B73FE7899}"/>
              </a:ext>
            </a:extLst>
          </p:cNvPr>
          <p:cNvGrpSpPr/>
          <p:nvPr/>
        </p:nvGrpSpPr>
        <p:grpSpPr>
          <a:xfrm>
            <a:off x="103094" y="-173759"/>
            <a:ext cx="6452977" cy="1428589"/>
            <a:chOff x="552684" y="-356229"/>
            <a:chExt cx="6452977" cy="1428589"/>
          </a:xfrm>
        </p:grpSpPr>
        <p:grpSp>
          <p:nvGrpSpPr>
            <p:cNvPr id="45" name="组合 44">
              <a:extLst>
                <a:ext uri="{FF2B5EF4-FFF2-40B4-BE49-F238E27FC236}">
                  <a16:creationId xmlns:a16="http://schemas.microsoft.com/office/drawing/2014/main" id="{D781DA0E-3CBE-9ECA-1793-7B2B30A6C997}"/>
                </a:ext>
              </a:extLst>
            </p:cNvPr>
            <p:cNvGrpSpPr/>
            <p:nvPr/>
          </p:nvGrpSpPr>
          <p:grpSpPr>
            <a:xfrm>
              <a:off x="1201633" y="303925"/>
              <a:ext cx="5804028" cy="675443"/>
              <a:chOff x="1839060" y="967769"/>
              <a:chExt cx="5804028" cy="675443"/>
            </a:xfrm>
          </p:grpSpPr>
          <p:sp>
            <p:nvSpPr>
              <p:cNvPr id="47" name="矩形: 圆角 46">
                <a:extLst>
                  <a:ext uri="{FF2B5EF4-FFF2-40B4-BE49-F238E27FC236}">
                    <a16:creationId xmlns:a16="http://schemas.microsoft.com/office/drawing/2014/main" id="{64886682-9788-66F5-A84A-56C5FC4DD5E0}"/>
                  </a:ext>
                </a:extLst>
              </p:cNvPr>
              <p:cNvSpPr/>
              <p:nvPr/>
            </p:nvSpPr>
            <p:spPr>
              <a:xfrm>
                <a:off x="1839060" y="967769"/>
                <a:ext cx="5804028"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6AAD0CBA-1DAC-4778-9440-E105215408AF}"/>
                  </a:ext>
                </a:extLst>
              </p:cNvPr>
              <p:cNvSpPr txBox="1"/>
              <p:nvPr/>
            </p:nvSpPr>
            <p:spPr>
              <a:xfrm>
                <a:off x="2597180" y="1053620"/>
                <a:ext cx="5006918"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拥塞控制方法（</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Vegas</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a:t>
                </a:r>
              </a:p>
            </p:txBody>
          </p:sp>
        </p:grpSp>
        <p:pic>
          <p:nvPicPr>
            <p:cNvPr id="46" name="图片 45">
              <a:extLst>
                <a:ext uri="{FF2B5EF4-FFF2-40B4-BE49-F238E27FC236}">
                  <a16:creationId xmlns:a16="http://schemas.microsoft.com/office/drawing/2014/main" id="{7EC7D7A3-5F0B-982C-F29B-F13D6496C2A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sp>
        <p:nvSpPr>
          <p:cNvPr id="12" name="文本框 11">
            <a:extLst>
              <a:ext uri="{FF2B5EF4-FFF2-40B4-BE49-F238E27FC236}">
                <a16:creationId xmlns:a16="http://schemas.microsoft.com/office/drawing/2014/main" id="{BF72A609-6777-07AB-2F35-B4617FC419FA}"/>
              </a:ext>
            </a:extLst>
          </p:cNvPr>
          <p:cNvSpPr txBox="1"/>
          <p:nvPr/>
        </p:nvSpPr>
        <p:spPr>
          <a:xfrm>
            <a:off x="599762" y="2069554"/>
            <a:ext cx="9900428" cy="2796407"/>
          </a:xfrm>
          <a:prstGeom prst="rect">
            <a:avLst/>
          </a:prstGeom>
          <a:noFill/>
        </p:spPr>
        <p:txBody>
          <a:bodyPr wrap="square">
            <a:spAutoFit/>
          </a:bodyPr>
          <a:lstStyle/>
          <a:p>
            <a:pPr marL="457200" indent="-457200">
              <a:lnSpc>
                <a:spcPct val="150000"/>
              </a:lnSpc>
              <a:buClr>
                <a:srgbClr val="1969C2"/>
              </a:buClr>
              <a:buFont typeface="Wingdings" panose="05000000000000000000" pitchFamily="2" charset="2"/>
              <a:buChar char="p"/>
            </a:pPr>
            <a:r>
              <a:rPr kumimoji="1" lang="zh-CN" altLang="en-US" sz="2400" dirty="0">
                <a:solidFill>
                  <a:srgbClr val="FF0000"/>
                </a:solidFill>
                <a:latin typeface="Arial" panose="020B0604020202020204" pitchFamily="34" charset="0"/>
                <a:ea typeface="思源黑体 CN Medium" panose="020B0600000000000000" pitchFamily="34" charset="-122"/>
              </a:rPr>
              <a:t>传统慢启动问题</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：指数增长过快，易产生丢包</a:t>
            </a:r>
            <a:endPar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endParaRPr>
          </a:p>
          <a:p>
            <a:pPr marL="457200" indent="-457200">
              <a:lnSpc>
                <a:spcPct val="150000"/>
              </a:lnSpc>
              <a:buClr>
                <a:srgbClr val="1969C2"/>
              </a:buClr>
              <a:buFont typeface="Wingdings" panose="05000000000000000000" pitchFamily="2" charset="2"/>
              <a:buChar char="p"/>
            </a:pP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Vegas </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改进：早期阶段保持指数增长检测到 </a:t>
            </a:r>
            <a:r>
              <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rPr>
              <a:t>RTT </a:t>
            </a: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急剧增加时，</a:t>
            </a:r>
            <a:r>
              <a:rPr kumimoji="1" lang="zh-CN" altLang="en-US" sz="2400" dirty="0">
                <a:solidFill>
                  <a:srgbClr val="FF0000"/>
                </a:solidFill>
                <a:latin typeface="Arial" panose="020B0604020202020204" pitchFamily="34" charset="0"/>
                <a:ea typeface="思源黑体 CN Medium" panose="020B0600000000000000" pitchFamily="34" charset="-122"/>
              </a:rPr>
              <a:t>转为线性增长</a:t>
            </a:r>
            <a:endParaRPr kumimoji="1" lang="en-US" altLang="zh-CN" sz="2400" dirty="0">
              <a:solidFill>
                <a:srgbClr val="FF0000"/>
              </a:solidFill>
              <a:latin typeface="Arial" panose="020B0604020202020204" pitchFamily="34" charset="0"/>
              <a:ea typeface="思源黑体 CN Medium" panose="020B0600000000000000" pitchFamily="34" charset="-122"/>
            </a:endParaRPr>
          </a:p>
          <a:p>
            <a:pPr marL="457200" indent="-457200">
              <a:lnSpc>
                <a:spcPct val="150000"/>
              </a:lnSpc>
              <a:buClr>
                <a:srgbClr val="1969C2"/>
              </a:buClr>
              <a:buFont typeface="Wingdings" panose="05000000000000000000" pitchFamily="2" charset="2"/>
              <a:buChar char="p"/>
            </a:pP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机制总结：初始快速探测网络容量拥塞临近时平滑进入拥塞避免阶段</a:t>
            </a:r>
            <a:endParaRPr kumimoji="1" lang="en-US" altLang="zh-CN" sz="2400" dirty="0">
              <a:solidFill>
                <a:schemeClr val="tx1">
                  <a:lumMod val="85000"/>
                  <a:lumOff val="15000"/>
                </a:schemeClr>
              </a:solidFill>
              <a:latin typeface="Arial" panose="020B0604020202020204" pitchFamily="34" charset="0"/>
              <a:ea typeface="思源黑体 CN Medium" panose="020B0600000000000000" pitchFamily="34" charset="-122"/>
            </a:endParaRPr>
          </a:p>
          <a:p>
            <a:pPr marL="457200" indent="-457200">
              <a:lnSpc>
                <a:spcPct val="150000"/>
              </a:lnSpc>
              <a:buClr>
                <a:srgbClr val="1969C2"/>
              </a:buClr>
              <a:buFont typeface="Wingdings" panose="05000000000000000000" pitchFamily="2" charset="2"/>
              <a:buChar char="p"/>
            </a:pPr>
            <a:r>
              <a:rPr kumimoji="1" lang="zh-CN" altLang="en-US" sz="2400" dirty="0">
                <a:solidFill>
                  <a:schemeClr val="tx1">
                    <a:lumMod val="85000"/>
                    <a:lumOff val="15000"/>
                  </a:schemeClr>
                </a:solidFill>
                <a:latin typeface="Arial" panose="020B0604020202020204" pitchFamily="34" charset="0"/>
                <a:ea typeface="思源黑体 CN Medium" panose="020B0600000000000000" pitchFamily="34" charset="-122"/>
              </a:rPr>
              <a:t>效果：减少突发拥塞，提高稳定性和网络友好性</a:t>
            </a:r>
            <a:endParaRPr kumimoji="1" lang="zh-CN" altLang="en-US" sz="2400" dirty="0">
              <a:solidFill>
                <a:srgbClr val="FF0000"/>
              </a:solidFill>
              <a:latin typeface="Arial" panose="020B0604020202020204" pitchFamily="34" charset="0"/>
              <a:ea typeface="思源黑体 CN Medium" panose="020B0600000000000000" pitchFamily="34" charset="-122"/>
            </a:endParaRPr>
          </a:p>
        </p:txBody>
      </p:sp>
      <p:grpSp>
        <p:nvGrpSpPr>
          <p:cNvPr id="21" name="组合 20">
            <a:extLst>
              <a:ext uri="{FF2B5EF4-FFF2-40B4-BE49-F238E27FC236}">
                <a16:creationId xmlns:a16="http://schemas.microsoft.com/office/drawing/2014/main" id="{065C53ED-AFB5-92E0-D165-905E225FD9AD}"/>
              </a:ext>
            </a:extLst>
          </p:cNvPr>
          <p:cNvGrpSpPr/>
          <p:nvPr/>
        </p:nvGrpSpPr>
        <p:grpSpPr>
          <a:xfrm>
            <a:off x="470261" y="1413004"/>
            <a:ext cx="4594900" cy="546155"/>
            <a:chOff x="430213" y="1601273"/>
            <a:chExt cx="4594900" cy="546155"/>
          </a:xfrm>
        </p:grpSpPr>
        <p:sp>
          <p:nvSpPr>
            <p:cNvPr id="22" name="流程图: 手动输入 6">
              <a:extLst>
                <a:ext uri="{FF2B5EF4-FFF2-40B4-BE49-F238E27FC236}">
                  <a16:creationId xmlns:a16="http://schemas.microsoft.com/office/drawing/2014/main" id="{DDD4AF9A-E654-A5C2-153F-B3674ED0EB8D}"/>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23" name="组合 22">
              <a:extLst>
                <a:ext uri="{FF2B5EF4-FFF2-40B4-BE49-F238E27FC236}">
                  <a16:creationId xmlns:a16="http://schemas.microsoft.com/office/drawing/2014/main" id="{59962CBF-112D-98D5-6690-5E6F518E7E58}"/>
                </a:ext>
              </a:extLst>
            </p:cNvPr>
            <p:cNvGrpSpPr/>
            <p:nvPr/>
          </p:nvGrpSpPr>
          <p:grpSpPr>
            <a:xfrm>
              <a:off x="430213" y="1601273"/>
              <a:ext cx="4594900" cy="546155"/>
              <a:chOff x="722008" y="1303131"/>
              <a:chExt cx="4387344" cy="521484"/>
            </a:xfrm>
          </p:grpSpPr>
          <p:sp>
            <p:nvSpPr>
              <p:cNvPr id="24" name="流程图: 手动输入 6">
                <a:extLst>
                  <a:ext uri="{FF2B5EF4-FFF2-40B4-BE49-F238E27FC236}">
                    <a16:creationId xmlns:a16="http://schemas.microsoft.com/office/drawing/2014/main" id="{7CA12C25-5F1E-7359-81F1-734ACC4CB97D}"/>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25" name="组合 24">
                <a:extLst>
                  <a:ext uri="{FF2B5EF4-FFF2-40B4-BE49-F238E27FC236}">
                    <a16:creationId xmlns:a16="http://schemas.microsoft.com/office/drawing/2014/main" id="{AC162989-4329-4CAD-DE22-E9EC8E58E76B}"/>
                  </a:ext>
                </a:extLst>
              </p:cNvPr>
              <p:cNvGrpSpPr/>
              <p:nvPr/>
            </p:nvGrpSpPr>
            <p:grpSpPr>
              <a:xfrm>
                <a:off x="722008" y="1303131"/>
                <a:ext cx="546594" cy="475865"/>
                <a:chOff x="708742" y="1296102"/>
                <a:chExt cx="454744" cy="283828"/>
              </a:xfrm>
            </p:grpSpPr>
            <p:sp>
              <p:nvSpPr>
                <p:cNvPr id="27" name="平行四边形 26">
                  <a:extLst>
                    <a:ext uri="{FF2B5EF4-FFF2-40B4-BE49-F238E27FC236}">
                      <a16:creationId xmlns:a16="http://schemas.microsoft.com/office/drawing/2014/main" id="{AA840134-9B5D-632D-9D5E-0F1F95DDF47C}"/>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28" name="平行四边形 27">
                  <a:extLst>
                    <a:ext uri="{FF2B5EF4-FFF2-40B4-BE49-F238E27FC236}">
                      <a16:creationId xmlns:a16="http://schemas.microsoft.com/office/drawing/2014/main" id="{D8784FE5-A58B-0C37-C426-3B27769F8AE2}"/>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26" name="Text Box 79">
                <a:extLst>
                  <a:ext uri="{FF2B5EF4-FFF2-40B4-BE49-F238E27FC236}">
                    <a16:creationId xmlns:a16="http://schemas.microsoft.com/office/drawing/2014/main" id="{DD2069B9-FB07-75C6-AA28-B5DC31844632}"/>
                  </a:ext>
                </a:extLst>
              </p:cNvPr>
              <p:cNvSpPr txBox="1">
                <a:spLocks noChangeArrowheads="1"/>
              </p:cNvSpPr>
              <p:nvPr/>
            </p:nvSpPr>
            <p:spPr bwMode="auto">
              <a:xfrm>
                <a:off x="1172744" y="1354417"/>
                <a:ext cx="3936608"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Vegas </a:t>
                </a:r>
                <a:r>
                  <a:rPr kumimoji="1" lang="zh-CN" altLang="en-US" sz="2600" dirty="0">
                    <a:solidFill>
                      <a:schemeClr val="tx1">
                        <a:lumMod val="85000"/>
                        <a:lumOff val="15000"/>
                      </a:schemeClr>
                    </a:solidFill>
                    <a:ea typeface="思源黑体 CN Medium" panose="020B0600000000000000" pitchFamily="34" charset="-122"/>
                  </a:rPr>
                  <a:t>的慢启动机制</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2" name="灯片编号占位符 1">
            <a:extLst>
              <a:ext uri="{FF2B5EF4-FFF2-40B4-BE49-F238E27FC236}">
                <a16:creationId xmlns:a16="http://schemas.microsoft.com/office/drawing/2014/main" id="{90A14415-C0FD-45D6-9E99-83C7C2A0FFD2}"/>
              </a:ext>
            </a:extLst>
          </p:cNvPr>
          <p:cNvSpPr>
            <a:spLocks noGrp="1"/>
          </p:cNvSpPr>
          <p:nvPr>
            <p:ph type="sldNum" sz="quarter" idx="12"/>
          </p:nvPr>
        </p:nvSpPr>
        <p:spPr/>
        <p:txBody>
          <a:bodyPr/>
          <a:lstStyle/>
          <a:p>
            <a:fld id="{5956A083-5018-4B52-82A0-83241B8E3D94}" type="slidenum">
              <a:rPr lang="zh-CN" altLang="en-US" smtClean="0"/>
              <a:t>86</a:t>
            </a:fld>
            <a:endParaRPr lang="zh-CN" altLang="en-US"/>
          </a:p>
        </p:txBody>
      </p:sp>
    </p:spTree>
    <p:extLst>
      <p:ext uri="{BB962C8B-B14F-4D97-AF65-F5344CB8AC3E}">
        <p14:creationId xmlns:p14="http://schemas.microsoft.com/office/powerpoint/2010/main" val="302133379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137D6-B905-C26F-708C-562EA94FA730}"/>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9B0C3AF1-CDCF-181B-5A91-23CCE3A6DF6F}"/>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EFC7B447-C0D3-CE70-1964-E80F2C0EDB3C}"/>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01942CB9-281A-E556-E80C-6274910DF207}"/>
                  </a:ext>
                </a:extLst>
              </p:cNvPr>
              <p:cNvSpPr/>
              <p:nvPr/>
            </p:nvSpPr>
            <p:spPr>
              <a:xfrm>
                <a:off x="1839060" y="967769"/>
                <a:ext cx="6254932"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E753B537-8428-08CB-6959-9C978BF6A7F9}"/>
                  </a:ext>
                </a:extLst>
              </p:cNvPr>
              <p:cNvSpPr txBox="1"/>
              <p:nvPr/>
            </p:nvSpPr>
            <p:spPr>
              <a:xfrm>
                <a:off x="2597179" y="1053620"/>
                <a:ext cx="5613471"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TCP Vegas </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与 </a:t>
                </a:r>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Reno </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的对比分析</a:t>
                </a:r>
              </a:p>
            </p:txBody>
          </p:sp>
        </p:grpSp>
        <p:pic>
          <p:nvPicPr>
            <p:cNvPr id="46" name="图片 45">
              <a:extLst>
                <a:ext uri="{FF2B5EF4-FFF2-40B4-BE49-F238E27FC236}">
                  <a16:creationId xmlns:a16="http://schemas.microsoft.com/office/drawing/2014/main" id="{72627243-CAC6-1769-19F7-5BFB78CE1E5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aphicFrame>
        <p:nvGraphicFramePr>
          <p:cNvPr id="3" name="图示 2">
            <a:extLst>
              <a:ext uri="{FF2B5EF4-FFF2-40B4-BE49-F238E27FC236}">
                <a16:creationId xmlns:a16="http://schemas.microsoft.com/office/drawing/2014/main" id="{FC886AFA-4E2B-A8C8-0909-77DAC62DAFD9}"/>
              </a:ext>
            </a:extLst>
          </p:cNvPr>
          <p:cNvGraphicFramePr/>
          <p:nvPr>
            <p:extLst>
              <p:ext uri="{D42A27DB-BD31-4B8C-83A1-F6EECF244321}">
                <p14:modId xmlns:p14="http://schemas.microsoft.com/office/powerpoint/2010/main" val="30193431"/>
              </p:ext>
            </p:extLst>
          </p:nvPr>
        </p:nvGraphicFramePr>
        <p:xfrm>
          <a:off x="2027088" y="1552517"/>
          <a:ext cx="8137823" cy="4152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灯片编号占位符 1">
            <a:extLst>
              <a:ext uri="{FF2B5EF4-FFF2-40B4-BE49-F238E27FC236}">
                <a16:creationId xmlns:a16="http://schemas.microsoft.com/office/drawing/2014/main" id="{607DD5E1-58AA-4047-BEE6-8C0D03337CE4}"/>
              </a:ext>
            </a:extLst>
          </p:cNvPr>
          <p:cNvSpPr>
            <a:spLocks noGrp="1"/>
          </p:cNvSpPr>
          <p:nvPr>
            <p:ph type="sldNum" sz="quarter" idx="12"/>
          </p:nvPr>
        </p:nvSpPr>
        <p:spPr/>
        <p:txBody>
          <a:bodyPr/>
          <a:lstStyle/>
          <a:p>
            <a:fld id="{5956A083-5018-4B52-82A0-83241B8E3D94}" type="slidenum">
              <a:rPr lang="zh-CN" altLang="en-US" smtClean="0"/>
              <a:t>87</a:t>
            </a:fld>
            <a:endParaRPr lang="zh-CN" altLang="en-US"/>
          </a:p>
        </p:txBody>
      </p:sp>
    </p:spTree>
    <p:extLst>
      <p:ext uri="{BB962C8B-B14F-4D97-AF65-F5344CB8AC3E}">
        <p14:creationId xmlns:p14="http://schemas.microsoft.com/office/powerpoint/2010/main" val="15779134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E9A0C-4634-C713-0BDB-44EE40554BD7}"/>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3CC73053-F463-B8ED-E983-B29A5365719F}"/>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A595220C-F4C2-B0FA-2FA0-7DE0AFF074D2}"/>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177D855E-83E5-88FF-47B5-4E6A534866A0}"/>
                  </a:ext>
                </a:extLst>
              </p:cNvPr>
              <p:cNvSpPr/>
              <p:nvPr/>
            </p:nvSpPr>
            <p:spPr>
              <a:xfrm>
                <a:off x="1839060" y="967769"/>
                <a:ext cx="4323391"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C60E8502-554B-1760-1153-640F17ED8252}"/>
                  </a:ext>
                </a:extLst>
              </p:cNvPr>
              <p:cNvSpPr txBox="1"/>
              <p:nvPr/>
            </p:nvSpPr>
            <p:spPr>
              <a:xfrm>
                <a:off x="2597179" y="1053620"/>
                <a:ext cx="5613471"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BBR </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p>
            </p:txBody>
          </p:sp>
        </p:grpSp>
        <p:pic>
          <p:nvPicPr>
            <p:cNvPr id="46" name="图片 45">
              <a:extLst>
                <a:ext uri="{FF2B5EF4-FFF2-40B4-BE49-F238E27FC236}">
                  <a16:creationId xmlns:a16="http://schemas.microsoft.com/office/drawing/2014/main" id="{0A012C8F-C204-82A0-2F50-1B9F3A691AB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pSp>
        <p:nvGrpSpPr>
          <p:cNvPr id="2" name="组合 1">
            <a:extLst>
              <a:ext uri="{FF2B5EF4-FFF2-40B4-BE49-F238E27FC236}">
                <a16:creationId xmlns:a16="http://schemas.microsoft.com/office/drawing/2014/main" id="{99E0E12A-884A-C3B0-E2AC-5CEE9C632065}"/>
              </a:ext>
            </a:extLst>
          </p:cNvPr>
          <p:cNvGrpSpPr/>
          <p:nvPr/>
        </p:nvGrpSpPr>
        <p:grpSpPr>
          <a:xfrm>
            <a:off x="470261" y="1413004"/>
            <a:ext cx="4594900" cy="546155"/>
            <a:chOff x="430213" y="1601273"/>
            <a:chExt cx="4594900" cy="546155"/>
          </a:xfrm>
        </p:grpSpPr>
        <p:sp>
          <p:nvSpPr>
            <p:cNvPr id="4" name="流程图: 手动输入 6">
              <a:extLst>
                <a:ext uri="{FF2B5EF4-FFF2-40B4-BE49-F238E27FC236}">
                  <a16:creationId xmlns:a16="http://schemas.microsoft.com/office/drawing/2014/main" id="{86310FE3-09DE-D593-5B61-9FFE63CF2953}"/>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5" name="组合 4">
              <a:extLst>
                <a:ext uri="{FF2B5EF4-FFF2-40B4-BE49-F238E27FC236}">
                  <a16:creationId xmlns:a16="http://schemas.microsoft.com/office/drawing/2014/main" id="{653C4035-4D21-4182-59D1-0C7B182AE565}"/>
                </a:ext>
              </a:extLst>
            </p:cNvPr>
            <p:cNvGrpSpPr/>
            <p:nvPr/>
          </p:nvGrpSpPr>
          <p:grpSpPr>
            <a:xfrm>
              <a:off x="430213" y="1601273"/>
              <a:ext cx="4594900" cy="546155"/>
              <a:chOff x="722008" y="1303131"/>
              <a:chExt cx="4387344" cy="521484"/>
            </a:xfrm>
          </p:grpSpPr>
          <p:sp>
            <p:nvSpPr>
              <p:cNvPr id="6" name="流程图: 手动输入 6">
                <a:extLst>
                  <a:ext uri="{FF2B5EF4-FFF2-40B4-BE49-F238E27FC236}">
                    <a16:creationId xmlns:a16="http://schemas.microsoft.com/office/drawing/2014/main" id="{92E76455-7042-25A6-6181-36E722EF87EA}"/>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7" name="组合 6">
                <a:extLst>
                  <a:ext uri="{FF2B5EF4-FFF2-40B4-BE49-F238E27FC236}">
                    <a16:creationId xmlns:a16="http://schemas.microsoft.com/office/drawing/2014/main" id="{99A068D0-9E41-0992-5B8A-EB08331CF599}"/>
                  </a:ext>
                </a:extLst>
              </p:cNvPr>
              <p:cNvGrpSpPr/>
              <p:nvPr/>
            </p:nvGrpSpPr>
            <p:grpSpPr>
              <a:xfrm>
                <a:off x="722008" y="1303131"/>
                <a:ext cx="546594" cy="475865"/>
                <a:chOff x="708742" y="1296102"/>
                <a:chExt cx="454744" cy="283828"/>
              </a:xfrm>
            </p:grpSpPr>
            <p:sp>
              <p:nvSpPr>
                <p:cNvPr id="9" name="平行四边形 8">
                  <a:extLst>
                    <a:ext uri="{FF2B5EF4-FFF2-40B4-BE49-F238E27FC236}">
                      <a16:creationId xmlns:a16="http://schemas.microsoft.com/office/drawing/2014/main" id="{79DF0B88-96F2-DCB4-D68A-D95E2AD7740D}"/>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10" name="平行四边形 9">
                  <a:extLst>
                    <a:ext uri="{FF2B5EF4-FFF2-40B4-BE49-F238E27FC236}">
                      <a16:creationId xmlns:a16="http://schemas.microsoft.com/office/drawing/2014/main" id="{31D6449A-7C51-899B-D313-CB6357893434}"/>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8" name="Text Box 79">
                <a:extLst>
                  <a:ext uri="{FF2B5EF4-FFF2-40B4-BE49-F238E27FC236}">
                    <a16:creationId xmlns:a16="http://schemas.microsoft.com/office/drawing/2014/main" id="{8148F5A2-4493-FF4A-199A-2775E5326B1C}"/>
                  </a:ext>
                </a:extLst>
              </p:cNvPr>
              <p:cNvSpPr txBox="1">
                <a:spLocks noChangeArrowheads="1"/>
              </p:cNvSpPr>
              <p:nvPr/>
            </p:nvSpPr>
            <p:spPr bwMode="auto">
              <a:xfrm>
                <a:off x="1172744" y="1354417"/>
                <a:ext cx="3936608"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BBR</a:t>
                </a:r>
                <a:r>
                  <a:rPr kumimoji="1" lang="zh-CN" altLang="en-US" sz="2600" dirty="0">
                    <a:solidFill>
                      <a:schemeClr val="tx1">
                        <a:lumMod val="85000"/>
                        <a:lumOff val="15000"/>
                      </a:schemeClr>
                    </a:solidFill>
                    <a:ea typeface="思源黑体 CN Medium" panose="020B0600000000000000" pitchFamily="34" charset="-122"/>
                  </a:rPr>
                  <a:t>算法的提出动机</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11" name="文本框 10">
            <a:extLst>
              <a:ext uri="{FF2B5EF4-FFF2-40B4-BE49-F238E27FC236}">
                <a16:creationId xmlns:a16="http://schemas.microsoft.com/office/drawing/2014/main" id="{EA11D7E6-09CF-E327-04C1-BBE50D257954}"/>
              </a:ext>
            </a:extLst>
          </p:cNvPr>
          <p:cNvSpPr txBox="1"/>
          <p:nvPr/>
        </p:nvSpPr>
        <p:spPr>
          <a:xfrm>
            <a:off x="599762" y="2069554"/>
            <a:ext cx="11223938" cy="3350404"/>
          </a:xfrm>
          <a:prstGeom prst="rect">
            <a:avLst/>
          </a:prstGeom>
          <a:noFill/>
        </p:spPr>
        <p:txBody>
          <a:bodyPr wrap="square">
            <a:spAutoFit/>
          </a:bodyPr>
          <a:lstStyle/>
          <a:p>
            <a:pPr marL="457200" indent="-457200">
              <a:lnSpc>
                <a:spcPct val="150000"/>
              </a:lnSpc>
              <a:buClr>
                <a:srgbClr val="1969C2"/>
              </a:buClr>
              <a:buFont typeface="Wingdings" panose="05000000000000000000" pitchFamily="2" charset="2"/>
              <a:buChar char="p"/>
            </a:pPr>
            <a:r>
              <a:rPr kumimoji="1" lang="zh-CN" altLang="en-US" sz="2400" dirty="0">
                <a:latin typeface="Arial" panose="020B0604020202020204" pitchFamily="34" charset="0"/>
                <a:ea typeface="思源黑体 CN Medium" panose="020B0600000000000000" pitchFamily="34" charset="-122"/>
              </a:rPr>
              <a:t>传统</a:t>
            </a:r>
            <a:r>
              <a:rPr kumimoji="1" lang="en-US" altLang="zh-CN" sz="2400" dirty="0">
                <a:latin typeface="Arial" panose="020B0604020202020204" pitchFamily="34" charset="0"/>
                <a:ea typeface="思源黑体 CN Medium" panose="020B0600000000000000" pitchFamily="34" charset="-122"/>
              </a:rPr>
              <a:t>TCP</a:t>
            </a:r>
            <a:r>
              <a:rPr kumimoji="1" lang="zh-CN" altLang="en-US" sz="2400" dirty="0">
                <a:latin typeface="Arial" panose="020B0604020202020204" pitchFamily="34" charset="0"/>
                <a:ea typeface="思源黑体 CN Medium" panose="020B0600000000000000" pitchFamily="34" charset="-122"/>
              </a:rPr>
              <a:t>算法问题（如</a:t>
            </a:r>
            <a:r>
              <a:rPr kumimoji="1" lang="en-US" altLang="zh-CN" sz="2400" dirty="0">
                <a:latin typeface="Arial" panose="020B0604020202020204" pitchFamily="34" charset="0"/>
                <a:ea typeface="思源黑体 CN Medium" panose="020B0600000000000000" pitchFamily="34" charset="-122"/>
              </a:rPr>
              <a:t>Reno</a:t>
            </a:r>
            <a:r>
              <a:rPr kumimoji="1" lang="zh-CN" altLang="en-US" sz="2400" dirty="0">
                <a:latin typeface="Arial" panose="020B0604020202020204" pitchFamily="34" charset="0"/>
                <a:ea typeface="思源黑体 CN Medium" panose="020B0600000000000000" pitchFamily="34" charset="-122"/>
              </a:rPr>
              <a:t>、</a:t>
            </a:r>
            <a:r>
              <a:rPr kumimoji="1" lang="en-US" altLang="zh-CN" sz="2400" dirty="0">
                <a:latin typeface="Arial" panose="020B0604020202020204" pitchFamily="34" charset="0"/>
                <a:ea typeface="思源黑体 CN Medium" panose="020B0600000000000000" pitchFamily="34" charset="-122"/>
              </a:rPr>
              <a:t>CUBIC</a:t>
            </a:r>
            <a:r>
              <a:rPr kumimoji="1" lang="zh-CN" altLang="en-US" sz="2400" dirty="0">
                <a:latin typeface="Arial" panose="020B0604020202020204" pitchFamily="34" charset="0"/>
                <a:ea typeface="思源黑体 CN Medium" panose="020B0600000000000000" pitchFamily="34" charset="-122"/>
              </a:rPr>
              <a:t>）：依赖丢包或延迟作为拥塞信号拥塞控制“被动”反应 → 容易造成</a:t>
            </a:r>
            <a:r>
              <a:rPr kumimoji="1" lang="zh-CN" altLang="en-US" sz="2400" dirty="0">
                <a:solidFill>
                  <a:srgbClr val="FF0000"/>
                </a:solidFill>
                <a:latin typeface="Arial" panose="020B0604020202020204" pitchFamily="34" charset="0"/>
                <a:ea typeface="思源黑体 CN Medium" panose="020B0600000000000000" pitchFamily="34" charset="-122"/>
              </a:rPr>
              <a:t>低吞吐</a:t>
            </a:r>
            <a:r>
              <a:rPr kumimoji="1" lang="zh-CN" altLang="en-US" sz="2400" dirty="0">
                <a:latin typeface="Arial" panose="020B0604020202020204" pitchFamily="34" charset="0"/>
                <a:ea typeface="思源黑体 CN Medium" panose="020B0600000000000000" pitchFamily="34" charset="-122"/>
              </a:rPr>
              <a:t>或</a:t>
            </a:r>
            <a:r>
              <a:rPr kumimoji="1" lang="zh-CN" altLang="en-US" sz="2400" dirty="0">
                <a:solidFill>
                  <a:srgbClr val="FF0000"/>
                </a:solidFill>
                <a:latin typeface="Arial" panose="020B0604020202020204" pitchFamily="34" charset="0"/>
                <a:ea typeface="思源黑体 CN Medium" panose="020B0600000000000000" pitchFamily="34" charset="-122"/>
              </a:rPr>
              <a:t>高延迟</a:t>
            </a:r>
            <a:r>
              <a:rPr kumimoji="1" lang="zh-CN" altLang="en-US" sz="2400" dirty="0">
                <a:latin typeface="Arial" panose="020B0604020202020204" pitchFamily="34" charset="0"/>
                <a:ea typeface="思源黑体 CN Medium" panose="020B0600000000000000" pitchFamily="34" charset="-122"/>
              </a:rPr>
              <a:t>网络状态剧烈变化时反应迟钝，恢复慢</a:t>
            </a:r>
            <a:endParaRPr kumimoji="1" lang="en-US" altLang="zh-CN" sz="2400" dirty="0">
              <a:latin typeface="Arial" panose="020B0604020202020204" pitchFamily="34" charset="0"/>
              <a:ea typeface="思源黑体 CN Medium" panose="020B0600000000000000" pitchFamily="34" charset="-122"/>
            </a:endParaRPr>
          </a:p>
          <a:p>
            <a:pPr marL="457200" indent="-457200">
              <a:lnSpc>
                <a:spcPct val="150000"/>
              </a:lnSpc>
              <a:buClr>
                <a:srgbClr val="1969C2"/>
              </a:buClr>
              <a:buFont typeface="Wingdings" panose="05000000000000000000" pitchFamily="2" charset="2"/>
              <a:buChar char="p"/>
            </a:pPr>
            <a:r>
              <a:rPr kumimoji="1" lang="en-US" altLang="zh-CN" sz="2400" dirty="0">
                <a:latin typeface="Arial" panose="020B0604020202020204" pitchFamily="34" charset="0"/>
                <a:ea typeface="思源黑体 CN Medium" panose="020B0600000000000000" pitchFamily="34" charset="-122"/>
              </a:rPr>
              <a:t>BBR</a:t>
            </a:r>
            <a:r>
              <a:rPr kumimoji="1" lang="zh-CN" altLang="en-US" sz="2400" dirty="0">
                <a:latin typeface="Arial" panose="020B0604020202020204" pitchFamily="34" charset="0"/>
                <a:ea typeface="思源黑体 CN Medium" panose="020B0600000000000000" pitchFamily="34" charset="-122"/>
              </a:rPr>
              <a:t>的动机：从根本建模网络瓶颈状态：⮕ 主动预测瓶颈带宽和最小</a:t>
            </a:r>
            <a:r>
              <a:rPr kumimoji="1" lang="en-US" altLang="zh-CN" sz="2400" dirty="0">
                <a:latin typeface="Arial" panose="020B0604020202020204" pitchFamily="34" charset="0"/>
                <a:ea typeface="思源黑体 CN Medium" panose="020B0600000000000000" pitchFamily="34" charset="-122"/>
              </a:rPr>
              <a:t>RTT⮕ </a:t>
            </a:r>
            <a:r>
              <a:rPr kumimoji="1" lang="zh-CN" altLang="en-US" sz="2400" dirty="0">
                <a:latin typeface="Arial" panose="020B0604020202020204" pitchFamily="34" charset="0"/>
                <a:ea typeface="思源黑体 CN Medium" panose="020B0600000000000000" pitchFamily="34" charset="-122"/>
              </a:rPr>
              <a:t>实现</a:t>
            </a:r>
            <a:r>
              <a:rPr kumimoji="1" lang="zh-CN" altLang="en-US" sz="2400" dirty="0">
                <a:solidFill>
                  <a:srgbClr val="FF0000"/>
                </a:solidFill>
                <a:latin typeface="Arial" panose="020B0604020202020204" pitchFamily="34" charset="0"/>
                <a:ea typeface="思源黑体 CN Medium" panose="020B0600000000000000" pitchFamily="34" charset="-122"/>
              </a:rPr>
              <a:t>不依赖丢包、不依赖队列积压</a:t>
            </a:r>
            <a:r>
              <a:rPr kumimoji="1" lang="zh-CN" altLang="en-US" sz="2400" dirty="0">
                <a:latin typeface="Arial" panose="020B0604020202020204" pitchFamily="34" charset="0"/>
                <a:ea typeface="思源黑体 CN Medium" panose="020B0600000000000000" pitchFamily="34" charset="-122"/>
              </a:rPr>
              <a:t>的拥塞控制</a:t>
            </a:r>
            <a:endParaRPr kumimoji="1" lang="en-US" altLang="zh-CN" sz="2400" dirty="0">
              <a:latin typeface="Arial" panose="020B0604020202020204" pitchFamily="34" charset="0"/>
              <a:ea typeface="思源黑体 CN Medium" panose="020B0600000000000000" pitchFamily="34" charset="-122"/>
            </a:endParaRPr>
          </a:p>
          <a:p>
            <a:pPr marL="457200" indent="-457200">
              <a:lnSpc>
                <a:spcPct val="150000"/>
              </a:lnSpc>
              <a:buClr>
                <a:srgbClr val="1969C2"/>
              </a:buClr>
              <a:buFont typeface="Wingdings" panose="05000000000000000000" pitchFamily="2" charset="2"/>
              <a:buChar char="p"/>
            </a:pPr>
            <a:r>
              <a:rPr kumimoji="1" lang="zh-CN" altLang="en-US" sz="2400" dirty="0">
                <a:latin typeface="Arial" panose="020B0604020202020204" pitchFamily="34" charset="0"/>
                <a:ea typeface="思源黑体 CN Medium" panose="020B0600000000000000" pitchFamily="34" charset="-122"/>
              </a:rPr>
              <a:t>目标：最大化带宽利用，最小化延迟，</a:t>
            </a:r>
            <a:r>
              <a:rPr kumimoji="1" lang="zh-CN" altLang="en-US" sz="2400" dirty="0">
                <a:solidFill>
                  <a:srgbClr val="FF0000"/>
                </a:solidFill>
                <a:latin typeface="Arial" panose="020B0604020202020204" pitchFamily="34" charset="0"/>
                <a:ea typeface="思源黑体 CN Medium" panose="020B0600000000000000" pitchFamily="34" charset="-122"/>
              </a:rPr>
              <a:t>跳出丢包驱动框架</a:t>
            </a:r>
          </a:p>
        </p:txBody>
      </p:sp>
      <p:sp>
        <p:nvSpPr>
          <p:cNvPr id="3" name="灯片编号占位符 2">
            <a:extLst>
              <a:ext uri="{FF2B5EF4-FFF2-40B4-BE49-F238E27FC236}">
                <a16:creationId xmlns:a16="http://schemas.microsoft.com/office/drawing/2014/main" id="{A06EFFFC-ED0F-4122-8316-A257EFB37AD5}"/>
              </a:ext>
            </a:extLst>
          </p:cNvPr>
          <p:cNvSpPr>
            <a:spLocks noGrp="1"/>
          </p:cNvSpPr>
          <p:nvPr>
            <p:ph type="sldNum" sz="quarter" idx="12"/>
          </p:nvPr>
        </p:nvSpPr>
        <p:spPr/>
        <p:txBody>
          <a:bodyPr/>
          <a:lstStyle/>
          <a:p>
            <a:fld id="{5956A083-5018-4B52-82A0-83241B8E3D94}" type="slidenum">
              <a:rPr lang="zh-CN" altLang="en-US" smtClean="0"/>
              <a:t>88</a:t>
            </a:fld>
            <a:endParaRPr lang="zh-CN" altLang="en-US"/>
          </a:p>
        </p:txBody>
      </p:sp>
    </p:spTree>
    <p:extLst>
      <p:ext uri="{BB962C8B-B14F-4D97-AF65-F5344CB8AC3E}">
        <p14:creationId xmlns:p14="http://schemas.microsoft.com/office/powerpoint/2010/main" val="23092523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55414-485E-3E62-E201-FCAAA45652A3}"/>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DADFADAC-501D-5B32-744D-24D9C6F2E789}"/>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10733CDB-E7F9-A703-C995-B94D86200A8B}"/>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C27382CA-4919-9737-31CC-E5D144CBE148}"/>
                  </a:ext>
                </a:extLst>
              </p:cNvPr>
              <p:cNvSpPr/>
              <p:nvPr/>
            </p:nvSpPr>
            <p:spPr>
              <a:xfrm>
                <a:off x="1839060" y="967769"/>
                <a:ext cx="4323391"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50C91E16-C112-075C-BC4D-819ABA42C831}"/>
                  </a:ext>
                </a:extLst>
              </p:cNvPr>
              <p:cNvSpPr txBox="1"/>
              <p:nvPr/>
            </p:nvSpPr>
            <p:spPr>
              <a:xfrm>
                <a:off x="2597179" y="1053620"/>
                <a:ext cx="5613471"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BBR </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p>
            </p:txBody>
          </p:sp>
        </p:grpSp>
        <p:pic>
          <p:nvPicPr>
            <p:cNvPr id="46" name="图片 45">
              <a:extLst>
                <a:ext uri="{FF2B5EF4-FFF2-40B4-BE49-F238E27FC236}">
                  <a16:creationId xmlns:a16="http://schemas.microsoft.com/office/drawing/2014/main" id="{8070F703-AA09-88FF-57A8-EC6F7EAD983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pSp>
        <p:nvGrpSpPr>
          <p:cNvPr id="2" name="组合 1">
            <a:extLst>
              <a:ext uri="{FF2B5EF4-FFF2-40B4-BE49-F238E27FC236}">
                <a16:creationId xmlns:a16="http://schemas.microsoft.com/office/drawing/2014/main" id="{D41F3781-1398-5479-330F-9A346786E513}"/>
              </a:ext>
            </a:extLst>
          </p:cNvPr>
          <p:cNvGrpSpPr/>
          <p:nvPr/>
        </p:nvGrpSpPr>
        <p:grpSpPr>
          <a:xfrm>
            <a:off x="470261" y="1413004"/>
            <a:ext cx="4594900" cy="546155"/>
            <a:chOff x="430213" y="1601273"/>
            <a:chExt cx="4594900" cy="546155"/>
          </a:xfrm>
        </p:grpSpPr>
        <p:sp>
          <p:nvSpPr>
            <p:cNvPr id="3" name="流程图: 手动输入 6">
              <a:extLst>
                <a:ext uri="{FF2B5EF4-FFF2-40B4-BE49-F238E27FC236}">
                  <a16:creationId xmlns:a16="http://schemas.microsoft.com/office/drawing/2014/main" id="{3DD4BE29-2422-B748-73EF-3EF34AED14E7}"/>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4" name="组合 3">
              <a:extLst>
                <a:ext uri="{FF2B5EF4-FFF2-40B4-BE49-F238E27FC236}">
                  <a16:creationId xmlns:a16="http://schemas.microsoft.com/office/drawing/2014/main" id="{6F7C082D-AD3C-CB3B-DAC0-4EFEE440BF31}"/>
                </a:ext>
              </a:extLst>
            </p:cNvPr>
            <p:cNvGrpSpPr/>
            <p:nvPr/>
          </p:nvGrpSpPr>
          <p:grpSpPr>
            <a:xfrm>
              <a:off x="430213" y="1601273"/>
              <a:ext cx="4594900" cy="546155"/>
              <a:chOff x="722008" y="1303131"/>
              <a:chExt cx="4387344" cy="521484"/>
            </a:xfrm>
          </p:grpSpPr>
          <p:sp>
            <p:nvSpPr>
              <p:cNvPr id="5" name="流程图: 手动输入 6">
                <a:extLst>
                  <a:ext uri="{FF2B5EF4-FFF2-40B4-BE49-F238E27FC236}">
                    <a16:creationId xmlns:a16="http://schemas.microsoft.com/office/drawing/2014/main" id="{8BF6665E-8A73-E089-3623-C57F9C0935E7}"/>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6" name="组合 5">
                <a:extLst>
                  <a:ext uri="{FF2B5EF4-FFF2-40B4-BE49-F238E27FC236}">
                    <a16:creationId xmlns:a16="http://schemas.microsoft.com/office/drawing/2014/main" id="{B25C3D89-CC42-1455-6D37-6D8FC623F634}"/>
                  </a:ext>
                </a:extLst>
              </p:cNvPr>
              <p:cNvGrpSpPr/>
              <p:nvPr/>
            </p:nvGrpSpPr>
            <p:grpSpPr>
              <a:xfrm>
                <a:off x="722008" y="1303131"/>
                <a:ext cx="546594" cy="475865"/>
                <a:chOff x="708742" y="1296102"/>
                <a:chExt cx="454744" cy="283828"/>
              </a:xfrm>
            </p:grpSpPr>
            <p:sp>
              <p:nvSpPr>
                <p:cNvPr id="8" name="平行四边形 7">
                  <a:extLst>
                    <a:ext uri="{FF2B5EF4-FFF2-40B4-BE49-F238E27FC236}">
                      <a16:creationId xmlns:a16="http://schemas.microsoft.com/office/drawing/2014/main" id="{F90686D4-8643-98C0-0778-E5AA7F13C796}"/>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9" name="平行四边形 8">
                  <a:extLst>
                    <a:ext uri="{FF2B5EF4-FFF2-40B4-BE49-F238E27FC236}">
                      <a16:creationId xmlns:a16="http://schemas.microsoft.com/office/drawing/2014/main" id="{152B34D6-1CAC-A020-2D16-2FA04B860A01}"/>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7" name="Text Box 79">
                <a:extLst>
                  <a:ext uri="{FF2B5EF4-FFF2-40B4-BE49-F238E27FC236}">
                    <a16:creationId xmlns:a16="http://schemas.microsoft.com/office/drawing/2014/main" id="{8D5A0B84-82D4-7BD4-4E5E-44A4D47ECCFE}"/>
                  </a:ext>
                </a:extLst>
              </p:cNvPr>
              <p:cNvSpPr txBox="1">
                <a:spLocks noChangeArrowheads="1"/>
              </p:cNvSpPr>
              <p:nvPr/>
            </p:nvSpPr>
            <p:spPr bwMode="auto">
              <a:xfrm>
                <a:off x="1172744" y="1354417"/>
                <a:ext cx="3936608"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BBR</a:t>
                </a:r>
                <a:r>
                  <a:rPr kumimoji="1" lang="zh-CN" altLang="en-US" sz="2600" dirty="0">
                    <a:solidFill>
                      <a:schemeClr val="tx1">
                        <a:lumMod val="85000"/>
                        <a:lumOff val="15000"/>
                      </a:schemeClr>
                    </a:solidFill>
                    <a:ea typeface="思源黑体 CN Medium" panose="020B0600000000000000" pitchFamily="34" charset="-122"/>
                  </a:rPr>
                  <a:t>算法的机制</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11" name="文本框 10">
            <a:extLst>
              <a:ext uri="{FF2B5EF4-FFF2-40B4-BE49-F238E27FC236}">
                <a16:creationId xmlns:a16="http://schemas.microsoft.com/office/drawing/2014/main" id="{1C33C0B3-5D24-2D58-6596-CCD3F68D5400}"/>
              </a:ext>
            </a:extLst>
          </p:cNvPr>
          <p:cNvSpPr txBox="1"/>
          <p:nvPr/>
        </p:nvSpPr>
        <p:spPr>
          <a:xfrm>
            <a:off x="470261" y="2124412"/>
            <a:ext cx="11223938" cy="2796407"/>
          </a:xfrm>
          <a:prstGeom prst="rect">
            <a:avLst/>
          </a:prstGeom>
          <a:noFill/>
        </p:spPr>
        <p:txBody>
          <a:bodyPr wrap="square">
            <a:spAutoFit/>
          </a:bodyPr>
          <a:lstStyle/>
          <a:p>
            <a:pPr marL="457200" indent="-457200">
              <a:lnSpc>
                <a:spcPct val="150000"/>
              </a:lnSpc>
              <a:buClr>
                <a:srgbClr val="1969C2"/>
              </a:buClr>
              <a:buFont typeface="Wingdings" panose="05000000000000000000" pitchFamily="2" charset="2"/>
              <a:buChar char="p"/>
            </a:pPr>
            <a:r>
              <a:rPr kumimoji="1" lang="zh-CN" altLang="en-US" sz="2400" dirty="0">
                <a:latin typeface="Arial" panose="020B0604020202020204" pitchFamily="34" charset="0"/>
                <a:ea typeface="思源黑体 CN Medium" panose="020B0600000000000000" pitchFamily="34" charset="-122"/>
              </a:rPr>
              <a:t>核心模型：</a:t>
            </a:r>
            <a:endParaRPr kumimoji="1" lang="en-US" altLang="zh-CN" sz="2400" dirty="0">
              <a:latin typeface="Arial" panose="020B0604020202020204" pitchFamily="34" charset="0"/>
              <a:ea typeface="思源黑体 CN Medium" panose="020B0600000000000000" pitchFamily="34" charset="-122"/>
            </a:endParaRPr>
          </a:p>
          <a:p>
            <a:pPr marL="800100" lvl="1" indent="-342900">
              <a:lnSpc>
                <a:spcPct val="150000"/>
              </a:lnSpc>
              <a:buClr>
                <a:srgbClr val="1969C2"/>
              </a:buClr>
              <a:buFont typeface="Arial" panose="020B0604020202020204" pitchFamily="34" charset="0"/>
              <a:buChar char="•"/>
            </a:pPr>
            <a:r>
              <a:rPr kumimoji="1" lang="en-US" altLang="zh-CN" sz="2400" dirty="0" err="1">
                <a:latin typeface="Arial" panose="020B0604020202020204" pitchFamily="34" charset="0"/>
                <a:ea typeface="思源黑体 CN Medium" panose="020B0600000000000000" pitchFamily="34" charset="-122"/>
              </a:rPr>
              <a:t>BtlBW</a:t>
            </a:r>
            <a:r>
              <a:rPr kumimoji="1" lang="zh-CN" altLang="en-US" sz="2400" dirty="0">
                <a:latin typeface="Arial" panose="020B0604020202020204" pitchFamily="34" charset="0"/>
                <a:ea typeface="思源黑体 CN Medium" panose="020B0600000000000000" pitchFamily="34" charset="-122"/>
              </a:rPr>
              <a:t>（瓶颈带宽）：路径上最大可达吞吐量</a:t>
            </a:r>
            <a:endParaRPr kumimoji="1" lang="en-US" altLang="zh-CN" sz="2400" dirty="0">
              <a:latin typeface="Arial" panose="020B0604020202020204" pitchFamily="34" charset="0"/>
              <a:ea typeface="思源黑体 CN Medium" panose="020B0600000000000000" pitchFamily="34" charset="-122"/>
            </a:endParaRPr>
          </a:p>
          <a:p>
            <a:pPr marL="800100" lvl="1" indent="-342900">
              <a:lnSpc>
                <a:spcPct val="150000"/>
              </a:lnSpc>
              <a:buClr>
                <a:srgbClr val="1969C2"/>
              </a:buClr>
              <a:buFont typeface="Arial" panose="020B0604020202020204" pitchFamily="34" charset="0"/>
              <a:buChar char="•"/>
            </a:pPr>
            <a:r>
              <a:rPr kumimoji="1" lang="en-US" altLang="zh-CN" sz="2400" dirty="0" err="1">
                <a:latin typeface="Arial" panose="020B0604020202020204" pitchFamily="34" charset="0"/>
                <a:ea typeface="思源黑体 CN Medium" panose="020B0600000000000000" pitchFamily="34" charset="-122"/>
              </a:rPr>
              <a:t>RT</a:t>
            </a:r>
            <a:r>
              <a:rPr kumimoji="1" lang="en-US" altLang="zh-CN" sz="2400" baseline="-25000" dirty="0" err="1">
                <a:latin typeface="Arial" panose="020B0604020202020204" pitchFamily="34" charset="0"/>
                <a:ea typeface="思源黑体 CN Medium" panose="020B0600000000000000" pitchFamily="34" charset="-122"/>
              </a:rPr>
              <a:t>prop</a:t>
            </a:r>
            <a:r>
              <a:rPr kumimoji="1" lang="zh-CN" altLang="en-US" sz="2400" dirty="0">
                <a:latin typeface="Arial" panose="020B0604020202020204" pitchFamily="34" charset="0"/>
                <a:ea typeface="思源黑体 CN Medium" panose="020B0600000000000000" pitchFamily="34" charset="-122"/>
              </a:rPr>
              <a:t>（往返传播时延）：最小</a:t>
            </a:r>
            <a:r>
              <a:rPr kumimoji="1" lang="en-US" altLang="zh-CN" sz="2400" dirty="0">
                <a:latin typeface="Arial" panose="020B0604020202020204" pitchFamily="34" charset="0"/>
                <a:ea typeface="思源黑体 CN Medium" panose="020B0600000000000000" pitchFamily="34" charset="-122"/>
              </a:rPr>
              <a:t>RTT</a:t>
            </a:r>
            <a:r>
              <a:rPr kumimoji="1" lang="zh-CN" altLang="en-US" sz="2400" dirty="0">
                <a:latin typeface="Arial" panose="020B0604020202020204" pitchFamily="34" charset="0"/>
                <a:ea typeface="思源黑体 CN Medium" panose="020B0600000000000000" pitchFamily="34" charset="-122"/>
              </a:rPr>
              <a:t>，无排队延迟</a:t>
            </a:r>
            <a:endParaRPr kumimoji="1" lang="en-US" altLang="zh-CN" sz="2400" dirty="0">
              <a:latin typeface="Arial" panose="020B0604020202020204" pitchFamily="34" charset="0"/>
              <a:ea typeface="思源黑体 CN Medium" panose="020B0600000000000000" pitchFamily="34" charset="-122"/>
            </a:endParaRPr>
          </a:p>
          <a:p>
            <a:pPr marL="457200" indent="-457200">
              <a:lnSpc>
                <a:spcPct val="150000"/>
              </a:lnSpc>
              <a:buClr>
                <a:srgbClr val="1969C2"/>
              </a:buClr>
              <a:buFont typeface="Wingdings" panose="05000000000000000000" pitchFamily="2" charset="2"/>
              <a:buChar char="p"/>
            </a:pPr>
            <a:r>
              <a:rPr kumimoji="1" lang="zh-CN" altLang="en-US" sz="2400" dirty="0">
                <a:latin typeface="Arial" panose="020B0604020202020204" pitchFamily="34" charset="0"/>
                <a:ea typeface="思源黑体 CN Medium" panose="020B0600000000000000" pitchFamily="34" charset="-122"/>
              </a:rPr>
              <a:t>拥塞窗口控制公式：</a:t>
            </a:r>
            <a:endParaRPr kumimoji="1" lang="en-US" altLang="zh-CN" sz="2400" dirty="0">
              <a:latin typeface="Arial" panose="020B0604020202020204" pitchFamily="34" charset="0"/>
              <a:ea typeface="思源黑体 CN Medium" panose="020B0600000000000000" pitchFamily="34" charset="-122"/>
            </a:endParaRPr>
          </a:p>
          <a:p>
            <a:pPr>
              <a:lnSpc>
                <a:spcPct val="150000"/>
              </a:lnSpc>
              <a:buClr>
                <a:srgbClr val="1969C2"/>
              </a:buClr>
            </a:pPr>
            <a:r>
              <a:rPr kumimoji="1" lang="en-US" altLang="zh-CN" sz="2400" dirty="0">
                <a:latin typeface="Arial" panose="020B0604020202020204" pitchFamily="34" charset="0"/>
                <a:ea typeface="思源黑体 CN Medium" panose="020B0600000000000000" pitchFamily="34" charset="-122"/>
              </a:rPr>
              <a:t>	CWND = </a:t>
            </a:r>
            <a:r>
              <a:rPr kumimoji="1" lang="en-US" altLang="zh-CN" sz="2400" dirty="0" err="1">
                <a:latin typeface="Arial" panose="020B0604020202020204" pitchFamily="34" charset="0"/>
                <a:ea typeface="思源黑体 CN Medium" panose="020B0600000000000000" pitchFamily="34" charset="-122"/>
              </a:rPr>
              <a:t>BtlBW</a:t>
            </a:r>
            <a:r>
              <a:rPr kumimoji="1" lang="en-US" altLang="zh-CN" sz="2400" dirty="0">
                <a:latin typeface="Arial" panose="020B0604020202020204" pitchFamily="34" charset="0"/>
                <a:ea typeface="思源黑体 CN Medium" panose="020B0600000000000000" pitchFamily="34" charset="-122"/>
              </a:rPr>
              <a:t> × </a:t>
            </a:r>
            <a:r>
              <a:rPr kumimoji="1" lang="en-US" altLang="zh-CN" sz="2400" dirty="0" err="1">
                <a:latin typeface="Arial" panose="020B0604020202020204" pitchFamily="34" charset="0"/>
                <a:ea typeface="思源黑体 CN Medium" panose="020B0600000000000000" pitchFamily="34" charset="-122"/>
              </a:rPr>
              <a:t>Rt</a:t>
            </a:r>
            <a:r>
              <a:rPr kumimoji="1" lang="en-US" altLang="zh-CN" sz="2400" baseline="-25000" dirty="0" err="1">
                <a:latin typeface="Arial" panose="020B0604020202020204" pitchFamily="34" charset="0"/>
                <a:ea typeface="思源黑体 CN Medium" panose="020B0600000000000000" pitchFamily="34" charset="-122"/>
              </a:rPr>
              <a:t>prop</a:t>
            </a:r>
            <a:endParaRPr kumimoji="1" lang="en-US" altLang="zh-CN" sz="2400" baseline="-25000" dirty="0">
              <a:latin typeface="Arial" panose="020B0604020202020204" pitchFamily="34" charset="0"/>
              <a:ea typeface="思源黑体 CN Medium" panose="020B0600000000000000" pitchFamily="34" charset="-122"/>
            </a:endParaRPr>
          </a:p>
        </p:txBody>
      </p:sp>
      <p:sp>
        <p:nvSpPr>
          <p:cNvPr id="10" name="灯片编号占位符 9">
            <a:extLst>
              <a:ext uri="{FF2B5EF4-FFF2-40B4-BE49-F238E27FC236}">
                <a16:creationId xmlns:a16="http://schemas.microsoft.com/office/drawing/2014/main" id="{979AB6EE-1141-46A2-94A9-57C561123919}"/>
              </a:ext>
            </a:extLst>
          </p:cNvPr>
          <p:cNvSpPr>
            <a:spLocks noGrp="1"/>
          </p:cNvSpPr>
          <p:nvPr>
            <p:ph type="sldNum" sz="quarter" idx="12"/>
          </p:nvPr>
        </p:nvSpPr>
        <p:spPr/>
        <p:txBody>
          <a:bodyPr/>
          <a:lstStyle/>
          <a:p>
            <a:fld id="{5956A083-5018-4B52-82A0-83241B8E3D94}" type="slidenum">
              <a:rPr lang="zh-CN" altLang="en-US" smtClean="0"/>
              <a:t>89</a:t>
            </a:fld>
            <a:endParaRPr lang="zh-CN" altLang="en-US"/>
          </a:p>
        </p:txBody>
      </p:sp>
    </p:spTree>
    <p:extLst>
      <p:ext uri="{BB962C8B-B14F-4D97-AF65-F5344CB8AC3E}">
        <p14:creationId xmlns:p14="http://schemas.microsoft.com/office/powerpoint/2010/main" val="398057164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21B74-30F7-8547-BDB0-DE60A98DF929}"/>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E88AC85A-B850-834F-D927-4FCBCA439E18}"/>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9DF96896-BDBC-045C-4C77-9756436503D2}"/>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3A296587-84A2-A72B-F4C3-1DE739B11635}"/>
                  </a:ext>
                </a:extLst>
              </p:cNvPr>
              <p:cNvSpPr/>
              <p:nvPr/>
            </p:nvSpPr>
            <p:spPr>
              <a:xfrm>
                <a:off x="1839060" y="967769"/>
                <a:ext cx="4323391"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F7B7D7F4-96D5-5E29-6A1C-8290F9457308}"/>
                  </a:ext>
                </a:extLst>
              </p:cNvPr>
              <p:cNvSpPr txBox="1"/>
              <p:nvPr/>
            </p:nvSpPr>
            <p:spPr>
              <a:xfrm>
                <a:off x="2597179" y="1053620"/>
                <a:ext cx="5613471"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BBR </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p>
            </p:txBody>
          </p:sp>
        </p:grpSp>
        <p:pic>
          <p:nvPicPr>
            <p:cNvPr id="46" name="图片 45">
              <a:extLst>
                <a:ext uri="{FF2B5EF4-FFF2-40B4-BE49-F238E27FC236}">
                  <a16:creationId xmlns:a16="http://schemas.microsoft.com/office/drawing/2014/main" id="{525021B1-C902-8AB7-3906-94D87B607A9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pSp>
        <p:nvGrpSpPr>
          <p:cNvPr id="2" name="组合 1">
            <a:extLst>
              <a:ext uri="{FF2B5EF4-FFF2-40B4-BE49-F238E27FC236}">
                <a16:creationId xmlns:a16="http://schemas.microsoft.com/office/drawing/2014/main" id="{72A2A1DC-16D7-D1B6-E7A8-BFDF3F41758A}"/>
              </a:ext>
            </a:extLst>
          </p:cNvPr>
          <p:cNvGrpSpPr/>
          <p:nvPr/>
        </p:nvGrpSpPr>
        <p:grpSpPr>
          <a:xfrm>
            <a:off x="470261" y="1413004"/>
            <a:ext cx="4594900" cy="546155"/>
            <a:chOff x="430213" y="1601273"/>
            <a:chExt cx="4594900" cy="546155"/>
          </a:xfrm>
        </p:grpSpPr>
        <p:sp>
          <p:nvSpPr>
            <p:cNvPr id="3" name="流程图: 手动输入 6">
              <a:extLst>
                <a:ext uri="{FF2B5EF4-FFF2-40B4-BE49-F238E27FC236}">
                  <a16:creationId xmlns:a16="http://schemas.microsoft.com/office/drawing/2014/main" id="{8E286138-52A9-B392-0FA4-3C4A59716C0E}"/>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4" name="组合 3">
              <a:extLst>
                <a:ext uri="{FF2B5EF4-FFF2-40B4-BE49-F238E27FC236}">
                  <a16:creationId xmlns:a16="http://schemas.microsoft.com/office/drawing/2014/main" id="{03D6F163-155E-3039-689E-1FC743ED07B4}"/>
                </a:ext>
              </a:extLst>
            </p:cNvPr>
            <p:cNvGrpSpPr/>
            <p:nvPr/>
          </p:nvGrpSpPr>
          <p:grpSpPr>
            <a:xfrm>
              <a:off x="430213" y="1601273"/>
              <a:ext cx="4594900" cy="546155"/>
              <a:chOff x="722008" y="1303131"/>
              <a:chExt cx="4387344" cy="521484"/>
            </a:xfrm>
          </p:grpSpPr>
          <p:sp>
            <p:nvSpPr>
              <p:cNvPr id="5" name="流程图: 手动输入 6">
                <a:extLst>
                  <a:ext uri="{FF2B5EF4-FFF2-40B4-BE49-F238E27FC236}">
                    <a16:creationId xmlns:a16="http://schemas.microsoft.com/office/drawing/2014/main" id="{4A2CD498-578C-7B67-D15A-FE92AE401C30}"/>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6" name="组合 5">
                <a:extLst>
                  <a:ext uri="{FF2B5EF4-FFF2-40B4-BE49-F238E27FC236}">
                    <a16:creationId xmlns:a16="http://schemas.microsoft.com/office/drawing/2014/main" id="{ED6CA036-8EB8-5810-9DE5-AF27850A7AAD}"/>
                  </a:ext>
                </a:extLst>
              </p:cNvPr>
              <p:cNvGrpSpPr/>
              <p:nvPr/>
            </p:nvGrpSpPr>
            <p:grpSpPr>
              <a:xfrm>
                <a:off x="722008" y="1303131"/>
                <a:ext cx="546594" cy="475865"/>
                <a:chOff x="708742" y="1296102"/>
                <a:chExt cx="454744" cy="283828"/>
              </a:xfrm>
            </p:grpSpPr>
            <p:sp>
              <p:nvSpPr>
                <p:cNvPr id="8" name="平行四边形 7">
                  <a:extLst>
                    <a:ext uri="{FF2B5EF4-FFF2-40B4-BE49-F238E27FC236}">
                      <a16:creationId xmlns:a16="http://schemas.microsoft.com/office/drawing/2014/main" id="{6717E1AC-6529-608C-3B9B-468288A8E8AD}"/>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9" name="平行四边形 8">
                  <a:extLst>
                    <a:ext uri="{FF2B5EF4-FFF2-40B4-BE49-F238E27FC236}">
                      <a16:creationId xmlns:a16="http://schemas.microsoft.com/office/drawing/2014/main" id="{F1C19A01-8F2B-0129-EC3B-051374178831}"/>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7" name="Text Box 79">
                <a:extLst>
                  <a:ext uri="{FF2B5EF4-FFF2-40B4-BE49-F238E27FC236}">
                    <a16:creationId xmlns:a16="http://schemas.microsoft.com/office/drawing/2014/main" id="{5A1DB510-6EDA-C1C8-E01A-8D9666D6E396}"/>
                  </a:ext>
                </a:extLst>
              </p:cNvPr>
              <p:cNvSpPr txBox="1">
                <a:spLocks noChangeArrowheads="1"/>
              </p:cNvSpPr>
              <p:nvPr/>
            </p:nvSpPr>
            <p:spPr bwMode="auto">
              <a:xfrm>
                <a:off x="1172744" y="1354417"/>
                <a:ext cx="3936608"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BBR</a:t>
                </a:r>
                <a:r>
                  <a:rPr kumimoji="1" lang="zh-CN" altLang="en-US" sz="2600" dirty="0">
                    <a:solidFill>
                      <a:schemeClr val="tx1">
                        <a:lumMod val="85000"/>
                        <a:lumOff val="15000"/>
                      </a:schemeClr>
                    </a:solidFill>
                    <a:ea typeface="思源黑体 CN Medium" panose="020B0600000000000000" pitchFamily="34" charset="-122"/>
                  </a:rPr>
                  <a:t>算法的机制</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13" name="文本框 12">
            <a:extLst>
              <a:ext uri="{FF2B5EF4-FFF2-40B4-BE49-F238E27FC236}">
                <a16:creationId xmlns:a16="http://schemas.microsoft.com/office/drawing/2014/main" id="{15230EC6-D481-609D-BA82-62FFDDD87B91}"/>
              </a:ext>
            </a:extLst>
          </p:cNvPr>
          <p:cNvSpPr txBox="1"/>
          <p:nvPr/>
        </p:nvSpPr>
        <p:spPr>
          <a:xfrm>
            <a:off x="470260" y="2124299"/>
            <a:ext cx="8951141" cy="3350404"/>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控制周期（</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8</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个</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RTT</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800100" marR="0" lvl="1" indent="-342900" algn="l" defTabSz="914400" rtl="0" eaLnBrk="1" fontAlgn="auto" latinLnBrk="0" hangingPunct="1">
              <a:lnSpc>
                <a:spcPct val="150000"/>
              </a:lnSpc>
              <a:spcBef>
                <a:spcPts val="0"/>
              </a:spcBef>
              <a:spcAft>
                <a:spcPts val="0"/>
              </a:spcAft>
              <a:buClr>
                <a:srgbClr val="1969C2"/>
              </a:buClr>
              <a:buSzTx/>
              <a:buFont typeface="Arial" panose="020B0604020202020204" pitchFamily="34" charset="0"/>
              <a:buChar char="•"/>
              <a:tabLst/>
              <a:defRPr/>
            </a:pPr>
            <a:r>
              <a:rPr kumimoji="1" lang="en-US" altLang="zh-CN" sz="2400" b="0" i="0" u="none" strike="noStrike" kern="1200" cap="none" spc="0" normalizeH="0" baseline="0" noProof="0" dirty="0" err="1">
                <a:ln>
                  <a:noFill/>
                </a:ln>
                <a:solidFill>
                  <a:prstClr val="black"/>
                </a:solidFill>
                <a:effectLst/>
                <a:uLnTx/>
                <a:uFillTx/>
                <a:latin typeface="Arial" panose="020B0604020202020204" pitchFamily="34" charset="0"/>
                <a:ea typeface="思源黑体 CN Medium" panose="020B0600000000000000" pitchFamily="34" charset="-122"/>
                <a:cs typeface="+mn-cs"/>
              </a:rPr>
              <a:t>ProbeBW</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：探测更大带宽（周期性加速）</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800100" marR="0" lvl="1" indent="-342900" algn="l" defTabSz="914400" rtl="0" eaLnBrk="1" fontAlgn="auto" latinLnBrk="0" hangingPunct="1">
              <a:lnSpc>
                <a:spcPct val="150000"/>
              </a:lnSpc>
              <a:spcBef>
                <a:spcPts val="0"/>
              </a:spcBef>
              <a:spcAft>
                <a:spcPts val="0"/>
              </a:spcAft>
              <a:buClr>
                <a:srgbClr val="1969C2"/>
              </a:buClr>
              <a:buSzTx/>
              <a:buFont typeface="Arial" panose="020B0604020202020204" pitchFamily="34" charset="0"/>
              <a:buChar char="•"/>
              <a:tabLst/>
              <a:defRPr/>
            </a:pPr>
            <a:r>
              <a:rPr kumimoji="1" lang="en-US" altLang="zh-CN" sz="2400" b="0" i="0" u="none" strike="noStrike" kern="1200" cap="none" spc="0" normalizeH="0" baseline="0" noProof="0" dirty="0" err="1">
                <a:ln>
                  <a:noFill/>
                </a:ln>
                <a:solidFill>
                  <a:prstClr val="black"/>
                </a:solidFill>
                <a:effectLst/>
                <a:uLnTx/>
                <a:uFillTx/>
                <a:latin typeface="Arial" panose="020B0604020202020204" pitchFamily="34" charset="0"/>
                <a:ea typeface="思源黑体 CN Medium" panose="020B0600000000000000" pitchFamily="34" charset="-122"/>
                <a:cs typeface="+mn-cs"/>
              </a:rPr>
              <a:t>ProbeRTT</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：短暂降低窗口获取</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800100" marR="0" lvl="1" indent="-342900" algn="l" defTabSz="914400" rtl="0" eaLnBrk="1" fontAlgn="auto" latinLnBrk="0" hangingPunct="1">
              <a:lnSpc>
                <a:spcPct val="150000"/>
              </a:lnSpc>
              <a:spcBef>
                <a:spcPts val="0"/>
              </a:spcBef>
              <a:spcAft>
                <a:spcPts val="0"/>
              </a:spcAft>
              <a:buClr>
                <a:srgbClr val="1969C2"/>
              </a:buClr>
              <a:buSzTx/>
              <a:buFont typeface="Arial" panose="020B0604020202020204" pitchFamily="34" charset="0"/>
              <a:buChar char="•"/>
              <a:tabLst/>
              <a:defRPr/>
            </a:pPr>
            <a:r>
              <a:rPr kumimoji="1" lang="en-US" altLang="zh-CN" sz="2400" b="0" i="0" u="none" strike="noStrike" kern="1200" cap="none" spc="0" normalizeH="0" baseline="0" noProof="0" dirty="0" err="1">
                <a:ln>
                  <a:noFill/>
                </a:ln>
                <a:solidFill>
                  <a:prstClr val="black"/>
                </a:solidFill>
                <a:effectLst/>
                <a:uLnTx/>
                <a:uFillTx/>
                <a:latin typeface="Arial" panose="020B0604020202020204" pitchFamily="34" charset="0"/>
                <a:ea typeface="思源黑体 CN Medium" panose="020B0600000000000000" pitchFamily="34" charset="-122"/>
                <a:cs typeface="+mn-cs"/>
              </a:rPr>
              <a:t>RTpropStartup</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：快速增长，找出初始瓶颈</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800100" marR="0" lvl="1" indent="-342900" algn="l" defTabSz="914400" rtl="0" eaLnBrk="1" fontAlgn="auto" latinLnBrk="0" hangingPunct="1">
              <a:lnSpc>
                <a:spcPct val="150000"/>
              </a:lnSpc>
              <a:spcBef>
                <a:spcPts val="0"/>
              </a:spcBef>
              <a:spcAft>
                <a:spcPts val="0"/>
              </a:spcAft>
              <a:buClr>
                <a:srgbClr val="1969C2"/>
              </a:buClr>
              <a:buSzTx/>
              <a:buFont typeface="Arial" panose="020B0604020202020204" pitchFamily="34" charset="0"/>
              <a:buChar char="•"/>
              <a:tabLst/>
              <a:defRPr/>
            </a:pP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Drain</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：清空队列防止过度拥塞</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不依赖丢包判断拥塞，避免传统</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TCP</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中的</a:t>
            </a:r>
            <a:r>
              <a:rPr kumimoji="1" lang="en-US" altLang="zh-CN" sz="2400" b="0" i="0" u="none" strike="noStrike" kern="1200" cap="none" spc="0" normalizeH="0" baseline="0" noProof="0" dirty="0" err="1">
                <a:ln>
                  <a:noFill/>
                </a:ln>
                <a:solidFill>
                  <a:prstClr val="black"/>
                </a:solidFill>
                <a:effectLst/>
                <a:uLnTx/>
                <a:uFillTx/>
                <a:latin typeface="Arial" panose="020B0604020202020204" pitchFamily="34" charset="0"/>
                <a:ea typeface="思源黑体 CN Medium" panose="020B0600000000000000" pitchFamily="34" charset="-122"/>
                <a:cs typeface="+mn-cs"/>
              </a:rPr>
              <a:t>bufferbloat</a:t>
            </a:r>
            <a:endPar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endParaRPr>
          </a:p>
        </p:txBody>
      </p:sp>
      <p:sp>
        <p:nvSpPr>
          <p:cNvPr id="10" name="灯片编号占位符 9">
            <a:extLst>
              <a:ext uri="{FF2B5EF4-FFF2-40B4-BE49-F238E27FC236}">
                <a16:creationId xmlns:a16="http://schemas.microsoft.com/office/drawing/2014/main" id="{C5E5410B-8410-4DFC-816E-2CEF652F8FB5}"/>
              </a:ext>
            </a:extLst>
          </p:cNvPr>
          <p:cNvSpPr>
            <a:spLocks noGrp="1"/>
          </p:cNvSpPr>
          <p:nvPr>
            <p:ph type="sldNum" sz="quarter" idx="12"/>
          </p:nvPr>
        </p:nvSpPr>
        <p:spPr/>
        <p:txBody>
          <a:bodyPr/>
          <a:lstStyle/>
          <a:p>
            <a:fld id="{5956A083-5018-4B52-82A0-83241B8E3D94}" type="slidenum">
              <a:rPr lang="zh-CN" altLang="en-US" smtClean="0"/>
              <a:t>90</a:t>
            </a:fld>
            <a:endParaRPr lang="zh-CN" altLang="en-US"/>
          </a:p>
        </p:txBody>
      </p:sp>
    </p:spTree>
    <p:extLst>
      <p:ext uri="{BB962C8B-B14F-4D97-AF65-F5344CB8AC3E}">
        <p14:creationId xmlns:p14="http://schemas.microsoft.com/office/powerpoint/2010/main" val="56780833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CA163-792E-49EB-E4F5-21CEFD9B9FD2}"/>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A4441D04-3374-5EDA-6F09-A0022B45770E}"/>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665A556E-DD56-5841-1DDC-4476214AE406}"/>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F7C8D574-6303-8486-9040-E16472AA08E4}"/>
                  </a:ext>
                </a:extLst>
              </p:cNvPr>
              <p:cNvSpPr/>
              <p:nvPr/>
            </p:nvSpPr>
            <p:spPr>
              <a:xfrm>
                <a:off x="1839060" y="967769"/>
                <a:ext cx="4323391"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0ADCE94D-F9BF-537C-2048-C7F29B9C8ABD}"/>
                  </a:ext>
                </a:extLst>
              </p:cNvPr>
              <p:cNvSpPr txBox="1"/>
              <p:nvPr/>
            </p:nvSpPr>
            <p:spPr>
              <a:xfrm>
                <a:off x="2597179" y="1053620"/>
                <a:ext cx="5613471" cy="523220"/>
              </a:xfrm>
              <a:prstGeom prst="rect">
                <a:avLst/>
              </a:prstGeom>
              <a:noFill/>
            </p:spPr>
            <p:txBody>
              <a:bodyPr wrap="square" rtlCol="0">
                <a:spAutoFit/>
              </a:bodyPr>
              <a:lstStyle/>
              <a:p>
                <a:r>
                  <a:rPr lang="en-US" altLang="zh-CN"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BBR </a:t>
                </a:r>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拥塞控制算法</a:t>
                </a:r>
              </a:p>
            </p:txBody>
          </p:sp>
        </p:grpSp>
        <p:pic>
          <p:nvPicPr>
            <p:cNvPr id="46" name="图片 45">
              <a:extLst>
                <a:ext uri="{FF2B5EF4-FFF2-40B4-BE49-F238E27FC236}">
                  <a16:creationId xmlns:a16="http://schemas.microsoft.com/office/drawing/2014/main" id="{6FB97BE7-0ED5-F75E-6D4A-AB847E006D0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pSp>
        <p:nvGrpSpPr>
          <p:cNvPr id="2" name="组合 1">
            <a:extLst>
              <a:ext uri="{FF2B5EF4-FFF2-40B4-BE49-F238E27FC236}">
                <a16:creationId xmlns:a16="http://schemas.microsoft.com/office/drawing/2014/main" id="{E1F0032D-6C98-637D-2335-55466D59E07D}"/>
              </a:ext>
            </a:extLst>
          </p:cNvPr>
          <p:cNvGrpSpPr/>
          <p:nvPr/>
        </p:nvGrpSpPr>
        <p:grpSpPr>
          <a:xfrm>
            <a:off x="470261" y="1413004"/>
            <a:ext cx="4594900" cy="546155"/>
            <a:chOff x="430213" y="1601273"/>
            <a:chExt cx="4594900" cy="546155"/>
          </a:xfrm>
        </p:grpSpPr>
        <p:sp>
          <p:nvSpPr>
            <p:cNvPr id="3" name="流程图: 手动输入 6">
              <a:extLst>
                <a:ext uri="{FF2B5EF4-FFF2-40B4-BE49-F238E27FC236}">
                  <a16:creationId xmlns:a16="http://schemas.microsoft.com/office/drawing/2014/main" id="{2FCD9C91-61E0-22DD-B778-80EE8E42E539}"/>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4" name="组合 3">
              <a:extLst>
                <a:ext uri="{FF2B5EF4-FFF2-40B4-BE49-F238E27FC236}">
                  <a16:creationId xmlns:a16="http://schemas.microsoft.com/office/drawing/2014/main" id="{FDD6DF4E-6235-74BC-DF25-5334982E18B7}"/>
                </a:ext>
              </a:extLst>
            </p:cNvPr>
            <p:cNvGrpSpPr/>
            <p:nvPr/>
          </p:nvGrpSpPr>
          <p:grpSpPr>
            <a:xfrm>
              <a:off x="430213" y="1601273"/>
              <a:ext cx="4594900" cy="546155"/>
              <a:chOff x="722008" y="1303131"/>
              <a:chExt cx="4387344" cy="521484"/>
            </a:xfrm>
          </p:grpSpPr>
          <p:sp>
            <p:nvSpPr>
              <p:cNvPr id="5" name="流程图: 手动输入 6">
                <a:extLst>
                  <a:ext uri="{FF2B5EF4-FFF2-40B4-BE49-F238E27FC236}">
                    <a16:creationId xmlns:a16="http://schemas.microsoft.com/office/drawing/2014/main" id="{30D5C9D2-56B3-3DA6-FA62-C9091BE36F62}"/>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6" name="组合 5">
                <a:extLst>
                  <a:ext uri="{FF2B5EF4-FFF2-40B4-BE49-F238E27FC236}">
                    <a16:creationId xmlns:a16="http://schemas.microsoft.com/office/drawing/2014/main" id="{5200A8F6-3837-11D7-0356-CA4C56D9C750}"/>
                  </a:ext>
                </a:extLst>
              </p:cNvPr>
              <p:cNvGrpSpPr/>
              <p:nvPr/>
            </p:nvGrpSpPr>
            <p:grpSpPr>
              <a:xfrm>
                <a:off x="722008" y="1303131"/>
                <a:ext cx="546594" cy="475865"/>
                <a:chOff x="708742" y="1296102"/>
                <a:chExt cx="454744" cy="283828"/>
              </a:xfrm>
            </p:grpSpPr>
            <p:sp>
              <p:nvSpPr>
                <p:cNvPr id="8" name="平行四边形 7">
                  <a:extLst>
                    <a:ext uri="{FF2B5EF4-FFF2-40B4-BE49-F238E27FC236}">
                      <a16:creationId xmlns:a16="http://schemas.microsoft.com/office/drawing/2014/main" id="{B64C7A6C-6C04-DC56-E00E-BD609BF70B26}"/>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9" name="平行四边形 8">
                  <a:extLst>
                    <a:ext uri="{FF2B5EF4-FFF2-40B4-BE49-F238E27FC236}">
                      <a16:creationId xmlns:a16="http://schemas.microsoft.com/office/drawing/2014/main" id="{E75556F8-464D-DD1A-B2C8-7CA522604A14}"/>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7" name="Text Box 79">
                <a:extLst>
                  <a:ext uri="{FF2B5EF4-FFF2-40B4-BE49-F238E27FC236}">
                    <a16:creationId xmlns:a16="http://schemas.microsoft.com/office/drawing/2014/main" id="{126E958B-37A7-2007-7728-D6157E261754}"/>
                  </a:ext>
                </a:extLst>
              </p:cNvPr>
              <p:cNvSpPr txBox="1">
                <a:spLocks noChangeArrowheads="1"/>
              </p:cNvSpPr>
              <p:nvPr/>
            </p:nvSpPr>
            <p:spPr bwMode="auto">
              <a:xfrm>
                <a:off x="1172744" y="1354417"/>
                <a:ext cx="3936608"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BBR</a:t>
                </a:r>
                <a:r>
                  <a:rPr kumimoji="1" lang="zh-CN" altLang="en-US" sz="2600" dirty="0">
                    <a:solidFill>
                      <a:schemeClr val="tx1">
                        <a:lumMod val="85000"/>
                        <a:lumOff val="15000"/>
                      </a:schemeClr>
                    </a:solidFill>
                    <a:ea typeface="思源黑体 CN Medium" panose="020B0600000000000000" pitchFamily="34" charset="-122"/>
                  </a:rPr>
                  <a:t>算法的性能分析</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10" name="文本框 9">
            <a:extLst>
              <a:ext uri="{FF2B5EF4-FFF2-40B4-BE49-F238E27FC236}">
                <a16:creationId xmlns:a16="http://schemas.microsoft.com/office/drawing/2014/main" id="{5915A942-45EC-C94F-BD5A-B3EAB8ADB352}"/>
              </a:ext>
            </a:extLst>
          </p:cNvPr>
          <p:cNvSpPr txBox="1"/>
          <p:nvPr/>
        </p:nvSpPr>
        <p:spPr>
          <a:xfrm>
            <a:off x="470262" y="1911380"/>
            <a:ext cx="9547042" cy="4458400"/>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性能优势：</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高带宽利用率：准确估计瓶颈带宽，不盲目增加窗口</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低延迟：避免拥塞窗口过大造成排队时延</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对非拥塞丢包更鲁棒（如无线网络环境）</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挑战与局限：</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与传统基于丢包的 </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TCP</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（如 </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Reno</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CUBIC</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a:t>
            </a:r>
            <a:r>
              <a:rPr kumimoji="1" lang="zh-CN" altLang="en-US" sz="240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存在公平性问题</a:t>
            </a:r>
            <a:endParaRPr kumimoji="1" lang="en-US" altLang="zh-CN" sz="240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对 </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RTT </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抖动敏感 → </a:t>
            </a:r>
            <a:r>
              <a:rPr kumimoji="1" lang="zh-CN" altLang="en-US" sz="240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在不稳定网络中可能不稳定</a:t>
            </a:r>
            <a:endParaRPr kumimoji="1" lang="en-US" altLang="zh-CN" sz="240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若网络路径频繁变化，估计不准影响性能</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p:txBody>
      </p:sp>
      <p:sp>
        <p:nvSpPr>
          <p:cNvPr id="13" name="对角圆角矩形 5">
            <a:extLst>
              <a:ext uri="{FF2B5EF4-FFF2-40B4-BE49-F238E27FC236}">
                <a16:creationId xmlns:a16="http://schemas.microsoft.com/office/drawing/2014/main" id="{480EE85F-B957-13F1-E4C0-E39F61C59312}"/>
              </a:ext>
            </a:extLst>
          </p:cNvPr>
          <p:cNvSpPr/>
          <p:nvPr/>
        </p:nvSpPr>
        <p:spPr>
          <a:xfrm>
            <a:off x="7123633" y="5716652"/>
            <a:ext cx="4945661" cy="994365"/>
          </a:xfrm>
          <a:prstGeom prst="round2DiagRect">
            <a:avLst/>
          </a:prstGeom>
          <a:solidFill>
            <a:srgbClr val="0098F6"/>
          </a:solidFill>
          <a:ln w="25400" cap="flat" cmpd="sng" algn="ctr">
            <a:noFill/>
            <a:prstDash val="solid"/>
          </a:ln>
          <a:effectLst/>
          <a:scene3d>
            <a:camera prst="orthographicFront">
              <a:rot lat="0" lon="0" rev="0"/>
            </a:camera>
            <a:lightRig rig="glow" dir="t">
              <a:rot lat="0" lon="0" rev="14100000"/>
            </a:lightRig>
          </a:scene3d>
          <a:sp3d prstMaterial="softEdge">
            <a:bevelT w="127000" prst="artDeco"/>
          </a:sp3d>
        </p:spPr>
        <p:txBody>
          <a:bodyPr rtlCol="0" anchor="ctr"/>
          <a:lstStyle/>
          <a:p>
            <a:pPr lvl="0" algn="ctr">
              <a:defRPr/>
            </a:pPr>
            <a:r>
              <a:rPr lang="zh-CN" altLang="en-US" sz="2000" kern="0" dirty="0">
                <a:solidFill>
                  <a:srgbClr val="FF0000"/>
                </a:solidFill>
                <a:latin typeface="微软雅黑" panose="020B0503020204020204" pitchFamily="34" charset="-122"/>
                <a:ea typeface="微软雅黑" panose="020B0503020204020204" pitchFamily="34" charset="-122"/>
              </a:rPr>
              <a:t>适用场景</a:t>
            </a:r>
            <a:r>
              <a:rPr lang="zh-CN" altLang="en-US" sz="2000" kern="0" dirty="0">
                <a:solidFill>
                  <a:prstClr val="white"/>
                </a:solidFill>
                <a:latin typeface="微软雅黑" panose="020B0503020204020204" pitchFamily="34" charset="-122"/>
                <a:ea typeface="微软雅黑" panose="020B0503020204020204" pitchFamily="34" charset="-122"/>
              </a:rPr>
              <a:t>：高带宽、低丢包、对延迟敏感的网络（如视频、实时传输）</a:t>
            </a:r>
          </a:p>
        </p:txBody>
      </p:sp>
      <p:sp>
        <p:nvSpPr>
          <p:cNvPr id="11" name="灯片编号占位符 10">
            <a:extLst>
              <a:ext uri="{FF2B5EF4-FFF2-40B4-BE49-F238E27FC236}">
                <a16:creationId xmlns:a16="http://schemas.microsoft.com/office/drawing/2014/main" id="{69638BB0-88BE-4A06-AC5C-C273877886B2}"/>
              </a:ext>
            </a:extLst>
          </p:cNvPr>
          <p:cNvSpPr>
            <a:spLocks noGrp="1"/>
          </p:cNvSpPr>
          <p:nvPr>
            <p:ph type="sldNum" sz="quarter" idx="12"/>
          </p:nvPr>
        </p:nvSpPr>
        <p:spPr/>
        <p:txBody>
          <a:bodyPr/>
          <a:lstStyle/>
          <a:p>
            <a:fld id="{5956A083-5018-4B52-82A0-83241B8E3D94}" type="slidenum">
              <a:rPr lang="zh-CN" altLang="en-US" smtClean="0"/>
              <a:t>91</a:t>
            </a:fld>
            <a:endParaRPr lang="zh-CN" altLang="en-US"/>
          </a:p>
        </p:txBody>
      </p:sp>
    </p:spTree>
    <p:extLst>
      <p:ext uri="{BB962C8B-B14F-4D97-AF65-F5344CB8AC3E}">
        <p14:creationId xmlns:p14="http://schemas.microsoft.com/office/powerpoint/2010/main" val="2112682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85D13-AB81-66DC-C663-3D50C71810C6}"/>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32EBE2AA-03AE-92A9-1C72-E139EDF898FE}"/>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19B1141D-D6F6-6195-FAF4-6CBB9BE70759}"/>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82F102BB-3B29-5714-058D-4980580FC90C}"/>
                  </a:ext>
                </a:extLst>
              </p:cNvPr>
              <p:cNvSpPr/>
              <p:nvPr/>
            </p:nvSpPr>
            <p:spPr>
              <a:xfrm>
                <a:off x="1839060" y="967769"/>
                <a:ext cx="6265206"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03B1D72F-2ED6-30B4-BB1B-B8BFA55F14C6}"/>
                  </a:ext>
                </a:extLst>
              </p:cNvPr>
              <p:cNvSpPr txBox="1"/>
              <p:nvPr/>
            </p:nvSpPr>
            <p:spPr>
              <a:xfrm>
                <a:off x="2597179" y="1053620"/>
                <a:ext cx="5613471" cy="523220"/>
              </a:xfrm>
              <a:prstGeom prst="rect">
                <a:avLst/>
              </a:prstGeom>
              <a:noFill/>
            </p:spPr>
            <p:txBody>
              <a:bodyPr wrap="square" rtlCol="0">
                <a:spAutoFit/>
              </a:bodyPr>
              <a:lstStyle/>
              <a:p>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数据中心网络中的拥塞控制方法</a:t>
                </a:r>
              </a:p>
            </p:txBody>
          </p:sp>
        </p:grpSp>
        <p:pic>
          <p:nvPicPr>
            <p:cNvPr id="46" name="图片 45">
              <a:extLst>
                <a:ext uri="{FF2B5EF4-FFF2-40B4-BE49-F238E27FC236}">
                  <a16:creationId xmlns:a16="http://schemas.microsoft.com/office/drawing/2014/main" id="{B7B61C81-7D63-B33F-8FF8-2B9E6923E8D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pSp>
        <p:nvGrpSpPr>
          <p:cNvPr id="2" name="组合 1">
            <a:extLst>
              <a:ext uri="{FF2B5EF4-FFF2-40B4-BE49-F238E27FC236}">
                <a16:creationId xmlns:a16="http://schemas.microsoft.com/office/drawing/2014/main" id="{B5844A59-59DA-8B6E-8E11-C104943E6E75}"/>
              </a:ext>
            </a:extLst>
          </p:cNvPr>
          <p:cNvGrpSpPr/>
          <p:nvPr/>
        </p:nvGrpSpPr>
        <p:grpSpPr>
          <a:xfrm>
            <a:off x="470262" y="1318774"/>
            <a:ext cx="5478476" cy="546155"/>
            <a:chOff x="430213" y="1601273"/>
            <a:chExt cx="5478476" cy="546155"/>
          </a:xfrm>
        </p:grpSpPr>
        <p:sp>
          <p:nvSpPr>
            <p:cNvPr id="3" name="流程图: 手动输入 6">
              <a:extLst>
                <a:ext uri="{FF2B5EF4-FFF2-40B4-BE49-F238E27FC236}">
                  <a16:creationId xmlns:a16="http://schemas.microsoft.com/office/drawing/2014/main" id="{75F4820C-68A3-11DD-5234-E9A08514D528}"/>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4" name="组合 3">
              <a:extLst>
                <a:ext uri="{FF2B5EF4-FFF2-40B4-BE49-F238E27FC236}">
                  <a16:creationId xmlns:a16="http://schemas.microsoft.com/office/drawing/2014/main" id="{4F35009A-EBEF-7DBC-FA8B-2618655621F6}"/>
                </a:ext>
              </a:extLst>
            </p:cNvPr>
            <p:cNvGrpSpPr/>
            <p:nvPr/>
          </p:nvGrpSpPr>
          <p:grpSpPr>
            <a:xfrm>
              <a:off x="430213" y="1601273"/>
              <a:ext cx="5478476" cy="546155"/>
              <a:chOff x="722008" y="1303131"/>
              <a:chExt cx="5231008" cy="521484"/>
            </a:xfrm>
          </p:grpSpPr>
          <p:sp>
            <p:nvSpPr>
              <p:cNvPr id="5" name="流程图: 手动输入 6">
                <a:extLst>
                  <a:ext uri="{FF2B5EF4-FFF2-40B4-BE49-F238E27FC236}">
                    <a16:creationId xmlns:a16="http://schemas.microsoft.com/office/drawing/2014/main" id="{CD40A59A-639B-34AD-77A5-605257A3C53A}"/>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6" name="组合 5">
                <a:extLst>
                  <a:ext uri="{FF2B5EF4-FFF2-40B4-BE49-F238E27FC236}">
                    <a16:creationId xmlns:a16="http://schemas.microsoft.com/office/drawing/2014/main" id="{FCAD520B-39C1-D1C6-ED2C-A8DA2B8626D3}"/>
                  </a:ext>
                </a:extLst>
              </p:cNvPr>
              <p:cNvGrpSpPr/>
              <p:nvPr/>
            </p:nvGrpSpPr>
            <p:grpSpPr>
              <a:xfrm>
                <a:off x="722008" y="1303131"/>
                <a:ext cx="546594" cy="475865"/>
                <a:chOff x="708742" y="1296102"/>
                <a:chExt cx="454744" cy="283828"/>
              </a:xfrm>
            </p:grpSpPr>
            <p:sp>
              <p:nvSpPr>
                <p:cNvPr id="8" name="平行四边形 7">
                  <a:extLst>
                    <a:ext uri="{FF2B5EF4-FFF2-40B4-BE49-F238E27FC236}">
                      <a16:creationId xmlns:a16="http://schemas.microsoft.com/office/drawing/2014/main" id="{4AF3F44D-8DD3-0C06-9642-4E0FF873CFA5}"/>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9" name="平行四边形 8">
                  <a:extLst>
                    <a:ext uri="{FF2B5EF4-FFF2-40B4-BE49-F238E27FC236}">
                      <a16:creationId xmlns:a16="http://schemas.microsoft.com/office/drawing/2014/main" id="{77FB4559-02F9-3984-F93C-9FFC0FCDBC5B}"/>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7" name="Text Box 79">
                <a:extLst>
                  <a:ext uri="{FF2B5EF4-FFF2-40B4-BE49-F238E27FC236}">
                    <a16:creationId xmlns:a16="http://schemas.microsoft.com/office/drawing/2014/main" id="{6FBBC24F-95F0-79A6-BA1B-F633D82A9ED7}"/>
                  </a:ext>
                </a:extLst>
              </p:cNvPr>
              <p:cNvSpPr txBox="1">
                <a:spLocks noChangeArrowheads="1"/>
              </p:cNvSpPr>
              <p:nvPr/>
            </p:nvSpPr>
            <p:spPr bwMode="auto">
              <a:xfrm>
                <a:off x="1172744" y="1354417"/>
                <a:ext cx="4780272"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ea typeface="思源黑体 CN Medium" panose="020B0600000000000000" pitchFamily="34" charset="-122"/>
                  </a:rPr>
                  <a:t>数据中心中的数据流类型及特性</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10" name="文本框 9">
            <a:extLst>
              <a:ext uri="{FF2B5EF4-FFF2-40B4-BE49-F238E27FC236}">
                <a16:creationId xmlns:a16="http://schemas.microsoft.com/office/drawing/2014/main" id="{D11213C5-7496-CFD9-548A-165829BBFD13}"/>
              </a:ext>
            </a:extLst>
          </p:cNvPr>
          <p:cNvSpPr txBox="1"/>
          <p:nvPr/>
        </p:nvSpPr>
        <p:spPr>
          <a:xfrm>
            <a:off x="470262" y="1911380"/>
            <a:ext cx="9547042" cy="4654095"/>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查询流（</a:t>
            </a:r>
            <a:r>
              <a:rPr kumimoji="1" lang="en-US" altLang="zh-CN" sz="2000" b="1"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Query Flows</a:t>
            </a:r>
            <a:r>
              <a:rPr kumimoji="1"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a:t>
            </a:r>
            <a:endParaRPr kumimoji="1" lang="en-US" altLang="zh-CN" sz="2000" b="1"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多为小流量、延迟敏感</a:t>
            </a:r>
            <a:endParaRPr kumimoji="1"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典型场景：在线搜索、分布式数据库查询</a:t>
            </a:r>
            <a:endParaRPr kumimoji="1"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要求：低延迟、高响应速度</a:t>
            </a:r>
            <a:endParaRPr kumimoji="1"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短流（</a:t>
            </a:r>
            <a:r>
              <a:rPr kumimoji="1" lang="en-US" altLang="zh-CN" sz="2000" b="1"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Short Flows</a:t>
            </a:r>
            <a:r>
              <a:rPr kumimoji="1"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a:t>
            </a:r>
            <a:endParaRPr kumimoji="1" lang="en-US" altLang="zh-CN" sz="2000" b="1"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包含查询流，通常几十 </a:t>
            </a:r>
            <a:r>
              <a:rPr kumimoji="1"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KB </a:t>
            </a:r>
            <a:r>
              <a:rPr kumimoji="1"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到几 </a:t>
            </a:r>
            <a:r>
              <a:rPr kumimoji="1"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MB</a:t>
            </a:r>
          </a:p>
          <a:p>
            <a:pPr marL="914400" lvl="1" indent="-457200">
              <a:lnSpc>
                <a:spcPct val="150000"/>
              </a:lnSpc>
              <a:buClr>
                <a:srgbClr val="1969C2"/>
              </a:buClr>
              <a:buFont typeface="Arial" panose="020B0604020202020204" pitchFamily="34" charset="0"/>
              <a:buChar char="•"/>
              <a:defRPr/>
            </a:pPr>
            <a:r>
              <a:rPr kumimoji="1"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多数短流需“抢占先发”</a:t>
            </a:r>
            <a:endParaRPr kumimoji="1"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长流（</a:t>
            </a:r>
            <a:r>
              <a:rPr kumimoji="1" lang="en-US" altLang="zh-CN" sz="2000" b="1"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Long Flows</a:t>
            </a:r>
            <a:r>
              <a:rPr kumimoji="1"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a:t>
            </a:r>
            <a:endParaRPr kumimoji="1" lang="en-US" altLang="zh-CN" sz="2000" b="1"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800100" lvl="1" indent="-342900">
              <a:lnSpc>
                <a:spcPct val="150000"/>
              </a:lnSpc>
              <a:buClr>
                <a:srgbClr val="1969C2"/>
              </a:buClr>
              <a:buFont typeface="Arial" panose="020B0604020202020204" pitchFamily="34" charset="0"/>
              <a:buChar char="•"/>
              <a:defRPr/>
            </a:pPr>
            <a:r>
              <a:rPr kumimoji="1"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体量大、持续时间长，如数据备份、分布式训练</a:t>
            </a:r>
            <a:endParaRPr kumimoji="1"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800100" lvl="1" indent="-342900">
              <a:lnSpc>
                <a:spcPct val="150000"/>
              </a:lnSpc>
              <a:buClr>
                <a:srgbClr val="1969C2"/>
              </a:buClr>
              <a:buFont typeface="Arial" panose="020B0604020202020204" pitchFamily="34" charset="0"/>
              <a:buChar char="•"/>
              <a:defRPr/>
            </a:pPr>
            <a:r>
              <a:rPr kumimoji="1"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要求：高吞吐率</a:t>
            </a:r>
            <a:endParaRPr kumimoji="1"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p:txBody>
      </p:sp>
      <p:sp>
        <p:nvSpPr>
          <p:cNvPr id="11" name="灯片编号占位符 10">
            <a:extLst>
              <a:ext uri="{FF2B5EF4-FFF2-40B4-BE49-F238E27FC236}">
                <a16:creationId xmlns:a16="http://schemas.microsoft.com/office/drawing/2014/main" id="{8989322E-3262-4AFA-A609-13A9D2D22641}"/>
              </a:ext>
            </a:extLst>
          </p:cNvPr>
          <p:cNvSpPr>
            <a:spLocks noGrp="1"/>
          </p:cNvSpPr>
          <p:nvPr>
            <p:ph type="sldNum" sz="quarter" idx="12"/>
          </p:nvPr>
        </p:nvSpPr>
        <p:spPr/>
        <p:txBody>
          <a:bodyPr/>
          <a:lstStyle/>
          <a:p>
            <a:fld id="{5956A083-5018-4B52-82A0-83241B8E3D94}" type="slidenum">
              <a:rPr lang="zh-CN" altLang="en-US" smtClean="0"/>
              <a:t>92</a:t>
            </a:fld>
            <a:endParaRPr lang="zh-CN" altLang="en-US"/>
          </a:p>
        </p:txBody>
      </p:sp>
    </p:spTree>
    <p:extLst>
      <p:ext uri="{BB962C8B-B14F-4D97-AF65-F5344CB8AC3E}">
        <p14:creationId xmlns:p14="http://schemas.microsoft.com/office/powerpoint/2010/main" val="51010794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17366-3D28-FD71-AE49-5E482849BB49}"/>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D8E1A349-114B-469F-5742-293C8CEEB18A}"/>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00B794B4-19D0-1CBB-B6AD-79D53EA72C49}"/>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B3BC1EF1-BF3C-ED8E-450F-66D65AB0073C}"/>
                  </a:ext>
                </a:extLst>
              </p:cNvPr>
              <p:cNvSpPr/>
              <p:nvPr/>
            </p:nvSpPr>
            <p:spPr>
              <a:xfrm>
                <a:off x="1839060" y="967769"/>
                <a:ext cx="6265206"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65637D26-D82D-B5D3-3810-62D6578FD65C}"/>
                  </a:ext>
                </a:extLst>
              </p:cNvPr>
              <p:cNvSpPr txBox="1"/>
              <p:nvPr/>
            </p:nvSpPr>
            <p:spPr>
              <a:xfrm>
                <a:off x="2597179" y="1053620"/>
                <a:ext cx="5613471" cy="523220"/>
              </a:xfrm>
              <a:prstGeom prst="rect">
                <a:avLst/>
              </a:prstGeom>
              <a:noFill/>
            </p:spPr>
            <p:txBody>
              <a:bodyPr wrap="square" rtlCol="0">
                <a:spAutoFit/>
              </a:bodyPr>
              <a:lstStyle/>
              <a:p>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数据中心网络中的拥塞控制方法</a:t>
                </a:r>
              </a:p>
            </p:txBody>
          </p:sp>
        </p:grpSp>
        <p:pic>
          <p:nvPicPr>
            <p:cNvPr id="46" name="图片 45">
              <a:extLst>
                <a:ext uri="{FF2B5EF4-FFF2-40B4-BE49-F238E27FC236}">
                  <a16:creationId xmlns:a16="http://schemas.microsoft.com/office/drawing/2014/main" id="{3B041257-813F-DA85-4DF7-86C7E5058D8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pSp>
        <p:nvGrpSpPr>
          <p:cNvPr id="2" name="组合 1">
            <a:extLst>
              <a:ext uri="{FF2B5EF4-FFF2-40B4-BE49-F238E27FC236}">
                <a16:creationId xmlns:a16="http://schemas.microsoft.com/office/drawing/2014/main" id="{A9B6157A-65E9-C9DA-DDEA-7450FBD8CBA1}"/>
              </a:ext>
            </a:extLst>
          </p:cNvPr>
          <p:cNvGrpSpPr/>
          <p:nvPr/>
        </p:nvGrpSpPr>
        <p:grpSpPr>
          <a:xfrm>
            <a:off x="470262" y="1318774"/>
            <a:ext cx="5478476" cy="546155"/>
            <a:chOff x="430213" y="1601273"/>
            <a:chExt cx="5478476" cy="546155"/>
          </a:xfrm>
        </p:grpSpPr>
        <p:sp>
          <p:nvSpPr>
            <p:cNvPr id="3" name="流程图: 手动输入 6">
              <a:extLst>
                <a:ext uri="{FF2B5EF4-FFF2-40B4-BE49-F238E27FC236}">
                  <a16:creationId xmlns:a16="http://schemas.microsoft.com/office/drawing/2014/main" id="{09DF80B1-FA73-8949-219D-BA807B0928E4}"/>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4" name="组合 3">
              <a:extLst>
                <a:ext uri="{FF2B5EF4-FFF2-40B4-BE49-F238E27FC236}">
                  <a16:creationId xmlns:a16="http://schemas.microsoft.com/office/drawing/2014/main" id="{7FEA45AF-199F-8E1B-2EA3-50F5CE439B8B}"/>
                </a:ext>
              </a:extLst>
            </p:cNvPr>
            <p:cNvGrpSpPr/>
            <p:nvPr/>
          </p:nvGrpSpPr>
          <p:grpSpPr>
            <a:xfrm>
              <a:off x="430213" y="1601273"/>
              <a:ext cx="5478476" cy="546155"/>
              <a:chOff x="722008" y="1303131"/>
              <a:chExt cx="5231008" cy="521484"/>
            </a:xfrm>
          </p:grpSpPr>
          <p:sp>
            <p:nvSpPr>
              <p:cNvPr id="5" name="流程图: 手动输入 6">
                <a:extLst>
                  <a:ext uri="{FF2B5EF4-FFF2-40B4-BE49-F238E27FC236}">
                    <a16:creationId xmlns:a16="http://schemas.microsoft.com/office/drawing/2014/main" id="{9A77FF58-9B0B-89CC-DE92-B0FD044AF75F}"/>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6" name="组合 5">
                <a:extLst>
                  <a:ext uri="{FF2B5EF4-FFF2-40B4-BE49-F238E27FC236}">
                    <a16:creationId xmlns:a16="http://schemas.microsoft.com/office/drawing/2014/main" id="{80CFA2A8-D350-227E-12A4-25F73DFD1C1F}"/>
                  </a:ext>
                </a:extLst>
              </p:cNvPr>
              <p:cNvGrpSpPr/>
              <p:nvPr/>
            </p:nvGrpSpPr>
            <p:grpSpPr>
              <a:xfrm>
                <a:off x="722008" y="1303131"/>
                <a:ext cx="546594" cy="475865"/>
                <a:chOff x="708742" y="1296102"/>
                <a:chExt cx="454744" cy="283828"/>
              </a:xfrm>
            </p:grpSpPr>
            <p:sp>
              <p:nvSpPr>
                <p:cNvPr id="8" name="平行四边形 7">
                  <a:extLst>
                    <a:ext uri="{FF2B5EF4-FFF2-40B4-BE49-F238E27FC236}">
                      <a16:creationId xmlns:a16="http://schemas.microsoft.com/office/drawing/2014/main" id="{240B2A8C-640D-338C-5068-8CB3D81D51F0}"/>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9" name="平行四边形 8">
                  <a:extLst>
                    <a:ext uri="{FF2B5EF4-FFF2-40B4-BE49-F238E27FC236}">
                      <a16:creationId xmlns:a16="http://schemas.microsoft.com/office/drawing/2014/main" id="{CE4AEBCA-FA46-DD7B-52D7-7EFE99DD6265}"/>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7" name="Text Box 79">
                <a:extLst>
                  <a:ext uri="{FF2B5EF4-FFF2-40B4-BE49-F238E27FC236}">
                    <a16:creationId xmlns:a16="http://schemas.microsoft.com/office/drawing/2014/main" id="{02FB82FE-4A82-B2A7-DA63-9DBE67126659}"/>
                  </a:ext>
                </a:extLst>
              </p:cNvPr>
              <p:cNvSpPr txBox="1">
                <a:spLocks noChangeArrowheads="1"/>
              </p:cNvSpPr>
              <p:nvPr/>
            </p:nvSpPr>
            <p:spPr bwMode="auto">
              <a:xfrm>
                <a:off x="1172744" y="1354417"/>
                <a:ext cx="4780272"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600" dirty="0">
                    <a:solidFill>
                      <a:schemeClr val="tx1">
                        <a:lumMod val="85000"/>
                        <a:lumOff val="15000"/>
                      </a:schemeClr>
                    </a:solidFill>
                    <a:ea typeface="思源黑体 CN Medium" panose="020B0600000000000000" pitchFamily="34" charset="-122"/>
                  </a:rPr>
                  <a:t>数据中心中拥塞的特点</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10" name="文本框 9">
            <a:extLst>
              <a:ext uri="{FF2B5EF4-FFF2-40B4-BE49-F238E27FC236}">
                <a16:creationId xmlns:a16="http://schemas.microsoft.com/office/drawing/2014/main" id="{EF9D548B-D56C-C139-6CC8-7A960F09E0AB}"/>
              </a:ext>
            </a:extLst>
          </p:cNvPr>
          <p:cNvSpPr txBox="1"/>
          <p:nvPr/>
        </p:nvSpPr>
        <p:spPr>
          <a:xfrm>
            <a:off x="470262" y="2075577"/>
            <a:ext cx="9547042" cy="3350341"/>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链路传输速率高（</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10G/25G/100G</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RTT </a:t>
            </a: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极小</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&lt;1ms</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拥塞传播速度快 → 拥塞瞬间形成</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拥塞多由</a:t>
            </a: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瞬时突发流量</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引起（同步请求、任务分发）</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Ø"/>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挑战一：传统</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TCP</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对</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RTT</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变化不敏感，反应慢</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Ø"/>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挑战二：传统基于丢包的控制机制易导致</a:t>
            </a: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队列积压、尾部丢包</a:t>
            </a:r>
            <a:endParaRPr kumimoji="1"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endParaRPr>
          </a:p>
        </p:txBody>
      </p:sp>
      <p:sp>
        <p:nvSpPr>
          <p:cNvPr id="11" name="灯片编号占位符 10">
            <a:extLst>
              <a:ext uri="{FF2B5EF4-FFF2-40B4-BE49-F238E27FC236}">
                <a16:creationId xmlns:a16="http://schemas.microsoft.com/office/drawing/2014/main" id="{CDB09667-4A49-417E-BEC6-715A4CBAC94B}"/>
              </a:ext>
            </a:extLst>
          </p:cNvPr>
          <p:cNvSpPr>
            <a:spLocks noGrp="1"/>
          </p:cNvSpPr>
          <p:nvPr>
            <p:ph type="sldNum" sz="quarter" idx="12"/>
          </p:nvPr>
        </p:nvSpPr>
        <p:spPr/>
        <p:txBody>
          <a:bodyPr/>
          <a:lstStyle/>
          <a:p>
            <a:fld id="{5956A083-5018-4B52-82A0-83241B8E3D94}" type="slidenum">
              <a:rPr lang="zh-CN" altLang="en-US" smtClean="0"/>
              <a:t>93</a:t>
            </a:fld>
            <a:endParaRPr lang="zh-CN" altLang="en-US"/>
          </a:p>
        </p:txBody>
      </p:sp>
    </p:spTree>
    <p:extLst>
      <p:ext uri="{BB962C8B-B14F-4D97-AF65-F5344CB8AC3E}">
        <p14:creationId xmlns:p14="http://schemas.microsoft.com/office/powerpoint/2010/main" val="2844256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09F89-48ED-0BCD-6429-E1C6DFB99B78}"/>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4BA34F7E-5094-0D28-FDE2-F62D4DEF0F0E}"/>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B34E80CF-BFEB-34F1-B379-020F5A609A03}"/>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8FEE1A74-FD01-2F9E-EE4D-BFA89A8E5D01}"/>
                  </a:ext>
                </a:extLst>
              </p:cNvPr>
              <p:cNvSpPr/>
              <p:nvPr/>
            </p:nvSpPr>
            <p:spPr>
              <a:xfrm>
                <a:off x="1839060" y="967769"/>
                <a:ext cx="6265206"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23ECD4EE-1DAB-F040-6E75-AD6FAEA57B87}"/>
                  </a:ext>
                </a:extLst>
              </p:cNvPr>
              <p:cNvSpPr txBox="1"/>
              <p:nvPr/>
            </p:nvSpPr>
            <p:spPr>
              <a:xfrm>
                <a:off x="2597179" y="1053620"/>
                <a:ext cx="5613471" cy="523220"/>
              </a:xfrm>
              <a:prstGeom prst="rect">
                <a:avLst/>
              </a:prstGeom>
              <a:noFill/>
            </p:spPr>
            <p:txBody>
              <a:bodyPr wrap="square" rtlCol="0">
                <a:spAutoFit/>
              </a:bodyPr>
              <a:lstStyle/>
              <a:p>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数据中心网络中的拥塞控制方法</a:t>
                </a:r>
              </a:p>
            </p:txBody>
          </p:sp>
        </p:grpSp>
        <p:pic>
          <p:nvPicPr>
            <p:cNvPr id="46" name="图片 45">
              <a:extLst>
                <a:ext uri="{FF2B5EF4-FFF2-40B4-BE49-F238E27FC236}">
                  <a16:creationId xmlns:a16="http://schemas.microsoft.com/office/drawing/2014/main" id="{B9C8C4FD-ECF6-2559-342B-06A46B8420E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pSp>
        <p:nvGrpSpPr>
          <p:cNvPr id="2" name="组合 1">
            <a:extLst>
              <a:ext uri="{FF2B5EF4-FFF2-40B4-BE49-F238E27FC236}">
                <a16:creationId xmlns:a16="http://schemas.microsoft.com/office/drawing/2014/main" id="{53A8944C-6DA2-E6E1-30DC-AF6466EB32DC}"/>
              </a:ext>
            </a:extLst>
          </p:cNvPr>
          <p:cNvGrpSpPr/>
          <p:nvPr/>
        </p:nvGrpSpPr>
        <p:grpSpPr>
          <a:xfrm>
            <a:off x="470262" y="1318774"/>
            <a:ext cx="8550448" cy="546155"/>
            <a:chOff x="430213" y="1601273"/>
            <a:chExt cx="8550448" cy="546155"/>
          </a:xfrm>
        </p:grpSpPr>
        <p:sp>
          <p:nvSpPr>
            <p:cNvPr id="3" name="流程图: 手动输入 6">
              <a:extLst>
                <a:ext uri="{FF2B5EF4-FFF2-40B4-BE49-F238E27FC236}">
                  <a16:creationId xmlns:a16="http://schemas.microsoft.com/office/drawing/2014/main" id="{5A260C14-82B0-718D-2263-A5F0F3210C68}"/>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4" name="组合 3">
              <a:extLst>
                <a:ext uri="{FF2B5EF4-FFF2-40B4-BE49-F238E27FC236}">
                  <a16:creationId xmlns:a16="http://schemas.microsoft.com/office/drawing/2014/main" id="{C57D17B7-C45E-685D-CD1B-A85B2C2E61A8}"/>
                </a:ext>
              </a:extLst>
            </p:cNvPr>
            <p:cNvGrpSpPr/>
            <p:nvPr/>
          </p:nvGrpSpPr>
          <p:grpSpPr>
            <a:xfrm>
              <a:off x="430213" y="1601273"/>
              <a:ext cx="8550448" cy="546155"/>
              <a:chOff x="722008" y="1303131"/>
              <a:chExt cx="8164216" cy="521484"/>
            </a:xfrm>
          </p:grpSpPr>
          <p:sp>
            <p:nvSpPr>
              <p:cNvPr id="5" name="流程图: 手动输入 6">
                <a:extLst>
                  <a:ext uri="{FF2B5EF4-FFF2-40B4-BE49-F238E27FC236}">
                    <a16:creationId xmlns:a16="http://schemas.microsoft.com/office/drawing/2014/main" id="{B3B54CE1-48D4-6088-DF31-F0203D93E5DC}"/>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6" name="组合 5">
                <a:extLst>
                  <a:ext uri="{FF2B5EF4-FFF2-40B4-BE49-F238E27FC236}">
                    <a16:creationId xmlns:a16="http://schemas.microsoft.com/office/drawing/2014/main" id="{FC0E3D18-7C62-A46B-3708-4C716AE6DB0B}"/>
                  </a:ext>
                </a:extLst>
              </p:cNvPr>
              <p:cNvGrpSpPr/>
              <p:nvPr/>
            </p:nvGrpSpPr>
            <p:grpSpPr>
              <a:xfrm>
                <a:off x="722008" y="1303131"/>
                <a:ext cx="546594" cy="475865"/>
                <a:chOff x="708742" y="1296102"/>
                <a:chExt cx="454744" cy="283828"/>
              </a:xfrm>
            </p:grpSpPr>
            <p:sp>
              <p:nvSpPr>
                <p:cNvPr id="8" name="平行四边形 7">
                  <a:extLst>
                    <a:ext uri="{FF2B5EF4-FFF2-40B4-BE49-F238E27FC236}">
                      <a16:creationId xmlns:a16="http://schemas.microsoft.com/office/drawing/2014/main" id="{17C6E5CE-1029-79C9-C825-42DCDD289CDA}"/>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9" name="平行四边形 8">
                  <a:extLst>
                    <a:ext uri="{FF2B5EF4-FFF2-40B4-BE49-F238E27FC236}">
                      <a16:creationId xmlns:a16="http://schemas.microsoft.com/office/drawing/2014/main" id="{1D98E538-8A77-E2B4-4C15-1EBCFDFBDF96}"/>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7" name="Text Box 79">
                <a:extLst>
                  <a:ext uri="{FF2B5EF4-FFF2-40B4-BE49-F238E27FC236}">
                    <a16:creationId xmlns:a16="http://schemas.microsoft.com/office/drawing/2014/main" id="{717D790F-480C-89CF-C1D8-65D491E01391}"/>
                  </a:ext>
                </a:extLst>
              </p:cNvPr>
              <p:cNvSpPr txBox="1">
                <a:spLocks noChangeArrowheads="1"/>
              </p:cNvSpPr>
              <p:nvPr/>
            </p:nvSpPr>
            <p:spPr bwMode="auto">
              <a:xfrm>
                <a:off x="1172744" y="1354417"/>
                <a:ext cx="7713480"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DCTCP</a:t>
                </a:r>
                <a:r>
                  <a:rPr kumimoji="1" lang="zh-CN" altLang="en-US" sz="2600" dirty="0">
                    <a:solidFill>
                      <a:schemeClr val="tx1">
                        <a:lumMod val="85000"/>
                        <a:lumOff val="15000"/>
                      </a:schemeClr>
                    </a:solidFill>
                    <a:ea typeface="思源黑体 CN Medium" panose="020B0600000000000000" pitchFamily="34" charset="-122"/>
                  </a:rPr>
                  <a:t>（</a:t>
                </a:r>
                <a:r>
                  <a:rPr kumimoji="1" lang="en-US" altLang="zh-CN" sz="2600" dirty="0">
                    <a:solidFill>
                      <a:schemeClr val="tx1">
                        <a:lumMod val="85000"/>
                        <a:lumOff val="15000"/>
                      </a:schemeClr>
                    </a:solidFill>
                    <a:ea typeface="思源黑体 CN Medium" panose="020B0600000000000000" pitchFamily="34" charset="-122"/>
                  </a:rPr>
                  <a:t>Data Center TCP</a:t>
                </a:r>
                <a:r>
                  <a:rPr kumimoji="1" lang="zh-CN" altLang="en-US" sz="2600" dirty="0">
                    <a:solidFill>
                      <a:schemeClr val="tx1">
                        <a:lumMod val="85000"/>
                        <a:lumOff val="15000"/>
                      </a:schemeClr>
                    </a:solidFill>
                    <a:ea typeface="思源黑体 CN Medium" panose="020B0600000000000000" pitchFamily="34" charset="-122"/>
                  </a:rPr>
                  <a:t>）</a:t>
                </a:r>
                <a:r>
                  <a:rPr kumimoji="1" lang="en-US" altLang="zh-CN" sz="2600" dirty="0">
                    <a:solidFill>
                      <a:schemeClr val="tx1">
                        <a:lumMod val="85000"/>
                        <a:lumOff val="15000"/>
                      </a:schemeClr>
                    </a:solidFill>
                    <a:ea typeface="思源黑体 CN Medium" panose="020B0600000000000000" pitchFamily="34" charset="-122"/>
                  </a:rPr>
                  <a:t> </a:t>
                </a:r>
                <a:r>
                  <a:rPr kumimoji="1" lang="zh-CN" altLang="en-US" sz="2600" dirty="0">
                    <a:solidFill>
                      <a:schemeClr val="tx1">
                        <a:lumMod val="85000"/>
                        <a:lumOff val="15000"/>
                      </a:schemeClr>
                    </a:solidFill>
                    <a:ea typeface="思源黑体 CN Medium" panose="020B0600000000000000" pitchFamily="34" charset="-122"/>
                  </a:rPr>
                  <a:t>拥塞控制机制原理</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10" name="文本框 9">
            <a:extLst>
              <a:ext uri="{FF2B5EF4-FFF2-40B4-BE49-F238E27FC236}">
                <a16:creationId xmlns:a16="http://schemas.microsoft.com/office/drawing/2014/main" id="{B3C98428-C453-73B4-BA76-BE2B1C9F4F04}"/>
              </a:ext>
            </a:extLst>
          </p:cNvPr>
          <p:cNvSpPr txBox="1"/>
          <p:nvPr/>
        </p:nvSpPr>
        <p:spPr>
          <a:xfrm>
            <a:off x="470262" y="2075577"/>
            <a:ext cx="10882682" cy="3350404"/>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基于 </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ECN</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Explicit Congestion Notification</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）机制</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800100" lvl="1" indent="-3429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交换机检测到</a:t>
            </a: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轻微拥塞</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即打标（标记而非丢包）</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发送端根据反馈标记比例调节窗口</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800100" lvl="1" indent="-3429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调整规则更平滑：</a:t>
            </a:r>
            <a:r>
              <a:rPr kumimoji="1" lang="en-US" altLang="zh-CN" sz="2400" b="0" i="0" u="none" strike="noStrike" kern="1200" cap="none" spc="0" normalizeH="0" baseline="0" noProof="0" dirty="0" err="1">
                <a:ln>
                  <a:noFill/>
                </a:ln>
                <a:solidFill>
                  <a:prstClr val="black"/>
                </a:solidFill>
                <a:effectLst/>
                <a:uLnTx/>
                <a:uFillTx/>
                <a:latin typeface="Arial" panose="020B0604020202020204" pitchFamily="34" charset="0"/>
                <a:ea typeface="思源黑体 CN Medium" panose="020B0600000000000000" pitchFamily="34" charset="-122"/>
                <a:cs typeface="+mn-cs"/>
              </a:rPr>
              <a:t>cwnd</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 = </a:t>
            </a:r>
            <a:r>
              <a:rPr kumimoji="1" lang="en-US" altLang="zh-CN" sz="2400" b="0" i="0" u="none" strike="noStrike" kern="1200" cap="none" spc="0" normalizeH="0" baseline="0" noProof="0" dirty="0" err="1">
                <a:ln>
                  <a:noFill/>
                </a:ln>
                <a:solidFill>
                  <a:prstClr val="black"/>
                </a:solidFill>
                <a:effectLst/>
                <a:uLnTx/>
                <a:uFillTx/>
                <a:latin typeface="Arial" panose="020B0604020202020204" pitchFamily="34" charset="0"/>
                <a:ea typeface="思源黑体 CN Medium" panose="020B0600000000000000" pitchFamily="34" charset="-122"/>
                <a:cs typeface="+mn-cs"/>
              </a:rPr>
              <a:t>cwnd</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 × (1 - α/2)</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，其中 </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α </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为 </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ECN </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标记比</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避免缓冲区积压和长队列</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核心思路：通过</a:t>
            </a: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细粒度反馈</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实现精细化窗口调节</a:t>
            </a:r>
            <a:endParaRPr kumimoji="1"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endParaRPr>
          </a:p>
        </p:txBody>
      </p:sp>
      <p:sp>
        <p:nvSpPr>
          <p:cNvPr id="11" name="灯片编号占位符 10">
            <a:extLst>
              <a:ext uri="{FF2B5EF4-FFF2-40B4-BE49-F238E27FC236}">
                <a16:creationId xmlns:a16="http://schemas.microsoft.com/office/drawing/2014/main" id="{1DE418D4-9EF6-404A-9822-376B5718FDCA}"/>
              </a:ext>
            </a:extLst>
          </p:cNvPr>
          <p:cNvSpPr>
            <a:spLocks noGrp="1"/>
          </p:cNvSpPr>
          <p:nvPr>
            <p:ph type="sldNum" sz="quarter" idx="12"/>
          </p:nvPr>
        </p:nvSpPr>
        <p:spPr/>
        <p:txBody>
          <a:bodyPr/>
          <a:lstStyle/>
          <a:p>
            <a:fld id="{5956A083-5018-4B52-82A0-83241B8E3D94}" type="slidenum">
              <a:rPr lang="zh-CN" altLang="en-US" smtClean="0"/>
              <a:t>94</a:t>
            </a:fld>
            <a:endParaRPr lang="zh-CN" altLang="en-US"/>
          </a:p>
        </p:txBody>
      </p:sp>
    </p:spTree>
    <p:extLst>
      <p:ext uri="{BB962C8B-B14F-4D97-AF65-F5344CB8AC3E}">
        <p14:creationId xmlns:p14="http://schemas.microsoft.com/office/powerpoint/2010/main" val="24761448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627B7-559D-5CFD-F1DE-C67344398BC5}"/>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9B3C7530-5FA9-194D-9AEA-C59CF8B41B43}"/>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EF53D187-A0A4-3E0A-2BF2-5B3B7019253A}"/>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919CE1A8-743E-3B20-5416-41840436D166}"/>
                  </a:ext>
                </a:extLst>
              </p:cNvPr>
              <p:cNvSpPr/>
              <p:nvPr/>
            </p:nvSpPr>
            <p:spPr>
              <a:xfrm>
                <a:off x="1839060" y="967769"/>
                <a:ext cx="6265206"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E987461D-768E-04E6-D150-9044DA221A95}"/>
                  </a:ext>
                </a:extLst>
              </p:cNvPr>
              <p:cNvSpPr txBox="1"/>
              <p:nvPr/>
            </p:nvSpPr>
            <p:spPr>
              <a:xfrm>
                <a:off x="2597179" y="1053620"/>
                <a:ext cx="5613471" cy="523220"/>
              </a:xfrm>
              <a:prstGeom prst="rect">
                <a:avLst/>
              </a:prstGeom>
              <a:noFill/>
            </p:spPr>
            <p:txBody>
              <a:bodyPr wrap="square" rtlCol="0">
                <a:spAutoFit/>
              </a:bodyPr>
              <a:lstStyle/>
              <a:p>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数据中心网络中的拥塞控制方法</a:t>
                </a:r>
              </a:p>
            </p:txBody>
          </p:sp>
        </p:grpSp>
        <p:pic>
          <p:nvPicPr>
            <p:cNvPr id="46" name="图片 45">
              <a:extLst>
                <a:ext uri="{FF2B5EF4-FFF2-40B4-BE49-F238E27FC236}">
                  <a16:creationId xmlns:a16="http://schemas.microsoft.com/office/drawing/2014/main" id="{6D6D741F-717F-E21B-3678-C157CE5E717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pSp>
        <p:nvGrpSpPr>
          <p:cNvPr id="2" name="组合 1">
            <a:extLst>
              <a:ext uri="{FF2B5EF4-FFF2-40B4-BE49-F238E27FC236}">
                <a16:creationId xmlns:a16="http://schemas.microsoft.com/office/drawing/2014/main" id="{458560D3-9D2F-68DC-1F15-2ECEFC9E03E3}"/>
              </a:ext>
            </a:extLst>
          </p:cNvPr>
          <p:cNvGrpSpPr/>
          <p:nvPr/>
        </p:nvGrpSpPr>
        <p:grpSpPr>
          <a:xfrm>
            <a:off x="470262" y="1318774"/>
            <a:ext cx="8550448" cy="546155"/>
            <a:chOff x="430213" y="1601273"/>
            <a:chExt cx="8550448" cy="546155"/>
          </a:xfrm>
        </p:grpSpPr>
        <p:sp>
          <p:nvSpPr>
            <p:cNvPr id="3" name="流程图: 手动输入 6">
              <a:extLst>
                <a:ext uri="{FF2B5EF4-FFF2-40B4-BE49-F238E27FC236}">
                  <a16:creationId xmlns:a16="http://schemas.microsoft.com/office/drawing/2014/main" id="{74CD2A1C-EFD2-E3B3-E6DA-EBC1E48EFD40}"/>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4" name="组合 3">
              <a:extLst>
                <a:ext uri="{FF2B5EF4-FFF2-40B4-BE49-F238E27FC236}">
                  <a16:creationId xmlns:a16="http://schemas.microsoft.com/office/drawing/2014/main" id="{5B943C13-DACF-0BE1-28CF-798F8FF3FAE1}"/>
                </a:ext>
              </a:extLst>
            </p:cNvPr>
            <p:cNvGrpSpPr/>
            <p:nvPr/>
          </p:nvGrpSpPr>
          <p:grpSpPr>
            <a:xfrm>
              <a:off x="430213" y="1601273"/>
              <a:ext cx="8550448" cy="546155"/>
              <a:chOff x="722008" y="1303131"/>
              <a:chExt cx="8164216" cy="521484"/>
            </a:xfrm>
          </p:grpSpPr>
          <p:sp>
            <p:nvSpPr>
              <p:cNvPr id="5" name="流程图: 手动输入 6">
                <a:extLst>
                  <a:ext uri="{FF2B5EF4-FFF2-40B4-BE49-F238E27FC236}">
                    <a16:creationId xmlns:a16="http://schemas.microsoft.com/office/drawing/2014/main" id="{F24B1D4F-AAA2-61BF-659C-EEC429F37C49}"/>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6" name="组合 5">
                <a:extLst>
                  <a:ext uri="{FF2B5EF4-FFF2-40B4-BE49-F238E27FC236}">
                    <a16:creationId xmlns:a16="http://schemas.microsoft.com/office/drawing/2014/main" id="{342733DD-90A9-F2F9-46A5-D49F042D977A}"/>
                  </a:ext>
                </a:extLst>
              </p:cNvPr>
              <p:cNvGrpSpPr/>
              <p:nvPr/>
            </p:nvGrpSpPr>
            <p:grpSpPr>
              <a:xfrm>
                <a:off x="722008" y="1303131"/>
                <a:ext cx="546594" cy="475865"/>
                <a:chOff x="708742" y="1296102"/>
                <a:chExt cx="454744" cy="283828"/>
              </a:xfrm>
            </p:grpSpPr>
            <p:sp>
              <p:nvSpPr>
                <p:cNvPr id="8" name="平行四边形 7">
                  <a:extLst>
                    <a:ext uri="{FF2B5EF4-FFF2-40B4-BE49-F238E27FC236}">
                      <a16:creationId xmlns:a16="http://schemas.microsoft.com/office/drawing/2014/main" id="{0D7DA24A-16B1-D7DA-7F7F-381ED0EF05EE}"/>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9" name="平行四边形 8">
                  <a:extLst>
                    <a:ext uri="{FF2B5EF4-FFF2-40B4-BE49-F238E27FC236}">
                      <a16:creationId xmlns:a16="http://schemas.microsoft.com/office/drawing/2014/main" id="{D2C26BB9-6CB1-43AE-999B-B3F87F1132DB}"/>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7" name="Text Box 79">
                <a:extLst>
                  <a:ext uri="{FF2B5EF4-FFF2-40B4-BE49-F238E27FC236}">
                    <a16:creationId xmlns:a16="http://schemas.microsoft.com/office/drawing/2014/main" id="{D721B324-40B8-2551-1CE3-7F4BEF20E041}"/>
                  </a:ext>
                </a:extLst>
              </p:cNvPr>
              <p:cNvSpPr txBox="1">
                <a:spLocks noChangeArrowheads="1"/>
              </p:cNvSpPr>
              <p:nvPr/>
            </p:nvSpPr>
            <p:spPr bwMode="auto">
              <a:xfrm>
                <a:off x="1172744" y="1354417"/>
                <a:ext cx="7713480"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DCTCP </a:t>
                </a:r>
                <a:r>
                  <a:rPr kumimoji="1" lang="zh-CN" altLang="en-US" sz="2600" dirty="0">
                    <a:solidFill>
                      <a:schemeClr val="tx1">
                        <a:lumMod val="85000"/>
                        <a:lumOff val="15000"/>
                      </a:schemeClr>
                    </a:solidFill>
                    <a:ea typeface="思源黑体 CN Medium" panose="020B0600000000000000" pitchFamily="34" charset="-122"/>
                  </a:rPr>
                  <a:t>相对传统</a:t>
                </a:r>
                <a:r>
                  <a:rPr kumimoji="1" lang="en-US" altLang="zh-CN" sz="2600" dirty="0">
                    <a:solidFill>
                      <a:schemeClr val="tx1">
                        <a:lumMod val="85000"/>
                        <a:lumOff val="15000"/>
                      </a:schemeClr>
                    </a:solidFill>
                    <a:ea typeface="思源黑体 CN Medium" panose="020B0600000000000000" pitchFamily="34" charset="-122"/>
                  </a:rPr>
                  <a:t>TCP</a:t>
                </a:r>
                <a:r>
                  <a:rPr kumimoji="1" lang="zh-CN" altLang="en-US" sz="2600" dirty="0">
                    <a:solidFill>
                      <a:schemeClr val="tx1">
                        <a:lumMod val="85000"/>
                        <a:lumOff val="15000"/>
                      </a:schemeClr>
                    </a:solidFill>
                    <a:ea typeface="思源黑体 CN Medium" panose="020B0600000000000000" pitchFamily="34" charset="-122"/>
                  </a:rPr>
                  <a:t>的优势</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10" name="文本框 9">
            <a:extLst>
              <a:ext uri="{FF2B5EF4-FFF2-40B4-BE49-F238E27FC236}">
                <a16:creationId xmlns:a16="http://schemas.microsoft.com/office/drawing/2014/main" id="{0874B289-A69B-AECB-827D-78201C8D9262}"/>
              </a:ext>
            </a:extLst>
          </p:cNvPr>
          <p:cNvSpPr txBox="1"/>
          <p:nvPr/>
        </p:nvSpPr>
        <p:spPr>
          <a:xfrm>
            <a:off x="470262" y="2075577"/>
            <a:ext cx="10882682" cy="3350404"/>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降低队列积压 → 减少尾部丢包</a:t>
            </a:r>
            <a:endPar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显著改善</a:t>
            </a:r>
            <a:r>
              <a:rPr kumimoji="1" lang="zh-CN" altLang="en-US" sz="240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短流延迟</a:t>
            </a:r>
            <a:endParaRPr kumimoji="1" lang="en-US" altLang="zh-CN" sz="240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提高拥塞控制的</a:t>
            </a: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灵敏性与稳定性</a:t>
            </a:r>
            <a:endParaRPr kumimoji="1"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适合</a:t>
            </a: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低延迟、高速连接的封闭网络环境</a:t>
            </a:r>
            <a:endParaRPr kumimoji="1"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endParaRPr kumimoji="1"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endParaRPr>
          </a:p>
          <a:p>
            <a:pPr marR="0" lvl="0" algn="l" defTabSz="914400" rtl="0" eaLnBrk="1" fontAlgn="auto" latinLnBrk="0" hangingPunct="1">
              <a:lnSpc>
                <a:spcPct val="150000"/>
              </a:lnSpc>
              <a:spcBef>
                <a:spcPts val="0"/>
              </a:spcBef>
              <a:spcAft>
                <a:spcPts val="0"/>
              </a:spcAft>
              <a:buClr>
                <a:srgbClr val="1969C2"/>
              </a:buClr>
              <a:buSzTx/>
              <a:tabLst/>
              <a:defRPr/>
            </a:pP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适用场景：数据中心内部封闭网络（全路径</a:t>
            </a:r>
            <a:r>
              <a:rPr kumimoji="1"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ECN</a:t>
            </a:r>
            <a:r>
              <a:rPr kumimoji="1"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思源黑体 CN Medium" panose="020B0600000000000000" pitchFamily="34" charset="-122"/>
                <a:cs typeface="+mn-cs"/>
              </a:rPr>
              <a:t>支持）</a:t>
            </a:r>
            <a:endParaRPr kumimoji="1"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endParaRPr>
          </a:p>
        </p:txBody>
      </p:sp>
      <p:sp>
        <p:nvSpPr>
          <p:cNvPr id="11" name="灯片编号占位符 10">
            <a:extLst>
              <a:ext uri="{FF2B5EF4-FFF2-40B4-BE49-F238E27FC236}">
                <a16:creationId xmlns:a16="http://schemas.microsoft.com/office/drawing/2014/main" id="{2A87B0D7-B2AA-4CF6-B7B4-ECFCC573965E}"/>
              </a:ext>
            </a:extLst>
          </p:cNvPr>
          <p:cNvSpPr>
            <a:spLocks noGrp="1"/>
          </p:cNvSpPr>
          <p:nvPr>
            <p:ph type="sldNum" sz="quarter" idx="12"/>
          </p:nvPr>
        </p:nvSpPr>
        <p:spPr/>
        <p:txBody>
          <a:bodyPr/>
          <a:lstStyle/>
          <a:p>
            <a:fld id="{5956A083-5018-4B52-82A0-83241B8E3D94}" type="slidenum">
              <a:rPr lang="zh-CN" altLang="en-US" smtClean="0"/>
              <a:t>95</a:t>
            </a:fld>
            <a:endParaRPr lang="zh-CN" altLang="en-US"/>
          </a:p>
        </p:txBody>
      </p:sp>
    </p:spTree>
    <p:extLst>
      <p:ext uri="{BB962C8B-B14F-4D97-AF65-F5344CB8AC3E}">
        <p14:creationId xmlns:p14="http://schemas.microsoft.com/office/powerpoint/2010/main" val="32534123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2F8FF-67C8-8DA3-95EB-2A8176E32A09}"/>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57BD14BD-160A-2DB0-BCF5-E7DEEC696BC5}"/>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EA60ECC2-FD6F-FB07-9C53-19AD7AEC1248}"/>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ACF2E50B-FD55-7977-7D4F-AC87F3FFCC55}"/>
                  </a:ext>
                </a:extLst>
              </p:cNvPr>
              <p:cNvSpPr/>
              <p:nvPr/>
            </p:nvSpPr>
            <p:spPr>
              <a:xfrm>
                <a:off x="1839060" y="967769"/>
                <a:ext cx="6265206"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F8055DA4-B8A2-2E2D-237B-A32882FFD639}"/>
                  </a:ext>
                </a:extLst>
              </p:cNvPr>
              <p:cNvSpPr txBox="1"/>
              <p:nvPr/>
            </p:nvSpPr>
            <p:spPr>
              <a:xfrm>
                <a:off x="2597179" y="1053620"/>
                <a:ext cx="5613471" cy="523220"/>
              </a:xfrm>
              <a:prstGeom prst="rect">
                <a:avLst/>
              </a:prstGeom>
              <a:noFill/>
            </p:spPr>
            <p:txBody>
              <a:bodyPr wrap="square" rtlCol="0">
                <a:spAutoFit/>
              </a:bodyPr>
              <a:lstStyle/>
              <a:p>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数据中心网络中的拥塞控制方法</a:t>
                </a:r>
              </a:p>
            </p:txBody>
          </p:sp>
        </p:grpSp>
        <p:pic>
          <p:nvPicPr>
            <p:cNvPr id="46" name="图片 45">
              <a:extLst>
                <a:ext uri="{FF2B5EF4-FFF2-40B4-BE49-F238E27FC236}">
                  <a16:creationId xmlns:a16="http://schemas.microsoft.com/office/drawing/2014/main" id="{BCBAF2E2-CC43-5B96-2614-05B79218DC1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pSp>
        <p:nvGrpSpPr>
          <p:cNvPr id="2" name="组合 1">
            <a:extLst>
              <a:ext uri="{FF2B5EF4-FFF2-40B4-BE49-F238E27FC236}">
                <a16:creationId xmlns:a16="http://schemas.microsoft.com/office/drawing/2014/main" id="{F51F00C5-8C8E-CAAA-240C-661A6985EDF0}"/>
              </a:ext>
            </a:extLst>
          </p:cNvPr>
          <p:cNvGrpSpPr/>
          <p:nvPr/>
        </p:nvGrpSpPr>
        <p:grpSpPr>
          <a:xfrm>
            <a:off x="470262" y="1318774"/>
            <a:ext cx="12166951" cy="546155"/>
            <a:chOff x="430213" y="1601273"/>
            <a:chExt cx="12166951" cy="546155"/>
          </a:xfrm>
        </p:grpSpPr>
        <p:sp>
          <p:nvSpPr>
            <p:cNvPr id="3" name="流程图: 手动输入 6">
              <a:extLst>
                <a:ext uri="{FF2B5EF4-FFF2-40B4-BE49-F238E27FC236}">
                  <a16:creationId xmlns:a16="http://schemas.microsoft.com/office/drawing/2014/main" id="{86674984-5D64-BF37-DAF0-27A9914372D4}"/>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4" name="组合 3">
              <a:extLst>
                <a:ext uri="{FF2B5EF4-FFF2-40B4-BE49-F238E27FC236}">
                  <a16:creationId xmlns:a16="http://schemas.microsoft.com/office/drawing/2014/main" id="{5BA5D5B4-357D-FFF5-CED9-D05F560CCB44}"/>
                </a:ext>
              </a:extLst>
            </p:cNvPr>
            <p:cNvGrpSpPr/>
            <p:nvPr/>
          </p:nvGrpSpPr>
          <p:grpSpPr>
            <a:xfrm>
              <a:off x="430213" y="1601273"/>
              <a:ext cx="12166951" cy="546155"/>
              <a:chOff x="722008" y="1303131"/>
              <a:chExt cx="11617358" cy="521484"/>
            </a:xfrm>
          </p:grpSpPr>
          <p:sp>
            <p:nvSpPr>
              <p:cNvPr id="5" name="流程图: 手动输入 6">
                <a:extLst>
                  <a:ext uri="{FF2B5EF4-FFF2-40B4-BE49-F238E27FC236}">
                    <a16:creationId xmlns:a16="http://schemas.microsoft.com/office/drawing/2014/main" id="{45DB0413-6CFB-5837-377B-F83841A35796}"/>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6" name="组合 5">
                <a:extLst>
                  <a:ext uri="{FF2B5EF4-FFF2-40B4-BE49-F238E27FC236}">
                    <a16:creationId xmlns:a16="http://schemas.microsoft.com/office/drawing/2014/main" id="{082FC339-6799-26FB-A0B8-8E77D460ACB4}"/>
                  </a:ext>
                </a:extLst>
              </p:cNvPr>
              <p:cNvGrpSpPr/>
              <p:nvPr/>
            </p:nvGrpSpPr>
            <p:grpSpPr>
              <a:xfrm>
                <a:off x="722008" y="1303131"/>
                <a:ext cx="546594" cy="475865"/>
                <a:chOff x="708742" y="1296102"/>
                <a:chExt cx="454744" cy="283828"/>
              </a:xfrm>
            </p:grpSpPr>
            <p:sp>
              <p:nvSpPr>
                <p:cNvPr id="8" name="平行四边形 7">
                  <a:extLst>
                    <a:ext uri="{FF2B5EF4-FFF2-40B4-BE49-F238E27FC236}">
                      <a16:creationId xmlns:a16="http://schemas.microsoft.com/office/drawing/2014/main" id="{88B5C8D0-E6AE-3C47-132D-E441357CF609}"/>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9" name="平行四边形 8">
                  <a:extLst>
                    <a:ext uri="{FF2B5EF4-FFF2-40B4-BE49-F238E27FC236}">
                      <a16:creationId xmlns:a16="http://schemas.microsoft.com/office/drawing/2014/main" id="{38D8DADE-A259-CEAB-FCEC-158CB75276BB}"/>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7" name="Text Box 79">
                <a:extLst>
                  <a:ext uri="{FF2B5EF4-FFF2-40B4-BE49-F238E27FC236}">
                    <a16:creationId xmlns:a16="http://schemas.microsoft.com/office/drawing/2014/main" id="{5C345BC1-0B39-6F47-F24D-70F1B639475A}"/>
                  </a:ext>
                </a:extLst>
              </p:cNvPr>
              <p:cNvSpPr txBox="1">
                <a:spLocks noChangeArrowheads="1"/>
              </p:cNvSpPr>
              <p:nvPr/>
            </p:nvSpPr>
            <p:spPr bwMode="auto">
              <a:xfrm>
                <a:off x="1172744" y="1354417"/>
                <a:ext cx="11166622"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DCQCN</a:t>
                </a:r>
                <a:r>
                  <a:rPr kumimoji="1" lang="zh-CN" altLang="en-US" sz="2600" dirty="0">
                    <a:solidFill>
                      <a:schemeClr val="tx1">
                        <a:lumMod val="85000"/>
                        <a:lumOff val="15000"/>
                      </a:schemeClr>
                    </a:solidFill>
                    <a:ea typeface="思源黑体 CN Medium" panose="020B0600000000000000" pitchFamily="34" charset="-122"/>
                  </a:rPr>
                  <a:t>（</a:t>
                </a:r>
                <a:r>
                  <a:rPr kumimoji="1" lang="en-US" altLang="zh-CN" sz="2600" dirty="0">
                    <a:solidFill>
                      <a:schemeClr val="tx1">
                        <a:lumMod val="85000"/>
                        <a:lumOff val="15000"/>
                      </a:schemeClr>
                    </a:solidFill>
                    <a:ea typeface="思源黑体 CN Medium" panose="020B0600000000000000" pitchFamily="34" charset="-122"/>
                  </a:rPr>
                  <a:t>Data Center Quantized Congestion Notification</a:t>
                </a:r>
                <a:r>
                  <a:rPr kumimoji="1" lang="zh-CN" altLang="en-US" sz="2600" dirty="0">
                    <a:solidFill>
                      <a:schemeClr val="tx1">
                        <a:lumMod val="85000"/>
                        <a:lumOff val="15000"/>
                      </a:schemeClr>
                    </a:solidFill>
                    <a:ea typeface="思源黑体 CN Medium" panose="020B0600000000000000" pitchFamily="34" charset="-122"/>
                  </a:rPr>
                  <a:t>）</a:t>
                </a:r>
                <a:r>
                  <a:rPr kumimoji="1" lang="en-US" altLang="zh-CN" sz="2600" dirty="0">
                    <a:solidFill>
                      <a:schemeClr val="tx1">
                        <a:lumMod val="85000"/>
                        <a:lumOff val="15000"/>
                      </a:schemeClr>
                    </a:solidFill>
                    <a:ea typeface="思源黑体 CN Medium" panose="020B0600000000000000" pitchFamily="34" charset="-122"/>
                  </a:rPr>
                  <a:t> </a:t>
                </a:r>
                <a:r>
                  <a:rPr kumimoji="1" lang="zh-CN" altLang="en-US" sz="2600" dirty="0">
                    <a:solidFill>
                      <a:schemeClr val="tx1">
                        <a:lumMod val="85000"/>
                        <a:lumOff val="15000"/>
                      </a:schemeClr>
                    </a:solidFill>
                    <a:ea typeface="思源黑体 CN Medium" panose="020B0600000000000000" pitchFamily="34" charset="-122"/>
                  </a:rPr>
                  <a:t>原理</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10" name="文本框 9">
            <a:extLst>
              <a:ext uri="{FF2B5EF4-FFF2-40B4-BE49-F238E27FC236}">
                <a16:creationId xmlns:a16="http://schemas.microsoft.com/office/drawing/2014/main" id="{1F0C0651-2949-3ED1-9006-D252CB8D13D3}"/>
              </a:ext>
            </a:extLst>
          </p:cNvPr>
          <p:cNvSpPr txBox="1"/>
          <p:nvPr/>
        </p:nvSpPr>
        <p:spPr>
          <a:xfrm>
            <a:off x="470262" y="2075577"/>
            <a:ext cx="10882682" cy="2796407"/>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基于</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RoCEv2</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协议 </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 ECN</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反馈</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交换机采样标记</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ECN</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，接收端上报给发送端</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发送端按</a:t>
            </a: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指数下降</a:t>
            </a:r>
            <a:r>
              <a:rPr kumimoji="1"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a:t>
            </a: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加性增长</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方式调整速率</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使用 </a:t>
            </a:r>
            <a:r>
              <a:rPr kumimoji="1" lang="en-US" altLang="zh-CN" sz="2400" dirty="0">
                <a:solidFill>
                  <a:srgbClr val="FF0000"/>
                </a:solidFill>
                <a:latin typeface="Arial" panose="020B0604020202020204" pitchFamily="34" charset="0"/>
                <a:ea typeface="思源黑体 CN Medium" panose="020B0600000000000000" pitchFamily="34" charset="-122"/>
              </a:rPr>
              <a:t>Rate-Based</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控制，即通过发送速率而非窗口调节带宽</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面向 </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RDMA </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场景（远程直接内存访问）</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p:txBody>
      </p:sp>
      <p:sp>
        <p:nvSpPr>
          <p:cNvPr id="11" name="灯片编号占位符 10">
            <a:extLst>
              <a:ext uri="{FF2B5EF4-FFF2-40B4-BE49-F238E27FC236}">
                <a16:creationId xmlns:a16="http://schemas.microsoft.com/office/drawing/2014/main" id="{FD05242A-FD0A-4581-AD00-01936AC88987}"/>
              </a:ext>
            </a:extLst>
          </p:cNvPr>
          <p:cNvSpPr>
            <a:spLocks noGrp="1"/>
          </p:cNvSpPr>
          <p:nvPr>
            <p:ph type="sldNum" sz="quarter" idx="12"/>
          </p:nvPr>
        </p:nvSpPr>
        <p:spPr/>
        <p:txBody>
          <a:bodyPr/>
          <a:lstStyle/>
          <a:p>
            <a:fld id="{5956A083-5018-4B52-82A0-83241B8E3D94}" type="slidenum">
              <a:rPr lang="zh-CN" altLang="en-US" smtClean="0"/>
              <a:t>96</a:t>
            </a:fld>
            <a:endParaRPr lang="zh-CN" altLang="en-US"/>
          </a:p>
        </p:txBody>
      </p:sp>
    </p:spTree>
    <p:extLst>
      <p:ext uri="{BB962C8B-B14F-4D97-AF65-F5344CB8AC3E}">
        <p14:creationId xmlns:p14="http://schemas.microsoft.com/office/powerpoint/2010/main" val="37582440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77E39-7FAB-CA0F-FC99-2AF6F2672F65}"/>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E20AAC51-33BD-5B83-90B3-1797EDA903CB}"/>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41A878BF-8B3B-941E-5B47-12EF8183575C}"/>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AF9B224C-80CD-4487-B892-10196147B2ED}"/>
                  </a:ext>
                </a:extLst>
              </p:cNvPr>
              <p:cNvSpPr/>
              <p:nvPr/>
            </p:nvSpPr>
            <p:spPr>
              <a:xfrm>
                <a:off x="1839060" y="967769"/>
                <a:ext cx="6265206"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155433F3-22A0-D04A-3629-108386554BFC}"/>
                  </a:ext>
                </a:extLst>
              </p:cNvPr>
              <p:cNvSpPr txBox="1"/>
              <p:nvPr/>
            </p:nvSpPr>
            <p:spPr>
              <a:xfrm>
                <a:off x="2597179" y="1053620"/>
                <a:ext cx="5613471" cy="523220"/>
              </a:xfrm>
              <a:prstGeom prst="rect">
                <a:avLst/>
              </a:prstGeom>
              <a:noFill/>
            </p:spPr>
            <p:txBody>
              <a:bodyPr wrap="square" rtlCol="0">
                <a:spAutoFit/>
              </a:bodyPr>
              <a:lstStyle/>
              <a:p>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数据中心网络中的拥塞控制方法</a:t>
                </a:r>
              </a:p>
            </p:txBody>
          </p:sp>
        </p:grpSp>
        <p:pic>
          <p:nvPicPr>
            <p:cNvPr id="46" name="图片 45">
              <a:extLst>
                <a:ext uri="{FF2B5EF4-FFF2-40B4-BE49-F238E27FC236}">
                  <a16:creationId xmlns:a16="http://schemas.microsoft.com/office/drawing/2014/main" id="{37136830-D4B9-9A4B-AFE7-875BC924B49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pSp>
        <p:nvGrpSpPr>
          <p:cNvPr id="2" name="组合 1">
            <a:extLst>
              <a:ext uri="{FF2B5EF4-FFF2-40B4-BE49-F238E27FC236}">
                <a16:creationId xmlns:a16="http://schemas.microsoft.com/office/drawing/2014/main" id="{1FF21833-FCA6-7006-E377-BBDC1CBFCD35}"/>
              </a:ext>
            </a:extLst>
          </p:cNvPr>
          <p:cNvGrpSpPr/>
          <p:nvPr/>
        </p:nvGrpSpPr>
        <p:grpSpPr>
          <a:xfrm>
            <a:off x="470262" y="1318774"/>
            <a:ext cx="8550448" cy="546155"/>
            <a:chOff x="430213" y="1601273"/>
            <a:chExt cx="8550448" cy="546155"/>
          </a:xfrm>
        </p:grpSpPr>
        <p:sp>
          <p:nvSpPr>
            <p:cNvPr id="3" name="流程图: 手动输入 6">
              <a:extLst>
                <a:ext uri="{FF2B5EF4-FFF2-40B4-BE49-F238E27FC236}">
                  <a16:creationId xmlns:a16="http://schemas.microsoft.com/office/drawing/2014/main" id="{BAB96842-0A6A-4632-CD63-462E43534641}"/>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4" name="组合 3">
              <a:extLst>
                <a:ext uri="{FF2B5EF4-FFF2-40B4-BE49-F238E27FC236}">
                  <a16:creationId xmlns:a16="http://schemas.microsoft.com/office/drawing/2014/main" id="{31574BD7-7BB4-02DA-D29F-39BDE2EE3D86}"/>
                </a:ext>
              </a:extLst>
            </p:cNvPr>
            <p:cNvGrpSpPr/>
            <p:nvPr/>
          </p:nvGrpSpPr>
          <p:grpSpPr>
            <a:xfrm>
              <a:off x="430213" y="1601273"/>
              <a:ext cx="8550448" cy="546155"/>
              <a:chOff x="722008" y="1303131"/>
              <a:chExt cx="8164216" cy="521484"/>
            </a:xfrm>
          </p:grpSpPr>
          <p:sp>
            <p:nvSpPr>
              <p:cNvPr id="5" name="流程图: 手动输入 6">
                <a:extLst>
                  <a:ext uri="{FF2B5EF4-FFF2-40B4-BE49-F238E27FC236}">
                    <a16:creationId xmlns:a16="http://schemas.microsoft.com/office/drawing/2014/main" id="{57A55429-B0AC-04AB-B92E-50D0631EFE77}"/>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6" name="组合 5">
                <a:extLst>
                  <a:ext uri="{FF2B5EF4-FFF2-40B4-BE49-F238E27FC236}">
                    <a16:creationId xmlns:a16="http://schemas.microsoft.com/office/drawing/2014/main" id="{95A6F0B8-67C5-D55F-3788-6ECE4AFFB974}"/>
                  </a:ext>
                </a:extLst>
              </p:cNvPr>
              <p:cNvGrpSpPr/>
              <p:nvPr/>
            </p:nvGrpSpPr>
            <p:grpSpPr>
              <a:xfrm>
                <a:off x="722008" y="1303131"/>
                <a:ext cx="546594" cy="475865"/>
                <a:chOff x="708742" y="1296102"/>
                <a:chExt cx="454744" cy="283828"/>
              </a:xfrm>
            </p:grpSpPr>
            <p:sp>
              <p:nvSpPr>
                <p:cNvPr id="8" name="平行四边形 7">
                  <a:extLst>
                    <a:ext uri="{FF2B5EF4-FFF2-40B4-BE49-F238E27FC236}">
                      <a16:creationId xmlns:a16="http://schemas.microsoft.com/office/drawing/2014/main" id="{3BD80107-6867-20CB-6626-9A8134E88F6F}"/>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9" name="平行四边形 8">
                  <a:extLst>
                    <a:ext uri="{FF2B5EF4-FFF2-40B4-BE49-F238E27FC236}">
                      <a16:creationId xmlns:a16="http://schemas.microsoft.com/office/drawing/2014/main" id="{6FB394E9-12D5-097E-3C7C-B595584C5BA4}"/>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7" name="Text Box 79">
                <a:extLst>
                  <a:ext uri="{FF2B5EF4-FFF2-40B4-BE49-F238E27FC236}">
                    <a16:creationId xmlns:a16="http://schemas.microsoft.com/office/drawing/2014/main" id="{1392AD33-9456-2120-AAB4-EDACE82D8350}"/>
                  </a:ext>
                </a:extLst>
              </p:cNvPr>
              <p:cNvSpPr txBox="1">
                <a:spLocks noChangeArrowheads="1"/>
              </p:cNvSpPr>
              <p:nvPr/>
            </p:nvSpPr>
            <p:spPr bwMode="auto">
              <a:xfrm>
                <a:off x="1172744" y="1354417"/>
                <a:ext cx="7713480"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DCQCN </a:t>
                </a:r>
                <a:r>
                  <a:rPr kumimoji="1" lang="zh-CN" altLang="en-US" sz="2600" dirty="0">
                    <a:solidFill>
                      <a:schemeClr val="tx1">
                        <a:lumMod val="85000"/>
                        <a:lumOff val="15000"/>
                      </a:schemeClr>
                    </a:solidFill>
                    <a:ea typeface="思源黑体 CN Medium" panose="020B0600000000000000" pitchFamily="34" charset="-122"/>
                  </a:rPr>
                  <a:t>的优势</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10" name="文本框 9">
            <a:extLst>
              <a:ext uri="{FF2B5EF4-FFF2-40B4-BE49-F238E27FC236}">
                <a16:creationId xmlns:a16="http://schemas.microsoft.com/office/drawing/2014/main" id="{9DD115C9-AE26-6F5B-4755-B0C26FDA4136}"/>
              </a:ext>
            </a:extLst>
          </p:cNvPr>
          <p:cNvSpPr txBox="1"/>
          <p:nvPr/>
        </p:nvSpPr>
        <p:spPr>
          <a:xfrm>
            <a:off x="470262" y="2075577"/>
            <a:ext cx="10882682" cy="2242409"/>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与</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RoCE</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兼容，适用于</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RDMA</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通信</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比</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DCTCP</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更适合</a:t>
            </a: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无损网络架构</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（如</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InfiniBand</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更精细的速率控制，改善链路利用率与稳定性</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支持硬件加速实现，延迟更低</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p:txBody>
      </p:sp>
      <p:sp>
        <p:nvSpPr>
          <p:cNvPr id="11" name="灯片编号占位符 10">
            <a:extLst>
              <a:ext uri="{FF2B5EF4-FFF2-40B4-BE49-F238E27FC236}">
                <a16:creationId xmlns:a16="http://schemas.microsoft.com/office/drawing/2014/main" id="{B771981A-3DCC-46D9-A01D-CB2ED6F34412}"/>
              </a:ext>
            </a:extLst>
          </p:cNvPr>
          <p:cNvSpPr>
            <a:spLocks noGrp="1"/>
          </p:cNvSpPr>
          <p:nvPr>
            <p:ph type="sldNum" sz="quarter" idx="12"/>
          </p:nvPr>
        </p:nvSpPr>
        <p:spPr/>
        <p:txBody>
          <a:bodyPr/>
          <a:lstStyle/>
          <a:p>
            <a:fld id="{5956A083-5018-4B52-82A0-83241B8E3D94}" type="slidenum">
              <a:rPr lang="zh-CN" altLang="en-US" smtClean="0"/>
              <a:t>97</a:t>
            </a:fld>
            <a:endParaRPr lang="zh-CN" altLang="en-US"/>
          </a:p>
        </p:txBody>
      </p:sp>
    </p:spTree>
    <p:extLst>
      <p:ext uri="{BB962C8B-B14F-4D97-AF65-F5344CB8AC3E}">
        <p14:creationId xmlns:p14="http://schemas.microsoft.com/office/powerpoint/2010/main" val="36977557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D1E02-107F-26F1-7EF2-9C3EF705D3BF}"/>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650B5272-A6D3-150F-F55D-7D38FA836A62}"/>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9B857904-62B8-457C-F4D9-272B06AA915A}"/>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96E6349C-5980-CC51-860E-C394DF6337C6}"/>
                  </a:ext>
                </a:extLst>
              </p:cNvPr>
              <p:cNvSpPr/>
              <p:nvPr/>
            </p:nvSpPr>
            <p:spPr>
              <a:xfrm>
                <a:off x="1839060" y="967769"/>
                <a:ext cx="6265206"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C182BAB0-A404-5851-B126-2D8D7801A5FB}"/>
                  </a:ext>
                </a:extLst>
              </p:cNvPr>
              <p:cNvSpPr txBox="1"/>
              <p:nvPr/>
            </p:nvSpPr>
            <p:spPr>
              <a:xfrm>
                <a:off x="2597179" y="1053620"/>
                <a:ext cx="5613471" cy="523220"/>
              </a:xfrm>
              <a:prstGeom prst="rect">
                <a:avLst/>
              </a:prstGeom>
              <a:noFill/>
            </p:spPr>
            <p:txBody>
              <a:bodyPr wrap="square" rtlCol="0">
                <a:spAutoFit/>
              </a:bodyPr>
              <a:lstStyle/>
              <a:p>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数据中心网络中的拥塞控制方法</a:t>
                </a:r>
              </a:p>
            </p:txBody>
          </p:sp>
        </p:grpSp>
        <p:pic>
          <p:nvPicPr>
            <p:cNvPr id="46" name="图片 45">
              <a:extLst>
                <a:ext uri="{FF2B5EF4-FFF2-40B4-BE49-F238E27FC236}">
                  <a16:creationId xmlns:a16="http://schemas.microsoft.com/office/drawing/2014/main" id="{B5280C7F-D903-5D64-2D03-D461267577D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grpSp>
        <p:nvGrpSpPr>
          <p:cNvPr id="2" name="组合 1">
            <a:extLst>
              <a:ext uri="{FF2B5EF4-FFF2-40B4-BE49-F238E27FC236}">
                <a16:creationId xmlns:a16="http://schemas.microsoft.com/office/drawing/2014/main" id="{9CCD7A60-8A17-95DC-81B1-7CB4D4C2F95F}"/>
              </a:ext>
            </a:extLst>
          </p:cNvPr>
          <p:cNvGrpSpPr/>
          <p:nvPr/>
        </p:nvGrpSpPr>
        <p:grpSpPr>
          <a:xfrm>
            <a:off x="470262" y="1318774"/>
            <a:ext cx="8550448" cy="546155"/>
            <a:chOff x="430213" y="1601273"/>
            <a:chExt cx="8550448" cy="546155"/>
          </a:xfrm>
        </p:grpSpPr>
        <p:sp>
          <p:nvSpPr>
            <p:cNvPr id="3" name="流程图: 手动输入 6">
              <a:extLst>
                <a:ext uri="{FF2B5EF4-FFF2-40B4-BE49-F238E27FC236}">
                  <a16:creationId xmlns:a16="http://schemas.microsoft.com/office/drawing/2014/main" id="{469817B8-255D-2BF0-9907-C34B4A0110FD}"/>
                </a:ext>
              </a:extLst>
            </p:cNvPr>
            <p:cNvSpPr/>
            <p:nvPr/>
          </p:nvSpPr>
          <p:spPr>
            <a:xfrm rot="5400000" flipV="1">
              <a:off x="2153138" y="939251"/>
              <a:ext cx="498372" cy="186497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4" name="组合 3">
              <a:extLst>
                <a:ext uri="{FF2B5EF4-FFF2-40B4-BE49-F238E27FC236}">
                  <a16:creationId xmlns:a16="http://schemas.microsoft.com/office/drawing/2014/main" id="{19936D01-653F-D88B-63FA-35EB0E2FD34B}"/>
                </a:ext>
              </a:extLst>
            </p:cNvPr>
            <p:cNvGrpSpPr/>
            <p:nvPr/>
          </p:nvGrpSpPr>
          <p:grpSpPr>
            <a:xfrm>
              <a:off x="430213" y="1601273"/>
              <a:ext cx="8550448" cy="546155"/>
              <a:chOff x="722008" y="1303131"/>
              <a:chExt cx="8164216" cy="521484"/>
            </a:xfrm>
          </p:grpSpPr>
          <p:sp>
            <p:nvSpPr>
              <p:cNvPr id="5" name="流程图: 手动输入 6">
                <a:extLst>
                  <a:ext uri="{FF2B5EF4-FFF2-40B4-BE49-F238E27FC236}">
                    <a16:creationId xmlns:a16="http://schemas.microsoft.com/office/drawing/2014/main" id="{4EDB6244-B501-E39A-9224-A8D0279BFAA1}"/>
                  </a:ext>
                </a:extLst>
              </p:cNvPr>
              <p:cNvSpPr/>
              <p:nvPr/>
            </p:nvSpPr>
            <p:spPr>
              <a:xfrm rot="5400000" flipV="1">
                <a:off x="2004068" y="291067"/>
                <a:ext cx="475861" cy="250680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1050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1050 h 10000"/>
                  <a:gd name="connsiteX0-11" fmla="*/ 0 w 10000"/>
                  <a:gd name="connsiteY0-12" fmla="*/ 988 h 9938"/>
                  <a:gd name="connsiteX1-13" fmla="*/ 9911 w 10000"/>
                  <a:gd name="connsiteY1-14" fmla="*/ 0 h 9938"/>
                  <a:gd name="connsiteX2-15" fmla="*/ 10000 w 10000"/>
                  <a:gd name="connsiteY2-16" fmla="*/ 9938 h 9938"/>
                  <a:gd name="connsiteX3-17" fmla="*/ 0 w 10000"/>
                  <a:gd name="connsiteY3-18" fmla="*/ 9938 h 9938"/>
                  <a:gd name="connsiteX4-19" fmla="*/ 0 w 10000"/>
                  <a:gd name="connsiteY4-20" fmla="*/ 988 h 9938"/>
                  <a:gd name="connsiteX0-21" fmla="*/ 0 w 10000"/>
                  <a:gd name="connsiteY0-22" fmla="*/ 1853 h 10000"/>
                  <a:gd name="connsiteX1-23" fmla="*/ 9911 w 10000"/>
                  <a:gd name="connsiteY1-24" fmla="*/ 0 h 10000"/>
                  <a:gd name="connsiteX2-25" fmla="*/ 10000 w 10000"/>
                  <a:gd name="connsiteY2-26" fmla="*/ 10000 h 10000"/>
                  <a:gd name="connsiteX3-27" fmla="*/ 0 w 10000"/>
                  <a:gd name="connsiteY3-28" fmla="*/ 10000 h 10000"/>
                  <a:gd name="connsiteX4-29" fmla="*/ 0 w 10000"/>
                  <a:gd name="connsiteY4-30" fmla="*/ 1853 h 10000"/>
                  <a:gd name="connsiteX0-31" fmla="*/ 0 w 10000"/>
                  <a:gd name="connsiteY0-32" fmla="*/ 1796 h 10000"/>
                  <a:gd name="connsiteX1-33" fmla="*/ 9911 w 10000"/>
                  <a:gd name="connsiteY1-34" fmla="*/ 0 h 10000"/>
                  <a:gd name="connsiteX2-35" fmla="*/ 10000 w 10000"/>
                  <a:gd name="connsiteY2-36" fmla="*/ 10000 h 10000"/>
                  <a:gd name="connsiteX3-37" fmla="*/ 0 w 10000"/>
                  <a:gd name="connsiteY3-38" fmla="*/ 10000 h 10000"/>
                  <a:gd name="connsiteX4-39" fmla="*/ 0 w 10000"/>
                  <a:gd name="connsiteY4-40" fmla="*/ 1796 h 10000"/>
                  <a:gd name="connsiteX0-41" fmla="*/ 106 w 10000"/>
                  <a:gd name="connsiteY0-42" fmla="*/ 804 h 10000"/>
                  <a:gd name="connsiteX1-43" fmla="*/ 9911 w 10000"/>
                  <a:gd name="connsiteY1-44" fmla="*/ 0 h 10000"/>
                  <a:gd name="connsiteX2-45" fmla="*/ 10000 w 10000"/>
                  <a:gd name="connsiteY2-46" fmla="*/ 10000 h 10000"/>
                  <a:gd name="connsiteX3-47" fmla="*/ 0 w 10000"/>
                  <a:gd name="connsiteY3-48" fmla="*/ 10000 h 10000"/>
                  <a:gd name="connsiteX4-49" fmla="*/ 106 w 10000"/>
                  <a:gd name="connsiteY4-50" fmla="*/ 804 h 10000"/>
                  <a:gd name="connsiteX0-51" fmla="*/ 106 w 10000"/>
                  <a:gd name="connsiteY0-52" fmla="*/ 793 h 10000"/>
                  <a:gd name="connsiteX1-53" fmla="*/ 9911 w 10000"/>
                  <a:gd name="connsiteY1-54" fmla="*/ 0 h 10000"/>
                  <a:gd name="connsiteX2-55" fmla="*/ 10000 w 10000"/>
                  <a:gd name="connsiteY2-56" fmla="*/ 10000 h 10000"/>
                  <a:gd name="connsiteX3-57" fmla="*/ 0 w 10000"/>
                  <a:gd name="connsiteY3-58" fmla="*/ 10000 h 10000"/>
                  <a:gd name="connsiteX4-59" fmla="*/ 106 w 10000"/>
                  <a:gd name="connsiteY4-60" fmla="*/ 793 h 10000"/>
                  <a:gd name="connsiteX0-61" fmla="*/ 106 w 10000"/>
                  <a:gd name="connsiteY0-62" fmla="*/ 758 h 10000"/>
                  <a:gd name="connsiteX1-63" fmla="*/ 9911 w 10000"/>
                  <a:gd name="connsiteY1-64" fmla="*/ 0 h 10000"/>
                  <a:gd name="connsiteX2-65" fmla="*/ 10000 w 10000"/>
                  <a:gd name="connsiteY2-66" fmla="*/ 10000 h 10000"/>
                  <a:gd name="connsiteX3-67" fmla="*/ 0 w 10000"/>
                  <a:gd name="connsiteY3-68" fmla="*/ 10000 h 10000"/>
                  <a:gd name="connsiteX4-69" fmla="*/ 106 w 10000"/>
                  <a:gd name="connsiteY4-70" fmla="*/ 758 h 10000"/>
                  <a:gd name="connsiteX0-71" fmla="*/ 50 w 10000"/>
                  <a:gd name="connsiteY0-72" fmla="*/ 854 h 10000"/>
                  <a:gd name="connsiteX1-73" fmla="*/ 9911 w 10000"/>
                  <a:gd name="connsiteY1-74" fmla="*/ 0 h 10000"/>
                  <a:gd name="connsiteX2-75" fmla="*/ 10000 w 10000"/>
                  <a:gd name="connsiteY2-76" fmla="*/ 10000 h 10000"/>
                  <a:gd name="connsiteX3-77" fmla="*/ 0 w 10000"/>
                  <a:gd name="connsiteY3-78" fmla="*/ 10000 h 10000"/>
                  <a:gd name="connsiteX4-79" fmla="*/ 50 w 10000"/>
                  <a:gd name="connsiteY4-80" fmla="*/ 854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50" y="854"/>
                    </a:moveTo>
                    <a:lnTo>
                      <a:pt x="9911" y="0"/>
                    </a:lnTo>
                    <a:cubicBezTo>
                      <a:pt x="9941" y="3334"/>
                      <a:pt x="9970" y="6666"/>
                      <a:pt x="10000" y="10000"/>
                    </a:cubicBezTo>
                    <a:lnTo>
                      <a:pt x="0" y="10000"/>
                    </a:lnTo>
                    <a:cubicBezTo>
                      <a:pt x="35" y="6935"/>
                      <a:pt x="15" y="3919"/>
                      <a:pt x="50" y="854"/>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55">
                  <a:latin typeface="+mn-ea"/>
                  <a:cs typeface="Arial" panose="020B0604020202020204" pitchFamily="34" charset="0"/>
                </a:endParaRPr>
              </a:p>
            </p:txBody>
          </p:sp>
          <p:grpSp>
            <p:nvGrpSpPr>
              <p:cNvPr id="6" name="组合 5">
                <a:extLst>
                  <a:ext uri="{FF2B5EF4-FFF2-40B4-BE49-F238E27FC236}">
                    <a16:creationId xmlns:a16="http://schemas.microsoft.com/office/drawing/2014/main" id="{7CAB83C3-C6FF-B5F3-1C88-B12C094EF5EA}"/>
                  </a:ext>
                </a:extLst>
              </p:cNvPr>
              <p:cNvGrpSpPr/>
              <p:nvPr/>
            </p:nvGrpSpPr>
            <p:grpSpPr>
              <a:xfrm>
                <a:off x="722008" y="1303131"/>
                <a:ext cx="546594" cy="475865"/>
                <a:chOff x="708742" y="1296102"/>
                <a:chExt cx="454744" cy="283828"/>
              </a:xfrm>
            </p:grpSpPr>
            <p:sp>
              <p:nvSpPr>
                <p:cNvPr id="8" name="平行四边形 7">
                  <a:extLst>
                    <a:ext uri="{FF2B5EF4-FFF2-40B4-BE49-F238E27FC236}">
                      <a16:creationId xmlns:a16="http://schemas.microsoft.com/office/drawing/2014/main" id="{5FB7DC9F-1AB7-7C66-1CC3-8E082BA1C8FD}"/>
                    </a:ext>
                  </a:extLst>
                </p:cNvPr>
                <p:cNvSpPr/>
                <p:nvPr/>
              </p:nvSpPr>
              <p:spPr>
                <a:xfrm>
                  <a:off x="708742" y="1296103"/>
                  <a:ext cx="351872" cy="283827"/>
                </a:xfrm>
                <a:prstGeom prst="parallelogram">
                  <a:avLst>
                    <a:gd name="adj" fmla="val 8082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sp>
              <p:nvSpPr>
                <p:cNvPr id="9" name="平行四边形 8">
                  <a:extLst>
                    <a:ext uri="{FF2B5EF4-FFF2-40B4-BE49-F238E27FC236}">
                      <a16:creationId xmlns:a16="http://schemas.microsoft.com/office/drawing/2014/main" id="{79E0CF0C-00FC-5D01-076B-A3E70FDD2DF8}"/>
                    </a:ext>
                  </a:extLst>
                </p:cNvPr>
                <p:cNvSpPr/>
                <p:nvPr/>
              </p:nvSpPr>
              <p:spPr>
                <a:xfrm>
                  <a:off x="811614" y="1296102"/>
                  <a:ext cx="351872" cy="283827"/>
                </a:xfrm>
                <a:prstGeom prst="parallelogram">
                  <a:avLst>
                    <a:gd name="adj" fmla="val 808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85"/>
                </a:p>
              </p:txBody>
            </p:sp>
          </p:grpSp>
          <p:sp>
            <p:nvSpPr>
              <p:cNvPr id="7" name="Text Box 79">
                <a:extLst>
                  <a:ext uri="{FF2B5EF4-FFF2-40B4-BE49-F238E27FC236}">
                    <a16:creationId xmlns:a16="http://schemas.microsoft.com/office/drawing/2014/main" id="{9097EF5E-AC7F-449A-988B-88E2EF74EC36}"/>
                  </a:ext>
                </a:extLst>
              </p:cNvPr>
              <p:cNvSpPr txBox="1">
                <a:spLocks noChangeArrowheads="1"/>
              </p:cNvSpPr>
              <p:nvPr/>
            </p:nvSpPr>
            <p:spPr bwMode="auto">
              <a:xfrm>
                <a:off x="1172744" y="1354417"/>
                <a:ext cx="7713480" cy="4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600" dirty="0">
                    <a:solidFill>
                      <a:schemeClr val="tx1">
                        <a:lumMod val="85000"/>
                        <a:lumOff val="15000"/>
                      </a:schemeClr>
                    </a:solidFill>
                    <a:ea typeface="思源黑体 CN Medium" panose="020B0600000000000000" pitchFamily="34" charset="-122"/>
                  </a:rPr>
                  <a:t>TIMELY </a:t>
                </a:r>
                <a:r>
                  <a:rPr kumimoji="1" lang="zh-CN" altLang="en-US" sz="2600" dirty="0">
                    <a:solidFill>
                      <a:schemeClr val="tx1">
                        <a:lumMod val="85000"/>
                        <a:lumOff val="15000"/>
                      </a:schemeClr>
                    </a:solidFill>
                    <a:ea typeface="思源黑体 CN Medium" panose="020B0600000000000000" pitchFamily="34" charset="-122"/>
                  </a:rPr>
                  <a:t>与 </a:t>
                </a:r>
                <a:r>
                  <a:rPr kumimoji="1" lang="en-US" altLang="zh-CN" sz="2600" dirty="0">
                    <a:solidFill>
                      <a:schemeClr val="tx1">
                        <a:lumMod val="85000"/>
                        <a:lumOff val="15000"/>
                      </a:schemeClr>
                    </a:solidFill>
                    <a:ea typeface="思源黑体 CN Medium" panose="020B0600000000000000" pitchFamily="34" charset="-122"/>
                  </a:rPr>
                  <a:t>HPCC </a:t>
                </a:r>
                <a:r>
                  <a:rPr kumimoji="1" lang="zh-CN" altLang="en-US" sz="2600" dirty="0">
                    <a:solidFill>
                      <a:schemeClr val="tx1">
                        <a:lumMod val="85000"/>
                        <a:lumOff val="15000"/>
                      </a:schemeClr>
                    </a:solidFill>
                    <a:ea typeface="思源黑体 CN Medium" panose="020B0600000000000000" pitchFamily="34" charset="-122"/>
                  </a:rPr>
                  <a:t>拥塞控制机制</a:t>
                </a:r>
                <a:endParaRPr kumimoji="1" lang="zh-CN" altLang="en-US" sz="2600" dirty="0">
                  <a:solidFill>
                    <a:schemeClr val="tx1">
                      <a:lumMod val="85000"/>
                      <a:lumOff val="15000"/>
                    </a:schemeClr>
                  </a:solidFill>
                  <a:latin typeface="思源黑体 CN Medium" panose="020B0600000000000000" pitchFamily="34" charset="-122"/>
                  <a:ea typeface="思源黑体 CN Medium" panose="020B0600000000000000" pitchFamily="34" charset="-122"/>
                </a:endParaRPr>
              </a:p>
            </p:txBody>
          </p:sp>
        </p:grpSp>
      </p:grpSp>
      <p:sp>
        <p:nvSpPr>
          <p:cNvPr id="10" name="文本框 9">
            <a:extLst>
              <a:ext uri="{FF2B5EF4-FFF2-40B4-BE49-F238E27FC236}">
                <a16:creationId xmlns:a16="http://schemas.microsoft.com/office/drawing/2014/main" id="{F2D5D5B8-F2B0-0BBA-0093-58E5B49D2773}"/>
              </a:ext>
            </a:extLst>
          </p:cNvPr>
          <p:cNvSpPr txBox="1"/>
          <p:nvPr/>
        </p:nvSpPr>
        <p:spPr>
          <a:xfrm>
            <a:off x="599762" y="1856138"/>
            <a:ext cx="10882682" cy="3904402"/>
          </a:xfrm>
          <a:prstGeom prst="rect">
            <a:avLst/>
          </a:prstGeom>
          <a:noFill/>
        </p:spPr>
        <p:txBody>
          <a:bodyPr wrap="square">
            <a:spAutoFit/>
          </a:bodyPr>
          <a:lstStyle/>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TIMELY</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RTT-based</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直接基于</a:t>
            </a:r>
            <a:r>
              <a:rPr kumimoji="1"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RTT</a:t>
            </a: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变化</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判断网络拥塞趋势</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动态调整发送速率，响应速度快</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457200" marR="0" lvl="0" indent="-457200" algn="l" defTabSz="914400" rtl="0" eaLnBrk="1" fontAlgn="auto" latinLnBrk="0" hangingPunct="1">
              <a:lnSpc>
                <a:spcPct val="150000"/>
              </a:lnSpc>
              <a:spcBef>
                <a:spcPts val="0"/>
              </a:spcBef>
              <a:spcAft>
                <a:spcPts val="0"/>
              </a:spcAft>
              <a:buClr>
                <a:srgbClr val="1969C2"/>
              </a:buClr>
              <a:buSzTx/>
              <a:buFont typeface="Wingdings" panose="05000000000000000000" pitchFamily="2" charset="2"/>
              <a:buChar char="p"/>
              <a:tabLst/>
              <a:defRPr/>
            </a:pP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HPCC</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High Precision Congestion Control</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基于</a:t>
            </a:r>
            <a:r>
              <a:rPr kumimoji="1" lang="en-US" altLang="zh-CN" sz="2400" b="0" i="0" u="none" strike="noStrike" kern="1200" cap="none" spc="0" normalizeH="0" baseline="0" noProof="0" dirty="0" err="1">
                <a:ln>
                  <a:noFill/>
                </a:ln>
                <a:effectLst/>
                <a:uLnTx/>
                <a:uFillTx/>
                <a:latin typeface="Arial" panose="020B0604020202020204" pitchFamily="34" charset="0"/>
                <a:ea typeface="思源黑体 CN Medium" panose="020B0600000000000000" pitchFamily="34" charset="-122"/>
                <a:cs typeface="+mn-cs"/>
              </a:rPr>
              <a:t>Inband</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 Telemetry</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INT</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），精准感知路径状态</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实现近实时的</a:t>
            </a: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rPr>
              <a:t>路径带宽利用反馈</a:t>
            </a:r>
            <a:endParaRPr kumimoji="1" lang="en-US" altLang="zh-CN" sz="2400" b="0" i="0" u="none" strike="noStrike" kern="1200" cap="none" spc="0" normalizeH="0" baseline="0" noProof="0" dirty="0">
              <a:ln>
                <a:noFill/>
              </a:ln>
              <a:solidFill>
                <a:srgbClr val="FF0000"/>
              </a:solidFill>
              <a:effectLst/>
              <a:uLnTx/>
              <a:uFillTx/>
              <a:latin typeface="Arial" panose="020B0604020202020204" pitchFamily="34" charset="0"/>
              <a:ea typeface="思源黑体 CN Medium" panose="020B0600000000000000" pitchFamily="34" charset="-122"/>
              <a:cs typeface="+mn-cs"/>
            </a:endParaRPr>
          </a:p>
          <a:p>
            <a:pPr marL="914400" lvl="1" indent="-457200">
              <a:lnSpc>
                <a:spcPct val="150000"/>
              </a:lnSpc>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利用硬件可编程交换机快速反馈</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p:txBody>
      </p:sp>
      <p:sp>
        <p:nvSpPr>
          <p:cNvPr id="11" name="对角圆角矩形 5">
            <a:extLst>
              <a:ext uri="{FF2B5EF4-FFF2-40B4-BE49-F238E27FC236}">
                <a16:creationId xmlns:a16="http://schemas.microsoft.com/office/drawing/2014/main" id="{4E6EAF70-770E-FF6F-C698-D40867BF9B36}"/>
              </a:ext>
            </a:extLst>
          </p:cNvPr>
          <p:cNvSpPr/>
          <p:nvPr/>
        </p:nvSpPr>
        <p:spPr>
          <a:xfrm>
            <a:off x="6722941" y="4766175"/>
            <a:ext cx="4945661" cy="1519579"/>
          </a:xfrm>
          <a:prstGeom prst="round2DiagRect">
            <a:avLst/>
          </a:prstGeom>
          <a:solidFill>
            <a:srgbClr val="0098F6"/>
          </a:solidFill>
          <a:ln w="25400" cap="flat" cmpd="sng" algn="ctr">
            <a:noFill/>
            <a:prstDash val="solid"/>
          </a:ln>
          <a:effectLst/>
          <a:scene3d>
            <a:camera prst="orthographicFront">
              <a:rot lat="0" lon="0" rev="0"/>
            </a:camera>
            <a:lightRig rig="glow" dir="t">
              <a:rot lat="0" lon="0" rev="14100000"/>
            </a:lightRig>
          </a:scene3d>
          <a:sp3d prstMaterial="softEdge">
            <a:bevelT w="127000" prst="artDeco"/>
          </a:sp3d>
        </p:spPr>
        <p:txBody>
          <a:bodyPr rtlCol="0" anchor="ctr"/>
          <a:lstStyle/>
          <a:p>
            <a:pPr lvl="0" algn="ctr">
              <a:defRPr/>
            </a:pPr>
            <a:r>
              <a:rPr lang="zh-CN" altLang="en-US" sz="2000" b="1" kern="0" dirty="0">
                <a:latin typeface="微软雅黑" panose="020B0503020204020204" pitchFamily="34" charset="-122"/>
                <a:ea typeface="微软雅黑" panose="020B0503020204020204" pitchFamily="34" charset="-122"/>
              </a:rPr>
              <a:t>优点：高精度反馈、低延迟、高吞吐 </a:t>
            </a:r>
            <a:endParaRPr lang="en-US" altLang="zh-CN" sz="2000" b="1" kern="0" dirty="0">
              <a:latin typeface="微软雅黑" panose="020B0503020204020204" pitchFamily="34" charset="-122"/>
              <a:ea typeface="微软雅黑" panose="020B0503020204020204" pitchFamily="34" charset="-122"/>
            </a:endParaRPr>
          </a:p>
          <a:p>
            <a:pPr lvl="0" algn="ctr">
              <a:defRPr/>
            </a:pPr>
            <a:r>
              <a:rPr lang="zh-CN" altLang="en-US" sz="2000" b="1" kern="0" dirty="0">
                <a:latin typeface="微软雅黑" panose="020B0503020204020204" pitchFamily="34" charset="-122"/>
                <a:ea typeface="微软雅黑" panose="020B0503020204020204" pitchFamily="34" charset="-122"/>
              </a:rPr>
              <a:t>应用前景：大规模高性能数据中心网络</a:t>
            </a:r>
          </a:p>
        </p:txBody>
      </p:sp>
      <p:sp>
        <p:nvSpPr>
          <p:cNvPr id="12" name="灯片编号占位符 11">
            <a:extLst>
              <a:ext uri="{FF2B5EF4-FFF2-40B4-BE49-F238E27FC236}">
                <a16:creationId xmlns:a16="http://schemas.microsoft.com/office/drawing/2014/main" id="{7D5D1F0A-7648-45DF-BD73-9813229897DE}"/>
              </a:ext>
            </a:extLst>
          </p:cNvPr>
          <p:cNvSpPr>
            <a:spLocks noGrp="1"/>
          </p:cNvSpPr>
          <p:nvPr>
            <p:ph type="sldNum" sz="quarter" idx="12"/>
          </p:nvPr>
        </p:nvSpPr>
        <p:spPr/>
        <p:txBody>
          <a:bodyPr/>
          <a:lstStyle/>
          <a:p>
            <a:fld id="{5956A083-5018-4B52-82A0-83241B8E3D94}" type="slidenum">
              <a:rPr lang="zh-CN" altLang="en-US" smtClean="0"/>
              <a:t>98</a:t>
            </a:fld>
            <a:endParaRPr lang="zh-CN" altLang="en-US"/>
          </a:p>
        </p:txBody>
      </p:sp>
    </p:spTree>
    <p:extLst>
      <p:ext uri="{BB962C8B-B14F-4D97-AF65-F5344CB8AC3E}">
        <p14:creationId xmlns:p14="http://schemas.microsoft.com/office/powerpoint/2010/main" val="324481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AE2B4-F93B-1D4B-C60D-6547CF59BD86}"/>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A6939C56-A596-2F38-EF4A-53E36C900963}"/>
              </a:ext>
            </a:extLst>
          </p:cNvPr>
          <p:cNvGrpSpPr/>
          <p:nvPr/>
        </p:nvGrpSpPr>
        <p:grpSpPr>
          <a:xfrm>
            <a:off x="103094" y="-173759"/>
            <a:ext cx="7020539" cy="1428589"/>
            <a:chOff x="552684" y="-356229"/>
            <a:chExt cx="7020539" cy="1428589"/>
          </a:xfrm>
        </p:grpSpPr>
        <p:grpSp>
          <p:nvGrpSpPr>
            <p:cNvPr id="45" name="组合 44">
              <a:extLst>
                <a:ext uri="{FF2B5EF4-FFF2-40B4-BE49-F238E27FC236}">
                  <a16:creationId xmlns:a16="http://schemas.microsoft.com/office/drawing/2014/main" id="{83F6C205-423F-B0F3-9E03-B05CC6AAA086}"/>
                </a:ext>
              </a:extLst>
            </p:cNvPr>
            <p:cNvGrpSpPr/>
            <p:nvPr/>
          </p:nvGrpSpPr>
          <p:grpSpPr>
            <a:xfrm>
              <a:off x="1201633" y="303925"/>
              <a:ext cx="6371590" cy="675443"/>
              <a:chOff x="1839060" y="967769"/>
              <a:chExt cx="6371590" cy="675443"/>
            </a:xfrm>
          </p:grpSpPr>
          <p:sp>
            <p:nvSpPr>
              <p:cNvPr id="47" name="矩形: 圆角 46">
                <a:extLst>
                  <a:ext uri="{FF2B5EF4-FFF2-40B4-BE49-F238E27FC236}">
                    <a16:creationId xmlns:a16="http://schemas.microsoft.com/office/drawing/2014/main" id="{08FC97FA-2285-4917-2ED6-0C6467881A56}"/>
                  </a:ext>
                </a:extLst>
              </p:cNvPr>
              <p:cNvSpPr/>
              <p:nvPr/>
            </p:nvSpPr>
            <p:spPr>
              <a:xfrm>
                <a:off x="1839060" y="967769"/>
                <a:ext cx="6265206" cy="675443"/>
              </a:xfrm>
              <a:prstGeom prst="roundRect">
                <a:avLst>
                  <a:gd name="adj" fmla="val 50000"/>
                </a:avLst>
              </a:prstGeom>
              <a:solidFill>
                <a:srgbClr val="009FF6"/>
              </a:solidFill>
              <a:ln>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00A3F8"/>
                  </a:solidFill>
                </a:endParaRPr>
              </a:p>
            </p:txBody>
          </p:sp>
          <p:sp>
            <p:nvSpPr>
              <p:cNvPr id="48" name="文本框 47">
                <a:extLst>
                  <a:ext uri="{FF2B5EF4-FFF2-40B4-BE49-F238E27FC236}">
                    <a16:creationId xmlns:a16="http://schemas.microsoft.com/office/drawing/2014/main" id="{2E2531A1-939A-E6BF-9EDB-5F5E96E74F03}"/>
                  </a:ext>
                </a:extLst>
              </p:cNvPr>
              <p:cNvSpPr txBox="1"/>
              <p:nvPr/>
            </p:nvSpPr>
            <p:spPr>
              <a:xfrm>
                <a:off x="2597179" y="1053620"/>
                <a:ext cx="5613471" cy="523220"/>
              </a:xfrm>
              <a:prstGeom prst="rect">
                <a:avLst/>
              </a:prstGeom>
              <a:noFill/>
            </p:spPr>
            <p:txBody>
              <a:bodyPr wrap="square" rtlCol="0">
                <a:spAutoFit/>
              </a:bodyPr>
              <a:lstStyle/>
              <a:p>
                <a:r>
                  <a:rPr lang="zh-CN" altLang="en-US" sz="2800" b="1" dirty="0">
                    <a:solidFill>
                      <a:schemeClr val="bg1"/>
                    </a:solidFill>
                    <a:effectLst>
                      <a:outerShdw blurRad="38100" dist="38100" dir="2700000" algn="tl">
                        <a:srgbClr val="000000">
                          <a:alpha val="43137"/>
                        </a:srgbClr>
                      </a:outerShdw>
                    </a:effectLst>
                    <a:latin typeface="造字工房朗倩（非商用）细体" pitchFamily="50" charset="-122"/>
                    <a:ea typeface="造字工房朗倩（非商用）细体" pitchFamily="50" charset="-122"/>
                  </a:rPr>
                  <a:t>本章小结</a:t>
                </a:r>
              </a:p>
            </p:txBody>
          </p:sp>
        </p:grpSp>
        <p:pic>
          <p:nvPicPr>
            <p:cNvPr id="46" name="图片 45">
              <a:extLst>
                <a:ext uri="{FF2B5EF4-FFF2-40B4-BE49-F238E27FC236}">
                  <a16:creationId xmlns:a16="http://schemas.microsoft.com/office/drawing/2014/main" id="{7C76B2AD-9BC5-BF04-0DEF-BBC14C81D43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1111"/>
            <a:stretch>
              <a:fillRect/>
            </a:stretch>
          </p:blipFill>
          <p:spPr>
            <a:xfrm>
              <a:off x="552684" y="-356229"/>
              <a:ext cx="1607162" cy="1428589"/>
            </a:xfrm>
            <a:prstGeom prst="rect">
              <a:avLst/>
            </a:prstGeom>
          </p:spPr>
        </p:pic>
      </p:grpSp>
      <p:sp>
        <p:nvSpPr>
          <p:cNvPr id="10" name="文本框 9">
            <a:extLst>
              <a:ext uri="{FF2B5EF4-FFF2-40B4-BE49-F238E27FC236}">
                <a16:creationId xmlns:a16="http://schemas.microsoft.com/office/drawing/2014/main" id="{779FADF4-F61F-2B73-90AF-2435925E8396}"/>
              </a:ext>
            </a:extLst>
          </p:cNvPr>
          <p:cNvSpPr txBox="1"/>
          <p:nvPr/>
        </p:nvSpPr>
        <p:spPr>
          <a:xfrm>
            <a:off x="418891" y="1392107"/>
            <a:ext cx="10882682" cy="4893647"/>
          </a:xfrm>
          <a:prstGeom prst="rect">
            <a:avLst/>
          </a:prstGeom>
          <a:noFill/>
        </p:spPr>
        <p:txBody>
          <a:bodyPr wrap="square">
            <a:spAutoFit/>
          </a:bodyPr>
          <a:lstStyle/>
          <a:p>
            <a:pPr marL="457200" marR="0" lvl="0" indent="-457200" algn="l" defTabSz="914400" rtl="0" eaLnBrk="1" fontAlgn="auto" latinLnBrk="0" hangingPunct="1">
              <a:spcBef>
                <a:spcPts val="0"/>
              </a:spcBef>
              <a:spcAft>
                <a:spcPts val="0"/>
              </a:spcAft>
              <a:buClr>
                <a:srgbClr val="1969C2"/>
              </a:buClr>
              <a:buSzTx/>
              <a:buFont typeface="Wingdings" panose="05000000000000000000" pitchFamily="2" charset="2"/>
              <a:buChar char="p"/>
              <a:tabLst/>
              <a:defRPr/>
            </a:pP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6.1 </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拥塞现象与定义  </a:t>
            </a:r>
          </a:p>
          <a:p>
            <a:pPr marL="457200" marR="0" lvl="0" indent="-457200" algn="l" defTabSz="914400" rtl="0" eaLnBrk="1" fontAlgn="auto" latinLnBrk="0" hangingPunct="1">
              <a:spcBef>
                <a:spcPts val="0"/>
              </a:spcBef>
              <a:spcAft>
                <a:spcPts val="0"/>
              </a:spcAft>
              <a:buClr>
                <a:srgbClr val="1969C2"/>
              </a:buClr>
              <a:buSzTx/>
              <a:buFont typeface="Wingdings" panose="05000000000000000000" pitchFamily="2" charset="2"/>
              <a:buChar char="p"/>
              <a:tabLst/>
              <a:defRPr/>
            </a:pP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6.2 </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拥塞控制基本方法  </a:t>
            </a:r>
          </a:p>
          <a:p>
            <a:pPr marL="800100" lvl="1" indent="-342900">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开环 </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vs </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闭环  </a:t>
            </a:r>
          </a:p>
          <a:p>
            <a:pPr marL="800100" lvl="1" indent="-342900">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端到端 </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vs </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网络辅助  </a:t>
            </a:r>
          </a:p>
          <a:p>
            <a:pPr marL="800100" lvl="1" indent="-342900">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拥塞避免 </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vs </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拥塞控制  </a:t>
            </a:r>
          </a:p>
          <a:p>
            <a:pPr marL="457200" marR="0" lvl="0" indent="-457200" algn="l" defTabSz="914400" rtl="0" eaLnBrk="1" fontAlgn="auto" latinLnBrk="0" hangingPunct="1">
              <a:spcBef>
                <a:spcPts val="0"/>
              </a:spcBef>
              <a:spcAft>
                <a:spcPts val="0"/>
              </a:spcAft>
              <a:buClr>
                <a:srgbClr val="1969C2"/>
              </a:buClr>
              <a:buSzTx/>
              <a:buFont typeface="Wingdings" panose="05000000000000000000" pitchFamily="2" charset="2"/>
              <a:buChar char="p"/>
              <a:tabLst/>
              <a:defRPr/>
            </a:pP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6.3 </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路由器队列管理  </a:t>
            </a:r>
          </a:p>
          <a:p>
            <a:pPr marL="914400" lvl="1" indent="-457200">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被动管理：</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FIFO</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FQ  </a:t>
            </a:r>
          </a:p>
          <a:p>
            <a:pPr marL="914400" lvl="1" indent="-457200">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主动管理：</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RED</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err="1">
                <a:ln>
                  <a:noFill/>
                </a:ln>
                <a:effectLst/>
                <a:uLnTx/>
                <a:uFillTx/>
                <a:latin typeface="Arial" panose="020B0604020202020204" pitchFamily="34" charset="0"/>
                <a:ea typeface="思源黑体 CN Medium" panose="020B0600000000000000" pitchFamily="34" charset="-122"/>
                <a:cs typeface="+mn-cs"/>
              </a:rPr>
              <a:t>DECbit</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ECN  </a:t>
            </a:r>
          </a:p>
          <a:p>
            <a:pPr marL="457200" marR="0" lvl="0" indent="-457200" algn="l" defTabSz="914400" rtl="0" eaLnBrk="1" fontAlgn="auto" latinLnBrk="0" hangingPunct="1">
              <a:spcBef>
                <a:spcPts val="0"/>
              </a:spcBef>
              <a:spcAft>
                <a:spcPts val="0"/>
              </a:spcAft>
              <a:buClr>
                <a:srgbClr val="1969C2"/>
              </a:buClr>
              <a:buSzTx/>
              <a:buFont typeface="Wingdings" panose="05000000000000000000" pitchFamily="2" charset="2"/>
              <a:buChar char="p"/>
              <a:tabLst/>
              <a:defRPr/>
            </a:pP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6.4 TCP </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拥塞控制  </a:t>
            </a:r>
          </a:p>
          <a:p>
            <a:pPr marL="914400" lvl="1" indent="-457200">
              <a:buClr>
                <a:srgbClr val="1969C2"/>
              </a:buClr>
              <a:buFont typeface="Arial" panose="020B0604020202020204" pitchFamily="34" charset="0"/>
              <a:buChar char="•"/>
              <a:defRPr/>
            </a:pP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Reno</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（基本四过程）</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 </a:t>
            </a:r>
            <a:r>
              <a:rPr kumimoji="1" lang="en-US" altLang="zh-CN" sz="2400" b="0" i="0" u="none" strike="noStrike" kern="1200" cap="none" spc="0" normalizeH="0" baseline="0" noProof="0" dirty="0" err="1">
                <a:ln>
                  <a:noFill/>
                </a:ln>
                <a:effectLst/>
                <a:uLnTx/>
                <a:uFillTx/>
                <a:latin typeface="Arial" panose="020B0604020202020204" pitchFamily="34" charset="0"/>
                <a:ea typeface="思源黑体 CN Medium" panose="020B0600000000000000" pitchFamily="34" charset="-122"/>
                <a:cs typeface="+mn-cs"/>
              </a:rPr>
              <a:t>NewReno</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  </a:t>
            </a:r>
          </a:p>
          <a:p>
            <a:pPr marL="914400" lvl="1" indent="-457200">
              <a:buClr>
                <a:srgbClr val="1969C2"/>
              </a:buClr>
              <a:buFont typeface="Arial" panose="020B0604020202020204" pitchFamily="34" charset="0"/>
              <a:buChar char="•"/>
              <a:defRPr/>
            </a:pP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Vegas</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（延迟预测）  </a:t>
            </a:r>
          </a:p>
          <a:p>
            <a:pPr marL="914400" lvl="1" indent="-457200">
              <a:buClr>
                <a:srgbClr val="1969C2"/>
              </a:buClr>
              <a:buFont typeface="Arial" panose="020B0604020202020204" pitchFamily="34" charset="0"/>
              <a:buChar char="•"/>
              <a:defRPr/>
            </a:pP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CUBIC</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BBR</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（新机制）  </a:t>
            </a:r>
          </a:p>
          <a:p>
            <a:pPr marL="914400" lvl="1" indent="-457200">
              <a:buClr>
                <a:srgbClr val="1969C2"/>
              </a:buClr>
              <a:buFont typeface="Arial" panose="020B0604020202020204" pitchFamily="34" charset="0"/>
              <a:buChar char="•"/>
              <a:defRPr/>
            </a:pP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数据中心（</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DCTCP</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DCQCN</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TIMELY</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r>
              <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HPCC</a:t>
            </a:r>
            <a:r>
              <a:rPr kumimoji="1" lang="zh-CN" altLang="en-US"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rPr>
              <a:t>）</a:t>
            </a:r>
            <a:endParaRPr kumimoji="1" lang="en-US" altLang="zh-CN" sz="2400" b="0" i="0" u="none" strike="noStrike" kern="1200" cap="none" spc="0" normalizeH="0" baseline="0" noProof="0" dirty="0">
              <a:ln>
                <a:noFill/>
              </a:ln>
              <a:effectLst/>
              <a:uLnTx/>
              <a:uFillTx/>
              <a:latin typeface="Arial" panose="020B0604020202020204" pitchFamily="34" charset="0"/>
              <a:ea typeface="思源黑体 CN Medium" panose="020B0600000000000000" pitchFamily="34" charset="-122"/>
              <a:cs typeface="+mn-cs"/>
            </a:endParaRPr>
          </a:p>
        </p:txBody>
      </p:sp>
      <p:sp>
        <p:nvSpPr>
          <p:cNvPr id="2" name="灯片编号占位符 1">
            <a:extLst>
              <a:ext uri="{FF2B5EF4-FFF2-40B4-BE49-F238E27FC236}">
                <a16:creationId xmlns:a16="http://schemas.microsoft.com/office/drawing/2014/main" id="{AAE6F55C-7EB6-4443-B69F-CCCD80748B8B}"/>
              </a:ext>
            </a:extLst>
          </p:cNvPr>
          <p:cNvSpPr>
            <a:spLocks noGrp="1"/>
          </p:cNvSpPr>
          <p:nvPr>
            <p:ph type="sldNum" sz="quarter" idx="12"/>
          </p:nvPr>
        </p:nvSpPr>
        <p:spPr/>
        <p:txBody>
          <a:bodyPr/>
          <a:lstStyle/>
          <a:p>
            <a:fld id="{5956A083-5018-4B52-82A0-83241B8E3D94}" type="slidenum">
              <a:rPr lang="zh-CN" altLang="en-US" smtClean="0"/>
              <a:t>99</a:t>
            </a:fld>
            <a:endParaRPr lang="zh-CN" altLang="en-US"/>
          </a:p>
        </p:txBody>
      </p:sp>
    </p:spTree>
    <p:extLst>
      <p:ext uri="{BB962C8B-B14F-4D97-AF65-F5344CB8AC3E}">
        <p14:creationId xmlns:p14="http://schemas.microsoft.com/office/powerpoint/2010/main" val="151693124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3797</TotalTime>
  <Words>8302</Words>
  <Application>Microsoft Macintosh PowerPoint</Application>
  <PresentationFormat>宽屏</PresentationFormat>
  <Paragraphs>1461</Paragraphs>
  <Slides>99</Slides>
  <Notes>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99</vt:i4>
      </vt:variant>
    </vt:vector>
  </HeadingPairs>
  <TitlesOfParts>
    <vt:vector size="115" baseType="lpstr">
      <vt:lpstr>等线</vt:lpstr>
      <vt:lpstr>等线 Light</vt:lpstr>
      <vt:lpstr>华文仿宋</vt:lpstr>
      <vt:lpstr>思源黑体 CN Medium</vt:lpstr>
      <vt:lpstr>微软雅黑</vt:lpstr>
      <vt:lpstr>微软雅黑</vt:lpstr>
      <vt:lpstr>造字工房朗倩（非商用）常规体</vt:lpstr>
      <vt:lpstr>造字工房朗倩（非商用）细体</vt:lpstr>
      <vt:lpstr>quote-cjk-patch</vt:lpstr>
      <vt:lpstr>Arial</vt:lpstr>
      <vt:lpstr>Calibri</vt:lpstr>
      <vt:lpstr>Cambria Math</vt:lpstr>
      <vt:lpstr>Tahoma</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can mao</dc:creator>
  <cp:lastModifiedBy>WangXiong</cp:lastModifiedBy>
  <cp:revision>39</cp:revision>
  <dcterms:created xsi:type="dcterms:W3CDTF">2025-07-30T01:49:43Z</dcterms:created>
  <dcterms:modified xsi:type="dcterms:W3CDTF">2025-10-28T07:26:41Z</dcterms:modified>
</cp:coreProperties>
</file>